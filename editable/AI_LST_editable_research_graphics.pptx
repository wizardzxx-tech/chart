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552c2e49a14bd6" /><Relationship Type="http://schemas.openxmlformats.org/officeDocument/2006/relationships/extended-properties" Target="/docProps/app.xml" Id="R151344cd7a144b31" /><Relationship Type="http://schemas.openxmlformats.org/officeDocument/2006/relationships/officeDocument" Target="/ppt/presentation.xml" Id="R4c27a40a7ce94e9f" /></Relationships>
</file>

<file path=ppt/presentation.xml><?xml version="1.0" encoding="utf-8"?>
<p:presentation xmlns:p="http://schemas.openxmlformats.org/presentationml/2006/main">
  <p:sldMasterIdLst>
    <p:sldMasterId xmlns:r="http://schemas.openxmlformats.org/officeDocument/2006/relationships" id="2147483648" r:id="R19bf103afb8440f9"/>
  </p:sldMasterIdLst>
  <p:notesMasterIdLst>
    <p:notesMasterId xmlns:r="http://schemas.openxmlformats.org/officeDocument/2006/relationships" r:id="Re78facd2fe534464"/>
  </p:notesMasterIdLst>
  <p:sldIdLst>
    <p:sldId xmlns:r="http://schemas.openxmlformats.org/officeDocument/2006/relationships" id="256" r:id="Rd4a723b05beb4e3b"/>
    <p:sldId xmlns:r="http://schemas.openxmlformats.org/officeDocument/2006/relationships" id="257" r:id="R924ff4dff82548b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2df921f69d4d9b" /><Relationship Type="http://schemas.openxmlformats.org/officeDocument/2006/relationships/slideMaster" Target="/ppt/slideMasters/slideMaster1.xml" Id="R19bf103afb8440f9" /><Relationship Type="http://schemas.openxmlformats.org/officeDocument/2006/relationships/notesMaster" Target="/ppt/notesMasters/notesMaster1.xml" Id="Re78facd2fe534464" /><Relationship Type="http://schemas.openxmlformats.org/officeDocument/2006/relationships/presProps" Target="/ppt/presProps.xml" Id="Rf6fdb233a8264b73" /><Relationship Type="http://schemas.openxmlformats.org/officeDocument/2006/relationships/tableStyles" Target="/ppt/tableStyles.xml" Id="Rfe36ee6c158c4f52" /><Relationship Type="http://schemas.openxmlformats.org/officeDocument/2006/relationships/slide" Target="/ppt/slides/slide1.xml" Id="Rd4a723b05beb4e3b" /><Relationship Type="http://schemas.openxmlformats.org/officeDocument/2006/relationships/slide" Target="/ppt/slides/slide2.xml" Id="R924ff4dff82548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85ccdda8cd4d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6806b6a28847cf" /><Relationship Type="http://schemas.openxmlformats.org/officeDocument/2006/relationships/notesMaster" Target="/ppt/notesMasters/notesMaster1.xml" Id="R06ad9f85333f40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1c4464a9214c9d" /><Relationship Type="http://schemas.openxmlformats.org/officeDocument/2006/relationships/notesMaster" Target="/ppt/notesMasters/notesMaster1.xml" Id="R6934936953be42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13 October 2026. Workflow units differ by modality; no synthetic per-clinical-entrant molecule counts are used. Historical Phase I-to-approval estimates are separate cohorts and methods. Measurement-workload sensitivities are inputs, not candidate-count forecasts.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Updated 13 October 2026. Universal stage counts removed. Workload multiples are analyst sensitivities. Supplier listing groups retain their scope. Recombinant protein estimate is commissioned/disputed; media/resin headlines withheld pending original-file verification. The six product families are broader than the displayed anchors; the values must not be added. Company rows group listing venues, not incorporation or headquarters. GenScript is HK-listed; Gibco maps to Thermo Fisher TMO and Cytiva/HyClone to Danaher DHR. BD BDX is shown for specimen collection/preanalytics; its former Biosciences and Diagnostic Solutions business, including flow cytometry, moved to Waters WAT on 9 February 2026. These are different current equity exposures. Tsingke NEEQ:874813 is not an A-share exchange listing. Brand logos remain original; chart colors use the user-supplied eight-color palette.</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683cfd377d47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f5605c294347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7aa3ebcdf346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45a60ea4544e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69e81e0f164c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7748fed6154e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DFF4E-5666-4A51-8559-399F62BFE8F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3E1212-92C9-4275-BE68-176ED8703A9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BC3C4C-1A76-4AE8-A424-FDBEDB53F82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3CDD4B-28B8-411D-8718-FA881AA58C5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7D9293-61CD-44E7-BB79-B85E09377D5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04A93D-8D35-4579-8CBF-2DC46448E8F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DECC06-F707-4503-8843-902C2FF9E88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B21DC-F463-4C7B-BD8E-E12E56AD662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B509BF-44FE-4DB1-A187-32E640BD176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B0E5B8-3A9C-495B-A418-094A904B4A9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49a6d0915b439c" /><Relationship Type="http://schemas.openxmlformats.org/officeDocument/2006/relationships/slideLayout" Target="/ppt/slideLayouts/slideLayout1.xml" Id="Rebca8f999b634151" /><Relationship Type="http://schemas.openxmlformats.org/officeDocument/2006/relationships/slideLayout" Target="/ppt/slideLayouts/slideLayout2.xml" Id="R779405a97553494f" /><Relationship Type="http://schemas.openxmlformats.org/officeDocument/2006/relationships/slideLayout" Target="/ppt/slideLayouts/slideLayout3.xml" Id="R19f46cd95f344dee" /><Relationship Type="http://schemas.openxmlformats.org/officeDocument/2006/relationships/slideLayout" Target="/ppt/slideLayouts/slideLayout4.xml" Id="R7b61675c2fd1467f" /><Relationship Type="http://schemas.openxmlformats.org/officeDocument/2006/relationships/slideLayout" Target="/ppt/slideLayouts/slideLayout5.xml" Id="Rbbc7cc1989f7440e" /><Relationship Type="http://schemas.openxmlformats.org/officeDocument/2006/relationships/slideLayout" Target="/ppt/slideLayouts/slideLayout6.xml" Id="Ra6951095305f48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ca8f999b634151"/>
    <p:sldLayoutId xmlns:r="http://schemas.openxmlformats.org/officeDocument/2006/relationships" id="2147483650" r:id="R779405a97553494f"/>
    <p:sldLayoutId xmlns:r="http://schemas.openxmlformats.org/officeDocument/2006/relationships" id="2147483651" r:id="R19f46cd95f344dee"/>
    <p:sldLayoutId xmlns:r="http://schemas.openxmlformats.org/officeDocument/2006/relationships" id="2147483652" r:id="R7b61675c2fd1467f"/>
    <p:sldLayoutId xmlns:r="http://schemas.openxmlformats.org/officeDocument/2006/relationships" id="2147483653" r:id="Rbbc7cc1989f7440e"/>
    <p:sldLayoutId xmlns:r="http://schemas.openxmlformats.org/officeDocument/2006/relationships" id="2147483654" r:id="Ra6951095305f48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83bd2351794783" /><Relationship Type="http://schemas.openxmlformats.org/officeDocument/2006/relationships/image" Target="/ppt/media/image.png" Id="R450d7482db7e497c" /><Relationship Type="http://schemas.openxmlformats.org/officeDocument/2006/relationships/image" Target="/ppt/media/image.svg" Id="R4bfda2bb1bf84166" /><Relationship Type="http://schemas.openxmlformats.org/officeDocument/2006/relationships/notesSlide" Target="/ppt/notesSlides/notesSlide1.xml" Id="R7e93de7f80fb4c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ad578c81bc4177" /><Relationship Type="http://schemas.openxmlformats.org/officeDocument/2006/relationships/image" Target="/ppt/media/image2.png" Id="R492e06f5598a45fd" /><Relationship Type="http://schemas.openxmlformats.org/officeDocument/2006/relationships/image" Target="/ppt/media/image2.svg" Id="R8ae25a56c7414cf4" /><Relationship Type="http://schemas.openxmlformats.org/officeDocument/2006/relationships/image" Target="/ppt/media/image3.png" Id="R4045d4d03d7c426d" /><Relationship Type="http://schemas.openxmlformats.org/officeDocument/2006/relationships/image" Target="/ppt/media/image4.png" Id="R516c8e04d578476f" /><Relationship Type="http://schemas.openxmlformats.org/officeDocument/2006/relationships/image" Target="/ppt/media/image5.png" Id="R8411e20698004c1c" /><Relationship Type="http://schemas.openxmlformats.org/officeDocument/2006/relationships/image" Target="/ppt/media/image3.svg" Id="R6ebae9d1e7324de6" /><Relationship Type="http://schemas.openxmlformats.org/officeDocument/2006/relationships/image" Target="/ppt/media/image6.png" Id="Rdddc9a4bc5d44952" /><Relationship Type="http://schemas.openxmlformats.org/officeDocument/2006/relationships/image" Target="/ppt/media/image7.png" Id="Rc522a78bc2e84479" /><Relationship Type="http://schemas.openxmlformats.org/officeDocument/2006/relationships/image" Target="/ppt/media/image4.svg" Id="R3637f6fa808c46e7" /><Relationship Type="http://schemas.openxmlformats.org/officeDocument/2006/relationships/image" Target="/ppt/media/image8.png" Id="R1cae263748384e3b" /><Relationship Type="http://schemas.openxmlformats.org/officeDocument/2006/relationships/image" Target="/ppt/media/image5.svg" Id="R46c17b7c94da4b75" /><Relationship Type="http://schemas.openxmlformats.org/officeDocument/2006/relationships/image" Target="/ppt/media/image9.png" Id="R6d9e81001cb84cdf" /><Relationship Type="http://schemas.openxmlformats.org/officeDocument/2006/relationships/image" Target="/ppt/media/image10.png" Id="R8dcbc7b19f864e0f" /><Relationship Type="http://schemas.openxmlformats.org/officeDocument/2006/relationships/image" Target="/ppt/media/image6.svg" Id="R311bdbc056c446ed" /><Relationship Type="http://schemas.openxmlformats.org/officeDocument/2006/relationships/image" Target="/ppt/media/image11.png" Id="R93cc8f64e3c24207" /><Relationship Type="http://schemas.openxmlformats.org/officeDocument/2006/relationships/image" Target="/ppt/media/image7.svg" Id="R2a0819d812be4fa9" /><Relationship Type="http://schemas.openxmlformats.org/officeDocument/2006/relationships/image" Target="/ppt/media/image12.png" Id="R0eb71b5b80824800" /><Relationship Type="http://schemas.openxmlformats.org/officeDocument/2006/relationships/image" Target="/ppt/media/image13.png" Id="Rd55a40e453c54854" /><Relationship Type="http://schemas.openxmlformats.org/officeDocument/2006/relationships/image" Target="/ppt/media/image8.svg" Id="Rbc7097d793d54044" /><Relationship Type="http://schemas.openxmlformats.org/officeDocument/2006/relationships/image" Target="/ppt/media/image14.png" Id="R912889c5fa4a4775" /><Relationship Type="http://schemas.openxmlformats.org/officeDocument/2006/relationships/image" Target="/ppt/media/image9.svg" Id="R9f8248b72f884855" /><Relationship Type="http://schemas.openxmlformats.org/officeDocument/2006/relationships/image" Target="/ppt/media/image15.png" Id="R938c773689ea457d" /><Relationship Type="http://schemas.openxmlformats.org/officeDocument/2006/relationships/image" Target="/ppt/media/image16.png" Id="Rd7a61f60eaa141f1" /><Relationship Type="http://schemas.openxmlformats.org/officeDocument/2006/relationships/image" Target="/ppt/media/image10.svg" Id="R32904171e33340e7" /><Relationship Type="http://schemas.openxmlformats.org/officeDocument/2006/relationships/image" Target="/ppt/media/image17.png" Id="R3f523fd4e5f744bc" /><Relationship Type="http://schemas.openxmlformats.org/officeDocument/2006/relationships/notesSlide" Target="/ppt/notesSlides/notesSlide2.xml" Id="R65a0c51670b4449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BE3752-609F-4AFF-8383-46E35B09BDDA}"/>
              </a:ext>
            </a:extLst>
          </p:cNvPr>
          <p:cNvSpPr>
            <a:spLocks xmlns:a="http://schemas.openxmlformats.org/drawingml/2006/main" noGrp="1"/>
          </p:cNvSpPr>
          <p:nvPr/>
        </p:nvSpPr>
        <p:spPr>
          <a:xfrm xmlns:a="http://schemas.openxmlformats.org/drawingml/2006/main">
            <a:off x="685800" y="514350"/>
            <a:ext cx="85725" cy="8096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AI discovery: workflows, evidence and sensitivities">
            <a:extLst xmlns:a="http://schemas.openxmlformats.org/drawingml/2006/main">
              <a:ext uri="{FF2B5EF4-FFF2-40B4-BE49-F238E27FC236}">
                <a16:creationId xmlns:a16="http://schemas.microsoft.com/office/drawing/2014/main" id="{CDBADD76-7E0D-4858-B70A-4F8975561292}"/>
              </a:ext>
            </a:extLst>
          </p:cNvPr>
          <p:cNvSpPr>
            <a:spLocks xmlns:a="http://schemas.openxmlformats.org/drawingml/2006/main" noGrp="1"/>
          </p:cNvSpPr>
          <p:nvPr/>
        </p:nvSpPr>
        <p:spPr>
          <a:xfrm xmlns:a="http://schemas.openxmlformats.org/drawingml/2006/main">
            <a:off x="1000125" y="495300"/>
            <a:ext cx="1652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defRPr sz="3450" b="1">
                <a:solidFill>
                  <a:srgbClr val="00355F"/>
                </a:solidFill>
                <a:latin typeface="Arial"/>
                <a:ea typeface="Arial"/>
                <a:cs typeface="Arial"/>
              </a:defRPr>
            </a:pPr>
            <a:r>
              <a:rPr sz="3450" b="1">
                <a:solidFill>
                  <a:srgbClr val="00355F"/>
                </a:solidFill>
                <a:latin typeface="Arial"/>
                <a:ea typeface="Arial"/>
                <a:cs typeface="Arial"/>
              </a:rPr>
              <a:t>AI discovery: workflows, evidence and sensitivities</a:t>
            </a:r>
          </a:p>
        </p:txBody>
      </p:sp>
      <p:sp>
        <p:nvSpPr>
          <p:cNvPr id="3" name="Modalities use different units. Workload sensitivities and historical clinical benchmarks are shown separately.">
            <a:extLst xmlns:a="http://schemas.openxmlformats.org/drawingml/2006/main">
              <a:ext uri="{FF2B5EF4-FFF2-40B4-BE49-F238E27FC236}">
                <a16:creationId xmlns:a16="http://schemas.microsoft.com/office/drawing/2014/main" id="{493B987F-B96B-4C57-A49E-666B31422D89}"/>
              </a:ext>
            </a:extLst>
          </p:cNvPr>
          <p:cNvSpPr>
            <a:spLocks xmlns:a="http://schemas.openxmlformats.org/drawingml/2006/main" noGrp="1"/>
          </p:cNvSpPr>
          <p:nvPr/>
        </p:nvSpPr>
        <p:spPr>
          <a:xfrm xmlns:a="http://schemas.openxmlformats.org/drawingml/2006/main">
            <a:off x="1009650" y="1143000"/>
            <a:ext cx="1619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0">
                <a:solidFill>
                  <a:srgbClr val="00355F"/>
                </a:solidFill>
                <a:latin typeface="Arial"/>
                <a:ea typeface="Arial"/>
                <a:cs typeface="Arial"/>
              </a:defRPr>
            </a:defPPr>
          </a:lstStyle>
          <a:p xmlns:a="http://schemas.openxmlformats.org/drawingml/2006/main">
            <a:pPr algn="l">
              <a:defRPr sz="1725" b="0">
                <a:solidFill>
                  <a:srgbClr val="00355F"/>
                </a:solidFill>
                <a:latin typeface="Arial"/>
                <a:ea typeface="Arial"/>
                <a:cs typeface="Arial"/>
              </a:defRPr>
            </a:pPr>
            <a:r>
              <a:rPr sz="1725" b="0">
                <a:solidFill>
                  <a:srgbClr val="00355F"/>
                </a:solidFill>
                <a:latin typeface="Arial"/>
                <a:ea typeface="Arial"/>
                <a:cs typeface="Arial"/>
              </a:rPr>
              <a:t>Modalities use different units. Workload sensitivities and historical clinical benchmarks are shown separately.</a:t>
            </a:r>
          </a:p>
        </p:txBody>
      </p:sp>
      <p:sp>
        <p:nvSpPr>
          <p:cNvPr id="4" name="">
            <a:extLst xmlns:a="http://schemas.openxmlformats.org/drawingml/2006/main">
              <a:ext uri="{FF2B5EF4-FFF2-40B4-BE49-F238E27FC236}">
                <a16:creationId xmlns:a16="http://schemas.microsoft.com/office/drawing/2014/main" id="{5E91B5EC-9D67-4209-8F8A-C91883007D58}"/>
              </a:ext>
            </a:extLst>
          </p:cNvPr>
          <p:cNvSpPr>
            <a:spLocks xmlns:a="http://schemas.openxmlformats.org/drawingml/2006/main" noGrp="1"/>
          </p:cNvSpPr>
          <p:nvPr/>
        </p:nvSpPr>
        <p:spPr>
          <a:xfrm xmlns:a="http://schemas.openxmlformats.org/drawingml/2006/main">
            <a:off x="685800" y="1676400"/>
            <a:ext cx="16916400" cy="95"/>
          </a:xfrm>
          <a:custGeom xmlns:a="http://schemas.openxmlformats.org/drawingml/2006/main">
            <a:pathLst>
              <a:path w="16916400" h="95">
                <a:moveTo>
                  <a:pt x="0" y="0"/>
                </a:moveTo>
                <a:lnTo>
                  <a:pt x="16916400" y="0"/>
                </a:lnTo>
              </a:path>
            </a:pathLst>
          </a:custGeom>
          <a:noFill xmlns:a="http://schemas.openxmlformats.org/drawingml/2006/main"/>
          <a:ln xmlns:a="http://schemas.openxmlformats.org/drawingml/2006/main" w="9525">
            <a:solidFill>
              <a:srgbClr val="A5A5A5"/>
            </a:solidFill>
            <a:prstDash val="solid"/>
          </a:ln>
        </p:spPr>
      </p:sp>
      <p:graphicFrame>
        <p:nvGraphicFramePr>
          <p:cNvPr id="5" name="">
            <a:extLst xmlns:a="http://schemas.openxmlformats.org/drawingml/2006/main">
              <a:ext uri="{FF2B5EF4-FFF2-40B4-BE49-F238E27FC236}">
                <a16:creationId xmlns:a16="http://schemas.microsoft.com/office/drawing/2014/main" id="{7FC75DF0-2F4D-4E5C-82CF-275E73DB75DD}"/>
              </a:ext>
            </a:extLst>
          </p:cNvPr>
          <p:cNvGraphicFramePr/>
          <p:nvPr/>
        </p:nvGraphicFramePr>
        <p:xfrm>
          <a:off xmlns:a="http://schemas.openxmlformats.org/drawingml/2006/main" x="685800" y="2190750"/>
          <a:ext xmlns:a="http://schemas.openxmlformats.org/drawingml/2006/main" cx="16916400" cy="5772150"/>
        </p:xfrm>
        <a:graphic xmlns:a="http://schemas.openxmlformats.org/drawingml/2006/main">
          <a:graphicData uri="http://schemas.openxmlformats.org/drawingml/2006/table">
            <a:tbl>
              <a:tblPr firstRow="1" bandRow="0"/>
              <a:tblGrid>
                <a:gridCol w="4143375"/>
                <a:gridCol w="2952750"/>
                <a:gridCol w="3143250"/>
                <a:gridCol w="6677025"/>
              </a:tblGrid>
              <a:tr h="666750">
                <a:tc>
                  <a:txBody>
                    <a:bodyPr/>
                    <a:lstStyle/>
                    <a:p>
                      <a:pPr algn="l"/>
                      <a:r>
                        <a:rPr sz="1350" b="1">
                          <a:solidFill>
                            <a:srgbClr val="FFFFFF"/>
                          </a:solidFill>
                          <a:latin typeface="Arial"/>
                          <a:ea typeface="Arial"/>
                          <a:cs typeface="Arial"/>
                        </a:rPr>
                        <a:t>STAGE</a:t>
                      </a:r>
                    </a:p>
                  </a:txBody>
                  <a:tcPr marL="209550" marR="171450" marT="114300" marB="95250" anchor="ctr">
                    <a:lnL w="0">
                      <a:solidFill>
                        <a:srgbClr val="FFFFFF"/>
                      </a:solidFill>
                    </a:lnL>
                    <a:lnR w="0">
                      <a:solidFill>
                        <a:srgbClr val="FFFFFF"/>
                      </a:solidFill>
                    </a:lnR>
                    <a:lnT w="0">
                      <a:solidFill>
                        <a:srgbClr val="FFFFFF"/>
                      </a:solidFill>
                    </a:lnT>
                    <a:lnB w="0">
                      <a:solidFill>
                        <a:srgbClr val="FFFFFF"/>
                      </a:solidFill>
                    </a:lnB>
                    <a:solidFill>
                      <a:srgbClr val="00355F"/>
                    </a:solidFill>
                  </a:tcPr>
                </a:tc>
                <a:tc>
                  <a:txBody>
                    <a:bodyPr/>
                    <a:lstStyle/>
                    <a:p>
                      <a:pPr algn="ctr"/>
                      <a:r>
                        <a:rPr sz="1350" b="1">
                          <a:solidFill>
                            <a:srgbClr val="FFFFFF"/>
                          </a:solidFill>
                          <a:latin typeface="Arial"/>
                          <a:ea typeface="Arial"/>
                          <a:cs typeface="Arial"/>
                        </a:rPr>
                        <a:t>BEFORE GEN-AI</a:t>
                      </a:r>
                    </a:p>
                  </a:txBody>
                  <a:tcPr marL="209550" marR="171450" marT="114300" marB="95250" anchor="ctr">
                    <a:lnR w="0">
                      <a:solidFill>
                        <a:srgbClr val="FFFFFF"/>
                      </a:solidFill>
                    </a:lnR>
                    <a:lnT w="0">
                      <a:solidFill>
                        <a:srgbClr val="FFFFFF"/>
                      </a:solidFill>
                    </a:lnT>
                    <a:lnB w="0">
                      <a:solidFill>
                        <a:srgbClr val="FFFFFF"/>
                      </a:solidFill>
                    </a:lnB>
                    <a:solidFill>
                      <a:srgbClr val="00355F"/>
                    </a:solidFill>
                  </a:tcPr>
                </a:tc>
                <a:tc>
                  <a:txBody>
                    <a:bodyPr/>
                    <a:lstStyle/>
                    <a:p>
                      <a:pPr algn="ctr"/>
                      <a:r>
                        <a:rPr sz="1350" b="1">
                          <a:solidFill>
                            <a:srgbClr val="FFFFFF"/>
                          </a:solidFill>
                          <a:latin typeface="Arial"/>
                          <a:ea typeface="Arial"/>
                          <a:cs typeface="Arial"/>
                        </a:rPr>
                        <a:t>AI MECHANISMS</a:t>
                      </a:r>
                    </a:p>
                  </a:txBody>
                  <a:tcPr marL="209550" marR="171450" marT="114300" marB="95250" anchor="ctr">
                    <a:lnR w="0">
                      <a:solidFill>
                        <a:srgbClr val="FFFFFF"/>
                      </a:solidFill>
                    </a:lnR>
                    <a:lnT w="0">
                      <a:solidFill>
                        <a:srgbClr val="FFFFFF"/>
                      </a:solidFill>
                    </a:lnT>
                    <a:lnB w="0">
                      <a:solidFill>
                        <a:srgbClr val="FFFFFF"/>
                      </a:solidFill>
                    </a:lnB>
                    <a:solidFill>
                      <a:srgbClr val="00355F"/>
                    </a:solidFill>
                  </a:tcPr>
                </a:tc>
                <a:tc>
                  <a:txBody>
                    <a:bodyPr/>
                    <a:lstStyle/>
                    <a:p>
                      <a:pPr algn="l"/>
                      <a:r>
                        <a:rPr sz="1350" b="1">
                          <a:solidFill>
                            <a:srgbClr val="FFFFFF"/>
                          </a:solidFill>
                          <a:latin typeface="Arial"/>
                          <a:ea typeface="Arial"/>
                          <a:cs typeface="Arial"/>
                        </a:rPr>
                        <a:t>WHAT CHANGES</a:t>
                      </a:r>
                    </a:p>
                  </a:txBody>
                  <a:tcPr marL="209550" marR="171450" marT="114300" marB="95250" anchor="ctr">
                    <a:lnR w="0">
                      <a:solidFill>
                        <a:srgbClr val="FFFFFF"/>
                      </a:solidFill>
                    </a:lnR>
                    <a:lnT w="0">
                      <a:solidFill>
                        <a:srgbClr val="FFFFFF"/>
                      </a:solidFill>
                    </a:lnT>
                    <a:lnB w="0">
                      <a:solidFill>
                        <a:srgbClr val="FFFFFF"/>
                      </a:solidFill>
                    </a:lnB>
                    <a:solidFill>
                      <a:srgbClr val="00355F"/>
                    </a:solidFill>
                  </a:tcPr>
                </a:tc>
              </a:tr>
              <a:tr h="1104900">
                <a:tc>
                  <a:txBody>
                    <a:bodyPr/>
                    <a:lstStyle/>
                    <a:p>
                      <a:pPr algn="l"/>
                      <a:r>
                        <a:rPr sz="1650" b="0">
                          <a:solidFill>
                            <a:srgbClr val="00355F"/>
                          </a:solidFill>
                          <a:latin typeface="Arial"/>
                          <a:ea typeface="Arial"/>
                          <a:cs typeface="Arial"/>
                        </a:rPr>
                        <a:t>Virtual search / design</a:t>
                      </a:r>
                    </a:p>
                  </a:txBody>
                  <a:tcPr marL="209550" marR="171450" marT="114300" marB="95250" anchor="ctr">
                    <a:lnL w="0">
                      <a:solidFill>
                        <a:srgbClr val="FFFFFF"/>
                      </a:solidFill>
                    </a:lnL>
                    <a:lnR w="0">
                      <a:solidFill>
                        <a:srgbClr val="FFFFFF"/>
                      </a:solidFill>
                    </a:lnR>
                    <a:lnB w="0">
                      <a:solidFill>
                        <a:srgbClr val="FFFFFF"/>
                      </a:solidFill>
                    </a:lnB>
                    <a:solidFill>
                      <a:srgbClr val="FFFFFF"/>
                    </a:solidFill>
                  </a:tcPr>
                </a:tc>
                <a:tc>
                  <a:txBody>
                    <a:bodyPr/>
                    <a:lstStyle/>
                    <a:p>
                      <a:pPr algn="ctr"/>
                      <a:r>
                        <a:rPr sz="1800" b="0">
                          <a:solidFill>
                            <a:srgbClr val="00355F"/>
                          </a:solidFill>
                          <a:latin typeface="Arial"/>
                          <a:ea typeface="Arial"/>
                          <a:cs typeface="Arial"/>
                        </a:rPr>
                        <a:t>Large virtual</a:t>
                      </a:r>
                    </a:p>
                    <a:p>
                      <a:pPr algn="ctr"/>
                      <a:r>
                        <a:rPr sz="1800" b="0">
                          <a:solidFill>
                            <a:srgbClr val="00355F"/>
                          </a:solidFill>
                          <a:latin typeface="Arial"/>
                          <a:ea typeface="Arial"/>
                          <a:cs typeface="Arial"/>
                        </a:rPr>
                        <a:t>libraries</a:t>
                      </a:r>
                    </a:p>
                  </a:txBody>
                  <a:tcPr marL="209550" marR="171450" marT="114300" marB="95250" anchor="ctr">
                    <a:lnR w="0">
                      <a:solidFill>
                        <a:srgbClr val="FFFFFF"/>
                      </a:solidFill>
                    </a:lnR>
                    <a:lnB w="0">
                      <a:solidFill>
                        <a:srgbClr val="FFFFFF"/>
                      </a:solidFill>
                    </a:lnB>
                    <a:solidFill>
                      <a:srgbClr val="FFFFFF"/>
                    </a:solidFill>
                  </a:tcPr>
                </a:tc>
                <a:tc>
                  <a:txBody>
                    <a:bodyPr/>
                    <a:lstStyle/>
                    <a:p>
                      <a:pPr algn="ctr"/>
                      <a:r>
                        <a:rPr sz="1800" b="0">
                          <a:solidFill>
                            <a:srgbClr val="00355F"/>
                          </a:solidFill>
                          <a:latin typeface="Arial"/>
                          <a:ea typeface="Arial"/>
                          <a:cs typeface="Arial"/>
                        </a:rPr>
                        <a:t>Quality +</a:t>
                      </a:r>
                    </a:p>
                    <a:p>
                      <a:pPr algn="ctr"/>
                      <a:r>
                        <a:rPr sz="1800" b="0">
                          <a:solidFill>
                            <a:srgbClr val="00355F"/>
                          </a:solidFill>
                          <a:latin typeface="Arial"/>
                          <a:ea typeface="Arial"/>
                          <a:cs typeface="Arial"/>
                        </a:rPr>
                        <a:t>selection</a:t>
                      </a:r>
                    </a:p>
                  </a:txBody>
                  <a:tcPr marL="209550" marR="171450" marT="114300" marB="95250" anchor="ctr">
                    <a:lnR w="0">
                      <a:solidFill>
                        <a:srgbClr val="FFFFFF"/>
                      </a:solidFill>
                    </a:lnR>
                    <a:lnB w="0">
                      <a:solidFill>
                        <a:srgbClr val="FFFFFF"/>
                      </a:solidFill>
                    </a:lnB>
                    <a:solidFill>
                      <a:srgbClr val="FFFFFF"/>
                    </a:solidFill>
                  </a:tcPr>
                </a:tc>
                <a:tc>
                  <a:txBody>
                    <a:bodyPr/>
                    <a:lstStyle/>
                    <a:p>
                      <a:pPr algn="l"/>
                      <a:r>
                        <a:rPr sz="1650" b="0">
                          <a:solidFill>
                            <a:srgbClr val="00355F"/>
                          </a:solidFill>
                          <a:latin typeface="Arial"/>
                          <a:ea typeface="Arial"/>
                          <a:cs typeface="Arial"/>
                        </a:rPr>
                        <a:t>Large libraries predate generative AI.</a:t>
                      </a:r>
                    </a:p>
                    <a:p>
                      <a:pPr algn="l"/>
                      <a:r>
                        <a:rPr sz="1650" b="0">
                          <a:solidFill>
                            <a:srgbClr val="00355F"/>
                          </a:solidFill>
                          <a:latin typeface="Arial"/>
                          <a:ea typeface="Arial"/>
                          <a:cs typeface="Arial"/>
                        </a:rPr>
                        <a:t>The investment mechanism is better selection and learning.</a:t>
                      </a:r>
                    </a:p>
                  </a:txBody>
                  <a:tcPr marL="209550" marR="171450" marT="114300" marB="95250" anchor="ctr">
                    <a:lnR w="0">
                      <a:solidFill>
                        <a:srgbClr val="FFFFFF"/>
                      </a:solidFill>
                    </a:lnR>
                    <a:lnB w="0">
                      <a:solidFill>
                        <a:srgbClr val="FFFFFF"/>
                      </a:solidFill>
                    </a:lnB>
                    <a:solidFill>
                      <a:srgbClr val="FFFFFF"/>
                    </a:solidFill>
                  </a:tcPr>
                </a:tc>
              </a:tr>
              <a:tr h="1000125">
                <a:tc>
                  <a:txBody>
                    <a:bodyPr/>
                    <a:lstStyle/>
                    <a:p>
                      <a:pPr algn="l"/>
                      <a:r>
                        <a:rPr sz="1650" b="0">
                          <a:solidFill>
                            <a:srgbClr val="00355F"/>
                          </a:solidFill>
                          <a:latin typeface="Arial"/>
                          <a:ea typeface="Arial"/>
                          <a:cs typeface="Arial"/>
                        </a:rPr>
                        <a:t>Physical samples</a:t>
                      </a:r>
                    </a:p>
                  </a:txBody>
                  <a:tcPr marL="209550" marR="171450" marT="114300" marB="95250" anchor="ctr">
                    <a:lnL w="0">
                      <a:solidFill>
                        <a:srgbClr val="FFFFFF"/>
                      </a:solidFill>
                    </a:lnL>
                    <a:lnR w="0">
                      <a:solidFill>
                        <a:srgbClr val="FFFFFF"/>
                      </a:solidFill>
                    </a:lnR>
                    <a:lnB w="0">
                      <a:solidFill>
                        <a:srgbClr val="FFFFFF"/>
                      </a:solidFill>
                    </a:lnB>
                    <a:solidFill>
                      <a:srgbClr val="EEF6FC"/>
                    </a:solidFill>
                  </a:tcPr>
                </a:tc>
                <a:tc>
                  <a:txBody>
                    <a:bodyPr/>
                    <a:lstStyle/>
                    <a:p>
                      <a:pPr algn="ctr"/>
                      <a:r>
                        <a:rPr sz="1800" b="0">
                          <a:solidFill>
                            <a:srgbClr val="00355F"/>
                          </a:solidFill>
                          <a:latin typeface="Arial"/>
                          <a:ea typeface="Arial"/>
                          <a:cs typeface="Arial"/>
                        </a:rPr>
                        <a:t>Program-</a:t>
                      </a:r>
                    </a:p>
                    <a:p>
                      <a:pPr algn="ctr"/>
                      <a:r>
                        <a:rPr sz="1800" b="0">
                          <a:solidFill>
                            <a:srgbClr val="00355F"/>
                          </a:solidFill>
                          <a:latin typeface="Arial"/>
                          <a:ea typeface="Arial"/>
                          <a:cs typeface="Arial"/>
                        </a:rPr>
                        <a:t>specific</a:t>
                      </a:r>
                    </a:p>
                  </a:txBody>
                  <a:tcPr marL="209550" marR="171450" marT="114300" marB="95250" anchor="ctr">
                    <a:lnR w="0">
                      <a:solidFill>
                        <a:srgbClr val="FFFFFF"/>
                      </a:solidFill>
                    </a:lnR>
                    <a:lnB w="0">
                      <a:solidFill>
                        <a:srgbClr val="FFFFFF"/>
                      </a:solidFill>
                    </a:lnB>
                    <a:solidFill>
                      <a:srgbClr val="EEF6FC"/>
                    </a:solidFill>
                  </a:tcPr>
                </a:tc>
                <a:tc>
                  <a:txBody>
                    <a:bodyPr/>
                    <a:lstStyle/>
                    <a:p>
                      <a:pPr algn="ctr"/>
                      <a:r>
                        <a:rPr sz="1800" b="0">
                          <a:solidFill>
                            <a:srgbClr val="00355F"/>
                          </a:solidFill>
                          <a:latin typeface="Arial"/>
                          <a:ea typeface="Arial"/>
                          <a:cs typeface="Arial"/>
                        </a:rPr>
                        <a:t>Modality-</a:t>
                      </a:r>
                    </a:p>
                    <a:p>
                      <a:pPr algn="ctr"/>
                      <a:r>
                        <a:rPr sz="1800" b="0">
                          <a:solidFill>
                            <a:srgbClr val="00355F"/>
                          </a:solidFill>
                          <a:latin typeface="Arial"/>
                          <a:ea typeface="Arial"/>
                          <a:cs typeface="Arial"/>
                        </a:rPr>
                        <a:t>dependent</a:t>
                      </a:r>
                    </a:p>
                  </a:txBody>
                  <a:tcPr marL="209550" marR="171450" marT="114300" marB="95250" anchor="ctr">
                    <a:lnR w="0">
                      <a:solidFill>
                        <a:srgbClr val="FFFFFF"/>
                      </a:solidFill>
                    </a:lnR>
                    <a:lnB w="0">
                      <a:solidFill>
                        <a:srgbClr val="FFFFFF"/>
                      </a:solidFill>
                    </a:lnB>
                    <a:solidFill>
                      <a:srgbClr val="EEF6FC"/>
                    </a:solidFill>
                  </a:tcPr>
                </a:tc>
                <a:tc>
                  <a:txBody>
                    <a:bodyPr/>
                    <a:lstStyle/>
                    <a:p>
                      <a:pPr algn="l"/>
                      <a:r>
                        <a:rPr sz="1650" b="0">
                          <a:solidFill>
                            <a:srgbClr val="00355F"/>
                          </a:solidFill>
                          <a:latin typeface="Arial"/>
                          <a:ea typeface="Arial"/>
                          <a:cs typeface="Arial"/>
                        </a:rPr>
                        <a:t>Small molecules can need fewer syntheses per program.</a:t>
                      </a:r>
                    </a:p>
                    <a:p>
                      <a:pPr algn="l"/>
                      <a:r>
                        <a:rPr sz="1650" b="0">
                          <a:solidFill>
                            <a:srgbClr val="00355F"/>
                          </a:solidFill>
                          <a:latin typeface="Arial"/>
                          <a:ea typeface="Arial"/>
                          <a:cs typeface="Arial"/>
                        </a:rPr>
                        <a:t>Protein libraries and individual profiling are different units.</a:t>
                      </a:r>
                    </a:p>
                  </a:txBody>
                  <a:tcPr marL="209550" marR="171450" marT="114300" marB="95250" anchor="ctr">
                    <a:lnR w="0">
                      <a:solidFill>
                        <a:srgbClr val="FFFFFF"/>
                      </a:solidFill>
                    </a:lnR>
                    <a:lnB w="0">
                      <a:solidFill>
                        <a:srgbClr val="FFFFFF"/>
                      </a:solidFill>
                    </a:lnB>
                    <a:solidFill>
                      <a:srgbClr val="EEF6FC"/>
                    </a:solidFill>
                  </a:tcPr>
                </a:tc>
              </a:tr>
              <a:tr h="1000125">
                <a:tc>
                  <a:txBody>
                    <a:bodyPr/>
                    <a:lstStyle/>
                    <a:p>
                      <a:pPr algn="l"/>
                      <a:r>
                        <a:rPr sz="1650" b="1">
                          <a:solidFill>
                            <a:srgbClr val="00355F"/>
                          </a:solidFill>
                          <a:latin typeface="Arial"/>
                          <a:ea typeface="Arial"/>
                          <a:cs typeface="Arial"/>
                        </a:rPr>
                        <a:t>Assay workload</a:t>
                      </a:r>
                    </a:p>
                  </a:txBody>
                  <a:tcPr marL="209550" marR="171450" marT="114300" marB="95250" anchor="ctr">
                    <a:lnL w="0">
                      <a:solidFill>
                        <a:srgbClr val="FFFFFF"/>
                      </a:solidFill>
                    </a:lnL>
                    <a:lnR w="0">
                      <a:solidFill>
                        <a:srgbClr val="FFFFFF"/>
                      </a:solidFill>
                    </a:lnR>
                    <a:lnB w="0">
                      <a:solidFill>
                        <a:srgbClr val="FFFFFF"/>
                      </a:solidFill>
                    </a:lnB>
                    <a:solidFill>
                      <a:srgbClr val="EEF6FC"/>
                    </a:solidFill>
                  </a:tcPr>
                </a:tc>
                <a:tc>
                  <a:txBody>
                    <a:bodyPr/>
                    <a:lstStyle/>
                    <a:p>
                      <a:pPr algn="ctr"/>
                      <a:r>
                        <a:rPr sz="1800" b="1">
                          <a:solidFill>
                            <a:srgbClr val="00355F"/>
                          </a:solidFill>
                          <a:latin typeface="Arial"/>
                          <a:ea typeface="Arial"/>
                          <a:cs typeface="Arial"/>
                        </a:rPr>
                        <a:t>1× baseline</a:t>
                      </a:r>
                    </a:p>
                  </a:txBody>
                  <a:tcPr marL="209550" marR="171450" marT="114300" marB="95250" anchor="ctr">
                    <a:lnR w="0">
                      <a:solidFill>
                        <a:srgbClr val="FFFFFF"/>
                      </a:solidFill>
                    </a:lnR>
                    <a:lnB w="0">
                      <a:solidFill>
                        <a:srgbClr val="FFFFFF"/>
                      </a:solidFill>
                    </a:lnB>
                    <a:solidFill>
                      <a:srgbClr val="EEF6FC"/>
                    </a:solidFill>
                  </a:tcPr>
                </a:tc>
                <a:tc>
                  <a:txBody>
                    <a:bodyPr/>
                    <a:lstStyle/>
                    <a:p>
                      <a:pPr algn="ctr"/>
                      <a:r>
                        <a:rPr sz="1800" b="1">
                          <a:solidFill>
                            <a:srgbClr val="00355F"/>
                          </a:solidFill>
                          <a:latin typeface="Arial"/>
                          <a:ea typeface="Arial"/>
                          <a:cs typeface="Arial"/>
                        </a:rPr>
                        <a:t>1× / 2× /</a:t>
                      </a:r>
                    </a:p>
                    <a:p>
                      <a:pPr algn="ctr"/>
                      <a:r>
                        <a:rPr sz="1800" b="1">
                          <a:solidFill>
                            <a:srgbClr val="00355F"/>
                          </a:solidFill>
                          <a:latin typeface="Arial"/>
                          <a:ea typeface="Arial"/>
                          <a:cs typeface="Arial"/>
                        </a:rPr>
                        <a:t>5× / 10×</a:t>
                      </a:r>
                    </a:p>
                  </a:txBody>
                  <a:tcPr marL="209550" marR="171450" marT="114300" marB="95250" anchor="ctr">
                    <a:lnR w="0">
                      <a:solidFill>
                        <a:srgbClr val="FFFFFF"/>
                      </a:solidFill>
                    </a:lnR>
                    <a:lnB w="0">
                      <a:solidFill>
                        <a:srgbClr val="FFFFFF"/>
                      </a:solidFill>
                    </a:lnB>
                    <a:solidFill>
                      <a:srgbClr val="EEF6FC"/>
                    </a:solidFill>
                  </a:tcPr>
                </a:tc>
                <a:tc>
                  <a:txBody>
                    <a:bodyPr/>
                    <a:lstStyle/>
                    <a:p>
                      <a:pPr algn="l"/>
                      <a:r>
                        <a:rPr sz="1650" b="1">
                          <a:solidFill>
                            <a:srgbClr val="00355F"/>
                          </a:solidFill>
                          <a:latin typeface="Arial"/>
                          <a:ea typeface="Arial"/>
                          <a:cs typeface="Arial"/>
                        </a:rPr>
                        <a:t>Analyst workload sensitivities, not predicted fully profiled</a:t>
                      </a:r>
                    </a:p>
                    <a:p>
                      <a:pPr algn="l"/>
                      <a:r>
                        <a:rPr sz="1650" b="1">
                          <a:solidFill>
                            <a:srgbClr val="00355F"/>
                          </a:solidFill>
                          <a:latin typeface="Arial"/>
                          <a:ea typeface="Arial"/>
                          <a:cs typeface="Arial"/>
                        </a:rPr>
                        <a:t>candidate counts. Include an efficiency/no-growth case.</a:t>
                      </a:r>
                    </a:p>
                  </a:txBody>
                  <a:tcPr marL="209550" marR="171450" marT="114300" marB="95250" anchor="ctr">
                    <a:lnR w="0">
                      <a:solidFill>
                        <a:srgbClr val="FFFFFF"/>
                      </a:solidFill>
                    </a:lnR>
                    <a:lnB w="0">
                      <a:solidFill>
                        <a:srgbClr val="FFFFFF"/>
                      </a:solidFill>
                    </a:lnB>
                    <a:solidFill>
                      <a:srgbClr val="EEF6FC"/>
                    </a:solidFill>
                  </a:tcPr>
                </a:tc>
              </a:tr>
              <a:tr h="1000125">
                <a:tc>
                  <a:txBody>
                    <a:bodyPr/>
                    <a:lstStyle/>
                    <a:p>
                      <a:pPr algn="l"/>
                      <a:r>
                        <a:rPr sz="1650" b="0">
                          <a:solidFill>
                            <a:srgbClr val="00355F"/>
                          </a:solidFill>
                          <a:latin typeface="Arial"/>
                          <a:ea typeface="Arial"/>
                          <a:cs typeface="Arial"/>
                        </a:rPr>
                        <a:t>Clinical development</a:t>
                      </a:r>
                    </a:p>
                  </a:txBody>
                  <a:tcPr marL="209550" marR="171450" marT="114300" marB="95250" anchor="ctr">
                    <a:lnL w="0">
                      <a:solidFill>
                        <a:srgbClr val="FFFFFF"/>
                      </a:solidFill>
                    </a:lnL>
                    <a:lnR w="0">
                      <a:solidFill>
                        <a:srgbClr val="FFFFFF"/>
                      </a:solidFill>
                    </a:lnR>
                    <a:lnB w="0">
                      <a:solidFill>
                        <a:srgbClr val="FFFFFF"/>
                      </a:solidFill>
                    </a:lnB>
                    <a:solidFill>
                      <a:srgbClr val="FFFFFF"/>
                    </a:solidFill>
                  </a:tcPr>
                </a:tc>
                <a:tc>
                  <a:txBody>
                    <a:bodyPr/>
                    <a:lstStyle/>
                    <a:p>
                      <a:pPr algn="ctr"/>
                      <a:r>
                        <a:rPr sz="1800" b="0">
                          <a:solidFill>
                            <a:srgbClr val="00355F"/>
                          </a:solidFill>
                          <a:latin typeface="Arial"/>
                          <a:ea typeface="Arial"/>
                          <a:cs typeface="Arial"/>
                        </a:rPr>
                        <a:t>Phase I</a:t>
                      </a:r>
                    </a:p>
                    <a:p>
                      <a:pPr algn="ctr"/>
                      <a:r>
                        <a:rPr sz="1800" b="0">
                          <a:solidFill>
                            <a:srgbClr val="00355F"/>
                          </a:solidFill>
                          <a:latin typeface="Arial"/>
                          <a:ea typeface="Arial"/>
                          <a:cs typeface="Arial"/>
                        </a:rPr>
                        <a:t>programs</a:t>
                      </a:r>
                    </a:p>
                  </a:txBody>
                  <a:tcPr marL="209550" marR="171450" marT="114300" marB="95250" anchor="ctr">
                    <a:lnR w="0">
                      <a:solidFill>
                        <a:srgbClr val="FFFFFF"/>
                      </a:solidFill>
                    </a:lnR>
                    <a:lnB w="0">
                      <a:solidFill>
                        <a:srgbClr val="FFFFFF"/>
                      </a:solidFill>
                    </a:lnB>
                    <a:solidFill>
                      <a:srgbClr val="FFFFFF"/>
                    </a:solidFill>
                  </a:tcPr>
                </a:tc>
                <a:tc>
                  <a:txBody>
                    <a:bodyPr/>
                    <a:lstStyle/>
                    <a:p>
                      <a:pPr algn="ctr"/>
                      <a:r>
                        <a:rPr sz="1800" b="0">
                          <a:solidFill>
                            <a:srgbClr val="00355F"/>
                          </a:solidFill>
                          <a:latin typeface="Arial"/>
                          <a:ea typeface="Arial"/>
                          <a:cs typeface="Arial"/>
                        </a:rPr>
                        <a:t>Funded clinical</a:t>
                      </a:r>
                    </a:p>
                    <a:p>
                      <a:pPr algn="ctr"/>
                      <a:r>
                        <a:rPr sz="1800" b="0">
                          <a:solidFill>
                            <a:srgbClr val="00355F"/>
                          </a:solidFill>
                          <a:latin typeface="Arial"/>
                          <a:ea typeface="Arial"/>
                          <a:cs typeface="Arial"/>
                        </a:rPr>
                        <a:t>programs</a:t>
                      </a:r>
                    </a:p>
                  </a:txBody>
                  <a:tcPr marL="209550" marR="171450" marT="114300" marB="95250" anchor="ctr">
                    <a:lnR w="0">
                      <a:solidFill>
                        <a:srgbClr val="FFFFFF"/>
                      </a:solidFill>
                    </a:lnR>
                    <a:lnB w="0">
                      <a:solidFill>
                        <a:srgbClr val="FFFFFF"/>
                      </a:solidFill>
                    </a:lnB>
                    <a:solidFill>
                      <a:srgbClr val="FFFFFF"/>
                    </a:solidFill>
                  </a:tcPr>
                </a:tc>
                <a:tc>
                  <a:txBody>
                    <a:bodyPr/>
                    <a:lstStyle/>
                    <a:p>
                      <a:pPr algn="l"/>
                      <a:r>
                        <a:rPr sz="1650" b="0">
                          <a:solidFill>
                            <a:srgbClr val="00355F"/>
                          </a:solidFill>
                          <a:latin typeface="Arial"/>
                          <a:ea typeface="Arial"/>
                          <a:cs typeface="Arial"/>
                        </a:rPr>
                        <a:t>Clinical biology, patients, capital and time remain</a:t>
                      </a:r>
                    </a:p>
                    <a:p>
                      <a:pPr algn="l"/>
                      <a:r>
                        <a:rPr sz="1650" b="0">
                          <a:solidFill>
                            <a:srgbClr val="00355F"/>
                          </a:solidFill>
                          <a:latin typeface="Arial"/>
                          <a:ea typeface="Arial"/>
                          <a:cs typeface="Arial"/>
                        </a:rPr>
                        <a:t>constraints; discovery gains do not establish clinical gains.</a:t>
                      </a:r>
                    </a:p>
                  </a:txBody>
                  <a:tcPr marL="209550" marR="171450" marT="114300" marB="95250" anchor="ctr">
                    <a:lnR w="0">
                      <a:solidFill>
                        <a:srgbClr val="FFFFFF"/>
                      </a:solidFill>
                    </a:lnR>
                    <a:lnB w="0">
                      <a:solidFill>
                        <a:srgbClr val="FFFFFF"/>
                      </a:solidFill>
                    </a:lnB>
                    <a:solidFill>
                      <a:srgbClr val="FFFFFF"/>
                    </a:solidFill>
                  </a:tcPr>
                </a:tc>
              </a:tr>
              <a:tr h="1000125">
                <a:tc>
                  <a:txBody>
                    <a:bodyPr/>
                    <a:lstStyle/>
                    <a:p>
                      <a:pPr algn="l"/>
                      <a:r>
                        <a:rPr sz="1650" b="0">
                          <a:solidFill>
                            <a:srgbClr val="00355F"/>
                          </a:solidFill>
                          <a:latin typeface="Arial"/>
                          <a:ea typeface="Arial"/>
                          <a:cs typeface="Arial"/>
                        </a:rPr>
                        <a:t>Phase I to approval</a:t>
                      </a:r>
                    </a:p>
                  </a:txBody>
                  <a:tcPr marL="209550" marR="171450" marT="114300" marB="95250" anchor="ctr">
                    <a:lnL w="0">
                      <a:solidFill>
                        <a:srgbClr val="FFFFFF"/>
                      </a:solidFill>
                    </a:lnL>
                    <a:lnR w="0">
                      <a:solidFill>
                        <a:srgbClr val="FFFFFF"/>
                      </a:solidFill>
                    </a:lnR>
                    <a:lnB w="0">
                      <a:solidFill>
                        <a:srgbClr val="FFFFFF"/>
                      </a:solidFill>
                    </a:lnB>
                    <a:solidFill>
                      <a:srgbClr val="FFFFFF"/>
                    </a:solidFill>
                  </a:tcPr>
                </a:tc>
                <a:tc>
                  <a:txBody>
                    <a:bodyPr/>
                    <a:lstStyle/>
                    <a:p>
                      <a:pPr algn="ctr"/>
                      <a:r>
                        <a:rPr sz="1800" b="0">
                          <a:solidFill>
                            <a:srgbClr val="00355F"/>
                          </a:solidFill>
                          <a:latin typeface="Arial"/>
                          <a:ea typeface="Arial"/>
                          <a:cs typeface="Arial"/>
                        </a:rPr>
                        <a:t>7.9% / 13.8%</a:t>
                      </a:r>
                    </a:p>
                    <a:p>
                      <a:pPr algn="ctr"/>
                      <a:r>
                        <a:rPr sz="1800" b="0">
                          <a:solidFill>
                            <a:srgbClr val="00355F"/>
                          </a:solidFill>
                          <a:latin typeface="Arial"/>
                          <a:ea typeface="Arial"/>
                          <a:cs typeface="Arial"/>
                        </a:rPr>
                        <a:t>(study estimates)</a:t>
                      </a:r>
                    </a:p>
                  </a:txBody>
                  <a:tcPr marL="209550" marR="171450" marT="114300" marB="95250" anchor="ctr">
                    <a:lnR w="0">
                      <a:solidFill>
                        <a:srgbClr val="FFFFFF"/>
                      </a:solidFill>
                    </a:lnR>
                    <a:lnB w="0">
                      <a:solidFill>
                        <a:srgbClr val="FFFFFF"/>
                      </a:solidFill>
                    </a:lnB>
                    <a:solidFill>
                      <a:srgbClr val="FFFFFF"/>
                    </a:solidFill>
                  </a:tcPr>
                </a:tc>
                <a:tc>
                  <a:txBody>
                    <a:bodyPr/>
                    <a:lstStyle/>
                    <a:p>
                      <a:pPr algn="ctr"/>
                      <a:r>
                        <a:rPr sz="1800" b="0">
                          <a:solidFill>
                            <a:srgbClr val="00355F"/>
                          </a:solidFill>
                          <a:latin typeface="Arial"/>
                          <a:ea typeface="Arial"/>
                          <a:cs typeface="Arial"/>
                        </a:rPr>
                        <a:t>AI advantage</a:t>
                      </a:r>
                    </a:p>
                    <a:p>
                      <a:pPr algn="ctr"/>
                      <a:r>
                        <a:rPr sz="1800" b="0">
                          <a:solidFill>
                            <a:srgbClr val="00355F"/>
                          </a:solidFill>
                          <a:latin typeface="Arial"/>
                          <a:ea typeface="Arial"/>
                          <a:cs typeface="Arial"/>
                        </a:rPr>
                        <a:t>unproven</a:t>
                      </a:r>
                    </a:p>
                  </a:txBody>
                  <a:tcPr marL="209550" marR="171450" marT="114300" marB="95250" anchor="ctr">
                    <a:lnR w="0">
                      <a:solidFill>
                        <a:srgbClr val="FFFFFF"/>
                      </a:solidFill>
                    </a:lnR>
                    <a:lnB w="0">
                      <a:solidFill>
                        <a:srgbClr val="FFFFFF"/>
                      </a:solidFill>
                    </a:lnB>
                    <a:solidFill>
                      <a:srgbClr val="FFFFFF"/>
                    </a:solidFill>
                  </a:tcPr>
                </a:tc>
                <a:tc>
                  <a:txBody>
                    <a:bodyPr/>
                    <a:lstStyle/>
                    <a:p>
                      <a:pPr algn="l"/>
                      <a:r>
                        <a:rPr sz="1650" b="0">
                          <a:solidFill>
                            <a:srgbClr val="00355F"/>
                          </a:solidFill>
                          <a:latin typeface="Arial"/>
                          <a:ea typeface="Arial"/>
                          <a:cs typeface="Arial"/>
                        </a:rPr>
                        <a:t>BIO 2011–2020 and Wong 2000–2015 are different</a:t>
                      </a:r>
                    </a:p>
                    <a:p>
                      <a:pPr algn="l"/>
                      <a:r>
                        <a:rPr sz="1650" b="0">
                          <a:solidFill>
                            <a:srgbClr val="00355F"/>
                          </a:solidFill>
                          <a:latin typeface="Arial"/>
                          <a:ea typeface="Arial"/>
                          <a:cs typeface="Arial"/>
                        </a:rPr>
                        <a:t>cohorts and methods, not an AI comparison.</a:t>
                      </a:r>
                    </a:p>
                  </a:txBody>
                  <a:tcPr marL="209550" marR="171450" marT="114300" marB="95250" anchor="ctr">
                    <a:lnR w="0">
                      <a:solidFill>
                        <a:srgbClr val="FFFFFF"/>
                      </a:solidFill>
                    </a:lnR>
                    <a:lnB w="0">
                      <a:solidFill>
                        <a:srgbClr val="FFFFFF"/>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3A12EE8-42D0-4DEE-A228-ED379CCD9046}"/>
              </a:ext>
            </a:extLst>
          </p:cNvPr>
          <p:cNvSpPr>
            <a:spLocks xmlns:a="http://schemas.openxmlformats.org/drawingml/2006/main" noGrp="1"/>
          </p:cNvSpPr>
          <p:nvPr/>
        </p:nvSpPr>
        <p:spPr>
          <a:xfrm xmlns:a="http://schemas.openxmlformats.org/drawingml/2006/main">
            <a:off x="685800" y="8353425"/>
            <a:ext cx="16916400" cy="933450"/>
          </a:xfrm>
          <a:prstGeom xmlns:a="http://schemas.openxmlformats.org/drawingml/2006/main" prst="roundRect">
            <a:avLst>
              <a:gd name="adj" fmla="val 10204"/>
            </a:avLst>
          </a:prstGeom>
          <a:solidFill xmlns:a="http://schemas.openxmlformats.org/drawingml/2006/main">
            <a:srgbClr val="00355F"/>
          </a:solidFill>
          <a:ln xmlns:a="http://schemas.openxmlformats.org/drawingml/2006/main" w="9525">
            <a:noFill/>
          </a:ln>
        </p:spPr>
      </p:sp>
      <p:pic>
        <p:nvPicPr>
          <p:cNvPr id="7" name="">
            <a:extLst xmlns:a="http://schemas.openxmlformats.org/drawingml/2006/main">
              <a:ext uri="{FF2B5EF4-FFF2-40B4-BE49-F238E27FC236}">
                <a16:creationId xmlns:a16="http://schemas.microsoft.com/office/drawing/2014/main" id="{E65AD7D7-E1DE-4DCC-B974-5940B5B11484}"/>
              </a:ext>
            </a:extLst>
          </p:cNvPr>
          <p:cNvPicPr>
            <a:picLocks xmlns:a="http://schemas.openxmlformats.org/drawingml/2006/main" noChangeAspect="1"/>
          </p:cNvPicPr>
          <p:nvPr/>
        </p:nvPicPr>
        <p:blipFill>
          <a:blip xmlns:r="http://schemas.openxmlformats.org/officeDocument/2006/relationships" xmlns:a="http://schemas.openxmlformats.org/drawingml/2006/main" r:embed="R450d7482db7e497c">
            <a:extLst>
              <a:ext uri="{96DAC541-7B7A-43D3-8B79-37D633B846F1}">
                <asvg:svgBlip xmlns:asvg="http://schemas.microsoft.com/office/drawing/2016/SVG/main" r:embed="R4bfda2bb1bf84166"/>
              </a:ext>
            </a:extLst>
          </a:blip>
          <a:stretch xmlns:a="http://schemas.openxmlformats.org/drawingml/2006/main"/>
        </p:blipFill>
        <p:spPr>
          <a:xfrm xmlns:a="http://schemas.openxmlformats.org/drawingml/2006/main">
            <a:off x="904875" y="8562975"/>
            <a:ext cx="495300" cy="495300"/>
          </a:xfrm>
          <a:prstGeom xmlns:a="http://schemas.openxmlformats.org/drawingml/2006/main" prst="rect">
            <a:avLst/>
          </a:prstGeom>
        </p:spPr>
      </p:pic>
      <p:sp>
        <p:nvSpPr>
          <p:cNvPr id="8" name="Tool demand depends on funded programs, assay depth, net inputs and prices.">
            <a:extLst xmlns:a="http://schemas.openxmlformats.org/drawingml/2006/main">
              <a:ext uri="{FF2B5EF4-FFF2-40B4-BE49-F238E27FC236}">
                <a16:creationId xmlns:a16="http://schemas.microsoft.com/office/drawing/2014/main" id="{C44C236C-8C2C-4A90-B7C5-1B305C6722A8}"/>
              </a:ext>
            </a:extLst>
          </p:cNvPr>
          <p:cNvSpPr>
            <a:spLocks xmlns:a="http://schemas.openxmlformats.org/drawingml/2006/main" noGrp="1"/>
          </p:cNvSpPr>
          <p:nvPr/>
        </p:nvSpPr>
        <p:spPr>
          <a:xfrm xmlns:a="http://schemas.openxmlformats.org/drawingml/2006/main">
            <a:off x="1628775" y="8562975"/>
            <a:ext cx="1566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Tool demand depends on funded programs, assay depth, net inputs and prices.</a:t>
            </a:r>
          </a:p>
        </p:txBody>
      </p:sp>
      <p:sp>
        <p:nvSpPr>
          <p:cNvPr id="9" name="Sources: Lyu 2019; Sumitomo 2021; BIO 2011–2020; Wong 2000–2015. Workloads are analyst sensitivities, not empirical cohorts.">
            <a:extLst xmlns:a="http://schemas.openxmlformats.org/drawingml/2006/main">
              <a:ext uri="{FF2B5EF4-FFF2-40B4-BE49-F238E27FC236}">
                <a16:creationId xmlns:a16="http://schemas.microsoft.com/office/drawing/2014/main" id="{B2422390-4EC1-4833-BA98-90E0AC54BBAC}"/>
              </a:ext>
            </a:extLst>
          </p:cNvPr>
          <p:cNvSpPr>
            <a:spLocks xmlns:a="http://schemas.openxmlformats.org/drawingml/2006/main" noGrp="1"/>
          </p:cNvSpPr>
          <p:nvPr/>
        </p:nvSpPr>
        <p:spPr>
          <a:xfrm xmlns:a="http://schemas.openxmlformats.org/drawingml/2006/main">
            <a:off x="685800" y="9601200"/>
            <a:ext cx="16916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defRPr sz="1275" b="0">
                <a:solidFill>
                  <a:srgbClr val="00355F"/>
                </a:solidFill>
                <a:latin typeface="Arial"/>
                <a:ea typeface="Arial"/>
                <a:cs typeface="Arial"/>
              </a:defRPr>
            </a:pPr>
            <a:r>
              <a:rPr sz="1275" b="0">
                <a:solidFill>
                  <a:srgbClr val="00355F"/>
                </a:solidFill>
                <a:latin typeface="Arial"/>
                <a:ea typeface="Arial"/>
                <a:cs typeface="Arial"/>
              </a:rPr>
              <a:t>Sources: Lyu 2019; Sumitomo 2021; BIO 2011–2020; Wong 2000–2015. Workloads are analyst sensitivities, not empirical cohorts.</a:t>
            </a:r>
          </a:p>
        </p:txBody>
      </p:sp>
    </p:spTree>
    <p:extLst>
      <p:ext uri="{BB962C8B-B14F-4D97-AF65-F5344CB8AC3E}">
        <p14:creationId xmlns:p14="http://schemas.microsoft.com/office/powerpoint/2010/main" val="13923895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484809CE-2A0B-4720-A0D0-CF9F895A919E}"/>
              </a:ext>
            </a:extLst>
          </p:cNvPr>
          <p:cNvSpPr>
            <a:spLocks xmlns:a="http://schemas.openxmlformats.org/drawingml/2006/main" noGrp="1"/>
          </p:cNvSpPr>
          <p:nvPr/>
        </p:nvSpPr>
        <p:spPr>
          <a:xfrm xmlns:a="http://schemas.openxmlformats.org/drawingml/2006/main">
            <a:off x="762000" y="457200"/>
            <a:ext cx="76200" cy="800100"/>
          </a:xfrm>
          <a:prstGeom xmlns:a="http://schemas.openxmlformats.org/drawingml/2006/main" prst="rect">
            <a:avLst/>
          </a:prstGeom>
          <a:solidFill xmlns:a="http://schemas.openxmlformats.org/drawingml/2006/main">
            <a:srgbClr val="00355F"/>
          </a:solidFill>
          <a:ln xmlns:a="http://schemas.openxmlformats.org/drawingml/2006/main" w="7620">
            <a:noFill/>
          </a:ln>
        </p:spPr>
      </p:sp>
      <p:sp>
        <p:nvSpPr>
          <p:cNvPr id="2" name="AI selection and biological evidence shape tool demand">
            <a:extLst xmlns:a="http://schemas.openxmlformats.org/drawingml/2006/main">
              <a:ext uri="{FF2B5EF4-FFF2-40B4-BE49-F238E27FC236}">
                <a16:creationId xmlns:a16="http://schemas.microsoft.com/office/drawing/2014/main" id="{48E2506F-BB68-4800-9B7C-65331EFFCBFD}"/>
              </a:ext>
            </a:extLst>
          </p:cNvPr>
          <p:cNvSpPr>
            <a:spLocks xmlns:a="http://schemas.openxmlformats.org/drawingml/2006/main" noGrp="1"/>
          </p:cNvSpPr>
          <p:nvPr/>
        </p:nvSpPr>
        <p:spPr>
          <a:xfrm xmlns:a="http://schemas.openxmlformats.org/drawingml/2006/main">
            <a:off x="1074420" y="434340"/>
            <a:ext cx="1645158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defRPr sz="3360" b="1">
                <a:solidFill>
                  <a:srgbClr val="00355F"/>
                </a:solidFill>
                <a:latin typeface="Arial"/>
                <a:ea typeface="Arial"/>
                <a:cs typeface="Arial"/>
              </a:defRPr>
            </a:pPr>
            <a:r>
              <a:rPr sz="3360" b="1">
                <a:solidFill>
                  <a:srgbClr val="00355F"/>
                </a:solidFill>
                <a:latin typeface="Arial"/>
                <a:ea typeface="Arial"/>
                <a:cs typeface="Arial"/>
              </a:rPr>
              <a:t>AI selection and biological evidence shape tool demand</a:t>
            </a:r>
          </a:p>
        </p:txBody>
      </p:sp>
      <p:sp>
        <p:nvSpPr>
          <p:cNvPr id="3" name="Workflows vary by modality; paid demand depends on funded assays, depth, net inputs and prices.">
            <a:extLst xmlns:a="http://schemas.openxmlformats.org/drawingml/2006/main">
              <a:ext uri="{FF2B5EF4-FFF2-40B4-BE49-F238E27FC236}">
                <a16:creationId xmlns:a16="http://schemas.microsoft.com/office/drawing/2014/main" id="{D535589C-BE27-42A9-926C-1407893EA77D}"/>
              </a:ext>
            </a:extLst>
          </p:cNvPr>
          <p:cNvSpPr>
            <a:spLocks xmlns:a="http://schemas.openxmlformats.org/drawingml/2006/main" noGrp="1"/>
          </p:cNvSpPr>
          <p:nvPr/>
        </p:nvSpPr>
        <p:spPr>
          <a:xfrm xmlns:a="http://schemas.openxmlformats.org/drawingml/2006/main">
            <a:off x="1074420" y="1043940"/>
            <a:ext cx="164515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defRPr sz="1740" b="0">
                <a:solidFill>
                  <a:srgbClr val="00355F"/>
                </a:solidFill>
                <a:latin typeface="Arial"/>
                <a:ea typeface="Arial"/>
                <a:cs typeface="Arial"/>
              </a:defRPr>
            </a:pPr>
            <a:r>
              <a:rPr sz="1740" b="0">
                <a:solidFill>
                  <a:srgbClr val="00355F"/>
                </a:solidFill>
                <a:latin typeface="Arial"/>
                <a:ea typeface="Arial"/>
                <a:cs typeface="Arial"/>
              </a:rPr>
              <a:t>Workflows vary by modality; paid demand depends on funded assays, depth, net inputs and prices.</a:t>
            </a:r>
          </a:p>
        </p:txBody>
      </p:sp>
      <p:sp>
        <p:nvSpPr>
          <p:cNvPr id="4" name="">
            <a:extLst xmlns:a="http://schemas.openxmlformats.org/drawingml/2006/main">
              <a:ext uri="{FF2B5EF4-FFF2-40B4-BE49-F238E27FC236}">
                <a16:creationId xmlns:a16="http://schemas.microsoft.com/office/drawing/2014/main" id="{6447B9BE-D93F-4A7B-9303-E72C26FB7C03}"/>
              </a:ext>
            </a:extLst>
          </p:cNvPr>
          <p:cNvSpPr>
            <a:spLocks xmlns:a="http://schemas.openxmlformats.org/drawingml/2006/main" noGrp="1"/>
          </p:cNvSpPr>
          <p:nvPr/>
        </p:nvSpPr>
        <p:spPr>
          <a:xfrm xmlns:a="http://schemas.openxmlformats.org/drawingml/2006/main">
            <a:off x="762000" y="1744980"/>
            <a:ext cx="16764000" cy="76"/>
          </a:xfrm>
          <a:custGeom xmlns:a="http://schemas.openxmlformats.org/drawingml/2006/main">
            <a:pathLst>
              <a:path w="20955000" h="95">
                <a:moveTo>
                  <a:pt x="0" y="0"/>
                </a:moveTo>
                <a:lnTo>
                  <a:pt x="20955000" y="0"/>
                </a:lnTo>
              </a:path>
            </a:pathLst>
          </a:custGeom>
          <a:noFill xmlns:a="http://schemas.openxmlformats.org/drawingml/2006/main"/>
          <a:ln xmlns:a="http://schemas.openxmlformats.org/drawingml/2006/main" w="7620">
            <a:solidFill>
              <a:srgbClr val="A5A5A5"/>
            </a:solidFill>
            <a:prstDash val="solid"/>
          </a:ln>
        </p:spPr>
      </p:sp>
      <p:sp>
        <p:nvSpPr>
          <p:cNvPr id="5" name="MODALITY-AWARE DISCOVERY WORKFLOW">
            <a:extLst xmlns:a="http://schemas.openxmlformats.org/drawingml/2006/main">
              <a:ext uri="{FF2B5EF4-FFF2-40B4-BE49-F238E27FC236}">
                <a16:creationId xmlns:a16="http://schemas.microsoft.com/office/drawing/2014/main" id="{B5C59D16-D7CD-45BD-8311-7440FA223FF0}"/>
              </a:ext>
            </a:extLst>
          </p:cNvPr>
          <p:cNvSpPr>
            <a:spLocks xmlns:a="http://schemas.openxmlformats.org/drawingml/2006/main" noGrp="1"/>
          </p:cNvSpPr>
          <p:nvPr/>
        </p:nvSpPr>
        <p:spPr>
          <a:xfrm xmlns:a="http://schemas.openxmlformats.org/drawingml/2006/main">
            <a:off x="762000" y="2103120"/>
            <a:ext cx="51816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defRPr sz="1680" b="1">
                <a:solidFill>
                  <a:srgbClr val="00355F"/>
                </a:solidFill>
                <a:latin typeface="Arial"/>
                <a:ea typeface="Arial"/>
                <a:cs typeface="Arial"/>
              </a:defRPr>
            </a:pPr>
            <a:r>
              <a:rPr sz="1680" b="1">
                <a:solidFill>
                  <a:srgbClr val="00355F"/>
                </a:solidFill>
                <a:latin typeface="Arial"/>
                <a:ea typeface="Arial"/>
                <a:cs typeface="Arial"/>
              </a:rPr>
              <a:t>MODALITY-AWARE DISCOVERY WORKFLOW</a:t>
            </a:r>
          </a:p>
        </p:txBody>
      </p:sp>
      <p:sp>
        <p:nvSpPr>
          <p:cNvPr id="6" name="Schematic widths; workload multipliers are sensitivities">
            <a:extLst xmlns:a="http://schemas.openxmlformats.org/drawingml/2006/main">
              <a:ext uri="{FF2B5EF4-FFF2-40B4-BE49-F238E27FC236}">
                <a16:creationId xmlns:a16="http://schemas.microsoft.com/office/drawing/2014/main" id="{2251A0E4-361F-42C4-A0FD-CE0EF326D6F4}"/>
              </a:ext>
            </a:extLst>
          </p:cNvPr>
          <p:cNvSpPr>
            <a:spLocks xmlns:a="http://schemas.openxmlformats.org/drawingml/2006/main" noGrp="1"/>
          </p:cNvSpPr>
          <p:nvPr/>
        </p:nvSpPr>
        <p:spPr>
          <a:xfrm xmlns:a="http://schemas.openxmlformats.org/drawingml/2006/main">
            <a:off x="762000" y="246126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defRPr sz="1320" b="0">
                <a:solidFill>
                  <a:srgbClr val="00355F"/>
                </a:solidFill>
                <a:latin typeface="Arial"/>
                <a:ea typeface="Arial"/>
                <a:cs typeface="Arial"/>
              </a:defRPr>
            </a:pPr>
            <a:r>
              <a:rPr sz="1320" b="0">
                <a:solidFill>
                  <a:srgbClr val="00355F"/>
                </a:solidFill>
                <a:latin typeface="Arial"/>
                <a:ea typeface="Arial"/>
                <a:cs typeface="Arial"/>
              </a:rPr>
              <a:t>Schematic widths; workload multipliers are sensitivities</a:t>
            </a:r>
          </a:p>
        </p:txBody>
      </p:sp>
      <p:sp>
        <p:nvSpPr>
          <p:cNvPr id="7" name="">
            <a:extLst xmlns:a="http://schemas.openxmlformats.org/drawingml/2006/main">
              <a:ext uri="{FF2B5EF4-FFF2-40B4-BE49-F238E27FC236}">
                <a16:creationId xmlns:a16="http://schemas.microsoft.com/office/drawing/2014/main" id="{70AA29D5-E297-44F0-B733-62C6261ACAE3}"/>
              </a:ext>
            </a:extLst>
          </p:cNvPr>
          <p:cNvSpPr>
            <a:spLocks xmlns:a="http://schemas.openxmlformats.org/drawingml/2006/main" noGrp="1"/>
          </p:cNvSpPr>
          <p:nvPr/>
        </p:nvSpPr>
        <p:spPr>
          <a:xfrm xmlns:a="http://schemas.openxmlformats.org/drawingml/2006/main">
            <a:off x="762000" y="2971800"/>
            <a:ext cx="5181600" cy="1082040"/>
          </a:xfrm>
          <a:custGeom xmlns:a="http://schemas.openxmlformats.org/drawingml/2006/main">
            <a:pathLst>
              <a:path w="6477000" h="1352550">
                <a:moveTo>
                  <a:pt x="0" y="0"/>
                </a:moveTo>
                <a:lnTo>
                  <a:pt x="6477000" y="0"/>
                </a:lnTo>
                <a:lnTo>
                  <a:pt x="5667375" y="1352550"/>
                </a:lnTo>
                <a:lnTo>
                  <a:pt x="809625" y="1352550"/>
                </a:lnTo>
                <a:close/>
              </a:path>
            </a:pathLst>
          </a:custGeom>
          <a:solidFill xmlns:a="http://schemas.openxmlformats.org/drawingml/2006/main">
            <a:srgbClr val="ACD4F1"/>
          </a:solidFill>
          <a:ln xmlns:a="http://schemas.openxmlformats.org/drawingml/2006/main" w="16764">
            <a:solidFill>
              <a:srgbClr val="00355F"/>
            </a:solidFill>
          </a:ln>
        </p:spPr>
      </p:sp>
      <p:sp>
        <p:nvSpPr>
          <p:cNvPr id="8" name="Virtual search / design">
            <a:extLst xmlns:a="http://schemas.openxmlformats.org/drawingml/2006/main">
              <a:ext uri="{FF2B5EF4-FFF2-40B4-BE49-F238E27FC236}">
                <a16:creationId xmlns:a16="http://schemas.microsoft.com/office/drawing/2014/main" id="{99CFA72E-359D-4E1F-8543-D9B7586A76CF}"/>
              </a:ext>
            </a:extLst>
          </p:cNvPr>
          <p:cNvSpPr>
            <a:spLocks xmlns:a="http://schemas.openxmlformats.org/drawingml/2006/main" noGrp="1"/>
          </p:cNvSpPr>
          <p:nvPr/>
        </p:nvSpPr>
        <p:spPr>
          <a:xfrm xmlns:a="http://schemas.openxmlformats.org/drawingml/2006/main">
            <a:off x="762000" y="3131820"/>
            <a:ext cx="51816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defRPr sz="1740" b="1">
                <a:solidFill>
                  <a:srgbClr val="00355F"/>
                </a:solidFill>
                <a:latin typeface="Arial"/>
                <a:ea typeface="Arial"/>
                <a:cs typeface="Arial"/>
              </a:defRPr>
            </a:pPr>
            <a:r>
              <a:rPr sz="1740" b="1">
                <a:solidFill>
                  <a:srgbClr val="00355F"/>
                </a:solidFill>
                <a:latin typeface="Arial"/>
                <a:ea typeface="Arial"/>
                <a:cs typeface="Arial"/>
              </a:rPr>
              <a:t>Virtual search / design</a:t>
            </a:r>
          </a:p>
        </p:txBody>
      </p:sp>
      <p:sp>
        <p:nvSpPr>
          <p:cNvPr id="9" name="Quality + selection">
            <a:extLst xmlns:a="http://schemas.openxmlformats.org/drawingml/2006/main">
              <a:ext uri="{FF2B5EF4-FFF2-40B4-BE49-F238E27FC236}">
                <a16:creationId xmlns:a16="http://schemas.microsoft.com/office/drawing/2014/main" id="{55AB52E9-5B72-4D56-9A1D-A8AF29F454DA}"/>
              </a:ext>
            </a:extLst>
          </p:cNvPr>
          <p:cNvSpPr>
            <a:spLocks xmlns:a="http://schemas.openxmlformats.org/drawingml/2006/main" noGrp="1"/>
          </p:cNvSpPr>
          <p:nvPr/>
        </p:nvSpPr>
        <p:spPr>
          <a:xfrm xmlns:a="http://schemas.openxmlformats.org/drawingml/2006/main">
            <a:off x="762000" y="3489960"/>
            <a:ext cx="51816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defRPr sz="1680" b="1">
                <a:solidFill>
                  <a:srgbClr val="00355F"/>
                </a:solidFill>
                <a:latin typeface="Arial"/>
                <a:ea typeface="Arial"/>
                <a:cs typeface="Arial"/>
              </a:defRPr>
            </a:pPr>
            <a:r>
              <a:rPr sz="1680" b="1">
                <a:solidFill>
                  <a:srgbClr val="00355F"/>
                </a:solidFill>
                <a:latin typeface="Arial"/>
                <a:ea typeface="Arial"/>
                <a:cs typeface="Arial"/>
              </a:rPr>
              <a:t>Quality + selection</a:t>
            </a:r>
          </a:p>
        </p:txBody>
      </p:sp>
      <p:sp>
        <p:nvSpPr>
          <p:cNvPr id="10" name="">
            <a:extLst xmlns:a="http://schemas.openxmlformats.org/drawingml/2006/main">
              <a:ext uri="{FF2B5EF4-FFF2-40B4-BE49-F238E27FC236}">
                <a16:creationId xmlns:a16="http://schemas.microsoft.com/office/drawing/2014/main" id="{D8FA915D-3765-49B3-BEC2-27EEF19E2143}"/>
              </a:ext>
            </a:extLst>
          </p:cNvPr>
          <p:cNvSpPr>
            <a:spLocks xmlns:a="http://schemas.openxmlformats.org/drawingml/2006/main" noGrp="1"/>
          </p:cNvSpPr>
          <p:nvPr/>
        </p:nvSpPr>
        <p:spPr>
          <a:xfrm xmlns:a="http://schemas.openxmlformats.org/drawingml/2006/main">
            <a:off x="1409700" y="4175760"/>
            <a:ext cx="3886200" cy="975360"/>
          </a:xfrm>
          <a:custGeom xmlns:a="http://schemas.openxmlformats.org/drawingml/2006/main">
            <a:pathLst>
              <a:path w="4857750" h="1219200">
                <a:moveTo>
                  <a:pt x="0" y="0"/>
                </a:moveTo>
                <a:lnTo>
                  <a:pt x="4857750" y="0"/>
                </a:lnTo>
                <a:lnTo>
                  <a:pt x="4262438" y="1219200"/>
                </a:lnTo>
                <a:lnTo>
                  <a:pt x="595313" y="1219200"/>
                </a:lnTo>
                <a:close/>
              </a:path>
            </a:pathLst>
          </a:custGeom>
          <a:solidFill xmlns:a="http://schemas.openxmlformats.org/drawingml/2006/main">
            <a:srgbClr val="7399C6"/>
          </a:solidFill>
          <a:ln xmlns:a="http://schemas.openxmlformats.org/drawingml/2006/main" w="16764">
            <a:solidFill>
              <a:srgbClr val="00355F"/>
            </a:solidFill>
          </a:ln>
        </p:spPr>
      </p:sp>
      <p:sp>
        <p:nvSpPr>
          <p:cNvPr id="11" name="Physical samples">
            <a:extLst xmlns:a="http://schemas.openxmlformats.org/drawingml/2006/main">
              <a:ext uri="{FF2B5EF4-FFF2-40B4-BE49-F238E27FC236}">
                <a16:creationId xmlns:a16="http://schemas.microsoft.com/office/drawing/2014/main" id="{C9AE928B-7978-4413-A61F-289B7D7326A6}"/>
              </a:ext>
            </a:extLst>
          </p:cNvPr>
          <p:cNvSpPr>
            <a:spLocks xmlns:a="http://schemas.openxmlformats.org/drawingml/2006/main" noGrp="1"/>
          </p:cNvSpPr>
          <p:nvPr/>
        </p:nvSpPr>
        <p:spPr>
          <a:xfrm xmlns:a="http://schemas.openxmlformats.org/drawingml/2006/main">
            <a:off x="1409700" y="4335780"/>
            <a:ext cx="38862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defRPr sz="1740" b="1">
                <a:solidFill>
                  <a:srgbClr val="00355F"/>
                </a:solidFill>
                <a:latin typeface="Arial"/>
                <a:ea typeface="Arial"/>
                <a:cs typeface="Arial"/>
              </a:defRPr>
            </a:pPr>
            <a:r>
              <a:rPr sz="1740" b="1">
                <a:solidFill>
                  <a:srgbClr val="00355F"/>
                </a:solidFill>
                <a:latin typeface="Arial"/>
                <a:ea typeface="Arial"/>
                <a:cs typeface="Arial"/>
              </a:rPr>
              <a:t>Physical samples</a:t>
            </a:r>
          </a:p>
        </p:txBody>
      </p:sp>
      <p:sp>
        <p:nvSpPr>
          <p:cNvPr id="12" name="Modality-dependent">
            <a:extLst xmlns:a="http://schemas.openxmlformats.org/drawingml/2006/main">
              <a:ext uri="{FF2B5EF4-FFF2-40B4-BE49-F238E27FC236}">
                <a16:creationId xmlns:a16="http://schemas.microsoft.com/office/drawing/2014/main" id="{B1F1FA0C-5044-4848-8C61-618E094CED8B}"/>
              </a:ext>
            </a:extLst>
          </p:cNvPr>
          <p:cNvSpPr>
            <a:spLocks xmlns:a="http://schemas.openxmlformats.org/drawingml/2006/main" noGrp="1"/>
          </p:cNvSpPr>
          <p:nvPr/>
        </p:nvSpPr>
        <p:spPr>
          <a:xfrm xmlns:a="http://schemas.openxmlformats.org/drawingml/2006/main">
            <a:off x="1409700" y="4693920"/>
            <a:ext cx="38862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60" b="1">
                <a:solidFill>
                  <a:srgbClr val="00355F"/>
                </a:solidFill>
                <a:latin typeface="Arial"/>
                <a:ea typeface="Arial"/>
                <a:cs typeface="Arial"/>
              </a:defRPr>
            </a:defPPr>
          </a:lstStyle>
          <a:p xmlns:a="http://schemas.openxmlformats.org/drawingml/2006/main">
            <a:pPr algn="ctr">
              <a:defRPr sz="1560" b="1">
                <a:solidFill>
                  <a:srgbClr val="00355F"/>
                </a:solidFill>
                <a:latin typeface="Arial"/>
                <a:ea typeface="Arial"/>
                <a:cs typeface="Arial"/>
              </a:defRPr>
            </a:pPr>
            <a:r>
              <a:rPr sz="1560" b="1">
                <a:solidFill>
                  <a:srgbClr val="00355F"/>
                </a:solidFill>
                <a:latin typeface="Arial"/>
                <a:ea typeface="Arial"/>
                <a:cs typeface="Arial"/>
              </a:rPr>
              <a:t>Modality-dependent</a:t>
            </a:r>
          </a:p>
        </p:txBody>
      </p:sp>
      <p:sp>
        <p:nvSpPr>
          <p:cNvPr id="13" name="">
            <a:extLst xmlns:a="http://schemas.openxmlformats.org/drawingml/2006/main">
              <a:ext uri="{FF2B5EF4-FFF2-40B4-BE49-F238E27FC236}">
                <a16:creationId xmlns:a16="http://schemas.microsoft.com/office/drawing/2014/main" id="{4731F397-6FB6-4F45-A7E7-A5059594CC58}"/>
              </a:ext>
            </a:extLst>
          </p:cNvPr>
          <p:cNvSpPr>
            <a:spLocks xmlns:a="http://schemas.openxmlformats.org/drawingml/2006/main" noGrp="1"/>
          </p:cNvSpPr>
          <p:nvPr/>
        </p:nvSpPr>
        <p:spPr>
          <a:xfrm xmlns:a="http://schemas.openxmlformats.org/drawingml/2006/main">
            <a:off x="1885950" y="5273040"/>
            <a:ext cx="2933700" cy="1005840"/>
          </a:xfrm>
          <a:custGeom xmlns:a="http://schemas.openxmlformats.org/drawingml/2006/main">
            <a:pathLst>
              <a:path w="3667125" h="1257300">
                <a:moveTo>
                  <a:pt x="0" y="0"/>
                </a:moveTo>
                <a:lnTo>
                  <a:pt x="3667125" y="0"/>
                </a:lnTo>
                <a:lnTo>
                  <a:pt x="3119438" y="1257300"/>
                </a:lnTo>
                <a:lnTo>
                  <a:pt x="547688" y="1257300"/>
                </a:lnTo>
                <a:close/>
              </a:path>
            </a:pathLst>
          </a:custGeom>
          <a:solidFill xmlns:a="http://schemas.openxmlformats.org/drawingml/2006/main">
            <a:srgbClr val="00355F"/>
          </a:solidFill>
          <a:ln xmlns:a="http://schemas.openxmlformats.org/drawingml/2006/main" w="16764">
            <a:solidFill>
              <a:srgbClr val="00355F"/>
            </a:solidFill>
          </a:ln>
        </p:spPr>
      </p:sp>
      <p:sp>
        <p:nvSpPr>
          <p:cNvPr id="14" name="Assay workload">
            <a:extLst xmlns:a="http://schemas.openxmlformats.org/drawingml/2006/main">
              <a:ext uri="{FF2B5EF4-FFF2-40B4-BE49-F238E27FC236}">
                <a16:creationId xmlns:a16="http://schemas.microsoft.com/office/drawing/2014/main" id="{D90912C3-5A31-4C01-853C-C83786367DCC}"/>
              </a:ext>
            </a:extLst>
          </p:cNvPr>
          <p:cNvSpPr>
            <a:spLocks xmlns:a="http://schemas.openxmlformats.org/drawingml/2006/main" noGrp="1"/>
          </p:cNvSpPr>
          <p:nvPr/>
        </p:nvSpPr>
        <p:spPr>
          <a:xfrm xmlns:a="http://schemas.openxmlformats.org/drawingml/2006/main">
            <a:off x="1885950" y="5433060"/>
            <a:ext cx="29337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defRPr sz="1740" b="1">
                <a:solidFill>
                  <a:srgbClr val="FFFFFF"/>
                </a:solidFill>
                <a:latin typeface="Arial"/>
                <a:ea typeface="Arial"/>
                <a:cs typeface="Arial"/>
              </a:defRPr>
            </a:pPr>
            <a:r>
              <a:rPr sz="1740" b="1">
                <a:solidFill>
                  <a:srgbClr val="FFFFFF"/>
                </a:solidFill>
                <a:latin typeface="Arial"/>
                <a:ea typeface="Arial"/>
                <a:cs typeface="Arial"/>
              </a:rPr>
              <a:t>Assay workload</a:t>
            </a:r>
          </a:p>
        </p:txBody>
      </p:sp>
      <p:sp>
        <p:nvSpPr>
          <p:cNvPr id="15" name="1× / 2× / 5× / 10×">
            <a:extLst xmlns:a="http://schemas.openxmlformats.org/drawingml/2006/main">
              <a:ext uri="{FF2B5EF4-FFF2-40B4-BE49-F238E27FC236}">
                <a16:creationId xmlns:a16="http://schemas.microsoft.com/office/drawing/2014/main" id="{FE77CE63-E0B6-4E21-B2F1-A4D80D791C57}"/>
              </a:ext>
            </a:extLst>
          </p:cNvPr>
          <p:cNvSpPr>
            <a:spLocks xmlns:a="http://schemas.openxmlformats.org/drawingml/2006/main" noGrp="1"/>
          </p:cNvSpPr>
          <p:nvPr/>
        </p:nvSpPr>
        <p:spPr>
          <a:xfrm xmlns:a="http://schemas.openxmlformats.org/drawingml/2006/main">
            <a:off x="1885950" y="5791200"/>
            <a:ext cx="29337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40" b="1">
                <a:solidFill>
                  <a:srgbClr val="FFFFFF"/>
                </a:solidFill>
                <a:latin typeface="Arial"/>
                <a:ea typeface="Arial"/>
                <a:cs typeface="Arial"/>
              </a:defRPr>
            </a:defPPr>
          </a:lstStyle>
          <a:p xmlns:a="http://schemas.openxmlformats.org/drawingml/2006/main">
            <a:pPr algn="ctr">
              <a:defRPr sz="1440" b="1">
                <a:solidFill>
                  <a:srgbClr val="FFFFFF"/>
                </a:solidFill>
                <a:latin typeface="Arial"/>
                <a:ea typeface="Arial"/>
                <a:cs typeface="Arial"/>
              </a:defRPr>
            </a:pPr>
            <a:r>
              <a:rPr sz="1440" b="1">
                <a:solidFill>
                  <a:srgbClr val="FFFFFF"/>
                </a:solidFill>
                <a:latin typeface="Arial"/>
                <a:ea typeface="Arial"/>
                <a:cs typeface="Arial"/>
              </a:rPr>
              <a:t>1× / 2× / 5× / 10×</a:t>
            </a:r>
          </a:p>
        </p:txBody>
      </p:sp>
      <p:sp>
        <p:nvSpPr>
          <p:cNvPr id="16" name="">
            <a:extLst xmlns:a="http://schemas.openxmlformats.org/drawingml/2006/main">
              <a:ext uri="{FF2B5EF4-FFF2-40B4-BE49-F238E27FC236}">
                <a16:creationId xmlns:a16="http://schemas.microsoft.com/office/drawing/2014/main" id="{08BECAC5-0C74-441D-A00F-B3DAF243BE1D}"/>
              </a:ext>
            </a:extLst>
          </p:cNvPr>
          <p:cNvSpPr>
            <a:spLocks xmlns:a="http://schemas.openxmlformats.org/drawingml/2006/main" noGrp="1"/>
          </p:cNvSpPr>
          <p:nvPr/>
        </p:nvSpPr>
        <p:spPr>
          <a:xfrm xmlns:a="http://schemas.openxmlformats.org/drawingml/2006/main">
            <a:off x="2324100" y="6400800"/>
            <a:ext cx="2057400" cy="815340"/>
          </a:xfrm>
          <a:custGeom xmlns:a="http://schemas.openxmlformats.org/drawingml/2006/main">
            <a:pathLst>
              <a:path w="2571750" h="1019175">
                <a:moveTo>
                  <a:pt x="0" y="0"/>
                </a:moveTo>
                <a:lnTo>
                  <a:pt x="2571750" y="0"/>
                </a:lnTo>
                <a:lnTo>
                  <a:pt x="2238375" y="1019175"/>
                </a:lnTo>
                <a:lnTo>
                  <a:pt x="333375" y="1019175"/>
                </a:lnTo>
                <a:close/>
              </a:path>
            </a:pathLst>
          </a:custGeom>
          <a:solidFill xmlns:a="http://schemas.openxmlformats.org/drawingml/2006/main">
            <a:srgbClr val="FFFFFF"/>
          </a:solidFill>
          <a:ln xmlns:a="http://schemas.openxmlformats.org/drawingml/2006/main" w="16764">
            <a:solidFill>
              <a:srgbClr val="F67F26"/>
            </a:solidFill>
          </a:ln>
        </p:spPr>
      </p:sp>
      <p:sp>
        <p:nvSpPr>
          <p:cNvPr id="17" name="Clinical entry">
            <a:extLst xmlns:a="http://schemas.openxmlformats.org/drawingml/2006/main">
              <a:ext uri="{FF2B5EF4-FFF2-40B4-BE49-F238E27FC236}">
                <a16:creationId xmlns:a16="http://schemas.microsoft.com/office/drawing/2014/main" id="{B4A8E6DC-1767-4B09-A2BD-234165D57CC7}"/>
              </a:ext>
            </a:extLst>
          </p:cNvPr>
          <p:cNvSpPr>
            <a:spLocks xmlns:a="http://schemas.openxmlformats.org/drawingml/2006/main" noGrp="1"/>
          </p:cNvSpPr>
          <p:nvPr/>
        </p:nvSpPr>
        <p:spPr>
          <a:xfrm xmlns:a="http://schemas.openxmlformats.org/drawingml/2006/main">
            <a:off x="2324100" y="6560820"/>
            <a:ext cx="20574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8" name="Funded programs">
            <a:extLst xmlns:a="http://schemas.openxmlformats.org/drawingml/2006/main">
              <a:ext uri="{FF2B5EF4-FFF2-40B4-BE49-F238E27FC236}">
                <a16:creationId xmlns:a16="http://schemas.microsoft.com/office/drawing/2014/main" id="{B9D8EACD-48A2-40B8-A6ED-1CFE36C23FBB}"/>
              </a:ext>
            </a:extLst>
          </p:cNvPr>
          <p:cNvSpPr>
            <a:spLocks xmlns:a="http://schemas.openxmlformats.org/drawingml/2006/main" noGrp="1"/>
          </p:cNvSpPr>
          <p:nvPr/>
        </p:nvSpPr>
        <p:spPr>
          <a:xfrm xmlns:a="http://schemas.openxmlformats.org/drawingml/2006/main">
            <a:off x="2324100" y="6918960"/>
            <a:ext cx="20574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1">
                <a:solidFill>
                  <a:srgbClr val="00355F"/>
                </a:solidFill>
                <a:latin typeface="Arial"/>
                <a:ea typeface="Arial"/>
                <a:cs typeface="Arial"/>
              </a:defRPr>
            </a:defPPr>
          </a:lstStyle>
          <a:p xmlns:a="http://schemas.openxmlformats.org/drawingml/2006/main">
            <a:pPr algn="ctr">
              <a:defRPr sz="1200" b="1">
                <a:solidFill>
                  <a:srgbClr val="00355F"/>
                </a:solidFill>
                <a:latin typeface="Arial"/>
                <a:ea typeface="Arial"/>
                <a:cs typeface="Arial"/>
              </a:defRPr>
            </a:pPr>
            <a:r>
              <a:rPr sz="1200" b="1">
                <a:solidFill>
                  <a:srgbClr val="00355F"/>
                </a:solidFill>
                <a:latin typeface="Arial"/>
                <a:ea typeface="Arial"/>
                <a:cs typeface="Arial"/>
              </a:rPr>
              <a:t>Funded programs</a:t>
            </a:r>
          </a:p>
        </p:txBody>
      </p:sp>
      <p:sp>
        <p:nvSpPr>
          <p:cNvPr id="19" name="">
            <a:extLst xmlns:a="http://schemas.openxmlformats.org/drawingml/2006/main">
              <a:ext uri="{FF2B5EF4-FFF2-40B4-BE49-F238E27FC236}">
                <a16:creationId xmlns:a16="http://schemas.microsoft.com/office/drawing/2014/main" id="{DBCE1E9F-3A57-486B-AB14-A6DCBA3BCB52}"/>
              </a:ext>
            </a:extLst>
          </p:cNvPr>
          <p:cNvSpPr>
            <a:spLocks xmlns:a="http://schemas.openxmlformats.org/drawingml/2006/main" noGrp="1"/>
          </p:cNvSpPr>
          <p:nvPr/>
        </p:nvSpPr>
        <p:spPr>
          <a:xfrm xmlns:a="http://schemas.openxmlformats.org/drawingml/2006/main">
            <a:off x="2590800" y="7338060"/>
            <a:ext cx="1524000" cy="815340"/>
          </a:xfrm>
          <a:custGeom xmlns:a="http://schemas.openxmlformats.org/drawingml/2006/main">
            <a:pathLst>
              <a:path w="1905000" h="1019175">
                <a:moveTo>
                  <a:pt x="0" y="0"/>
                </a:moveTo>
                <a:lnTo>
                  <a:pt x="1905000" y="0"/>
                </a:lnTo>
                <a:lnTo>
                  <a:pt x="1700213" y="1019175"/>
                </a:lnTo>
                <a:lnTo>
                  <a:pt x="204788" y="1019175"/>
                </a:lnTo>
                <a:close/>
              </a:path>
            </a:pathLst>
          </a:custGeom>
          <a:solidFill xmlns:a="http://schemas.openxmlformats.org/drawingml/2006/main">
            <a:srgbClr val="FFFFFF"/>
          </a:solidFill>
          <a:ln xmlns:a="http://schemas.openxmlformats.org/drawingml/2006/main" w="16764">
            <a:solidFill>
              <a:srgbClr val="BE3232"/>
            </a:solidFill>
          </a:ln>
        </p:spPr>
      </p:sp>
      <p:sp>
        <p:nvSpPr>
          <p:cNvPr id="20" name="Approval gains">
            <a:extLst xmlns:a="http://schemas.openxmlformats.org/drawingml/2006/main">
              <a:ext uri="{FF2B5EF4-FFF2-40B4-BE49-F238E27FC236}">
                <a16:creationId xmlns:a16="http://schemas.microsoft.com/office/drawing/2014/main" id="{C0975C86-92A4-4A93-BECC-B245F5C68D10}"/>
              </a:ext>
            </a:extLst>
          </p:cNvPr>
          <p:cNvSpPr>
            <a:spLocks xmlns:a="http://schemas.openxmlformats.org/drawingml/2006/main" noGrp="1"/>
          </p:cNvSpPr>
          <p:nvPr/>
        </p:nvSpPr>
        <p:spPr>
          <a:xfrm xmlns:a="http://schemas.openxmlformats.org/drawingml/2006/main">
            <a:off x="2590800" y="7498080"/>
            <a:ext cx="1524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defRPr sz="1380" b="1">
                <a:solidFill>
                  <a:srgbClr val="00355F"/>
                </a:solidFill>
                <a:latin typeface="Arial"/>
                <a:ea typeface="Arial"/>
                <a:cs typeface="Arial"/>
              </a:defRPr>
            </a:pPr>
            <a:r>
              <a:rPr sz="1380" b="1">
                <a:solidFill>
                  <a:srgbClr val="00355F"/>
                </a:solidFill>
                <a:latin typeface="Arial"/>
                <a:ea typeface="Arial"/>
                <a:cs typeface="Arial"/>
              </a:rPr>
              <a:t>Approval gains</a:t>
            </a:r>
          </a:p>
        </p:txBody>
      </p:sp>
      <p:sp>
        <p:nvSpPr>
          <p:cNvPr id="21" name="Unproven">
            <a:extLst xmlns:a="http://schemas.openxmlformats.org/drawingml/2006/main">
              <a:ext uri="{FF2B5EF4-FFF2-40B4-BE49-F238E27FC236}">
                <a16:creationId xmlns:a16="http://schemas.microsoft.com/office/drawing/2014/main" id="{3B63E9A1-2F6D-4CF8-BC91-2C0CD4C89CD1}"/>
              </a:ext>
            </a:extLst>
          </p:cNvPr>
          <p:cNvSpPr>
            <a:spLocks xmlns:a="http://schemas.openxmlformats.org/drawingml/2006/main" noGrp="1"/>
          </p:cNvSpPr>
          <p:nvPr/>
        </p:nvSpPr>
        <p:spPr>
          <a:xfrm xmlns:a="http://schemas.openxmlformats.org/drawingml/2006/main">
            <a:off x="2590800" y="7856220"/>
            <a:ext cx="15240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00355F"/>
                </a:solidFill>
                <a:latin typeface="Arial"/>
                <a:ea typeface="Arial"/>
                <a:cs typeface="Arial"/>
              </a:defRPr>
            </a:defPPr>
          </a:lstStyle>
          <a:p xmlns:a="http://schemas.openxmlformats.org/drawingml/2006/main">
            <a:pPr algn="ctr">
              <a:defRPr sz="1500" b="1">
                <a:solidFill>
                  <a:srgbClr val="00355F"/>
                </a:solidFill>
                <a:latin typeface="Arial"/>
                <a:ea typeface="Arial"/>
                <a:cs typeface="Arial"/>
              </a:defRPr>
            </a:pPr>
            <a:r>
              <a:rPr sz="1500" b="1">
                <a:solidFill>
                  <a:srgbClr val="00355F"/>
                </a:solidFill>
                <a:latin typeface="Arial"/>
                <a:ea typeface="Arial"/>
                <a:cs typeface="Arial"/>
              </a:rPr>
              <a:t>Unproven</a:t>
            </a:r>
          </a:p>
        </p:txBody>
      </p:sp>
      <p:sp>
        <p:nvSpPr>
          <p:cNvPr id="22" name="">
            <a:extLst xmlns:a="http://schemas.openxmlformats.org/drawingml/2006/main">
              <a:ext uri="{FF2B5EF4-FFF2-40B4-BE49-F238E27FC236}">
                <a16:creationId xmlns:a16="http://schemas.microsoft.com/office/drawing/2014/main" id="{E9BDC061-2286-4F81-A8C1-EAC3366EA5FD}"/>
              </a:ext>
            </a:extLst>
          </p:cNvPr>
          <p:cNvSpPr>
            <a:spLocks xmlns:a="http://schemas.openxmlformats.org/drawingml/2006/main" noGrp="1"/>
          </p:cNvSpPr>
          <p:nvPr/>
        </p:nvSpPr>
        <p:spPr>
          <a:xfrm xmlns:a="http://schemas.openxmlformats.org/drawingml/2006/main">
            <a:off x="5539740" y="4175760"/>
            <a:ext cx="342900" cy="76"/>
          </a:xfrm>
          <a:custGeom xmlns:a="http://schemas.openxmlformats.org/drawingml/2006/main">
            <a:pathLst>
              <a:path w="428625" h="95">
                <a:moveTo>
                  <a:pt x="0" y="0"/>
                </a:moveTo>
                <a:lnTo>
                  <a:pt x="428625" y="0"/>
                </a:lnTo>
              </a:path>
            </a:pathLst>
          </a:custGeom>
          <a:noFill xmlns:a="http://schemas.openxmlformats.org/drawingml/2006/main"/>
          <a:ln xmlns:a="http://schemas.openxmlformats.org/drawingml/2006/main" w="22860">
            <a:solidFill>
              <a:srgbClr val="00355F"/>
            </a:solidFill>
            <a:prstDash val="solid"/>
          </a:ln>
        </p:spPr>
      </p:sp>
      <p:sp>
        <p:nvSpPr>
          <p:cNvPr id="23" name="">
            <a:extLst xmlns:a="http://schemas.openxmlformats.org/drawingml/2006/main">
              <a:ext uri="{FF2B5EF4-FFF2-40B4-BE49-F238E27FC236}">
                <a16:creationId xmlns:a16="http://schemas.microsoft.com/office/drawing/2014/main" id="{FC160DFE-68BD-4DA5-965A-D0F139362819}"/>
              </a:ext>
            </a:extLst>
          </p:cNvPr>
          <p:cNvSpPr>
            <a:spLocks xmlns:a="http://schemas.openxmlformats.org/drawingml/2006/main" noGrp="1"/>
          </p:cNvSpPr>
          <p:nvPr/>
        </p:nvSpPr>
        <p:spPr>
          <a:xfrm xmlns:a="http://schemas.openxmlformats.org/drawingml/2006/main">
            <a:off x="5882640" y="4175760"/>
            <a:ext cx="76" cy="2103120"/>
          </a:xfrm>
          <a:custGeom xmlns:a="http://schemas.openxmlformats.org/drawingml/2006/main">
            <a:pathLst>
              <a:path w="95" h="2628900">
                <a:moveTo>
                  <a:pt x="0" y="0"/>
                </a:moveTo>
                <a:lnTo>
                  <a:pt x="0" y="2628900"/>
                </a:lnTo>
              </a:path>
            </a:pathLst>
          </a:custGeom>
          <a:noFill xmlns:a="http://schemas.openxmlformats.org/drawingml/2006/main"/>
          <a:ln xmlns:a="http://schemas.openxmlformats.org/drawingml/2006/main" w="22860">
            <a:solidFill>
              <a:srgbClr val="00355F"/>
            </a:solidFill>
            <a:prstDash val="solid"/>
          </a:ln>
        </p:spPr>
      </p:sp>
      <p:sp>
        <p:nvSpPr>
          <p:cNvPr id="24" name="">
            <a:extLst xmlns:a="http://schemas.openxmlformats.org/drawingml/2006/main">
              <a:ext uri="{FF2B5EF4-FFF2-40B4-BE49-F238E27FC236}">
                <a16:creationId xmlns:a16="http://schemas.microsoft.com/office/drawing/2014/main" id="{C13BA184-B5D9-4152-9D8F-8E936D8D5028}"/>
              </a:ext>
            </a:extLst>
          </p:cNvPr>
          <p:cNvSpPr>
            <a:spLocks xmlns:a="http://schemas.openxmlformats.org/drawingml/2006/main" noGrp="1"/>
          </p:cNvSpPr>
          <p:nvPr/>
        </p:nvSpPr>
        <p:spPr>
          <a:xfrm xmlns:a="http://schemas.openxmlformats.org/drawingml/2006/main">
            <a:off x="5539740" y="6278880"/>
            <a:ext cx="342900" cy="76"/>
          </a:xfrm>
          <a:custGeom xmlns:a="http://schemas.openxmlformats.org/drawingml/2006/main">
            <a:pathLst>
              <a:path w="428625" h="95">
                <a:moveTo>
                  <a:pt x="428625" y="0"/>
                </a:moveTo>
                <a:lnTo>
                  <a:pt x="0" y="0"/>
                </a:lnTo>
              </a:path>
            </a:pathLst>
          </a:custGeom>
          <a:noFill xmlns:a="http://schemas.openxmlformats.org/drawingml/2006/main"/>
          <a:ln xmlns:a="http://schemas.openxmlformats.org/drawingml/2006/main" w="22860">
            <a:solidFill>
              <a:srgbClr val="00355F"/>
            </a:solidFill>
            <a:prstDash val="solid"/>
          </a:ln>
        </p:spPr>
      </p:sp>
      <p:sp>
        <p:nvSpPr>
          <p:cNvPr id="25" name="">
            <a:extLst xmlns:a="http://schemas.openxmlformats.org/drawingml/2006/main">
              <a:ext uri="{FF2B5EF4-FFF2-40B4-BE49-F238E27FC236}">
                <a16:creationId xmlns:a16="http://schemas.microsoft.com/office/drawing/2014/main" id="{CD4D1B31-A97E-4D46-9EDA-DAC4129D95CF}"/>
              </a:ext>
            </a:extLst>
          </p:cNvPr>
          <p:cNvSpPr>
            <a:spLocks xmlns:a="http://schemas.openxmlformats.org/drawingml/2006/main" noGrp="1"/>
          </p:cNvSpPr>
          <p:nvPr/>
        </p:nvSpPr>
        <p:spPr>
          <a:xfrm xmlns:a="http://schemas.openxmlformats.org/drawingml/2006/main">
            <a:off x="5958840" y="2552700"/>
            <a:ext cx="762000" cy="6446520"/>
          </a:xfrm>
          <a:custGeom xmlns:a="http://schemas.openxmlformats.org/drawingml/2006/main">
            <a:pathLst>
              <a:path w="952500" h="8058150">
                <a:moveTo>
                  <a:pt x="0" y="2133600"/>
                </a:moveTo>
                <a:lnTo>
                  <a:pt x="952500" y="0"/>
                </a:lnTo>
                <a:lnTo>
                  <a:pt x="952500" y="8058150"/>
                </a:lnTo>
                <a:lnTo>
                  <a:pt x="0" y="4552950"/>
                </a:lnTo>
                <a:close/>
              </a:path>
            </a:pathLst>
          </a:custGeom>
          <a:solidFill xmlns:a="http://schemas.openxmlformats.org/drawingml/2006/main">
            <a:srgbClr val="EEF6FC"/>
          </a:solidFill>
          <a:ln xmlns:a="http://schemas.openxmlformats.org/drawingml/2006/main" w="7620">
            <a:noFill/>
          </a:ln>
        </p:spPr>
      </p:sp>
      <p:sp>
        <p:nvSpPr>
          <p:cNvPr id="26" name="">
            <a:extLst xmlns:a="http://schemas.openxmlformats.org/drawingml/2006/main">
              <a:ext uri="{FF2B5EF4-FFF2-40B4-BE49-F238E27FC236}">
                <a16:creationId xmlns:a16="http://schemas.microsoft.com/office/drawing/2014/main" id="{2C77E3A7-B54C-4B88-BACB-25047FB95B57}"/>
              </a:ext>
            </a:extLst>
          </p:cNvPr>
          <p:cNvSpPr>
            <a:spLocks xmlns:a="http://schemas.openxmlformats.org/drawingml/2006/main" noGrp="1"/>
          </p:cNvSpPr>
          <p:nvPr/>
        </p:nvSpPr>
        <p:spPr>
          <a:xfrm xmlns:a="http://schemas.openxmlformats.org/drawingml/2006/main">
            <a:off x="5882640" y="2552700"/>
            <a:ext cx="838200" cy="1706880"/>
          </a:xfrm>
          <a:custGeom xmlns:a="http://schemas.openxmlformats.org/drawingml/2006/main">
            <a:pathLst>
              <a:path w="1047750" h="2133600">
                <a:moveTo>
                  <a:pt x="0" y="2133600"/>
                </a:moveTo>
                <a:lnTo>
                  <a:pt x="1047750" y="0"/>
                </a:lnTo>
              </a:path>
            </a:pathLst>
          </a:custGeom>
          <a:noFill xmlns:a="http://schemas.openxmlformats.org/drawingml/2006/main"/>
          <a:ln xmlns:a="http://schemas.openxmlformats.org/drawingml/2006/main" w="11430">
            <a:solidFill>
              <a:srgbClr val="7399C6"/>
            </a:solidFill>
            <a:prstDash val="solid"/>
          </a:ln>
        </p:spPr>
      </p:sp>
      <p:sp>
        <p:nvSpPr>
          <p:cNvPr id="27" name="">
            <a:extLst xmlns:a="http://schemas.openxmlformats.org/drawingml/2006/main">
              <a:ext uri="{FF2B5EF4-FFF2-40B4-BE49-F238E27FC236}">
                <a16:creationId xmlns:a16="http://schemas.microsoft.com/office/drawing/2014/main" id="{7D607DA8-5649-415C-AD87-25A971FE3F06}"/>
              </a:ext>
            </a:extLst>
          </p:cNvPr>
          <p:cNvSpPr>
            <a:spLocks xmlns:a="http://schemas.openxmlformats.org/drawingml/2006/main" noGrp="1"/>
          </p:cNvSpPr>
          <p:nvPr/>
        </p:nvSpPr>
        <p:spPr>
          <a:xfrm xmlns:a="http://schemas.openxmlformats.org/drawingml/2006/main">
            <a:off x="5882640" y="6195060"/>
            <a:ext cx="838200" cy="2804160"/>
          </a:xfrm>
          <a:custGeom xmlns:a="http://schemas.openxmlformats.org/drawingml/2006/main">
            <a:pathLst>
              <a:path w="1047750" h="3505200">
                <a:moveTo>
                  <a:pt x="0" y="0"/>
                </a:moveTo>
                <a:lnTo>
                  <a:pt x="1047750" y="3505200"/>
                </a:lnTo>
              </a:path>
            </a:pathLst>
          </a:custGeom>
          <a:noFill xmlns:a="http://schemas.openxmlformats.org/drawingml/2006/main"/>
          <a:ln xmlns:a="http://schemas.openxmlformats.org/drawingml/2006/main" w="11430">
            <a:solidFill>
              <a:srgbClr val="7399C6"/>
            </a:solidFill>
            <a:prstDash val="solid"/>
          </a:ln>
        </p:spPr>
      </p:sp>
      <p:sp>
        <p:nvSpPr>
          <p:cNvPr id="28" name="">
            <a:extLst xmlns:a="http://schemas.openxmlformats.org/drawingml/2006/main">
              <a:ext uri="{FF2B5EF4-FFF2-40B4-BE49-F238E27FC236}">
                <a16:creationId xmlns:a16="http://schemas.microsoft.com/office/drawing/2014/main" id="{EA2593EE-E2D2-4B16-AB72-0FCF68B29A18}"/>
              </a:ext>
            </a:extLst>
          </p:cNvPr>
          <p:cNvSpPr>
            <a:spLocks xmlns:a="http://schemas.openxmlformats.org/drawingml/2006/main" noGrp="1"/>
          </p:cNvSpPr>
          <p:nvPr/>
        </p:nvSpPr>
        <p:spPr>
          <a:xfrm xmlns:a="http://schemas.openxmlformats.org/drawingml/2006/main">
            <a:off x="762000" y="8343900"/>
            <a:ext cx="2476500" cy="891540"/>
          </a:xfrm>
          <a:prstGeom xmlns:a="http://schemas.openxmlformats.org/drawingml/2006/main" prst="roundRect">
            <a:avLst>
              <a:gd name="adj" fmla="val 7692"/>
            </a:avLst>
          </a:prstGeom>
          <a:solidFill xmlns:a="http://schemas.openxmlformats.org/drawingml/2006/main">
            <a:srgbClr val="ACD4F1"/>
          </a:solidFill>
          <a:ln xmlns:a="http://schemas.openxmlformats.org/drawingml/2006/main" w="7620">
            <a:noFill/>
          </a:ln>
        </p:spPr>
      </p:sp>
      <p:sp>
        <p:nvSpPr>
          <p:cNvPr id="29" name="">
            <a:extLst xmlns:a="http://schemas.openxmlformats.org/drawingml/2006/main">
              <a:ext uri="{FF2B5EF4-FFF2-40B4-BE49-F238E27FC236}">
                <a16:creationId xmlns:a16="http://schemas.microsoft.com/office/drawing/2014/main" id="{45266A3E-FD5C-4525-93AD-866C66FDC925}"/>
              </a:ext>
            </a:extLst>
          </p:cNvPr>
          <p:cNvSpPr>
            <a:spLocks xmlns:a="http://schemas.openxmlformats.org/drawingml/2006/main" noGrp="1"/>
          </p:cNvSpPr>
          <p:nvPr/>
        </p:nvSpPr>
        <p:spPr>
          <a:xfrm xmlns:a="http://schemas.openxmlformats.org/drawingml/2006/main">
            <a:off x="3375660" y="8343900"/>
            <a:ext cx="2567940" cy="891540"/>
          </a:xfrm>
          <a:prstGeom xmlns:a="http://schemas.openxmlformats.org/drawingml/2006/main" prst="roundRect">
            <a:avLst>
              <a:gd name="adj" fmla="val 7692"/>
            </a:avLst>
          </a:prstGeom>
          <a:solidFill xmlns:a="http://schemas.openxmlformats.org/drawingml/2006/main">
            <a:srgbClr val="EEF6FC"/>
          </a:solidFill>
          <a:ln xmlns:a="http://schemas.openxmlformats.org/drawingml/2006/main" w="7620">
            <a:solidFill>
              <a:srgbClr val="A5A5A5"/>
            </a:solidFill>
          </a:ln>
        </p:spPr>
      </p:sp>
      <p:sp>
        <p:nvSpPr>
          <p:cNvPr id="30" name="SMALL MOLECULES">
            <a:extLst xmlns:a="http://schemas.openxmlformats.org/drawingml/2006/main">
              <a:ext uri="{FF2B5EF4-FFF2-40B4-BE49-F238E27FC236}">
                <a16:creationId xmlns:a16="http://schemas.microsoft.com/office/drawing/2014/main" id="{C08A3122-E452-4FA6-BF04-5B5B1F01E1F0}"/>
              </a:ext>
            </a:extLst>
          </p:cNvPr>
          <p:cNvSpPr>
            <a:spLocks xmlns:a="http://schemas.openxmlformats.org/drawingml/2006/main" noGrp="1"/>
          </p:cNvSpPr>
          <p:nvPr/>
        </p:nvSpPr>
        <p:spPr>
          <a:xfrm xmlns:a="http://schemas.openxmlformats.org/drawingml/2006/main">
            <a:off x="883920" y="8473440"/>
            <a:ext cx="22479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defRPr sz="1200" b="1">
                <a:solidFill>
                  <a:srgbClr val="00355F"/>
                </a:solidFill>
                <a:latin typeface="Arial"/>
                <a:ea typeface="Arial"/>
                <a:cs typeface="Arial"/>
              </a:defRPr>
            </a:pPr>
            <a:r>
              <a:rPr sz="1200" b="1">
                <a:solidFill>
                  <a:srgbClr val="00355F"/>
                </a:solidFill>
                <a:latin typeface="Arial"/>
                <a:ea typeface="Arial"/>
                <a:cs typeface="Arial"/>
              </a:rPr>
              <a:t>SMALL MOLECULES</a:t>
            </a:r>
          </a:p>
        </p:txBody>
      </p:sp>
      <p:sp>
        <p:nvSpPr>
          <p:cNvPr id="31" name="Fewer syntheses per">
            <a:extLst xmlns:a="http://schemas.openxmlformats.org/drawingml/2006/main">
              <a:ext uri="{FF2B5EF4-FFF2-40B4-BE49-F238E27FC236}">
                <a16:creationId xmlns:a16="http://schemas.microsoft.com/office/drawing/2014/main" id="{F3996C0B-B517-4975-ABF1-BDA0337B2E25}"/>
              </a:ext>
            </a:extLst>
          </p:cNvPr>
          <p:cNvSpPr>
            <a:spLocks xmlns:a="http://schemas.openxmlformats.org/drawingml/2006/main" noGrp="1"/>
          </p:cNvSpPr>
          <p:nvPr/>
        </p:nvSpPr>
        <p:spPr>
          <a:xfrm xmlns:a="http://schemas.openxmlformats.org/drawingml/2006/main">
            <a:off x="883920" y="8763000"/>
            <a:ext cx="22479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defRPr sz="1140" b="0">
                <a:solidFill>
                  <a:srgbClr val="00355F"/>
                </a:solidFill>
                <a:latin typeface="Arial"/>
                <a:ea typeface="Arial"/>
                <a:cs typeface="Arial"/>
              </a:defRPr>
            </a:pPr>
            <a:r>
              <a:rPr sz="1140" b="0">
                <a:solidFill>
                  <a:srgbClr val="00355F"/>
                </a:solidFill>
                <a:latin typeface="Arial"/>
                <a:ea typeface="Arial"/>
                <a:cs typeface="Arial"/>
              </a:rPr>
              <a:t>Fewer syntheses per</a:t>
            </a:r>
          </a:p>
          <a:p xmlns:a="http://schemas.openxmlformats.org/drawingml/2006/main">
            <a:pPr algn="l">
              <a:defRPr sz="1140" b="0">
                <a:solidFill>
                  <a:srgbClr val="00355F"/>
                </a:solidFill>
                <a:latin typeface="Arial"/>
                <a:ea typeface="Arial"/>
                <a:cs typeface="Arial"/>
              </a:defRPr>
            </a:pPr>
            <a:r>
              <a:rPr sz="1140" b="0">
                <a:solidFill>
                  <a:srgbClr val="00355F"/>
                </a:solidFill>
                <a:latin typeface="Arial"/>
                <a:ea typeface="Arial"/>
                <a:cs typeface="Arial"/>
              </a:rPr>
              <a:t>program are possible.</a:t>
            </a:r>
          </a:p>
        </p:txBody>
      </p:sp>
      <p:sp>
        <p:nvSpPr>
          <p:cNvPr id="32" name="PROTEINS / ANTIBODIES">
            <a:extLst xmlns:a="http://schemas.openxmlformats.org/drawingml/2006/main">
              <a:ext uri="{FF2B5EF4-FFF2-40B4-BE49-F238E27FC236}">
                <a16:creationId xmlns:a16="http://schemas.microsoft.com/office/drawing/2014/main" id="{4CA13231-A276-4415-9CF4-45B60D6AB207}"/>
              </a:ext>
            </a:extLst>
          </p:cNvPr>
          <p:cNvSpPr>
            <a:spLocks xmlns:a="http://schemas.openxmlformats.org/drawingml/2006/main" noGrp="1"/>
          </p:cNvSpPr>
          <p:nvPr/>
        </p:nvSpPr>
        <p:spPr>
          <a:xfrm xmlns:a="http://schemas.openxmlformats.org/drawingml/2006/main">
            <a:off x="3497580" y="8473440"/>
            <a:ext cx="23241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defRPr sz="1110" b="1">
                <a:solidFill>
                  <a:srgbClr val="00355F"/>
                </a:solidFill>
                <a:latin typeface="Arial"/>
                <a:ea typeface="Arial"/>
                <a:cs typeface="Arial"/>
              </a:defRPr>
            </a:pPr>
            <a:r>
              <a:rPr sz="1110" b="1">
                <a:solidFill>
                  <a:srgbClr val="00355F"/>
                </a:solidFill>
                <a:latin typeface="Arial"/>
                <a:ea typeface="Arial"/>
                <a:cs typeface="Arial"/>
              </a:rPr>
              <a:t>PROTEINS / ANTIBODIES</a:t>
            </a:r>
          </a:p>
        </p:txBody>
      </p:sp>
      <p:sp>
        <p:nvSpPr>
          <p:cNvPr id="33" name="Pooled screens scale;">
            <a:extLst xmlns:a="http://schemas.openxmlformats.org/drawingml/2006/main">
              <a:ext uri="{FF2B5EF4-FFF2-40B4-BE49-F238E27FC236}">
                <a16:creationId xmlns:a16="http://schemas.microsoft.com/office/drawing/2014/main" id="{8081EF3A-E2C8-4A65-A849-9EFA9DD570E9}"/>
              </a:ext>
            </a:extLst>
          </p:cNvPr>
          <p:cNvSpPr>
            <a:spLocks xmlns:a="http://schemas.openxmlformats.org/drawingml/2006/main" noGrp="1"/>
          </p:cNvSpPr>
          <p:nvPr/>
        </p:nvSpPr>
        <p:spPr>
          <a:xfrm xmlns:a="http://schemas.openxmlformats.org/drawingml/2006/main">
            <a:off x="3497580" y="8763000"/>
            <a:ext cx="23241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defRPr sz="1140" b="0">
                <a:solidFill>
                  <a:srgbClr val="00355F"/>
                </a:solidFill>
                <a:latin typeface="Arial"/>
                <a:ea typeface="Arial"/>
                <a:cs typeface="Arial"/>
              </a:defRPr>
            </a:pPr>
            <a:r>
              <a:rPr sz="1140" b="0">
                <a:solidFill>
                  <a:srgbClr val="00355F"/>
                </a:solidFill>
                <a:latin typeface="Arial"/>
                <a:ea typeface="Arial"/>
                <a:cs typeface="Arial"/>
              </a:rPr>
              <a:t>Pooled screens scale;</a:t>
            </a:r>
          </a:p>
          <a:p xmlns:a="http://schemas.openxmlformats.org/drawingml/2006/main">
            <a:pPr algn="l">
              <a:defRPr sz="1140" b="0">
                <a:solidFill>
                  <a:srgbClr val="00355F"/>
                </a:solidFill>
                <a:latin typeface="Arial"/>
                <a:ea typeface="Arial"/>
                <a:cs typeface="Arial"/>
              </a:defRPr>
            </a:pPr>
            <a:r>
              <a:rPr sz="1140" b="0">
                <a:solidFill>
                  <a:srgbClr val="00355F"/>
                </a:solidFill>
                <a:latin typeface="Arial"/>
                <a:ea typeface="Arial"/>
                <a:cs typeface="Arial"/>
              </a:rPr>
              <a:t>individual profiling differs.</a:t>
            </a:r>
          </a:p>
        </p:txBody>
      </p:sp>
      <p:sp>
        <p:nvSpPr>
          <p:cNvPr id="34" name="WET LAB = BUILD + TEST">
            <a:extLst xmlns:a="http://schemas.openxmlformats.org/drawingml/2006/main">
              <a:ext uri="{FF2B5EF4-FFF2-40B4-BE49-F238E27FC236}">
                <a16:creationId xmlns:a16="http://schemas.microsoft.com/office/drawing/2014/main" id="{BCF368F0-907F-43FF-8295-E1875E58DE0F}"/>
              </a:ext>
            </a:extLst>
          </p:cNvPr>
          <p:cNvSpPr>
            <a:spLocks xmlns:a="http://schemas.openxmlformats.org/drawingml/2006/main" noGrp="1"/>
          </p:cNvSpPr>
          <p:nvPr/>
        </p:nvSpPr>
        <p:spPr>
          <a:xfrm xmlns:a="http://schemas.openxmlformats.org/drawingml/2006/main">
            <a:off x="762000" y="9372600"/>
            <a:ext cx="5181600" cy="701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WET LAB = BUILD + TEST</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No universal molecule-count funnel.</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AI clinical advantage remains unproven.</a:t>
            </a:r>
          </a:p>
        </p:txBody>
      </p:sp>
      <p:sp>
        <p:nvSpPr>
          <p:cNvPr id="35" name="">
            <a:extLst xmlns:a="http://schemas.openxmlformats.org/drawingml/2006/main">
              <a:ext uri="{FF2B5EF4-FFF2-40B4-BE49-F238E27FC236}">
                <a16:creationId xmlns:a16="http://schemas.microsoft.com/office/drawing/2014/main" id="{0B6CD182-FF07-4C1B-B0CF-E8C738C5833F}"/>
              </a:ext>
            </a:extLst>
          </p:cNvPr>
          <p:cNvSpPr>
            <a:spLocks xmlns:a="http://schemas.openxmlformats.org/drawingml/2006/main" noGrp="1"/>
          </p:cNvSpPr>
          <p:nvPr/>
        </p:nvSpPr>
        <p:spPr>
          <a:xfrm xmlns:a="http://schemas.openxmlformats.org/drawingml/2006/main">
            <a:off x="6743700" y="1943100"/>
            <a:ext cx="10782300" cy="7231380"/>
          </a:xfrm>
          <a:prstGeom xmlns:a="http://schemas.openxmlformats.org/drawingml/2006/main" prst="roundRect">
            <a:avLst>
              <a:gd name="adj" fmla="val 1581"/>
            </a:avLst>
          </a:prstGeom>
          <a:solidFill xmlns:a="http://schemas.openxmlformats.org/drawingml/2006/main">
            <a:srgbClr val="F4F9FD"/>
          </a:solidFill>
          <a:ln xmlns:a="http://schemas.openxmlformats.org/drawingml/2006/main" w="7620">
            <a:solidFill>
              <a:srgbClr val="A5A5A5"/>
            </a:solidFill>
          </a:ln>
        </p:spPr>
      </p:sp>
      <p:sp>
        <p:nvSpPr>
          <p:cNvPr id="36" name="The LST ecosystem behind the capacity gate">
            <a:extLst xmlns:a="http://schemas.openxmlformats.org/drawingml/2006/main">
              <a:ext uri="{FF2B5EF4-FFF2-40B4-BE49-F238E27FC236}">
                <a16:creationId xmlns:a16="http://schemas.microsoft.com/office/drawing/2014/main" id="{74062835-8B42-4668-99C6-42708D4E9E1A}"/>
              </a:ext>
            </a:extLst>
          </p:cNvPr>
          <p:cNvSpPr>
            <a:spLocks xmlns:a="http://schemas.openxmlformats.org/drawingml/2006/main" noGrp="1"/>
          </p:cNvSpPr>
          <p:nvPr/>
        </p:nvSpPr>
        <p:spPr>
          <a:xfrm xmlns:a="http://schemas.openxmlformats.org/drawingml/2006/main">
            <a:off x="6987540" y="2103120"/>
            <a:ext cx="10287000"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37" name="Issuer-cited subset estimates · different scopes / years · source conflicts disclosed below">
            <a:extLst xmlns:a="http://schemas.openxmlformats.org/drawingml/2006/main">
              <a:ext uri="{FF2B5EF4-FFF2-40B4-BE49-F238E27FC236}">
                <a16:creationId xmlns:a16="http://schemas.microsoft.com/office/drawing/2014/main" id="{C70507E4-9B24-4715-B548-68CA3F32070A}"/>
              </a:ext>
            </a:extLst>
          </p:cNvPr>
          <p:cNvSpPr>
            <a:spLocks xmlns:a="http://schemas.openxmlformats.org/drawingml/2006/main" noGrp="1"/>
          </p:cNvSpPr>
          <p:nvPr/>
        </p:nvSpPr>
        <p:spPr>
          <a:xfrm xmlns:a="http://schemas.openxmlformats.org/drawingml/2006/main">
            <a:off x="6987540" y="2514600"/>
            <a:ext cx="10287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defRPr sz="1200" b="0">
                <a:solidFill>
                  <a:srgbClr val="00355F"/>
                </a:solidFill>
                <a:latin typeface="Arial"/>
                <a:ea typeface="Arial"/>
                <a:cs typeface="Arial"/>
              </a:defRPr>
            </a:pPr>
            <a:r>
              <a:rPr sz="1200" b="0">
                <a:solidFill>
                  <a:srgbClr val="00355F"/>
                </a:solidFill>
                <a:latin typeface="Arial"/>
                <a:ea typeface="Arial"/>
                <a:cs typeface="Arial"/>
              </a:rPr>
              <a:t>Issuer-cited subset estimates · different scopes / years · source conflicts disclosed below</a:t>
            </a:r>
          </a:p>
        </p:txBody>
      </p:sp>
      <p:sp>
        <p:nvSpPr>
          <p:cNvPr id="38" name="">
            <a:extLst xmlns:a="http://schemas.openxmlformats.org/drawingml/2006/main">
              <a:ext uri="{FF2B5EF4-FFF2-40B4-BE49-F238E27FC236}">
                <a16:creationId xmlns:a16="http://schemas.microsoft.com/office/drawing/2014/main" id="{0115D6F1-3ADA-445A-B330-500F58F2BDAB}"/>
              </a:ext>
            </a:extLst>
          </p:cNvPr>
          <p:cNvSpPr>
            <a:spLocks xmlns:a="http://schemas.openxmlformats.org/drawingml/2006/main" noGrp="1"/>
          </p:cNvSpPr>
          <p:nvPr/>
        </p:nvSpPr>
        <p:spPr>
          <a:xfrm xmlns:a="http://schemas.openxmlformats.org/drawingml/2006/main">
            <a:off x="698754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39" name="">
            <a:extLst xmlns:a="http://schemas.openxmlformats.org/drawingml/2006/main">
              <a:ext uri="{FF2B5EF4-FFF2-40B4-BE49-F238E27FC236}">
                <a16:creationId xmlns:a16="http://schemas.microsoft.com/office/drawing/2014/main" id="{9EA5EE60-3FA6-48D0-A71E-083E3A4E6CC6}"/>
              </a:ext>
            </a:extLst>
          </p:cNvPr>
          <p:cNvPicPr>
            <a:picLocks xmlns:a="http://schemas.openxmlformats.org/drawingml/2006/main" noChangeAspect="1"/>
          </p:cNvPicPr>
          <p:nvPr/>
        </p:nvPicPr>
        <p:blipFill>
          <a:blip xmlns:r="http://schemas.openxmlformats.org/officeDocument/2006/relationships" xmlns:a="http://schemas.openxmlformats.org/drawingml/2006/main" r:embed="R492e06f5598a45fd">
            <a:extLst>
              <a:ext uri="{96DAC541-7B7A-43D3-8B79-37D633B846F1}">
                <asvg:svgBlip xmlns:asvg="http://schemas.microsoft.com/office/drawing/2016/SVG/main" r:embed="R8ae25a56c7414cf4"/>
              </a:ext>
            </a:extLst>
          </a:blip>
          <a:stretch xmlns:a="http://schemas.openxmlformats.org/drawingml/2006/main"/>
        </p:blipFill>
        <p:spPr>
          <a:xfrm xmlns:a="http://schemas.openxmlformats.org/drawingml/2006/main">
            <a:off x="7124700" y="2987040"/>
            <a:ext cx="289560" cy="289560"/>
          </a:xfrm>
          <a:prstGeom xmlns:a="http://schemas.openxmlformats.org/drawingml/2006/main" prst="rect">
            <a:avLst/>
          </a:prstGeom>
        </p:spPr>
      </p:pic>
      <p:sp>
        <p:nvSpPr>
          <p:cNvPr id="40" name="Molecular construction">
            <a:extLst xmlns:a="http://schemas.openxmlformats.org/drawingml/2006/main">
              <a:ext uri="{FF2B5EF4-FFF2-40B4-BE49-F238E27FC236}">
                <a16:creationId xmlns:a16="http://schemas.microsoft.com/office/drawing/2014/main" id="{CBBA6B0D-D27E-4617-952D-C4F946FCA70E}"/>
              </a:ext>
            </a:extLst>
          </p:cNvPr>
          <p:cNvSpPr>
            <a:spLocks xmlns:a="http://schemas.openxmlformats.org/drawingml/2006/main" noGrp="1"/>
          </p:cNvSpPr>
          <p:nvPr/>
        </p:nvSpPr>
        <p:spPr>
          <a:xfrm xmlns:a="http://schemas.openxmlformats.org/drawingml/2006/main">
            <a:off x="755142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41" name="DNA / RNA synthesis, enzymes">
            <a:extLst xmlns:a="http://schemas.openxmlformats.org/drawingml/2006/main">
              <a:ext uri="{FF2B5EF4-FFF2-40B4-BE49-F238E27FC236}">
                <a16:creationId xmlns:a16="http://schemas.microsoft.com/office/drawing/2014/main" id="{BA1D1A26-6674-4BDE-BD08-42E03B1D3A7B}"/>
              </a:ext>
            </a:extLst>
          </p:cNvPr>
          <p:cNvSpPr>
            <a:spLocks xmlns:a="http://schemas.openxmlformats.org/drawingml/2006/main" noGrp="1"/>
          </p:cNvSpPr>
          <p:nvPr/>
        </p:nvSpPr>
        <p:spPr>
          <a:xfrm xmlns:a="http://schemas.openxmlformats.org/drawingml/2006/main">
            <a:off x="713994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42" name="RMB 1.33bn">
            <a:extLst xmlns:a="http://schemas.openxmlformats.org/drawingml/2006/main">
              <a:ext uri="{FF2B5EF4-FFF2-40B4-BE49-F238E27FC236}">
                <a16:creationId xmlns:a16="http://schemas.microsoft.com/office/drawing/2014/main" id="{67CA4957-9474-49C5-AB17-6E25F4C5EBCE}"/>
              </a:ext>
            </a:extLst>
          </p:cNvPr>
          <p:cNvSpPr>
            <a:spLocks xmlns:a="http://schemas.openxmlformats.org/drawingml/2006/main" noGrp="1"/>
          </p:cNvSpPr>
          <p:nvPr/>
        </p:nvSpPr>
        <p:spPr>
          <a:xfrm xmlns:a="http://schemas.openxmlformats.org/drawingml/2006/main">
            <a:off x="713994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43" name="China • 2025 • DNA synthesis services [1]">
            <a:extLst xmlns:a="http://schemas.openxmlformats.org/drawingml/2006/main">
              <a:ext uri="{FF2B5EF4-FFF2-40B4-BE49-F238E27FC236}">
                <a16:creationId xmlns:a16="http://schemas.microsoft.com/office/drawing/2014/main" id="{CCB4F1A9-9B41-402E-8AC6-4860ADC6252A}"/>
              </a:ext>
            </a:extLst>
          </p:cNvPr>
          <p:cNvSpPr>
            <a:spLocks xmlns:a="http://schemas.openxmlformats.org/drawingml/2006/main" noGrp="1"/>
          </p:cNvSpPr>
          <p:nvPr/>
        </p:nvSpPr>
        <p:spPr>
          <a:xfrm xmlns:a="http://schemas.openxmlformats.org/drawingml/2006/main">
            <a:off x="713994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44" name="Oligos + long fragments only">
            <a:extLst xmlns:a="http://schemas.openxmlformats.org/drawingml/2006/main">
              <a:ext uri="{FF2B5EF4-FFF2-40B4-BE49-F238E27FC236}">
                <a16:creationId xmlns:a16="http://schemas.microsoft.com/office/drawing/2014/main" id="{1FD19D9A-6658-49FC-9D8A-B52DF2D1C785}"/>
              </a:ext>
            </a:extLst>
          </p:cNvPr>
          <p:cNvSpPr>
            <a:spLocks xmlns:a="http://schemas.openxmlformats.org/drawingml/2006/main" noGrp="1"/>
          </p:cNvSpPr>
          <p:nvPr/>
        </p:nvSpPr>
        <p:spPr>
          <a:xfrm xmlns:a="http://schemas.openxmlformats.org/drawingml/2006/main">
            <a:off x="713994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pic>
        <p:nvPicPr>
          <p:cNvPr id="45" name="">
            <a:extLst xmlns:a="http://schemas.openxmlformats.org/drawingml/2006/main">
              <a:ext uri="{FF2B5EF4-FFF2-40B4-BE49-F238E27FC236}">
                <a16:creationId xmlns:a16="http://schemas.microsoft.com/office/drawing/2014/main" id="{4F9F59E7-85CC-4D22-8C05-655414C550E5}"/>
              </a:ext>
            </a:extLst>
          </p:cNvPr>
          <p:cNvPicPr>
            <a:picLocks xmlns:a="http://schemas.openxmlformats.org/drawingml/2006/main" noChangeAspect="1"/>
          </p:cNvPicPr>
          <p:nvPr/>
        </p:nvPicPr>
        <p:blipFill>
          <a:blip xmlns:r="http://schemas.openxmlformats.org/officeDocument/2006/relationships" xmlns:a="http://schemas.openxmlformats.org/drawingml/2006/main" r:embed="R4045d4d03d7c426d"/>
          <a:stretch xmlns:a="http://schemas.openxmlformats.org/drawingml/2006/main"/>
        </p:blipFill>
        <p:spPr>
          <a:xfrm xmlns:a="http://schemas.openxmlformats.org/drawingml/2006/main">
            <a:off x="7266971" y="4724400"/>
            <a:ext cx="713678" cy="304800"/>
          </a:xfrm>
          <a:prstGeom xmlns:a="http://schemas.openxmlformats.org/drawingml/2006/main" prst="rect">
            <a:avLst/>
          </a:prstGeom>
        </p:spPr>
      </p:pic>
      <p:pic>
        <p:nvPicPr>
          <p:cNvPr id="46" name="">
            <a:extLst xmlns:a="http://schemas.openxmlformats.org/drawingml/2006/main">
              <a:ext uri="{FF2B5EF4-FFF2-40B4-BE49-F238E27FC236}">
                <a16:creationId xmlns:a16="http://schemas.microsoft.com/office/drawing/2014/main" id="{97FCCF9A-8751-4BEA-93C3-6651062281E4}"/>
              </a:ext>
            </a:extLst>
          </p:cNvPr>
          <p:cNvPicPr>
            <a:picLocks xmlns:a="http://schemas.openxmlformats.org/drawingml/2006/main" noChangeAspect="1"/>
          </p:cNvPicPr>
          <p:nvPr/>
        </p:nvPicPr>
        <p:blipFill>
          <a:blip xmlns:r="http://schemas.openxmlformats.org/officeDocument/2006/relationships" xmlns:a="http://schemas.openxmlformats.org/drawingml/2006/main" r:embed="R516c8e04d578476f"/>
          <a:stretch xmlns:a="http://schemas.openxmlformats.org/drawingml/2006/main"/>
        </p:blipFill>
        <p:spPr>
          <a:xfrm xmlns:a="http://schemas.openxmlformats.org/drawingml/2006/main">
            <a:off x="8309187" y="4724400"/>
            <a:ext cx="1075267" cy="304800"/>
          </a:xfrm>
          <a:prstGeom xmlns:a="http://schemas.openxmlformats.org/drawingml/2006/main" prst="rect">
            <a:avLst/>
          </a:prstGeom>
        </p:spPr>
      </p:pic>
      <p:sp>
        <p:nvSpPr>
          <p:cNvPr id="47" name="CHINA / HK LISTINGS">
            <a:extLst xmlns:a="http://schemas.openxmlformats.org/drawingml/2006/main">
              <a:ext uri="{FF2B5EF4-FFF2-40B4-BE49-F238E27FC236}">
                <a16:creationId xmlns:a16="http://schemas.microsoft.com/office/drawing/2014/main" id="{7DE58CCB-6A15-45BF-9D5F-56500CA4F8B1}"/>
              </a:ext>
            </a:extLst>
          </p:cNvPr>
          <p:cNvSpPr>
            <a:spLocks xmlns:a="http://schemas.openxmlformats.org/drawingml/2006/main" noGrp="1"/>
          </p:cNvSpPr>
          <p:nvPr/>
        </p:nvSpPr>
        <p:spPr>
          <a:xfrm xmlns:a="http://schemas.openxmlformats.org/drawingml/2006/main">
            <a:off x="713994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8" name="US LISTINGS / PARENTS">
            <a:extLst xmlns:a="http://schemas.openxmlformats.org/drawingml/2006/main">
              <a:ext uri="{FF2B5EF4-FFF2-40B4-BE49-F238E27FC236}">
                <a16:creationId xmlns:a16="http://schemas.microsoft.com/office/drawing/2014/main" id="{9A97F0E9-C2BE-4C7B-9C70-6F664D8B99C6}"/>
              </a:ext>
            </a:extLst>
          </p:cNvPr>
          <p:cNvSpPr>
            <a:spLocks xmlns:a="http://schemas.openxmlformats.org/drawingml/2006/main" noGrp="1"/>
          </p:cNvSpPr>
          <p:nvPr/>
        </p:nvSpPr>
        <p:spPr>
          <a:xfrm xmlns:a="http://schemas.openxmlformats.org/drawingml/2006/main">
            <a:off x="877824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9" name="GenScript · 1548.HK">
            <a:extLst xmlns:a="http://schemas.openxmlformats.org/drawingml/2006/main">
              <a:ext uri="{FF2B5EF4-FFF2-40B4-BE49-F238E27FC236}">
                <a16:creationId xmlns:a16="http://schemas.microsoft.com/office/drawing/2014/main" id="{B084EC14-3616-40F5-8916-904C91060D75}"/>
              </a:ext>
            </a:extLst>
          </p:cNvPr>
          <p:cNvSpPr>
            <a:spLocks xmlns:a="http://schemas.openxmlformats.org/drawingml/2006/main" noGrp="1"/>
          </p:cNvSpPr>
          <p:nvPr/>
        </p:nvSpPr>
        <p:spPr>
          <a:xfrm xmlns:a="http://schemas.openxmlformats.org/drawingml/2006/main">
            <a:off x="713994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GenScript · 1548.HK</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Vazyme · 688105.SH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50" name="Twist · TWST">
            <a:extLst xmlns:a="http://schemas.openxmlformats.org/drawingml/2006/main">
              <a:ext uri="{FF2B5EF4-FFF2-40B4-BE49-F238E27FC236}">
                <a16:creationId xmlns:a16="http://schemas.microsoft.com/office/drawing/2014/main" id="{BB053420-8762-4898-A34E-C713BD352882}"/>
              </a:ext>
            </a:extLst>
          </p:cNvPr>
          <p:cNvSpPr>
            <a:spLocks xmlns:a="http://schemas.openxmlformats.org/drawingml/2006/main" noGrp="1"/>
          </p:cNvSpPr>
          <p:nvPr/>
        </p:nvSpPr>
        <p:spPr>
          <a:xfrm xmlns:a="http://schemas.openxmlformats.org/drawingml/2006/main">
            <a:off x="877824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Twist · TWST</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51" name="">
            <a:extLst xmlns:a="http://schemas.openxmlformats.org/drawingml/2006/main">
              <a:ext uri="{FF2B5EF4-FFF2-40B4-BE49-F238E27FC236}">
                <a16:creationId xmlns:a16="http://schemas.microsoft.com/office/drawing/2014/main" id="{B78FEF24-C622-4673-BE5F-A783A2714A53}"/>
              </a:ext>
            </a:extLst>
          </p:cNvPr>
          <p:cNvSpPr>
            <a:spLocks xmlns:a="http://schemas.openxmlformats.org/drawingml/2006/main" noGrp="1"/>
          </p:cNvSpPr>
          <p:nvPr/>
        </p:nvSpPr>
        <p:spPr>
          <a:xfrm xmlns:a="http://schemas.openxmlformats.org/drawingml/2006/main">
            <a:off x="1051560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52" name="">
            <a:extLst xmlns:a="http://schemas.openxmlformats.org/drawingml/2006/main">
              <a:ext uri="{FF2B5EF4-FFF2-40B4-BE49-F238E27FC236}">
                <a16:creationId xmlns:a16="http://schemas.microsoft.com/office/drawing/2014/main" id="{3EB79551-113C-47A5-B4A4-B34B526263A1}"/>
              </a:ext>
            </a:extLst>
          </p:cNvPr>
          <p:cNvPicPr>
            <a:picLocks xmlns:a="http://schemas.openxmlformats.org/drawingml/2006/main" noChangeAspect="1"/>
          </p:cNvPicPr>
          <p:nvPr/>
        </p:nvPicPr>
        <p:blipFill>
          <a:blip xmlns:r="http://schemas.openxmlformats.org/officeDocument/2006/relationships" xmlns:a="http://schemas.openxmlformats.org/drawingml/2006/main" r:embed="R8411e20698004c1c">
            <a:extLst>
              <a:ext uri="{96DAC541-7B7A-43D3-8B79-37D633B846F1}">
                <asvg:svgBlip xmlns:asvg="http://schemas.microsoft.com/office/drawing/2016/SVG/main" r:embed="R6ebae9d1e7324de6"/>
              </a:ext>
            </a:extLst>
          </a:blip>
          <a:stretch xmlns:a="http://schemas.openxmlformats.org/drawingml/2006/main"/>
        </p:blipFill>
        <p:spPr>
          <a:xfrm xmlns:a="http://schemas.openxmlformats.org/drawingml/2006/main">
            <a:off x="10652760" y="2987040"/>
            <a:ext cx="289560" cy="289560"/>
          </a:xfrm>
          <a:prstGeom xmlns:a="http://schemas.openxmlformats.org/drawingml/2006/main" prst="rect">
            <a:avLst/>
          </a:prstGeom>
        </p:spPr>
      </p:pic>
      <p:sp>
        <p:nvSpPr>
          <p:cNvPr id="53" name="Protein &amp; functional assays">
            <a:extLst xmlns:a="http://schemas.openxmlformats.org/drawingml/2006/main">
              <a:ext uri="{FF2B5EF4-FFF2-40B4-BE49-F238E27FC236}">
                <a16:creationId xmlns:a16="http://schemas.microsoft.com/office/drawing/2014/main" id="{F064DA7E-2079-4A00-96CE-286F9B5805A4}"/>
              </a:ext>
            </a:extLst>
          </p:cNvPr>
          <p:cNvSpPr>
            <a:spLocks xmlns:a="http://schemas.openxmlformats.org/drawingml/2006/main" noGrp="1"/>
          </p:cNvSpPr>
          <p:nvPr/>
        </p:nvSpPr>
        <p:spPr>
          <a:xfrm xmlns:a="http://schemas.openxmlformats.org/drawingml/2006/main">
            <a:off x="1107948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54" name="Recombinant proteins, antibodies">
            <a:extLst xmlns:a="http://schemas.openxmlformats.org/drawingml/2006/main">
              <a:ext uri="{FF2B5EF4-FFF2-40B4-BE49-F238E27FC236}">
                <a16:creationId xmlns:a16="http://schemas.microsoft.com/office/drawing/2014/main" id="{E9067404-0630-4992-BFD6-5173EFE01BC4}"/>
              </a:ext>
            </a:extLst>
          </p:cNvPr>
          <p:cNvSpPr>
            <a:spLocks xmlns:a="http://schemas.openxmlformats.org/drawingml/2006/main" noGrp="1"/>
          </p:cNvSpPr>
          <p:nvPr/>
        </p:nvSpPr>
        <p:spPr>
          <a:xfrm xmlns:a="http://schemas.openxmlformats.org/drawingml/2006/main">
            <a:off x="1066800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55" name="US$3.5bn">
            <a:extLst xmlns:a="http://schemas.openxmlformats.org/drawingml/2006/main">
              <a:ext uri="{FF2B5EF4-FFF2-40B4-BE49-F238E27FC236}">
                <a16:creationId xmlns:a16="http://schemas.microsoft.com/office/drawing/2014/main" id="{726EA5B9-1A04-46C8-BAEB-0AE29F70776A}"/>
              </a:ext>
            </a:extLst>
          </p:cNvPr>
          <p:cNvSpPr>
            <a:spLocks xmlns:a="http://schemas.openxmlformats.org/drawingml/2006/main" noGrp="1"/>
          </p:cNvSpPr>
          <p:nvPr/>
        </p:nvSpPr>
        <p:spPr>
          <a:xfrm xmlns:a="http://schemas.openxmlformats.org/drawingml/2006/main">
            <a:off x="1066800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56" name="Global · 2025 · F&amp;S RUO proteins [2]">
            <a:extLst xmlns:a="http://schemas.openxmlformats.org/drawingml/2006/main">
              <a:ext uri="{FF2B5EF4-FFF2-40B4-BE49-F238E27FC236}">
                <a16:creationId xmlns:a16="http://schemas.microsoft.com/office/drawing/2014/main" id="{3692FCB2-C5A3-4E72-9D7A-2040A9D02218}"/>
              </a:ext>
            </a:extLst>
          </p:cNvPr>
          <p:cNvSpPr>
            <a:spLocks xmlns:a="http://schemas.openxmlformats.org/drawingml/2006/main" noGrp="1"/>
          </p:cNvSpPr>
          <p:nvPr/>
        </p:nvSpPr>
        <p:spPr>
          <a:xfrm xmlns:a="http://schemas.openxmlformats.org/drawingml/2006/main">
            <a:off x="1066800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Global · 2025 · F&amp;S RUO proteins [2]</a:t>
            </a:r>
          </a:p>
        </p:txBody>
      </p:sp>
      <p:sp>
        <p:nvSpPr>
          <p:cNvPr id="57" name="Issuer-commissioned; estimate disputed">
            <a:extLst xmlns:a="http://schemas.openxmlformats.org/drawingml/2006/main">
              <a:ext uri="{FF2B5EF4-FFF2-40B4-BE49-F238E27FC236}">
                <a16:creationId xmlns:a16="http://schemas.microsoft.com/office/drawing/2014/main" id="{AAB1DB81-85A9-4D03-A891-2F9835CCBE7A}"/>
              </a:ext>
            </a:extLst>
          </p:cNvPr>
          <p:cNvSpPr>
            <a:spLocks xmlns:a="http://schemas.openxmlformats.org/drawingml/2006/main" noGrp="1"/>
          </p:cNvSpPr>
          <p:nvPr/>
        </p:nvSpPr>
        <p:spPr>
          <a:xfrm xmlns:a="http://schemas.openxmlformats.org/drawingml/2006/main">
            <a:off x="1066800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Issuer-commissioned; estimate disputed</a:t>
            </a:r>
          </a:p>
        </p:txBody>
      </p:sp>
      <p:pic>
        <p:nvPicPr>
          <p:cNvPr id="58" name="">
            <a:extLst xmlns:a="http://schemas.openxmlformats.org/drawingml/2006/main">
              <a:ext uri="{FF2B5EF4-FFF2-40B4-BE49-F238E27FC236}">
                <a16:creationId xmlns:a16="http://schemas.microsoft.com/office/drawing/2014/main" id="{5447334E-071E-466B-8671-D68FE0258450}"/>
              </a:ext>
            </a:extLst>
          </p:cNvPr>
          <p:cNvPicPr>
            <a:picLocks xmlns:a="http://schemas.openxmlformats.org/drawingml/2006/main" noChangeAspect="1"/>
          </p:cNvPicPr>
          <p:nvPr/>
        </p:nvPicPr>
        <p:blipFill>
          <a:blip xmlns:r="http://schemas.openxmlformats.org/officeDocument/2006/relationships" xmlns:a="http://schemas.openxmlformats.org/drawingml/2006/main" r:embed="Rdddc9a4bc5d44952"/>
          <a:stretch xmlns:a="http://schemas.openxmlformats.org/drawingml/2006/main"/>
        </p:blipFill>
        <p:spPr>
          <a:xfrm xmlns:a="http://schemas.openxmlformats.org/drawingml/2006/main">
            <a:off x="10754940" y="4709160"/>
            <a:ext cx="1037699" cy="335280"/>
          </a:xfrm>
          <a:prstGeom xmlns:a="http://schemas.openxmlformats.org/drawingml/2006/main" prst="rect">
            <a:avLst/>
          </a:prstGeom>
        </p:spPr>
      </p:pic>
      <p:sp>
        <p:nvSpPr>
          <p:cNvPr id="59" name="CHINA / HK LISTINGS">
            <a:extLst xmlns:a="http://schemas.openxmlformats.org/drawingml/2006/main">
              <a:ext uri="{FF2B5EF4-FFF2-40B4-BE49-F238E27FC236}">
                <a16:creationId xmlns:a16="http://schemas.microsoft.com/office/drawing/2014/main" id="{8220878F-5715-4DCD-832C-66484F835004}"/>
              </a:ext>
            </a:extLst>
          </p:cNvPr>
          <p:cNvSpPr>
            <a:spLocks xmlns:a="http://schemas.openxmlformats.org/drawingml/2006/main" noGrp="1"/>
          </p:cNvSpPr>
          <p:nvPr/>
        </p:nvSpPr>
        <p:spPr>
          <a:xfrm xmlns:a="http://schemas.openxmlformats.org/drawingml/2006/main">
            <a:off x="1066800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0" name="US LISTINGS / PARENTS">
            <a:extLst xmlns:a="http://schemas.openxmlformats.org/drawingml/2006/main">
              <a:ext uri="{FF2B5EF4-FFF2-40B4-BE49-F238E27FC236}">
                <a16:creationId xmlns:a16="http://schemas.microsoft.com/office/drawing/2014/main" id="{3669D5B1-8B35-4B42-B4D4-3227A6A1B633}"/>
              </a:ext>
            </a:extLst>
          </p:cNvPr>
          <p:cNvSpPr>
            <a:spLocks xmlns:a="http://schemas.openxmlformats.org/drawingml/2006/main" noGrp="1"/>
          </p:cNvSpPr>
          <p:nvPr/>
        </p:nvSpPr>
        <p:spPr>
          <a:xfrm xmlns:a="http://schemas.openxmlformats.org/drawingml/2006/main">
            <a:off x="1230630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61" name="ACRO · 301080.SZ">
            <a:extLst xmlns:a="http://schemas.openxmlformats.org/drawingml/2006/main">
              <a:ext uri="{FF2B5EF4-FFF2-40B4-BE49-F238E27FC236}">
                <a16:creationId xmlns:a16="http://schemas.microsoft.com/office/drawing/2014/main" id="{83EE79CA-1EC9-446A-9A28-BEFD585379AF}"/>
              </a:ext>
            </a:extLst>
          </p:cNvPr>
          <p:cNvSpPr>
            <a:spLocks xmlns:a="http://schemas.openxmlformats.org/drawingml/2006/main" noGrp="1"/>
          </p:cNvSpPr>
          <p:nvPr/>
        </p:nvSpPr>
        <p:spPr>
          <a:xfrm xmlns:a="http://schemas.openxmlformats.org/drawingml/2006/main">
            <a:off x="1066800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ACRO · 301080.SZ</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62" name="Bio-Techne · TECH">
            <a:extLst xmlns:a="http://schemas.openxmlformats.org/drawingml/2006/main">
              <a:ext uri="{FF2B5EF4-FFF2-40B4-BE49-F238E27FC236}">
                <a16:creationId xmlns:a16="http://schemas.microsoft.com/office/drawing/2014/main" id="{E4695AB0-52BC-42A8-AA5C-3AA87874421E}"/>
              </a:ext>
            </a:extLst>
          </p:cNvPr>
          <p:cNvSpPr>
            <a:spLocks xmlns:a="http://schemas.openxmlformats.org/drawingml/2006/main" noGrp="1"/>
          </p:cNvSpPr>
          <p:nvPr/>
        </p:nvSpPr>
        <p:spPr>
          <a:xfrm xmlns:a="http://schemas.openxmlformats.org/drawingml/2006/main">
            <a:off x="1230630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Bio-Techne · TECH</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63" name="">
            <a:extLst xmlns:a="http://schemas.openxmlformats.org/drawingml/2006/main">
              <a:ext uri="{FF2B5EF4-FFF2-40B4-BE49-F238E27FC236}">
                <a16:creationId xmlns:a16="http://schemas.microsoft.com/office/drawing/2014/main" id="{23F6E543-E380-4A6F-AC56-8D65502CE92C}"/>
              </a:ext>
            </a:extLst>
          </p:cNvPr>
          <p:cNvSpPr>
            <a:spLocks xmlns:a="http://schemas.openxmlformats.org/drawingml/2006/main" noGrp="1"/>
          </p:cNvSpPr>
          <p:nvPr/>
        </p:nvSpPr>
        <p:spPr>
          <a:xfrm xmlns:a="http://schemas.openxmlformats.org/drawingml/2006/main">
            <a:off x="1404366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64" name="">
            <a:extLst xmlns:a="http://schemas.openxmlformats.org/drawingml/2006/main">
              <a:ext uri="{FF2B5EF4-FFF2-40B4-BE49-F238E27FC236}">
                <a16:creationId xmlns:a16="http://schemas.microsoft.com/office/drawing/2014/main" id="{AB5E20E6-FD2C-4EB8-9A38-01B2266C7BEE}"/>
              </a:ext>
            </a:extLst>
          </p:cNvPr>
          <p:cNvPicPr>
            <a:picLocks xmlns:a="http://schemas.openxmlformats.org/drawingml/2006/main" noChangeAspect="1"/>
          </p:cNvPicPr>
          <p:nvPr/>
        </p:nvPicPr>
        <p:blipFill>
          <a:blip xmlns:r="http://schemas.openxmlformats.org/officeDocument/2006/relationships" xmlns:a="http://schemas.openxmlformats.org/drawingml/2006/main" r:embed="Rc522a78bc2e84479">
            <a:extLst>
              <a:ext uri="{96DAC541-7B7A-43D3-8B79-37D633B846F1}">
                <asvg:svgBlip xmlns:asvg="http://schemas.microsoft.com/office/drawing/2016/SVG/main" r:embed="R3637f6fa808c46e7"/>
              </a:ext>
            </a:extLst>
          </a:blip>
          <a:stretch xmlns:a="http://schemas.openxmlformats.org/drawingml/2006/main"/>
        </p:blipFill>
        <p:spPr>
          <a:xfrm xmlns:a="http://schemas.openxmlformats.org/drawingml/2006/main">
            <a:off x="14180820" y="2987040"/>
            <a:ext cx="289560" cy="289560"/>
          </a:xfrm>
          <a:prstGeom xmlns:a="http://schemas.openxmlformats.org/drawingml/2006/main" prst="rect">
            <a:avLst/>
          </a:prstGeom>
        </p:spPr>
      </p:pic>
      <p:sp>
        <p:nvSpPr>
          <p:cNvPr id="65" name="Cells &amp; culture systems">
            <a:extLst xmlns:a="http://schemas.openxmlformats.org/drawingml/2006/main">
              <a:ext uri="{FF2B5EF4-FFF2-40B4-BE49-F238E27FC236}">
                <a16:creationId xmlns:a16="http://schemas.microsoft.com/office/drawing/2014/main" id="{B428326F-DAF8-4BA8-9D79-CCA77CAEC2C6}"/>
              </a:ext>
            </a:extLst>
          </p:cNvPr>
          <p:cNvSpPr>
            <a:spLocks xmlns:a="http://schemas.openxmlformats.org/drawingml/2006/main" noGrp="1"/>
          </p:cNvSpPr>
          <p:nvPr/>
        </p:nvSpPr>
        <p:spPr>
          <a:xfrm xmlns:a="http://schemas.openxmlformats.org/drawingml/2006/main">
            <a:off x="1460754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66" name="Cell models, media, feeds">
            <a:extLst xmlns:a="http://schemas.openxmlformats.org/drawingml/2006/main">
              <a:ext uri="{FF2B5EF4-FFF2-40B4-BE49-F238E27FC236}">
                <a16:creationId xmlns:a16="http://schemas.microsoft.com/office/drawing/2014/main" id="{7643540B-2F46-4EC3-B4C0-52C0E4288586}"/>
              </a:ext>
            </a:extLst>
          </p:cNvPr>
          <p:cNvSpPr>
            <a:spLocks xmlns:a="http://schemas.openxmlformats.org/drawingml/2006/main" noGrp="1"/>
          </p:cNvSpPr>
          <p:nvPr/>
        </p:nvSpPr>
        <p:spPr>
          <a:xfrm xmlns:a="http://schemas.openxmlformats.org/drawingml/2006/main">
            <a:off x="1419606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67" name="Source pending">
            <a:extLst xmlns:a="http://schemas.openxmlformats.org/drawingml/2006/main">
              <a:ext uri="{FF2B5EF4-FFF2-40B4-BE49-F238E27FC236}">
                <a16:creationId xmlns:a16="http://schemas.microsoft.com/office/drawing/2014/main" id="{BCEF9A56-A956-4BE3-84D6-A7D88266DDF7}"/>
              </a:ext>
            </a:extLst>
          </p:cNvPr>
          <p:cNvSpPr>
            <a:spLocks xmlns:a="http://schemas.openxmlformats.org/drawingml/2006/main" noGrp="1"/>
          </p:cNvSpPr>
          <p:nvPr/>
        </p:nvSpPr>
        <p:spPr>
          <a:xfrm xmlns:a="http://schemas.openxmlformats.org/drawingml/2006/main">
            <a:off x="1419606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68" name="China • 2024 • bioprocess media [3]">
            <a:extLst xmlns:a="http://schemas.openxmlformats.org/drawingml/2006/main">
              <a:ext uri="{FF2B5EF4-FFF2-40B4-BE49-F238E27FC236}">
                <a16:creationId xmlns:a16="http://schemas.microsoft.com/office/drawing/2014/main" id="{AA1B66AE-744B-4B01-9FE0-4DA1B57B96BC}"/>
              </a:ext>
            </a:extLst>
          </p:cNvPr>
          <p:cNvSpPr>
            <a:spLocks xmlns:a="http://schemas.openxmlformats.org/drawingml/2006/main" noGrp="1"/>
          </p:cNvSpPr>
          <p:nvPr/>
        </p:nvSpPr>
        <p:spPr>
          <a:xfrm xmlns:a="http://schemas.openxmlformats.org/drawingml/2006/main">
            <a:off x="1419606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69" name="Original filing unavailable; TAM withheld">
            <a:extLst xmlns:a="http://schemas.openxmlformats.org/drawingml/2006/main">
              <a:ext uri="{FF2B5EF4-FFF2-40B4-BE49-F238E27FC236}">
                <a16:creationId xmlns:a16="http://schemas.microsoft.com/office/drawing/2014/main" id="{A2D51D92-EE76-4441-A26C-77EDE259A7D6}"/>
              </a:ext>
            </a:extLst>
          </p:cNvPr>
          <p:cNvSpPr>
            <a:spLocks xmlns:a="http://schemas.openxmlformats.org/drawingml/2006/main" noGrp="1"/>
          </p:cNvSpPr>
          <p:nvPr/>
        </p:nvSpPr>
        <p:spPr>
          <a:xfrm xmlns:a="http://schemas.openxmlformats.org/drawingml/2006/main">
            <a:off x="1419606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sp>
        <p:nvSpPr>
          <p:cNvPr id="70" name="Gibco / HyClone">
            <a:extLst xmlns:a="http://schemas.openxmlformats.org/drawingml/2006/main">
              <a:ext uri="{FF2B5EF4-FFF2-40B4-BE49-F238E27FC236}">
                <a16:creationId xmlns:a16="http://schemas.microsoft.com/office/drawing/2014/main" id="{AF4E173C-1D2E-4587-9A34-8589060B1E86}"/>
              </a:ext>
            </a:extLst>
          </p:cNvPr>
          <p:cNvSpPr>
            <a:spLocks xmlns:a="http://schemas.openxmlformats.org/drawingml/2006/main" noGrp="1"/>
          </p:cNvSpPr>
          <p:nvPr/>
        </p:nvSpPr>
        <p:spPr>
          <a:xfrm xmlns:a="http://schemas.openxmlformats.org/drawingml/2006/main">
            <a:off x="14196060" y="4785360"/>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71" name="CHINA / HK LISTINGS">
            <a:extLst xmlns:a="http://schemas.openxmlformats.org/drawingml/2006/main">
              <a:ext uri="{FF2B5EF4-FFF2-40B4-BE49-F238E27FC236}">
                <a16:creationId xmlns:a16="http://schemas.microsoft.com/office/drawing/2014/main" id="{72E3ED06-F7BF-4D44-B5F7-CD249BD65895}"/>
              </a:ext>
            </a:extLst>
          </p:cNvPr>
          <p:cNvSpPr>
            <a:spLocks xmlns:a="http://schemas.openxmlformats.org/drawingml/2006/main" noGrp="1"/>
          </p:cNvSpPr>
          <p:nvPr/>
        </p:nvSpPr>
        <p:spPr>
          <a:xfrm xmlns:a="http://schemas.openxmlformats.org/drawingml/2006/main">
            <a:off x="1419606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72" name="US LISTINGS / PARENTS">
            <a:extLst xmlns:a="http://schemas.openxmlformats.org/drawingml/2006/main">
              <a:ext uri="{FF2B5EF4-FFF2-40B4-BE49-F238E27FC236}">
                <a16:creationId xmlns:a16="http://schemas.microsoft.com/office/drawing/2014/main" id="{5A388A9B-D379-4FC3-B7C1-C38918D78881}"/>
              </a:ext>
            </a:extLst>
          </p:cNvPr>
          <p:cNvSpPr>
            <a:spLocks xmlns:a="http://schemas.openxmlformats.org/drawingml/2006/main" noGrp="1"/>
          </p:cNvSpPr>
          <p:nvPr/>
        </p:nvSpPr>
        <p:spPr>
          <a:xfrm xmlns:a="http://schemas.openxmlformats.org/drawingml/2006/main">
            <a:off x="1583436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73" name="OPM · 688293.SH">
            <a:extLst xmlns:a="http://schemas.openxmlformats.org/drawingml/2006/main">
              <a:ext uri="{FF2B5EF4-FFF2-40B4-BE49-F238E27FC236}">
                <a16:creationId xmlns:a16="http://schemas.microsoft.com/office/drawing/2014/main" id="{50C9853D-E452-4B95-9242-E102B9246F2B}"/>
              </a:ext>
            </a:extLst>
          </p:cNvPr>
          <p:cNvSpPr>
            <a:spLocks xmlns:a="http://schemas.openxmlformats.org/drawingml/2006/main" noGrp="1"/>
          </p:cNvSpPr>
          <p:nvPr/>
        </p:nvSpPr>
        <p:spPr>
          <a:xfrm xmlns:a="http://schemas.openxmlformats.org/drawingml/2006/main">
            <a:off x="1419606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OPM · 688293.SH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74" name="Gibco / Thermo · TMO">
            <a:extLst xmlns:a="http://schemas.openxmlformats.org/drawingml/2006/main">
              <a:ext uri="{FF2B5EF4-FFF2-40B4-BE49-F238E27FC236}">
                <a16:creationId xmlns:a16="http://schemas.microsoft.com/office/drawing/2014/main" id="{541F8CD4-E4A8-4B40-9239-4736406696C3}"/>
              </a:ext>
            </a:extLst>
          </p:cNvPr>
          <p:cNvSpPr>
            <a:spLocks xmlns:a="http://schemas.openxmlformats.org/drawingml/2006/main" noGrp="1"/>
          </p:cNvSpPr>
          <p:nvPr/>
        </p:nvSpPr>
        <p:spPr>
          <a:xfrm xmlns:a="http://schemas.openxmlformats.org/drawingml/2006/main">
            <a:off x="1583436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Gibco / Thermo · TMO</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75" name="">
            <a:extLst xmlns:a="http://schemas.openxmlformats.org/drawingml/2006/main">
              <a:ext uri="{FF2B5EF4-FFF2-40B4-BE49-F238E27FC236}">
                <a16:creationId xmlns:a16="http://schemas.microsoft.com/office/drawing/2014/main" id="{4B21FAEE-EC0A-46E1-A141-70F8F8F94F6A}"/>
              </a:ext>
            </a:extLst>
          </p:cNvPr>
          <p:cNvSpPr>
            <a:spLocks xmlns:a="http://schemas.openxmlformats.org/drawingml/2006/main" noGrp="1"/>
          </p:cNvSpPr>
          <p:nvPr/>
        </p:nvSpPr>
        <p:spPr>
          <a:xfrm xmlns:a="http://schemas.openxmlformats.org/drawingml/2006/main">
            <a:off x="698754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76" name="">
            <a:extLst xmlns:a="http://schemas.openxmlformats.org/drawingml/2006/main">
              <a:ext uri="{FF2B5EF4-FFF2-40B4-BE49-F238E27FC236}">
                <a16:creationId xmlns:a16="http://schemas.microsoft.com/office/drawing/2014/main" id="{2BEFABC8-4261-4AB7-8505-06A6345387BF}"/>
              </a:ext>
            </a:extLst>
          </p:cNvPr>
          <p:cNvPicPr>
            <a:picLocks xmlns:a="http://schemas.openxmlformats.org/drawingml/2006/main" noChangeAspect="1"/>
          </p:cNvPicPr>
          <p:nvPr/>
        </p:nvPicPr>
        <p:blipFill>
          <a:blip xmlns:r="http://schemas.openxmlformats.org/officeDocument/2006/relationships" xmlns:a="http://schemas.openxmlformats.org/drawingml/2006/main" r:embed="R1cae263748384e3b">
            <a:extLst>
              <a:ext uri="{96DAC541-7B7A-43D3-8B79-37D633B846F1}">
                <asvg:svgBlip xmlns:asvg="http://schemas.microsoft.com/office/drawing/2016/SVG/main" r:embed="R46c17b7c94da4b75"/>
              </a:ext>
            </a:extLst>
          </a:blip>
          <a:stretch xmlns:a="http://schemas.openxmlformats.org/drawingml/2006/main"/>
        </p:blipFill>
        <p:spPr>
          <a:xfrm xmlns:a="http://schemas.openxmlformats.org/drawingml/2006/main">
            <a:off x="7124700" y="6164580"/>
            <a:ext cx="289560" cy="289560"/>
          </a:xfrm>
          <a:prstGeom xmlns:a="http://schemas.openxmlformats.org/drawingml/2006/main" prst="rect">
            <a:avLst/>
          </a:prstGeom>
        </p:spPr>
      </p:pic>
      <p:sp>
        <p:nvSpPr>
          <p:cNvPr id="77" name="Labware &amp; sample handling">
            <a:extLst xmlns:a="http://schemas.openxmlformats.org/drawingml/2006/main">
              <a:ext uri="{FF2B5EF4-FFF2-40B4-BE49-F238E27FC236}">
                <a16:creationId xmlns:a16="http://schemas.microsoft.com/office/drawing/2014/main" id="{A44D38EE-3683-4694-843D-0352A5210003}"/>
              </a:ext>
            </a:extLst>
          </p:cNvPr>
          <p:cNvSpPr>
            <a:spLocks xmlns:a="http://schemas.openxmlformats.org/drawingml/2006/main" noGrp="1"/>
          </p:cNvSpPr>
          <p:nvPr/>
        </p:nvSpPr>
        <p:spPr>
          <a:xfrm xmlns:a="http://schemas.openxmlformats.org/drawingml/2006/main">
            <a:off x="755142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78" name="Tips, plates, tubes, filtration">
            <a:extLst xmlns:a="http://schemas.openxmlformats.org/drawingml/2006/main">
              <a:ext uri="{FF2B5EF4-FFF2-40B4-BE49-F238E27FC236}">
                <a16:creationId xmlns:a16="http://schemas.microsoft.com/office/drawing/2014/main" id="{1A53DF28-450C-482E-8C75-3DAE6BBEC2D7}"/>
              </a:ext>
            </a:extLst>
          </p:cNvPr>
          <p:cNvSpPr>
            <a:spLocks xmlns:a="http://schemas.openxmlformats.org/drawingml/2006/main" noGrp="1"/>
          </p:cNvSpPr>
          <p:nvPr/>
        </p:nvSpPr>
        <p:spPr>
          <a:xfrm xmlns:a="http://schemas.openxmlformats.org/drawingml/2006/main">
            <a:off x="713994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79" name="~RMB 23bn">
            <a:extLst xmlns:a="http://schemas.openxmlformats.org/drawingml/2006/main">
              <a:ext uri="{FF2B5EF4-FFF2-40B4-BE49-F238E27FC236}">
                <a16:creationId xmlns:a16="http://schemas.microsoft.com/office/drawing/2014/main" id="{3549B8B1-9590-4EA4-B4DD-480275826B7D}"/>
              </a:ext>
            </a:extLst>
          </p:cNvPr>
          <p:cNvSpPr>
            <a:spLocks xmlns:a="http://schemas.openxmlformats.org/drawingml/2006/main" noGrp="1"/>
          </p:cNvSpPr>
          <p:nvPr/>
        </p:nvSpPr>
        <p:spPr>
          <a:xfrm xmlns:a="http://schemas.openxmlformats.org/drawingml/2006/main">
            <a:off x="713994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80" name="China • 2024 • plastic labware [4]">
            <a:extLst xmlns:a="http://schemas.openxmlformats.org/drawingml/2006/main">
              <a:ext uri="{FF2B5EF4-FFF2-40B4-BE49-F238E27FC236}">
                <a16:creationId xmlns:a16="http://schemas.microsoft.com/office/drawing/2014/main" id="{04642C90-4E99-4678-9B43-AB5DA2C6F942}"/>
              </a:ext>
            </a:extLst>
          </p:cNvPr>
          <p:cNvSpPr>
            <a:spLocks xmlns:a="http://schemas.openxmlformats.org/drawingml/2006/main" noGrp="1"/>
          </p:cNvSpPr>
          <p:nvPr/>
        </p:nvSpPr>
        <p:spPr>
          <a:xfrm xmlns:a="http://schemas.openxmlformats.org/drawingml/2006/main">
            <a:off x="713994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81" name="Includes clinical and industrial uses">
            <a:extLst xmlns:a="http://schemas.openxmlformats.org/drawingml/2006/main">
              <a:ext uri="{FF2B5EF4-FFF2-40B4-BE49-F238E27FC236}">
                <a16:creationId xmlns:a16="http://schemas.microsoft.com/office/drawing/2014/main" id="{C9C3E8A2-A1E0-4380-BFA5-1CBAFFE38755}"/>
              </a:ext>
            </a:extLst>
          </p:cNvPr>
          <p:cNvSpPr>
            <a:spLocks xmlns:a="http://schemas.openxmlformats.org/drawingml/2006/main" noGrp="1"/>
          </p:cNvSpPr>
          <p:nvPr/>
        </p:nvSpPr>
        <p:spPr>
          <a:xfrm xmlns:a="http://schemas.openxmlformats.org/drawingml/2006/main">
            <a:off x="713994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pic>
        <p:nvPicPr>
          <p:cNvPr id="82" name="">
            <a:extLst xmlns:a="http://schemas.openxmlformats.org/drawingml/2006/main">
              <a:ext uri="{FF2B5EF4-FFF2-40B4-BE49-F238E27FC236}">
                <a16:creationId xmlns:a16="http://schemas.microsoft.com/office/drawing/2014/main" id="{20127409-CCE3-4136-9063-AA741BECB440}"/>
              </a:ext>
            </a:extLst>
          </p:cNvPr>
          <p:cNvPicPr>
            <a:picLocks xmlns:a="http://schemas.openxmlformats.org/drawingml/2006/main" noChangeAspect="1"/>
          </p:cNvPicPr>
          <p:nvPr/>
        </p:nvPicPr>
        <p:blipFill>
          <a:blip xmlns:r="http://schemas.openxmlformats.org/officeDocument/2006/relationships" xmlns:a="http://schemas.openxmlformats.org/drawingml/2006/main" r:embed="R6d9e81001cb84cdf"/>
          <a:stretch xmlns:a="http://schemas.openxmlformats.org/drawingml/2006/main"/>
        </p:blipFill>
        <p:spPr>
          <a:xfrm xmlns:a="http://schemas.openxmlformats.org/drawingml/2006/main">
            <a:off x="7349490" y="7879080"/>
            <a:ext cx="670560" cy="335280"/>
          </a:xfrm>
          <a:prstGeom xmlns:a="http://schemas.openxmlformats.org/drawingml/2006/main" prst="rect">
            <a:avLst/>
          </a:prstGeom>
        </p:spPr>
      </p:pic>
      <p:pic>
        <p:nvPicPr>
          <p:cNvPr id="83" name="">
            <a:extLst xmlns:a="http://schemas.openxmlformats.org/drawingml/2006/main">
              <a:ext uri="{FF2B5EF4-FFF2-40B4-BE49-F238E27FC236}">
                <a16:creationId xmlns:a16="http://schemas.microsoft.com/office/drawing/2014/main" id="{F323F28F-D1C6-4576-A1CD-CE00D87694D6}"/>
              </a:ext>
            </a:extLst>
          </p:cNvPr>
          <p:cNvPicPr>
            <a:picLocks xmlns:a="http://schemas.openxmlformats.org/drawingml/2006/main" noChangeAspect="1"/>
          </p:cNvPicPr>
          <p:nvPr/>
        </p:nvPicPr>
        <p:blipFill>
          <a:blip xmlns:r="http://schemas.openxmlformats.org/officeDocument/2006/relationships" xmlns:a="http://schemas.openxmlformats.org/drawingml/2006/main" r:embed="R8dcbc7b19f864e0f">
            <a:extLst>
              <a:ext uri="{96DAC541-7B7A-43D3-8B79-37D633B846F1}">
                <asvg:svgBlip xmlns:asvg="http://schemas.microsoft.com/office/drawing/2016/SVG/main" r:embed="R311bdbc056c446ed"/>
              </a:ext>
            </a:extLst>
          </a:blip>
          <a:stretch xmlns:a="http://schemas.openxmlformats.org/drawingml/2006/main"/>
        </p:blipFill>
        <p:spPr>
          <a:xfrm xmlns:a="http://schemas.openxmlformats.org/drawingml/2006/main">
            <a:off x="8763000" y="7879080"/>
            <a:ext cx="800100" cy="335280"/>
          </a:xfrm>
          <a:prstGeom xmlns:a="http://schemas.openxmlformats.org/drawingml/2006/main" prst="rect">
            <a:avLst/>
          </a:prstGeom>
        </p:spPr>
      </p:pic>
      <p:sp>
        <p:nvSpPr>
          <p:cNvPr id="84" name="CHINA / HK LISTINGS">
            <a:extLst xmlns:a="http://schemas.openxmlformats.org/drawingml/2006/main">
              <a:ext uri="{FF2B5EF4-FFF2-40B4-BE49-F238E27FC236}">
                <a16:creationId xmlns:a16="http://schemas.microsoft.com/office/drawing/2014/main" id="{D4C5307B-1ABA-4A88-98CB-C599D4E32F0E}"/>
              </a:ext>
            </a:extLst>
          </p:cNvPr>
          <p:cNvSpPr>
            <a:spLocks xmlns:a="http://schemas.openxmlformats.org/drawingml/2006/main" noGrp="1"/>
          </p:cNvSpPr>
          <p:nvPr/>
        </p:nvSpPr>
        <p:spPr>
          <a:xfrm xmlns:a="http://schemas.openxmlformats.org/drawingml/2006/main">
            <a:off x="713994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5" name="US LISTINGS / PARENTS">
            <a:extLst xmlns:a="http://schemas.openxmlformats.org/drawingml/2006/main">
              <a:ext uri="{FF2B5EF4-FFF2-40B4-BE49-F238E27FC236}">
                <a16:creationId xmlns:a16="http://schemas.microsoft.com/office/drawing/2014/main" id="{E40E6EE3-BEEA-402E-9D6F-A94B801567CA}"/>
              </a:ext>
            </a:extLst>
          </p:cNvPr>
          <p:cNvSpPr>
            <a:spLocks xmlns:a="http://schemas.openxmlformats.org/drawingml/2006/main" noGrp="1"/>
          </p:cNvSpPr>
          <p:nvPr/>
        </p:nvSpPr>
        <p:spPr>
          <a:xfrm xmlns:a="http://schemas.openxmlformats.org/drawingml/2006/main">
            <a:off x="877824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6" name="JET Biofil · 688026.SH">
            <a:extLst xmlns:a="http://schemas.openxmlformats.org/drawingml/2006/main">
              <a:ext uri="{FF2B5EF4-FFF2-40B4-BE49-F238E27FC236}">
                <a16:creationId xmlns:a16="http://schemas.microsoft.com/office/drawing/2014/main" id="{3054008D-5A6B-4FDE-B854-F81E111B629F}"/>
              </a:ext>
            </a:extLst>
          </p:cNvPr>
          <p:cNvSpPr>
            <a:spLocks xmlns:a="http://schemas.openxmlformats.org/drawingml/2006/main" noGrp="1"/>
          </p:cNvSpPr>
          <p:nvPr/>
        </p:nvSpPr>
        <p:spPr>
          <a:xfrm xmlns:a="http://schemas.openxmlformats.org/drawingml/2006/main">
            <a:off x="713994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87" name="Corning · GLW">
            <a:extLst xmlns:a="http://schemas.openxmlformats.org/drawingml/2006/main">
              <a:ext uri="{FF2B5EF4-FFF2-40B4-BE49-F238E27FC236}">
                <a16:creationId xmlns:a16="http://schemas.microsoft.com/office/drawing/2014/main" id="{C08265A3-3FAE-4419-BBAF-FC73018A58B5}"/>
              </a:ext>
            </a:extLst>
          </p:cNvPr>
          <p:cNvSpPr>
            <a:spLocks xmlns:a="http://schemas.openxmlformats.org/drawingml/2006/main" noGrp="1"/>
          </p:cNvSpPr>
          <p:nvPr/>
        </p:nvSpPr>
        <p:spPr>
          <a:xfrm xmlns:a="http://schemas.openxmlformats.org/drawingml/2006/main">
            <a:off x="877824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Corning · GLW</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88" name="">
            <a:extLst xmlns:a="http://schemas.openxmlformats.org/drawingml/2006/main">
              <a:ext uri="{FF2B5EF4-FFF2-40B4-BE49-F238E27FC236}">
                <a16:creationId xmlns:a16="http://schemas.microsoft.com/office/drawing/2014/main" id="{656BBA24-0AA1-4ABB-BD26-06410542DBE0}"/>
              </a:ext>
            </a:extLst>
          </p:cNvPr>
          <p:cNvSpPr>
            <a:spLocks xmlns:a="http://schemas.openxmlformats.org/drawingml/2006/main" noGrp="1"/>
          </p:cNvSpPr>
          <p:nvPr/>
        </p:nvSpPr>
        <p:spPr>
          <a:xfrm xmlns:a="http://schemas.openxmlformats.org/drawingml/2006/main">
            <a:off x="1051560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89" name="">
            <a:extLst xmlns:a="http://schemas.openxmlformats.org/drawingml/2006/main">
              <a:ext uri="{FF2B5EF4-FFF2-40B4-BE49-F238E27FC236}">
                <a16:creationId xmlns:a16="http://schemas.microsoft.com/office/drawing/2014/main" id="{4F96AD71-83F1-4174-9149-08DC799B5F3F}"/>
              </a:ext>
            </a:extLst>
          </p:cNvPr>
          <p:cNvPicPr>
            <a:picLocks xmlns:a="http://schemas.openxmlformats.org/drawingml/2006/main" noChangeAspect="1"/>
          </p:cNvPicPr>
          <p:nvPr/>
        </p:nvPicPr>
        <p:blipFill>
          <a:blip xmlns:r="http://schemas.openxmlformats.org/officeDocument/2006/relationships" xmlns:a="http://schemas.openxmlformats.org/drawingml/2006/main" r:embed="R93cc8f64e3c24207">
            <a:extLst>
              <a:ext uri="{96DAC541-7B7A-43D3-8B79-37D633B846F1}">
                <asvg:svgBlip xmlns:asvg="http://schemas.microsoft.com/office/drawing/2016/SVG/main" r:embed="R2a0819d812be4fa9"/>
              </a:ext>
            </a:extLst>
          </a:blip>
          <a:stretch xmlns:a="http://schemas.openxmlformats.org/drawingml/2006/main"/>
        </p:blipFill>
        <p:spPr>
          <a:xfrm xmlns:a="http://schemas.openxmlformats.org/drawingml/2006/main">
            <a:off x="10652760" y="6164580"/>
            <a:ext cx="289560" cy="289560"/>
          </a:xfrm>
          <a:prstGeom xmlns:a="http://schemas.openxmlformats.org/drawingml/2006/main" prst="rect">
            <a:avLst/>
          </a:prstGeom>
        </p:spPr>
      </p:pic>
      <p:sp>
        <p:nvSpPr>
          <p:cNvPr id="90" name="Measurement &amp; analytics">
            <a:extLst xmlns:a="http://schemas.openxmlformats.org/drawingml/2006/main">
              <a:ext uri="{FF2B5EF4-FFF2-40B4-BE49-F238E27FC236}">
                <a16:creationId xmlns:a16="http://schemas.microsoft.com/office/drawing/2014/main" id="{884E2DF6-122F-4FFE-A109-7808D183E49C}"/>
              </a:ext>
            </a:extLst>
          </p:cNvPr>
          <p:cNvSpPr>
            <a:spLocks xmlns:a="http://schemas.openxmlformats.org/drawingml/2006/main" noGrp="1"/>
          </p:cNvSpPr>
          <p:nvPr/>
        </p:nvSpPr>
        <p:spPr>
          <a:xfrm xmlns:a="http://schemas.openxmlformats.org/drawingml/2006/main">
            <a:off x="1107948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91" name="Sequencing, LC / LC-MS, flow">
            <a:extLst xmlns:a="http://schemas.openxmlformats.org/drawingml/2006/main">
              <a:ext uri="{FF2B5EF4-FFF2-40B4-BE49-F238E27FC236}">
                <a16:creationId xmlns:a16="http://schemas.microsoft.com/office/drawing/2014/main" id="{97477B8B-C6D4-438B-856F-81643FDC92A9}"/>
              </a:ext>
            </a:extLst>
          </p:cNvPr>
          <p:cNvSpPr>
            <a:spLocks xmlns:a="http://schemas.openxmlformats.org/drawingml/2006/main" noGrp="1"/>
          </p:cNvSpPr>
          <p:nvPr/>
        </p:nvSpPr>
        <p:spPr>
          <a:xfrm xmlns:a="http://schemas.openxmlformats.org/drawingml/2006/main">
            <a:off x="1066800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92" name="RMB 4.3bn">
            <a:extLst xmlns:a="http://schemas.openxmlformats.org/drawingml/2006/main">
              <a:ext uri="{FF2B5EF4-FFF2-40B4-BE49-F238E27FC236}">
                <a16:creationId xmlns:a16="http://schemas.microsoft.com/office/drawing/2014/main" id="{78793B75-84B7-450C-A273-7034E0A4EA65}"/>
              </a:ext>
            </a:extLst>
          </p:cNvPr>
          <p:cNvSpPr>
            <a:spLocks xmlns:a="http://schemas.openxmlformats.org/drawingml/2006/main" noGrp="1"/>
          </p:cNvSpPr>
          <p:nvPr/>
        </p:nvSpPr>
        <p:spPr>
          <a:xfrm xmlns:a="http://schemas.openxmlformats.org/drawingml/2006/main">
            <a:off x="1066800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93" name="China • 2024 • sequencing tools [5]">
            <a:extLst xmlns:a="http://schemas.openxmlformats.org/drawingml/2006/main">
              <a:ext uri="{FF2B5EF4-FFF2-40B4-BE49-F238E27FC236}">
                <a16:creationId xmlns:a16="http://schemas.microsoft.com/office/drawing/2014/main" id="{E82D8D0D-4C6E-450F-9CDA-8A6375E6079B}"/>
              </a:ext>
            </a:extLst>
          </p:cNvPr>
          <p:cNvSpPr>
            <a:spLocks xmlns:a="http://schemas.openxmlformats.org/drawingml/2006/main" noGrp="1"/>
          </p:cNvSpPr>
          <p:nvPr/>
        </p:nvSpPr>
        <p:spPr>
          <a:xfrm xmlns:a="http://schemas.openxmlformats.org/drawingml/2006/main">
            <a:off x="1066800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94" name="Sequencing subset; 2024 policy baseline">
            <a:extLst xmlns:a="http://schemas.openxmlformats.org/drawingml/2006/main">
              <a:ext uri="{FF2B5EF4-FFF2-40B4-BE49-F238E27FC236}">
                <a16:creationId xmlns:a16="http://schemas.microsoft.com/office/drawing/2014/main" id="{E7B93377-7320-4271-AEC1-34DDFB7B7536}"/>
              </a:ext>
            </a:extLst>
          </p:cNvPr>
          <p:cNvSpPr>
            <a:spLocks xmlns:a="http://schemas.openxmlformats.org/drawingml/2006/main" noGrp="1"/>
          </p:cNvSpPr>
          <p:nvPr/>
        </p:nvSpPr>
        <p:spPr>
          <a:xfrm xmlns:a="http://schemas.openxmlformats.org/drawingml/2006/main">
            <a:off x="1066800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Sequencing subset; 2024 policy baseline</a:t>
            </a:r>
          </a:p>
        </p:txBody>
      </p:sp>
      <p:pic>
        <p:nvPicPr>
          <p:cNvPr id="95" name="">
            <a:extLst xmlns:a="http://schemas.openxmlformats.org/drawingml/2006/main">
              <a:ext uri="{FF2B5EF4-FFF2-40B4-BE49-F238E27FC236}">
                <a16:creationId xmlns:a16="http://schemas.microsoft.com/office/drawing/2014/main" id="{6CDB5904-75B0-4E22-81B9-6EE97F35B1CC}"/>
              </a:ext>
            </a:extLst>
          </p:cNvPr>
          <p:cNvPicPr>
            <a:picLocks xmlns:a="http://schemas.openxmlformats.org/drawingml/2006/main" noChangeAspect="1"/>
          </p:cNvPicPr>
          <p:nvPr/>
        </p:nvPicPr>
        <p:blipFill>
          <a:blip xmlns:r="http://schemas.openxmlformats.org/officeDocument/2006/relationships" xmlns:a="http://schemas.openxmlformats.org/drawingml/2006/main" r:embed="R0eb71b5b80824800"/>
          <a:stretch xmlns:a="http://schemas.openxmlformats.org/drawingml/2006/main"/>
        </p:blipFill>
        <p:spPr>
          <a:xfrm xmlns:a="http://schemas.openxmlformats.org/drawingml/2006/main">
            <a:off x="10668000" y="7936122"/>
            <a:ext cx="769620" cy="244055"/>
          </a:xfrm>
          <a:prstGeom xmlns:a="http://schemas.openxmlformats.org/drawingml/2006/main" prst="rect">
            <a:avLst/>
          </a:prstGeom>
        </p:spPr>
      </p:pic>
      <p:sp>
        <p:nvSpPr>
          <p:cNvPr id="96" name="BD flow → WAT†">
            <a:extLst xmlns:a="http://schemas.openxmlformats.org/drawingml/2006/main">
              <a:ext uri="{FF2B5EF4-FFF2-40B4-BE49-F238E27FC236}">
                <a16:creationId xmlns:a16="http://schemas.microsoft.com/office/drawing/2014/main" id="{34D70078-632B-4617-A64B-9EFDD0C8DC06}"/>
              </a:ext>
            </a:extLst>
          </p:cNvPr>
          <p:cNvSpPr>
            <a:spLocks xmlns:a="http://schemas.openxmlformats.org/drawingml/2006/main" noGrp="1"/>
          </p:cNvSpPr>
          <p:nvPr/>
        </p:nvSpPr>
        <p:spPr>
          <a:xfrm xmlns:a="http://schemas.openxmlformats.org/drawingml/2006/main">
            <a:off x="11765280" y="7985760"/>
            <a:ext cx="17907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97" name="CHINA / HK LISTINGS">
            <a:extLst xmlns:a="http://schemas.openxmlformats.org/drawingml/2006/main">
              <a:ext uri="{FF2B5EF4-FFF2-40B4-BE49-F238E27FC236}">
                <a16:creationId xmlns:a16="http://schemas.microsoft.com/office/drawing/2014/main" id="{61E83EA7-2241-489D-B2C4-5801F21E44A1}"/>
              </a:ext>
            </a:extLst>
          </p:cNvPr>
          <p:cNvSpPr>
            <a:spLocks xmlns:a="http://schemas.openxmlformats.org/drawingml/2006/main" noGrp="1"/>
          </p:cNvSpPr>
          <p:nvPr/>
        </p:nvSpPr>
        <p:spPr>
          <a:xfrm xmlns:a="http://schemas.openxmlformats.org/drawingml/2006/main">
            <a:off x="1066800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8" name="US LISTINGS / PARENTS">
            <a:extLst xmlns:a="http://schemas.openxmlformats.org/drawingml/2006/main">
              <a:ext uri="{FF2B5EF4-FFF2-40B4-BE49-F238E27FC236}">
                <a16:creationId xmlns:a16="http://schemas.microsoft.com/office/drawing/2014/main" id="{B991CFDF-3140-430C-AEC4-E7E598B22192}"/>
              </a:ext>
            </a:extLst>
          </p:cNvPr>
          <p:cNvSpPr>
            <a:spLocks xmlns:a="http://schemas.openxmlformats.org/drawingml/2006/main" noGrp="1"/>
          </p:cNvSpPr>
          <p:nvPr/>
        </p:nvSpPr>
        <p:spPr>
          <a:xfrm xmlns:a="http://schemas.openxmlformats.org/drawingml/2006/main">
            <a:off x="1230630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99" name="MGI · 688114.SH">
            <a:extLst xmlns:a="http://schemas.openxmlformats.org/drawingml/2006/main">
              <a:ext uri="{FF2B5EF4-FFF2-40B4-BE49-F238E27FC236}">
                <a16:creationId xmlns:a16="http://schemas.microsoft.com/office/drawing/2014/main" id="{D032DFF1-248E-4BDA-BF28-7A1456FF674F}"/>
              </a:ext>
            </a:extLst>
          </p:cNvPr>
          <p:cNvSpPr>
            <a:spLocks xmlns:a="http://schemas.openxmlformats.org/drawingml/2006/main" noGrp="1"/>
          </p:cNvSpPr>
          <p:nvPr/>
        </p:nvSpPr>
        <p:spPr>
          <a:xfrm xmlns:a="http://schemas.openxmlformats.org/drawingml/2006/main">
            <a:off x="1066800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MGI · 688114.SH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100" name="Illumina · ILMN">
            <a:extLst xmlns:a="http://schemas.openxmlformats.org/drawingml/2006/main">
              <a:ext uri="{FF2B5EF4-FFF2-40B4-BE49-F238E27FC236}">
                <a16:creationId xmlns:a16="http://schemas.microsoft.com/office/drawing/2014/main" id="{A89D1D39-E881-4EF6-8FB2-A77D81DB5A8B}"/>
              </a:ext>
            </a:extLst>
          </p:cNvPr>
          <p:cNvSpPr>
            <a:spLocks xmlns:a="http://schemas.openxmlformats.org/drawingml/2006/main" noGrp="1"/>
          </p:cNvSpPr>
          <p:nvPr/>
        </p:nvSpPr>
        <p:spPr>
          <a:xfrm xmlns:a="http://schemas.openxmlformats.org/drawingml/2006/main">
            <a:off x="1230630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Illumina · ILMN</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Agilent · A</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101" name="">
            <a:extLst xmlns:a="http://schemas.openxmlformats.org/drawingml/2006/main">
              <a:ext uri="{FF2B5EF4-FFF2-40B4-BE49-F238E27FC236}">
                <a16:creationId xmlns:a16="http://schemas.microsoft.com/office/drawing/2014/main" id="{F570786C-8161-4D96-BA71-42C02079E3DD}"/>
              </a:ext>
            </a:extLst>
          </p:cNvPr>
          <p:cNvSpPr>
            <a:spLocks xmlns:a="http://schemas.openxmlformats.org/drawingml/2006/main" noGrp="1"/>
          </p:cNvSpPr>
          <p:nvPr/>
        </p:nvSpPr>
        <p:spPr>
          <a:xfrm xmlns:a="http://schemas.openxmlformats.org/drawingml/2006/main">
            <a:off x="1404366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102" name="">
            <a:extLst xmlns:a="http://schemas.openxmlformats.org/drawingml/2006/main">
              <a:ext uri="{FF2B5EF4-FFF2-40B4-BE49-F238E27FC236}">
                <a16:creationId xmlns:a16="http://schemas.microsoft.com/office/drawing/2014/main" id="{6815C1A4-AAE7-4265-9C27-2E5AB99995EC}"/>
              </a:ext>
            </a:extLst>
          </p:cNvPr>
          <p:cNvPicPr>
            <a:picLocks xmlns:a="http://schemas.openxmlformats.org/drawingml/2006/main" noChangeAspect="1"/>
          </p:cNvPicPr>
          <p:nvPr/>
        </p:nvPicPr>
        <p:blipFill>
          <a:blip xmlns:r="http://schemas.openxmlformats.org/officeDocument/2006/relationships" xmlns:a="http://schemas.openxmlformats.org/drawingml/2006/main" r:embed="Rd55a40e453c54854">
            <a:extLst>
              <a:ext uri="{96DAC541-7B7A-43D3-8B79-37D633B846F1}">
                <asvg:svgBlip xmlns:asvg="http://schemas.microsoft.com/office/drawing/2016/SVG/main" r:embed="Rbc7097d793d54044"/>
              </a:ext>
            </a:extLst>
          </a:blip>
          <a:stretch xmlns:a="http://schemas.openxmlformats.org/drawingml/2006/main"/>
        </p:blipFill>
        <p:spPr>
          <a:xfrm xmlns:a="http://schemas.openxmlformats.org/drawingml/2006/main">
            <a:off x="14180820" y="6164580"/>
            <a:ext cx="289560" cy="289560"/>
          </a:xfrm>
          <a:prstGeom xmlns:a="http://schemas.openxmlformats.org/drawingml/2006/main" prst="rect">
            <a:avLst/>
          </a:prstGeom>
        </p:spPr>
      </p:pic>
      <p:sp>
        <p:nvSpPr>
          <p:cNvPr id="103" name="Purification &amp; scale-up">
            <a:extLst xmlns:a="http://schemas.openxmlformats.org/drawingml/2006/main">
              <a:ext uri="{FF2B5EF4-FFF2-40B4-BE49-F238E27FC236}">
                <a16:creationId xmlns:a16="http://schemas.microsoft.com/office/drawing/2014/main" id="{5E61B309-8E40-4CB1-BE87-5E024587C4E5}"/>
              </a:ext>
            </a:extLst>
          </p:cNvPr>
          <p:cNvSpPr>
            <a:spLocks xmlns:a="http://schemas.openxmlformats.org/drawingml/2006/main" noGrp="1"/>
          </p:cNvSpPr>
          <p:nvPr/>
        </p:nvSpPr>
        <p:spPr>
          <a:xfrm xmlns:a="http://schemas.openxmlformats.org/drawingml/2006/main">
            <a:off x="1460754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104" name="Analytical columns, process resins">
            <a:extLst xmlns:a="http://schemas.openxmlformats.org/drawingml/2006/main">
              <a:ext uri="{FF2B5EF4-FFF2-40B4-BE49-F238E27FC236}">
                <a16:creationId xmlns:a16="http://schemas.microsoft.com/office/drawing/2014/main" id="{5D115580-E300-4A75-9FFA-6BB277D82ADF}"/>
              </a:ext>
            </a:extLst>
          </p:cNvPr>
          <p:cNvSpPr>
            <a:spLocks xmlns:a="http://schemas.openxmlformats.org/drawingml/2006/main" noGrp="1"/>
          </p:cNvSpPr>
          <p:nvPr/>
        </p:nvSpPr>
        <p:spPr>
          <a:xfrm xmlns:a="http://schemas.openxmlformats.org/drawingml/2006/main">
            <a:off x="1419606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105" name="Source pending">
            <a:extLst xmlns:a="http://schemas.openxmlformats.org/drawingml/2006/main">
              <a:ext uri="{FF2B5EF4-FFF2-40B4-BE49-F238E27FC236}">
                <a16:creationId xmlns:a16="http://schemas.microsoft.com/office/drawing/2014/main" id="{8B067F9B-C8B8-4283-8E64-06469B5ABB8C}"/>
              </a:ext>
            </a:extLst>
          </p:cNvPr>
          <p:cNvSpPr>
            <a:spLocks xmlns:a="http://schemas.openxmlformats.org/drawingml/2006/main" noGrp="1"/>
          </p:cNvSpPr>
          <p:nvPr/>
        </p:nvSpPr>
        <p:spPr>
          <a:xfrm xmlns:a="http://schemas.openxmlformats.org/drawingml/2006/main">
            <a:off x="1419606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106" name="China • 2024 • bioprocess resins [3]">
            <a:extLst xmlns:a="http://schemas.openxmlformats.org/drawingml/2006/main">
              <a:ext uri="{FF2B5EF4-FFF2-40B4-BE49-F238E27FC236}">
                <a16:creationId xmlns:a16="http://schemas.microsoft.com/office/drawing/2014/main" id="{C5AFD67A-A5C5-4AA2-977B-8099E8EFF4CD}"/>
              </a:ext>
            </a:extLst>
          </p:cNvPr>
          <p:cNvSpPr>
            <a:spLocks xmlns:a="http://schemas.openxmlformats.org/drawingml/2006/main" noGrp="1"/>
          </p:cNvSpPr>
          <p:nvPr/>
        </p:nvSpPr>
        <p:spPr>
          <a:xfrm xmlns:a="http://schemas.openxmlformats.org/drawingml/2006/main">
            <a:off x="1419606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107" name="Original filing unavailable; TAM withheld">
            <a:extLst xmlns:a="http://schemas.openxmlformats.org/drawingml/2006/main">
              <a:ext uri="{FF2B5EF4-FFF2-40B4-BE49-F238E27FC236}">
                <a16:creationId xmlns:a16="http://schemas.microsoft.com/office/drawing/2014/main" id="{2A8F91A5-67B9-4F2A-BF63-544EE6937AB6}"/>
              </a:ext>
            </a:extLst>
          </p:cNvPr>
          <p:cNvSpPr>
            <a:spLocks xmlns:a="http://schemas.openxmlformats.org/drawingml/2006/main" noGrp="1"/>
          </p:cNvSpPr>
          <p:nvPr/>
        </p:nvSpPr>
        <p:spPr>
          <a:xfrm xmlns:a="http://schemas.openxmlformats.org/drawingml/2006/main">
            <a:off x="1419606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pic>
        <p:nvPicPr>
          <p:cNvPr id="108" name="">
            <a:extLst xmlns:a="http://schemas.openxmlformats.org/drawingml/2006/main">
              <a:ext uri="{FF2B5EF4-FFF2-40B4-BE49-F238E27FC236}">
                <a16:creationId xmlns:a16="http://schemas.microsoft.com/office/drawing/2014/main" id="{E5E0110E-66D8-47B5-B598-5A8712CB35A0}"/>
              </a:ext>
            </a:extLst>
          </p:cNvPr>
          <p:cNvPicPr>
            <a:picLocks xmlns:a="http://schemas.openxmlformats.org/drawingml/2006/main" noChangeAspect="1"/>
          </p:cNvPicPr>
          <p:nvPr/>
        </p:nvPicPr>
        <p:blipFill>
          <a:blip xmlns:r="http://schemas.openxmlformats.org/officeDocument/2006/relationships" xmlns:a="http://schemas.openxmlformats.org/drawingml/2006/main" r:embed="R912889c5fa4a4775">
            <a:extLst>
              <a:ext uri="{96DAC541-7B7A-43D3-8B79-37D633B846F1}">
                <asvg:svgBlip xmlns:asvg="http://schemas.microsoft.com/office/drawing/2016/SVG/main" r:embed="R9f8248b72f884855"/>
              </a:ext>
            </a:extLst>
          </a:blip>
          <a:stretch xmlns:a="http://schemas.openxmlformats.org/drawingml/2006/main"/>
        </p:blipFill>
        <p:spPr>
          <a:xfrm xmlns:a="http://schemas.openxmlformats.org/drawingml/2006/main">
            <a:off x="14196060" y="7917180"/>
            <a:ext cx="281940" cy="281940"/>
          </a:xfrm>
          <a:prstGeom xmlns:a="http://schemas.openxmlformats.org/drawingml/2006/main" prst="rect">
            <a:avLst/>
          </a:prstGeom>
        </p:spPr>
      </p:pic>
      <p:sp>
        <p:nvSpPr>
          <p:cNvPr id="109" name="NanoMicro">
            <a:extLst xmlns:a="http://schemas.openxmlformats.org/drawingml/2006/main">
              <a:ext uri="{FF2B5EF4-FFF2-40B4-BE49-F238E27FC236}">
                <a16:creationId xmlns:a16="http://schemas.microsoft.com/office/drawing/2014/main" id="{54629FFE-F185-4507-8546-D3C4C0DCFAF3}"/>
              </a:ext>
            </a:extLst>
          </p:cNvPr>
          <p:cNvSpPr>
            <a:spLocks xmlns:a="http://schemas.openxmlformats.org/drawingml/2006/main" noGrp="1"/>
          </p:cNvSpPr>
          <p:nvPr/>
        </p:nvSpPr>
        <p:spPr>
          <a:xfrm xmlns:a="http://schemas.openxmlformats.org/drawingml/2006/main">
            <a:off x="14546580" y="7970520"/>
            <a:ext cx="120396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pic>
        <p:nvPicPr>
          <p:cNvPr id="110" name="">
            <a:extLst xmlns:a="http://schemas.openxmlformats.org/drawingml/2006/main">
              <a:ext uri="{FF2B5EF4-FFF2-40B4-BE49-F238E27FC236}">
                <a16:creationId xmlns:a16="http://schemas.microsoft.com/office/drawing/2014/main" id="{60E40603-56E1-4C9A-AA1D-EFC6BD9C03AB}"/>
              </a:ext>
            </a:extLst>
          </p:cNvPr>
          <p:cNvPicPr>
            <a:picLocks xmlns:a="http://schemas.openxmlformats.org/drawingml/2006/main" noChangeAspect="1"/>
          </p:cNvPicPr>
          <p:nvPr/>
        </p:nvPicPr>
        <p:blipFill>
          <a:blip xmlns:r="http://schemas.openxmlformats.org/officeDocument/2006/relationships" xmlns:a="http://schemas.openxmlformats.org/drawingml/2006/main" r:embed="R938c773689ea457d"/>
          <a:stretch xmlns:a="http://schemas.openxmlformats.org/drawingml/2006/main"/>
        </p:blipFill>
        <p:spPr>
          <a:xfrm xmlns:a="http://schemas.openxmlformats.org/drawingml/2006/main">
            <a:off x="15949686" y="7932420"/>
            <a:ext cx="1041887" cy="289560"/>
          </a:xfrm>
          <a:prstGeom xmlns:a="http://schemas.openxmlformats.org/drawingml/2006/main" prst="rect">
            <a:avLst/>
          </a:prstGeom>
        </p:spPr>
      </p:pic>
      <p:sp>
        <p:nvSpPr>
          <p:cNvPr id="111" name="CHINA / HK LISTINGS">
            <a:extLst xmlns:a="http://schemas.openxmlformats.org/drawingml/2006/main">
              <a:ext uri="{FF2B5EF4-FFF2-40B4-BE49-F238E27FC236}">
                <a16:creationId xmlns:a16="http://schemas.microsoft.com/office/drawing/2014/main" id="{1D657D2A-D4D2-4233-A96C-D3EAE8FBBBA9}"/>
              </a:ext>
            </a:extLst>
          </p:cNvPr>
          <p:cNvSpPr>
            <a:spLocks xmlns:a="http://schemas.openxmlformats.org/drawingml/2006/main" noGrp="1"/>
          </p:cNvSpPr>
          <p:nvPr/>
        </p:nvSpPr>
        <p:spPr>
          <a:xfrm xmlns:a="http://schemas.openxmlformats.org/drawingml/2006/main">
            <a:off x="1419606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112" name="US LISTINGS / PARENTS">
            <a:extLst xmlns:a="http://schemas.openxmlformats.org/drawingml/2006/main">
              <a:ext uri="{FF2B5EF4-FFF2-40B4-BE49-F238E27FC236}">
                <a16:creationId xmlns:a16="http://schemas.microsoft.com/office/drawing/2014/main" id="{4F039E53-3587-422B-9AE2-1D40F2887A4C}"/>
              </a:ext>
            </a:extLst>
          </p:cNvPr>
          <p:cNvSpPr>
            <a:spLocks xmlns:a="http://schemas.openxmlformats.org/drawingml/2006/main" noGrp="1"/>
          </p:cNvSpPr>
          <p:nvPr/>
        </p:nvSpPr>
        <p:spPr>
          <a:xfrm xmlns:a="http://schemas.openxmlformats.org/drawingml/2006/main">
            <a:off x="1583436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113" name="NanoMicro · 688690.SH">
            <a:extLst xmlns:a="http://schemas.openxmlformats.org/drawingml/2006/main">
              <a:ext uri="{FF2B5EF4-FFF2-40B4-BE49-F238E27FC236}">
                <a16:creationId xmlns:a16="http://schemas.microsoft.com/office/drawing/2014/main" id="{34969D6E-D165-4941-AD09-448F0BD9AF9C}"/>
              </a:ext>
            </a:extLst>
          </p:cNvPr>
          <p:cNvSpPr>
            <a:spLocks xmlns:a="http://schemas.openxmlformats.org/drawingml/2006/main" noGrp="1"/>
          </p:cNvSpPr>
          <p:nvPr/>
        </p:nvSpPr>
        <p:spPr>
          <a:xfrm xmlns:a="http://schemas.openxmlformats.org/drawingml/2006/main">
            <a:off x="1419606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114" name="Cytiva · DHR">
            <a:extLst xmlns:a="http://schemas.openxmlformats.org/drawingml/2006/main">
              <a:ext uri="{FF2B5EF4-FFF2-40B4-BE49-F238E27FC236}">
                <a16:creationId xmlns:a16="http://schemas.microsoft.com/office/drawing/2014/main" id="{5FAF9C94-676A-4E52-B303-3216F9BEDE98}"/>
              </a:ext>
            </a:extLst>
          </p:cNvPr>
          <p:cNvSpPr>
            <a:spLocks xmlns:a="http://schemas.openxmlformats.org/drawingml/2006/main" noGrp="1"/>
          </p:cNvSpPr>
          <p:nvPr/>
        </p:nvSpPr>
        <p:spPr>
          <a:xfrm xmlns:a="http://schemas.openxmlformats.org/drawingml/2006/main">
            <a:off x="1583436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Cytiva · DHR</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115" name="">
            <a:extLst xmlns:a="http://schemas.openxmlformats.org/drawingml/2006/main">
              <a:ext uri="{FF2B5EF4-FFF2-40B4-BE49-F238E27FC236}">
                <a16:creationId xmlns:a16="http://schemas.microsoft.com/office/drawing/2014/main" id="{A4840C60-B9E6-44E0-BE47-8353C327E655}"/>
              </a:ext>
            </a:extLst>
          </p:cNvPr>
          <p:cNvSpPr>
            <a:spLocks xmlns:a="http://schemas.openxmlformats.org/drawingml/2006/main" noGrp="1"/>
          </p:cNvSpPr>
          <p:nvPr/>
        </p:nvSpPr>
        <p:spPr>
          <a:xfrm xmlns:a="http://schemas.openxmlformats.org/drawingml/2006/main">
            <a:off x="6743700" y="9296400"/>
            <a:ext cx="10782300" cy="434340"/>
          </a:xfrm>
          <a:prstGeom xmlns:a="http://schemas.openxmlformats.org/drawingml/2006/main" prst="roundRect">
            <a:avLst>
              <a:gd name="adj" fmla="val 15789"/>
            </a:avLst>
          </a:prstGeom>
          <a:solidFill xmlns:a="http://schemas.openxmlformats.org/drawingml/2006/main">
            <a:srgbClr val="00355F"/>
          </a:solidFill>
          <a:ln xmlns:a="http://schemas.openxmlformats.org/drawingml/2006/main" w="7620">
            <a:noFill/>
          </a:ln>
        </p:spPr>
      </p:sp>
      <p:pic>
        <p:nvPicPr>
          <p:cNvPr id="116" name="">
            <a:extLst xmlns:a="http://schemas.openxmlformats.org/drawingml/2006/main">
              <a:ext uri="{FF2B5EF4-FFF2-40B4-BE49-F238E27FC236}">
                <a16:creationId xmlns:a16="http://schemas.microsoft.com/office/drawing/2014/main" id="{DB4077B2-FCE6-4AD2-B55E-F4E44C2FC914}"/>
              </a:ext>
            </a:extLst>
          </p:cNvPr>
          <p:cNvPicPr>
            <a:picLocks xmlns:a="http://schemas.openxmlformats.org/drawingml/2006/main" noChangeAspect="1"/>
          </p:cNvPicPr>
          <p:nvPr/>
        </p:nvPicPr>
        <p:blipFill>
          <a:blip xmlns:r="http://schemas.openxmlformats.org/officeDocument/2006/relationships" xmlns:a="http://schemas.openxmlformats.org/drawingml/2006/main" r:embed="Rd7a61f60eaa141f1">
            <a:extLst>
              <a:ext uri="{96DAC541-7B7A-43D3-8B79-37D633B846F1}">
                <asvg:svgBlip xmlns:asvg="http://schemas.microsoft.com/office/drawing/2016/SVG/main" r:embed="R32904171e33340e7"/>
              </a:ext>
            </a:extLst>
          </a:blip>
          <a:stretch xmlns:a="http://schemas.openxmlformats.org/drawingml/2006/main"/>
        </p:blipFill>
        <p:spPr>
          <a:xfrm xmlns:a="http://schemas.openxmlformats.org/drawingml/2006/main">
            <a:off x="6865620" y="9380220"/>
            <a:ext cx="259080" cy="259080"/>
          </a:xfrm>
          <a:prstGeom xmlns:a="http://schemas.openxmlformats.org/drawingml/2006/main" prst="rect">
            <a:avLst/>
          </a:prstGeom>
        </p:spPr>
      </p:pic>
      <p:sp>
        <p:nvSpPr>
          <p:cNvPr id="117" name="Automation + data orchestration span every tool family">
            <a:extLst xmlns:a="http://schemas.openxmlformats.org/drawingml/2006/main">
              <a:ext uri="{FF2B5EF4-FFF2-40B4-BE49-F238E27FC236}">
                <a16:creationId xmlns:a16="http://schemas.microsoft.com/office/drawing/2014/main" id="{6F86D10A-557C-4743-9C64-85E1DF0A1868}"/>
              </a:ext>
            </a:extLst>
          </p:cNvPr>
          <p:cNvSpPr>
            <a:spLocks xmlns:a="http://schemas.openxmlformats.org/drawingml/2006/main" noGrp="1"/>
          </p:cNvSpPr>
          <p:nvPr/>
        </p:nvSpPr>
        <p:spPr>
          <a:xfrm xmlns:a="http://schemas.openxmlformats.org/drawingml/2006/main">
            <a:off x="7231380" y="9425940"/>
            <a:ext cx="729234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18" name="">
            <a:extLst xmlns:a="http://schemas.openxmlformats.org/drawingml/2006/main">
              <a:ext uri="{FF2B5EF4-FFF2-40B4-BE49-F238E27FC236}">
                <a16:creationId xmlns:a16="http://schemas.microsoft.com/office/drawing/2014/main" id="{3B1CD563-1C4F-492E-B490-12621566818C}"/>
              </a:ext>
            </a:extLst>
          </p:cNvPr>
          <p:cNvSpPr>
            <a:spLocks xmlns:a="http://schemas.openxmlformats.org/drawingml/2006/main" noGrp="1"/>
          </p:cNvSpPr>
          <p:nvPr/>
        </p:nvSpPr>
        <p:spPr>
          <a:xfrm xmlns:a="http://schemas.openxmlformats.org/drawingml/2006/main">
            <a:off x="14859000" y="9357360"/>
            <a:ext cx="2430780" cy="31242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7620">
            <a:noFill/>
          </a:ln>
        </p:spPr>
      </p:sp>
      <p:pic>
        <p:nvPicPr>
          <p:cNvPr id="119" name="">
            <a:extLst xmlns:a="http://schemas.openxmlformats.org/drawingml/2006/main">
              <a:ext uri="{FF2B5EF4-FFF2-40B4-BE49-F238E27FC236}">
                <a16:creationId xmlns:a16="http://schemas.microsoft.com/office/drawing/2014/main" id="{2E342411-7E80-4027-9D82-10E1F0554007}"/>
              </a:ext>
            </a:extLst>
          </p:cNvPr>
          <p:cNvPicPr>
            <a:picLocks xmlns:a="http://schemas.openxmlformats.org/drawingml/2006/main" noChangeAspect="1"/>
          </p:cNvPicPr>
          <p:nvPr/>
        </p:nvPicPr>
        <p:blipFill>
          <a:blip xmlns:r="http://schemas.openxmlformats.org/officeDocument/2006/relationships" xmlns:a="http://schemas.openxmlformats.org/drawingml/2006/main" r:embed="R3f523fd4e5f744bc"/>
          <a:stretch xmlns:a="http://schemas.openxmlformats.org/drawingml/2006/main"/>
        </p:blipFill>
        <p:spPr>
          <a:xfrm xmlns:a="http://schemas.openxmlformats.org/drawingml/2006/main">
            <a:off x="14958060" y="9412819"/>
            <a:ext cx="1143000" cy="193882"/>
          </a:xfrm>
          <a:prstGeom xmlns:a="http://schemas.openxmlformats.org/drawingml/2006/main" prst="rect">
            <a:avLst/>
          </a:prstGeom>
        </p:spPr>
      </p:pic>
      <p:sp>
        <p:nvSpPr>
          <p:cNvPr id="120" name="SIX: TECN">
            <a:extLst xmlns:a="http://schemas.openxmlformats.org/drawingml/2006/main">
              <a:ext uri="{FF2B5EF4-FFF2-40B4-BE49-F238E27FC236}">
                <a16:creationId xmlns:a16="http://schemas.microsoft.com/office/drawing/2014/main" id="{64E1E1A6-470A-4D42-AB49-2ACF9454FD15}"/>
              </a:ext>
            </a:extLst>
          </p:cNvPr>
          <p:cNvSpPr>
            <a:spLocks xmlns:a="http://schemas.openxmlformats.org/drawingml/2006/main" noGrp="1"/>
          </p:cNvSpPr>
          <p:nvPr/>
        </p:nvSpPr>
        <p:spPr>
          <a:xfrm xmlns:a="http://schemas.openxmlformats.org/drawingml/2006/main">
            <a:off x="16261080" y="9441180"/>
            <a:ext cx="9296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21" name="† Ex-BD biosciences / flow moved to Waters on 9 Feb 2026; BD (BDX) here means specimen collection.">
            <a:extLst xmlns:a="http://schemas.openxmlformats.org/drawingml/2006/main">
              <a:ext uri="{FF2B5EF4-FFF2-40B4-BE49-F238E27FC236}">
                <a16:creationId xmlns:a16="http://schemas.microsoft.com/office/drawing/2014/main" id="{4F53F274-88FB-47DB-ACA2-C02DE8C576E4}"/>
              </a:ext>
            </a:extLst>
          </p:cNvPr>
          <p:cNvSpPr>
            <a:spLocks xmlns:a="http://schemas.openxmlformats.org/drawingml/2006/main" noGrp="1"/>
          </p:cNvSpPr>
          <p:nvPr/>
        </p:nvSpPr>
        <p:spPr>
          <a:xfrm xmlns:a="http://schemas.openxmlformats.org/drawingml/2006/main">
            <a:off x="6743700" y="9852660"/>
            <a:ext cx="107823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22" name="Protein TAM is issuer-commissioned / disputed. Media &amp; resin TAMs withheld. Sources, scope and tickers: SOURCES.md.">
            <a:extLst xmlns:a="http://schemas.openxmlformats.org/drawingml/2006/main">
              <a:ext uri="{FF2B5EF4-FFF2-40B4-BE49-F238E27FC236}">
                <a16:creationId xmlns:a16="http://schemas.microsoft.com/office/drawing/2014/main" id="{47CF4E5A-6D4D-416D-A6EC-FA89FD282180}"/>
              </a:ext>
            </a:extLst>
          </p:cNvPr>
          <p:cNvSpPr>
            <a:spLocks xmlns:a="http://schemas.openxmlformats.org/drawingml/2006/main" noGrp="1"/>
          </p:cNvSpPr>
          <p:nvPr/>
        </p:nvSpPr>
        <p:spPr>
          <a:xfrm xmlns:a="http://schemas.openxmlformats.org/drawingml/2006/main">
            <a:off x="6743700" y="10058400"/>
            <a:ext cx="1078230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defRPr sz="930" b="0">
                <a:solidFill>
                  <a:srgbClr val="00355F"/>
                </a:solidFill>
                <a:latin typeface="Arial"/>
                <a:ea typeface="Arial"/>
                <a:cs typeface="Arial"/>
              </a:defRPr>
            </a:pPr>
            <a:r>
              <a:rPr sz="930" b="0">
                <a:solidFill>
                  <a:srgbClr val="00355F"/>
                </a:solidFill>
                <a:latin typeface="Arial"/>
                <a:ea typeface="Arial"/>
                <a:cs typeface="Arial"/>
              </a:rPr>
              <a:t>Protein TAM is issuer-commissioned / disputed. Media &amp; resin TAMs withheld. Sources, scope and tickers: SOURCES.md.</a:t>
            </a:r>
          </a:p>
        </p:txBody>
      </p:sp>
    </p:spTree>
    <p:extLst>
      <p:ext uri="{BB962C8B-B14F-4D97-AF65-F5344CB8AC3E}">
        <p14:creationId xmlns:p14="http://schemas.microsoft.com/office/powerpoint/2010/main" val="1334873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2026-10-13T07:00:05.1770000Z</dcterms:created>
  <dcterms:modified xsi:type="dcterms:W3CDTF">2026-10-13T07:00:05.1780000Z</dcterms:modified>
</coreProperties>
</file>