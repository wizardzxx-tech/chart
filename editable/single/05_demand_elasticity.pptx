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d8d70ebe314675" /><Relationship Type="http://schemas.openxmlformats.org/officeDocument/2006/relationships/extended-properties" Target="/docProps/app.xml" Id="Re15e8a6636884564" /><Relationship Type="http://schemas.openxmlformats.org/officeDocument/2006/relationships/officeDocument" Target="/ppt/presentation.xml" Id="Rec0544f2202446a6" /></Relationships>
</file>

<file path=ppt/presentation.xml><?xml version="1.0" encoding="utf-8"?>
<p:presentation xmlns:p="http://schemas.openxmlformats.org/presentationml/2006/main">
  <p:sldMasterIdLst>
    <p:sldMasterId xmlns:r="http://schemas.openxmlformats.org/officeDocument/2006/relationships" id="2147483648" r:id="Rc7338140ef7548ad"/>
  </p:sldMasterIdLst>
  <p:notesMasterIdLst>
    <p:notesMasterId xmlns:r="http://schemas.openxmlformats.org/officeDocument/2006/relationships" r:id="R043a0d6f886a4228"/>
  </p:notesMasterIdLst>
  <p:sldIdLst>
    <p:sldId xmlns:r="http://schemas.openxmlformats.org/officeDocument/2006/relationships" id="256" r:id="R4e8a14696397430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c63c1017f34601" /><Relationship Type="http://schemas.openxmlformats.org/officeDocument/2006/relationships/slideMaster" Target="/ppt/slideMasters/slideMaster1.xml" Id="Rc7338140ef7548ad" /><Relationship Type="http://schemas.openxmlformats.org/officeDocument/2006/relationships/notesMaster" Target="/ppt/notesMasters/notesMaster1.xml" Id="R043a0d6f886a4228" /><Relationship Type="http://schemas.openxmlformats.org/officeDocument/2006/relationships/presProps" Target="/ppt/presProps.xml" Id="Ra40b8c9253db4c2c" /><Relationship Type="http://schemas.openxmlformats.org/officeDocument/2006/relationships/tableStyles" Target="/ppt/tableStyles.xml" Id="R4aadeacb9afd4aa2" /><Relationship Type="http://schemas.openxmlformats.org/officeDocument/2006/relationships/slide" Target="/ppt/slides/slide1.xml" Id="R4e8a1469639743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5d1e00fb4c43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45f94f00ac4d54" /><Relationship Type="http://schemas.openxmlformats.org/officeDocument/2006/relationships/notesMaster" Target="/ppt/notesMasters/notesMaster1.xml" Id="Rb5f60adf39f948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Which tools have more demand elasticity?</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8da577ebf14b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0a0034bd2944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3e0e966ea544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6df9c56a8445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d528699b4545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99973cc22348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FB759D-1B44-4F72-8920-248307E87C3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1BD9ED-08F1-434B-A3F0-AEFD432FE35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CEEEA3-4F54-4720-869C-B399EB779CC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02694E-3D17-4BFB-B7D4-AC273DD509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7C04FC-973E-46AE-91AF-79868278FB4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541FC5-6A13-490F-B490-16D3BDD937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B22CE-FBBB-47AF-B8D8-258FAEE14C9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8B9A27-E294-4E7C-A199-0C3CCC831EB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1359C-83B4-4D27-80CA-1679B304CA9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3945C-8176-45BA-9FB6-3896AAD0060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b374dade6f4c68" /><Relationship Type="http://schemas.openxmlformats.org/officeDocument/2006/relationships/slideLayout" Target="/ppt/slideLayouts/slideLayout1.xml" Id="R4dd96e4f90df4ff5" /><Relationship Type="http://schemas.openxmlformats.org/officeDocument/2006/relationships/slideLayout" Target="/ppt/slideLayouts/slideLayout2.xml" Id="R459a84a4194b48e2" /><Relationship Type="http://schemas.openxmlformats.org/officeDocument/2006/relationships/slideLayout" Target="/ppt/slideLayouts/slideLayout3.xml" Id="R6685a1912fda47ad" /><Relationship Type="http://schemas.openxmlformats.org/officeDocument/2006/relationships/slideLayout" Target="/ppt/slideLayouts/slideLayout4.xml" Id="R216311625bba4e36" /><Relationship Type="http://schemas.openxmlformats.org/officeDocument/2006/relationships/slideLayout" Target="/ppt/slideLayouts/slideLayout5.xml" Id="R57583de1982040e5" /><Relationship Type="http://schemas.openxmlformats.org/officeDocument/2006/relationships/slideLayout" Target="/ppt/slideLayouts/slideLayout6.xml" Id="Rf2d0547da6774a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d96e4f90df4ff5"/>
    <p:sldLayoutId xmlns:r="http://schemas.openxmlformats.org/officeDocument/2006/relationships" id="2147483650" r:id="R459a84a4194b48e2"/>
    <p:sldLayoutId xmlns:r="http://schemas.openxmlformats.org/officeDocument/2006/relationships" id="2147483651" r:id="R6685a1912fda47ad"/>
    <p:sldLayoutId xmlns:r="http://schemas.openxmlformats.org/officeDocument/2006/relationships" id="2147483652" r:id="R216311625bba4e36"/>
    <p:sldLayoutId xmlns:r="http://schemas.openxmlformats.org/officeDocument/2006/relationships" id="2147483653" r:id="R57583de1982040e5"/>
    <p:sldLayoutId xmlns:r="http://schemas.openxmlformats.org/officeDocument/2006/relationships" id="2147483654" r:id="Rf2d0547da6774a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254c623beb4338" /><Relationship Type="http://schemas.openxmlformats.org/officeDocument/2006/relationships/image" Target="/ppt/media/image.png" Id="R058fd3e0137c45f9" /><Relationship Type="http://schemas.openxmlformats.org/officeDocument/2006/relationships/notesSlide" Target="/ppt/notesSlides/notesSlide1.xml" Id="R1f303a358116468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2EB53641-AC55-48F1-AF1C-A7671DA67738}"/>
              </a:ext>
            </a:extLst>
          </p:cNvPr>
          <p:cNvPicPr>
            <a:picLocks xmlns:a="http://schemas.openxmlformats.org/drawingml/2006/main" noChangeAspect="1"/>
          </p:cNvPicPr>
          <p:nvPr/>
        </p:nvPicPr>
        <p:blipFill>
          <a:blip xmlns:r="http://schemas.openxmlformats.org/officeDocument/2006/relationships" xmlns:a="http://schemas.openxmlformats.org/drawingml/2006/main" r:embed="R058fd3e0137c45f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5 label 1 line 1">
            <a:extLst xmlns:a="http://schemas.openxmlformats.org/drawingml/2006/main">
              <a:ext uri="{FF2B5EF4-FFF2-40B4-BE49-F238E27FC236}">
                <a16:creationId xmlns:a16="http://schemas.microsoft.com/office/drawing/2014/main" id="{5958AEF3-2ADE-4CE9-A228-C353E8B42C7E}"/>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5 label 2 line 1">
            <a:extLst xmlns:a="http://schemas.openxmlformats.org/drawingml/2006/main">
              <a:ext uri="{FF2B5EF4-FFF2-40B4-BE49-F238E27FC236}">
                <a16:creationId xmlns:a16="http://schemas.microsoft.com/office/drawing/2014/main" id="{EE61F902-9D6A-45FB-8794-13597B6C5132}"/>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5 label 3 line 1">
            <a:extLst xmlns:a="http://schemas.openxmlformats.org/drawingml/2006/main">
              <a:ext uri="{FF2B5EF4-FFF2-40B4-BE49-F238E27FC236}">
                <a16:creationId xmlns:a16="http://schemas.microsoft.com/office/drawing/2014/main" id="{6E5F6AB5-5933-4F8C-B807-47D202ED255B}"/>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5 label 4 line 1">
            <a:extLst xmlns:a="http://schemas.openxmlformats.org/drawingml/2006/main">
              <a:ext uri="{FF2B5EF4-FFF2-40B4-BE49-F238E27FC236}">
                <a16:creationId xmlns:a16="http://schemas.microsoft.com/office/drawing/2014/main" id="{09E64F17-2712-4C46-9250-788E722D7557}"/>
              </a:ext>
            </a:extLst>
          </p:cNvPr>
          <p:cNvSpPr>
            <a:spLocks xmlns:a="http://schemas.openxmlformats.org/drawingml/2006/main" noGrp="1"/>
          </p:cNvSpPr>
          <p:nvPr/>
        </p:nvSpPr>
        <p:spPr>
          <a:xfrm xmlns:a="http://schemas.openxmlformats.org/drawingml/2006/main" rot="0">
            <a:off x="7276772" y="8291493"/>
            <a:ext cx="22714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Experimental necessity →</a:t>
            </a:r>
          </a:p>
        </p:txBody>
      </p:sp>
      <p:sp>
        <p:nvSpPr>
          <p:cNvPr id="6" name="Figure 5 label 5 line 1">
            <a:extLst xmlns:a="http://schemas.openxmlformats.org/drawingml/2006/main">
              <a:ext uri="{FF2B5EF4-FFF2-40B4-BE49-F238E27FC236}">
                <a16:creationId xmlns:a16="http://schemas.microsoft.com/office/drawing/2014/main" id="{CB108B77-C5C3-44F1-BECD-424951B5C33A}"/>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5 label 6 line 1">
            <a:extLst xmlns:a="http://schemas.openxmlformats.org/drawingml/2006/main">
              <a:ext uri="{FF2B5EF4-FFF2-40B4-BE49-F238E27FC236}">
                <a16:creationId xmlns:a16="http://schemas.microsoft.com/office/drawing/2014/main" id="{CA7F5BD7-7F6E-4506-9072-71CFB894BCE8}"/>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5 label 7 line 1">
            <a:extLst xmlns:a="http://schemas.openxmlformats.org/drawingml/2006/main">
              <a:ext uri="{FF2B5EF4-FFF2-40B4-BE49-F238E27FC236}">
                <a16:creationId xmlns:a16="http://schemas.microsoft.com/office/drawing/2014/main" id="{7B9EC5F1-D709-49C8-8DB8-66F97BB604A7}"/>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5 label 8 line 1">
            <a:extLst xmlns:a="http://schemas.openxmlformats.org/drawingml/2006/main">
              <a:ext uri="{FF2B5EF4-FFF2-40B4-BE49-F238E27FC236}">
                <a16:creationId xmlns:a16="http://schemas.microsoft.com/office/drawing/2014/main" id="{25E08C65-B64E-4F72-B2D2-8A42E58AD28E}"/>
              </a:ext>
            </a:extLst>
          </p:cNvPr>
          <p:cNvSpPr>
            <a:spLocks xmlns:a="http://schemas.openxmlformats.org/drawingml/2006/main" noGrp="1"/>
          </p:cNvSpPr>
          <p:nvPr/>
        </p:nvSpPr>
        <p:spPr>
          <a:xfrm xmlns:a="http://schemas.openxmlformats.org/drawingml/2006/main" rot="16200000">
            <a:off x="-1479297" y="4918710"/>
            <a:ext cx="373275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Revenue elasticity to experiment volume →</a:t>
            </a:r>
          </a:p>
        </p:txBody>
      </p:sp>
      <p:sp>
        <p:nvSpPr>
          <p:cNvPr id="10" name="Figure 5 label 9 line 1">
            <a:extLst xmlns:a="http://schemas.openxmlformats.org/drawingml/2006/main">
              <a:ext uri="{FF2B5EF4-FFF2-40B4-BE49-F238E27FC236}">
                <a16:creationId xmlns:a16="http://schemas.microsoft.com/office/drawing/2014/main" id="{096B23DB-2A59-4338-A774-36FED4F6766F}"/>
              </a:ext>
            </a:extLst>
          </p:cNvPr>
          <p:cNvSpPr>
            <a:spLocks xmlns:a="http://schemas.openxmlformats.org/drawingml/2006/main" noGrp="1"/>
          </p:cNvSpPr>
          <p:nvPr/>
        </p:nvSpPr>
        <p:spPr>
          <a:xfrm xmlns:a="http://schemas.openxmlformats.org/drawingml/2006/main" rot="0">
            <a:off x="2012455" y="2407644"/>
            <a:ext cx="3468162"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Project expansion and substitution both matter</a:t>
            </a:r>
          </a:p>
        </p:txBody>
      </p:sp>
      <p:sp>
        <p:nvSpPr>
          <p:cNvPr id="11" name="Figure 5 label 10 line 1">
            <a:extLst xmlns:a="http://schemas.openxmlformats.org/drawingml/2006/main">
              <a:ext uri="{FF2B5EF4-FFF2-40B4-BE49-F238E27FC236}">
                <a16:creationId xmlns:a16="http://schemas.microsoft.com/office/drawing/2014/main" id="{5A0EBA4E-ECCE-4BF7-B2E9-B996C6648D16}"/>
              </a:ext>
            </a:extLst>
          </p:cNvPr>
          <p:cNvSpPr>
            <a:spLocks xmlns:a="http://schemas.openxmlformats.org/drawingml/2006/main" noGrp="1"/>
          </p:cNvSpPr>
          <p:nvPr/>
        </p:nvSpPr>
        <p:spPr>
          <a:xfrm xmlns:a="http://schemas.openxmlformats.org/drawingml/2006/main" rot="0">
            <a:off x="11880532" y="2274154"/>
            <a:ext cx="130373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High-throughput</a:t>
            </a:r>
          </a:p>
        </p:txBody>
      </p:sp>
      <p:sp>
        <p:nvSpPr>
          <p:cNvPr id="12" name="Figure 5 label 11 line 1">
            <a:extLst xmlns:a="http://schemas.openxmlformats.org/drawingml/2006/main">
              <a:ext uri="{FF2B5EF4-FFF2-40B4-BE49-F238E27FC236}">
                <a16:creationId xmlns:a16="http://schemas.microsoft.com/office/drawing/2014/main" id="{70B7148E-9778-4140-A0C3-0EF2D2684D61}"/>
              </a:ext>
            </a:extLst>
          </p:cNvPr>
          <p:cNvSpPr>
            <a:spLocks xmlns:a="http://schemas.openxmlformats.org/drawingml/2006/main" noGrp="1"/>
          </p:cNvSpPr>
          <p:nvPr/>
        </p:nvSpPr>
        <p:spPr>
          <a:xfrm xmlns:a="http://schemas.openxmlformats.org/drawingml/2006/main" rot="0">
            <a:off x="11880532" y="2452333"/>
            <a:ext cx="627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assays</a:t>
            </a:r>
          </a:p>
        </p:txBody>
      </p:sp>
      <p:sp>
        <p:nvSpPr>
          <p:cNvPr id="13" name="Figure 5 label 12 line 1">
            <a:extLst xmlns:a="http://schemas.openxmlformats.org/drawingml/2006/main">
              <a:ext uri="{FF2B5EF4-FFF2-40B4-BE49-F238E27FC236}">
                <a16:creationId xmlns:a16="http://schemas.microsoft.com/office/drawing/2014/main" id="{2464A1B6-EACB-4B76-8A0F-4E5D04D22CE0}"/>
              </a:ext>
            </a:extLst>
          </p:cNvPr>
          <p:cNvSpPr>
            <a:spLocks xmlns:a="http://schemas.openxmlformats.org/drawingml/2006/main" noGrp="1"/>
          </p:cNvSpPr>
          <p:nvPr/>
        </p:nvSpPr>
        <p:spPr>
          <a:xfrm xmlns:a="http://schemas.openxmlformats.org/drawingml/2006/main" rot="0">
            <a:off x="13752695" y="4146375"/>
            <a:ext cx="12940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Enzymes / NGS</a:t>
            </a:r>
          </a:p>
        </p:txBody>
      </p:sp>
      <p:sp>
        <p:nvSpPr>
          <p:cNvPr id="14" name="Figure 5 label 13 line 1">
            <a:extLst xmlns:a="http://schemas.openxmlformats.org/drawingml/2006/main">
              <a:ext uri="{FF2B5EF4-FFF2-40B4-BE49-F238E27FC236}">
                <a16:creationId xmlns:a16="http://schemas.microsoft.com/office/drawing/2014/main" id="{BED2D9BE-D113-43EC-B1EC-70F745040957}"/>
              </a:ext>
            </a:extLst>
          </p:cNvPr>
          <p:cNvSpPr>
            <a:spLocks xmlns:a="http://schemas.openxmlformats.org/drawingml/2006/main" noGrp="1"/>
          </p:cNvSpPr>
          <p:nvPr/>
        </p:nvSpPr>
        <p:spPr>
          <a:xfrm xmlns:a="http://schemas.openxmlformats.org/drawingml/2006/main" rot="0">
            <a:off x="14104588" y="4324554"/>
            <a:ext cx="942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library prep</a:t>
            </a:r>
          </a:p>
        </p:txBody>
      </p:sp>
      <p:sp>
        <p:nvSpPr>
          <p:cNvPr id="15" name="Figure 5 label 14 line 1">
            <a:extLst xmlns:a="http://schemas.openxmlformats.org/drawingml/2006/main">
              <a:ext uri="{FF2B5EF4-FFF2-40B4-BE49-F238E27FC236}">
                <a16:creationId xmlns:a16="http://schemas.microsoft.com/office/drawing/2014/main" id="{4FA2397D-523D-4A21-9112-20EE83432C85}"/>
              </a:ext>
            </a:extLst>
          </p:cNvPr>
          <p:cNvSpPr>
            <a:spLocks xmlns:a="http://schemas.openxmlformats.org/drawingml/2006/main" noGrp="1"/>
          </p:cNvSpPr>
          <p:nvPr/>
        </p:nvSpPr>
        <p:spPr>
          <a:xfrm xmlns:a="http://schemas.openxmlformats.org/drawingml/2006/main" rot="0">
            <a:off x="10351656" y="3156519"/>
            <a:ext cx="10906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Recombinant</a:t>
            </a:r>
          </a:p>
        </p:txBody>
      </p:sp>
      <p:sp>
        <p:nvSpPr>
          <p:cNvPr id="16" name="Figure 5 label 15 line 1">
            <a:extLst xmlns:a="http://schemas.openxmlformats.org/drawingml/2006/main">
              <a:ext uri="{FF2B5EF4-FFF2-40B4-BE49-F238E27FC236}">
                <a16:creationId xmlns:a16="http://schemas.microsoft.com/office/drawing/2014/main" id="{AC7AD88F-AFC4-477A-893E-FA622CD015ED}"/>
              </a:ext>
            </a:extLst>
          </p:cNvPr>
          <p:cNvSpPr>
            <a:spLocks xmlns:a="http://schemas.openxmlformats.org/drawingml/2006/main" noGrp="1"/>
          </p:cNvSpPr>
          <p:nvPr/>
        </p:nvSpPr>
        <p:spPr>
          <a:xfrm xmlns:a="http://schemas.openxmlformats.org/drawingml/2006/main" rot="0">
            <a:off x="10351656" y="3332900"/>
            <a:ext cx="70142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a:t>
            </a:r>
          </a:p>
        </p:txBody>
      </p:sp>
      <p:sp>
        <p:nvSpPr>
          <p:cNvPr id="17" name="Figure 5 label 16 line 1">
            <a:extLst xmlns:a="http://schemas.openxmlformats.org/drawingml/2006/main">
              <a:ext uri="{FF2B5EF4-FFF2-40B4-BE49-F238E27FC236}">
                <a16:creationId xmlns:a16="http://schemas.microsoft.com/office/drawing/2014/main" id="{E4C029A0-1831-4EC8-A9C8-76B04B2C7B89}"/>
              </a:ext>
            </a:extLst>
          </p:cNvPr>
          <p:cNvSpPr>
            <a:spLocks xmlns:a="http://schemas.openxmlformats.org/drawingml/2006/main" noGrp="1"/>
          </p:cNvSpPr>
          <p:nvPr/>
        </p:nvSpPr>
        <p:spPr>
          <a:xfrm xmlns:a="http://schemas.openxmlformats.org/drawingml/2006/main" rot="0">
            <a:off x="8822779" y="2577748"/>
            <a:ext cx="8032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Chemical</a:t>
            </a:r>
          </a:p>
        </p:txBody>
      </p:sp>
      <p:sp>
        <p:nvSpPr>
          <p:cNvPr id="18" name="Figure 5 label 17 line 1">
            <a:extLst xmlns:a="http://schemas.openxmlformats.org/drawingml/2006/main">
              <a:ext uri="{FF2B5EF4-FFF2-40B4-BE49-F238E27FC236}">
                <a16:creationId xmlns:a16="http://schemas.microsoft.com/office/drawing/2014/main" id="{0BD59B3F-C6E8-4C9A-AB9E-505A4132F3E2}"/>
              </a:ext>
            </a:extLst>
          </p:cNvPr>
          <p:cNvSpPr>
            <a:spLocks xmlns:a="http://schemas.openxmlformats.org/drawingml/2006/main" noGrp="1"/>
          </p:cNvSpPr>
          <p:nvPr/>
        </p:nvSpPr>
        <p:spPr>
          <a:xfrm xmlns:a="http://schemas.openxmlformats.org/drawingml/2006/main" rot="0">
            <a:off x="8822779" y="2754130"/>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building blocks</a:t>
            </a:r>
          </a:p>
        </p:txBody>
      </p:sp>
      <p:sp>
        <p:nvSpPr>
          <p:cNvPr id="19" name="Figure 5 label 18 line 1">
            <a:extLst xmlns:a="http://schemas.openxmlformats.org/drawingml/2006/main">
              <a:ext uri="{FF2B5EF4-FFF2-40B4-BE49-F238E27FC236}">
                <a16:creationId xmlns:a16="http://schemas.microsoft.com/office/drawing/2014/main" id="{C762B056-C8F4-4F63-9BD1-159DEA771110}"/>
              </a:ext>
            </a:extLst>
          </p:cNvPr>
          <p:cNvSpPr>
            <a:spLocks xmlns:a="http://schemas.openxmlformats.org/drawingml/2006/main" noGrp="1"/>
          </p:cNvSpPr>
          <p:nvPr/>
        </p:nvSpPr>
        <p:spPr>
          <a:xfrm xmlns:a="http://schemas.openxmlformats.org/drawingml/2006/main" rot="0">
            <a:off x="12366993" y="3431696"/>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Automation</a:t>
            </a:r>
          </a:p>
        </p:txBody>
      </p:sp>
      <p:sp>
        <p:nvSpPr>
          <p:cNvPr id="20" name="Figure 5 label 19 line 1">
            <a:extLst xmlns:a="http://schemas.openxmlformats.org/drawingml/2006/main">
              <a:ext uri="{FF2B5EF4-FFF2-40B4-BE49-F238E27FC236}">
                <a16:creationId xmlns:a16="http://schemas.microsoft.com/office/drawing/2014/main" id="{2184A3CC-8D8F-4782-B94F-0129099A2427}"/>
              </a:ext>
            </a:extLst>
          </p:cNvPr>
          <p:cNvSpPr>
            <a:spLocks xmlns:a="http://schemas.openxmlformats.org/drawingml/2006/main" noGrp="1"/>
          </p:cNvSpPr>
          <p:nvPr/>
        </p:nvSpPr>
        <p:spPr>
          <a:xfrm xmlns:a="http://schemas.openxmlformats.org/drawingml/2006/main" rot="0">
            <a:off x="12366993" y="3608077"/>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plates / tips</a:t>
            </a:r>
          </a:p>
        </p:txBody>
      </p:sp>
      <p:sp>
        <p:nvSpPr>
          <p:cNvPr id="21" name="Figure 5 label 20 line 1">
            <a:extLst xmlns:a="http://schemas.openxmlformats.org/drawingml/2006/main">
              <a:ext uri="{FF2B5EF4-FFF2-40B4-BE49-F238E27FC236}">
                <a16:creationId xmlns:a16="http://schemas.microsoft.com/office/drawing/2014/main" id="{00F40678-6DF9-46D0-8A94-CD9A5763FB90}"/>
              </a:ext>
            </a:extLst>
          </p:cNvPr>
          <p:cNvSpPr>
            <a:spLocks xmlns:a="http://schemas.openxmlformats.org/drawingml/2006/main" noGrp="1"/>
          </p:cNvSpPr>
          <p:nvPr/>
        </p:nvSpPr>
        <p:spPr>
          <a:xfrm xmlns:a="http://schemas.openxmlformats.org/drawingml/2006/main" rot="0">
            <a:off x="6043003" y="6073398"/>
            <a:ext cx="69205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Generic</a:t>
            </a:r>
          </a:p>
        </p:txBody>
      </p:sp>
      <p:sp>
        <p:nvSpPr>
          <p:cNvPr id="22" name="Figure 5 label 21 line 1">
            <a:extLst xmlns:a="http://schemas.openxmlformats.org/drawingml/2006/main">
              <a:ext uri="{FF2B5EF4-FFF2-40B4-BE49-F238E27FC236}">
                <a16:creationId xmlns:a16="http://schemas.microsoft.com/office/drawing/2014/main" id="{8A4B27EB-340E-42EF-9D49-E784268A3FD6}"/>
              </a:ext>
            </a:extLst>
          </p:cNvPr>
          <p:cNvSpPr>
            <a:spLocks xmlns:a="http://schemas.openxmlformats.org/drawingml/2006/main" noGrp="1"/>
          </p:cNvSpPr>
          <p:nvPr/>
        </p:nvSpPr>
        <p:spPr>
          <a:xfrm xmlns:a="http://schemas.openxmlformats.org/drawingml/2006/main" rot="0">
            <a:off x="6043003" y="6249779"/>
            <a:ext cx="121086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plastic labware</a:t>
            </a:r>
          </a:p>
        </p:txBody>
      </p:sp>
      <p:sp>
        <p:nvSpPr>
          <p:cNvPr id="23" name="Figure 5 label 22 line 1">
            <a:extLst xmlns:a="http://schemas.openxmlformats.org/drawingml/2006/main">
              <a:ext uri="{FF2B5EF4-FFF2-40B4-BE49-F238E27FC236}">
                <a16:creationId xmlns:a16="http://schemas.microsoft.com/office/drawing/2014/main" id="{4B2385D5-B5CF-4276-8097-04EA6A40CB42}"/>
              </a:ext>
            </a:extLst>
          </p:cNvPr>
          <p:cNvSpPr>
            <a:spLocks xmlns:a="http://schemas.openxmlformats.org/drawingml/2006/main" noGrp="1"/>
          </p:cNvSpPr>
          <p:nvPr/>
        </p:nvSpPr>
        <p:spPr>
          <a:xfrm xmlns:a="http://schemas.openxmlformats.org/drawingml/2006/main" rot="0">
            <a:off x="9517723" y="4724130"/>
            <a:ext cx="8218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Analytical</a:t>
            </a:r>
          </a:p>
        </p:txBody>
      </p:sp>
      <p:sp>
        <p:nvSpPr>
          <p:cNvPr id="24" name="Figure 5 label 23 line 1">
            <a:extLst xmlns:a="http://schemas.openxmlformats.org/drawingml/2006/main">
              <a:ext uri="{FF2B5EF4-FFF2-40B4-BE49-F238E27FC236}">
                <a16:creationId xmlns:a16="http://schemas.microsoft.com/office/drawing/2014/main" id="{62C8F694-DE1E-4D28-AABF-F548E8EE87F4}"/>
              </a:ext>
            </a:extLst>
          </p:cNvPr>
          <p:cNvSpPr>
            <a:spLocks xmlns:a="http://schemas.openxmlformats.org/drawingml/2006/main" noGrp="1"/>
          </p:cNvSpPr>
          <p:nvPr/>
        </p:nvSpPr>
        <p:spPr>
          <a:xfrm xmlns:a="http://schemas.openxmlformats.org/drawingml/2006/main" rot="0">
            <a:off x="9517723" y="4902309"/>
            <a:ext cx="72910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columns</a:t>
            </a:r>
          </a:p>
        </p:txBody>
      </p:sp>
      <p:sp>
        <p:nvSpPr>
          <p:cNvPr id="25" name="Figure 5 label 24 line 1">
            <a:extLst xmlns:a="http://schemas.openxmlformats.org/drawingml/2006/main">
              <a:ext uri="{FF2B5EF4-FFF2-40B4-BE49-F238E27FC236}">
                <a16:creationId xmlns:a16="http://schemas.microsoft.com/office/drawing/2014/main" id="{B3D570C3-F2D7-4FFE-A5CA-EA4741185969}"/>
              </a:ext>
            </a:extLst>
          </p:cNvPr>
          <p:cNvSpPr>
            <a:spLocks xmlns:a="http://schemas.openxmlformats.org/drawingml/2006/main" noGrp="1"/>
          </p:cNvSpPr>
          <p:nvPr/>
        </p:nvSpPr>
        <p:spPr>
          <a:xfrm xmlns:a="http://schemas.openxmlformats.org/drawingml/2006/main" rot="0">
            <a:off x="11741544" y="5963444"/>
            <a:ext cx="11647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Manufacturing</a:t>
            </a:r>
          </a:p>
        </p:txBody>
      </p:sp>
      <p:sp>
        <p:nvSpPr>
          <p:cNvPr id="26" name="Figure 5 label 25 line 1">
            <a:extLst xmlns:a="http://schemas.openxmlformats.org/drawingml/2006/main">
              <a:ext uri="{FF2B5EF4-FFF2-40B4-BE49-F238E27FC236}">
                <a16:creationId xmlns:a16="http://schemas.microsoft.com/office/drawing/2014/main" id="{12BC8809-B85F-4E47-A3C4-ED895BBC83ED}"/>
              </a:ext>
            </a:extLst>
          </p:cNvPr>
          <p:cNvSpPr>
            <a:spLocks xmlns:a="http://schemas.openxmlformats.org/drawingml/2006/main" noGrp="1"/>
          </p:cNvSpPr>
          <p:nvPr/>
        </p:nvSpPr>
        <p:spPr>
          <a:xfrm xmlns:a="http://schemas.openxmlformats.org/drawingml/2006/main" rot="0">
            <a:off x="11741544" y="6141622"/>
            <a:ext cx="5530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resins</a:t>
            </a:r>
          </a:p>
        </p:txBody>
      </p:sp>
      <p:sp>
        <p:nvSpPr>
          <p:cNvPr id="27" name="Figure 5 label 26 line 1">
            <a:extLst xmlns:a="http://schemas.openxmlformats.org/drawingml/2006/main">
              <a:ext uri="{FF2B5EF4-FFF2-40B4-BE49-F238E27FC236}">
                <a16:creationId xmlns:a16="http://schemas.microsoft.com/office/drawing/2014/main" id="{CD02369E-0264-4C0B-8516-785E128385F8}"/>
              </a:ext>
            </a:extLst>
          </p:cNvPr>
          <p:cNvSpPr>
            <a:spLocks xmlns:a="http://schemas.openxmlformats.org/drawingml/2006/main" noGrp="1"/>
          </p:cNvSpPr>
          <p:nvPr/>
        </p:nvSpPr>
        <p:spPr>
          <a:xfrm xmlns:a="http://schemas.openxmlformats.org/drawingml/2006/main" rot="0">
            <a:off x="6529464" y="3982168"/>
            <a:ext cx="98896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a:t>
            </a:r>
          </a:p>
        </p:txBody>
      </p:sp>
      <p:sp>
        <p:nvSpPr>
          <p:cNvPr id="28" name="Figure 5 label 27 line 1">
            <a:extLst xmlns:a="http://schemas.openxmlformats.org/drawingml/2006/main">
              <a:ext uri="{FF2B5EF4-FFF2-40B4-BE49-F238E27FC236}">
                <a16:creationId xmlns:a16="http://schemas.microsoft.com/office/drawing/2014/main" id="{01C48675-8285-4BDA-B0B8-78ABE3327B11}"/>
              </a:ext>
            </a:extLst>
          </p:cNvPr>
          <p:cNvSpPr>
            <a:spLocks xmlns:a="http://schemas.openxmlformats.org/drawingml/2006/main" noGrp="1"/>
          </p:cNvSpPr>
          <p:nvPr/>
        </p:nvSpPr>
        <p:spPr>
          <a:xfrm xmlns:a="http://schemas.openxmlformats.org/drawingml/2006/main" rot="0">
            <a:off x="6529464" y="4160347"/>
            <a:ext cx="46047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tools</a:t>
            </a:r>
          </a:p>
        </p:txBody>
      </p:sp>
      <p:sp>
        <p:nvSpPr>
          <p:cNvPr id="29" name="Figure 5 label 28 line 1">
            <a:extLst xmlns:a="http://schemas.openxmlformats.org/drawingml/2006/main">
              <a:ext uri="{FF2B5EF4-FFF2-40B4-BE49-F238E27FC236}">
                <a16:creationId xmlns:a16="http://schemas.microsoft.com/office/drawing/2014/main" id="{DC35AD8B-117B-4152-BE95-92558FF23268}"/>
              </a:ext>
            </a:extLst>
          </p:cNvPr>
          <p:cNvSpPr>
            <a:spLocks xmlns:a="http://schemas.openxmlformats.org/drawingml/2006/main" noGrp="1"/>
          </p:cNvSpPr>
          <p:nvPr/>
        </p:nvSpPr>
        <p:spPr>
          <a:xfrm xmlns:a="http://schemas.openxmlformats.org/drawingml/2006/main" rot="0">
            <a:off x="5973509" y="3376661"/>
            <a:ext cx="55334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Liquid</a:t>
            </a:r>
          </a:p>
        </p:txBody>
      </p:sp>
      <p:sp>
        <p:nvSpPr>
          <p:cNvPr id="30" name="Figure 5 label 29 line 1">
            <a:extLst xmlns:a="http://schemas.openxmlformats.org/drawingml/2006/main">
              <a:ext uri="{FF2B5EF4-FFF2-40B4-BE49-F238E27FC236}">
                <a16:creationId xmlns:a16="http://schemas.microsoft.com/office/drawing/2014/main" id="{CC5645C1-960E-472D-8401-C1F4B42B7951}"/>
              </a:ext>
            </a:extLst>
          </p:cNvPr>
          <p:cNvSpPr>
            <a:spLocks xmlns:a="http://schemas.openxmlformats.org/drawingml/2006/main" noGrp="1"/>
          </p:cNvSpPr>
          <p:nvPr/>
        </p:nvSpPr>
        <p:spPr>
          <a:xfrm xmlns:a="http://schemas.openxmlformats.org/drawingml/2006/main" rot="0">
            <a:off x="5973509" y="3553042"/>
            <a:ext cx="7478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handlers</a:t>
            </a:r>
          </a:p>
        </p:txBody>
      </p:sp>
      <p:sp>
        <p:nvSpPr>
          <p:cNvPr id="31" name="Figure 5 label 30 line 1">
            <a:extLst xmlns:a="http://schemas.openxmlformats.org/drawingml/2006/main">
              <a:ext uri="{FF2B5EF4-FFF2-40B4-BE49-F238E27FC236}">
                <a16:creationId xmlns:a16="http://schemas.microsoft.com/office/drawing/2014/main" id="{8D5B96A6-59EE-4CD5-8BEA-4D184F22F92A}"/>
              </a:ext>
            </a:extLst>
          </p:cNvPr>
          <p:cNvSpPr>
            <a:spLocks xmlns:a="http://schemas.openxmlformats.org/drawingml/2006/main" noGrp="1"/>
          </p:cNvSpPr>
          <p:nvPr/>
        </p:nvSpPr>
        <p:spPr>
          <a:xfrm xmlns:a="http://schemas.openxmlformats.org/drawingml/2006/main" rot="0">
            <a:off x="991870" y="421920"/>
            <a:ext cx="725304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05  Which tools have more demand elasticity?</a:t>
            </a:r>
          </a:p>
        </p:txBody>
      </p:sp>
      <p:sp>
        <p:nvSpPr>
          <p:cNvPr id="32" name="Figure 5 label 31 line 1">
            <a:extLst xmlns:a="http://schemas.openxmlformats.org/drawingml/2006/main">
              <a:ext uri="{FF2B5EF4-FFF2-40B4-BE49-F238E27FC236}">
                <a16:creationId xmlns:a16="http://schemas.microsoft.com/office/drawing/2014/main" id="{411ABFB5-F166-413C-8B94-6266D17F4CF8}"/>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33" name="Figure 5 label 32 line 1">
            <a:extLst xmlns:a="http://schemas.openxmlformats.org/drawingml/2006/main">
              <a:ext uri="{FF2B5EF4-FFF2-40B4-BE49-F238E27FC236}">
                <a16:creationId xmlns:a16="http://schemas.microsoft.com/office/drawing/2014/main" id="{D976F417-F804-49C8-9E91-11A38ECFF7D5}"/>
              </a:ext>
            </a:extLst>
          </p:cNvPr>
          <p:cNvSpPr>
            <a:spLocks xmlns:a="http://schemas.openxmlformats.org/drawingml/2006/main" noGrp="1"/>
          </p:cNvSpPr>
          <p:nvPr/>
        </p:nvSpPr>
        <p:spPr>
          <a:xfrm xmlns:a="http://schemas.openxmlformats.org/drawingml/2006/main" rot="0">
            <a:off x="998220" y="1248326"/>
            <a:ext cx="8806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Positions and bubble areas are qualitative research judgments, not measured scores or additive TAMs.</a:t>
            </a:r>
          </a:p>
        </p:txBody>
      </p:sp>
      <p:sp>
        <p:nvSpPr>
          <p:cNvPr id="34" name="Figure 5 label 33 line 1">
            <a:extLst xmlns:a="http://schemas.openxmlformats.org/drawingml/2006/main">
              <a:ext uri="{FF2B5EF4-FFF2-40B4-BE49-F238E27FC236}">
                <a16:creationId xmlns:a16="http://schemas.microsoft.com/office/drawing/2014/main" id="{FFD7BB33-0469-4B91-BC8B-E6AD3DF30A7D}"/>
              </a:ext>
            </a:extLst>
          </p:cNvPr>
          <p:cNvSpPr>
            <a:spLocks xmlns:a="http://schemas.openxmlformats.org/drawingml/2006/main" noGrp="1"/>
          </p:cNvSpPr>
          <p:nvPr/>
        </p:nvSpPr>
        <p:spPr>
          <a:xfrm xmlns:a="http://schemas.openxmlformats.org/drawingml/2006/main" rot="0">
            <a:off x="999173" y="9256035"/>
            <a:ext cx="86417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Small-molecule synthesis can fall per project. Modality, assay depth, unit use and funded projects determine orders.</a:t>
            </a:r>
          </a:p>
        </p:txBody>
      </p:sp>
      <p:sp>
        <p:nvSpPr>
          <p:cNvPr id="35" name="Figure 5 label 34 line 1">
            <a:extLst xmlns:a="http://schemas.openxmlformats.org/drawingml/2006/main">
              <a:ext uri="{FF2B5EF4-FFF2-40B4-BE49-F238E27FC236}">
                <a16:creationId xmlns:a16="http://schemas.microsoft.com/office/drawing/2014/main" id="{055591DB-B0A8-4940-8C07-634E29153937}"/>
              </a:ext>
            </a:extLst>
          </p:cNvPr>
          <p:cNvSpPr>
            <a:spLocks xmlns:a="http://schemas.openxmlformats.org/drawingml/2006/main" noGrp="1"/>
          </p:cNvSpPr>
          <p:nvPr/>
        </p:nvSpPr>
        <p:spPr>
          <a:xfrm xmlns:a="http://schemas.openxmlformats.org/drawingml/2006/main" rot="0">
            <a:off x="1000316" y="9675546"/>
            <a:ext cx="6173569"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assumptions. Edit positions and relative areas in data.json.</a:t>
            </a:r>
          </a:p>
        </p:txBody>
      </p:sp>
      <p:sp>
        <p:nvSpPr>
          <p:cNvPr id="36" name="Figure 5 label 35 line 1">
            <a:extLst xmlns:a="http://schemas.openxmlformats.org/drawingml/2006/main">
              <a:ext uri="{FF2B5EF4-FFF2-40B4-BE49-F238E27FC236}">
                <a16:creationId xmlns:a16="http://schemas.microsoft.com/office/drawing/2014/main" id="{3DF7C894-B404-4814-BF02-3D65368D322A}"/>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37" name="Figure 5 label 36 line 1">
            <a:extLst xmlns:a="http://schemas.openxmlformats.org/drawingml/2006/main">
              <a:ext uri="{FF2B5EF4-FFF2-40B4-BE49-F238E27FC236}">
                <a16:creationId xmlns:a16="http://schemas.microsoft.com/office/drawing/2014/main" id="{5BA57A25-B44C-479E-87CE-597C16BED5B2}"/>
              </a:ext>
            </a:extLst>
          </p:cNvPr>
          <p:cNvSpPr>
            <a:spLocks xmlns:a="http://schemas.openxmlformats.org/drawingml/2006/main" noGrp="1"/>
          </p:cNvSpPr>
          <p:nvPr/>
        </p:nvSpPr>
        <p:spPr>
          <a:xfrm xmlns:a="http://schemas.openxmlformats.org/drawingml/2006/main" rot="0">
            <a:off x="15812135" y="3271220"/>
            <a:ext cx="105514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Bubble area</a:t>
            </a:r>
          </a:p>
        </p:txBody>
      </p:sp>
      <p:sp>
        <p:nvSpPr>
          <p:cNvPr id="38" name="Figure 5 label 37 line 1">
            <a:extLst xmlns:a="http://schemas.openxmlformats.org/drawingml/2006/main">
              <a:ext uri="{FF2B5EF4-FFF2-40B4-BE49-F238E27FC236}">
                <a16:creationId xmlns:a16="http://schemas.microsoft.com/office/drawing/2014/main" id="{19B42A82-7021-49CA-9BB4-06CAF685D45A}"/>
              </a:ext>
            </a:extLst>
          </p:cNvPr>
          <p:cNvSpPr>
            <a:spLocks xmlns:a="http://schemas.openxmlformats.org/drawingml/2006/main" noGrp="1"/>
          </p:cNvSpPr>
          <p:nvPr/>
        </p:nvSpPr>
        <p:spPr>
          <a:xfrm xmlns:a="http://schemas.openxmlformats.org/drawingml/2006/main" rot="0">
            <a:off x="15812325" y="3764919"/>
            <a:ext cx="1611491"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Relative opportunity</a:t>
            </a:r>
          </a:p>
        </p:txBody>
      </p:sp>
      <p:sp>
        <p:nvSpPr>
          <p:cNvPr id="39" name="Figure 5 label 38 line 1">
            <a:extLst xmlns:a="http://schemas.openxmlformats.org/drawingml/2006/main">
              <a:ext uri="{FF2B5EF4-FFF2-40B4-BE49-F238E27FC236}">
                <a16:creationId xmlns:a16="http://schemas.microsoft.com/office/drawing/2014/main" id="{9A22C1FA-9AC7-47E1-A358-1652C2E3C9C7}"/>
              </a:ext>
            </a:extLst>
          </p:cNvPr>
          <p:cNvSpPr>
            <a:spLocks xmlns:a="http://schemas.openxmlformats.org/drawingml/2006/main" noGrp="1"/>
          </p:cNvSpPr>
          <p:nvPr/>
        </p:nvSpPr>
        <p:spPr>
          <a:xfrm xmlns:a="http://schemas.openxmlformats.org/drawingml/2006/main" rot="0">
            <a:off x="15812325" y="4007283"/>
            <a:ext cx="1205488"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illustration; not</a:t>
            </a:r>
          </a:p>
        </p:txBody>
      </p:sp>
      <p:sp>
        <p:nvSpPr>
          <p:cNvPr id="40" name="Figure 5 label 39 line 1">
            <a:extLst xmlns:a="http://schemas.openxmlformats.org/drawingml/2006/main">
              <a:ext uri="{FF2B5EF4-FFF2-40B4-BE49-F238E27FC236}">
                <a16:creationId xmlns:a16="http://schemas.microsoft.com/office/drawing/2014/main" id="{FB9DA0E6-8C27-4DAF-8048-C0FCE24CBAE3}"/>
              </a:ext>
            </a:extLst>
          </p:cNvPr>
          <p:cNvSpPr>
            <a:spLocks xmlns:a="http://schemas.openxmlformats.org/drawingml/2006/main" noGrp="1"/>
          </p:cNvSpPr>
          <p:nvPr/>
        </p:nvSpPr>
        <p:spPr>
          <a:xfrm xmlns:a="http://schemas.openxmlformats.org/drawingml/2006/main" rot="0">
            <a:off x="15812325" y="4247817"/>
            <a:ext cx="1271419"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measured TAM</a:t>
            </a:r>
          </a:p>
        </p:txBody>
      </p:sp>
      <p:sp>
        <p:nvSpPr>
          <p:cNvPr id="41" name="Figure 5 label 40 line 1">
            <a:extLst xmlns:a="http://schemas.openxmlformats.org/drawingml/2006/main">
              <a:ext uri="{FF2B5EF4-FFF2-40B4-BE49-F238E27FC236}">
                <a16:creationId xmlns:a16="http://schemas.microsoft.com/office/drawing/2014/main" id="{7D76D04E-BC07-40B9-9665-FBFA629B1C7A}"/>
              </a:ext>
            </a:extLst>
          </p:cNvPr>
          <p:cNvSpPr>
            <a:spLocks xmlns:a="http://schemas.openxmlformats.org/drawingml/2006/main" noGrp="1"/>
          </p:cNvSpPr>
          <p:nvPr/>
        </p:nvSpPr>
        <p:spPr>
          <a:xfrm xmlns:a="http://schemas.openxmlformats.org/drawingml/2006/main" rot="0">
            <a:off x="15812325" y="6254373"/>
            <a:ext cx="1469807"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Potential elasticity</a:t>
            </a:r>
          </a:p>
        </p:txBody>
      </p:sp>
      <p:sp>
        <p:nvSpPr>
          <p:cNvPr id="42" name="Figure 5 label 41 line 1">
            <a:extLst xmlns:a="http://schemas.openxmlformats.org/drawingml/2006/main">
              <a:ext uri="{FF2B5EF4-FFF2-40B4-BE49-F238E27FC236}">
                <a16:creationId xmlns:a16="http://schemas.microsoft.com/office/drawing/2014/main" id="{6FF8B4B6-9920-4A27-A85C-5DDF4E1FD294}"/>
              </a:ext>
            </a:extLst>
          </p:cNvPr>
          <p:cNvSpPr>
            <a:spLocks xmlns:a="http://schemas.openxmlformats.org/drawingml/2006/main" noGrp="1"/>
          </p:cNvSpPr>
          <p:nvPr/>
        </p:nvSpPr>
        <p:spPr>
          <a:xfrm xmlns:a="http://schemas.openxmlformats.org/drawingml/2006/main" rot="0">
            <a:off x="15812325" y="6496737"/>
            <a:ext cx="160241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needs paid demand</a:t>
            </a:r>
          </a:p>
        </p:txBody>
      </p:sp>
      <p:sp>
        <p:nvSpPr>
          <p:cNvPr id="43" name="Figure 5 label 42 line 1">
            <a:extLst xmlns:a="http://schemas.openxmlformats.org/drawingml/2006/main">
              <a:ext uri="{FF2B5EF4-FFF2-40B4-BE49-F238E27FC236}">
                <a16:creationId xmlns:a16="http://schemas.microsoft.com/office/drawing/2014/main" id="{833407BE-D716-4CAB-B065-7F17CA617587}"/>
              </a:ext>
            </a:extLst>
          </p:cNvPr>
          <p:cNvSpPr>
            <a:spLocks xmlns:a="http://schemas.openxmlformats.org/drawingml/2006/main" noGrp="1"/>
          </p:cNvSpPr>
          <p:nvPr/>
        </p:nvSpPr>
        <p:spPr>
          <a:xfrm xmlns:a="http://schemas.openxmlformats.org/drawingml/2006/main" rot="0">
            <a:off x="15812325" y="6737270"/>
            <a:ext cx="145120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and repeat orders</a:t>
            </a:r>
          </a:p>
        </p:txBody>
      </p:sp>
    </p:spTree>
    <p:extLst>
      <p:ext uri="{BB962C8B-B14F-4D97-AF65-F5344CB8AC3E}">
        <p14:creationId xmlns:p14="http://schemas.microsoft.com/office/powerpoint/2010/main" val="1204963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2026-10-13T07:05:29.5750000Z</dcterms:created>
  <dcterms:modified xsi:type="dcterms:W3CDTF">2026-10-13T07:05:29.5750000Z</dcterms:modified>
</coreProperties>
</file>