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4e6b35bf7c448b" /><Relationship Type="http://schemas.openxmlformats.org/officeDocument/2006/relationships/extended-properties" Target="/docProps/app.xml" Id="Ra6ed0c5ff7e940bc" /><Relationship Type="http://schemas.openxmlformats.org/officeDocument/2006/relationships/officeDocument" Target="/ppt/presentation.xml" Id="R7c8058b865344484" /></Relationships>
</file>

<file path=ppt/presentation.xml><?xml version="1.0" encoding="utf-8"?>
<p:presentation xmlns:p="http://schemas.openxmlformats.org/presentationml/2006/main">
  <p:sldMasterIdLst>
    <p:sldMasterId xmlns:r="http://schemas.openxmlformats.org/officeDocument/2006/relationships" id="2147483648" r:id="Rffea889c2991410c"/>
  </p:sldMasterIdLst>
  <p:notesMasterIdLst>
    <p:notesMasterId xmlns:r="http://schemas.openxmlformats.org/officeDocument/2006/relationships" r:id="Rcf62a85c9c124f96"/>
  </p:notesMasterIdLst>
  <p:sldIdLst>
    <p:sldId xmlns:r="http://schemas.openxmlformats.org/officeDocument/2006/relationships" id="256" r:id="Re5aa2913caab4f1e"/>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41f36ce2154303" /><Relationship Type="http://schemas.openxmlformats.org/officeDocument/2006/relationships/slideMaster" Target="/ppt/slideMasters/slideMaster1.xml" Id="Rffea889c2991410c" /><Relationship Type="http://schemas.openxmlformats.org/officeDocument/2006/relationships/notesMaster" Target="/ppt/notesMasters/notesMaster1.xml" Id="Rcf62a85c9c124f96" /><Relationship Type="http://schemas.openxmlformats.org/officeDocument/2006/relationships/presProps" Target="/ppt/presProps.xml" Id="R505da6acf3d44c10" /><Relationship Type="http://schemas.openxmlformats.org/officeDocument/2006/relationships/tableStyles" Target="/ppt/tableStyles.xml" Id="Re408919c1abc4ee4" /><Relationship Type="http://schemas.openxmlformats.org/officeDocument/2006/relationships/slide" Target="/ppt/slides/slide1.xml" Id="Re5aa2913caab4f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ff033219b445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99e555695f44ac" /><Relationship Type="http://schemas.openxmlformats.org/officeDocument/2006/relationships/notesMaster" Target="/ppt/notesMasters/notesMaster1.xml" Id="R56aa91fbe99347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12. Updated 13 October 2026. Universal stage counts removed. Workload multiples are analyst sensitivities. Supplier listing groups retain their scope. Recombinant protein estimate is commissioned/disputed; media/resin headlines withheld pending original-file verification. The six product families are broader than the displayed anchors; the values must not be added. Company rows group listing venues, not incorporation or headquarters. GenScript is HK-listed; Gibco maps to Thermo Fisher TMO and Cytiva/HyClone to Danaher DHR. BD BDX is shown for specimen collection/preanalytics; its former Biosciences and Diagnostic Solutions business, including flow cytometry, moved to Waters WAT on 9 February 2026. These are different current equity exposures. Tsingke NEEQ:874813 is not an A-share exchange listing. Brand logos remain original; chart colors use the user-supplied eight-color palette.</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b07278cec748c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43a0c2e22a7400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ab8fea23314a5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a4f875d18744f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80342cc27cf407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5d959035e4647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2DFF4E-5666-4A51-8559-399F62BFE8F1}"/>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3E1212-92C9-4275-BE68-176ED8703A9A}"/>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EBC3C4C-1A76-4AE8-A424-FDBEDB53F82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3CDD4B-28B8-411D-8718-FA881AA58C5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37D9293-61CD-44E7-BB79-B85E09377D5F}"/>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604A93D-8D35-4579-8CBF-2DC46448E8F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DECC06-F707-4503-8843-902C2FF9E88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3B21DC-F463-4C7B-BD8E-E12E56AD662D}"/>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B509BF-44FE-4DB1-A187-32E640BD176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B0E5B8-3A9C-495B-A418-094A904B4A9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d64cd498b049d2" /><Relationship Type="http://schemas.openxmlformats.org/officeDocument/2006/relationships/slideLayout" Target="/ppt/slideLayouts/slideLayout1.xml" Id="Re9d18f2a654b4c48" /><Relationship Type="http://schemas.openxmlformats.org/officeDocument/2006/relationships/slideLayout" Target="/ppt/slideLayouts/slideLayout2.xml" Id="Re6a0c6445be34f84" /><Relationship Type="http://schemas.openxmlformats.org/officeDocument/2006/relationships/slideLayout" Target="/ppt/slideLayouts/slideLayout3.xml" Id="R2b72a0cacbad4b93" /><Relationship Type="http://schemas.openxmlformats.org/officeDocument/2006/relationships/slideLayout" Target="/ppt/slideLayouts/slideLayout4.xml" Id="Ra1b3a5e804e545c3" /><Relationship Type="http://schemas.openxmlformats.org/officeDocument/2006/relationships/slideLayout" Target="/ppt/slideLayouts/slideLayout5.xml" Id="R444ec59681ed439f" /><Relationship Type="http://schemas.openxmlformats.org/officeDocument/2006/relationships/slideLayout" Target="/ppt/slideLayouts/slideLayout6.xml" Id="R2823812c2a0249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d18f2a654b4c48"/>
    <p:sldLayoutId xmlns:r="http://schemas.openxmlformats.org/officeDocument/2006/relationships" id="2147483650" r:id="Re6a0c6445be34f84"/>
    <p:sldLayoutId xmlns:r="http://schemas.openxmlformats.org/officeDocument/2006/relationships" id="2147483651" r:id="R2b72a0cacbad4b93"/>
    <p:sldLayoutId xmlns:r="http://schemas.openxmlformats.org/officeDocument/2006/relationships" id="2147483652" r:id="Ra1b3a5e804e545c3"/>
    <p:sldLayoutId xmlns:r="http://schemas.openxmlformats.org/officeDocument/2006/relationships" id="2147483653" r:id="R444ec59681ed439f"/>
    <p:sldLayoutId xmlns:r="http://schemas.openxmlformats.org/officeDocument/2006/relationships" id="2147483654" r:id="R2823812c2a0249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c429ed4c71c4a20" /><Relationship Type="http://schemas.openxmlformats.org/officeDocument/2006/relationships/image" Target="/ppt/media/image.png" Id="R2ab6efc2bab54862" /><Relationship Type="http://schemas.openxmlformats.org/officeDocument/2006/relationships/image" Target="/ppt/media/image.svg" Id="Rbad2a3e82f424932" /><Relationship Type="http://schemas.openxmlformats.org/officeDocument/2006/relationships/image" Target="/ppt/media/image2.png" Id="R63f1c4be67624dfb" /><Relationship Type="http://schemas.openxmlformats.org/officeDocument/2006/relationships/image" Target="/ppt/media/image3.png" Id="Rb8bf206b499945d7" /><Relationship Type="http://schemas.openxmlformats.org/officeDocument/2006/relationships/image" Target="/ppt/media/image2.svg" Id="Rda04494aa6694f90" /><Relationship Type="http://schemas.openxmlformats.org/officeDocument/2006/relationships/image" Target="/ppt/media/image4.png" Id="Rf7feec6d82e14abb" /><Relationship Type="http://schemas.openxmlformats.org/officeDocument/2006/relationships/image" Target="/ppt/media/image3.svg" Id="Rde9816056d754b77" /><Relationship Type="http://schemas.openxmlformats.org/officeDocument/2006/relationships/image" Target="/ppt/media/image5.png" Id="R02619106c41946fd" /><Relationship Type="http://schemas.openxmlformats.org/officeDocument/2006/relationships/image" Target="/ppt/media/image4.svg" Id="Rf2b31b9c99bd4b52" /><Relationship Type="http://schemas.openxmlformats.org/officeDocument/2006/relationships/image" Target="/ppt/media/image6.png" Id="R3fff92112c8446e5" /><Relationship Type="http://schemas.openxmlformats.org/officeDocument/2006/relationships/image" Target="/ppt/media/image5.svg" Id="R82221df980cd4538" /><Relationship Type="http://schemas.openxmlformats.org/officeDocument/2006/relationships/image" Target="/ppt/media/image7.png" Id="R5454090eb3684053" /><Relationship Type="http://schemas.openxmlformats.org/officeDocument/2006/relationships/image" Target="/ppt/media/image6.svg" Id="R136e747671784580" /><Relationship Type="http://schemas.openxmlformats.org/officeDocument/2006/relationships/image" Target="/ppt/media/image8.png" Id="R7a6afcb0aa114d92" /><Relationship Type="http://schemas.openxmlformats.org/officeDocument/2006/relationships/image" Target="/ppt/media/image9.png" Id="R1ee3d20e7d6f4887" /><Relationship Type="http://schemas.openxmlformats.org/officeDocument/2006/relationships/image" Target="/ppt/media/image7.svg" Id="Ree748c7a4f944ede" /><Relationship Type="http://schemas.openxmlformats.org/officeDocument/2006/relationships/image" Target="/ppt/media/image8.svg" Id="R87271b5ae62b4c87" /><Relationship Type="http://schemas.openxmlformats.org/officeDocument/2006/relationships/image" Target="/ppt/media/image10.png" Id="R41785f03412045e3" /><Relationship Type="http://schemas.openxmlformats.org/officeDocument/2006/relationships/image" Target="/ppt/media/image11.png" Id="R0a302ef79ca0495a" /><Relationship Type="http://schemas.openxmlformats.org/officeDocument/2006/relationships/image" Target="/ppt/media/image9.svg" Id="R638dcd01b1b94fe1" /><Relationship Type="http://schemas.openxmlformats.org/officeDocument/2006/relationships/image" Target="/ppt/media/image12.png" Id="R0b846ef8d6f44472" /><Relationship Type="http://schemas.openxmlformats.org/officeDocument/2006/relationships/notesSlide" Target="/ppt/notesSlides/notesSlide1.xml" Id="R99cca0146e4f45b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3" name="">
            <a:extLst xmlns:a="http://schemas.openxmlformats.org/drawingml/2006/main">
              <a:ext uri="{FF2B5EF4-FFF2-40B4-BE49-F238E27FC236}">
                <a16:creationId xmlns:a16="http://schemas.microsoft.com/office/drawing/2014/main" id="{484809CE-2A0B-4720-A0D0-CF9F895A919E}"/>
              </a:ext>
            </a:extLst>
          </p:cNvPr>
          <p:cNvSpPr>
            <a:spLocks xmlns:a="http://schemas.openxmlformats.org/drawingml/2006/main" noGrp="1"/>
          </p:cNvSpPr>
          <p:nvPr/>
        </p:nvSpPr>
        <p:spPr>
          <a:xfrm xmlns:a="http://schemas.openxmlformats.org/drawingml/2006/main">
            <a:off x="762000" y="457200"/>
            <a:ext cx="76200" cy="800100"/>
          </a:xfrm>
          <a:prstGeom xmlns:a="http://schemas.openxmlformats.org/drawingml/2006/main" prst="rect">
            <a:avLst/>
          </a:prstGeom>
          <a:solidFill xmlns:a="http://schemas.openxmlformats.org/drawingml/2006/main">
            <a:srgbClr val="00355F"/>
          </a:solidFill>
          <a:ln xmlns:a="http://schemas.openxmlformats.org/drawingml/2006/main" w="7620">
            <a:noFill/>
          </a:ln>
        </p:spPr>
      </p:sp>
      <p:sp>
        <p:nvSpPr>
          <p:cNvPr id="2" name="AI selection and biological evidence shape tool demand">
            <a:extLst xmlns:a="http://schemas.openxmlformats.org/drawingml/2006/main">
              <a:ext uri="{FF2B5EF4-FFF2-40B4-BE49-F238E27FC236}">
                <a16:creationId xmlns:a16="http://schemas.microsoft.com/office/drawing/2014/main" id="{48E2506F-BB68-4800-9B7C-65331EFFCBFD}"/>
              </a:ext>
            </a:extLst>
          </p:cNvPr>
          <p:cNvSpPr>
            <a:spLocks xmlns:a="http://schemas.openxmlformats.org/drawingml/2006/main" noGrp="1"/>
          </p:cNvSpPr>
          <p:nvPr/>
        </p:nvSpPr>
        <p:spPr>
          <a:xfrm xmlns:a="http://schemas.openxmlformats.org/drawingml/2006/main">
            <a:off x="1074420" y="434340"/>
            <a:ext cx="1645158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360" b="1">
                <a:solidFill>
                  <a:srgbClr val="00355F"/>
                </a:solidFill>
                <a:latin typeface="Arial"/>
                <a:ea typeface="Arial"/>
                <a:cs typeface="Arial"/>
              </a:defRPr>
            </a:defPPr>
          </a:lstStyle>
          <a:p xmlns:a="http://schemas.openxmlformats.org/drawingml/2006/main">
            <a:pPr algn="l">
              <a:buNone/>
              <a:defRPr sz="3360" b="1">
                <a:solidFill>
                  <a:srgbClr val="00355F"/>
                </a:solidFill>
                <a:latin typeface="Arial"/>
                <a:ea typeface="Arial"/>
                <a:cs typeface="Arial"/>
              </a:defRPr>
            </a:pPr>
            <a:r>
              <a:rPr sz="3360" b="1">
                <a:solidFill>
                  <a:srgbClr val="00355F"/>
                </a:solidFill>
                <a:latin typeface="Arial"/>
                <a:ea typeface="Arial"/>
                <a:cs typeface="Arial"/>
              </a:rPr>
              <a:t>AI selection and biological evidence shape tool demand</a:t>
            </a:r>
          </a:p>
        </p:txBody>
      </p:sp>
      <p:sp>
        <p:nvSpPr>
          <p:cNvPr id="3" name="Workflows vary by modality; paid demand depends on funded assays, depth, net inputs and prices.">
            <a:extLst xmlns:a="http://schemas.openxmlformats.org/drawingml/2006/main">
              <a:ext uri="{FF2B5EF4-FFF2-40B4-BE49-F238E27FC236}">
                <a16:creationId xmlns:a16="http://schemas.microsoft.com/office/drawing/2014/main" id="{D535589C-BE27-42A9-926C-1407893EA77D}"/>
              </a:ext>
            </a:extLst>
          </p:cNvPr>
          <p:cNvSpPr>
            <a:spLocks xmlns:a="http://schemas.openxmlformats.org/drawingml/2006/main" noGrp="1"/>
          </p:cNvSpPr>
          <p:nvPr/>
        </p:nvSpPr>
        <p:spPr>
          <a:xfrm xmlns:a="http://schemas.openxmlformats.org/drawingml/2006/main">
            <a:off x="1074420" y="1043940"/>
            <a:ext cx="1645158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40" b="0">
                <a:solidFill>
                  <a:srgbClr val="00355F"/>
                </a:solidFill>
                <a:latin typeface="Arial"/>
                <a:ea typeface="Arial"/>
                <a:cs typeface="Arial"/>
              </a:defRPr>
            </a:defPPr>
          </a:lstStyle>
          <a:p xmlns:a="http://schemas.openxmlformats.org/drawingml/2006/main">
            <a:pPr algn="l">
              <a:buNone/>
              <a:defRPr sz="1740" b="0">
                <a:solidFill>
                  <a:srgbClr val="00355F"/>
                </a:solidFill>
                <a:latin typeface="Arial"/>
                <a:ea typeface="Arial"/>
                <a:cs typeface="Arial"/>
              </a:defRPr>
            </a:pPr>
            <a:r>
              <a:rPr sz="1740" b="0">
                <a:solidFill>
                  <a:srgbClr val="00355F"/>
                </a:solidFill>
                <a:latin typeface="Arial"/>
                <a:ea typeface="Arial"/>
                <a:cs typeface="Arial"/>
              </a:rPr>
              <a:t>Workflows vary by modality; paid demand depends on funded assays, depth, net inputs and prices.</a:t>
            </a:r>
          </a:p>
        </p:txBody>
      </p:sp>
      <p:sp>
        <p:nvSpPr>
          <p:cNvPr id="4" name="">
            <a:extLst xmlns:a="http://schemas.openxmlformats.org/drawingml/2006/main">
              <a:ext uri="{FF2B5EF4-FFF2-40B4-BE49-F238E27FC236}">
                <a16:creationId xmlns:a16="http://schemas.microsoft.com/office/drawing/2014/main" id="{6447B9BE-D93F-4A7B-9303-E72C26FB7C03}"/>
              </a:ext>
            </a:extLst>
          </p:cNvPr>
          <p:cNvSpPr>
            <a:spLocks xmlns:a="http://schemas.openxmlformats.org/drawingml/2006/main" noGrp="1"/>
          </p:cNvSpPr>
          <p:nvPr/>
        </p:nvSpPr>
        <p:spPr>
          <a:xfrm xmlns:a="http://schemas.openxmlformats.org/drawingml/2006/main">
            <a:off x="762000" y="1744980"/>
            <a:ext cx="16764000" cy="76"/>
          </a:xfrm>
          <a:custGeom xmlns:a="http://schemas.openxmlformats.org/drawingml/2006/main">
            <a:pathLst>
              <a:path w="20955000" h="95">
                <a:moveTo>
                  <a:pt x="0" y="0"/>
                </a:moveTo>
                <a:lnTo>
                  <a:pt x="20955000" y="0"/>
                </a:lnTo>
              </a:path>
            </a:pathLst>
          </a:custGeom>
          <a:noFill xmlns:a="http://schemas.openxmlformats.org/drawingml/2006/main"/>
          <a:ln xmlns:a="http://schemas.openxmlformats.org/drawingml/2006/main" w="7620">
            <a:solidFill>
              <a:srgbClr val="A5A5A5"/>
            </a:solidFill>
            <a:prstDash val="solid"/>
          </a:ln>
        </p:spPr>
      </p:sp>
      <p:sp>
        <p:nvSpPr>
          <p:cNvPr id="5" name="MODALITY-AWARE DISCOVERY WORKFLOW">
            <a:extLst xmlns:a="http://schemas.openxmlformats.org/drawingml/2006/main">
              <a:ext uri="{FF2B5EF4-FFF2-40B4-BE49-F238E27FC236}">
                <a16:creationId xmlns:a16="http://schemas.microsoft.com/office/drawing/2014/main" id="{B5C59D16-D7CD-45BD-8311-7440FA223FF0}"/>
              </a:ext>
            </a:extLst>
          </p:cNvPr>
          <p:cNvSpPr>
            <a:spLocks xmlns:a="http://schemas.openxmlformats.org/drawingml/2006/main" noGrp="1"/>
          </p:cNvSpPr>
          <p:nvPr/>
        </p:nvSpPr>
        <p:spPr>
          <a:xfrm xmlns:a="http://schemas.openxmlformats.org/drawingml/2006/main">
            <a:off x="762000" y="2103120"/>
            <a:ext cx="51816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0" b="1">
                <a:solidFill>
                  <a:srgbClr val="00355F"/>
                </a:solidFill>
                <a:latin typeface="Arial"/>
                <a:ea typeface="Arial"/>
                <a:cs typeface="Arial"/>
              </a:defRPr>
            </a:defPPr>
          </a:lstStyle>
          <a:p xmlns:a="http://schemas.openxmlformats.org/drawingml/2006/main">
            <a:pPr algn="l">
              <a:buNone/>
              <a:defRPr sz="1680" b="1">
                <a:solidFill>
                  <a:srgbClr val="00355F"/>
                </a:solidFill>
                <a:latin typeface="Arial"/>
                <a:ea typeface="Arial"/>
                <a:cs typeface="Arial"/>
              </a:defRPr>
            </a:pPr>
            <a:r>
              <a:rPr sz="1680" b="1">
                <a:solidFill>
                  <a:srgbClr val="00355F"/>
                </a:solidFill>
                <a:latin typeface="Arial"/>
                <a:ea typeface="Arial"/>
                <a:cs typeface="Arial"/>
              </a:rPr>
              <a:t>MODALITY-AWARE DISCOVERY WORKFLOW</a:t>
            </a:r>
          </a:p>
        </p:txBody>
      </p:sp>
      <p:sp>
        <p:nvSpPr>
          <p:cNvPr id="6" name="Schematic widths; workload multipliers are sensitivities">
            <a:extLst xmlns:a="http://schemas.openxmlformats.org/drawingml/2006/main">
              <a:ext uri="{FF2B5EF4-FFF2-40B4-BE49-F238E27FC236}">
                <a16:creationId xmlns:a16="http://schemas.microsoft.com/office/drawing/2014/main" id="{2251A0E4-361F-42C4-A0FD-CE0EF326D6F4}"/>
              </a:ext>
            </a:extLst>
          </p:cNvPr>
          <p:cNvSpPr>
            <a:spLocks xmlns:a="http://schemas.openxmlformats.org/drawingml/2006/main" noGrp="1"/>
          </p:cNvSpPr>
          <p:nvPr/>
        </p:nvSpPr>
        <p:spPr>
          <a:xfrm xmlns:a="http://schemas.openxmlformats.org/drawingml/2006/main">
            <a:off x="762000" y="2461260"/>
            <a:ext cx="5181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20" b="0">
                <a:solidFill>
                  <a:srgbClr val="00355F"/>
                </a:solidFill>
                <a:latin typeface="Arial"/>
                <a:ea typeface="Arial"/>
                <a:cs typeface="Arial"/>
              </a:defRPr>
            </a:defPPr>
          </a:lstStyle>
          <a:p xmlns:a="http://schemas.openxmlformats.org/drawingml/2006/main">
            <a:pPr algn="l">
              <a:buNone/>
              <a:defRPr sz="1320" b="0">
                <a:solidFill>
                  <a:srgbClr val="00355F"/>
                </a:solidFill>
                <a:latin typeface="Arial"/>
                <a:ea typeface="Arial"/>
                <a:cs typeface="Arial"/>
              </a:defRPr>
            </a:pPr>
            <a:r>
              <a:rPr sz="1320" b="0">
                <a:solidFill>
                  <a:srgbClr val="00355F"/>
                </a:solidFill>
                <a:latin typeface="Arial"/>
                <a:ea typeface="Arial"/>
                <a:cs typeface="Arial"/>
              </a:rPr>
              <a:t>Schematic widths; workload multipliers are sensitivities</a:t>
            </a:r>
          </a:p>
        </p:txBody>
      </p:sp>
      <p:sp>
        <p:nvSpPr>
          <p:cNvPr id="7" name="">
            <a:extLst xmlns:a="http://schemas.openxmlformats.org/drawingml/2006/main">
              <a:ext uri="{FF2B5EF4-FFF2-40B4-BE49-F238E27FC236}">
                <a16:creationId xmlns:a16="http://schemas.microsoft.com/office/drawing/2014/main" id="{70AA29D5-E297-44F0-B733-62C6261ACAE3}"/>
              </a:ext>
            </a:extLst>
          </p:cNvPr>
          <p:cNvSpPr>
            <a:spLocks xmlns:a="http://schemas.openxmlformats.org/drawingml/2006/main" noGrp="1"/>
          </p:cNvSpPr>
          <p:nvPr/>
        </p:nvSpPr>
        <p:spPr>
          <a:xfrm xmlns:a="http://schemas.openxmlformats.org/drawingml/2006/main">
            <a:off x="762000" y="2971800"/>
            <a:ext cx="5181600" cy="1082040"/>
          </a:xfrm>
          <a:custGeom xmlns:a="http://schemas.openxmlformats.org/drawingml/2006/main">
            <a:pathLst>
              <a:path w="6477000" h="1352550">
                <a:moveTo>
                  <a:pt x="0" y="0"/>
                </a:moveTo>
                <a:lnTo>
                  <a:pt x="6477000" y="0"/>
                </a:lnTo>
                <a:lnTo>
                  <a:pt x="5667375" y="1352550"/>
                </a:lnTo>
                <a:lnTo>
                  <a:pt x="809625" y="1352550"/>
                </a:lnTo>
                <a:close/>
              </a:path>
            </a:pathLst>
          </a:custGeom>
          <a:solidFill xmlns:a="http://schemas.openxmlformats.org/drawingml/2006/main">
            <a:srgbClr val="ACD4F1"/>
          </a:solidFill>
          <a:ln xmlns:a="http://schemas.openxmlformats.org/drawingml/2006/main" w="16764">
            <a:solidFill>
              <a:srgbClr val="00355F"/>
            </a:solidFill>
          </a:ln>
        </p:spPr>
      </p:sp>
      <p:sp>
        <p:nvSpPr>
          <p:cNvPr id="8" name="Virtual search / design">
            <a:extLst xmlns:a="http://schemas.openxmlformats.org/drawingml/2006/main">
              <a:ext uri="{FF2B5EF4-FFF2-40B4-BE49-F238E27FC236}">
                <a16:creationId xmlns:a16="http://schemas.microsoft.com/office/drawing/2014/main" id="{99CFA72E-359D-4E1F-8543-D9B7586A76CF}"/>
              </a:ext>
            </a:extLst>
          </p:cNvPr>
          <p:cNvSpPr>
            <a:spLocks xmlns:a="http://schemas.openxmlformats.org/drawingml/2006/main" noGrp="1"/>
          </p:cNvSpPr>
          <p:nvPr/>
        </p:nvSpPr>
        <p:spPr>
          <a:xfrm xmlns:a="http://schemas.openxmlformats.org/drawingml/2006/main">
            <a:off x="762000" y="3131820"/>
            <a:ext cx="51816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00355F"/>
                </a:solidFill>
                <a:latin typeface="Arial"/>
                <a:ea typeface="Arial"/>
                <a:cs typeface="Arial"/>
              </a:defRPr>
            </a:defPPr>
          </a:lstStyle>
          <a:p xmlns:a="http://schemas.openxmlformats.org/drawingml/2006/main">
            <a:pPr algn="ctr">
              <a:buNone/>
              <a:defRPr sz="1740" b="1">
                <a:solidFill>
                  <a:srgbClr val="00355F"/>
                </a:solidFill>
                <a:latin typeface="Arial"/>
                <a:ea typeface="Arial"/>
                <a:cs typeface="Arial"/>
              </a:defRPr>
            </a:pPr>
            <a:r>
              <a:rPr sz="1740" b="1">
                <a:solidFill>
                  <a:srgbClr val="00355F"/>
                </a:solidFill>
                <a:latin typeface="Arial"/>
                <a:ea typeface="Arial"/>
                <a:cs typeface="Arial"/>
              </a:rPr>
              <a:t>Virtual search / design</a:t>
            </a:r>
          </a:p>
        </p:txBody>
      </p:sp>
      <p:sp>
        <p:nvSpPr>
          <p:cNvPr id="9" name="Quality + selection">
            <a:extLst xmlns:a="http://schemas.openxmlformats.org/drawingml/2006/main">
              <a:ext uri="{FF2B5EF4-FFF2-40B4-BE49-F238E27FC236}">
                <a16:creationId xmlns:a16="http://schemas.microsoft.com/office/drawing/2014/main" id="{55AB52E9-5B72-4D56-9A1D-A8AF29F454DA}"/>
              </a:ext>
            </a:extLst>
          </p:cNvPr>
          <p:cNvSpPr>
            <a:spLocks xmlns:a="http://schemas.openxmlformats.org/drawingml/2006/main" noGrp="1"/>
          </p:cNvSpPr>
          <p:nvPr/>
        </p:nvSpPr>
        <p:spPr>
          <a:xfrm xmlns:a="http://schemas.openxmlformats.org/drawingml/2006/main">
            <a:off x="762000" y="3489960"/>
            <a:ext cx="51816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0" b="1">
                <a:solidFill>
                  <a:srgbClr val="00355F"/>
                </a:solidFill>
                <a:latin typeface="Arial"/>
                <a:ea typeface="Arial"/>
                <a:cs typeface="Arial"/>
              </a:defRPr>
            </a:defPPr>
          </a:lstStyle>
          <a:p xmlns:a="http://schemas.openxmlformats.org/drawingml/2006/main">
            <a:pPr algn="ctr">
              <a:buNone/>
              <a:defRPr sz="1680" b="1">
                <a:solidFill>
                  <a:srgbClr val="00355F"/>
                </a:solidFill>
                <a:latin typeface="Arial"/>
                <a:ea typeface="Arial"/>
                <a:cs typeface="Arial"/>
              </a:defRPr>
            </a:pPr>
            <a:r>
              <a:rPr sz="1680" b="1">
                <a:solidFill>
                  <a:srgbClr val="00355F"/>
                </a:solidFill>
                <a:latin typeface="Arial"/>
                <a:ea typeface="Arial"/>
                <a:cs typeface="Arial"/>
              </a:rPr>
              <a:t>Quality + selection</a:t>
            </a:r>
          </a:p>
        </p:txBody>
      </p:sp>
      <p:sp>
        <p:nvSpPr>
          <p:cNvPr id="10" name="">
            <a:extLst xmlns:a="http://schemas.openxmlformats.org/drawingml/2006/main">
              <a:ext uri="{FF2B5EF4-FFF2-40B4-BE49-F238E27FC236}">
                <a16:creationId xmlns:a16="http://schemas.microsoft.com/office/drawing/2014/main" id="{D8FA915D-3765-49B3-BEC2-27EEF19E2143}"/>
              </a:ext>
            </a:extLst>
          </p:cNvPr>
          <p:cNvSpPr>
            <a:spLocks xmlns:a="http://schemas.openxmlformats.org/drawingml/2006/main" noGrp="1"/>
          </p:cNvSpPr>
          <p:nvPr/>
        </p:nvSpPr>
        <p:spPr>
          <a:xfrm xmlns:a="http://schemas.openxmlformats.org/drawingml/2006/main">
            <a:off x="1409700" y="4175760"/>
            <a:ext cx="3886200" cy="975360"/>
          </a:xfrm>
          <a:custGeom xmlns:a="http://schemas.openxmlformats.org/drawingml/2006/main">
            <a:pathLst>
              <a:path w="4857750" h="1219200">
                <a:moveTo>
                  <a:pt x="0" y="0"/>
                </a:moveTo>
                <a:lnTo>
                  <a:pt x="4857750" y="0"/>
                </a:lnTo>
                <a:lnTo>
                  <a:pt x="4262438" y="1219200"/>
                </a:lnTo>
                <a:lnTo>
                  <a:pt x="595313" y="1219200"/>
                </a:lnTo>
                <a:close/>
              </a:path>
            </a:pathLst>
          </a:custGeom>
          <a:solidFill xmlns:a="http://schemas.openxmlformats.org/drawingml/2006/main">
            <a:srgbClr val="7399C6"/>
          </a:solidFill>
          <a:ln xmlns:a="http://schemas.openxmlformats.org/drawingml/2006/main" w="16764">
            <a:solidFill>
              <a:srgbClr val="00355F"/>
            </a:solidFill>
          </a:ln>
        </p:spPr>
      </p:sp>
      <p:sp>
        <p:nvSpPr>
          <p:cNvPr id="11" name="Physical samples">
            <a:extLst xmlns:a="http://schemas.openxmlformats.org/drawingml/2006/main">
              <a:ext uri="{FF2B5EF4-FFF2-40B4-BE49-F238E27FC236}">
                <a16:creationId xmlns:a16="http://schemas.microsoft.com/office/drawing/2014/main" id="{C9AE928B-7978-4413-A61F-289B7D7326A6}"/>
              </a:ext>
            </a:extLst>
          </p:cNvPr>
          <p:cNvSpPr>
            <a:spLocks xmlns:a="http://schemas.openxmlformats.org/drawingml/2006/main" noGrp="1"/>
          </p:cNvSpPr>
          <p:nvPr/>
        </p:nvSpPr>
        <p:spPr>
          <a:xfrm xmlns:a="http://schemas.openxmlformats.org/drawingml/2006/main">
            <a:off x="1409700" y="4335780"/>
            <a:ext cx="38862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00355F"/>
                </a:solidFill>
                <a:latin typeface="Arial"/>
                <a:ea typeface="Arial"/>
                <a:cs typeface="Arial"/>
              </a:defRPr>
            </a:defPPr>
          </a:lstStyle>
          <a:p xmlns:a="http://schemas.openxmlformats.org/drawingml/2006/main">
            <a:pPr algn="ctr">
              <a:buNone/>
              <a:defRPr sz="1740" b="1">
                <a:solidFill>
                  <a:srgbClr val="00355F"/>
                </a:solidFill>
                <a:latin typeface="Arial"/>
                <a:ea typeface="Arial"/>
                <a:cs typeface="Arial"/>
              </a:defRPr>
            </a:pPr>
            <a:r>
              <a:rPr sz="1740" b="1">
                <a:solidFill>
                  <a:srgbClr val="00355F"/>
                </a:solidFill>
                <a:latin typeface="Arial"/>
                <a:ea typeface="Arial"/>
                <a:cs typeface="Arial"/>
              </a:rPr>
              <a:t>Physical samples</a:t>
            </a:r>
          </a:p>
        </p:txBody>
      </p:sp>
      <p:sp>
        <p:nvSpPr>
          <p:cNvPr id="12" name="Modality-dependent">
            <a:extLst xmlns:a="http://schemas.openxmlformats.org/drawingml/2006/main">
              <a:ext uri="{FF2B5EF4-FFF2-40B4-BE49-F238E27FC236}">
                <a16:creationId xmlns:a16="http://schemas.microsoft.com/office/drawing/2014/main" id="{B1F1FA0C-5044-4848-8C61-618E094CED8B}"/>
              </a:ext>
            </a:extLst>
          </p:cNvPr>
          <p:cNvSpPr>
            <a:spLocks xmlns:a="http://schemas.openxmlformats.org/drawingml/2006/main" noGrp="1"/>
          </p:cNvSpPr>
          <p:nvPr/>
        </p:nvSpPr>
        <p:spPr>
          <a:xfrm xmlns:a="http://schemas.openxmlformats.org/drawingml/2006/main">
            <a:off x="1409700" y="4693920"/>
            <a:ext cx="38862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60" b="1">
                <a:solidFill>
                  <a:srgbClr val="00355F"/>
                </a:solidFill>
                <a:latin typeface="Arial"/>
                <a:ea typeface="Arial"/>
                <a:cs typeface="Arial"/>
              </a:defRPr>
            </a:defPPr>
          </a:lstStyle>
          <a:p xmlns:a="http://schemas.openxmlformats.org/drawingml/2006/main">
            <a:pPr algn="ctr">
              <a:buNone/>
              <a:defRPr sz="1560" b="1">
                <a:solidFill>
                  <a:srgbClr val="00355F"/>
                </a:solidFill>
                <a:latin typeface="Arial"/>
                <a:ea typeface="Arial"/>
                <a:cs typeface="Arial"/>
              </a:defRPr>
            </a:pPr>
            <a:r>
              <a:rPr sz="1560" b="1">
                <a:solidFill>
                  <a:srgbClr val="00355F"/>
                </a:solidFill>
                <a:latin typeface="Arial"/>
                <a:ea typeface="Arial"/>
                <a:cs typeface="Arial"/>
              </a:rPr>
              <a:t>Modality-dependent</a:t>
            </a:r>
          </a:p>
        </p:txBody>
      </p:sp>
      <p:sp>
        <p:nvSpPr>
          <p:cNvPr id="13" name="">
            <a:extLst xmlns:a="http://schemas.openxmlformats.org/drawingml/2006/main">
              <a:ext uri="{FF2B5EF4-FFF2-40B4-BE49-F238E27FC236}">
                <a16:creationId xmlns:a16="http://schemas.microsoft.com/office/drawing/2014/main" id="{4731F397-6FB6-4F45-A7E7-A5059594CC58}"/>
              </a:ext>
            </a:extLst>
          </p:cNvPr>
          <p:cNvSpPr>
            <a:spLocks xmlns:a="http://schemas.openxmlformats.org/drawingml/2006/main" noGrp="1"/>
          </p:cNvSpPr>
          <p:nvPr/>
        </p:nvSpPr>
        <p:spPr>
          <a:xfrm xmlns:a="http://schemas.openxmlformats.org/drawingml/2006/main">
            <a:off x="1885950" y="5273040"/>
            <a:ext cx="2933700" cy="1005840"/>
          </a:xfrm>
          <a:custGeom xmlns:a="http://schemas.openxmlformats.org/drawingml/2006/main">
            <a:pathLst>
              <a:path w="3667125" h="1257300">
                <a:moveTo>
                  <a:pt x="0" y="0"/>
                </a:moveTo>
                <a:lnTo>
                  <a:pt x="3667125" y="0"/>
                </a:lnTo>
                <a:lnTo>
                  <a:pt x="3119438" y="1257300"/>
                </a:lnTo>
                <a:lnTo>
                  <a:pt x="547688" y="1257300"/>
                </a:lnTo>
                <a:close/>
              </a:path>
            </a:pathLst>
          </a:custGeom>
          <a:solidFill xmlns:a="http://schemas.openxmlformats.org/drawingml/2006/main">
            <a:srgbClr val="00355F"/>
          </a:solidFill>
          <a:ln xmlns:a="http://schemas.openxmlformats.org/drawingml/2006/main" w="16764">
            <a:solidFill>
              <a:srgbClr val="00355F"/>
            </a:solidFill>
          </a:ln>
        </p:spPr>
      </p:sp>
      <p:sp>
        <p:nvSpPr>
          <p:cNvPr id="14" name="Assay workload">
            <a:extLst xmlns:a="http://schemas.openxmlformats.org/drawingml/2006/main">
              <a:ext uri="{FF2B5EF4-FFF2-40B4-BE49-F238E27FC236}">
                <a16:creationId xmlns:a16="http://schemas.microsoft.com/office/drawing/2014/main" id="{D90912C3-5A31-4C01-853C-C83786367DCC}"/>
              </a:ext>
            </a:extLst>
          </p:cNvPr>
          <p:cNvSpPr>
            <a:spLocks xmlns:a="http://schemas.openxmlformats.org/drawingml/2006/main" noGrp="1"/>
          </p:cNvSpPr>
          <p:nvPr/>
        </p:nvSpPr>
        <p:spPr>
          <a:xfrm xmlns:a="http://schemas.openxmlformats.org/drawingml/2006/main">
            <a:off x="1885950" y="5433060"/>
            <a:ext cx="29337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FFFFFF"/>
                </a:solidFill>
                <a:latin typeface="Arial"/>
                <a:ea typeface="Arial"/>
                <a:cs typeface="Arial"/>
              </a:defRPr>
            </a:defPPr>
          </a:lstStyle>
          <a:p xmlns:a="http://schemas.openxmlformats.org/drawingml/2006/main">
            <a:pPr algn="ctr">
              <a:buNone/>
              <a:defRPr sz="1740" b="1">
                <a:solidFill>
                  <a:srgbClr val="FFFFFF"/>
                </a:solidFill>
                <a:latin typeface="Arial"/>
                <a:ea typeface="Arial"/>
                <a:cs typeface="Arial"/>
              </a:defRPr>
            </a:pPr>
            <a:r>
              <a:rPr sz="1740" b="1">
                <a:solidFill>
                  <a:srgbClr val="FFFFFF"/>
                </a:solidFill>
                <a:latin typeface="Arial"/>
                <a:ea typeface="Arial"/>
                <a:cs typeface="Arial"/>
              </a:rPr>
              <a:t>Assay workload</a:t>
            </a:r>
          </a:p>
        </p:txBody>
      </p:sp>
      <p:sp>
        <p:nvSpPr>
          <p:cNvPr id="15" name="1× / 2× / 5× / 10×">
            <a:extLst xmlns:a="http://schemas.openxmlformats.org/drawingml/2006/main">
              <a:ext uri="{FF2B5EF4-FFF2-40B4-BE49-F238E27FC236}">
                <a16:creationId xmlns:a16="http://schemas.microsoft.com/office/drawing/2014/main" id="{FE77CE63-E0B6-4E21-B2F1-A4D80D791C57}"/>
              </a:ext>
            </a:extLst>
          </p:cNvPr>
          <p:cNvSpPr>
            <a:spLocks xmlns:a="http://schemas.openxmlformats.org/drawingml/2006/main" noGrp="1"/>
          </p:cNvSpPr>
          <p:nvPr/>
        </p:nvSpPr>
        <p:spPr>
          <a:xfrm xmlns:a="http://schemas.openxmlformats.org/drawingml/2006/main">
            <a:off x="1885950" y="5791200"/>
            <a:ext cx="29337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40" b="1">
                <a:solidFill>
                  <a:srgbClr val="FFFFFF"/>
                </a:solidFill>
                <a:latin typeface="Arial"/>
                <a:ea typeface="Arial"/>
                <a:cs typeface="Arial"/>
              </a:defRPr>
            </a:defPPr>
          </a:lstStyle>
          <a:p xmlns:a="http://schemas.openxmlformats.org/drawingml/2006/main">
            <a:pPr algn="ctr">
              <a:buNone/>
              <a:defRPr sz="1440" b="1">
                <a:solidFill>
                  <a:srgbClr val="FFFFFF"/>
                </a:solidFill>
                <a:latin typeface="Arial"/>
                <a:ea typeface="Arial"/>
                <a:cs typeface="Arial"/>
              </a:defRPr>
            </a:pPr>
            <a:r>
              <a:rPr sz="1440" b="1">
                <a:solidFill>
                  <a:srgbClr val="FFFFFF"/>
                </a:solidFill>
                <a:latin typeface="Arial"/>
                <a:ea typeface="Arial"/>
                <a:cs typeface="Arial"/>
              </a:rPr>
              <a:t>1× / 2× / 5× / 10×</a:t>
            </a:r>
          </a:p>
        </p:txBody>
      </p:sp>
      <p:sp>
        <p:nvSpPr>
          <p:cNvPr id="16" name="">
            <a:extLst xmlns:a="http://schemas.openxmlformats.org/drawingml/2006/main">
              <a:ext uri="{FF2B5EF4-FFF2-40B4-BE49-F238E27FC236}">
                <a16:creationId xmlns:a16="http://schemas.microsoft.com/office/drawing/2014/main" id="{08BECAC5-0C74-441D-A00F-B3DAF243BE1D}"/>
              </a:ext>
            </a:extLst>
          </p:cNvPr>
          <p:cNvSpPr>
            <a:spLocks xmlns:a="http://schemas.openxmlformats.org/drawingml/2006/main" noGrp="1"/>
          </p:cNvSpPr>
          <p:nvPr/>
        </p:nvSpPr>
        <p:spPr>
          <a:xfrm xmlns:a="http://schemas.openxmlformats.org/drawingml/2006/main">
            <a:off x="2324100" y="6400800"/>
            <a:ext cx="2057400" cy="815340"/>
          </a:xfrm>
          <a:custGeom xmlns:a="http://schemas.openxmlformats.org/drawingml/2006/main">
            <a:pathLst>
              <a:path w="2571750" h="1019175">
                <a:moveTo>
                  <a:pt x="0" y="0"/>
                </a:moveTo>
                <a:lnTo>
                  <a:pt x="2571750" y="0"/>
                </a:lnTo>
                <a:lnTo>
                  <a:pt x="2238375" y="1019175"/>
                </a:lnTo>
                <a:lnTo>
                  <a:pt x="333375" y="1019175"/>
                </a:lnTo>
                <a:close/>
              </a:path>
            </a:pathLst>
          </a:custGeom>
          <a:solidFill xmlns:a="http://schemas.openxmlformats.org/drawingml/2006/main">
            <a:srgbClr val="FFFFFF"/>
          </a:solidFill>
          <a:ln xmlns:a="http://schemas.openxmlformats.org/drawingml/2006/main" w="16764">
            <a:solidFill>
              <a:srgbClr val="F67F26"/>
            </a:solidFill>
          </a:ln>
        </p:spPr>
      </p:sp>
      <p:sp>
        <p:nvSpPr>
          <p:cNvPr id="17" name="Clinical entry">
            <a:extLst xmlns:a="http://schemas.openxmlformats.org/drawingml/2006/main">
              <a:ext uri="{FF2B5EF4-FFF2-40B4-BE49-F238E27FC236}">
                <a16:creationId xmlns:a16="http://schemas.microsoft.com/office/drawing/2014/main" id="{B4A8E6DC-1767-4B09-A2BD-234165D57CC7}"/>
              </a:ext>
            </a:extLst>
          </p:cNvPr>
          <p:cNvSpPr>
            <a:spLocks xmlns:a="http://schemas.openxmlformats.org/drawingml/2006/main" noGrp="1"/>
          </p:cNvSpPr>
          <p:nvPr/>
        </p:nvSpPr>
        <p:spPr>
          <a:xfrm xmlns:a="http://schemas.openxmlformats.org/drawingml/2006/main">
            <a:off x="2324100" y="6560820"/>
            <a:ext cx="20574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80" b="1">
                <a:solidFill>
                  <a:srgbClr val="00355F"/>
                </a:solidFill>
                <a:latin typeface="Arial"/>
                <a:ea typeface="Arial"/>
                <a:cs typeface="Arial"/>
              </a:defRPr>
            </a:defPPr>
          </a:lstStyle>
          <a:p xmlns:a="http://schemas.openxmlformats.org/drawingml/2006/main">
            <a:pPr algn="ctr">
              <a:buNone/>
              <a:defRPr sz="1380" b="1">
                <a:solidFill>
                  <a:srgbClr val="00355F"/>
                </a:solidFill>
                <a:latin typeface="Arial"/>
                <a:ea typeface="Arial"/>
                <a:cs typeface="Arial"/>
              </a:defRPr>
            </a:pPr>
            <a:r>
              <a:rPr sz="1380" b="1">
                <a:solidFill>
                  <a:srgbClr val="00355F"/>
                </a:solidFill>
                <a:latin typeface="Arial"/>
                <a:ea typeface="Arial"/>
                <a:cs typeface="Arial"/>
              </a:rPr>
              <a:t>Clinical entry</a:t>
            </a:r>
          </a:p>
        </p:txBody>
      </p:sp>
      <p:sp>
        <p:nvSpPr>
          <p:cNvPr id="18" name="Funded programs">
            <a:extLst xmlns:a="http://schemas.openxmlformats.org/drawingml/2006/main">
              <a:ext uri="{FF2B5EF4-FFF2-40B4-BE49-F238E27FC236}">
                <a16:creationId xmlns:a16="http://schemas.microsoft.com/office/drawing/2014/main" id="{B9D8EACD-48A2-40B8-A6ED-1CFE36C23FBB}"/>
              </a:ext>
            </a:extLst>
          </p:cNvPr>
          <p:cNvSpPr>
            <a:spLocks xmlns:a="http://schemas.openxmlformats.org/drawingml/2006/main" noGrp="1"/>
          </p:cNvSpPr>
          <p:nvPr/>
        </p:nvSpPr>
        <p:spPr>
          <a:xfrm xmlns:a="http://schemas.openxmlformats.org/drawingml/2006/main">
            <a:off x="2324100" y="6918960"/>
            <a:ext cx="20574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200" b="1">
                <a:solidFill>
                  <a:srgbClr val="00355F"/>
                </a:solidFill>
                <a:latin typeface="Arial"/>
                <a:ea typeface="Arial"/>
                <a:cs typeface="Arial"/>
              </a:defRPr>
            </a:defPPr>
          </a:lstStyle>
          <a:p xmlns:a="http://schemas.openxmlformats.org/drawingml/2006/main">
            <a:pPr algn="ctr">
              <a:buNone/>
              <a:defRPr sz="1200" b="1">
                <a:solidFill>
                  <a:srgbClr val="00355F"/>
                </a:solidFill>
                <a:latin typeface="Arial"/>
                <a:ea typeface="Arial"/>
                <a:cs typeface="Arial"/>
              </a:defRPr>
            </a:pPr>
            <a:r>
              <a:rPr sz="1200" b="1">
                <a:solidFill>
                  <a:srgbClr val="00355F"/>
                </a:solidFill>
                <a:latin typeface="Arial"/>
                <a:ea typeface="Arial"/>
                <a:cs typeface="Arial"/>
              </a:rPr>
              <a:t>Funded programs</a:t>
            </a:r>
          </a:p>
        </p:txBody>
      </p:sp>
      <p:sp>
        <p:nvSpPr>
          <p:cNvPr id="19" name="">
            <a:extLst xmlns:a="http://schemas.openxmlformats.org/drawingml/2006/main">
              <a:ext uri="{FF2B5EF4-FFF2-40B4-BE49-F238E27FC236}">
                <a16:creationId xmlns:a16="http://schemas.microsoft.com/office/drawing/2014/main" id="{DBCE1E9F-3A57-486B-AB14-A6DCBA3BCB52}"/>
              </a:ext>
            </a:extLst>
          </p:cNvPr>
          <p:cNvSpPr>
            <a:spLocks xmlns:a="http://schemas.openxmlformats.org/drawingml/2006/main" noGrp="1"/>
          </p:cNvSpPr>
          <p:nvPr/>
        </p:nvSpPr>
        <p:spPr>
          <a:xfrm xmlns:a="http://schemas.openxmlformats.org/drawingml/2006/main">
            <a:off x="2590800" y="7338060"/>
            <a:ext cx="1524000" cy="815340"/>
          </a:xfrm>
          <a:custGeom xmlns:a="http://schemas.openxmlformats.org/drawingml/2006/main">
            <a:pathLst>
              <a:path w="1905000" h="1019175">
                <a:moveTo>
                  <a:pt x="0" y="0"/>
                </a:moveTo>
                <a:lnTo>
                  <a:pt x="1905000" y="0"/>
                </a:lnTo>
                <a:lnTo>
                  <a:pt x="1700213" y="1019175"/>
                </a:lnTo>
                <a:lnTo>
                  <a:pt x="204788" y="1019175"/>
                </a:lnTo>
                <a:close/>
              </a:path>
            </a:pathLst>
          </a:custGeom>
          <a:solidFill xmlns:a="http://schemas.openxmlformats.org/drawingml/2006/main">
            <a:srgbClr val="FFFFFF"/>
          </a:solidFill>
          <a:ln xmlns:a="http://schemas.openxmlformats.org/drawingml/2006/main" w="16764">
            <a:solidFill>
              <a:srgbClr val="BE3232"/>
            </a:solidFill>
          </a:ln>
        </p:spPr>
      </p:sp>
      <p:sp>
        <p:nvSpPr>
          <p:cNvPr id="20" name="Approval gains">
            <a:extLst xmlns:a="http://schemas.openxmlformats.org/drawingml/2006/main">
              <a:ext uri="{FF2B5EF4-FFF2-40B4-BE49-F238E27FC236}">
                <a16:creationId xmlns:a16="http://schemas.microsoft.com/office/drawing/2014/main" id="{C0975C86-92A4-4A93-BECC-B245F5C68D10}"/>
              </a:ext>
            </a:extLst>
          </p:cNvPr>
          <p:cNvSpPr>
            <a:spLocks xmlns:a="http://schemas.openxmlformats.org/drawingml/2006/main" noGrp="1"/>
          </p:cNvSpPr>
          <p:nvPr/>
        </p:nvSpPr>
        <p:spPr>
          <a:xfrm xmlns:a="http://schemas.openxmlformats.org/drawingml/2006/main">
            <a:off x="2590800" y="7498080"/>
            <a:ext cx="15240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80" b="1">
                <a:solidFill>
                  <a:srgbClr val="00355F"/>
                </a:solidFill>
                <a:latin typeface="Arial"/>
                <a:ea typeface="Arial"/>
                <a:cs typeface="Arial"/>
              </a:defRPr>
            </a:defPPr>
          </a:lstStyle>
          <a:p xmlns:a="http://schemas.openxmlformats.org/drawingml/2006/main">
            <a:pPr algn="ctr">
              <a:buNone/>
              <a:defRPr sz="1380" b="1">
                <a:solidFill>
                  <a:srgbClr val="00355F"/>
                </a:solidFill>
                <a:latin typeface="Arial"/>
                <a:ea typeface="Arial"/>
                <a:cs typeface="Arial"/>
              </a:defRPr>
            </a:pPr>
            <a:r>
              <a:rPr sz="1380" b="1">
                <a:solidFill>
                  <a:srgbClr val="00355F"/>
                </a:solidFill>
                <a:latin typeface="Arial"/>
                <a:ea typeface="Arial"/>
                <a:cs typeface="Arial"/>
              </a:rPr>
              <a:t>Approval gains</a:t>
            </a:r>
          </a:p>
        </p:txBody>
      </p:sp>
      <p:sp>
        <p:nvSpPr>
          <p:cNvPr id="21" name="Unproven">
            <a:extLst xmlns:a="http://schemas.openxmlformats.org/drawingml/2006/main">
              <a:ext uri="{FF2B5EF4-FFF2-40B4-BE49-F238E27FC236}">
                <a16:creationId xmlns:a16="http://schemas.microsoft.com/office/drawing/2014/main" id="{3B63E9A1-2F6D-4CF8-BC91-2C0CD4C89CD1}"/>
              </a:ext>
            </a:extLst>
          </p:cNvPr>
          <p:cNvSpPr>
            <a:spLocks xmlns:a="http://schemas.openxmlformats.org/drawingml/2006/main" noGrp="1"/>
          </p:cNvSpPr>
          <p:nvPr/>
        </p:nvSpPr>
        <p:spPr>
          <a:xfrm xmlns:a="http://schemas.openxmlformats.org/drawingml/2006/main">
            <a:off x="2590800" y="7856220"/>
            <a:ext cx="15240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1">
                <a:solidFill>
                  <a:srgbClr val="00355F"/>
                </a:solidFill>
                <a:latin typeface="Arial"/>
                <a:ea typeface="Arial"/>
                <a:cs typeface="Arial"/>
              </a:defRPr>
            </a:defPPr>
          </a:lstStyle>
          <a:p xmlns:a="http://schemas.openxmlformats.org/drawingml/2006/main">
            <a:pPr algn="ctr">
              <a:buNone/>
              <a:defRPr sz="1500" b="1">
                <a:solidFill>
                  <a:srgbClr val="00355F"/>
                </a:solidFill>
                <a:latin typeface="Arial"/>
                <a:ea typeface="Arial"/>
                <a:cs typeface="Arial"/>
              </a:defRPr>
            </a:pPr>
            <a:r>
              <a:rPr sz="1500" b="1">
                <a:solidFill>
                  <a:srgbClr val="00355F"/>
                </a:solidFill>
                <a:latin typeface="Arial"/>
                <a:ea typeface="Arial"/>
                <a:cs typeface="Arial"/>
              </a:rPr>
              <a:t>Unproven</a:t>
            </a:r>
          </a:p>
        </p:txBody>
      </p:sp>
      <p:sp>
        <p:nvSpPr>
          <p:cNvPr id="22" name="">
            <a:extLst xmlns:a="http://schemas.openxmlformats.org/drawingml/2006/main">
              <a:ext uri="{FF2B5EF4-FFF2-40B4-BE49-F238E27FC236}">
                <a16:creationId xmlns:a16="http://schemas.microsoft.com/office/drawing/2014/main" id="{E9BDC061-2286-4F81-A8C1-EAC3366EA5FD}"/>
              </a:ext>
            </a:extLst>
          </p:cNvPr>
          <p:cNvSpPr>
            <a:spLocks xmlns:a="http://schemas.openxmlformats.org/drawingml/2006/main" noGrp="1"/>
          </p:cNvSpPr>
          <p:nvPr/>
        </p:nvSpPr>
        <p:spPr>
          <a:xfrm xmlns:a="http://schemas.openxmlformats.org/drawingml/2006/main">
            <a:off x="5539740" y="4175760"/>
            <a:ext cx="342900" cy="76"/>
          </a:xfrm>
          <a:custGeom xmlns:a="http://schemas.openxmlformats.org/drawingml/2006/main">
            <a:pathLst>
              <a:path w="428625" h="95">
                <a:moveTo>
                  <a:pt x="0" y="0"/>
                </a:moveTo>
                <a:lnTo>
                  <a:pt x="428625" y="0"/>
                </a:lnTo>
              </a:path>
            </a:pathLst>
          </a:custGeom>
          <a:noFill xmlns:a="http://schemas.openxmlformats.org/drawingml/2006/main"/>
          <a:ln xmlns:a="http://schemas.openxmlformats.org/drawingml/2006/main" w="22860">
            <a:solidFill>
              <a:srgbClr val="00355F"/>
            </a:solidFill>
            <a:prstDash val="solid"/>
          </a:ln>
        </p:spPr>
      </p:sp>
      <p:sp>
        <p:nvSpPr>
          <p:cNvPr id="23" name="">
            <a:extLst xmlns:a="http://schemas.openxmlformats.org/drawingml/2006/main">
              <a:ext uri="{FF2B5EF4-FFF2-40B4-BE49-F238E27FC236}">
                <a16:creationId xmlns:a16="http://schemas.microsoft.com/office/drawing/2014/main" id="{FC160DFE-68BD-4DA5-965A-D0F139362819}"/>
              </a:ext>
            </a:extLst>
          </p:cNvPr>
          <p:cNvSpPr>
            <a:spLocks xmlns:a="http://schemas.openxmlformats.org/drawingml/2006/main" noGrp="1"/>
          </p:cNvSpPr>
          <p:nvPr/>
        </p:nvSpPr>
        <p:spPr>
          <a:xfrm xmlns:a="http://schemas.openxmlformats.org/drawingml/2006/main">
            <a:off x="5882640" y="4175760"/>
            <a:ext cx="76" cy="2103120"/>
          </a:xfrm>
          <a:custGeom xmlns:a="http://schemas.openxmlformats.org/drawingml/2006/main">
            <a:pathLst>
              <a:path w="95" h="2628900">
                <a:moveTo>
                  <a:pt x="0" y="0"/>
                </a:moveTo>
                <a:lnTo>
                  <a:pt x="0" y="2628900"/>
                </a:lnTo>
              </a:path>
            </a:pathLst>
          </a:custGeom>
          <a:noFill xmlns:a="http://schemas.openxmlformats.org/drawingml/2006/main"/>
          <a:ln xmlns:a="http://schemas.openxmlformats.org/drawingml/2006/main" w="22860">
            <a:solidFill>
              <a:srgbClr val="00355F"/>
            </a:solidFill>
            <a:prstDash val="solid"/>
          </a:ln>
        </p:spPr>
      </p:sp>
      <p:sp>
        <p:nvSpPr>
          <p:cNvPr id="24" name="">
            <a:extLst xmlns:a="http://schemas.openxmlformats.org/drawingml/2006/main">
              <a:ext uri="{FF2B5EF4-FFF2-40B4-BE49-F238E27FC236}">
                <a16:creationId xmlns:a16="http://schemas.microsoft.com/office/drawing/2014/main" id="{C13BA184-B5D9-4152-9D8F-8E936D8D5028}"/>
              </a:ext>
            </a:extLst>
          </p:cNvPr>
          <p:cNvSpPr>
            <a:spLocks xmlns:a="http://schemas.openxmlformats.org/drawingml/2006/main" noGrp="1"/>
          </p:cNvSpPr>
          <p:nvPr/>
        </p:nvSpPr>
        <p:spPr>
          <a:xfrm xmlns:a="http://schemas.openxmlformats.org/drawingml/2006/main">
            <a:off x="5539740" y="6278880"/>
            <a:ext cx="342900" cy="76"/>
          </a:xfrm>
          <a:custGeom xmlns:a="http://schemas.openxmlformats.org/drawingml/2006/main">
            <a:pathLst>
              <a:path w="428625" h="95">
                <a:moveTo>
                  <a:pt x="428625" y="0"/>
                </a:moveTo>
                <a:lnTo>
                  <a:pt x="0" y="0"/>
                </a:lnTo>
              </a:path>
            </a:pathLst>
          </a:custGeom>
          <a:noFill xmlns:a="http://schemas.openxmlformats.org/drawingml/2006/main"/>
          <a:ln xmlns:a="http://schemas.openxmlformats.org/drawingml/2006/main" w="22860">
            <a:solidFill>
              <a:srgbClr val="00355F"/>
            </a:solidFill>
            <a:prstDash val="solid"/>
          </a:ln>
        </p:spPr>
      </p:sp>
      <p:sp>
        <p:nvSpPr>
          <p:cNvPr id="25" name="">
            <a:extLst xmlns:a="http://schemas.openxmlformats.org/drawingml/2006/main">
              <a:ext uri="{FF2B5EF4-FFF2-40B4-BE49-F238E27FC236}">
                <a16:creationId xmlns:a16="http://schemas.microsoft.com/office/drawing/2014/main" id="{CD4D1B31-A97E-4D46-9EDA-DAC4129D95CF}"/>
              </a:ext>
            </a:extLst>
          </p:cNvPr>
          <p:cNvSpPr>
            <a:spLocks xmlns:a="http://schemas.openxmlformats.org/drawingml/2006/main" noGrp="1"/>
          </p:cNvSpPr>
          <p:nvPr/>
        </p:nvSpPr>
        <p:spPr>
          <a:xfrm xmlns:a="http://schemas.openxmlformats.org/drawingml/2006/main">
            <a:off x="5958840" y="2552700"/>
            <a:ext cx="762000" cy="6446520"/>
          </a:xfrm>
          <a:custGeom xmlns:a="http://schemas.openxmlformats.org/drawingml/2006/main">
            <a:pathLst>
              <a:path w="952500" h="8058150">
                <a:moveTo>
                  <a:pt x="0" y="2133600"/>
                </a:moveTo>
                <a:lnTo>
                  <a:pt x="952500" y="0"/>
                </a:lnTo>
                <a:lnTo>
                  <a:pt x="952500" y="8058150"/>
                </a:lnTo>
                <a:lnTo>
                  <a:pt x="0" y="4552950"/>
                </a:lnTo>
                <a:close/>
              </a:path>
            </a:pathLst>
          </a:custGeom>
          <a:solidFill xmlns:a="http://schemas.openxmlformats.org/drawingml/2006/main">
            <a:srgbClr val="EEF6FC"/>
          </a:solidFill>
          <a:ln xmlns:a="http://schemas.openxmlformats.org/drawingml/2006/main" w="7620">
            <a:noFill/>
          </a:ln>
        </p:spPr>
      </p:sp>
      <p:sp>
        <p:nvSpPr>
          <p:cNvPr id="26" name="">
            <a:extLst xmlns:a="http://schemas.openxmlformats.org/drawingml/2006/main">
              <a:ext uri="{FF2B5EF4-FFF2-40B4-BE49-F238E27FC236}">
                <a16:creationId xmlns:a16="http://schemas.microsoft.com/office/drawing/2014/main" id="{2C77E3A7-B54C-4B88-BACB-25047FB95B57}"/>
              </a:ext>
            </a:extLst>
          </p:cNvPr>
          <p:cNvSpPr>
            <a:spLocks xmlns:a="http://schemas.openxmlformats.org/drawingml/2006/main" noGrp="1"/>
          </p:cNvSpPr>
          <p:nvPr/>
        </p:nvSpPr>
        <p:spPr>
          <a:xfrm xmlns:a="http://schemas.openxmlformats.org/drawingml/2006/main">
            <a:off x="5882640" y="2552700"/>
            <a:ext cx="838200" cy="1706880"/>
          </a:xfrm>
          <a:custGeom xmlns:a="http://schemas.openxmlformats.org/drawingml/2006/main">
            <a:pathLst>
              <a:path w="1047750" h="2133600">
                <a:moveTo>
                  <a:pt x="0" y="2133600"/>
                </a:moveTo>
                <a:lnTo>
                  <a:pt x="1047750" y="0"/>
                </a:lnTo>
              </a:path>
            </a:pathLst>
          </a:custGeom>
          <a:noFill xmlns:a="http://schemas.openxmlformats.org/drawingml/2006/main"/>
          <a:ln xmlns:a="http://schemas.openxmlformats.org/drawingml/2006/main" w="11430">
            <a:solidFill>
              <a:srgbClr val="7399C6"/>
            </a:solidFill>
            <a:prstDash val="solid"/>
          </a:ln>
        </p:spPr>
      </p:sp>
      <p:sp>
        <p:nvSpPr>
          <p:cNvPr id="27" name="">
            <a:extLst xmlns:a="http://schemas.openxmlformats.org/drawingml/2006/main">
              <a:ext uri="{FF2B5EF4-FFF2-40B4-BE49-F238E27FC236}">
                <a16:creationId xmlns:a16="http://schemas.microsoft.com/office/drawing/2014/main" id="{7D607DA8-5649-415C-AD87-25A971FE3F06}"/>
              </a:ext>
            </a:extLst>
          </p:cNvPr>
          <p:cNvSpPr>
            <a:spLocks xmlns:a="http://schemas.openxmlformats.org/drawingml/2006/main" noGrp="1"/>
          </p:cNvSpPr>
          <p:nvPr/>
        </p:nvSpPr>
        <p:spPr>
          <a:xfrm xmlns:a="http://schemas.openxmlformats.org/drawingml/2006/main">
            <a:off x="5882640" y="6195060"/>
            <a:ext cx="838200" cy="2804160"/>
          </a:xfrm>
          <a:custGeom xmlns:a="http://schemas.openxmlformats.org/drawingml/2006/main">
            <a:pathLst>
              <a:path w="1047750" h="3505200">
                <a:moveTo>
                  <a:pt x="0" y="0"/>
                </a:moveTo>
                <a:lnTo>
                  <a:pt x="1047750" y="3505200"/>
                </a:lnTo>
              </a:path>
            </a:pathLst>
          </a:custGeom>
          <a:noFill xmlns:a="http://schemas.openxmlformats.org/drawingml/2006/main"/>
          <a:ln xmlns:a="http://schemas.openxmlformats.org/drawingml/2006/main" w="11430">
            <a:solidFill>
              <a:srgbClr val="7399C6"/>
            </a:solidFill>
            <a:prstDash val="solid"/>
          </a:ln>
        </p:spPr>
      </p:sp>
      <p:sp>
        <p:nvSpPr>
          <p:cNvPr id="28" name="">
            <a:extLst xmlns:a="http://schemas.openxmlformats.org/drawingml/2006/main">
              <a:ext uri="{FF2B5EF4-FFF2-40B4-BE49-F238E27FC236}">
                <a16:creationId xmlns:a16="http://schemas.microsoft.com/office/drawing/2014/main" id="{EA2593EE-E2D2-4B16-AB72-0FCF68B29A18}"/>
              </a:ext>
            </a:extLst>
          </p:cNvPr>
          <p:cNvSpPr>
            <a:spLocks xmlns:a="http://schemas.openxmlformats.org/drawingml/2006/main" noGrp="1"/>
          </p:cNvSpPr>
          <p:nvPr/>
        </p:nvSpPr>
        <p:spPr>
          <a:xfrm xmlns:a="http://schemas.openxmlformats.org/drawingml/2006/main">
            <a:off x="762000" y="8343900"/>
            <a:ext cx="2476500" cy="891540"/>
          </a:xfrm>
          <a:prstGeom xmlns:a="http://schemas.openxmlformats.org/drawingml/2006/main" prst="roundRect">
            <a:avLst>
              <a:gd name="adj" fmla="val 7692"/>
            </a:avLst>
          </a:prstGeom>
          <a:solidFill xmlns:a="http://schemas.openxmlformats.org/drawingml/2006/main">
            <a:srgbClr val="ACD4F1"/>
          </a:solidFill>
          <a:ln xmlns:a="http://schemas.openxmlformats.org/drawingml/2006/main" w="7620">
            <a:noFill/>
          </a:ln>
        </p:spPr>
      </p:sp>
      <p:sp>
        <p:nvSpPr>
          <p:cNvPr id="29" name="">
            <a:extLst xmlns:a="http://schemas.openxmlformats.org/drawingml/2006/main">
              <a:ext uri="{FF2B5EF4-FFF2-40B4-BE49-F238E27FC236}">
                <a16:creationId xmlns:a16="http://schemas.microsoft.com/office/drawing/2014/main" id="{45266A3E-FD5C-4525-93AD-866C66FDC925}"/>
              </a:ext>
            </a:extLst>
          </p:cNvPr>
          <p:cNvSpPr>
            <a:spLocks xmlns:a="http://schemas.openxmlformats.org/drawingml/2006/main" noGrp="1"/>
          </p:cNvSpPr>
          <p:nvPr/>
        </p:nvSpPr>
        <p:spPr>
          <a:xfrm xmlns:a="http://schemas.openxmlformats.org/drawingml/2006/main">
            <a:off x="3375660" y="8343900"/>
            <a:ext cx="2567940" cy="891540"/>
          </a:xfrm>
          <a:prstGeom xmlns:a="http://schemas.openxmlformats.org/drawingml/2006/main" prst="roundRect">
            <a:avLst>
              <a:gd name="adj" fmla="val 7692"/>
            </a:avLst>
          </a:prstGeom>
          <a:solidFill xmlns:a="http://schemas.openxmlformats.org/drawingml/2006/main">
            <a:srgbClr val="EEF6FC"/>
          </a:solidFill>
          <a:ln xmlns:a="http://schemas.openxmlformats.org/drawingml/2006/main" w="7620">
            <a:solidFill>
              <a:srgbClr val="A5A5A5"/>
            </a:solidFill>
          </a:ln>
        </p:spPr>
      </p:sp>
      <p:sp>
        <p:nvSpPr>
          <p:cNvPr id="30" name="SMALL MOLECULES">
            <a:extLst xmlns:a="http://schemas.openxmlformats.org/drawingml/2006/main">
              <a:ext uri="{FF2B5EF4-FFF2-40B4-BE49-F238E27FC236}">
                <a16:creationId xmlns:a16="http://schemas.microsoft.com/office/drawing/2014/main" id="{C08A3122-E452-4FA6-BF04-5B5B1F01E1F0}"/>
              </a:ext>
            </a:extLst>
          </p:cNvPr>
          <p:cNvSpPr>
            <a:spLocks xmlns:a="http://schemas.openxmlformats.org/drawingml/2006/main" noGrp="1"/>
          </p:cNvSpPr>
          <p:nvPr/>
        </p:nvSpPr>
        <p:spPr>
          <a:xfrm xmlns:a="http://schemas.openxmlformats.org/drawingml/2006/main">
            <a:off x="883920" y="8473440"/>
            <a:ext cx="22479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1">
                <a:solidFill>
                  <a:srgbClr val="00355F"/>
                </a:solidFill>
                <a:latin typeface="Arial"/>
                <a:ea typeface="Arial"/>
                <a:cs typeface="Arial"/>
              </a:defRPr>
            </a:defPPr>
          </a:lstStyle>
          <a:p xmlns:a="http://schemas.openxmlformats.org/drawingml/2006/main">
            <a:pPr algn="l">
              <a:buNone/>
              <a:defRPr sz="1200" b="1">
                <a:solidFill>
                  <a:srgbClr val="00355F"/>
                </a:solidFill>
                <a:latin typeface="Arial"/>
                <a:ea typeface="Arial"/>
                <a:cs typeface="Arial"/>
              </a:defRPr>
            </a:pPr>
            <a:r>
              <a:rPr sz="1200" b="1">
                <a:solidFill>
                  <a:srgbClr val="00355F"/>
                </a:solidFill>
                <a:latin typeface="Arial"/>
                <a:ea typeface="Arial"/>
                <a:cs typeface="Arial"/>
              </a:rPr>
              <a:t>SMALL MOLECULES</a:t>
            </a:r>
          </a:p>
        </p:txBody>
      </p:sp>
      <p:sp>
        <p:nvSpPr>
          <p:cNvPr id="31" name="Fewer syntheses per">
            <a:extLst xmlns:a="http://schemas.openxmlformats.org/drawingml/2006/main">
              <a:ext uri="{FF2B5EF4-FFF2-40B4-BE49-F238E27FC236}">
                <a16:creationId xmlns:a16="http://schemas.microsoft.com/office/drawing/2014/main" id="{F3996C0B-B517-4975-ABF1-BDA0337B2E25}"/>
              </a:ext>
            </a:extLst>
          </p:cNvPr>
          <p:cNvSpPr>
            <a:spLocks xmlns:a="http://schemas.openxmlformats.org/drawingml/2006/main" noGrp="1"/>
          </p:cNvSpPr>
          <p:nvPr/>
        </p:nvSpPr>
        <p:spPr>
          <a:xfrm xmlns:a="http://schemas.openxmlformats.org/drawingml/2006/main">
            <a:off x="883920" y="8763000"/>
            <a:ext cx="2247900"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40" b="0">
                <a:solidFill>
                  <a:srgbClr val="00355F"/>
                </a:solidFill>
                <a:latin typeface="Arial"/>
                <a:ea typeface="Arial"/>
                <a:cs typeface="Arial"/>
              </a:defRPr>
            </a:defPPr>
          </a:lstStyle>
          <a:p xmlns:a="http://schemas.openxmlformats.org/drawingml/2006/main">
            <a:pPr algn="l">
              <a:buNone/>
              <a:defRPr sz="1140" b="0">
                <a:solidFill>
                  <a:srgbClr val="00355F"/>
                </a:solidFill>
                <a:latin typeface="Arial"/>
                <a:ea typeface="Arial"/>
                <a:cs typeface="Arial"/>
              </a:defRPr>
            </a:pPr>
            <a:r>
              <a:rPr sz="1140" b="0">
                <a:solidFill>
                  <a:srgbClr val="00355F"/>
                </a:solidFill>
                <a:latin typeface="Arial"/>
                <a:ea typeface="Arial"/>
                <a:cs typeface="Arial"/>
              </a:rPr>
              <a:t>Fewer syntheses per</a:t>
            </a:r>
          </a:p>
          <a:p xmlns:a="http://schemas.openxmlformats.org/drawingml/2006/main">
            <a:pPr algn="l">
              <a:buNone/>
              <a:defRPr sz="1140" b="0">
                <a:solidFill>
                  <a:srgbClr val="00355F"/>
                </a:solidFill>
                <a:latin typeface="Arial"/>
                <a:ea typeface="Arial"/>
                <a:cs typeface="Arial"/>
              </a:defRPr>
            </a:pPr>
            <a:r>
              <a:rPr sz="1140" b="0">
                <a:solidFill>
                  <a:srgbClr val="00355F"/>
                </a:solidFill>
                <a:latin typeface="Arial"/>
                <a:ea typeface="Arial"/>
                <a:cs typeface="Arial"/>
              </a:rPr>
              <a:t>program are possible.</a:t>
            </a:r>
          </a:p>
        </p:txBody>
      </p:sp>
      <p:sp>
        <p:nvSpPr>
          <p:cNvPr id="32" name="PROTEINS / ANTIBODIES">
            <a:extLst xmlns:a="http://schemas.openxmlformats.org/drawingml/2006/main">
              <a:ext uri="{FF2B5EF4-FFF2-40B4-BE49-F238E27FC236}">
                <a16:creationId xmlns:a16="http://schemas.microsoft.com/office/drawing/2014/main" id="{4CA13231-A276-4415-9CF4-45B60D6AB207}"/>
              </a:ext>
            </a:extLst>
          </p:cNvPr>
          <p:cNvSpPr>
            <a:spLocks xmlns:a="http://schemas.openxmlformats.org/drawingml/2006/main" noGrp="1"/>
          </p:cNvSpPr>
          <p:nvPr/>
        </p:nvSpPr>
        <p:spPr>
          <a:xfrm xmlns:a="http://schemas.openxmlformats.org/drawingml/2006/main">
            <a:off x="3497580" y="8473440"/>
            <a:ext cx="23241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10" b="1">
                <a:solidFill>
                  <a:srgbClr val="00355F"/>
                </a:solidFill>
                <a:latin typeface="Arial"/>
                <a:ea typeface="Arial"/>
                <a:cs typeface="Arial"/>
              </a:defRPr>
            </a:defPPr>
          </a:lstStyle>
          <a:p xmlns:a="http://schemas.openxmlformats.org/drawingml/2006/main">
            <a:pPr algn="l">
              <a:buNone/>
              <a:defRPr sz="1110" b="1">
                <a:solidFill>
                  <a:srgbClr val="00355F"/>
                </a:solidFill>
                <a:latin typeface="Arial"/>
                <a:ea typeface="Arial"/>
                <a:cs typeface="Arial"/>
              </a:defRPr>
            </a:pPr>
            <a:r>
              <a:rPr sz="1110" b="1">
                <a:solidFill>
                  <a:srgbClr val="00355F"/>
                </a:solidFill>
                <a:latin typeface="Arial"/>
                <a:ea typeface="Arial"/>
                <a:cs typeface="Arial"/>
              </a:rPr>
              <a:t>PROTEINS / ANTIBODIES</a:t>
            </a:r>
          </a:p>
        </p:txBody>
      </p:sp>
      <p:sp>
        <p:nvSpPr>
          <p:cNvPr id="33" name="Pooled screens scale;">
            <a:extLst xmlns:a="http://schemas.openxmlformats.org/drawingml/2006/main">
              <a:ext uri="{FF2B5EF4-FFF2-40B4-BE49-F238E27FC236}">
                <a16:creationId xmlns:a16="http://schemas.microsoft.com/office/drawing/2014/main" id="{8081EF3A-E2C8-4A65-A849-9EFA9DD570E9}"/>
              </a:ext>
            </a:extLst>
          </p:cNvPr>
          <p:cNvSpPr>
            <a:spLocks xmlns:a="http://schemas.openxmlformats.org/drawingml/2006/main" noGrp="1"/>
          </p:cNvSpPr>
          <p:nvPr/>
        </p:nvSpPr>
        <p:spPr>
          <a:xfrm xmlns:a="http://schemas.openxmlformats.org/drawingml/2006/main">
            <a:off x="3497580" y="8763000"/>
            <a:ext cx="2324100"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40" b="0">
                <a:solidFill>
                  <a:srgbClr val="00355F"/>
                </a:solidFill>
                <a:latin typeface="Arial"/>
                <a:ea typeface="Arial"/>
                <a:cs typeface="Arial"/>
              </a:defRPr>
            </a:defPPr>
          </a:lstStyle>
          <a:p xmlns:a="http://schemas.openxmlformats.org/drawingml/2006/main">
            <a:pPr algn="l">
              <a:buNone/>
              <a:defRPr sz="1140" b="0">
                <a:solidFill>
                  <a:srgbClr val="00355F"/>
                </a:solidFill>
                <a:latin typeface="Arial"/>
                <a:ea typeface="Arial"/>
                <a:cs typeface="Arial"/>
              </a:defRPr>
            </a:pPr>
            <a:r>
              <a:rPr sz="1140" b="0">
                <a:solidFill>
                  <a:srgbClr val="00355F"/>
                </a:solidFill>
                <a:latin typeface="Arial"/>
                <a:ea typeface="Arial"/>
                <a:cs typeface="Arial"/>
              </a:rPr>
              <a:t>Pooled screens scale;</a:t>
            </a:r>
          </a:p>
          <a:p xmlns:a="http://schemas.openxmlformats.org/drawingml/2006/main">
            <a:pPr algn="l">
              <a:buNone/>
              <a:defRPr sz="1140" b="0">
                <a:solidFill>
                  <a:srgbClr val="00355F"/>
                </a:solidFill>
                <a:latin typeface="Arial"/>
                <a:ea typeface="Arial"/>
                <a:cs typeface="Arial"/>
              </a:defRPr>
            </a:pPr>
            <a:r>
              <a:rPr sz="1140" b="0">
                <a:solidFill>
                  <a:srgbClr val="00355F"/>
                </a:solidFill>
                <a:latin typeface="Arial"/>
                <a:ea typeface="Arial"/>
                <a:cs typeface="Arial"/>
              </a:rPr>
              <a:t>individual profiling differs.</a:t>
            </a:r>
          </a:p>
        </p:txBody>
      </p:sp>
      <p:sp>
        <p:nvSpPr>
          <p:cNvPr id="34" name="WET LAB = BUILD + TEST">
            <a:extLst xmlns:a="http://schemas.openxmlformats.org/drawingml/2006/main">
              <a:ext uri="{FF2B5EF4-FFF2-40B4-BE49-F238E27FC236}">
                <a16:creationId xmlns:a16="http://schemas.microsoft.com/office/drawing/2014/main" id="{BCF368F0-907F-43FF-8295-E1875E58DE0F}"/>
              </a:ext>
            </a:extLst>
          </p:cNvPr>
          <p:cNvSpPr>
            <a:spLocks xmlns:a="http://schemas.openxmlformats.org/drawingml/2006/main" noGrp="1"/>
          </p:cNvSpPr>
          <p:nvPr/>
        </p:nvSpPr>
        <p:spPr>
          <a:xfrm xmlns:a="http://schemas.openxmlformats.org/drawingml/2006/main">
            <a:off x="762000" y="9372600"/>
            <a:ext cx="5181600" cy="701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WET LAB = BUILD + TEST</a:t>
            </a:r>
          </a:p>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No universal molecule-count funnel.</a:t>
            </a:r>
          </a:p>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AI clinical advantage remains unproven.</a:t>
            </a:r>
          </a:p>
        </p:txBody>
      </p:sp>
      <p:sp>
        <p:nvSpPr>
          <p:cNvPr id="35" name="">
            <a:extLst xmlns:a="http://schemas.openxmlformats.org/drawingml/2006/main">
              <a:ext uri="{FF2B5EF4-FFF2-40B4-BE49-F238E27FC236}">
                <a16:creationId xmlns:a16="http://schemas.microsoft.com/office/drawing/2014/main" id="{0B6CD182-FF07-4C1B-B0CF-E8C738C5833F}"/>
              </a:ext>
            </a:extLst>
          </p:cNvPr>
          <p:cNvSpPr>
            <a:spLocks xmlns:a="http://schemas.openxmlformats.org/drawingml/2006/main" noGrp="1"/>
          </p:cNvSpPr>
          <p:nvPr/>
        </p:nvSpPr>
        <p:spPr>
          <a:xfrm xmlns:a="http://schemas.openxmlformats.org/drawingml/2006/main">
            <a:off x="6743700" y="1943100"/>
            <a:ext cx="10782300" cy="7231380"/>
          </a:xfrm>
          <a:prstGeom xmlns:a="http://schemas.openxmlformats.org/drawingml/2006/main" prst="roundRect">
            <a:avLst>
              <a:gd name="adj" fmla="val 1581"/>
            </a:avLst>
          </a:prstGeom>
          <a:solidFill xmlns:a="http://schemas.openxmlformats.org/drawingml/2006/main">
            <a:srgbClr val="F4F9FD"/>
          </a:solidFill>
          <a:ln xmlns:a="http://schemas.openxmlformats.org/drawingml/2006/main" w="7620">
            <a:solidFill>
              <a:srgbClr val="A5A5A5"/>
            </a:solidFill>
          </a:ln>
        </p:spPr>
      </p:sp>
      <p:sp>
        <p:nvSpPr>
          <p:cNvPr id="36" name="The LST ecosystem behind the capacity gate">
            <a:extLst xmlns:a="http://schemas.openxmlformats.org/drawingml/2006/main">
              <a:ext uri="{FF2B5EF4-FFF2-40B4-BE49-F238E27FC236}">
                <a16:creationId xmlns:a16="http://schemas.microsoft.com/office/drawing/2014/main" id="{74062835-8B42-4668-99C6-42708D4E9E1A}"/>
              </a:ext>
            </a:extLst>
          </p:cNvPr>
          <p:cNvSpPr>
            <a:spLocks xmlns:a="http://schemas.openxmlformats.org/drawingml/2006/main" noGrp="1"/>
          </p:cNvSpPr>
          <p:nvPr/>
        </p:nvSpPr>
        <p:spPr>
          <a:xfrm xmlns:a="http://schemas.openxmlformats.org/drawingml/2006/main">
            <a:off x="6987540" y="2103120"/>
            <a:ext cx="10287000" cy="39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60" b="1">
                <a:solidFill>
                  <a:srgbClr val="00355F"/>
                </a:solidFill>
                <a:latin typeface="Arial"/>
                <a:ea typeface="Arial"/>
                <a:cs typeface="Arial"/>
              </a:defRPr>
            </a:defPPr>
          </a:lstStyle>
          <a:p xmlns:a="http://schemas.openxmlformats.org/drawingml/2006/main">
            <a:pPr algn="l">
              <a:buNone/>
              <a:defRPr sz="2160" b="1">
                <a:solidFill>
                  <a:srgbClr val="00355F"/>
                </a:solidFill>
                <a:latin typeface="Arial"/>
                <a:ea typeface="Arial"/>
                <a:cs typeface="Arial"/>
              </a:defRPr>
            </a:pPr>
            <a:r>
              <a:rPr sz="2160" b="1">
                <a:solidFill>
                  <a:srgbClr val="00355F"/>
                </a:solidFill>
                <a:latin typeface="Arial"/>
                <a:ea typeface="Arial"/>
                <a:cs typeface="Arial"/>
              </a:rPr>
              <a:t>The LST ecosystem behind the capacity gate</a:t>
            </a:r>
          </a:p>
        </p:txBody>
      </p:sp>
      <p:sp>
        <p:nvSpPr>
          <p:cNvPr id="37" name="Issuer-cited subset estimates · different scopes / years · source conflicts disclosed below">
            <a:extLst xmlns:a="http://schemas.openxmlformats.org/drawingml/2006/main">
              <a:ext uri="{FF2B5EF4-FFF2-40B4-BE49-F238E27FC236}">
                <a16:creationId xmlns:a16="http://schemas.microsoft.com/office/drawing/2014/main" id="{C70507E4-9B24-4715-B548-68CA3F32070A}"/>
              </a:ext>
            </a:extLst>
          </p:cNvPr>
          <p:cNvSpPr>
            <a:spLocks xmlns:a="http://schemas.openxmlformats.org/drawingml/2006/main" noGrp="1"/>
          </p:cNvSpPr>
          <p:nvPr/>
        </p:nvSpPr>
        <p:spPr>
          <a:xfrm xmlns:a="http://schemas.openxmlformats.org/drawingml/2006/main">
            <a:off x="6987540" y="2514600"/>
            <a:ext cx="1028700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00355F"/>
                </a:solidFill>
                <a:latin typeface="Arial"/>
                <a:ea typeface="Arial"/>
                <a:cs typeface="Arial"/>
              </a:defRPr>
            </a:defPPr>
          </a:lstStyle>
          <a:p xmlns:a="http://schemas.openxmlformats.org/drawingml/2006/main">
            <a:pPr algn="l">
              <a:buNone/>
              <a:defRPr sz="1200" b="0">
                <a:solidFill>
                  <a:srgbClr val="00355F"/>
                </a:solidFill>
                <a:latin typeface="Arial"/>
                <a:ea typeface="Arial"/>
                <a:cs typeface="Arial"/>
              </a:defRPr>
            </a:pPr>
            <a:r>
              <a:rPr sz="1200" b="0">
                <a:solidFill>
                  <a:srgbClr val="00355F"/>
                </a:solidFill>
                <a:latin typeface="Arial"/>
                <a:ea typeface="Arial"/>
                <a:cs typeface="Arial"/>
              </a:rPr>
              <a:t>Issuer-cited subset estimates · different scopes / years · source conflicts disclosed below</a:t>
            </a:r>
          </a:p>
        </p:txBody>
      </p:sp>
      <p:sp>
        <p:nvSpPr>
          <p:cNvPr id="38" name="">
            <a:extLst xmlns:a="http://schemas.openxmlformats.org/drawingml/2006/main">
              <a:ext uri="{FF2B5EF4-FFF2-40B4-BE49-F238E27FC236}">
                <a16:creationId xmlns:a16="http://schemas.microsoft.com/office/drawing/2014/main" id="{0115D6F1-3ADA-445A-B330-500F58F2BDAB}"/>
              </a:ext>
            </a:extLst>
          </p:cNvPr>
          <p:cNvSpPr>
            <a:spLocks xmlns:a="http://schemas.openxmlformats.org/drawingml/2006/main" noGrp="1"/>
          </p:cNvSpPr>
          <p:nvPr/>
        </p:nvSpPr>
        <p:spPr>
          <a:xfrm xmlns:a="http://schemas.openxmlformats.org/drawingml/2006/main">
            <a:off x="6987540" y="284226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7620">
            <a:solidFill>
              <a:srgbClr val="A5A5A5"/>
            </a:solidFill>
          </a:ln>
        </p:spPr>
      </p:sp>
      <p:pic>
        <p:nvPicPr>
          <p:cNvPr id="39" name="">
            <a:extLst xmlns:a="http://schemas.openxmlformats.org/drawingml/2006/main">
              <a:ext uri="{FF2B5EF4-FFF2-40B4-BE49-F238E27FC236}">
                <a16:creationId xmlns:a16="http://schemas.microsoft.com/office/drawing/2014/main" id="{D71A8618-CA79-494F-BDCE-14BE2392D452}"/>
              </a:ext>
            </a:extLst>
          </p:cNvPr>
          <p:cNvPicPr>
            <a:picLocks xmlns:a="http://schemas.openxmlformats.org/drawingml/2006/main" noChangeAspect="1"/>
          </p:cNvPicPr>
          <p:nvPr/>
        </p:nvPicPr>
        <p:blipFill>
          <a:blip xmlns:r="http://schemas.openxmlformats.org/officeDocument/2006/relationships" xmlns:a="http://schemas.openxmlformats.org/drawingml/2006/main" r:embed="R2ab6efc2bab54862">
            <a:extLst>
              <a:ext uri="{96DAC541-7B7A-43D3-8B79-37D633B846F1}">
                <asvg:svgBlip xmlns:asvg="http://schemas.microsoft.com/office/drawing/2016/SVG/main" r:embed="Rbad2a3e82f424932"/>
              </a:ext>
            </a:extLst>
          </a:blip>
          <a:stretch xmlns:a="http://schemas.openxmlformats.org/drawingml/2006/main"/>
        </p:blipFill>
        <p:spPr>
          <a:xfrm xmlns:a="http://schemas.openxmlformats.org/drawingml/2006/main">
            <a:off x="7124700" y="2987040"/>
            <a:ext cx="289560" cy="289560"/>
          </a:xfrm>
          <a:prstGeom xmlns:a="http://schemas.openxmlformats.org/drawingml/2006/main" prst="rect">
            <a:avLst/>
          </a:prstGeom>
        </p:spPr>
      </p:pic>
      <p:sp>
        <p:nvSpPr>
          <p:cNvPr id="40" name="Molecular construction">
            <a:extLst xmlns:a="http://schemas.openxmlformats.org/drawingml/2006/main">
              <a:ext uri="{FF2B5EF4-FFF2-40B4-BE49-F238E27FC236}">
                <a16:creationId xmlns:a16="http://schemas.microsoft.com/office/drawing/2014/main" id="{CBBA6B0D-D27E-4617-952D-C4F946FCA70E}"/>
              </a:ext>
            </a:extLst>
          </p:cNvPr>
          <p:cNvSpPr>
            <a:spLocks xmlns:a="http://schemas.openxmlformats.org/drawingml/2006/main" noGrp="1"/>
          </p:cNvSpPr>
          <p:nvPr/>
        </p:nvSpPr>
        <p:spPr>
          <a:xfrm xmlns:a="http://schemas.openxmlformats.org/drawingml/2006/main">
            <a:off x="7551420" y="301752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buNone/>
              <a:defRPr sz="1560" b="1">
                <a:solidFill>
                  <a:srgbClr val="00355F"/>
                </a:solidFill>
                <a:latin typeface="Arial"/>
                <a:ea typeface="Arial"/>
                <a:cs typeface="Arial"/>
              </a:defRPr>
            </a:pPr>
            <a:r>
              <a:rPr sz="1560" b="1">
                <a:solidFill>
                  <a:srgbClr val="00355F"/>
                </a:solidFill>
                <a:latin typeface="Arial"/>
                <a:ea typeface="Arial"/>
                <a:cs typeface="Arial"/>
              </a:rPr>
              <a:t>Molecular construction</a:t>
            </a:r>
          </a:p>
        </p:txBody>
      </p:sp>
      <p:sp>
        <p:nvSpPr>
          <p:cNvPr id="41" name="DNA / RNA synthesis, enzymes">
            <a:extLst xmlns:a="http://schemas.openxmlformats.org/drawingml/2006/main">
              <a:ext uri="{FF2B5EF4-FFF2-40B4-BE49-F238E27FC236}">
                <a16:creationId xmlns:a16="http://schemas.microsoft.com/office/drawing/2014/main" id="{BA1D1A26-6674-4BDE-BD08-42E03B1D3A7B}"/>
              </a:ext>
            </a:extLst>
          </p:cNvPr>
          <p:cNvSpPr>
            <a:spLocks xmlns:a="http://schemas.openxmlformats.org/drawingml/2006/main" noGrp="1"/>
          </p:cNvSpPr>
          <p:nvPr/>
        </p:nvSpPr>
        <p:spPr>
          <a:xfrm xmlns:a="http://schemas.openxmlformats.org/drawingml/2006/main">
            <a:off x="7139940" y="339090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DNA / RNA synthesis, enzymes</a:t>
            </a:r>
          </a:p>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Chemical building blocks</a:t>
            </a:r>
          </a:p>
        </p:txBody>
      </p:sp>
      <p:sp>
        <p:nvSpPr>
          <p:cNvPr id="42" name="RMB 1.33bn">
            <a:extLst xmlns:a="http://schemas.openxmlformats.org/drawingml/2006/main">
              <a:ext uri="{FF2B5EF4-FFF2-40B4-BE49-F238E27FC236}">
                <a16:creationId xmlns:a16="http://schemas.microsoft.com/office/drawing/2014/main" id="{67CA4957-9474-49C5-AB17-6E25F4C5EBCE}"/>
              </a:ext>
            </a:extLst>
          </p:cNvPr>
          <p:cNvSpPr>
            <a:spLocks xmlns:a="http://schemas.openxmlformats.org/drawingml/2006/main" noGrp="1"/>
          </p:cNvSpPr>
          <p:nvPr/>
        </p:nvSpPr>
        <p:spPr>
          <a:xfrm xmlns:a="http://schemas.openxmlformats.org/drawingml/2006/main">
            <a:off x="7139940" y="387096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buNone/>
              <a:defRPr sz="2220" b="1">
                <a:solidFill>
                  <a:srgbClr val="00355F"/>
                </a:solidFill>
                <a:latin typeface="Arial"/>
                <a:ea typeface="Arial"/>
                <a:cs typeface="Arial"/>
              </a:defRPr>
            </a:pPr>
            <a:r>
              <a:rPr sz="2220" b="1">
                <a:solidFill>
                  <a:srgbClr val="00355F"/>
                </a:solidFill>
                <a:latin typeface="Arial"/>
                <a:ea typeface="Arial"/>
                <a:cs typeface="Arial"/>
              </a:rPr>
              <a:t>RMB 1.33bn</a:t>
            </a:r>
          </a:p>
        </p:txBody>
      </p:sp>
      <p:sp>
        <p:nvSpPr>
          <p:cNvPr id="43" name="China • 2025 • DNA synthesis services [1]">
            <a:extLst xmlns:a="http://schemas.openxmlformats.org/drawingml/2006/main">
              <a:ext uri="{FF2B5EF4-FFF2-40B4-BE49-F238E27FC236}">
                <a16:creationId xmlns:a16="http://schemas.microsoft.com/office/drawing/2014/main" id="{CCB4F1A9-9B41-402E-8AC6-4860ADC6252A}"/>
              </a:ext>
            </a:extLst>
          </p:cNvPr>
          <p:cNvSpPr>
            <a:spLocks xmlns:a="http://schemas.openxmlformats.org/drawingml/2006/main" noGrp="1"/>
          </p:cNvSpPr>
          <p:nvPr/>
        </p:nvSpPr>
        <p:spPr>
          <a:xfrm xmlns:a="http://schemas.openxmlformats.org/drawingml/2006/main">
            <a:off x="7139940" y="425196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buNone/>
              <a:defRPr sz="1050" b="0">
                <a:solidFill>
                  <a:srgbClr val="00355F"/>
                </a:solidFill>
                <a:latin typeface="Arial"/>
                <a:ea typeface="Arial"/>
                <a:cs typeface="Arial"/>
              </a:defRPr>
            </a:pPr>
            <a:r>
              <a:rPr sz="1050" b="0">
                <a:solidFill>
                  <a:srgbClr val="00355F"/>
                </a:solidFill>
                <a:latin typeface="Arial"/>
                <a:ea typeface="Arial"/>
                <a:cs typeface="Arial"/>
              </a:rPr>
              <a:t>China • 2025 • DNA synthesis services [1]</a:t>
            </a:r>
          </a:p>
        </p:txBody>
      </p:sp>
      <p:sp>
        <p:nvSpPr>
          <p:cNvPr id="44" name="Oligos + long fragments only">
            <a:extLst xmlns:a="http://schemas.openxmlformats.org/drawingml/2006/main">
              <a:ext uri="{FF2B5EF4-FFF2-40B4-BE49-F238E27FC236}">
                <a16:creationId xmlns:a16="http://schemas.microsoft.com/office/drawing/2014/main" id="{1FD19D9A-6658-49FC-9D8A-B52DF2D1C785}"/>
              </a:ext>
            </a:extLst>
          </p:cNvPr>
          <p:cNvSpPr>
            <a:spLocks xmlns:a="http://schemas.openxmlformats.org/drawingml/2006/main" noGrp="1"/>
          </p:cNvSpPr>
          <p:nvPr/>
        </p:nvSpPr>
        <p:spPr>
          <a:xfrm xmlns:a="http://schemas.openxmlformats.org/drawingml/2006/main">
            <a:off x="7139940" y="447294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buNone/>
              <a:defRPr sz="990" b="0">
                <a:solidFill>
                  <a:srgbClr val="00355F"/>
                </a:solidFill>
                <a:latin typeface="Arial"/>
                <a:ea typeface="Arial"/>
                <a:cs typeface="Arial"/>
              </a:defRPr>
            </a:pPr>
            <a:r>
              <a:rPr sz="990" b="0">
                <a:solidFill>
                  <a:srgbClr val="00355F"/>
                </a:solidFill>
                <a:latin typeface="Arial"/>
                <a:ea typeface="Arial"/>
                <a:cs typeface="Arial"/>
              </a:rPr>
              <a:t>Oligos + long fragments only</a:t>
            </a:r>
          </a:p>
        </p:txBody>
      </p:sp>
      <p:pic>
        <p:nvPicPr>
          <p:cNvPr id="45" name="">
            <a:extLst xmlns:a="http://schemas.openxmlformats.org/drawingml/2006/main">
              <a:ext uri="{FF2B5EF4-FFF2-40B4-BE49-F238E27FC236}">
                <a16:creationId xmlns:a16="http://schemas.microsoft.com/office/drawing/2014/main" id="{4404E0D8-8737-4CEE-BB21-72407762FFF9}"/>
              </a:ext>
            </a:extLst>
          </p:cNvPr>
          <p:cNvPicPr>
            <a:picLocks xmlns:a="http://schemas.openxmlformats.org/drawingml/2006/main" noChangeAspect="1"/>
          </p:cNvPicPr>
          <p:nvPr/>
        </p:nvPicPr>
        <p:blipFill>
          <a:blip xmlns:r="http://schemas.openxmlformats.org/officeDocument/2006/relationships" xmlns:a="http://schemas.openxmlformats.org/drawingml/2006/main" r:embed="R63f1c4be67624dfb"/>
          <a:stretch xmlns:a="http://schemas.openxmlformats.org/drawingml/2006/main"/>
        </p:blipFill>
        <p:spPr>
          <a:xfrm xmlns:a="http://schemas.openxmlformats.org/drawingml/2006/main">
            <a:off x="7266971" y="4724400"/>
            <a:ext cx="713678" cy="304800"/>
          </a:xfrm>
          <a:prstGeom xmlns:a="http://schemas.openxmlformats.org/drawingml/2006/main" prst="rect">
            <a:avLst/>
          </a:prstGeom>
        </p:spPr>
      </p:pic>
      <p:pic>
        <p:nvPicPr>
          <p:cNvPr id="46" name="">
            <a:extLst xmlns:a="http://schemas.openxmlformats.org/drawingml/2006/main">
              <a:ext uri="{FF2B5EF4-FFF2-40B4-BE49-F238E27FC236}">
                <a16:creationId xmlns:a16="http://schemas.microsoft.com/office/drawing/2014/main" id="{CD7F6DE6-1D7B-4BCD-A2AA-CEE9DB9D9D54}"/>
              </a:ext>
            </a:extLst>
          </p:cNvPr>
          <p:cNvPicPr>
            <a:picLocks xmlns:a="http://schemas.openxmlformats.org/drawingml/2006/main" noChangeAspect="1"/>
          </p:cNvPicPr>
          <p:nvPr/>
        </p:nvPicPr>
        <p:blipFill>
          <a:blip xmlns:r="http://schemas.openxmlformats.org/officeDocument/2006/relationships" xmlns:a="http://schemas.openxmlformats.org/drawingml/2006/main" r:embed="Rb8bf206b499945d7"/>
          <a:stretch xmlns:a="http://schemas.openxmlformats.org/drawingml/2006/main"/>
        </p:blipFill>
        <p:spPr>
          <a:xfrm xmlns:a="http://schemas.openxmlformats.org/drawingml/2006/main">
            <a:off x="8309187" y="4724400"/>
            <a:ext cx="1075267" cy="304800"/>
          </a:xfrm>
          <a:prstGeom xmlns:a="http://schemas.openxmlformats.org/drawingml/2006/main" prst="rect">
            <a:avLst/>
          </a:prstGeom>
        </p:spPr>
      </p:pic>
      <p:sp>
        <p:nvSpPr>
          <p:cNvPr id="47" name="CHINA / HK LISTINGS">
            <a:extLst xmlns:a="http://schemas.openxmlformats.org/drawingml/2006/main">
              <a:ext uri="{FF2B5EF4-FFF2-40B4-BE49-F238E27FC236}">
                <a16:creationId xmlns:a16="http://schemas.microsoft.com/office/drawing/2014/main" id="{7DE58CCB-6A15-45BF-9D5F-56500CA4F8B1}"/>
              </a:ext>
            </a:extLst>
          </p:cNvPr>
          <p:cNvSpPr>
            <a:spLocks xmlns:a="http://schemas.openxmlformats.org/drawingml/2006/main" noGrp="1"/>
          </p:cNvSpPr>
          <p:nvPr/>
        </p:nvSpPr>
        <p:spPr>
          <a:xfrm xmlns:a="http://schemas.openxmlformats.org/drawingml/2006/main">
            <a:off x="7139940" y="511302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48" name="US LISTINGS / PARENTS">
            <a:extLst xmlns:a="http://schemas.openxmlformats.org/drawingml/2006/main">
              <a:ext uri="{FF2B5EF4-FFF2-40B4-BE49-F238E27FC236}">
                <a16:creationId xmlns:a16="http://schemas.microsoft.com/office/drawing/2014/main" id="{9A97F0E9-C2BE-4C7B-9C70-6F664D8B99C6}"/>
              </a:ext>
            </a:extLst>
          </p:cNvPr>
          <p:cNvSpPr>
            <a:spLocks xmlns:a="http://schemas.openxmlformats.org/drawingml/2006/main" noGrp="1"/>
          </p:cNvSpPr>
          <p:nvPr/>
        </p:nvSpPr>
        <p:spPr>
          <a:xfrm xmlns:a="http://schemas.openxmlformats.org/drawingml/2006/main">
            <a:off x="8778240" y="511302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49" name="GenScript · 1548.HK">
            <a:extLst xmlns:a="http://schemas.openxmlformats.org/drawingml/2006/main">
              <a:ext uri="{FF2B5EF4-FFF2-40B4-BE49-F238E27FC236}">
                <a16:creationId xmlns:a16="http://schemas.microsoft.com/office/drawing/2014/main" id="{B084EC14-3616-40F5-8916-904C91060D75}"/>
              </a:ext>
            </a:extLst>
          </p:cNvPr>
          <p:cNvSpPr>
            <a:spLocks xmlns:a="http://schemas.openxmlformats.org/drawingml/2006/main" noGrp="1"/>
          </p:cNvSpPr>
          <p:nvPr/>
        </p:nvSpPr>
        <p:spPr>
          <a:xfrm xmlns:a="http://schemas.openxmlformats.org/drawingml/2006/main">
            <a:off x="7139940" y="533400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GenScript · 1548.HK</a:t>
            </a:r>
          </a:p>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Vazyme · 688105.SH</a:t>
            </a:r>
          </a:p>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Tsingke · NEEQ:874813</a:t>
            </a:r>
          </a:p>
        </p:txBody>
      </p:sp>
      <p:sp>
        <p:nvSpPr>
          <p:cNvPr id="50" name="Twist · TWST">
            <a:extLst xmlns:a="http://schemas.openxmlformats.org/drawingml/2006/main">
              <a:ext uri="{FF2B5EF4-FFF2-40B4-BE49-F238E27FC236}">
                <a16:creationId xmlns:a16="http://schemas.microsoft.com/office/drawing/2014/main" id="{BB053420-8762-4898-A34E-C713BD352882}"/>
              </a:ext>
            </a:extLst>
          </p:cNvPr>
          <p:cNvSpPr>
            <a:spLocks xmlns:a="http://schemas.openxmlformats.org/drawingml/2006/main" noGrp="1"/>
          </p:cNvSpPr>
          <p:nvPr/>
        </p:nvSpPr>
        <p:spPr>
          <a:xfrm xmlns:a="http://schemas.openxmlformats.org/drawingml/2006/main">
            <a:off x="8778240" y="533400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Twist · TWST</a:t>
            </a:r>
          </a:p>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Thermo Fisher · TMO</a:t>
            </a:r>
          </a:p>
        </p:txBody>
      </p:sp>
      <p:sp>
        <p:nvSpPr>
          <p:cNvPr id="51" name="">
            <a:extLst xmlns:a="http://schemas.openxmlformats.org/drawingml/2006/main">
              <a:ext uri="{FF2B5EF4-FFF2-40B4-BE49-F238E27FC236}">
                <a16:creationId xmlns:a16="http://schemas.microsoft.com/office/drawing/2014/main" id="{B78FEF24-C622-4673-BE5F-A783A2714A53}"/>
              </a:ext>
            </a:extLst>
          </p:cNvPr>
          <p:cNvSpPr>
            <a:spLocks xmlns:a="http://schemas.openxmlformats.org/drawingml/2006/main" noGrp="1"/>
          </p:cNvSpPr>
          <p:nvPr/>
        </p:nvSpPr>
        <p:spPr>
          <a:xfrm xmlns:a="http://schemas.openxmlformats.org/drawingml/2006/main">
            <a:off x="10515600" y="284226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15240">
            <a:solidFill>
              <a:srgbClr val="00355F"/>
            </a:solidFill>
          </a:ln>
        </p:spPr>
      </p:sp>
      <p:pic>
        <p:nvPicPr>
          <p:cNvPr id="52" name="">
            <a:extLst xmlns:a="http://schemas.openxmlformats.org/drawingml/2006/main">
              <a:ext uri="{FF2B5EF4-FFF2-40B4-BE49-F238E27FC236}">
                <a16:creationId xmlns:a16="http://schemas.microsoft.com/office/drawing/2014/main" id="{A8E5CC3D-CD92-4AA5-A2C8-40583337ED7F}"/>
              </a:ext>
            </a:extLst>
          </p:cNvPr>
          <p:cNvPicPr>
            <a:picLocks xmlns:a="http://schemas.openxmlformats.org/drawingml/2006/main" noChangeAspect="1"/>
          </p:cNvPicPr>
          <p:nvPr/>
        </p:nvPicPr>
        <p:blipFill>
          <a:blip xmlns:r="http://schemas.openxmlformats.org/officeDocument/2006/relationships" xmlns:a="http://schemas.openxmlformats.org/drawingml/2006/main" r:embed="R63f1c4be67624dfb">
            <a:extLst>
              <a:ext uri="{96DAC541-7B7A-43D3-8B79-37D633B846F1}">
                <asvg:svgBlip xmlns:asvg="http://schemas.microsoft.com/office/drawing/2016/SVG/main" r:embed="Rda04494aa6694f90"/>
              </a:ext>
            </a:extLst>
          </a:blip>
          <a:stretch xmlns:a="http://schemas.openxmlformats.org/drawingml/2006/main"/>
        </p:blipFill>
        <p:spPr>
          <a:xfrm xmlns:a="http://schemas.openxmlformats.org/drawingml/2006/main">
            <a:off x="10652760" y="2987040"/>
            <a:ext cx="289560" cy="289560"/>
          </a:xfrm>
          <a:prstGeom xmlns:a="http://schemas.openxmlformats.org/drawingml/2006/main" prst="rect">
            <a:avLst/>
          </a:prstGeom>
        </p:spPr>
      </p:pic>
      <p:sp>
        <p:nvSpPr>
          <p:cNvPr id="53" name="Protein &amp; functional assays">
            <a:extLst xmlns:a="http://schemas.openxmlformats.org/drawingml/2006/main">
              <a:ext uri="{FF2B5EF4-FFF2-40B4-BE49-F238E27FC236}">
                <a16:creationId xmlns:a16="http://schemas.microsoft.com/office/drawing/2014/main" id="{F064DA7E-2079-4A00-96CE-286F9B5805A4}"/>
              </a:ext>
            </a:extLst>
          </p:cNvPr>
          <p:cNvSpPr>
            <a:spLocks xmlns:a="http://schemas.openxmlformats.org/drawingml/2006/main" noGrp="1"/>
          </p:cNvSpPr>
          <p:nvPr/>
        </p:nvSpPr>
        <p:spPr>
          <a:xfrm xmlns:a="http://schemas.openxmlformats.org/drawingml/2006/main">
            <a:off x="11079480" y="301752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buNone/>
              <a:defRPr sz="1560" b="1">
                <a:solidFill>
                  <a:srgbClr val="00355F"/>
                </a:solidFill>
                <a:latin typeface="Arial"/>
                <a:ea typeface="Arial"/>
                <a:cs typeface="Arial"/>
              </a:defRPr>
            </a:pPr>
            <a:r>
              <a:rPr sz="1560" b="1">
                <a:solidFill>
                  <a:srgbClr val="00355F"/>
                </a:solidFill>
                <a:latin typeface="Arial"/>
                <a:ea typeface="Arial"/>
                <a:cs typeface="Arial"/>
              </a:rPr>
              <a:t>Protein &amp; functional assays</a:t>
            </a:r>
          </a:p>
        </p:txBody>
      </p:sp>
      <p:sp>
        <p:nvSpPr>
          <p:cNvPr id="54" name="Recombinant proteins, antibodies">
            <a:extLst xmlns:a="http://schemas.openxmlformats.org/drawingml/2006/main">
              <a:ext uri="{FF2B5EF4-FFF2-40B4-BE49-F238E27FC236}">
                <a16:creationId xmlns:a16="http://schemas.microsoft.com/office/drawing/2014/main" id="{E9067404-0630-4992-BFD6-5173EFE01BC4}"/>
              </a:ext>
            </a:extLst>
          </p:cNvPr>
          <p:cNvSpPr>
            <a:spLocks xmlns:a="http://schemas.openxmlformats.org/drawingml/2006/main" noGrp="1"/>
          </p:cNvSpPr>
          <p:nvPr/>
        </p:nvSpPr>
        <p:spPr>
          <a:xfrm xmlns:a="http://schemas.openxmlformats.org/drawingml/2006/main">
            <a:off x="10668000" y="339090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Recombinant proteins, antibodies</a:t>
            </a:r>
          </a:p>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Binding and activity assays</a:t>
            </a:r>
          </a:p>
        </p:txBody>
      </p:sp>
      <p:sp>
        <p:nvSpPr>
          <p:cNvPr id="55" name="US$3.5bn">
            <a:extLst xmlns:a="http://schemas.openxmlformats.org/drawingml/2006/main">
              <a:ext uri="{FF2B5EF4-FFF2-40B4-BE49-F238E27FC236}">
                <a16:creationId xmlns:a16="http://schemas.microsoft.com/office/drawing/2014/main" id="{726EA5B9-1A04-46C8-BAEB-0AE29F70776A}"/>
              </a:ext>
            </a:extLst>
          </p:cNvPr>
          <p:cNvSpPr>
            <a:spLocks xmlns:a="http://schemas.openxmlformats.org/drawingml/2006/main" noGrp="1"/>
          </p:cNvSpPr>
          <p:nvPr/>
        </p:nvSpPr>
        <p:spPr>
          <a:xfrm xmlns:a="http://schemas.openxmlformats.org/drawingml/2006/main">
            <a:off x="10668000" y="387096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buNone/>
              <a:defRPr sz="2220" b="1">
                <a:solidFill>
                  <a:srgbClr val="00355F"/>
                </a:solidFill>
                <a:latin typeface="Arial"/>
                <a:ea typeface="Arial"/>
                <a:cs typeface="Arial"/>
              </a:defRPr>
            </a:pPr>
            <a:r>
              <a:rPr sz="2220" b="1">
                <a:solidFill>
                  <a:srgbClr val="00355F"/>
                </a:solidFill>
                <a:latin typeface="Arial"/>
                <a:ea typeface="Arial"/>
                <a:cs typeface="Arial"/>
              </a:rPr>
              <a:t>US$3.5bn</a:t>
            </a:r>
          </a:p>
        </p:txBody>
      </p:sp>
      <p:sp>
        <p:nvSpPr>
          <p:cNvPr id="56" name="Global · 2025 · F&amp;S RUO proteins [2]">
            <a:extLst xmlns:a="http://schemas.openxmlformats.org/drawingml/2006/main">
              <a:ext uri="{FF2B5EF4-FFF2-40B4-BE49-F238E27FC236}">
                <a16:creationId xmlns:a16="http://schemas.microsoft.com/office/drawing/2014/main" id="{3692FCB2-C5A3-4E72-9D7A-2040A9D02218}"/>
              </a:ext>
            </a:extLst>
          </p:cNvPr>
          <p:cNvSpPr>
            <a:spLocks xmlns:a="http://schemas.openxmlformats.org/drawingml/2006/main" noGrp="1"/>
          </p:cNvSpPr>
          <p:nvPr/>
        </p:nvSpPr>
        <p:spPr>
          <a:xfrm xmlns:a="http://schemas.openxmlformats.org/drawingml/2006/main">
            <a:off x="10668000" y="425196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buNone/>
              <a:defRPr sz="1050" b="0">
                <a:solidFill>
                  <a:srgbClr val="00355F"/>
                </a:solidFill>
                <a:latin typeface="Arial"/>
                <a:ea typeface="Arial"/>
                <a:cs typeface="Arial"/>
              </a:defRPr>
            </a:pPr>
            <a:r>
              <a:rPr sz="1050" b="0">
                <a:solidFill>
                  <a:srgbClr val="00355F"/>
                </a:solidFill>
                <a:latin typeface="Arial"/>
                <a:ea typeface="Arial"/>
                <a:cs typeface="Arial"/>
              </a:rPr>
              <a:t>Global · 2025 · F&amp;S RUO proteins [2]</a:t>
            </a:r>
          </a:p>
        </p:txBody>
      </p:sp>
      <p:sp>
        <p:nvSpPr>
          <p:cNvPr id="57" name="Issuer-commissioned; estimate disputed">
            <a:extLst xmlns:a="http://schemas.openxmlformats.org/drawingml/2006/main">
              <a:ext uri="{FF2B5EF4-FFF2-40B4-BE49-F238E27FC236}">
                <a16:creationId xmlns:a16="http://schemas.microsoft.com/office/drawing/2014/main" id="{AAB1DB81-85A9-4D03-A891-2F9835CCBE7A}"/>
              </a:ext>
            </a:extLst>
          </p:cNvPr>
          <p:cNvSpPr>
            <a:spLocks xmlns:a="http://schemas.openxmlformats.org/drawingml/2006/main" noGrp="1"/>
          </p:cNvSpPr>
          <p:nvPr/>
        </p:nvSpPr>
        <p:spPr>
          <a:xfrm xmlns:a="http://schemas.openxmlformats.org/drawingml/2006/main">
            <a:off x="10668000" y="447294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buNone/>
              <a:defRPr sz="990" b="0">
                <a:solidFill>
                  <a:srgbClr val="00355F"/>
                </a:solidFill>
                <a:latin typeface="Arial"/>
                <a:ea typeface="Arial"/>
                <a:cs typeface="Arial"/>
              </a:defRPr>
            </a:pPr>
            <a:r>
              <a:rPr sz="990" b="0">
                <a:solidFill>
                  <a:srgbClr val="00355F"/>
                </a:solidFill>
                <a:latin typeface="Arial"/>
                <a:ea typeface="Arial"/>
                <a:cs typeface="Arial"/>
              </a:rPr>
              <a:t>Issuer-commissioned; estimate disputed</a:t>
            </a:r>
          </a:p>
        </p:txBody>
      </p:sp>
      <p:pic>
        <p:nvPicPr>
          <p:cNvPr id="58" name="">
            <a:extLst xmlns:a="http://schemas.openxmlformats.org/drawingml/2006/main">
              <a:ext uri="{FF2B5EF4-FFF2-40B4-BE49-F238E27FC236}">
                <a16:creationId xmlns:a16="http://schemas.microsoft.com/office/drawing/2014/main" id="{F58575BB-C16F-4D13-AA68-1C8A39E8BF7F}"/>
              </a:ext>
            </a:extLst>
          </p:cNvPr>
          <p:cNvPicPr>
            <a:picLocks xmlns:a="http://schemas.openxmlformats.org/drawingml/2006/main" noChangeAspect="1"/>
          </p:cNvPicPr>
          <p:nvPr/>
        </p:nvPicPr>
        <p:blipFill>
          <a:blip xmlns:r="http://schemas.openxmlformats.org/officeDocument/2006/relationships" xmlns:a="http://schemas.openxmlformats.org/drawingml/2006/main" r:embed="Rf7feec6d82e14abb"/>
          <a:stretch xmlns:a="http://schemas.openxmlformats.org/drawingml/2006/main"/>
        </p:blipFill>
        <p:spPr>
          <a:xfrm xmlns:a="http://schemas.openxmlformats.org/drawingml/2006/main">
            <a:off x="10754940" y="4709160"/>
            <a:ext cx="1037699" cy="335280"/>
          </a:xfrm>
          <a:prstGeom xmlns:a="http://schemas.openxmlformats.org/drawingml/2006/main" prst="rect">
            <a:avLst/>
          </a:prstGeom>
        </p:spPr>
      </p:pic>
      <p:sp>
        <p:nvSpPr>
          <p:cNvPr id="59" name="CHINA / HK LISTINGS">
            <a:extLst xmlns:a="http://schemas.openxmlformats.org/drawingml/2006/main">
              <a:ext uri="{FF2B5EF4-FFF2-40B4-BE49-F238E27FC236}">
                <a16:creationId xmlns:a16="http://schemas.microsoft.com/office/drawing/2014/main" id="{8220878F-5715-4DCD-832C-66484F835004}"/>
              </a:ext>
            </a:extLst>
          </p:cNvPr>
          <p:cNvSpPr>
            <a:spLocks xmlns:a="http://schemas.openxmlformats.org/drawingml/2006/main" noGrp="1"/>
          </p:cNvSpPr>
          <p:nvPr/>
        </p:nvSpPr>
        <p:spPr>
          <a:xfrm xmlns:a="http://schemas.openxmlformats.org/drawingml/2006/main">
            <a:off x="10668000" y="511302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60" name="US LISTINGS / PARENTS">
            <a:extLst xmlns:a="http://schemas.openxmlformats.org/drawingml/2006/main">
              <a:ext uri="{FF2B5EF4-FFF2-40B4-BE49-F238E27FC236}">
                <a16:creationId xmlns:a16="http://schemas.microsoft.com/office/drawing/2014/main" id="{3669D5B1-8B35-4B42-B4D4-3227A6A1B633}"/>
              </a:ext>
            </a:extLst>
          </p:cNvPr>
          <p:cNvSpPr>
            <a:spLocks xmlns:a="http://schemas.openxmlformats.org/drawingml/2006/main" noGrp="1"/>
          </p:cNvSpPr>
          <p:nvPr/>
        </p:nvSpPr>
        <p:spPr>
          <a:xfrm xmlns:a="http://schemas.openxmlformats.org/drawingml/2006/main">
            <a:off x="12306300" y="511302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61" name="ACRO · 301080.SZ">
            <a:extLst xmlns:a="http://schemas.openxmlformats.org/drawingml/2006/main">
              <a:ext uri="{FF2B5EF4-FFF2-40B4-BE49-F238E27FC236}">
                <a16:creationId xmlns:a16="http://schemas.microsoft.com/office/drawing/2014/main" id="{83EE79CA-1EC9-446A-9A28-BEFD585379AF}"/>
              </a:ext>
            </a:extLst>
          </p:cNvPr>
          <p:cNvSpPr>
            <a:spLocks xmlns:a="http://schemas.openxmlformats.org/drawingml/2006/main" noGrp="1"/>
          </p:cNvSpPr>
          <p:nvPr/>
        </p:nvSpPr>
        <p:spPr>
          <a:xfrm xmlns:a="http://schemas.openxmlformats.org/drawingml/2006/main">
            <a:off x="10668000" y="533400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ACRO · 301080.SZ</a:t>
            </a:r>
          </a:p>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Sino · 301047.SZ</a:t>
            </a:r>
          </a:p>
        </p:txBody>
      </p:sp>
      <p:sp>
        <p:nvSpPr>
          <p:cNvPr id="62" name="Bio-Techne · TECH">
            <a:extLst xmlns:a="http://schemas.openxmlformats.org/drawingml/2006/main">
              <a:ext uri="{FF2B5EF4-FFF2-40B4-BE49-F238E27FC236}">
                <a16:creationId xmlns:a16="http://schemas.microsoft.com/office/drawing/2014/main" id="{E4695AB0-52BC-42A8-AA5C-3AA87874421E}"/>
              </a:ext>
            </a:extLst>
          </p:cNvPr>
          <p:cNvSpPr>
            <a:spLocks xmlns:a="http://schemas.openxmlformats.org/drawingml/2006/main" noGrp="1"/>
          </p:cNvSpPr>
          <p:nvPr/>
        </p:nvSpPr>
        <p:spPr>
          <a:xfrm xmlns:a="http://schemas.openxmlformats.org/drawingml/2006/main">
            <a:off x="12306300" y="533400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Bio-Techne · TECH</a:t>
            </a:r>
          </a:p>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Thermo Fisher · TMO</a:t>
            </a:r>
          </a:p>
        </p:txBody>
      </p:sp>
      <p:sp>
        <p:nvSpPr>
          <p:cNvPr id="63" name="">
            <a:extLst xmlns:a="http://schemas.openxmlformats.org/drawingml/2006/main">
              <a:ext uri="{FF2B5EF4-FFF2-40B4-BE49-F238E27FC236}">
                <a16:creationId xmlns:a16="http://schemas.microsoft.com/office/drawing/2014/main" id="{23F6E543-E380-4A6F-AC56-8D65502CE92C}"/>
              </a:ext>
            </a:extLst>
          </p:cNvPr>
          <p:cNvSpPr>
            <a:spLocks xmlns:a="http://schemas.openxmlformats.org/drawingml/2006/main" noGrp="1"/>
          </p:cNvSpPr>
          <p:nvPr/>
        </p:nvSpPr>
        <p:spPr>
          <a:xfrm xmlns:a="http://schemas.openxmlformats.org/drawingml/2006/main">
            <a:off x="14043660" y="284226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7620">
            <a:solidFill>
              <a:srgbClr val="A5A5A5"/>
            </a:solidFill>
          </a:ln>
        </p:spPr>
      </p:sp>
      <p:pic>
        <p:nvPicPr>
          <p:cNvPr id="64" name="">
            <a:extLst xmlns:a="http://schemas.openxmlformats.org/drawingml/2006/main">
              <a:ext uri="{FF2B5EF4-FFF2-40B4-BE49-F238E27FC236}">
                <a16:creationId xmlns:a16="http://schemas.microsoft.com/office/drawing/2014/main" id="{F97678D8-2FCA-4DAA-B199-A493133A1E1F}"/>
              </a:ext>
            </a:extLst>
          </p:cNvPr>
          <p:cNvPicPr>
            <a:picLocks xmlns:a="http://schemas.openxmlformats.org/drawingml/2006/main" noChangeAspect="1"/>
          </p:cNvPicPr>
          <p:nvPr/>
        </p:nvPicPr>
        <p:blipFill>
          <a:blip xmlns:r="http://schemas.openxmlformats.org/officeDocument/2006/relationships" xmlns:a="http://schemas.openxmlformats.org/drawingml/2006/main" r:embed="Rb8bf206b499945d7">
            <a:extLst>
              <a:ext uri="{96DAC541-7B7A-43D3-8B79-37D633B846F1}">
                <asvg:svgBlip xmlns:asvg="http://schemas.microsoft.com/office/drawing/2016/SVG/main" r:embed="Rde9816056d754b77"/>
              </a:ext>
            </a:extLst>
          </a:blip>
          <a:stretch xmlns:a="http://schemas.openxmlformats.org/drawingml/2006/main"/>
        </p:blipFill>
        <p:spPr>
          <a:xfrm xmlns:a="http://schemas.openxmlformats.org/drawingml/2006/main">
            <a:off x="14180820" y="2987040"/>
            <a:ext cx="289560" cy="289560"/>
          </a:xfrm>
          <a:prstGeom xmlns:a="http://schemas.openxmlformats.org/drawingml/2006/main" prst="rect">
            <a:avLst/>
          </a:prstGeom>
        </p:spPr>
      </p:pic>
      <p:sp>
        <p:nvSpPr>
          <p:cNvPr id="65" name="Cells &amp; culture systems">
            <a:extLst xmlns:a="http://schemas.openxmlformats.org/drawingml/2006/main">
              <a:ext uri="{FF2B5EF4-FFF2-40B4-BE49-F238E27FC236}">
                <a16:creationId xmlns:a16="http://schemas.microsoft.com/office/drawing/2014/main" id="{B428326F-DAF8-4BA8-9D79-CCA77CAEC2C6}"/>
              </a:ext>
            </a:extLst>
          </p:cNvPr>
          <p:cNvSpPr>
            <a:spLocks xmlns:a="http://schemas.openxmlformats.org/drawingml/2006/main" noGrp="1"/>
          </p:cNvSpPr>
          <p:nvPr/>
        </p:nvSpPr>
        <p:spPr>
          <a:xfrm xmlns:a="http://schemas.openxmlformats.org/drawingml/2006/main">
            <a:off x="14607540" y="301752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buNone/>
              <a:defRPr sz="1560" b="1">
                <a:solidFill>
                  <a:srgbClr val="00355F"/>
                </a:solidFill>
                <a:latin typeface="Arial"/>
                <a:ea typeface="Arial"/>
                <a:cs typeface="Arial"/>
              </a:defRPr>
            </a:pPr>
            <a:r>
              <a:rPr sz="1560" b="1">
                <a:solidFill>
                  <a:srgbClr val="00355F"/>
                </a:solidFill>
                <a:latin typeface="Arial"/>
                <a:ea typeface="Arial"/>
                <a:cs typeface="Arial"/>
              </a:rPr>
              <a:t>Cells &amp; culture systems</a:t>
            </a:r>
          </a:p>
        </p:txBody>
      </p:sp>
      <p:sp>
        <p:nvSpPr>
          <p:cNvPr id="66" name="Cell models, media, feeds">
            <a:extLst xmlns:a="http://schemas.openxmlformats.org/drawingml/2006/main">
              <a:ext uri="{FF2B5EF4-FFF2-40B4-BE49-F238E27FC236}">
                <a16:creationId xmlns:a16="http://schemas.microsoft.com/office/drawing/2014/main" id="{7643540B-2F46-4EC3-B4C0-52C0E4288586}"/>
              </a:ext>
            </a:extLst>
          </p:cNvPr>
          <p:cNvSpPr>
            <a:spLocks xmlns:a="http://schemas.openxmlformats.org/drawingml/2006/main" noGrp="1"/>
          </p:cNvSpPr>
          <p:nvPr/>
        </p:nvSpPr>
        <p:spPr>
          <a:xfrm xmlns:a="http://schemas.openxmlformats.org/drawingml/2006/main">
            <a:off x="14196060" y="339090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Cell models, media, feeds</a:t>
            </a:r>
          </a:p>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Bioreactors and cell expansion</a:t>
            </a:r>
          </a:p>
        </p:txBody>
      </p:sp>
      <p:sp>
        <p:nvSpPr>
          <p:cNvPr id="67" name="Source pending">
            <a:extLst xmlns:a="http://schemas.openxmlformats.org/drawingml/2006/main">
              <a:ext uri="{FF2B5EF4-FFF2-40B4-BE49-F238E27FC236}">
                <a16:creationId xmlns:a16="http://schemas.microsoft.com/office/drawing/2014/main" id="{BCEF9A56-A956-4BE3-84D6-A7D88266DDF7}"/>
              </a:ext>
            </a:extLst>
          </p:cNvPr>
          <p:cNvSpPr>
            <a:spLocks xmlns:a="http://schemas.openxmlformats.org/drawingml/2006/main" noGrp="1"/>
          </p:cNvSpPr>
          <p:nvPr/>
        </p:nvSpPr>
        <p:spPr>
          <a:xfrm xmlns:a="http://schemas.openxmlformats.org/drawingml/2006/main">
            <a:off x="14196060" y="387096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buNone/>
              <a:defRPr sz="1860" b="1">
                <a:solidFill>
                  <a:srgbClr val="00355F"/>
                </a:solidFill>
                <a:latin typeface="Arial"/>
                <a:ea typeface="Arial"/>
                <a:cs typeface="Arial"/>
              </a:defRPr>
            </a:pPr>
            <a:r>
              <a:rPr sz="1860" b="1">
                <a:solidFill>
                  <a:srgbClr val="00355F"/>
                </a:solidFill>
                <a:latin typeface="Arial"/>
                <a:ea typeface="Arial"/>
                <a:cs typeface="Arial"/>
              </a:rPr>
              <a:t>Source pending</a:t>
            </a:r>
          </a:p>
        </p:txBody>
      </p:sp>
      <p:sp>
        <p:nvSpPr>
          <p:cNvPr id="68" name="China • 2024 • bioprocess media [3]">
            <a:extLst xmlns:a="http://schemas.openxmlformats.org/drawingml/2006/main">
              <a:ext uri="{FF2B5EF4-FFF2-40B4-BE49-F238E27FC236}">
                <a16:creationId xmlns:a16="http://schemas.microsoft.com/office/drawing/2014/main" id="{AA1B66AE-744B-4B01-9FE0-4DA1B57B96BC}"/>
              </a:ext>
            </a:extLst>
          </p:cNvPr>
          <p:cNvSpPr>
            <a:spLocks xmlns:a="http://schemas.openxmlformats.org/drawingml/2006/main" noGrp="1"/>
          </p:cNvSpPr>
          <p:nvPr/>
        </p:nvSpPr>
        <p:spPr>
          <a:xfrm xmlns:a="http://schemas.openxmlformats.org/drawingml/2006/main">
            <a:off x="14196060" y="425196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buNone/>
              <a:defRPr sz="1050" b="0">
                <a:solidFill>
                  <a:srgbClr val="00355F"/>
                </a:solidFill>
                <a:latin typeface="Arial"/>
                <a:ea typeface="Arial"/>
                <a:cs typeface="Arial"/>
              </a:defRPr>
            </a:pPr>
            <a:r>
              <a:rPr sz="1050" b="0">
                <a:solidFill>
                  <a:srgbClr val="00355F"/>
                </a:solidFill>
                <a:latin typeface="Arial"/>
                <a:ea typeface="Arial"/>
                <a:cs typeface="Arial"/>
              </a:rPr>
              <a:t>China • 2024 • bioprocess media [3]</a:t>
            </a:r>
          </a:p>
        </p:txBody>
      </p:sp>
      <p:sp>
        <p:nvSpPr>
          <p:cNvPr id="69" name="Original filing unavailable; TAM withheld">
            <a:extLst xmlns:a="http://schemas.openxmlformats.org/drawingml/2006/main">
              <a:ext uri="{FF2B5EF4-FFF2-40B4-BE49-F238E27FC236}">
                <a16:creationId xmlns:a16="http://schemas.microsoft.com/office/drawing/2014/main" id="{A2D51D92-EE76-4441-A26C-77EDE259A7D6}"/>
              </a:ext>
            </a:extLst>
          </p:cNvPr>
          <p:cNvSpPr>
            <a:spLocks xmlns:a="http://schemas.openxmlformats.org/drawingml/2006/main" noGrp="1"/>
          </p:cNvSpPr>
          <p:nvPr/>
        </p:nvSpPr>
        <p:spPr>
          <a:xfrm xmlns:a="http://schemas.openxmlformats.org/drawingml/2006/main">
            <a:off x="14196060" y="447294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buNone/>
              <a:defRPr sz="990" b="0">
                <a:solidFill>
                  <a:srgbClr val="00355F"/>
                </a:solidFill>
                <a:latin typeface="Arial"/>
                <a:ea typeface="Arial"/>
                <a:cs typeface="Arial"/>
              </a:defRPr>
            </a:pPr>
            <a:r>
              <a:rPr sz="990" b="0">
                <a:solidFill>
                  <a:srgbClr val="00355F"/>
                </a:solidFill>
                <a:latin typeface="Arial"/>
                <a:ea typeface="Arial"/>
                <a:cs typeface="Arial"/>
              </a:rPr>
              <a:t>Original filing unavailable; TAM withheld</a:t>
            </a:r>
          </a:p>
        </p:txBody>
      </p:sp>
      <p:sp>
        <p:nvSpPr>
          <p:cNvPr id="70" name="Gibco / HyClone">
            <a:extLst xmlns:a="http://schemas.openxmlformats.org/drawingml/2006/main">
              <a:ext uri="{FF2B5EF4-FFF2-40B4-BE49-F238E27FC236}">
                <a16:creationId xmlns:a16="http://schemas.microsoft.com/office/drawing/2014/main" id="{AF4E173C-1D2E-4587-9A34-8589060B1E86}"/>
              </a:ext>
            </a:extLst>
          </p:cNvPr>
          <p:cNvSpPr>
            <a:spLocks xmlns:a="http://schemas.openxmlformats.org/drawingml/2006/main" noGrp="1"/>
          </p:cNvSpPr>
          <p:nvPr/>
        </p:nvSpPr>
        <p:spPr>
          <a:xfrm xmlns:a="http://schemas.openxmlformats.org/drawingml/2006/main">
            <a:off x="14196060" y="4785360"/>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buNone/>
              <a:defRPr sz="1500" b="1">
                <a:solidFill>
                  <a:srgbClr val="00355F"/>
                </a:solidFill>
                <a:latin typeface="Arial"/>
                <a:ea typeface="Arial"/>
                <a:cs typeface="Arial"/>
              </a:defRPr>
            </a:pPr>
            <a:r>
              <a:rPr sz="1500" b="1">
                <a:solidFill>
                  <a:srgbClr val="00355F"/>
                </a:solidFill>
                <a:latin typeface="Arial"/>
                <a:ea typeface="Arial"/>
                <a:cs typeface="Arial"/>
              </a:rPr>
              <a:t>Gibco / HyClone</a:t>
            </a:r>
          </a:p>
        </p:txBody>
      </p:sp>
      <p:sp>
        <p:nvSpPr>
          <p:cNvPr id="71" name="CHINA / HK LISTINGS">
            <a:extLst xmlns:a="http://schemas.openxmlformats.org/drawingml/2006/main">
              <a:ext uri="{FF2B5EF4-FFF2-40B4-BE49-F238E27FC236}">
                <a16:creationId xmlns:a16="http://schemas.microsoft.com/office/drawing/2014/main" id="{72E3ED06-F7BF-4D44-B5F7-CD249BD65895}"/>
              </a:ext>
            </a:extLst>
          </p:cNvPr>
          <p:cNvSpPr>
            <a:spLocks xmlns:a="http://schemas.openxmlformats.org/drawingml/2006/main" noGrp="1"/>
          </p:cNvSpPr>
          <p:nvPr/>
        </p:nvSpPr>
        <p:spPr>
          <a:xfrm xmlns:a="http://schemas.openxmlformats.org/drawingml/2006/main">
            <a:off x="14196060" y="511302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72" name="US LISTINGS / PARENTS">
            <a:extLst xmlns:a="http://schemas.openxmlformats.org/drawingml/2006/main">
              <a:ext uri="{FF2B5EF4-FFF2-40B4-BE49-F238E27FC236}">
                <a16:creationId xmlns:a16="http://schemas.microsoft.com/office/drawing/2014/main" id="{5A388A9B-D379-4FC3-B7C1-C38918D78881}"/>
              </a:ext>
            </a:extLst>
          </p:cNvPr>
          <p:cNvSpPr>
            <a:spLocks xmlns:a="http://schemas.openxmlformats.org/drawingml/2006/main" noGrp="1"/>
          </p:cNvSpPr>
          <p:nvPr/>
        </p:nvSpPr>
        <p:spPr>
          <a:xfrm xmlns:a="http://schemas.openxmlformats.org/drawingml/2006/main">
            <a:off x="15834360" y="511302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73" name="OPM · 688293.SH">
            <a:extLst xmlns:a="http://schemas.openxmlformats.org/drawingml/2006/main">
              <a:ext uri="{FF2B5EF4-FFF2-40B4-BE49-F238E27FC236}">
                <a16:creationId xmlns:a16="http://schemas.microsoft.com/office/drawing/2014/main" id="{50C9853D-E452-4B95-9242-E102B9246F2B}"/>
              </a:ext>
            </a:extLst>
          </p:cNvPr>
          <p:cNvSpPr>
            <a:spLocks xmlns:a="http://schemas.openxmlformats.org/drawingml/2006/main" noGrp="1"/>
          </p:cNvSpPr>
          <p:nvPr/>
        </p:nvSpPr>
        <p:spPr>
          <a:xfrm xmlns:a="http://schemas.openxmlformats.org/drawingml/2006/main">
            <a:off x="14196060" y="533400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OPM · 688293.SH</a:t>
            </a:r>
          </a:p>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ACRO · 301080.SZ</a:t>
            </a:r>
          </a:p>
        </p:txBody>
      </p:sp>
      <p:sp>
        <p:nvSpPr>
          <p:cNvPr id="74" name="Gibco / Thermo · TMO">
            <a:extLst xmlns:a="http://schemas.openxmlformats.org/drawingml/2006/main">
              <a:ext uri="{FF2B5EF4-FFF2-40B4-BE49-F238E27FC236}">
                <a16:creationId xmlns:a16="http://schemas.microsoft.com/office/drawing/2014/main" id="{541F8CD4-E4A8-4B40-9239-4736406696C3}"/>
              </a:ext>
            </a:extLst>
          </p:cNvPr>
          <p:cNvSpPr>
            <a:spLocks xmlns:a="http://schemas.openxmlformats.org/drawingml/2006/main" noGrp="1"/>
          </p:cNvSpPr>
          <p:nvPr/>
        </p:nvSpPr>
        <p:spPr>
          <a:xfrm xmlns:a="http://schemas.openxmlformats.org/drawingml/2006/main">
            <a:off x="15834360" y="533400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Gibco / Thermo · TMO</a:t>
            </a:r>
          </a:p>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Cytiva / HyClone · DHR</a:t>
            </a:r>
          </a:p>
        </p:txBody>
      </p:sp>
      <p:sp>
        <p:nvSpPr>
          <p:cNvPr id="75" name="">
            <a:extLst xmlns:a="http://schemas.openxmlformats.org/drawingml/2006/main">
              <a:ext uri="{FF2B5EF4-FFF2-40B4-BE49-F238E27FC236}">
                <a16:creationId xmlns:a16="http://schemas.microsoft.com/office/drawing/2014/main" id="{4B21FAEE-EC0A-46E1-A141-70F8F8F94F6A}"/>
              </a:ext>
            </a:extLst>
          </p:cNvPr>
          <p:cNvSpPr>
            <a:spLocks xmlns:a="http://schemas.openxmlformats.org/drawingml/2006/main" noGrp="1"/>
          </p:cNvSpPr>
          <p:nvPr/>
        </p:nvSpPr>
        <p:spPr>
          <a:xfrm xmlns:a="http://schemas.openxmlformats.org/drawingml/2006/main">
            <a:off x="6987540" y="601980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7620">
            <a:solidFill>
              <a:srgbClr val="A5A5A5"/>
            </a:solidFill>
          </a:ln>
        </p:spPr>
      </p:sp>
      <p:pic>
        <p:nvPicPr>
          <p:cNvPr id="76" name="">
            <a:extLst xmlns:a="http://schemas.openxmlformats.org/drawingml/2006/main">
              <a:ext uri="{FF2B5EF4-FFF2-40B4-BE49-F238E27FC236}">
                <a16:creationId xmlns:a16="http://schemas.microsoft.com/office/drawing/2014/main" id="{E5A7CFA0-04EC-4DD9-AD76-7EBEEA36CEB3}"/>
              </a:ext>
            </a:extLst>
          </p:cNvPr>
          <p:cNvPicPr>
            <a:picLocks xmlns:a="http://schemas.openxmlformats.org/drawingml/2006/main" noChangeAspect="1"/>
          </p:cNvPicPr>
          <p:nvPr/>
        </p:nvPicPr>
        <p:blipFill>
          <a:blip xmlns:r="http://schemas.openxmlformats.org/officeDocument/2006/relationships" xmlns:a="http://schemas.openxmlformats.org/drawingml/2006/main" r:embed="R02619106c41946fd">
            <a:extLst>
              <a:ext uri="{96DAC541-7B7A-43D3-8B79-37D633B846F1}">
                <asvg:svgBlip xmlns:asvg="http://schemas.microsoft.com/office/drawing/2016/SVG/main" r:embed="Rf2b31b9c99bd4b52"/>
              </a:ext>
            </a:extLst>
          </a:blip>
          <a:stretch xmlns:a="http://schemas.openxmlformats.org/drawingml/2006/main"/>
        </p:blipFill>
        <p:spPr>
          <a:xfrm xmlns:a="http://schemas.openxmlformats.org/drawingml/2006/main">
            <a:off x="7124700" y="6164580"/>
            <a:ext cx="289560" cy="289560"/>
          </a:xfrm>
          <a:prstGeom xmlns:a="http://schemas.openxmlformats.org/drawingml/2006/main" prst="rect">
            <a:avLst/>
          </a:prstGeom>
        </p:spPr>
      </p:pic>
      <p:sp>
        <p:nvSpPr>
          <p:cNvPr id="77" name="Labware &amp; sample handling">
            <a:extLst xmlns:a="http://schemas.openxmlformats.org/drawingml/2006/main">
              <a:ext uri="{FF2B5EF4-FFF2-40B4-BE49-F238E27FC236}">
                <a16:creationId xmlns:a16="http://schemas.microsoft.com/office/drawing/2014/main" id="{A44D38EE-3683-4694-843D-0352A5210003}"/>
              </a:ext>
            </a:extLst>
          </p:cNvPr>
          <p:cNvSpPr>
            <a:spLocks xmlns:a="http://schemas.openxmlformats.org/drawingml/2006/main" noGrp="1"/>
          </p:cNvSpPr>
          <p:nvPr/>
        </p:nvSpPr>
        <p:spPr>
          <a:xfrm xmlns:a="http://schemas.openxmlformats.org/drawingml/2006/main">
            <a:off x="7551420" y="619506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buNone/>
              <a:defRPr sz="1560" b="1">
                <a:solidFill>
                  <a:srgbClr val="00355F"/>
                </a:solidFill>
                <a:latin typeface="Arial"/>
                <a:ea typeface="Arial"/>
                <a:cs typeface="Arial"/>
              </a:defRPr>
            </a:pPr>
            <a:r>
              <a:rPr sz="1560" b="1">
                <a:solidFill>
                  <a:srgbClr val="00355F"/>
                </a:solidFill>
                <a:latin typeface="Arial"/>
                <a:ea typeface="Arial"/>
                <a:cs typeface="Arial"/>
              </a:rPr>
              <a:t>Labware &amp; sample handling</a:t>
            </a:r>
          </a:p>
        </p:txBody>
      </p:sp>
      <p:sp>
        <p:nvSpPr>
          <p:cNvPr id="78" name="Tips, plates, tubes, filtration">
            <a:extLst xmlns:a="http://schemas.openxmlformats.org/drawingml/2006/main">
              <a:ext uri="{FF2B5EF4-FFF2-40B4-BE49-F238E27FC236}">
                <a16:creationId xmlns:a16="http://schemas.microsoft.com/office/drawing/2014/main" id="{1A53DF28-450C-482E-8C75-3DAE6BBEC2D7}"/>
              </a:ext>
            </a:extLst>
          </p:cNvPr>
          <p:cNvSpPr>
            <a:spLocks xmlns:a="http://schemas.openxmlformats.org/drawingml/2006/main" noGrp="1"/>
          </p:cNvSpPr>
          <p:nvPr/>
        </p:nvSpPr>
        <p:spPr>
          <a:xfrm xmlns:a="http://schemas.openxmlformats.org/drawingml/2006/main">
            <a:off x="7139940" y="656844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Tips, plates, tubes, filtration</a:t>
            </a:r>
          </a:p>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Automation-compatible labware</a:t>
            </a:r>
          </a:p>
        </p:txBody>
      </p:sp>
      <p:sp>
        <p:nvSpPr>
          <p:cNvPr id="79" name="~RMB 23bn">
            <a:extLst xmlns:a="http://schemas.openxmlformats.org/drawingml/2006/main">
              <a:ext uri="{FF2B5EF4-FFF2-40B4-BE49-F238E27FC236}">
                <a16:creationId xmlns:a16="http://schemas.microsoft.com/office/drawing/2014/main" id="{3549B8B1-9590-4EA4-B4DD-480275826B7D}"/>
              </a:ext>
            </a:extLst>
          </p:cNvPr>
          <p:cNvSpPr>
            <a:spLocks xmlns:a="http://schemas.openxmlformats.org/drawingml/2006/main" noGrp="1"/>
          </p:cNvSpPr>
          <p:nvPr/>
        </p:nvSpPr>
        <p:spPr>
          <a:xfrm xmlns:a="http://schemas.openxmlformats.org/drawingml/2006/main">
            <a:off x="7139940" y="704850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buNone/>
              <a:defRPr sz="2220" b="1">
                <a:solidFill>
                  <a:srgbClr val="00355F"/>
                </a:solidFill>
                <a:latin typeface="Arial"/>
                <a:ea typeface="Arial"/>
                <a:cs typeface="Arial"/>
              </a:defRPr>
            </a:pPr>
            <a:r>
              <a:rPr sz="2220" b="1">
                <a:solidFill>
                  <a:srgbClr val="00355F"/>
                </a:solidFill>
                <a:latin typeface="Arial"/>
                <a:ea typeface="Arial"/>
                <a:cs typeface="Arial"/>
              </a:rPr>
              <a:t>~RMB 23bn</a:t>
            </a:r>
          </a:p>
        </p:txBody>
      </p:sp>
      <p:sp>
        <p:nvSpPr>
          <p:cNvPr id="80" name="China • 2024 • plastic labware [4]">
            <a:extLst xmlns:a="http://schemas.openxmlformats.org/drawingml/2006/main">
              <a:ext uri="{FF2B5EF4-FFF2-40B4-BE49-F238E27FC236}">
                <a16:creationId xmlns:a16="http://schemas.microsoft.com/office/drawing/2014/main" id="{04642C90-4E99-4678-9B43-AB5DA2C6F942}"/>
              </a:ext>
            </a:extLst>
          </p:cNvPr>
          <p:cNvSpPr>
            <a:spLocks xmlns:a="http://schemas.openxmlformats.org/drawingml/2006/main" noGrp="1"/>
          </p:cNvSpPr>
          <p:nvPr/>
        </p:nvSpPr>
        <p:spPr>
          <a:xfrm xmlns:a="http://schemas.openxmlformats.org/drawingml/2006/main">
            <a:off x="7139940" y="742950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buNone/>
              <a:defRPr sz="1050" b="0">
                <a:solidFill>
                  <a:srgbClr val="00355F"/>
                </a:solidFill>
                <a:latin typeface="Arial"/>
                <a:ea typeface="Arial"/>
                <a:cs typeface="Arial"/>
              </a:defRPr>
            </a:pPr>
            <a:r>
              <a:rPr sz="1050" b="0">
                <a:solidFill>
                  <a:srgbClr val="00355F"/>
                </a:solidFill>
                <a:latin typeface="Arial"/>
                <a:ea typeface="Arial"/>
                <a:cs typeface="Arial"/>
              </a:rPr>
              <a:t>China • 2024 • plastic labware [4]</a:t>
            </a:r>
          </a:p>
        </p:txBody>
      </p:sp>
      <p:sp>
        <p:nvSpPr>
          <p:cNvPr id="81" name="Includes clinical and industrial uses">
            <a:extLst xmlns:a="http://schemas.openxmlformats.org/drawingml/2006/main">
              <a:ext uri="{FF2B5EF4-FFF2-40B4-BE49-F238E27FC236}">
                <a16:creationId xmlns:a16="http://schemas.microsoft.com/office/drawing/2014/main" id="{C9C3E8A2-A1E0-4380-BFA5-1CBAFFE38755}"/>
              </a:ext>
            </a:extLst>
          </p:cNvPr>
          <p:cNvSpPr>
            <a:spLocks xmlns:a="http://schemas.openxmlformats.org/drawingml/2006/main" noGrp="1"/>
          </p:cNvSpPr>
          <p:nvPr/>
        </p:nvSpPr>
        <p:spPr>
          <a:xfrm xmlns:a="http://schemas.openxmlformats.org/drawingml/2006/main">
            <a:off x="7139940" y="765048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buNone/>
              <a:defRPr sz="990" b="0">
                <a:solidFill>
                  <a:srgbClr val="00355F"/>
                </a:solidFill>
                <a:latin typeface="Arial"/>
                <a:ea typeface="Arial"/>
                <a:cs typeface="Arial"/>
              </a:defRPr>
            </a:pPr>
            <a:r>
              <a:rPr sz="990" b="0">
                <a:solidFill>
                  <a:srgbClr val="00355F"/>
                </a:solidFill>
                <a:latin typeface="Arial"/>
                <a:ea typeface="Arial"/>
                <a:cs typeface="Arial"/>
              </a:rPr>
              <a:t>Includes clinical and industrial uses</a:t>
            </a:r>
          </a:p>
        </p:txBody>
      </p:sp>
      <p:pic>
        <p:nvPicPr>
          <p:cNvPr id="82" name="">
            <a:extLst xmlns:a="http://schemas.openxmlformats.org/drawingml/2006/main">
              <a:ext uri="{FF2B5EF4-FFF2-40B4-BE49-F238E27FC236}">
                <a16:creationId xmlns:a16="http://schemas.microsoft.com/office/drawing/2014/main" id="{5169812F-8631-4167-A563-342766A53DF5}"/>
              </a:ext>
            </a:extLst>
          </p:cNvPr>
          <p:cNvPicPr>
            <a:picLocks xmlns:a="http://schemas.openxmlformats.org/drawingml/2006/main" noChangeAspect="1"/>
          </p:cNvPicPr>
          <p:nvPr/>
        </p:nvPicPr>
        <p:blipFill>
          <a:blip xmlns:r="http://schemas.openxmlformats.org/officeDocument/2006/relationships" xmlns:a="http://schemas.openxmlformats.org/drawingml/2006/main" r:embed="R3fff92112c8446e5"/>
          <a:stretch xmlns:a="http://schemas.openxmlformats.org/drawingml/2006/main"/>
        </p:blipFill>
        <p:spPr>
          <a:xfrm xmlns:a="http://schemas.openxmlformats.org/drawingml/2006/main">
            <a:off x="7349490" y="7879080"/>
            <a:ext cx="670560" cy="335280"/>
          </a:xfrm>
          <a:prstGeom xmlns:a="http://schemas.openxmlformats.org/drawingml/2006/main" prst="rect">
            <a:avLst/>
          </a:prstGeom>
        </p:spPr>
      </p:pic>
      <p:pic>
        <p:nvPicPr>
          <p:cNvPr id="83" name="">
            <a:extLst xmlns:a="http://schemas.openxmlformats.org/drawingml/2006/main">
              <a:ext uri="{FF2B5EF4-FFF2-40B4-BE49-F238E27FC236}">
                <a16:creationId xmlns:a16="http://schemas.microsoft.com/office/drawing/2014/main" id="{2B055701-54C8-4CD5-A0C2-4DE2209D885D}"/>
              </a:ext>
            </a:extLst>
          </p:cNvPr>
          <p:cNvPicPr>
            <a:picLocks xmlns:a="http://schemas.openxmlformats.org/drawingml/2006/main" noChangeAspect="1"/>
          </p:cNvPicPr>
          <p:nvPr/>
        </p:nvPicPr>
        <p:blipFill>
          <a:blip xmlns:r="http://schemas.openxmlformats.org/officeDocument/2006/relationships" xmlns:a="http://schemas.openxmlformats.org/drawingml/2006/main" r:embed="Rf7feec6d82e14abb">
            <a:extLst>
              <a:ext uri="{96DAC541-7B7A-43D3-8B79-37D633B846F1}">
                <asvg:svgBlip xmlns:asvg="http://schemas.microsoft.com/office/drawing/2016/SVG/main" r:embed="R82221df980cd4538"/>
              </a:ext>
            </a:extLst>
          </a:blip>
          <a:stretch xmlns:a="http://schemas.openxmlformats.org/drawingml/2006/main"/>
        </p:blipFill>
        <p:spPr>
          <a:xfrm xmlns:a="http://schemas.openxmlformats.org/drawingml/2006/main">
            <a:off x="8763000" y="7879080"/>
            <a:ext cx="800100" cy="335280"/>
          </a:xfrm>
          <a:prstGeom xmlns:a="http://schemas.openxmlformats.org/drawingml/2006/main" prst="rect">
            <a:avLst/>
          </a:prstGeom>
        </p:spPr>
      </p:pic>
      <p:sp>
        <p:nvSpPr>
          <p:cNvPr id="84" name="CHINA / HK LISTINGS">
            <a:extLst xmlns:a="http://schemas.openxmlformats.org/drawingml/2006/main">
              <a:ext uri="{FF2B5EF4-FFF2-40B4-BE49-F238E27FC236}">
                <a16:creationId xmlns:a16="http://schemas.microsoft.com/office/drawing/2014/main" id="{D4C5307B-1ABA-4A88-98CB-C599D4E32F0E}"/>
              </a:ext>
            </a:extLst>
          </p:cNvPr>
          <p:cNvSpPr>
            <a:spLocks xmlns:a="http://schemas.openxmlformats.org/drawingml/2006/main" noGrp="1"/>
          </p:cNvSpPr>
          <p:nvPr/>
        </p:nvSpPr>
        <p:spPr>
          <a:xfrm xmlns:a="http://schemas.openxmlformats.org/drawingml/2006/main">
            <a:off x="7139940" y="829056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85" name="US LISTINGS / PARENTS">
            <a:extLst xmlns:a="http://schemas.openxmlformats.org/drawingml/2006/main">
              <a:ext uri="{FF2B5EF4-FFF2-40B4-BE49-F238E27FC236}">
                <a16:creationId xmlns:a16="http://schemas.microsoft.com/office/drawing/2014/main" id="{E40E6EE3-BEEA-402E-9D6F-A94B801567CA}"/>
              </a:ext>
            </a:extLst>
          </p:cNvPr>
          <p:cNvSpPr>
            <a:spLocks xmlns:a="http://schemas.openxmlformats.org/drawingml/2006/main" noGrp="1"/>
          </p:cNvSpPr>
          <p:nvPr/>
        </p:nvSpPr>
        <p:spPr>
          <a:xfrm xmlns:a="http://schemas.openxmlformats.org/drawingml/2006/main">
            <a:off x="8778240" y="829056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86" name="JET Biofil · 688026.SH">
            <a:extLst xmlns:a="http://schemas.openxmlformats.org/drawingml/2006/main">
              <a:ext uri="{FF2B5EF4-FFF2-40B4-BE49-F238E27FC236}">
                <a16:creationId xmlns:a16="http://schemas.microsoft.com/office/drawing/2014/main" id="{3054008D-5A6B-4FDE-B854-F81E111B629F}"/>
              </a:ext>
            </a:extLst>
          </p:cNvPr>
          <p:cNvSpPr>
            <a:spLocks xmlns:a="http://schemas.openxmlformats.org/drawingml/2006/main" noGrp="1"/>
          </p:cNvSpPr>
          <p:nvPr/>
        </p:nvSpPr>
        <p:spPr>
          <a:xfrm xmlns:a="http://schemas.openxmlformats.org/drawingml/2006/main">
            <a:off x="7139940" y="851154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JET Biofil · 688026.SH</a:t>
            </a:r>
          </a:p>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Changhong · 300151.SZ</a:t>
            </a:r>
          </a:p>
        </p:txBody>
      </p:sp>
      <p:sp>
        <p:nvSpPr>
          <p:cNvPr id="87" name="Corning · GLW">
            <a:extLst xmlns:a="http://schemas.openxmlformats.org/drawingml/2006/main">
              <a:ext uri="{FF2B5EF4-FFF2-40B4-BE49-F238E27FC236}">
                <a16:creationId xmlns:a16="http://schemas.microsoft.com/office/drawing/2014/main" id="{C08265A3-3FAE-4419-BBAF-FC73018A58B5}"/>
              </a:ext>
            </a:extLst>
          </p:cNvPr>
          <p:cNvSpPr>
            <a:spLocks xmlns:a="http://schemas.openxmlformats.org/drawingml/2006/main" noGrp="1"/>
          </p:cNvSpPr>
          <p:nvPr/>
        </p:nvSpPr>
        <p:spPr>
          <a:xfrm xmlns:a="http://schemas.openxmlformats.org/drawingml/2006/main">
            <a:off x="8778240" y="851154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Corning · GLW</a:t>
            </a:r>
          </a:p>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BD · BDX</a:t>
            </a:r>
          </a:p>
        </p:txBody>
      </p:sp>
      <p:sp>
        <p:nvSpPr>
          <p:cNvPr id="88" name="">
            <a:extLst xmlns:a="http://schemas.openxmlformats.org/drawingml/2006/main">
              <a:ext uri="{FF2B5EF4-FFF2-40B4-BE49-F238E27FC236}">
                <a16:creationId xmlns:a16="http://schemas.microsoft.com/office/drawing/2014/main" id="{656BBA24-0AA1-4ABB-BD26-06410542DBE0}"/>
              </a:ext>
            </a:extLst>
          </p:cNvPr>
          <p:cNvSpPr>
            <a:spLocks xmlns:a="http://schemas.openxmlformats.org/drawingml/2006/main" noGrp="1"/>
          </p:cNvSpPr>
          <p:nvPr/>
        </p:nvSpPr>
        <p:spPr>
          <a:xfrm xmlns:a="http://schemas.openxmlformats.org/drawingml/2006/main">
            <a:off x="10515600" y="601980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7620">
            <a:solidFill>
              <a:srgbClr val="A5A5A5"/>
            </a:solidFill>
          </a:ln>
        </p:spPr>
      </p:sp>
      <p:pic>
        <p:nvPicPr>
          <p:cNvPr id="89" name="">
            <a:extLst xmlns:a="http://schemas.openxmlformats.org/drawingml/2006/main">
              <a:ext uri="{FF2B5EF4-FFF2-40B4-BE49-F238E27FC236}">
                <a16:creationId xmlns:a16="http://schemas.microsoft.com/office/drawing/2014/main" id="{C9C6B889-059B-4AF3-9EF6-46575B269FA2}"/>
              </a:ext>
            </a:extLst>
          </p:cNvPr>
          <p:cNvPicPr>
            <a:picLocks xmlns:a="http://schemas.openxmlformats.org/drawingml/2006/main" noChangeAspect="1"/>
          </p:cNvPicPr>
          <p:nvPr/>
        </p:nvPicPr>
        <p:blipFill>
          <a:blip xmlns:r="http://schemas.openxmlformats.org/officeDocument/2006/relationships" xmlns:a="http://schemas.openxmlformats.org/drawingml/2006/main" r:embed="R5454090eb3684053">
            <a:extLst>
              <a:ext uri="{96DAC541-7B7A-43D3-8B79-37D633B846F1}">
                <asvg:svgBlip xmlns:asvg="http://schemas.microsoft.com/office/drawing/2016/SVG/main" r:embed="R136e747671784580"/>
              </a:ext>
            </a:extLst>
          </a:blip>
          <a:stretch xmlns:a="http://schemas.openxmlformats.org/drawingml/2006/main"/>
        </p:blipFill>
        <p:spPr>
          <a:xfrm xmlns:a="http://schemas.openxmlformats.org/drawingml/2006/main">
            <a:off x="10652760" y="6164580"/>
            <a:ext cx="289560" cy="289560"/>
          </a:xfrm>
          <a:prstGeom xmlns:a="http://schemas.openxmlformats.org/drawingml/2006/main" prst="rect">
            <a:avLst/>
          </a:prstGeom>
        </p:spPr>
      </p:pic>
      <p:sp>
        <p:nvSpPr>
          <p:cNvPr id="90" name="Measurement &amp; analytics">
            <a:extLst xmlns:a="http://schemas.openxmlformats.org/drawingml/2006/main">
              <a:ext uri="{FF2B5EF4-FFF2-40B4-BE49-F238E27FC236}">
                <a16:creationId xmlns:a16="http://schemas.microsoft.com/office/drawing/2014/main" id="{884E2DF6-122F-4FFE-A109-7808D183E49C}"/>
              </a:ext>
            </a:extLst>
          </p:cNvPr>
          <p:cNvSpPr>
            <a:spLocks xmlns:a="http://schemas.openxmlformats.org/drawingml/2006/main" noGrp="1"/>
          </p:cNvSpPr>
          <p:nvPr/>
        </p:nvSpPr>
        <p:spPr>
          <a:xfrm xmlns:a="http://schemas.openxmlformats.org/drawingml/2006/main">
            <a:off x="11079480" y="619506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buNone/>
              <a:defRPr sz="1560" b="1">
                <a:solidFill>
                  <a:srgbClr val="00355F"/>
                </a:solidFill>
                <a:latin typeface="Arial"/>
                <a:ea typeface="Arial"/>
                <a:cs typeface="Arial"/>
              </a:defRPr>
            </a:pPr>
            <a:r>
              <a:rPr sz="1560" b="1">
                <a:solidFill>
                  <a:srgbClr val="00355F"/>
                </a:solidFill>
                <a:latin typeface="Arial"/>
                <a:ea typeface="Arial"/>
                <a:cs typeface="Arial"/>
              </a:rPr>
              <a:t>Measurement &amp; analytics</a:t>
            </a:r>
          </a:p>
        </p:txBody>
      </p:sp>
      <p:sp>
        <p:nvSpPr>
          <p:cNvPr id="91" name="Sequencing, LC / LC-MS, flow">
            <a:extLst xmlns:a="http://schemas.openxmlformats.org/drawingml/2006/main">
              <a:ext uri="{FF2B5EF4-FFF2-40B4-BE49-F238E27FC236}">
                <a16:creationId xmlns:a16="http://schemas.microsoft.com/office/drawing/2014/main" id="{97477B8B-C6D4-438B-856F-81643FDC92A9}"/>
              </a:ext>
            </a:extLst>
          </p:cNvPr>
          <p:cNvSpPr>
            <a:spLocks xmlns:a="http://schemas.openxmlformats.org/drawingml/2006/main" noGrp="1"/>
          </p:cNvSpPr>
          <p:nvPr/>
        </p:nvSpPr>
        <p:spPr>
          <a:xfrm xmlns:a="http://schemas.openxmlformats.org/drawingml/2006/main">
            <a:off x="10668000" y="656844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Sequencing, LC / LC-MS, flow</a:t>
            </a:r>
          </a:p>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Imaging and quality control</a:t>
            </a:r>
          </a:p>
        </p:txBody>
      </p:sp>
      <p:sp>
        <p:nvSpPr>
          <p:cNvPr id="92" name="RMB 4.3bn">
            <a:extLst xmlns:a="http://schemas.openxmlformats.org/drawingml/2006/main">
              <a:ext uri="{FF2B5EF4-FFF2-40B4-BE49-F238E27FC236}">
                <a16:creationId xmlns:a16="http://schemas.microsoft.com/office/drawing/2014/main" id="{78793B75-84B7-450C-A273-7034E0A4EA65}"/>
              </a:ext>
            </a:extLst>
          </p:cNvPr>
          <p:cNvSpPr>
            <a:spLocks xmlns:a="http://schemas.openxmlformats.org/drawingml/2006/main" noGrp="1"/>
          </p:cNvSpPr>
          <p:nvPr/>
        </p:nvSpPr>
        <p:spPr>
          <a:xfrm xmlns:a="http://schemas.openxmlformats.org/drawingml/2006/main">
            <a:off x="10668000" y="704850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buNone/>
              <a:defRPr sz="2220" b="1">
                <a:solidFill>
                  <a:srgbClr val="00355F"/>
                </a:solidFill>
                <a:latin typeface="Arial"/>
                <a:ea typeface="Arial"/>
                <a:cs typeface="Arial"/>
              </a:defRPr>
            </a:pPr>
            <a:r>
              <a:rPr sz="2220" b="1">
                <a:solidFill>
                  <a:srgbClr val="00355F"/>
                </a:solidFill>
                <a:latin typeface="Arial"/>
                <a:ea typeface="Arial"/>
                <a:cs typeface="Arial"/>
              </a:rPr>
              <a:t>RMB 4.3bn</a:t>
            </a:r>
          </a:p>
        </p:txBody>
      </p:sp>
      <p:sp>
        <p:nvSpPr>
          <p:cNvPr id="93" name="China • 2024 • sequencing tools [5]">
            <a:extLst xmlns:a="http://schemas.openxmlformats.org/drawingml/2006/main">
              <a:ext uri="{FF2B5EF4-FFF2-40B4-BE49-F238E27FC236}">
                <a16:creationId xmlns:a16="http://schemas.microsoft.com/office/drawing/2014/main" id="{E82D8D0D-4C6E-450F-9CDA-8A6375E6079B}"/>
              </a:ext>
            </a:extLst>
          </p:cNvPr>
          <p:cNvSpPr>
            <a:spLocks xmlns:a="http://schemas.openxmlformats.org/drawingml/2006/main" noGrp="1"/>
          </p:cNvSpPr>
          <p:nvPr/>
        </p:nvSpPr>
        <p:spPr>
          <a:xfrm xmlns:a="http://schemas.openxmlformats.org/drawingml/2006/main">
            <a:off x="10668000" y="742950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buNone/>
              <a:defRPr sz="1050" b="0">
                <a:solidFill>
                  <a:srgbClr val="00355F"/>
                </a:solidFill>
                <a:latin typeface="Arial"/>
                <a:ea typeface="Arial"/>
                <a:cs typeface="Arial"/>
              </a:defRPr>
            </a:pPr>
            <a:r>
              <a:rPr sz="1050" b="0">
                <a:solidFill>
                  <a:srgbClr val="00355F"/>
                </a:solidFill>
                <a:latin typeface="Arial"/>
                <a:ea typeface="Arial"/>
                <a:cs typeface="Arial"/>
              </a:rPr>
              <a:t>China • 2024 • sequencing tools [5]</a:t>
            </a:r>
          </a:p>
        </p:txBody>
      </p:sp>
      <p:sp>
        <p:nvSpPr>
          <p:cNvPr id="94" name="Sequencing subset; 2024 policy baseline">
            <a:extLst xmlns:a="http://schemas.openxmlformats.org/drawingml/2006/main">
              <a:ext uri="{FF2B5EF4-FFF2-40B4-BE49-F238E27FC236}">
                <a16:creationId xmlns:a16="http://schemas.microsoft.com/office/drawing/2014/main" id="{E7B93377-7320-4271-AEC1-34DDFB7B7536}"/>
              </a:ext>
            </a:extLst>
          </p:cNvPr>
          <p:cNvSpPr>
            <a:spLocks xmlns:a="http://schemas.openxmlformats.org/drawingml/2006/main" noGrp="1"/>
          </p:cNvSpPr>
          <p:nvPr/>
        </p:nvSpPr>
        <p:spPr>
          <a:xfrm xmlns:a="http://schemas.openxmlformats.org/drawingml/2006/main">
            <a:off x="10668000" y="765048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buNone/>
              <a:defRPr sz="990" b="0">
                <a:solidFill>
                  <a:srgbClr val="00355F"/>
                </a:solidFill>
                <a:latin typeface="Arial"/>
                <a:ea typeface="Arial"/>
                <a:cs typeface="Arial"/>
              </a:defRPr>
            </a:pPr>
            <a:r>
              <a:rPr sz="990" b="0">
                <a:solidFill>
                  <a:srgbClr val="00355F"/>
                </a:solidFill>
                <a:latin typeface="Arial"/>
                <a:ea typeface="Arial"/>
                <a:cs typeface="Arial"/>
              </a:rPr>
              <a:t>Sequencing subset; 2024 policy baseline</a:t>
            </a:r>
          </a:p>
        </p:txBody>
      </p:sp>
      <p:pic>
        <p:nvPicPr>
          <p:cNvPr id="95" name="">
            <a:extLst xmlns:a="http://schemas.openxmlformats.org/drawingml/2006/main">
              <a:ext uri="{FF2B5EF4-FFF2-40B4-BE49-F238E27FC236}">
                <a16:creationId xmlns:a16="http://schemas.microsoft.com/office/drawing/2014/main" id="{5F61FA59-7C9F-474A-B3B2-A54A1870C299}"/>
              </a:ext>
            </a:extLst>
          </p:cNvPr>
          <p:cNvPicPr>
            <a:picLocks xmlns:a="http://schemas.openxmlformats.org/drawingml/2006/main" noChangeAspect="1"/>
          </p:cNvPicPr>
          <p:nvPr/>
        </p:nvPicPr>
        <p:blipFill>
          <a:blip xmlns:r="http://schemas.openxmlformats.org/officeDocument/2006/relationships" xmlns:a="http://schemas.openxmlformats.org/drawingml/2006/main" r:embed="R7a6afcb0aa114d92"/>
          <a:stretch xmlns:a="http://schemas.openxmlformats.org/drawingml/2006/main"/>
        </p:blipFill>
        <p:spPr>
          <a:xfrm xmlns:a="http://schemas.openxmlformats.org/drawingml/2006/main">
            <a:off x="10668000" y="7936122"/>
            <a:ext cx="769620" cy="244055"/>
          </a:xfrm>
          <a:prstGeom xmlns:a="http://schemas.openxmlformats.org/drawingml/2006/main" prst="rect">
            <a:avLst/>
          </a:prstGeom>
        </p:spPr>
      </p:pic>
      <p:sp>
        <p:nvSpPr>
          <p:cNvPr id="96" name="BD flow → WAT†">
            <a:extLst xmlns:a="http://schemas.openxmlformats.org/drawingml/2006/main">
              <a:ext uri="{FF2B5EF4-FFF2-40B4-BE49-F238E27FC236}">
                <a16:creationId xmlns:a16="http://schemas.microsoft.com/office/drawing/2014/main" id="{34D70078-632B-4617-A64B-9EFDD0C8DC06}"/>
              </a:ext>
            </a:extLst>
          </p:cNvPr>
          <p:cNvSpPr>
            <a:spLocks xmlns:a="http://schemas.openxmlformats.org/drawingml/2006/main" noGrp="1"/>
          </p:cNvSpPr>
          <p:nvPr/>
        </p:nvSpPr>
        <p:spPr>
          <a:xfrm xmlns:a="http://schemas.openxmlformats.org/drawingml/2006/main">
            <a:off x="11765280" y="7985760"/>
            <a:ext cx="17907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buNone/>
              <a:defRPr sz="1380" b="1">
                <a:solidFill>
                  <a:srgbClr val="00355F"/>
                </a:solidFill>
                <a:latin typeface="Arial"/>
                <a:ea typeface="Arial"/>
                <a:cs typeface="Arial"/>
              </a:defRPr>
            </a:pPr>
            <a:r>
              <a:rPr sz="1380" b="1">
                <a:solidFill>
                  <a:srgbClr val="00355F"/>
                </a:solidFill>
                <a:latin typeface="Arial"/>
                <a:ea typeface="Arial"/>
                <a:cs typeface="Arial"/>
              </a:rPr>
              <a:t>BD flow → WAT†</a:t>
            </a:r>
          </a:p>
        </p:txBody>
      </p:sp>
      <p:sp>
        <p:nvSpPr>
          <p:cNvPr id="97" name="CHINA / HK LISTINGS">
            <a:extLst xmlns:a="http://schemas.openxmlformats.org/drawingml/2006/main">
              <a:ext uri="{FF2B5EF4-FFF2-40B4-BE49-F238E27FC236}">
                <a16:creationId xmlns:a16="http://schemas.microsoft.com/office/drawing/2014/main" id="{61E83EA7-2241-489D-B2C4-5801F21E44A1}"/>
              </a:ext>
            </a:extLst>
          </p:cNvPr>
          <p:cNvSpPr>
            <a:spLocks xmlns:a="http://schemas.openxmlformats.org/drawingml/2006/main" noGrp="1"/>
          </p:cNvSpPr>
          <p:nvPr/>
        </p:nvSpPr>
        <p:spPr>
          <a:xfrm xmlns:a="http://schemas.openxmlformats.org/drawingml/2006/main">
            <a:off x="10668000" y="829056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98" name="US LISTINGS / PARENTS">
            <a:extLst xmlns:a="http://schemas.openxmlformats.org/drawingml/2006/main">
              <a:ext uri="{FF2B5EF4-FFF2-40B4-BE49-F238E27FC236}">
                <a16:creationId xmlns:a16="http://schemas.microsoft.com/office/drawing/2014/main" id="{B991CFDF-3140-430C-AEC4-E7E598B22192}"/>
              </a:ext>
            </a:extLst>
          </p:cNvPr>
          <p:cNvSpPr>
            <a:spLocks xmlns:a="http://schemas.openxmlformats.org/drawingml/2006/main" noGrp="1"/>
          </p:cNvSpPr>
          <p:nvPr/>
        </p:nvSpPr>
        <p:spPr>
          <a:xfrm xmlns:a="http://schemas.openxmlformats.org/drawingml/2006/main">
            <a:off x="12306300" y="829056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99" name="MGI · 688114.SH">
            <a:extLst xmlns:a="http://schemas.openxmlformats.org/drawingml/2006/main">
              <a:ext uri="{FF2B5EF4-FFF2-40B4-BE49-F238E27FC236}">
                <a16:creationId xmlns:a16="http://schemas.microsoft.com/office/drawing/2014/main" id="{D032DFF1-248E-4BDA-BF28-7A1456FF674F}"/>
              </a:ext>
            </a:extLst>
          </p:cNvPr>
          <p:cNvSpPr>
            <a:spLocks xmlns:a="http://schemas.openxmlformats.org/drawingml/2006/main" noGrp="1"/>
          </p:cNvSpPr>
          <p:nvPr/>
        </p:nvSpPr>
        <p:spPr>
          <a:xfrm xmlns:a="http://schemas.openxmlformats.org/drawingml/2006/main">
            <a:off x="10668000" y="851154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MGI · 688114.SH</a:t>
            </a:r>
          </a:p>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NanoMicro · 688690.SH</a:t>
            </a:r>
          </a:p>
        </p:txBody>
      </p:sp>
      <p:sp>
        <p:nvSpPr>
          <p:cNvPr id="100" name="Illumina · ILMN">
            <a:extLst xmlns:a="http://schemas.openxmlformats.org/drawingml/2006/main">
              <a:ext uri="{FF2B5EF4-FFF2-40B4-BE49-F238E27FC236}">
                <a16:creationId xmlns:a16="http://schemas.microsoft.com/office/drawing/2014/main" id="{A89D1D39-E881-4EF6-8FB2-A77D81DB5A8B}"/>
              </a:ext>
            </a:extLst>
          </p:cNvPr>
          <p:cNvSpPr>
            <a:spLocks xmlns:a="http://schemas.openxmlformats.org/drawingml/2006/main" noGrp="1"/>
          </p:cNvSpPr>
          <p:nvPr/>
        </p:nvSpPr>
        <p:spPr>
          <a:xfrm xmlns:a="http://schemas.openxmlformats.org/drawingml/2006/main">
            <a:off x="12306300" y="851154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Illumina · ILMN</a:t>
            </a:r>
          </a:p>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Agilent · A</a:t>
            </a:r>
          </a:p>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Waters · WAT†</a:t>
            </a:r>
          </a:p>
        </p:txBody>
      </p:sp>
      <p:sp>
        <p:nvSpPr>
          <p:cNvPr id="101" name="">
            <a:extLst xmlns:a="http://schemas.openxmlformats.org/drawingml/2006/main">
              <a:ext uri="{FF2B5EF4-FFF2-40B4-BE49-F238E27FC236}">
                <a16:creationId xmlns:a16="http://schemas.microsoft.com/office/drawing/2014/main" id="{F570786C-8161-4D96-BA71-42C02079E3DD}"/>
              </a:ext>
            </a:extLst>
          </p:cNvPr>
          <p:cNvSpPr>
            <a:spLocks xmlns:a="http://schemas.openxmlformats.org/drawingml/2006/main" noGrp="1"/>
          </p:cNvSpPr>
          <p:nvPr/>
        </p:nvSpPr>
        <p:spPr>
          <a:xfrm xmlns:a="http://schemas.openxmlformats.org/drawingml/2006/main">
            <a:off x="14043660" y="601980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15240">
            <a:solidFill>
              <a:srgbClr val="00355F"/>
            </a:solidFill>
          </a:ln>
        </p:spPr>
      </p:sp>
      <p:pic>
        <p:nvPicPr>
          <p:cNvPr id="102" name="">
            <a:extLst xmlns:a="http://schemas.openxmlformats.org/drawingml/2006/main">
              <a:ext uri="{FF2B5EF4-FFF2-40B4-BE49-F238E27FC236}">
                <a16:creationId xmlns:a16="http://schemas.microsoft.com/office/drawing/2014/main" id="{E4E22145-05EB-4677-B2DF-CFEAB9A27396}"/>
              </a:ext>
            </a:extLst>
          </p:cNvPr>
          <p:cNvPicPr>
            <a:picLocks xmlns:a="http://schemas.openxmlformats.org/drawingml/2006/main" noChangeAspect="1"/>
          </p:cNvPicPr>
          <p:nvPr/>
        </p:nvPicPr>
        <p:blipFill>
          <a:blip xmlns:r="http://schemas.openxmlformats.org/officeDocument/2006/relationships" xmlns:a="http://schemas.openxmlformats.org/drawingml/2006/main" r:embed="R1ee3d20e7d6f4887">
            <a:extLst>
              <a:ext uri="{96DAC541-7B7A-43D3-8B79-37D633B846F1}">
                <asvg:svgBlip xmlns:asvg="http://schemas.microsoft.com/office/drawing/2016/SVG/main" r:embed="Ree748c7a4f944ede"/>
              </a:ext>
            </a:extLst>
          </a:blip>
          <a:stretch xmlns:a="http://schemas.openxmlformats.org/drawingml/2006/main"/>
        </p:blipFill>
        <p:spPr>
          <a:xfrm xmlns:a="http://schemas.openxmlformats.org/drawingml/2006/main">
            <a:off x="14180820" y="6164580"/>
            <a:ext cx="289560" cy="289560"/>
          </a:xfrm>
          <a:prstGeom xmlns:a="http://schemas.openxmlformats.org/drawingml/2006/main" prst="rect">
            <a:avLst/>
          </a:prstGeom>
        </p:spPr>
      </p:pic>
      <p:sp>
        <p:nvSpPr>
          <p:cNvPr id="103" name="Purification &amp; scale-up">
            <a:extLst xmlns:a="http://schemas.openxmlformats.org/drawingml/2006/main">
              <a:ext uri="{FF2B5EF4-FFF2-40B4-BE49-F238E27FC236}">
                <a16:creationId xmlns:a16="http://schemas.microsoft.com/office/drawing/2014/main" id="{5E61B309-8E40-4CB1-BE87-5E024587C4E5}"/>
              </a:ext>
            </a:extLst>
          </p:cNvPr>
          <p:cNvSpPr>
            <a:spLocks xmlns:a="http://schemas.openxmlformats.org/drawingml/2006/main" noGrp="1"/>
          </p:cNvSpPr>
          <p:nvPr/>
        </p:nvSpPr>
        <p:spPr>
          <a:xfrm xmlns:a="http://schemas.openxmlformats.org/drawingml/2006/main">
            <a:off x="14607540" y="619506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buNone/>
              <a:defRPr sz="1560" b="1">
                <a:solidFill>
                  <a:srgbClr val="00355F"/>
                </a:solidFill>
                <a:latin typeface="Arial"/>
                <a:ea typeface="Arial"/>
                <a:cs typeface="Arial"/>
              </a:defRPr>
            </a:pPr>
            <a:r>
              <a:rPr sz="1560" b="1">
                <a:solidFill>
                  <a:srgbClr val="00355F"/>
                </a:solidFill>
                <a:latin typeface="Arial"/>
                <a:ea typeface="Arial"/>
                <a:cs typeface="Arial"/>
              </a:rPr>
              <a:t>Purification &amp; scale-up</a:t>
            </a:r>
          </a:p>
        </p:txBody>
      </p:sp>
      <p:sp>
        <p:nvSpPr>
          <p:cNvPr id="104" name="Analytical columns, process resins">
            <a:extLst xmlns:a="http://schemas.openxmlformats.org/drawingml/2006/main">
              <a:ext uri="{FF2B5EF4-FFF2-40B4-BE49-F238E27FC236}">
                <a16:creationId xmlns:a16="http://schemas.microsoft.com/office/drawing/2014/main" id="{5D115580-E300-4A75-9FFA-6BB277D82ADF}"/>
              </a:ext>
            </a:extLst>
          </p:cNvPr>
          <p:cNvSpPr>
            <a:spLocks xmlns:a="http://schemas.openxmlformats.org/drawingml/2006/main" noGrp="1"/>
          </p:cNvSpPr>
          <p:nvPr/>
        </p:nvSpPr>
        <p:spPr>
          <a:xfrm xmlns:a="http://schemas.openxmlformats.org/drawingml/2006/main">
            <a:off x="14196060" y="656844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Analytical columns, process resins</a:t>
            </a:r>
          </a:p>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Filtration and single-use systems</a:t>
            </a:r>
          </a:p>
        </p:txBody>
      </p:sp>
      <p:sp>
        <p:nvSpPr>
          <p:cNvPr id="105" name="Source pending">
            <a:extLst xmlns:a="http://schemas.openxmlformats.org/drawingml/2006/main">
              <a:ext uri="{FF2B5EF4-FFF2-40B4-BE49-F238E27FC236}">
                <a16:creationId xmlns:a16="http://schemas.microsoft.com/office/drawing/2014/main" id="{8B067F9B-C8B8-4283-8E64-06469B5ABB8C}"/>
              </a:ext>
            </a:extLst>
          </p:cNvPr>
          <p:cNvSpPr>
            <a:spLocks xmlns:a="http://schemas.openxmlformats.org/drawingml/2006/main" noGrp="1"/>
          </p:cNvSpPr>
          <p:nvPr/>
        </p:nvSpPr>
        <p:spPr>
          <a:xfrm xmlns:a="http://schemas.openxmlformats.org/drawingml/2006/main">
            <a:off x="14196060" y="704850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buNone/>
              <a:defRPr sz="1860" b="1">
                <a:solidFill>
                  <a:srgbClr val="00355F"/>
                </a:solidFill>
                <a:latin typeface="Arial"/>
                <a:ea typeface="Arial"/>
                <a:cs typeface="Arial"/>
              </a:defRPr>
            </a:pPr>
            <a:r>
              <a:rPr sz="1860" b="1">
                <a:solidFill>
                  <a:srgbClr val="00355F"/>
                </a:solidFill>
                <a:latin typeface="Arial"/>
                <a:ea typeface="Arial"/>
                <a:cs typeface="Arial"/>
              </a:rPr>
              <a:t>Source pending</a:t>
            </a:r>
          </a:p>
        </p:txBody>
      </p:sp>
      <p:sp>
        <p:nvSpPr>
          <p:cNvPr id="106" name="China • 2024 • bioprocess resins [3]">
            <a:extLst xmlns:a="http://schemas.openxmlformats.org/drawingml/2006/main">
              <a:ext uri="{FF2B5EF4-FFF2-40B4-BE49-F238E27FC236}">
                <a16:creationId xmlns:a16="http://schemas.microsoft.com/office/drawing/2014/main" id="{C5AFD67A-A5C5-4AA2-977B-8099E8EFF4CD}"/>
              </a:ext>
            </a:extLst>
          </p:cNvPr>
          <p:cNvSpPr>
            <a:spLocks xmlns:a="http://schemas.openxmlformats.org/drawingml/2006/main" noGrp="1"/>
          </p:cNvSpPr>
          <p:nvPr/>
        </p:nvSpPr>
        <p:spPr>
          <a:xfrm xmlns:a="http://schemas.openxmlformats.org/drawingml/2006/main">
            <a:off x="14196060" y="742950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buNone/>
              <a:defRPr sz="1050" b="0">
                <a:solidFill>
                  <a:srgbClr val="00355F"/>
                </a:solidFill>
                <a:latin typeface="Arial"/>
                <a:ea typeface="Arial"/>
                <a:cs typeface="Arial"/>
              </a:defRPr>
            </a:pPr>
            <a:r>
              <a:rPr sz="1050" b="0">
                <a:solidFill>
                  <a:srgbClr val="00355F"/>
                </a:solidFill>
                <a:latin typeface="Arial"/>
                <a:ea typeface="Arial"/>
                <a:cs typeface="Arial"/>
              </a:rPr>
              <a:t>China • 2024 • bioprocess resins [3]</a:t>
            </a:r>
          </a:p>
        </p:txBody>
      </p:sp>
      <p:sp>
        <p:nvSpPr>
          <p:cNvPr id="107" name="Original filing unavailable; TAM withheld">
            <a:extLst xmlns:a="http://schemas.openxmlformats.org/drawingml/2006/main">
              <a:ext uri="{FF2B5EF4-FFF2-40B4-BE49-F238E27FC236}">
                <a16:creationId xmlns:a16="http://schemas.microsoft.com/office/drawing/2014/main" id="{2A8F91A5-67B9-4F2A-BF63-544EE6937AB6}"/>
              </a:ext>
            </a:extLst>
          </p:cNvPr>
          <p:cNvSpPr>
            <a:spLocks xmlns:a="http://schemas.openxmlformats.org/drawingml/2006/main" noGrp="1"/>
          </p:cNvSpPr>
          <p:nvPr/>
        </p:nvSpPr>
        <p:spPr>
          <a:xfrm xmlns:a="http://schemas.openxmlformats.org/drawingml/2006/main">
            <a:off x="14196060" y="765048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buNone/>
              <a:defRPr sz="990" b="0">
                <a:solidFill>
                  <a:srgbClr val="00355F"/>
                </a:solidFill>
                <a:latin typeface="Arial"/>
                <a:ea typeface="Arial"/>
                <a:cs typeface="Arial"/>
              </a:defRPr>
            </a:pPr>
            <a:r>
              <a:rPr sz="990" b="0">
                <a:solidFill>
                  <a:srgbClr val="00355F"/>
                </a:solidFill>
                <a:latin typeface="Arial"/>
                <a:ea typeface="Arial"/>
                <a:cs typeface="Arial"/>
              </a:rPr>
              <a:t>Original filing unavailable; TAM withheld</a:t>
            </a:r>
          </a:p>
        </p:txBody>
      </p:sp>
      <p:pic>
        <p:nvPicPr>
          <p:cNvPr id="108" name="">
            <a:extLst xmlns:a="http://schemas.openxmlformats.org/drawingml/2006/main">
              <a:ext uri="{FF2B5EF4-FFF2-40B4-BE49-F238E27FC236}">
                <a16:creationId xmlns:a16="http://schemas.microsoft.com/office/drawing/2014/main" id="{A0C83892-0AA0-4710-A80A-5ECA0C119416}"/>
              </a:ext>
            </a:extLst>
          </p:cNvPr>
          <p:cNvPicPr>
            <a:picLocks xmlns:a="http://schemas.openxmlformats.org/drawingml/2006/main" noChangeAspect="1"/>
          </p:cNvPicPr>
          <p:nvPr/>
        </p:nvPicPr>
        <p:blipFill>
          <a:blip xmlns:r="http://schemas.openxmlformats.org/officeDocument/2006/relationships" xmlns:a="http://schemas.openxmlformats.org/drawingml/2006/main" r:embed="R3fff92112c8446e5">
            <a:extLst>
              <a:ext uri="{96DAC541-7B7A-43D3-8B79-37D633B846F1}">
                <asvg:svgBlip xmlns:asvg="http://schemas.microsoft.com/office/drawing/2016/SVG/main" r:embed="R87271b5ae62b4c87"/>
              </a:ext>
            </a:extLst>
          </a:blip>
          <a:stretch xmlns:a="http://schemas.openxmlformats.org/drawingml/2006/main"/>
        </p:blipFill>
        <p:spPr>
          <a:xfrm xmlns:a="http://schemas.openxmlformats.org/drawingml/2006/main">
            <a:off x="14196060" y="7917180"/>
            <a:ext cx="281940" cy="281940"/>
          </a:xfrm>
          <a:prstGeom xmlns:a="http://schemas.openxmlformats.org/drawingml/2006/main" prst="rect">
            <a:avLst/>
          </a:prstGeom>
        </p:spPr>
      </p:pic>
      <p:sp>
        <p:nvSpPr>
          <p:cNvPr id="109" name="NanoMicro">
            <a:extLst xmlns:a="http://schemas.openxmlformats.org/drawingml/2006/main">
              <a:ext uri="{FF2B5EF4-FFF2-40B4-BE49-F238E27FC236}">
                <a16:creationId xmlns:a16="http://schemas.microsoft.com/office/drawing/2014/main" id="{54629FFE-F185-4507-8546-D3C4C0DCFAF3}"/>
              </a:ext>
            </a:extLst>
          </p:cNvPr>
          <p:cNvSpPr>
            <a:spLocks xmlns:a="http://schemas.openxmlformats.org/drawingml/2006/main" noGrp="1"/>
          </p:cNvSpPr>
          <p:nvPr/>
        </p:nvSpPr>
        <p:spPr>
          <a:xfrm xmlns:a="http://schemas.openxmlformats.org/drawingml/2006/main">
            <a:off x="14546580" y="7970520"/>
            <a:ext cx="120396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40" b="1">
                <a:solidFill>
                  <a:srgbClr val="00355F"/>
                </a:solidFill>
                <a:latin typeface="Arial"/>
                <a:ea typeface="Arial"/>
                <a:cs typeface="Arial"/>
              </a:defRPr>
            </a:defPPr>
          </a:lstStyle>
          <a:p xmlns:a="http://schemas.openxmlformats.org/drawingml/2006/main">
            <a:pPr algn="l">
              <a:buNone/>
              <a:defRPr sz="1440" b="1">
                <a:solidFill>
                  <a:srgbClr val="00355F"/>
                </a:solidFill>
                <a:latin typeface="Arial"/>
                <a:ea typeface="Arial"/>
                <a:cs typeface="Arial"/>
              </a:defRPr>
            </a:pPr>
            <a:r>
              <a:rPr sz="1440" b="1">
                <a:solidFill>
                  <a:srgbClr val="00355F"/>
                </a:solidFill>
                <a:latin typeface="Arial"/>
                <a:ea typeface="Arial"/>
                <a:cs typeface="Arial"/>
              </a:rPr>
              <a:t>NanoMicro</a:t>
            </a:r>
          </a:p>
        </p:txBody>
      </p:sp>
      <p:pic>
        <p:nvPicPr>
          <p:cNvPr id="110" name="">
            <a:extLst xmlns:a="http://schemas.openxmlformats.org/drawingml/2006/main">
              <a:ext uri="{FF2B5EF4-FFF2-40B4-BE49-F238E27FC236}">
                <a16:creationId xmlns:a16="http://schemas.microsoft.com/office/drawing/2014/main" id="{D67D760A-418A-4D5A-B60E-F0396E474A11}"/>
              </a:ext>
            </a:extLst>
          </p:cNvPr>
          <p:cNvPicPr>
            <a:picLocks xmlns:a="http://schemas.openxmlformats.org/drawingml/2006/main" noChangeAspect="1"/>
          </p:cNvPicPr>
          <p:nvPr/>
        </p:nvPicPr>
        <p:blipFill>
          <a:blip xmlns:r="http://schemas.openxmlformats.org/officeDocument/2006/relationships" xmlns:a="http://schemas.openxmlformats.org/drawingml/2006/main" r:embed="R41785f03412045e3"/>
          <a:stretch xmlns:a="http://schemas.openxmlformats.org/drawingml/2006/main"/>
        </p:blipFill>
        <p:spPr>
          <a:xfrm xmlns:a="http://schemas.openxmlformats.org/drawingml/2006/main">
            <a:off x="15949686" y="7932420"/>
            <a:ext cx="1041887" cy="289560"/>
          </a:xfrm>
          <a:prstGeom xmlns:a="http://schemas.openxmlformats.org/drawingml/2006/main" prst="rect">
            <a:avLst/>
          </a:prstGeom>
        </p:spPr>
      </p:pic>
      <p:sp>
        <p:nvSpPr>
          <p:cNvPr id="111" name="CHINA / HK LISTINGS">
            <a:extLst xmlns:a="http://schemas.openxmlformats.org/drawingml/2006/main">
              <a:ext uri="{FF2B5EF4-FFF2-40B4-BE49-F238E27FC236}">
                <a16:creationId xmlns:a16="http://schemas.microsoft.com/office/drawing/2014/main" id="{1D657D2A-D4D2-4233-A96C-D3EAE8FBBBA9}"/>
              </a:ext>
            </a:extLst>
          </p:cNvPr>
          <p:cNvSpPr>
            <a:spLocks xmlns:a="http://schemas.openxmlformats.org/drawingml/2006/main" noGrp="1"/>
          </p:cNvSpPr>
          <p:nvPr/>
        </p:nvSpPr>
        <p:spPr>
          <a:xfrm xmlns:a="http://schemas.openxmlformats.org/drawingml/2006/main">
            <a:off x="14196060" y="829056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112" name="US LISTINGS / PARENTS">
            <a:extLst xmlns:a="http://schemas.openxmlformats.org/drawingml/2006/main">
              <a:ext uri="{FF2B5EF4-FFF2-40B4-BE49-F238E27FC236}">
                <a16:creationId xmlns:a16="http://schemas.microsoft.com/office/drawing/2014/main" id="{4F039E53-3587-422B-9AE2-1D40F2887A4C}"/>
              </a:ext>
            </a:extLst>
          </p:cNvPr>
          <p:cNvSpPr>
            <a:spLocks xmlns:a="http://schemas.openxmlformats.org/drawingml/2006/main" noGrp="1"/>
          </p:cNvSpPr>
          <p:nvPr/>
        </p:nvSpPr>
        <p:spPr>
          <a:xfrm xmlns:a="http://schemas.openxmlformats.org/drawingml/2006/main">
            <a:off x="15834360" y="829056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113" name="NanoMicro · 688690.SH">
            <a:extLst xmlns:a="http://schemas.openxmlformats.org/drawingml/2006/main">
              <a:ext uri="{FF2B5EF4-FFF2-40B4-BE49-F238E27FC236}">
                <a16:creationId xmlns:a16="http://schemas.microsoft.com/office/drawing/2014/main" id="{34969D6E-D165-4941-AD09-448F0BD9AF9C}"/>
              </a:ext>
            </a:extLst>
          </p:cNvPr>
          <p:cNvSpPr>
            <a:spLocks xmlns:a="http://schemas.openxmlformats.org/drawingml/2006/main" noGrp="1"/>
          </p:cNvSpPr>
          <p:nvPr/>
        </p:nvSpPr>
        <p:spPr>
          <a:xfrm xmlns:a="http://schemas.openxmlformats.org/drawingml/2006/main">
            <a:off x="14196060" y="851154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NanoMicro · 688690.SH</a:t>
            </a:r>
          </a:p>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Sepax · 688758.SH</a:t>
            </a:r>
          </a:p>
        </p:txBody>
      </p:sp>
      <p:sp>
        <p:nvSpPr>
          <p:cNvPr id="114" name="Cytiva · DHR">
            <a:extLst xmlns:a="http://schemas.openxmlformats.org/drawingml/2006/main">
              <a:ext uri="{FF2B5EF4-FFF2-40B4-BE49-F238E27FC236}">
                <a16:creationId xmlns:a16="http://schemas.microsoft.com/office/drawing/2014/main" id="{5FAF9C94-676A-4E52-B303-3216F9BEDE98}"/>
              </a:ext>
            </a:extLst>
          </p:cNvPr>
          <p:cNvSpPr>
            <a:spLocks xmlns:a="http://schemas.openxmlformats.org/drawingml/2006/main" noGrp="1"/>
          </p:cNvSpPr>
          <p:nvPr/>
        </p:nvSpPr>
        <p:spPr>
          <a:xfrm xmlns:a="http://schemas.openxmlformats.org/drawingml/2006/main">
            <a:off x="15834360" y="851154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Cytiva · DHR</a:t>
            </a:r>
          </a:p>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Repligen · RGEN</a:t>
            </a:r>
          </a:p>
        </p:txBody>
      </p:sp>
      <p:sp>
        <p:nvSpPr>
          <p:cNvPr id="115" name="">
            <a:extLst xmlns:a="http://schemas.openxmlformats.org/drawingml/2006/main">
              <a:ext uri="{FF2B5EF4-FFF2-40B4-BE49-F238E27FC236}">
                <a16:creationId xmlns:a16="http://schemas.microsoft.com/office/drawing/2014/main" id="{A4840C60-B9E6-44E0-BE47-8353C327E655}"/>
              </a:ext>
            </a:extLst>
          </p:cNvPr>
          <p:cNvSpPr>
            <a:spLocks xmlns:a="http://schemas.openxmlformats.org/drawingml/2006/main" noGrp="1"/>
          </p:cNvSpPr>
          <p:nvPr/>
        </p:nvSpPr>
        <p:spPr>
          <a:xfrm xmlns:a="http://schemas.openxmlformats.org/drawingml/2006/main">
            <a:off x="6743700" y="9296400"/>
            <a:ext cx="10782300" cy="434340"/>
          </a:xfrm>
          <a:prstGeom xmlns:a="http://schemas.openxmlformats.org/drawingml/2006/main" prst="roundRect">
            <a:avLst>
              <a:gd name="adj" fmla="val 15789"/>
            </a:avLst>
          </a:prstGeom>
          <a:solidFill xmlns:a="http://schemas.openxmlformats.org/drawingml/2006/main">
            <a:srgbClr val="00355F"/>
          </a:solidFill>
          <a:ln xmlns:a="http://schemas.openxmlformats.org/drawingml/2006/main" w="7620">
            <a:noFill/>
          </a:ln>
        </p:spPr>
      </p:sp>
      <p:pic>
        <p:nvPicPr>
          <p:cNvPr id="116" name="">
            <a:extLst xmlns:a="http://schemas.openxmlformats.org/drawingml/2006/main">
              <a:ext uri="{FF2B5EF4-FFF2-40B4-BE49-F238E27FC236}">
                <a16:creationId xmlns:a16="http://schemas.microsoft.com/office/drawing/2014/main" id="{C0F8D6B7-1193-4785-B490-3C059CF4777C}"/>
              </a:ext>
            </a:extLst>
          </p:cNvPr>
          <p:cNvPicPr>
            <a:picLocks xmlns:a="http://schemas.openxmlformats.org/drawingml/2006/main" noChangeAspect="1"/>
          </p:cNvPicPr>
          <p:nvPr/>
        </p:nvPicPr>
        <p:blipFill>
          <a:blip xmlns:r="http://schemas.openxmlformats.org/officeDocument/2006/relationships" xmlns:a="http://schemas.openxmlformats.org/drawingml/2006/main" r:embed="R0a302ef79ca0495a">
            <a:extLst>
              <a:ext uri="{96DAC541-7B7A-43D3-8B79-37D633B846F1}">
                <asvg:svgBlip xmlns:asvg="http://schemas.microsoft.com/office/drawing/2016/SVG/main" r:embed="R638dcd01b1b94fe1"/>
              </a:ext>
            </a:extLst>
          </a:blip>
          <a:stretch xmlns:a="http://schemas.openxmlformats.org/drawingml/2006/main"/>
        </p:blipFill>
        <p:spPr>
          <a:xfrm xmlns:a="http://schemas.openxmlformats.org/drawingml/2006/main">
            <a:off x="6865620" y="9380220"/>
            <a:ext cx="259080" cy="259080"/>
          </a:xfrm>
          <a:prstGeom xmlns:a="http://schemas.openxmlformats.org/drawingml/2006/main" prst="rect">
            <a:avLst/>
          </a:prstGeom>
        </p:spPr>
      </p:pic>
      <p:sp>
        <p:nvSpPr>
          <p:cNvPr id="117" name="Automation + data orchestration span every tool family">
            <a:extLst xmlns:a="http://schemas.openxmlformats.org/drawingml/2006/main">
              <a:ext uri="{FF2B5EF4-FFF2-40B4-BE49-F238E27FC236}">
                <a16:creationId xmlns:a16="http://schemas.microsoft.com/office/drawing/2014/main" id="{6F86D10A-557C-4743-9C64-85E1DF0A1868}"/>
              </a:ext>
            </a:extLst>
          </p:cNvPr>
          <p:cNvSpPr>
            <a:spLocks xmlns:a="http://schemas.openxmlformats.org/drawingml/2006/main" noGrp="1"/>
          </p:cNvSpPr>
          <p:nvPr/>
        </p:nvSpPr>
        <p:spPr>
          <a:xfrm xmlns:a="http://schemas.openxmlformats.org/drawingml/2006/main">
            <a:off x="7231380" y="9425940"/>
            <a:ext cx="729234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FFFFFF"/>
                </a:solidFill>
                <a:latin typeface="Arial"/>
                <a:ea typeface="Arial"/>
                <a:cs typeface="Arial"/>
              </a:defRPr>
            </a:defPPr>
          </a:lstStyle>
          <a:p xmlns:a="http://schemas.openxmlformats.org/drawingml/2006/main">
            <a:pPr algn="l">
              <a:buNone/>
              <a:defRPr sz="1500" b="1">
                <a:solidFill>
                  <a:srgbClr val="FFFFFF"/>
                </a:solidFill>
                <a:latin typeface="Arial"/>
                <a:ea typeface="Arial"/>
                <a:cs typeface="Arial"/>
              </a:defRPr>
            </a:pPr>
            <a:r>
              <a:rPr sz="1500" b="1">
                <a:solidFill>
                  <a:srgbClr val="FFFFFF"/>
                </a:solidFill>
                <a:latin typeface="Arial"/>
                <a:ea typeface="Arial"/>
                <a:cs typeface="Arial"/>
              </a:rPr>
              <a:t>Automation + data orchestration span every tool family</a:t>
            </a:r>
          </a:p>
        </p:txBody>
      </p:sp>
      <p:sp>
        <p:nvSpPr>
          <p:cNvPr id="118" name="">
            <a:extLst xmlns:a="http://schemas.openxmlformats.org/drawingml/2006/main">
              <a:ext uri="{FF2B5EF4-FFF2-40B4-BE49-F238E27FC236}">
                <a16:creationId xmlns:a16="http://schemas.microsoft.com/office/drawing/2014/main" id="{3B1CD563-1C4F-492E-B490-12621566818C}"/>
              </a:ext>
            </a:extLst>
          </p:cNvPr>
          <p:cNvSpPr>
            <a:spLocks xmlns:a="http://schemas.openxmlformats.org/drawingml/2006/main" noGrp="1"/>
          </p:cNvSpPr>
          <p:nvPr/>
        </p:nvSpPr>
        <p:spPr>
          <a:xfrm xmlns:a="http://schemas.openxmlformats.org/drawingml/2006/main">
            <a:off x="14859000" y="9357360"/>
            <a:ext cx="2430780" cy="31242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7620">
            <a:noFill/>
          </a:ln>
        </p:spPr>
      </p:sp>
      <p:pic>
        <p:nvPicPr>
          <p:cNvPr id="119" name="">
            <a:extLst xmlns:a="http://schemas.openxmlformats.org/drawingml/2006/main">
              <a:ext uri="{FF2B5EF4-FFF2-40B4-BE49-F238E27FC236}">
                <a16:creationId xmlns:a16="http://schemas.microsoft.com/office/drawing/2014/main" id="{B6D74D30-090A-4B52-8F39-225D79C7E457}"/>
              </a:ext>
            </a:extLst>
          </p:cNvPr>
          <p:cNvPicPr>
            <a:picLocks xmlns:a="http://schemas.openxmlformats.org/drawingml/2006/main" noChangeAspect="1"/>
          </p:cNvPicPr>
          <p:nvPr/>
        </p:nvPicPr>
        <p:blipFill>
          <a:blip xmlns:r="http://schemas.openxmlformats.org/officeDocument/2006/relationships" xmlns:a="http://schemas.openxmlformats.org/drawingml/2006/main" r:embed="R0b846ef8d6f44472"/>
          <a:stretch xmlns:a="http://schemas.openxmlformats.org/drawingml/2006/main"/>
        </p:blipFill>
        <p:spPr>
          <a:xfrm xmlns:a="http://schemas.openxmlformats.org/drawingml/2006/main">
            <a:off x="14958060" y="9412819"/>
            <a:ext cx="1143000" cy="193882"/>
          </a:xfrm>
          <a:prstGeom xmlns:a="http://schemas.openxmlformats.org/drawingml/2006/main" prst="rect">
            <a:avLst/>
          </a:prstGeom>
        </p:spPr>
      </p:pic>
      <p:sp>
        <p:nvSpPr>
          <p:cNvPr id="120" name="SIX: TECN">
            <a:extLst xmlns:a="http://schemas.openxmlformats.org/drawingml/2006/main">
              <a:ext uri="{FF2B5EF4-FFF2-40B4-BE49-F238E27FC236}">
                <a16:creationId xmlns:a16="http://schemas.microsoft.com/office/drawing/2014/main" id="{64E1E1A6-470A-4D42-AB49-2ACF9454FD15}"/>
              </a:ext>
            </a:extLst>
          </p:cNvPr>
          <p:cNvSpPr>
            <a:spLocks xmlns:a="http://schemas.openxmlformats.org/drawingml/2006/main" noGrp="1"/>
          </p:cNvSpPr>
          <p:nvPr/>
        </p:nvSpPr>
        <p:spPr>
          <a:xfrm xmlns:a="http://schemas.openxmlformats.org/drawingml/2006/main">
            <a:off x="16261080" y="9441180"/>
            <a:ext cx="92964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40" b="1">
                <a:solidFill>
                  <a:srgbClr val="00355F"/>
                </a:solidFill>
                <a:latin typeface="Arial"/>
                <a:ea typeface="Arial"/>
                <a:cs typeface="Arial"/>
              </a:defRPr>
            </a:defPPr>
          </a:lstStyle>
          <a:p xmlns:a="http://schemas.openxmlformats.org/drawingml/2006/main">
            <a:pPr algn="l">
              <a:buNone/>
              <a:defRPr sz="1140" b="1">
                <a:solidFill>
                  <a:srgbClr val="00355F"/>
                </a:solidFill>
                <a:latin typeface="Arial"/>
                <a:ea typeface="Arial"/>
                <a:cs typeface="Arial"/>
              </a:defRPr>
            </a:pPr>
            <a:r>
              <a:rPr sz="1140" b="1">
                <a:solidFill>
                  <a:srgbClr val="00355F"/>
                </a:solidFill>
                <a:latin typeface="Arial"/>
                <a:ea typeface="Arial"/>
                <a:cs typeface="Arial"/>
              </a:rPr>
              <a:t>SIX: TECN</a:t>
            </a:r>
          </a:p>
        </p:txBody>
      </p:sp>
      <p:sp>
        <p:nvSpPr>
          <p:cNvPr id="121" name="† Ex-BD biosciences / flow moved to Waters on 9 Feb 2026; BD (BDX) here means specimen collection.">
            <a:extLst xmlns:a="http://schemas.openxmlformats.org/drawingml/2006/main">
              <a:ext uri="{FF2B5EF4-FFF2-40B4-BE49-F238E27FC236}">
                <a16:creationId xmlns:a16="http://schemas.microsoft.com/office/drawing/2014/main" id="{4F53F274-88FB-47DB-ACA2-C02DE8C576E4}"/>
              </a:ext>
            </a:extLst>
          </p:cNvPr>
          <p:cNvSpPr>
            <a:spLocks xmlns:a="http://schemas.openxmlformats.org/drawingml/2006/main" noGrp="1"/>
          </p:cNvSpPr>
          <p:nvPr/>
        </p:nvSpPr>
        <p:spPr>
          <a:xfrm xmlns:a="http://schemas.openxmlformats.org/drawingml/2006/main">
            <a:off x="6743700" y="9852660"/>
            <a:ext cx="10782300" cy="167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buNone/>
              <a:defRPr sz="990" b="0">
                <a:solidFill>
                  <a:srgbClr val="00355F"/>
                </a:solidFill>
                <a:latin typeface="Arial"/>
                <a:ea typeface="Arial"/>
                <a:cs typeface="Arial"/>
              </a:defRPr>
            </a:pPr>
            <a:r>
              <a:rPr sz="990" b="0">
                <a:solidFill>
                  <a:srgbClr val="00355F"/>
                </a:solidFill>
                <a:latin typeface="Arial"/>
                <a:ea typeface="Arial"/>
                <a:cs typeface="Arial"/>
              </a:rPr>
              <a:t>† Ex-BD biosciences / flow moved to Waters on 9 Feb 2026; BD (BDX) here means specimen collection.</a:t>
            </a:r>
          </a:p>
        </p:txBody>
      </p:sp>
      <p:sp>
        <p:nvSpPr>
          <p:cNvPr id="122" name="Protein TAM is issuer-commissioned / disputed. Media &amp; resin TAMs withheld. Sources, scope and tickers: SOURCES.md.">
            <a:extLst xmlns:a="http://schemas.openxmlformats.org/drawingml/2006/main">
              <a:ext uri="{FF2B5EF4-FFF2-40B4-BE49-F238E27FC236}">
                <a16:creationId xmlns:a16="http://schemas.microsoft.com/office/drawing/2014/main" id="{47CF4E5A-6D4D-416D-A6EC-FA89FD282180}"/>
              </a:ext>
            </a:extLst>
          </p:cNvPr>
          <p:cNvSpPr>
            <a:spLocks xmlns:a="http://schemas.openxmlformats.org/drawingml/2006/main" noGrp="1"/>
          </p:cNvSpPr>
          <p:nvPr/>
        </p:nvSpPr>
        <p:spPr>
          <a:xfrm xmlns:a="http://schemas.openxmlformats.org/drawingml/2006/main">
            <a:off x="6743700" y="10058400"/>
            <a:ext cx="1078230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30" b="0">
                <a:solidFill>
                  <a:srgbClr val="00355F"/>
                </a:solidFill>
                <a:latin typeface="Arial"/>
                <a:ea typeface="Arial"/>
                <a:cs typeface="Arial"/>
              </a:defRPr>
            </a:defPPr>
          </a:lstStyle>
          <a:p xmlns:a="http://schemas.openxmlformats.org/drawingml/2006/main">
            <a:pPr algn="l">
              <a:buNone/>
              <a:defRPr sz="930" b="0">
                <a:solidFill>
                  <a:srgbClr val="00355F"/>
                </a:solidFill>
                <a:latin typeface="Arial"/>
                <a:ea typeface="Arial"/>
                <a:cs typeface="Arial"/>
              </a:defRPr>
            </a:pPr>
            <a:r>
              <a:rPr sz="930" b="0">
                <a:solidFill>
                  <a:srgbClr val="00355F"/>
                </a:solidFill>
                <a:latin typeface="Arial"/>
                <a:ea typeface="Arial"/>
                <a:cs typeface="Arial"/>
              </a:rPr>
              <a:t>Protein TAM is issuer-commissioned / disputed. Media &amp; resin TAMs withheld. Sources, scope and tickers: SOURCES.md.</a:t>
            </a:r>
          </a:p>
        </p:txBody>
      </p:sp>
    </p:spTree>
    <p:extLst>
      <p:ext uri="{BB962C8B-B14F-4D97-AF65-F5344CB8AC3E}">
        <p14:creationId xmlns:p14="http://schemas.microsoft.com/office/powerpoint/2010/main" val="13348732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2026-10-13T07:05:40.5500000Z</dcterms:created>
  <dcterms:modified xsi:type="dcterms:W3CDTF">2026-10-13T07:05:40.5500000Z</dcterms:modified>
</coreProperties>
</file>