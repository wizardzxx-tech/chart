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67f62b26384bbd" /><Relationship Type="http://schemas.openxmlformats.org/officeDocument/2006/relationships/extended-properties" Target="/docProps/app.xml" Id="R24703c401ed94ca9" /><Relationship Type="http://schemas.openxmlformats.org/officeDocument/2006/relationships/officeDocument" Target="/ppt/presentation.xml" Id="R89d0472d5f4441eb" /></Relationships>
</file>

<file path=ppt/presentation.xml><?xml version="1.0" encoding="utf-8"?>
<p:presentation xmlns:p="http://schemas.openxmlformats.org/presentationml/2006/main">
  <p:sldMasterIdLst>
    <p:sldMasterId xmlns:r="http://schemas.openxmlformats.org/officeDocument/2006/relationships" id="2147483648" r:id="Rb97d242250704e08"/>
  </p:sldMasterIdLst>
  <p:notesMasterIdLst>
    <p:notesMasterId xmlns:r="http://schemas.openxmlformats.org/officeDocument/2006/relationships" r:id="R42f0d923826a4b9c"/>
  </p:notesMasterIdLst>
  <p:sldIdLst>
    <p:sldId xmlns:r="http://schemas.openxmlformats.org/officeDocument/2006/relationships" id="256" r:id="Rc72f1ca594864de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fe0c7a45c84a37" /><Relationship Type="http://schemas.openxmlformats.org/officeDocument/2006/relationships/slideMaster" Target="/ppt/slideMasters/slideMaster1.xml" Id="Rb97d242250704e08" /><Relationship Type="http://schemas.openxmlformats.org/officeDocument/2006/relationships/notesMaster" Target="/ppt/notesMasters/notesMaster1.xml" Id="R42f0d923826a4b9c" /><Relationship Type="http://schemas.openxmlformats.org/officeDocument/2006/relationships/presProps" Target="/ppt/presProps.xml" Id="R5fbcb224130d4c3f" /><Relationship Type="http://schemas.openxmlformats.org/officeDocument/2006/relationships/tableStyles" Target="/ppt/tableStyles.xml" Id="R4d47ff21f8814671" /><Relationship Type="http://schemas.openxmlformats.org/officeDocument/2006/relationships/slide" Target="/ppt/slides/slide1.xml" Id="Rc72f1ca594864d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9ade55501b46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fbd9b314c647ee" /><Relationship Type="http://schemas.openxmlformats.org/officeDocument/2006/relationships/notesMaster" Target="/ppt/notesMasters/notesMaster1.xml" Id="Raf919773d9af41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Quantities and prices in miniaturization</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98d9fc926d42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86958a19484b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b179fff65549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12650022604e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defa833bb44a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d2e35621744c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FB759D-1B44-4F72-8920-248307E87C3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1BD9ED-08F1-434B-A3F0-AEFD432FE35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CEEEA3-4F54-4720-869C-B399EB779CC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02694E-3D17-4BFB-B7D4-AC273DD509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7C04FC-973E-46AE-91AF-79868278FB4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541FC5-6A13-490F-B490-16D3BDD937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B22CE-FBBB-47AF-B8D8-258FAEE14C9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8B9A27-E294-4E7C-A199-0C3CCC831EB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1359C-83B4-4D27-80CA-1679B304CA9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3945C-8176-45BA-9FB6-3896AAD0060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7209da3e8546e5" /><Relationship Type="http://schemas.openxmlformats.org/officeDocument/2006/relationships/slideLayout" Target="/ppt/slideLayouts/slideLayout1.xml" Id="R7f1842340ec442e3" /><Relationship Type="http://schemas.openxmlformats.org/officeDocument/2006/relationships/slideLayout" Target="/ppt/slideLayouts/slideLayout2.xml" Id="R41155de767fe497f" /><Relationship Type="http://schemas.openxmlformats.org/officeDocument/2006/relationships/slideLayout" Target="/ppt/slideLayouts/slideLayout3.xml" Id="R91b5fcde951c481f" /><Relationship Type="http://schemas.openxmlformats.org/officeDocument/2006/relationships/slideLayout" Target="/ppt/slideLayouts/slideLayout4.xml" Id="R6f02662a923d477a" /><Relationship Type="http://schemas.openxmlformats.org/officeDocument/2006/relationships/slideLayout" Target="/ppt/slideLayouts/slideLayout5.xml" Id="R1799d77cf2f74684" /><Relationship Type="http://schemas.openxmlformats.org/officeDocument/2006/relationships/slideLayout" Target="/ppt/slideLayouts/slideLayout6.xml" Id="R9a2f313afb5841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1842340ec442e3"/>
    <p:sldLayoutId xmlns:r="http://schemas.openxmlformats.org/officeDocument/2006/relationships" id="2147483650" r:id="R41155de767fe497f"/>
    <p:sldLayoutId xmlns:r="http://schemas.openxmlformats.org/officeDocument/2006/relationships" id="2147483651" r:id="R91b5fcde951c481f"/>
    <p:sldLayoutId xmlns:r="http://schemas.openxmlformats.org/officeDocument/2006/relationships" id="2147483652" r:id="R6f02662a923d477a"/>
    <p:sldLayoutId xmlns:r="http://schemas.openxmlformats.org/officeDocument/2006/relationships" id="2147483653" r:id="R1799d77cf2f74684"/>
    <p:sldLayoutId xmlns:r="http://schemas.openxmlformats.org/officeDocument/2006/relationships" id="2147483654" r:id="R9a2f313afb5841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6834772038458d" /><Relationship Type="http://schemas.openxmlformats.org/officeDocument/2006/relationships/image" Target="/ppt/media/image.png" Id="Rb12cb9a152a142b0" /><Relationship Type="http://schemas.openxmlformats.org/officeDocument/2006/relationships/notesSlide" Target="/ppt/notesSlides/notesSlide1.xml" Id="R01752620de234f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B0A469E9-618A-4175-92D7-A59D676CDD4E}"/>
              </a:ext>
            </a:extLst>
          </p:cNvPr>
          <p:cNvPicPr>
            <a:picLocks xmlns:a="http://schemas.openxmlformats.org/drawingml/2006/main" noChangeAspect="1"/>
          </p:cNvPicPr>
          <p:nvPr/>
        </p:nvPicPr>
        <p:blipFill>
          <a:blip xmlns:r="http://schemas.openxmlformats.org/officeDocument/2006/relationships" xmlns:a="http://schemas.openxmlformats.org/drawingml/2006/main" r:embed="Rb12cb9a152a142b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6 label 1 line 1">
            <a:extLst xmlns:a="http://schemas.openxmlformats.org/drawingml/2006/main">
              <a:ext uri="{FF2B5EF4-FFF2-40B4-BE49-F238E27FC236}">
                <a16:creationId xmlns:a16="http://schemas.microsoft.com/office/drawing/2014/main" id="{4B419B93-4920-424F-8D8D-39223455D7C5}"/>
              </a:ext>
            </a:extLst>
          </p:cNvPr>
          <p:cNvSpPr>
            <a:spLocks xmlns:a="http://schemas.openxmlformats.org/drawingml/2006/main" noGrp="1"/>
          </p:cNvSpPr>
          <p:nvPr/>
        </p:nvSpPr>
        <p:spPr>
          <a:xfrm xmlns:a="http://schemas.openxmlformats.org/drawingml/2006/main" rot="0">
            <a:off x="1961036" y="7564586"/>
            <a:ext cx="151120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 volume</a:t>
            </a:r>
          </a:p>
        </p:txBody>
      </p:sp>
      <p:sp>
        <p:nvSpPr>
          <p:cNvPr id="3" name="Figure 6 label 2 line 1">
            <a:extLst xmlns:a="http://schemas.openxmlformats.org/drawingml/2006/main">
              <a:ext uri="{FF2B5EF4-FFF2-40B4-BE49-F238E27FC236}">
                <a16:creationId xmlns:a16="http://schemas.microsoft.com/office/drawing/2014/main" id="{67241E35-CAAB-4C86-846C-06203B5CF153}"/>
              </a:ext>
            </a:extLst>
          </p:cNvPr>
          <p:cNvSpPr>
            <a:spLocks xmlns:a="http://schemas.openxmlformats.org/drawingml/2006/main" noGrp="1"/>
          </p:cNvSpPr>
          <p:nvPr/>
        </p:nvSpPr>
        <p:spPr>
          <a:xfrm xmlns:a="http://schemas.openxmlformats.org/drawingml/2006/main" rot="0">
            <a:off x="4490665" y="7564586"/>
            <a:ext cx="107706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count</a:t>
            </a:r>
          </a:p>
        </p:txBody>
      </p:sp>
      <p:sp>
        <p:nvSpPr>
          <p:cNvPr id="4" name="Figure 6 label 3 line 1">
            <a:extLst xmlns:a="http://schemas.openxmlformats.org/drawingml/2006/main">
              <a:ext uri="{FF2B5EF4-FFF2-40B4-BE49-F238E27FC236}">
                <a16:creationId xmlns:a16="http://schemas.microsoft.com/office/drawing/2014/main" id="{A4A6AF80-40A0-46FA-988A-B3E1A140DDBE}"/>
              </a:ext>
            </a:extLst>
          </p:cNvPr>
          <p:cNvSpPr>
            <a:spLocks xmlns:a="http://schemas.openxmlformats.org/drawingml/2006/main" noGrp="1"/>
          </p:cNvSpPr>
          <p:nvPr/>
        </p:nvSpPr>
        <p:spPr>
          <a:xfrm xmlns:a="http://schemas.openxmlformats.org/drawingml/2006/main" rot="0">
            <a:off x="6888061" y="7564586"/>
            <a:ext cx="9074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 count</a:t>
            </a:r>
          </a:p>
        </p:txBody>
      </p:sp>
      <p:sp>
        <p:nvSpPr>
          <p:cNvPr id="5" name="Figure 6 label 4 line 1">
            <a:extLst xmlns:a="http://schemas.openxmlformats.org/drawingml/2006/main">
              <a:ext uri="{FF2B5EF4-FFF2-40B4-BE49-F238E27FC236}">
                <a16:creationId xmlns:a16="http://schemas.microsoft.com/office/drawing/2014/main" id="{E0A12089-DA3A-4696-A650-C59AFBA1F830}"/>
              </a:ext>
            </a:extLst>
          </p:cNvPr>
          <p:cNvSpPr>
            <a:spLocks xmlns:a="http://schemas.openxmlformats.org/drawingml/2006/main" noGrp="1"/>
          </p:cNvSpPr>
          <p:nvPr/>
        </p:nvSpPr>
        <p:spPr>
          <a:xfrm xmlns:a="http://schemas.openxmlformats.org/drawingml/2006/main" rot="0">
            <a:off x="1257379" y="733765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6" name="Figure 6 label 5 line 1">
            <a:extLst xmlns:a="http://schemas.openxmlformats.org/drawingml/2006/main">
              <a:ext uri="{FF2B5EF4-FFF2-40B4-BE49-F238E27FC236}">
                <a16:creationId xmlns:a16="http://schemas.microsoft.com/office/drawing/2014/main" id="{4C8943B1-8F30-4E5B-9531-23CC50156663}"/>
              </a:ext>
            </a:extLst>
          </p:cNvPr>
          <p:cNvSpPr>
            <a:spLocks xmlns:a="http://schemas.openxmlformats.org/drawingml/2006/main" noGrp="1"/>
          </p:cNvSpPr>
          <p:nvPr/>
        </p:nvSpPr>
        <p:spPr>
          <a:xfrm xmlns:a="http://schemas.openxmlformats.org/drawingml/2006/main" rot="0">
            <a:off x="1151414" y="680273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6 label 6 line 1">
            <a:extLst xmlns:a="http://schemas.openxmlformats.org/drawingml/2006/main">
              <a:ext uri="{FF2B5EF4-FFF2-40B4-BE49-F238E27FC236}">
                <a16:creationId xmlns:a16="http://schemas.microsoft.com/office/drawing/2014/main" id="{BD0C4012-E570-4D18-9B33-5024EC471FDA}"/>
              </a:ext>
            </a:extLst>
          </p:cNvPr>
          <p:cNvSpPr>
            <a:spLocks xmlns:a="http://schemas.openxmlformats.org/drawingml/2006/main" noGrp="1"/>
          </p:cNvSpPr>
          <p:nvPr/>
        </p:nvSpPr>
        <p:spPr>
          <a:xfrm xmlns:a="http://schemas.openxmlformats.org/drawingml/2006/main" rot="0">
            <a:off x="1151414" y="6267810"/>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8" name="Figure 6 label 7 line 1">
            <a:extLst xmlns:a="http://schemas.openxmlformats.org/drawingml/2006/main">
              <a:ext uri="{FF2B5EF4-FFF2-40B4-BE49-F238E27FC236}">
                <a16:creationId xmlns:a16="http://schemas.microsoft.com/office/drawing/2014/main" id="{3721BB87-4CCA-4404-87BC-5D02AB8B06EF}"/>
              </a:ext>
            </a:extLst>
          </p:cNvPr>
          <p:cNvSpPr>
            <a:spLocks xmlns:a="http://schemas.openxmlformats.org/drawingml/2006/main" noGrp="1"/>
          </p:cNvSpPr>
          <p:nvPr/>
        </p:nvSpPr>
        <p:spPr>
          <a:xfrm xmlns:a="http://schemas.openxmlformats.org/drawingml/2006/main" rot="0">
            <a:off x="1151414" y="5732886"/>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a:t>
            </a:r>
          </a:p>
        </p:txBody>
      </p:sp>
      <p:sp>
        <p:nvSpPr>
          <p:cNvPr id="9" name="Figure 6 label 8 line 1">
            <a:extLst xmlns:a="http://schemas.openxmlformats.org/drawingml/2006/main">
              <a:ext uri="{FF2B5EF4-FFF2-40B4-BE49-F238E27FC236}">
                <a16:creationId xmlns:a16="http://schemas.microsoft.com/office/drawing/2014/main" id="{6B00CD21-3D38-4C89-BD1B-446849E91CCD}"/>
              </a:ext>
            </a:extLst>
          </p:cNvPr>
          <p:cNvSpPr>
            <a:spLocks xmlns:a="http://schemas.openxmlformats.org/drawingml/2006/main" noGrp="1"/>
          </p:cNvSpPr>
          <p:nvPr/>
        </p:nvSpPr>
        <p:spPr>
          <a:xfrm xmlns:a="http://schemas.openxmlformats.org/drawingml/2006/main" rot="0">
            <a:off x="1151414" y="5197962"/>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a:t>
            </a:r>
          </a:p>
        </p:txBody>
      </p:sp>
      <p:sp>
        <p:nvSpPr>
          <p:cNvPr id="10" name="Figure 6 label 9 line 1">
            <a:extLst xmlns:a="http://schemas.openxmlformats.org/drawingml/2006/main">
              <a:ext uri="{FF2B5EF4-FFF2-40B4-BE49-F238E27FC236}">
                <a16:creationId xmlns:a16="http://schemas.microsoft.com/office/drawing/2014/main" id="{20B85BFF-0813-4D29-BA5A-FC343902DDF4}"/>
              </a:ext>
            </a:extLst>
          </p:cNvPr>
          <p:cNvSpPr>
            <a:spLocks xmlns:a="http://schemas.openxmlformats.org/drawingml/2006/main" noGrp="1"/>
          </p:cNvSpPr>
          <p:nvPr/>
        </p:nvSpPr>
        <p:spPr>
          <a:xfrm xmlns:a="http://schemas.openxmlformats.org/drawingml/2006/main" rot="0">
            <a:off x="1045448" y="4663038"/>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11" name="Figure 6 label 10 line 1">
            <a:extLst xmlns:a="http://schemas.openxmlformats.org/drawingml/2006/main">
              <a:ext uri="{FF2B5EF4-FFF2-40B4-BE49-F238E27FC236}">
                <a16:creationId xmlns:a16="http://schemas.microsoft.com/office/drawing/2014/main" id="{88A1A0DB-D4ED-4191-A91C-A683A7C8D118}"/>
              </a:ext>
            </a:extLst>
          </p:cNvPr>
          <p:cNvSpPr>
            <a:spLocks xmlns:a="http://schemas.openxmlformats.org/drawingml/2006/main" noGrp="1"/>
          </p:cNvSpPr>
          <p:nvPr/>
        </p:nvSpPr>
        <p:spPr>
          <a:xfrm xmlns:a="http://schemas.openxmlformats.org/drawingml/2006/main" rot="0">
            <a:off x="1045448" y="412811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a:t>
            </a:r>
          </a:p>
        </p:txBody>
      </p:sp>
      <p:sp>
        <p:nvSpPr>
          <p:cNvPr id="12" name="Figure 6 label 11 line 1">
            <a:extLst xmlns:a="http://schemas.openxmlformats.org/drawingml/2006/main">
              <a:ext uri="{FF2B5EF4-FFF2-40B4-BE49-F238E27FC236}">
                <a16:creationId xmlns:a16="http://schemas.microsoft.com/office/drawing/2014/main" id="{2D0941E5-1CBA-40E6-B8AE-A03591AE1F90}"/>
              </a:ext>
            </a:extLst>
          </p:cNvPr>
          <p:cNvSpPr>
            <a:spLocks xmlns:a="http://schemas.openxmlformats.org/drawingml/2006/main" noGrp="1"/>
          </p:cNvSpPr>
          <p:nvPr/>
        </p:nvSpPr>
        <p:spPr>
          <a:xfrm xmlns:a="http://schemas.openxmlformats.org/drawingml/2006/main" rot="0">
            <a:off x="1045448" y="359319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140</a:t>
            </a:r>
          </a:p>
        </p:txBody>
      </p:sp>
      <p:sp>
        <p:nvSpPr>
          <p:cNvPr id="13" name="Figure 6 label 12 line 1">
            <a:extLst xmlns:a="http://schemas.openxmlformats.org/drawingml/2006/main">
              <a:ext uri="{FF2B5EF4-FFF2-40B4-BE49-F238E27FC236}">
                <a16:creationId xmlns:a16="http://schemas.microsoft.com/office/drawing/2014/main" id="{CC5B6099-535F-4190-92D2-C5BB6969FAD9}"/>
              </a:ext>
            </a:extLst>
          </p:cNvPr>
          <p:cNvSpPr>
            <a:spLocks xmlns:a="http://schemas.openxmlformats.org/drawingml/2006/main" noGrp="1"/>
          </p:cNvSpPr>
          <p:nvPr/>
        </p:nvSpPr>
        <p:spPr>
          <a:xfrm xmlns:a="http://schemas.openxmlformats.org/drawingml/2006/main" rot="16200000">
            <a:off x="354057" y="5304472"/>
            <a:ext cx="134168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Quantity index</a:t>
            </a:r>
          </a:p>
        </p:txBody>
      </p:sp>
      <p:sp>
        <p:nvSpPr>
          <p:cNvPr id="14" name="Figure 6 label 13 line 1">
            <a:extLst xmlns:a="http://schemas.openxmlformats.org/drawingml/2006/main">
              <a:ext uri="{FF2B5EF4-FFF2-40B4-BE49-F238E27FC236}">
                <a16:creationId xmlns:a16="http://schemas.microsoft.com/office/drawing/2014/main" id="{33650AC5-3FD4-436B-A7E5-618D25568FD1}"/>
              </a:ext>
            </a:extLst>
          </p:cNvPr>
          <p:cNvSpPr>
            <a:spLocks xmlns:a="http://schemas.openxmlformats.org/drawingml/2006/main" noGrp="1"/>
          </p:cNvSpPr>
          <p:nvPr/>
        </p:nvSpPr>
        <p:spPr>
          <a:xfrm xmlns:a="http://schemas.openxmlformats.org/drawingml/2006/main" rot="0">
            <a:off x="2800582" y="576517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50.0</a:t>
            </a:r>
          </a:p>
        </p:txBody>
      </p:sp>
      <p:sp>
        <p:nvSpPr>
          <p:cNvPr id="15" name="Figure 6 label 14 line 1">
            <a:extLst xmlns:a="http://schemas.openxmlformats.org/drawingml/2006/main">
              <a:ext uri="{FF2B5EF4-FFF2-40B4-BE49-F238E27FC236}">
                <a16:creationId xmlns:a16="http://schemas.microsoft.com/office/drawing/2014/main" id="{9F6302E9-BAB6-4CDA-BEB4-AA1A0833AC15}"/>
              </a:ext>
            </a:extLst>
          </p:cNvPr>
          <p:cNvSpPr>
            <a:spLocks xmlns:a="http://schemas.openxmlformats.org/drawingml/2006/main" noGrp="1"/>
          </p:cNvSpPr>
          <p:nvPr/>
        </p:nvSpPr>
        <p:spPr>
          <a:xfrm xmlns:a="http://schemas.openxmlformats.org/drawingml/2006/main" rot="0">
            <a:off x="5113145" y="5428925"/>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62.6</a:t>
            </a:r>
          </a:p>
        </p:txBody>
      </p:sp>
      <p:sp>
        <p:nvSpPr>
          <p:cNvPr id="16" name="Figure 6 label 15 line 1">
            <a:extLst xmlns:a="http://schemas.openxmlformats.org/drawingml/2006/main">
              <a:ext uri="{FF2B5EF4-FFF2-40B4-BE49-F238E27FC236}">
                <a16:creationId xmlns:a16="http://schemas.microsoft.com/office/drawing/2014/main" id="{725919F6-E838-4288-8965-30E7F82B1226}"/>
              </a:ext>
            </a:extLst>
          </p:cNvPr>
          <p:cNvSpPr>
            <a:spLocks xmlns:a="http://schemas.openxmlformats.org/drawingml/2006/main" noGrp="1"/>
          </p:cNvSpPr>
          <p:nvPr/>
        </p:nvSpPr>
        <p:spPr>
          <a:xfrm xmlns:a="http://schemas.openxmlformats.org/drawingml/2006/main" rot="0">
            <a:off x="7359555" y="4427868"/>
            <a:ext cx="75068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100.0</a:t>
            </a:r>
          </a:p>
        </p:txBody>
      </p:sp>
      <p:sp>
        <p:nvSpPr>
          <p:cNvPr id="17" name="Figure 6 label 16 line 1">
            <a:extLst xmlns:a="http://schemas.openxmlformats.org/drawingml/2006/main">
              <a:ext uri="{FF2B5EF4-FFF2-40B4-BE49-F238E27FC236}">
                <a16:creationId xmlns:a16="http://schemas.microsoft.com/office/drawing/2014/main" id="{2F7E1B4F-41E5-4636-A23C-8C8B3B367363}"/>
              </a:ext>
            </a:extLst>
          </p:cNvPr>
          <p:cNvSpPr>
            <a:spLocks xmlns:a="http://schemas.openxmlformats.org/drawingml/2006/main" noGrp="1"/>
          </p:cNvSpPr>
          <p:nvPr/>
        </p:nvSpPr>
        <p:spPr>
          <a:xfrm xmlns:a="http://schemas.openxmlformats.org/drawingml/2006/main" rot="0">
            <a:off x="4041526" y="2935288"/>
            <a:ext cx="1975346"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Physical inputs</a:t>
            </a:r>
          </a:p>
        </p:txBody>
      </p:sp>
      <p:sp>
        <p:nvSpPr>
          <p:cNvPr id="18" name="Figure 6 label 17 line 1">
            <a:extLst xmlns:a="http://schemas.openxmlformats.org/drawingml/2006/main">
              <a:ext uri="{FF2B5EF4-FFF2-40B4-BE49-F238E27FC236}">
                <a16:creationId xmlns:a16="http://schemas.microsoft.com/office/drawing/2014/main" id="{86053CB7-B20A-413E-9CD2-52F1C1BAC79D}"/>
              </a:ext>
            </a:extLst>
          </p:cNvPr>
          <p:cNvSpPr>
            <a:spLocks xmlns:a="http://schemas.openxmlformats.org/drawingml/2006/main" noGrp="1"/>
          </p:cNvSpPr>
          <p:nvPr/>
        </p:nvSpPr>
        <p:spPr>
          <a:xfrm xmlns:a="http://schemas.openxmlformats.org/drawingml/2006/main" rot="0">
            <a:off x="7208560" y="3554060"/>
            <a:ext cx="1157635" cy="19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250" b="0">
                <a:solidFill>
                  <a:srgbClr val="00355F"/>
                </a:solidFill>
                <a:latin typeface="Arial Unicode MS"/>
                <a:ea typeface="Arial Unicode MS"/>
                <a:cs typeface="Arial Unicode MS"/>
              </a:defRPr>
            </a:pPr>
            <a:r>
              <a:rPr sz="1250" b="0">
                <a:solidFill>
                  <a:srgbClr val="00355F"/>
                </a:solidFill>
                <a:latin typeface="Arial Unicode MS"/>
                <a:ea typeface="Arial Unicode MS"/>
                <a:cs typeface="Arial Unicode MS"/>
              </a:rPr>
              <a:t>Baseline = 100</a:t>
            </a:r>
          </a:p>
        </p:txBody>
      </p:sp>
      <p:sp>
        <p:nvSpPr>
          <p:cNvPr id="19" name="Figure 6 label 18 line 1">
            <a:extLst xmlns:a="http://schemas.openxmlformats.org/drawingml/2006/main">
              <a:ext uri="{FF2B5EF4-FFF2-40B4-BE49-F238E27FC236}">
                <a16:creationId xmlns:a16="http://schemas.microsoft.com/office/drawing/2014/main" id="{F8468A9D-503C-418C-A235-575212C030F0}"/>
              </a:ext>
            </a:extLst>
          </p:cNvPr>
          <p:cNvSpPr>
            <a:spLocks xmlns:a="http://schemas.openxmlformats.org/drawingml/2006/main" noGrp="1"/>
          </p:cNvSpPr>
          <p:nvPr/>
        </p:nvSpPr>
        <p:spPr>
          <a:xfrm xmlns:a="http://schemas.openxmlformats.org/drawingml/2006/main" rot="0">
            <a:off x="7208560" y="3778692"/>
            <a:ext cx="751632" cy="19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250" b="0">
                <a:solidFill>
                  <a:srgbClr val="00355F"/>
                </a:solidFill>
                <a:latin typeface="Arial Unicode MS"/>
                <a:ea typeface="Arial Unicode MS"/>
                <a:cs typeface="Arial Unicode MS"/>
              </a:defRPr>
            </a:pPr>
            <a:r>
              <a:rPr sz="1250" b="0">
                <a:solidFill>
                  <a:srgbClr val="00355F"/>
                </a:solidFill>
                <a:latin typeface="Arial Unicode MS"/>
                <a:ea typeface="Arial Unicode MS"/>
                <a:cs typeface="Arial Unicode MS"/>
              </a:rPr>
              <a:t>10× tests</a:t>
            </a:r>
          </a:p>
        </p:txBody>
      </p:sp>
      <p:sp>
        <p:nvSpPr>
          <p:cNvPr id="20" name="Figure 6 label 19 line 1">
            <a:extLst xmlns:a="http://schemas.openxmlformats.org/drawingml/2006/main">
              <a:ext uri="{FF2B5EF4-FFF2-40B4-BE49-F238E27FC236}">
                <a16:creationId xmlns:a16="http://schemas.microsoft.com/office/drawing/2014/main" id="{A8E49CDF-B7A0-443E-A86D-7FCC61B87536}"/>
              </a:ext>
            </a:extLst>
          </p:cNvPr>
          <p:cNvSpPr>
            <a:spLocks xmlns:a="http://schemas.openxmlformats.org/drawingml/2006/main" noGrp="1"/>
          </p:cNvSpPr>
          <p:nvPr/>
        </p:nvSpPr>
        <p:spPr>
          <a:xfrm xmlns:a="http://schemas.openxmlformats.org/drawingml/2006/main" rot="0">
            <a:off x="10651444"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 plate ASP</a:t>
            </a:r>
          </a:p>
        </p:txBody>
      </p:sp>
      <p:sp>
        <p:nvSpPr>
          <p:cNvPr id="21" name="Figure 6 label 20 line 1">
            <a:extLst xmlns:a="http://schemas.openxmlformats.org/drawingml/2006/main">
              <a:ext uri="{FF2B5EF4-FFF2-40B4-BE49-F238E27FC236}">
                <a16:creationId xmlns:a16="http://schemas.microsoft.com/office/drawing/2014/main" id="{C1B4AB99-BD53-46E2-95DC-84C54626B1D2}"/>
              </a:ext>
            </a:extLst>
          </p:cNvPr>
          <p:cNvSpPr>
            <a:spLocks xmlns:a="http://schemas.openxmlformats.org/drawingml/2006/main" noGrp="1"/>
          </p:cNvSpPr>
          <p:nvPr/>
        </p:nvSpPr>
        <p:spPr>
          <a:xfrm xmlns:a="http://schemas.openxmlformats.org/drawingml/2006/main" rot="0">
            <a:off x="12912507"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 plate ASP</a:t>
            </a:r>
          </a:p>
        </p:txBody>
      </p:sp>
      <p:sp>
        <p:nvSpPr>
          <p:cNvPr id="22" name="Figure 6 label 21 line 1">
            <a:extLst xmlns:a="http://schemas.openxmlformats.org/drawingml/2006/main">
              <a:ext uri="{FF2B5EF4-FFF2-40B4-BE49-F238E27FC236}">
                <a16:creationId xmlns:a16="http://schemas.microsoft.com/office/drawing/2014/main" id="{A59BDEE2-6F68-4123-BFB9-6636FE09D86D}"/>
              </a:ext>
            </a:extLst>
          </p:cNvPr>
          <p:cNvSpPr>
            <a:spLocks xmlns:a="http://schemas.openxmlformats.org/drawingml/2006/main" noGrp="1"/>
          </p:cNvSpPr>
          <p:nvPr/>
        </p:nvSpPr>
        <p:spPr>
          <a:xfrm xmlns:a="http://schemas.openxmlformats.org/drawingml/2006/main" rot="0">
            <a:off x="15173569"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 plate ASP</a:t>
            </a:r>
          </a:p>
        </p:txBody>
      </p:sp>
      <p:sp>
        <p:nvSpPr>
          <p:cNvPr id="23" name="Figure 6 label 22 line 1">
            <a:extLst xmlns:a="http://schemas.openxmlformats.org/drawingml/2006/main">
              <a:ext uri="{FF2B5EF4-FFF2-40B4-BE49-F238E27FC236}">
                <a16:creationId xmlns:a16="http://schemas.microsoft.com/office/drawing/2014/main" id="{F23718C7-3A3B-49E3-94D8-1B3FFF61380F}"/>
              </a:ext>
            </a:extLst>
          </p:cNvPr>
          <p:cNvSpPr>
            <a:spLocks xmlns:a="http://schemas.openxmlformats.org/drawingml/2006/main" noGrp="1"/>
          </p:cNvSpPr>
          <p:nvPr/>
        </p:nvSpPr>
        <p:spPr>
          <a:xfrm xmlns:a="http://schemas.openxmlformats.org/drawingml/2006/main" rot="0">
            <a:off x="10035619" y="733765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24" name="Figure 6 label 23 line 1">
            <a:extLst xmlns:a="http://schemas.openxmlformats.org/drawingml/2006/main">
              <a:ext uri="{FF2B5EF4-FFF2-40B4-BE49-F238E27FC236}">
                <a16:creationId xmlns:a16="http://schemas.microsoft.com/office/drawing/2014/main" id="{5E1F60A4-52B4-4B32-AB04-D5BD29114E8E}"/>
              </a:ext>
            </a:extLst>
          </p:cNvPr>
          <p:cNvSpPr>
            <a:spLocks xmlns:a="http://schemas.openxmlformats.org/drawingml/2006/main" noGrp="1"/>
          </p:cNvSpPr>
          <p:nvPr/>
        </p:nvSpPr>
        <p:spPr>
          <a:xfrm xmlns:a="http://schemas.openxmlformats.org/drawingml/2006/main" rot="0">
            <a:off x="9929653" y="6645946"/>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25" name="Figure 6 label 24 line 1">
            <a:extLst xmlns:a="http://schemas.openxmlformats.org/drawingml/2006/main">
              <a:ext uri="{FF2B5EF4-FFF2-40B4-BE49-F238E27FC236}">
                <a16:creationId xmlns:a16="http://schemas.microsoft.com/office/drawing/2014/main" id="{FBD77997-A4CE-407B-88A5-D2A47C4E3906}"/>
              </a:ext>
            </a:extLst>
          </p:cNvPr>
          <p:cNvSpPr>
            <a:spLocks xmlns:a="http://schemas.openxmlformats.org/drawingml/2006/main" noGrp="1"/>
          </p:cNvSpPr>
          <p:nvPr/>
        </p:nvSpPr>
        <p:spPr>
          <a:xfrm xmlns:a="http://schemas.openxmlformats.org/drawingml/2006/main" rot="0">
            <a:off x="9823688" y="595423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26" name="Figure 6 label 25 line 1">
            <a:extLst xmlns:a="http://schemas.openxmlformats.org/drawingml/2006/main">
              <a:ext uri="{FF2B5EF4-FFF2-40B4-BE49-F238E27FC236}">
                <a16:creationId xmlns:a16="http://schemas.microsoft.com/office/drawing/2014/main" id="{3F93C3E1-44EC-46B7-BBF5-9EDB449F51E3}"/>
              </a:ext>
            </a:extLst>
          </p:cNvPr>
          <p:cNvSpPr>
            <a:spLocks xmlns:a="http://schemas.openxmlformats.org/drawingml/2006/main" noGrp="1"/>
          </p:cNvSpPr>
          <p:nvPr/>
        </p:nvSpPr>
        <p:spPr>
          <a:xfrm xmlns:a="http://schemas.openxmlformats.org/drawingml/2006/main" rot="0">
            <a:off x="9823688" y="5262522"/>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150</a:t>
            </a:r>
          </a:p>
        </p:txBody>
      </p:sp>
      <p:sp>
        <p:nvSpPr>
          <p:cNvPr id="27" name="Figure 6 label 26 line 1">
            <a:extLst xmlns:a="http://schemas.openxmlformats.org/drawingml/2006/main">
              <a:ext uri="{FF2B5EF4-FFF2-40B4-BE49-F238E27FC236}">
                <a16:creationId xmlns:a16="http://schemas.microsoft.com/office/drawing/2014/main" id="{2A00F939-1DAA-4D32-8484-952B9C167E2F}"/>
              </a:ext>
            </a:extLst>
          </p:cNvPr>
          <p:cNvSpPr>
            <a:spLocks xmlns:a="http://schemas.openxmlformats.org/drawingml/2006/main" noGrp="1"/>
          </p:cNvSpPr>
          <p:nvPr/>
        </p:nvSpPr>
        <p:spPr>
          <a:xfrm xmlns:a="http://schemas.openxmlformats.org/drawingml/2006/main" rot="0">
            <a:off x="9823688" y="457081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28" name="Figure 6 label 27 line 1">
            <a:extLst xmlns:a="http://schemas.openxmlformats.org/drawingml/2006/main">
              <a:ext uri="{FF2B5EF4-FFF2-40B4-BE49-F238E27FC236}">
                <a16:creationId xmlns:a16="http://schemas.microsoft.com/office/drawing/2014/main" id="{5FA4D6E3-1217-4C69-AC4A-185DDEC3ADFC}"/>
              </a:ext>
            </a:extLst>
          </p:cNvPr>
          <p:cNvSpPr>
            <a:spLocks xmlns:a="http://schemas.openxmlformats.org/drawingml/2006/main" noGrp="1"/>
          </p:cNvSpPr>
          <p:nvPr/>
        </p:nvSpPr>
        <p:spPr>
          <a:xfrm xmlns:a="http://schemas.openxmlformats.org/drawingml/2006/main" rot="0">
            <a:off x="9823688" y="3879098"/>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250</a:t>
            </a:r>
          </a:p>
        </p:txBody>
      </p:sp>
      <p:sp>
        <p:nvSpPr>
          <p:cNvPr id="29" name="Figure 6 label 28 line 1">
            <a:extLst xmlns:a="http://schemas.openxmlformats.org/drawingml/2006/main">
              <a:ext uri="{FF2B5EF4-FFF2-40B4-BE49-F238E27FC236}">
                <a16:creationId xmlns:a16="http://schemas.microsoft.com/office/drawing/2014/main" id="{213C06C5-0622-4861-9A41-F27A63E3D528}"/>
              </a:ext>
            </a:extLst>
          </p:cNvPr>
          <p:cNvSpPr>
            <a:spLocks xmlns:a="http://schemas.openxmlformats.org/drawingml/2006/main" noGrp="1"/>
          </p:cNvSpPr>
          <p:nvPr/>
        </p:nvSpPr>
        <p:spPr>
          <a:xfrm xmlns:a="http://schemas.openxmlformats.org/drawingml/2006/main" rot="16200000">
            <a:off x="8985969" y="5304473"/>
            <a:ext cx="16384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spend index</a:t>
            </a:r>
          </a:p>
        </p:txBody>
      </p:sp>
      <p:sp>
        <p:nvSpPr>
          <p:cNvPr id="30" name="Figure 6 label 29 line 1">
            <a:extLst xmlns:a="http://schemas.openxmlformats.org/drawingml/2006/main">
              <a:ext uri="{FF2B5EF4-FFF2-40B4-BE49-F238E27FC236}">
                <a16:creationId xmlns:a16="http://schemas.microsoft.com/office/drawing/2014/main" id="{0A281285-653F-4ED7-AB1C-224AA9DA2D7B}"/>
              </a:ext>
            </a:extLst>
          </p:cNvPr>
          <p:cNvSpPr>
            <a:spLocks xmlns:a="http://schemas.openxmlformats.org/drawingml/2006/main" noGrp="1"/>
          </p:cNvSpPr>
          <p:nvPr/>
        </p:nvSpPr>
        <p:spPr>
          <a:xfrm xmlns:a="http://schemas.openxmlformats.org/drawingml/2006/main" rot="0">
            <a:off x="10921741" y="6220826"/>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62.6</a:t>
            </a:r>
          </a:p>
        </p:txBody>
      </p:sp>
      <p:sp>
        <p:nvSpPr>
          <p:cNvPr id="31" name="Figure 6 label 30 line 1">
            <a:extLst xmlns:a="http://schemas.openxmlformats.org/drawingml/2006/main">
              <a:ext uri="{FF2B5EF4-FFF2-40B4-BE49-F238E27FC236}">
                <a16:creationId xmlns:a16="http://schemas.microsoft.com/office/drawing/2014/main" id="{6C0572C4-A870-4280-9420-628DCBB83AB0}"/>
              </a:ext>
            </a:extLst>
          </p:cNvPr>
          <p:cNvSpPr>
            <a:spLocks xmlns:a="http://schemas.openxmlformats.org/drawingml/2006/main" noGrp="1"/>
          </p:cNvSpPr>
          <p:nvPr/>
        </p:nvSpPr>
        <p:spPr>
          <a:xfrm xmlns:a="http://schemas.openxmlformats.org/drawingml/2006/main" rot="0">
            <a:off x="13107720" y="5355190"/>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125.1</a:t>
            </a:r>
          </a:p>
        </p:txBody>
      </p:sp>
      <p:sp>
        <p:nvSpPr>
          <p:cNvPr id="32" name="Figure 6 label 31 line 1">
            <a:extLst xmlns:a="http://schemas.openxmlformats.org/drawingml/2006/main">
              <a:ext uri="{FF2B5EF4-FFF2-40B4-BE49-F238E27FC236}">
                <a16:creationId xmlns:a16="http://schemas.microsoft.com/office/drawing/2014/main" id="{BD8083CD-4038-41F5-B992-8467B29E2302}"/>
              </a:ext>
            </a:extLst>
          </p:cNvPr>
          <p:cNvSpPr>
            <a:spLocks xmlns:a="http://schemas.openxmlformats.org/drawingml/2006/main" noGrp="1"/>
          </p:cNvSpPr>
          <p:nvPr/>
        </p:nvSpPr>
        <p:spPr>
          <a:xfrm xmlns:a="http://schemas.openxmlformats.org/drawingml/2006/main" rot="0">
            <a:off x="15368782" y="3623919"/>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250.3</a:t>
            </a:r>
          </a:p>
        </p:txBody>
      </p:sp>
      <p:sp>
        <p:nvSpPr>
          <p:cNvPr id="33" name="Figure 6 label 32 line 1">
            <a:extLst xmlns:a="http://schemas.openxmlformats.org/drawingml/2006/main">
              <a:ext uri="{FF2B5EF4-FFF2-40B4-BE49-F238E27FC236}">
                <a16:creationId xmlns:a16="http://schemas.microsoft.com/office/drawing/2014/main" id="{B1C45910-3059-4052-95D3-B885FA6BCCDB}"/>
              </a:ext>
            </a:extLst>
          </p:cNvPr>
          <p:cNvSpPr>
            <a:spLocks xmlns:a="http://schemas.openxmlformats.org/drawingml/2006/main" noGrp="1"/>
          </p:cNvSpPr>
          <p:nvPr/>
        </p:nvSpPr>
        <p:spPr>
          <a:xfrm xmlns:a="http://schemas.openxmlformats.org/drawingml/2006/main" rot="0">
            <a:off x="11788135" y="2935288"/>
            <a:ext cx="3489970"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Fewer plates can cost more</a:t>
            </a:r>
          </a:p>
        </p:txBody>
      </p:sp>
      <p:sp>
        <p:nvSpPr>
          <p:cNvPr id="34" name="Figure 6 label 33 line 1">
            <a:extLst xmlns:a="http://schemas.openxmlformats.org/drawingml/2006/main">
              <a:ext uri="{FF2B5EF4-FFF2-40B4-BE49-F238E27FC236}">
                <a16:creationId xmlns:a16="http://schemas.microsoft.com/office/drawing/2014/main" id="{852F1FA3-E7F0-44B7-8866-B084C7F5AAD2}"/>
              </a:ext>
            </a:extLst>
          </p:cNvPr>
          <p:cNvSpPr>
            <a:spLocks xmlns:a="http://schemas.openxmlformats.org/drawingml/2006/main" noGrp="1"/>
          </p:cNvSpPr>
          <p:nvPr/>
        </p:nvSpPr>
        <p:spPr>
          <a:xfrm xmlns:a="http://schemas.openxmlformats.org/drawingml/2006/main" rot="0">
            <a:off x="991870" y="423803"/>
            <a:ext cx="67098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06  Quantities and prices in miniaturization</a:t>
            </a:r>
          </a:p>
        </p:txBody>
      </p:sp>
      <p:sp>
        <p:nvSpPr>
          <p:cNvPr id="35" name="Figure 6 label 34 line 1">
            <a:extLst xmlns:a="http://schemas.openxmlformats.org/drawingml/2006/main">
              <a:ext uri="{FF2B5EF4-FFF2-40B4-BE49-F238E27FC236}">
                <a16:creationId xmlns:a16="http://schemas.microsoft.com/office/drawing/2014/main" id="{18FD8EAD-28C2-4749-BE56-D6B7E844DA74}"/>
              </a:ext>
            </a:extLst>
          </p:cNvPr>
          <p:cNvSpPr>
            <a:spLocks xmlns:a="http://schemas.openxmlformats.org/drawingml/2006/main" noGrp="1"/>
          </p:cNvSpPr>
          <p:nvPr/>
        </p:nvSpPr>
        <p:spPr>
          <a:xfrm xmlns:a="http://schemas.openxmlformats.org/drawingml/2006/main" rot="0">
            <a:off x="15720740" y="661601"/>
            <a:ext cx="1019721"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SENSITIVITY</a:t>
            </a:r>
          </a:p>
        </p:txBody>
      </p:sp>
      <p:sp>
        <p:nvSpPr>
          <p:cNvPr id="36" name="Figure 6 label 35 line 1">
            <a:extLst xmlns:a="http://schemas.openxmlformats.org/drawingml/2006/main">
              <a:ext uri="{FF2B5EF4-FFF2-40B4-BE49-F238E27FC236}">
                <a16:creationId xmlns:a16="http://schemas.microsoft.com/office/drawing/2014/main" id="{D582632D-5FBC-4BC8-87DD-432A1DD434B1}"/>
              </a:ext>
            </a:extLst>
          </p:cNvPr>
          <p:cNvSpPr>
            <a:spLocks xmlns:a="http://schemas.openxmlformats.org/drawingml/2006/main" noGrp="1"/>
          </p:cNvSpPr>
          <p:nvPr/>
        </p:nvSpPr>
        <p:spPr>
          <a:xfrm xmlns:a="http://schemas.openxmlformats.org/drawingml/2006/main" rot="0">
            <a:off x="998220" y="1248653"/>
            <a:ext cx="74521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 tests: 10 L → 5 L reagent; 1,042 → 652 plates; 100k → 100k tips. Full usable plates.</a:t>
            </a:r>
          </a:p>
        </p:txBody>
      </p:sp>
      <p:sp>
        <p:nvSpPr>
          <p:cNvPr id="37" name="Figure 6 label 36 line 1">
            <a:extLst xmlns:a="http://schemas.openxmlformats.org/drawingml/2006/main">
              <a:ext uri="{FF2B5EF4-FFF2-40B4-BE49-F238E27FC236}">
                <a16:creationId xmlns:a16="http://schemas.microsoft.com/office/drawing/2014/main" id="{C7AF724A-35B0-4910-BFCF-3E7CEB16C6A3}"/>
              </a:ext>
            </a:extLst>
          </p:cNvPr>
          <p:cNvSpPr>
            <a:spLocks xmlns:a="http://schemas.openxmlformats.org/drawingml/2006/main" noGrp="1"/>
          </p:cNvSpPr>
          <p:nvPr/>
        </p:nvSpPr>
        <p:spPr>
          <a:xfrm xmlns:a="http://schemas.openxmlformats.org/drawingml/2006/main" rot="0">
            <a:off x="999173" y="9256035"/>
            <a:ext cx="911468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Price ratios are analyst inputs, not quoted ASPs. Dead volume, controls, usable wells and retesting can change quantities.</a:t>
            </a:r>
          </a:p>
        </p:txBody>
      </p:sp>
      <p:sp>
        <p:nvSpPr>
          <p:cNvPr id="38" name="Figure 6 label 37 line 1">
            <a:extLst xmlns:a="http://schemas.openxmlformats.org/drawingml/2006/main">
              <a:ext uri="{FF2B5EF4-FFF2-40B4-BE49-F238E27FC236}">
                <a16:creationId xmlns:a16="http://schemas.microsoft.com/office/drawing/2014/main" id="{5A919849-226B-4676-BECC-96B207828B35}"/>
              </a:ext>
            </a:extLst>
          </p:cNvPr>
          <p:cNvSpPr>
            <a:spLocks xmlns:a="http://schemas.openxmlformats.org/drawingml/2006/main" noGrp="1"/>
          </p:cNvSpPr>
          <p:nvPr/>
        </p:nvSpPr>
        <p:spPr>
          <a:xfrm xmlns:a="http://schemas.openxmlformats.org/drawingml/2006/main" rot="0">
            <a:off x="1000316" y="9676290"/>
            <a:ext cx="7147054"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transparent arithmetic from supplied test volumes and well counts. Units and sensitivities in SOURCES.md.</a:t>
            </a:r>
          </a:p>
        </p:txBody>
      </p:sp>
      <p:sp>
        <p:nvSpPr>
          <p:cNvPr id="39" name="Figure 6 label 38 line 1">
            <a:extLst xmlns:a="http://schemas.openxmlformats.org/drawingml/2006/main">
              <a:ext uri="{FF2B5EF4-FFF2-40B4-BE49-F238E27FC236}">
                <a16:creationId xmlns:a16="http://schemas.microsoft.com/office/drawing/2014/main" id="{3AD50905-5DC8-4E8F-A1BC-919973D80B2F}"/>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40" name="Figure 6 label 39 line 1">
            <a:extLst xmlns:a="http://schemas.openxmlformats.org/drawingml/2006/main">
              <a:ext uri="{FF2B5EF4-FFF2-40B4-BE49-F238E27FC236}">
                <a16:creationId xmlns:a16="http://schemas.microsoft.com/office/drawing/2014/main" id="{1D8E7454-DB76-43B2-ADD4-E8957C7B4161}"/>
              </a:ext>
            </a:extLst>
          </p:cNvPr>
          <p:cNvSpPr>
            <a:spLocks xmlns:a="http://schemas.openxmlformats.org/drawingml/2006/main" noGrp="1"/>
          </p:cNvSpPr>
          <p:nvPr/>
        </p:nvSpPr>
        <p:spPr>
          <a:xfrm xmlns:a="http://schemas.openxmlformats.org/drawingml/2006/main" rot="0">
            <a:off x="6060803" y="2357719"/>
            <a:ext cx="6166396"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Quantities × net unit prices determine spending</a:t>
            </a:r>
          </a:p>
        </p:txBody>
      </p:sp>
      <p:sp>
        <p:nvSpPr>
          <p:cNvPr id="41" name="Figure 6 label 40 line 1">
            <a:extLst xmlns:a="http://schemas.openxmlformats.org/drawingml/2006/main">
              <a:ext uri="{FF2B5EF4-FFF2-40B4-BE49-F238E27FC236}">
                <a16:creationId xmlns:a16="http://schemas.microsoft.com/office/drawing/2014/main" id="{E2999655-43FF-4C11-A588-0D25B0CE4EB5}"/>
              </a:ext>
            </a:extLst>
          </p:cNvPr>
          <p:cNvSpPr>
            <a:spLocks xmlns:a="http://schemas.openxmlformats.org/drawingml/2006/main" noGrp="1"/>
          </p:cNvSpPr>
          <p:nvPr/>
        </p:nvSpPr>
        <p:spPr>
          <a:xfrm xmlns:a="http://schemas.openxmlformats.org/drawingml/2006/main" rot="0">
            <a:off x="4859635" y="8329783"/>
            <a:ext cx="8568730"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Plate spending exceeds baseline if the plate ASP ratio is above 1.60×.</a:t>
            </a:r>
          </a:p>
        </p:txBody>
      </p:sp>
    </p:spTree>
    <p:extLst>
      <p:ext uri="{BB962C8B-B14F-4D97-AF65-F5344CB8AC3E}">
        <p14:creationId xmlns:p14="http://schemas.microsoft.com/office/powerpoint/2010/main" val="3521174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2026-10-13T07:05:32.7010000Z</dcterms:created>
  <dcterms:modified xsi:type="dcterms:W3CDTF">2026-10-13T07:05:32.7010000Z</dcterms:modified>
</coreProperties>
</file>