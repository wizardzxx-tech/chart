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8c15561bde4a2b" /><Relationship Type="http://schemas.openxmlformats.org/officeDocument/2006/relationships/extended-properties" Target="/docProps/app.xml" Id="Rf3248b6c80b2460b" /><Relationship Type="http://schemas.openxmlformats.org/officeDocument/2006/relationships/officeDocument" Target="/ppt/presentation.xml" Id="R140a46e317ea48d9" /></Relationships>
</file>

<file path=ppt/presentation.xml><?xml version="1.0" encoding="utf-8"?>
<p:presentation xmlns:p="http://schemas.openxmlformats.org/presentationml/2006/main">
  <p:sldMasterIdLst>
    <p:sldMasterId xmlns:r="http://schemas.openxmlformats.org/officeDocument/2006/relationships" id="2147483648" r:id="R1947752c2fbd4831"/>
  </p:sldMasterIdLst>
  <p:notesMasterIdLst>
    <p:notesMasterId xmlns:r="http://schemas.openxmlformats.org/officeDocument/2006/relationships" r:id="R0c7e7c43cf3c46e8"/>
  </p:notesMasterIdLst>
  <p:sldIdLst>
    <p:sldId xmlns:r="http://schemas.openxmlformats.org/officeDocument/2006/relationships" id="256" r:id="R13b6b32d90954f6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aee6d9a98449c2" /><Relationship Type="http://schemas.openxmlformats.org/officeDocument/2006/relationships/slideMaster" Target="/ppt/slideMasters/slideMaster1.xml" Id="R1947752c2fbd4831" /><Relationship Type="http://schemas.openxmlformats.org/officeDocument/2006/relationships/notesMaster" Target="/ppt/notesMasters/notesMaster1.xml" Id="R0c7e7c43cf3c46e8" /><Relationship Type="http://schemas.openxmlformats.org/officeDocument/2006/relationships/presProps" Target="/ppt/presProps.xml" Id="R1a8b65dbc8214494" /><Relationship Type="http://schemas.openxmlformats.org/officeDocument/2006/relationships/tableStyles" Target="/ppt/tableStyles.xml" Id="R37dd36ba4e3448e1" /><Relationship Type="http://schemas.openxmlformats.org/officeDocument/2006/relationships/slide" Target="/ppt/slides/slide1.xml" Id="R13b6b32d90954f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c364324914e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85cf1f40ec440c" /><Relationship Type="http://schemas.openxmlformats.org/officeDocument/2006/relationships/notesMaster" Target="/ppt/notesMasters/notesMaster1.xml" Id="R902983a5d9e143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Funding-to-LST purchase sensitivity</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c56755873543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a1443a857e45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12ee880fc94b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f0a401812e4f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d453a21f2346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36e057105d45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759D-1B44-4F72-8920-248307E87C3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1BD9ED-08F1-434B-A3F0-AEFD432FE35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CEEEA3-4F54-4720-869C-B399EB779CC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02694E-3D17-4BFB-B7D4-AC273DD5096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C04FC-973E-46AE-91AF-79868278FB4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541FC5-6A13-490F-B490-16D3BDD937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22CE-FBBB-47AF-B8D8-258FAEE14C9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18B9A27-E294-4E7C-A199-0C3CCC831EB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1359C-83B4-4D27-80CA-1679B304CA9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945C-8176-45BA-9FB6-3896AAD0060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de671079a34b63" /><Relationship Type="http://schemas.openxmlformats.org/officeDocument/2006/relationships/slideLayout" Target="/ppt/slideLayouts/slideLayout1.xml" Id="R91c26389df134d2b" /><Relationship Type="http://schemas.openxmlformats.org/officeDocument/2006/relationships/slideLayout" Target="/ppt/slideLayouts/slideLayout2.xml" Id="R3a6b23cb209d4ba5" /><Relationship Type="http://schemas.openxmlformats.org/officeDocument/2006/relationships/slideLayout" Target="/ppt/slideLayouts/slideLayout3.xml" Id="Rec14da212ea0413b" /><Relationship Type="http://schemas.openxmlformats.org/officeDocument/2006/relationships/slideLayout" Target="/ppt/slideLayouts/slideLayout4.xml" Id="R96d44dd84a0a438d" /><Relationship Type="http://schemas.openxmlformats.org/officeDocument/2006/relationships/slideLayout" Target="/ppt/slideLayouts/slideLayout5.xml" Id="R1202c2a3cb9d4a7e" /><Relationship Type="http://schemas.openxmlformats.org/officeDocument/2006/relationships/slideLayout" Target="/ppt/slideLayouts/slideLayout6.xml" Id="R4a334f9b94094d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c26389df134d2b"/>
    <p:sldLayoutId xmlns:r="http://schemas.openxmlformats.org/officeDocument/2006/relationships" id="2147483650" r:id="R3a6b23cb209d4ba5"/>
    <p:sldLayoutId xmlns:r="http://schemas.openxmlformats.org/officeDocument/2006/relationships" id="2147483651" r:id="Rec14da212ea0413b"/>
    <p:sldLayoutId xmlns:r="http://schemas.openxmlformats.org/officeDocument/2006/relationships" id="2147483652" r:id="R96d44dd84a0a438d"/>
    <p:sldLayoutId xmlns:r="http://schemas.openxmlformats.org/officeDocument/2006/relationships" id="2147483653" r:id="R1202c2a3cb9d4a7e"/>
    <p:sldLayoutId xmlns:r="http://schemas.openxmlformats.org/officeDocument/2006/relationships" id="2147483654" r:id="R4a334f9b94094d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6033591e284b38" /><Relationship Type="http://schemas.openxmlformats.org/officeDocument/2006/relationships/image" Target="/ppt/media/image.png" Id="Rf24ea25c7fcf4ade" /><Relationship Type="http://schemas.openxmlformats.org/officeDocument/2006/relationships/notesSlide" Target="/ppt/notesSlides/notesSlide1.xml" Id="Re81e3979d8954c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50F8060C-6632-48B2-96FC-A7C23E064334}"/>
              </a:ext>
            </a:extLst>
          </p:cNvPr>
          <p:cNvPicPr>
            <a:picLocks xmlns:a="http://schemas.openxmlformats.org/drawingml/2006/main" noChangeAspect="1"/>
          </p:cNvPicPr>
          <p:nvPr/>
        </p:nvPicPr>
        <p:blipFill>
          <a:blip xmlns:r="http://schemas.openxmlformats.org/officeDocument/2006/relationships" xmlns:a="http://schemas.openxmlformats.org/drawingml/2006/main" r:embed="Rf24ea25c7fcf4ad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BA74A2A1-F619-4E10-849A-A9C939B70EA6}"/>
              </a:ext>
            </a:extLst>
          </p:cNvPr>
          <p:cNvSpPr>
            <a:spLocks xmlns:a="http://schemas.openxmlformats.org/drawingml/2006/main" noGrp="1"/>
          </p:cNvSpPr>
          <p:nvPr/>
        </p:nvSpPr>
        <p:spPr>
          <a:xfrm xmlns:a="http://schemas.openxmlformats.org/drawingml/2006/main" rot="0">
            <a:off x="2388045" y="7790563"/>
            <a:ext cx="1841401"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US$50bn total funding</a:t>
            </a:r>
          </a:p>
        </p:txBody>
      </p:sp>
      <p:sp>
        <p:nvSpPr>
          <p:cNvPr id="3" name="Figure 7 label 2 line 1">
            <a:extLst xmlns:a="http://schemas.openxmlformats.org/drawingml/2006/main">
              <a:ext uri="{FF2B5EF4-FFF2-40B4-BE49-F238E27FC236}">
                <a16:creationId xmlns:a16="http://schemas.microsoft.com/office/drawing/2014/main" id="{E2AE42EA-E03A-4702-8F71-965D5736B4D8}"/>
              </a:ext>
            </a:extLst>
          </p:cNvPr>
          <p:cNvSpPr>
            <a:spLocks xmlns:a="http://schemas.openxmlformats.org/drawingml/2006/main" noGrp="1"/>
          </p:cNvSpPr>
          <p:nvPr/>
        </p:nvSpPr>
        <p:spPr>
          <a:xfrm xmlns:a="http://schemas.openxmlformats.org/drawingml/2006/main" rot="0">
            <a:off x="5888708"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US$100bn total funding</a:t>
            </a:r>
          </a:p>
        </p:txBody>
      </p:sp>
      <p:sp>
        <p:nvSpPr>
          <p:cNvPr id="4" name="Figure 7 label 3 line 1">
            <a:extLst xmlns:a="http://schemas.openxmlformats.org/drawingml/2006/main">
              <a:ext uri="{FF2B5EF4-FFF2-40B4-BE49-F238E27FC236}">
                <a16:creationId xmlns:a16="http://schemas.microsoft.com/office/drawing/2014/main" id="{8012476F-A8B1-4796-B479-53E94EC70852}"/>
              </a:ext>
            </a:extLst>
          </p:cNvPr>
          <p:cNvSpPr>
            <a:spLocks xmlns:a="http://schemas.openxmlformats.org/drawingml/2006/main" noGrp="1"/>
          </p:cNvSpPr>
          <p:nvPr/>
        </p:nvSpPr>
        <p:spPr>
          <a:xfrm xmlns:a="http://schemas.openxmlformats.org/drawingml/2006/main" rot="0">
            <a:off x="9437962"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US$200bn total funding</a:t>
            </a:r>
          </a:p>
        </p:txBody>
      </p:sp>
      <p:sp>
        <p:nvSpPr>
          <p:cNvPr id="5" name="Figure 7 label 4 line 1">
            <a:extLst xmlns:a="http://schemas.openxmlformats.org/drawingml/2006/main">
              <a:ext uri="{FF2B5EF4-FFF2-40B4-BE49-F238E27FC236}">
                <a16:creationId xmlns:a16="http://schemas.microsoft.com/office/drawing/2014/main" id="{90D630D6-0D42-47A7-948D-C0F61008FC6E}"/>
              </a:ext>
            </a:extLst>
          </p:cNvPr>
          <p:cNvSpPr>
            <a:spLocks xmlns:a="http://schemas.openxmlformats.org/drawingml/2006/main" noGrp="1"/>
          </p:cNvSpPr>
          <p:nvPr/>
        </p:nvSpPr>
        <p:spPr>
          <a:xfrm xmlns:a="http://schemas.openxmlformats.org/drawingml/2006/main" rot="0">
            <a:off x="1257379" y="754339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7 label 5 line 1">
            <a:extLst xmlns:a="http://schemas.openxmlformats.org/drawingml/2006/main">
              <a:ext uri="{FF2B5EF4-FFF2-40B4-BE49-F238E27FC236}">
                <a16:creationId xmlns:a16="http://schemas.microsoft.com/office/drawing/2014/main" id="{7F55F0F5-DB80-4109-A2EC-AF3C745F521B}"/>
              </a:ext>
            </a:extLst>
          </p:cNvPr>
          <p:cNvSpPr>
            <a:spLocks xmlns:a="http://schemas.openxmlformats.org/drawingml/2006/main" noGrp="1"/>
          </p:cNvSpPr>
          <p:nvPr/>
        </p:nvSpPr>
        <p:spPr>
          <a:xfrm xmlns:a="http://schemas.openxmlformats.org/drawingml/2006/main" rot="0">
            <a:off x="1151414" y="6447609"/>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7" name="Figure 7 label 6 line 1">
            <a:extLst xmlns:a="http://schemas.openxmlformats.org/drawingml/2006/main">
              <a:ext uri="{FF2B5EF4-FFF2-40B4-BE49-F238E27FC236}">
                <a16:creationId xmlns:a16="http://schemas.microsoft.com/office/drawing/2014/main" id="{92BE761A-34EF-4A75-889A-E81836C0322A}"/>
              </a:ext>
            </a:extLst>
          </p:cNvPr>
          <p:cNvSpPr>
            <a:spLocks xmlns:a="http://schemas.openxmlformats.org/drawingml/2006/main" noGrp="1"/>
          </p:cNvSpPr>
          <p:nvPr/>
        </p:nvSpPr>
        <p:spPr>
          <a:xfrm xmlns:a="http://schemas.openxmlformats.org/drawingml/2006/main" rot="0">
            <a:off x="1151414" y="535182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8" name="Figure 7 label 7 line 1">
            <a:extLst xmlns:a="http://schemas.openxmlformats.org/drawingml/2006/main">
              <a:ext uri="{FF2B5EF4-FFF2-40B4-BE49-F238E27FC236}">
                <a16:creationId xmlns:a16="http://schemas.microsoft.com/office/drawing/2014/main" id="{DB99ADFC-1F76-44A4-88BE-59BFDEEAD481}"/>
              </a:ext>
            </a:extLst>
          </p:cNvPr>
          <p:cNvSpPr>
            <a:spLocks xmlns:a="http://schemas.openxmlformats.org/drawingml/2006/main" noGrp="1"/>
          </p:cNvSpPr>
          <p:nvPr/>
        </p:nvSpPr>
        <p:spPr>
          <a:xfrm xmlns:a="http://schemas.openxmlformats.org/drawingml/2006/main" rot="0">
            <a:off x="1151414" y="425603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9" name="Figure 7 label 8 line 1">
            <a:extLst xmlns:a="http://schemas.openxmlformats.org/drawingml/2006/main">
              <a:ext uri="{FF2B5EF4-FFF2-40B4-BE49-F238E27FC236}">
                <a16:creationId xmlns:a16="http://schemas.microsoft.com/office/drawing/2014/main" id="{E636966D-DE9E-48A2-92E8-854527560ADB}"/>
              </a:ext>
            </a:extLst>
          </p:cNvPr>
          <p:cNvSpPr>
            <a:spLocks xmlns:a="http://schemas.openxmlformats.org/drawingml/2006/main" noGrp="1"/>
          </p:cNvSpPr>
          <p:nvPr/>
        </p:nvSpPr>
        <p:spPr>
          <a:xfrm xmlns:a="http://schemas.openxmlformats.org/drawingml/2006/main" rot="0">
            <a:off x="1151414" y="316024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10" name="Figure 7 label 9 line 1">
            <a:extLst xmlns:a="http://schemas.openxmlformats.org/drawingml/2006/main">
              <a:ext uri="{FF2B5EF4-FFF2-40B4-BE49-F238E27FC236}">
                <a16:creationId xmlns:a16="http://schemas.microsoft.com/office/drawing/2014/main" id="{9D642E72-7AC7-46EB-989C-F75950170F29}"/>
              </a:ext>
            </a:extLst>
          </p:cNvPr>
          <p:cNvSpPr>
            <a:spLocks xmlns:a="http://schemas.openxmlformats.org/drawingml/2006/main" noGrp="1"/>
          </p:cNvSpPr>
          <p:nvPr/>
        </p:nvSpPr>
        <p:spPr>
          <a:xfrm xmlns:a="http://schemas.openxmlformats.org/drawingml/2006/main" rot="16200000">
            <a:off x="-455746" y="4995862"/>
            <a:ext cx="3173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LST purchases (US$bn)</a:t>
            </a:r>
          </a:p>
        </p:txBody>
      </p:sp>
      <p:sp>
        <p:nvSpPr>
          <p:cNvPr id="11" name="Figure 7 label 10 line 1">
            <a:extLst xmlns:a="http://schemas.openxmlformats.org/drawingml/2006/main">
              <a:ext uri="{FF2B5EF4-FFF2-40B4-BE49-F238E27FC236}">
                <a16:creationId xmlns:a16="http://schemas.microsoft.com/office/drawing/2014/main" id="{208F61A2-CE07-4F10-8D04-EF1C7F97CC23}"/>
              </a:ext>
            </a:extLst>
          </p:cNvPr>
          <p:cNvSpPr>
            <a:spLocks xmlns:a="http://schemas.openxmlformats.org/drawingml/2006/main" noGrp="1"/>
          </p:cNvSpPr>
          <p:nvPr/>
        </p:nvSpPr>
        <p:spPr>
          <a:xfrm xmlns:a="http://schemas.openxmlformats.org/drawingml/2006/main" rot="0">
            <a:off x="2281875" y="7115523"/>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12" name="Figure 7 label 11 line 1">
            <a:extLst xmlns:a="http://schemas.openxmlformats.org/drawingml/2006/main">
              <a:ext uri="{FF2B5EF4-FFF2-40B4-BE49-F238E27FC236}">
                <a16:creationId xmlns:a16="http://schemas.microsoft.com/office/drawing/2014/main" id="{347EBCD6-DE25-41A7-81B7-51EAEA2350E8}"/>
              </a:ext>
            </a:extLst>
          </p:cNvPr>
          <p:cNvSpPr>
            <a:spLocks xmlns:a="http://schemas.openxmlformats.org/drawingml/2006/main" noGrp="1"/>
          </p:cNvSpPr>
          <p:nvPr/>
        </p:nvSpPr>
        <p:spPr>
          <a:xfrm xmlns:a="http://schemas.openxmlformats.org/drawingml/2006/main" rot="0">
            <a:off x="5917227"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3" name="Figure 7 label 12 line 1">
            <a:extLst xmlns:a="http://schemas.openxmlformats.org/drawingml/2006/main">
              <a:ext uri="{FF2B5EF4-FFF2-40B4-BE49-F238E27FC236}">
                <a16:creationId xmlns:a16="http://schemas.microsoft.com/office/drawing/2014/main" id="{715DF3A6-EC35-406C-A28A-ADE77E5D6A72}"/>
              </a:ext>
            </a:extLst>
          </p:cNvPr>
          <p:cNvSpPr>
            <a:spLocks xmlns:a="http://schemas.openxmlformats.org/drawingml/2006/main" noGrp="1"/>
          </p:cNvSpPr>
          <p:nvPr/>
        </p:nvSpPr>
        <p:spPr>
          <a:xfrm xmlns:a="http://schemas.openxmlformats.org/drawingml/2006/main" rot="0">
            <a:off x="9409108"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4" name="Figure 7 label 13 line 1">
            <a:extLst xmlns:a="http://schemas.openxmlformats.org/drawingml/2006/main">
              <a:ext uri="{FF2B5EF4-FFF2-40B4-BE49-F238E27FC236}">
                <a16:creationId xmlns:a16="http://schemas.microsoft.com/office/drawing/2014/main" id="{BE332478-EA20-4FA5-A07D-6A17474B12E1}"/>
              </a:ext>
            </a:extLst>
          </p:cNvPr>
          <p:cNvSpPr>
            <a:spLocks xmlns:a="http://schemas.openxmlformats.org/drawingml/2006/main" noGrp="1"/>
          </p:cNvSpPr>
          <p:nvPr/>
        </p:nvSpPr>
        <p:spPr>
          <a:xfrm xmlns:a="http://schemas.openxmlformats.org/drawingml/2006/main" rot="0">
            <a:off x="3184301"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5" name="Figure 7 label 14 line 1">
            <a:extLst xmlns:a="http://schemas.openxmlformats.org/drawingml/2006/main">
              <a:ext uri="{FF2B5EF4-FFF2-40B4-BE49-F238E27FC236}">
                <a16:creationId xmlns:a16="http://schemas.microsoft.com/office/drawing/2014/main" id="{A6294F39-AEDA-4E08-B042-F28710D054F0}"/>
              </a:ext>
            </a:extLst>
          </p:cNvPr>
          <p:cNvSpPr>
            <a:spLocks xmlns:a="http://schemas.openxmlformats.org/drawingml/2006/main" noGrp="1"/>
          </p:cNvSpPr>
          <p:nvPr/>
        </p:nvSpPr>
        <p:spPr>
          <a:xfrm xmlns:a="http://schemas.openxmlformats.org/drawingml/2006/main" rot="0">
            <a:off x="6676182"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6" name="Figure 7 label 15 line 1">
            <a:extLst xmlns:a="http://schemas.openxmlformats.org/drawingml/2006/main">
              <a:ext uri="{FF2B5EF4-FFF2-40B4-BE49-F238E27FC236}">
                <a16:creationId xmlns:a16="http://schemas.microsoft.com/office/drawing/2014/main" id="{5F045DA2-6717-442F-93D0-4876E378AF70}"/>
              </a:ext>
            </a:extLst>
          </p:cNvPr>
          <p:cNvSpPr>
            <a:spLocks xmlns:a="http://schemas.openxmlformats.org/drawingml/2006/main" noGrp="1"/>
          </p:cNvSpPr>
          <p:nvPr/>
        </p:nvSpPr>
        <p:spPr>
          <a:xfrm xmlns:a="http://schemas.openxmlformats.org/drawingml/2006/main" rot="0">
            <a:off x="10225437"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7" name="Figure 7 label 16 line 1">
            <a:extLst xmlns:a="http://schemas.openxmlformats.org/drawingml/2006/main">
              <a:ext uri="{FF2B5EF4-FFF2-40B4-BE49-F238E27FC236}">
                <a16:creationId xmlns:a16="http://schemas.microsoft.com/office/drawing/2014/main" id="{D9D7FBE4-80CB-47AF-B900-497D62462A8A}"/>
              </a:ext>
            </a:extLst>
          </p:cNvPr>
          <p:cNvSpPr>
            <a:spLocks xmlns:a="http://schemas.openxmlformats.org/drawingml/2006/main" noGrp="1"/>
          </p:cNvSpPr>
          <p:nvPr/>
        </p:nvSpPr>
        <p:spPr>
          <a:xfrm xmlns:a="http://schemas.openxmlformats.org/drawingml/2006/main" rot="0">
            <a:off x="3943256"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8" name="Figure 7 label 17 line 1">
            <a:extLst xmlns:a="http://schemas.openxmlformats.org/drawingml/2006/main">
              <a:ext uri="{FF2B5EF4-FFF2-40B4-BE49-F238E27FC236}">
                <a16:creationId xmlns:a16="http://schemas.microsoft.com/office/drawing/2014/main" id="{3BAF29BD-2625-4787-ACCB-A68032482172}"/>
              </a:ext>
            </a:extLst>
          </p:cNvPr>
          <p:cNvSpPr>
            <a:spLocks xmlns:a="http://schemas.openxmlformats.org/drawingml/2006/main" noGrp="1"/>
          </p:cNvSpPr>
          <p:nvPr/>
        </p:nvSpPr>
        <p:spPr>
          <a:xfrm xmlns:a="http://schemas.openxmlformats.org/drawingml/2006/main" rot="0">
            <a:off x="7492511"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9" name="Figure 7 label 18 line 1">
            <a:extLst xmlns:a="http://schemas.openxmlformats.org/drawingml/2006/main">
              <a:ext uri="{FF2B5EF4-FFF2-40B4-BE49-F238E27FC236}">
                <a16:creationId xmlns:a16="http://schemas.microsoft.com/office/drawing/2014/main" id="{08398778-95D0-4120-A731-A8ED0A322A43}"/>
              </a:ext>
            </a:extLst>
          </p:cNvPr>
          <p:cNvSpPr>
            <a:spLocks xmlns:a="http://schemas.openxmlformats.org/drawingml/2006/main" noGrp="1"/>
          </p:cNvSpPr>
          <p:nvPr/>
        </p:nvSpPr>
        <p:spPr>
          <a:xfrm xmlns:a="http://schemas.openxmlformats.org/drawingml/2006/main" rot="0">
            <a:off x="11041765" y="3006314"/>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0" name="Figure 7 label 19 line 1">
            <a:extLst xmlns:a="http://schemas.openxmlformats.org/drawingml/2006/main">
              <a:ext uri="{FF2B5EF4-FFF2-40B4-BE49-F238E27FC236}">
                <a16:creationId xmlns:a16="http://schemas.microsoft.com/office/drawing/2014/main" id="{31D62B4E-6896-492A-9DE7-9CCD9D948C16}"/>
              </a:ext>
            </a:extLst>
          </p:cNvPr>
          <p:cNvSpPr>
            <a:spLocks xmlns:a="http://schemas.openxmlformats.org/drawingml/2006/main" noGrp="1"/>
          </p:cNvSpPr>
          <p:nvPr/>
        </p:nvSpPr>
        <p:spPr>
          <a:xfrm xmlns:a="http://schemas.openxmlformats.org/drawingml/2006/main" rot="0">
            <a:off x="2244376" y="2734787"/>
            <a:ext cx="1996103"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5% LST purchase capture</a:t>
            </a:r>
          </a:p>
        </p:txBody>
      </p:sp>
      <p:sp>
        <p:nvSpPr>
          <p:cNvPr id="21" name="Figure 7 label 20 line 1">
            <a:extLst xmlns:a="http://schemas.openxmlformats.org/drawingml/2006/main">
              <a:ext uri="{FF2B5EF4-FFF2-40B4-BE49-F238E27FC236}">
                <a16:creationId xmlns:a16="http://schemas.microsoft.com/office/drawing/2014/main" id="{570F04E3-F6A5-4144-B43A-1BB6A5F2DA74}"/>
              </a:ext>
            </a:extLst>
          </p:cNvPr>
          <p:cNvSpPr>
            <a:spLocks xmlns:a="http://schemas.openxmlformats.org/drawingml/2006/main" noGrp="1"/>
          </p:cNvSpPr>
          <p:nvPr/>
        </p:nvSpPr>
        <p:spPr>
          <a:xfrm xmlns:a="http://schemas.openxmlformats.org/drawingml/2006/main" rot="0">
            <a:off x="2244376" y="2968150"/>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10% LST purchase capture</a:t>
            </a:r>
          </a:p>
        </p:txBody>
      </p:sp>
      <p:sp>
        <p:nvSpPr>
          <p:cNvPr id="22" name="Figure 7 label 21 line 1">
            <a:extLst xmlns:a="http://schemas.openxmlformats.org/drawingml/2006/main">
              <a:ext uri="{FF2B5EF4-FFF2-40B4-BE49-F238E27FC236}">
                <a16:creationId xmlns:a16="http://schemas.microsoft.com/office/drawing/2014/main" id="{EE39F3BF-7568-4C8D-B47B-CA6FED310DEC}"/>
              </a:ext>
            </a:extLst>
          </p:cNvPr>
          <p:cNvSpPr>
            <a:spLocks xmlns:a="http://schemas.openxmlformats.org/drawingml/2006/main" noGrp="1"/>
          </p:cNvSpPr>
          <p:nvPr/>
        </p:nvSpPr>
        <p:spPr>
          <a:xfrm xmlns:a="http://schemas.openxmlformats.org/drawingml/2006/main" rot="0">
            <a:off x="2244376" y="3201514"/>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20% LST purchase capture</a:t>
            </a:r>
          </a:p>
        </p:txBody>
      </p:sp>
      <p:sp>
        <p:nvSpPr>
          <p:cNvPr id="23" name="Figure 7 label 22 line 1">
            <a:extLst xmlns:a="http://schemas.openxmlformats.org/drawingml/2006/main">
              <a:ext uri="{FF2B5EF4-FFF2-40B4-BE49-F238E27FC236}">
                <a16:creationId xmlns:a16="http://schemas.microsoft.com/office/drawing/2014/main" id="{F9F2D60A-84BB-4183-A791-BCA568B38889}"/>
              </a:ext>
            </a:extLst>
          </p:cNvPr>
          <p:cNvSpPr>
            <a:spLocks xmlns:a="http://schemas.openxmlformats.org/drawingml/2006/main" noGrp="1"/>
          </p:cNvSpPr>
          <p:nvPr/>
        </p:nvSpPr>
        <p:spPr>
          <a:xfrm xmlns:a="http://schemas.openxmlformats.org/drawingml/2006/main" rot="0">
            <a:off x="991870" y="421920"/>
            <a:ext cx="628253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Funding-to-LST purchase sensitivity</a:t>
            </a:r>
          </a:p>
        </p:txBody>
      </p:sp>
      <p:sp>
        <p:nvSpPr>
          <p:cNvPr id="24" name="Figure 7 label 23 line 1">
            <a:extLst xmlns:a="http://schemas.openxmlformats.org/drawingml/2006/main">
              <a:ext uri="{FF2B5EF4-FFF2-40B4-BE49-F238E27FC236}">
                <a16:creationId xmlns:a16="http://schemas.microsoft.com/office/drawing/2014/main" id="{B9329B12-1947-4A94-9D44-E9CBEBE43D73}"/>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25" name="Figure 7 label 24 line 1">
            <a:extLst xmlns:a="http://schemas.openxmlformats.org/drawingml/2006/main">
              <a:ext uri="{FF2B5EF4-FFF2-40B4-BE49-F238E27FC236}">
                <a16:creationId xmlns:a16="http://schemas.microsoft.com/office/drawing/2014/main" id="{EDB2B52A-3B4E-4CA9-80FF-7B83F69D25BA}"/>
              </a:ext>
            </a:extLst>
          </p:cNvPr>
          <p:cNvSpPr>
            <a:spLocks xmlns:a="http://schemas.openxmlformats.org/drawingml/2006/main" noGrp="1"/>
          </p:cNvSpPr>
          <p:nvPr/>
        </p:nvSpPr>
        <p:spPr>
          <a:xfrm xmlns:a="http://schemas.openxmlformats.org/drawingml/2006/main" rot="0">
            <a:off x="998220" y="1249487"/>
            <a:ext cx="75677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Hypothetical total funding pools. Only a fraction becomes purchases from LST suppliers.</a:t>
            </a:r>
          </a:p>
        </p:txBody>
      </p:sp>
      <p:sp>
        <p:nvSpPr>
          <p:cNvPr id="26" name="Figure 7 label 25 line 1">
            <a:extLst xmlns:a="http://schemas.openxmlformats.org/drawingml/2006/main">
              <a:ext uri="{FF2B5EF4-FFF2-40B4-BE49-F238E27FC236}">
                <a16:creationId xmlns:a16="http://schemas.microsoft.com/office/drawing/2014/main" id="{67D01348-F260-47F0-964D-D9ABA578F1D3}"/>
              </a:ext>
            </a:extLst>
          </p:cNvPr>
          <p:cNvSpPr>
            <a:spLocks xmlns:a="http://schemas.openxmlformats.org/drawingml/2006/main" noGrp="1"/>
          </p:cNvSpPr>
          <p:nvPr/>
        </p:nvSpPr>
        <p:spPr>
          <a:xfrm xmlns:a="http://schemas.openxmlformats.org/drawingml/2006/main" rot="0">
            <a:off x="999173" y="9256035"/>
            <a:ext cx="93831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5% / 10% / 20% capture rates are model inputs. Cumulative scenarios, no fixed horizon; not observed funding or annual TAM.</a:t>
            </a:r>
          </a:p>
        </p:txBody>
      </p:sp>
      <p:sp>
        <p:nvSpPr>
          <p:cNvPr id="27" name="Figure 7 label 26 line 1">
            <a:extLst xmlns:a="http://schemas.openxmlformats.org/drawingml/2006/main">
              <a:ext uri="{FF2B5EF4-FFF2-40B4-BE49-F238E27FC236}">
                <a16:creationId xmlns:a16="http://schemas.microsoft.com/office/drawing/2014/main" id="{F00BB2D4-9638-4BA6-99D1-863FE6721E50}"/>
              </a:ext>
            </a:extLst>
          </p:cNvPr>
          <p:cNvSpPr>
            <a:spLocks xmlns:a="http://schemas.openxmlformats.org/drawingml/2006/main" noGrp="1"/>
          </p:cNvSpPr>
          <p:nvPr/>
        </p:nvSpPr>
        <p:spPr>
          <a:xfrm xmlns:a="http://schemas.openxmlformats.org/drawingml/2006/main" rot="0">
            <a:off x="1000316" y="9675546"/>
            <a:ext cx="707859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analyst funding-to-purchase sensitivity. No empirical budget shares or equipment/reagent split is asserted.</a:t>
            </a:r>
          </a:p>
        </p:txBody>
      </p:sp>
      <p:sp>
        <p:nvSpPr>
          <p:cNvPr id="28" name="Figure 7 label 27 line 1">
            <a:extLst xmlns:a="http://schemas.openxmlformats.org/drawingml/2006/main">
              <a:ext uri="{FF2B5EF4-FFF2-40B4-BE49-F238E27FC236}">
                <a16:creationId xmlns:a16="http://schemas.microsoft.com/office/drawing/2014/main" id="{B0837A1C-B5C8-4A4B-97D3-38AF3B8C4728}"/>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9" name="Figure 7 label 28 line 1">
            <a:extLst xmlns:a="http://schemas.openxmlformats.org/drawingml/2006/main">
              <a:ext uri="{FF2B5EF4-FFF2-40B4-BE49-F238E27FC236}">
                <a16:creationId xmlns:a16="http://schemas.microsoft.com/office/drawing/2014/main" id="{7BF52CA2-CAEE-4914-86FA-166F8D61E7DA}"/>
              </a:ext>
            </a:extLst>
          </p:cNvPr>
          <p:cNvSpPr>
            <a:spLocks xmlns:a="http://schemas.openxmlformats.org/drawingml/2006/main" noGrp="1"/>
          </p:cNvSpPr>
          <p:nvPr/>
        </p:nvSpPr>
        <p:spPr>
          <a:xfrm xmlns:a="http://schemas.openxmlformats.org/drawingml/2006/main" rot="0">
            <a:off x="13194411" y="3062309"/>
            <a:ext cx="2866132"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Funding → tool purchases</a:t>
            </a:r>
          </a:p>
        </p:txBody>
      </p:sp>
      <p:sp>
        <p:nvSpPr>
          <p:cNvPr id="30" name="Figure 7 label 29 line 1">
            <a:extLst xmlns:a="http://schemas.openxmlformats.org/drawingml/2006/main">
              <a:ext uri="{FF2B5EF4-FFF2-40B4-BE49-F238E27FC236}">
                <a16:creationId xmlns:a16="http://schemas.microsoft.com/office/drawing/2014/main" id="{CD835DCE-8BC4-4241-B056-EB42E7F7BE66}"/>
              </a:ext>
            </a:extLst>
          </p:cNvPr>
          <p:cNvSpPr>
            <a:spLocks xmlns:a="http://schemas.openxmlformats.org/drawingml/2006/main" noGrp="1"/>
          </p:cNvSpPr>
          <p:nvPr/>
        </p:nvSpPr>
        <p:spPr>
          <a:xfrm xmlns:a="http://schemas.openxmlformats.org/drawingml/2006/main" rot="0">
            <a:off x="13196316" y="3659198"/>
            <a:ext cx="25702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R&amp;D and production budgets</a:t>
            </a:r>
          </a:p>
        </p:txBody>
      </p:sp>
      <p:sp>
        <p:nvSpPr>
          <p:cNvPr id="31" name="Figure 7 label 30 line 1">
            <a:extLst xmlns:a="http://schemas.openxmlformats.org/drawingml/2006/main">
              <a:ext uri="{FF2B5EF4-FFF2-40B4-BE49-F238E27FC236}">
                <a16:creationId xmlns:a16="http://schemas.microsoft.com/office/drawing/2014/main" id="{569A818C-B5DD-42F6-A993-3B0C83E17F6C}"/>
              </a:ext>
            </a:extLst>
          </p:cNvPr>
          <p:cNvSpPr>
            <a:spLocks xmlns:a="http://schemas.openxmlformats.org/drawingml/2006/main" noGrp="1"/>
          </p:cNvSpPr>
          <p:nvPr/>
        </p:nvSpPr>
        <p:spPr>
          <a:xfrm xmlns:a="http://schemas.openxmlformats.org/drawingml/2006/main" rot="0">
            <a:off x="13196316" y="3944645"/>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exclude people, trials,</a:t>
            </a:r>
          </a:p>
        </p:txBody>
      </p:sp>
      <p:sp>
        <p:nvSpPr>
          <p:cNvPr id="32" name="Figure 7 label 31 line 1">
            <a:extLst xmlns:a="http://schemas.openxmlformats.org/drawingml/2006/main">
              <a:ext uri="{FF2B5EF4-FFF2-40B4-BE49-F238E27FC236}">
                <a16:creationId xmlns:a16="http://schemas.microsoft.com/office/drawing/2014/main" id="{C8012448-A929-490F-BB73-80561285F558}"/>
              </a:ext>
            </a:extLst>
          </p:cNvPr>
          <p:cNvSpPr>
            <a:spLocks xmlns:a="http://schemas.openxmlformats.org/drawingml/2006/main" noGrp="1"/>
          </p:cNvSpPr>
          <p:nvPr/>
        </p:nvSpPr>
        <p:spPr>
          <a:xfrm xmlns:a="http://schemas.openxmlformats.org/drawingml/2006/main" rot="0">
            <a:off x="13196316" y="4232216"/>
            <a:ext cx="24537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software and unspent cash.</a:t>
            </a:r>
          </a:p>
        </p:txBody>
      </p:sp>
      <p:sp>
        <p:nvSpPr>
          <p:cNvPr id="33" name="Figure 7 label 32 line 1">
            <a:extLst xmlns:a="http://schemas.openxmlformats.org/drawingml/2006/main">
              <a:ext uri="{FF2B5EF4-FFF2-40B4-BE49-F238E27FC236}">
                <a16:creationId xmlns:a16="http://schemas.microsoft.com/office/drawing/2014/main" id="{E54CE6B9-2041-4848-9D13-EC16CA447B44}"/>
              </a:ext>
            </a:extLst>
          </p:cNvPr>
          <p:cNvSpPr>
            <a:spLocks xmlns:a="http://schemas.openxmlformats.org/drawingml/2006/main" noGrp="1"/>
          </p:cNvSpPr>
          <p:nvPr/>
        </p:nvSpPr>
        <p:spPr>
          <a:xfrm xmlns:a="http://schemas.openxmlformats.org/drawingml/2006/main" rot="0">
            <a:off x="13196634" y="5106929"/>
            <a:ext cx="2725986"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Capture includes tool purchases</a:t>
            </a:r>
          </a:p>
        </p:txBody>
      </p:sp>
      <p:sp>
        <p:nvSpPr>
          <p:cNvPr id="34" name="Figure 7 label 33 line 1">
            <a:extLst xmlns:a="http://schemas.openxmlformats.org/drawingml/2006/main">
              <a:ext uri="{FF2B5EF4-FFF2-40B4-BE49-F238E27FC236}">
                <a16:creationId xmlns:a16="http://schemas.microsoft.com/office/drawing/2014/main" id="{E0B2571A-1204-41BC-8C7F-AB9848A092ED}"/>
              </a:ext>
            </a:extLst>
          </p:cNvPr>
          <p:cNvSpPr>
            <a:spLocks xmlns:a="http://schemas.openxmlformats.org/drawingml/2006/main" noGrp="1"/>
          </p:cNvSpPr>
          <p:nvPr/>
        </p:nvSpPr>
        <p:spPr>
          <a:xfrm xmlns:a="http://schemas.openxmlformats.org/drawingml/2006/main" rot="0">
            <a:off x="13196634" y="5382519"/>
            <a:ext cx="264413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only. Count CRO/CDMO inputs</a:t>
            </a:r>
          </a:p>
        </p:txBody>
      </p:sp>
      <p:sp>
        <p:nvSpPr>
          <p:cNvPr id="35" name="Figure 7 label 34 line 1">
            <a:extLst xmlns:a="http://schemas.openxmlformats.org/drawingml/2006/main">
              <a:ext uri="{FF2B5EF4-FFF2-40B4-BE49-F238E27FC236}">
                <a16:creationId xmlns:a16="http://schemas.microsoft.com/office/drawing/2014/main" id="{EA958BCB-18C6-41D0-9920-BAAEDAA5A1B0}"/>
              </a:ext>
            </a:extLst>
          </p:cNvPr>
          <p:cNvSpPr>
            <a:spLocks xmlns:a="http://schemas.openxmlformats.org/drawingml/2006/main" noGrp="1"/>
          </p:cNvSpPr>
          <p:nvPr/>
        </p:nvSpPr>
        <p:spPr>
          <a:xfrm xmlns:a="http://schemas.openxmlformats.org/drawingml/2006/main" rot="0">
            <a:off x="13196634" y="5660077"/>
            <a:ext cx="281692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once, separate from service fees.</a:t>
            </a:r>
          </a:p>
        </p:txBody>
      </p:sp>
      <p:sp>
        <p:nvSpPr>
          <p:cNvPr id="36" name="Figure 7 label 35 line 1">
            <a:extLst xmlns:a="http://schemas.openxmlformats.org/drawingml/2006/main">
              <a:ext uri="{FF2B5EF4-FFF2-40B4-BE49-F238E27FC236}">
                <a16:creationId xmlns:a16="http://schemas.microsoft.com/office/drawing/2014/main" id="{08D58AB1-8E5E-4D73-A45B-2C49A308930D}"/>
              </a:ext>
            </a:extLst>
          </p:cNvPr>
          <p:cNvSpPr>
            <a:spLocks xmlns:a="http://schemas.openxmlformats.org/drawingml/2006/main" noGrp="1"/>
          </p:cNvSpPr>
          <p:nvPr/>
        </p:nvSpPr>
        <p:spPr>
          <a:xfrm xmlns:a="http://schemas.openxmlformats.org/drawingml/2006/main" rot="0">
            <a:off x="5667896" y="8282830"/>
            <a:ext cx="6952208"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Total capital raised is not an addressable tool market.</a:t>
            </a:r>
          </a:p>
        </p:txBody>
      </p:sp>
    </p:spTree>
    <p:extLst>
      <p:ext uri="{BB962C8B-B14F-4D97-AF65-F5344CB8AC3E}">
        <p14:creationId xmlns:p14="http://schemas.microsoft.com/office/powerpoint/2010/main" val="1068680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2026-10-13T07:05:35.7720000Z</dcterms:created>
  <dcterms:modified xsi:type="dcterms:W3CDTF">2026-10-13T07:05:35.7720000Z</dcterms:modified>
</coreProperties>
</file>