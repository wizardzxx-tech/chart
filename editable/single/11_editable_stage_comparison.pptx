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7a9742a47b42be" /><Relationship Type="http://schemas.openxmlformats.org/officeDocument/2006/relationships/extended-properties" Target="/docProps/app.xml" Id="R2f69ed6f24494af9" /><Relationship Type="http://schemas.openxmlformats.org/officeDocument/2006/relationships/officeDocument" Target="/ppt/presentation.xml" Id="Rf765859e2a1f4af1" /></Relationships>
</file>

<file path=ppt/presentation.xml><?xml version="1.0" encoding="utf-8"?>
<p:presentation xmlns:p="http://schemas.openxmlformats.org/presentationml/2006/main">
  <p:sldMasterIdLst>
    <p:sldMasterId xmlns:r="http://schemas.openxmlformats.org/officeDocument/2006/relationships" id="2147483648" r:id="Rc72817cacb5a468a"/>
  </p:sldMasterIdLst>
  <p:notesMasterIdLst>
    <p:notesMasterId xmlns:r="http://schemas.openxmlformats.org/officeDocument/2006/relationships" r:id="R5462fe4358f4494c"/>
  </p:notesMasterIdLst>
  <p:sldIdLst>
    <p:sldId xmlns:r="http://schemas.openxmlformats.org/officeDocument/2006/relationships" id="256" r:id="Re55103daf9a9474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d152484cd142d7" /><Relationship Type="http://schemas.openxmlformats.org/officeDocument/2006/relationships/slideMaster" Target="/ppt/slideMasters/slideMaster1.xml" Id="Rc72817cacb5a468a" /><Relationship Type="http://schemas.openxmlformats.org/officeDocument/2006/relationships/notesMaster" Target="/ppt/notesMasters/notesMaster1.xml" Id="R5462fe4358f4494c" /><Relationship Type="http://schemas.openxmlformats.org/officeDocument/2006/relationships/presProps" Target="/ppt/presProps.xml" Id="Rc00b76581a034a70" /><Relationship Type="http://schemas.openxmlformats.org/officeDocument/2006/relationships/tableStyles" Target="/ppt/tableStyles.xml" Id="Rf657ab908068416d" /><Relationship Type="http://schemas.openxmlformats.org/officeDocument/2006/relationships/slide" Target="/ppt/slides/slide1.xml" Id="Re55103daf9a947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b8b00e593f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5e2ec5cd3c4bab" /><Relationship Type="http://schemas.openxmlformats.org/officeDocument/2006/relationships/notesMaster" Target="/ppt/notesMasters/notesMaster1.xml" Id="R5e0485829dc342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13 October 2026. Workflow units differ by modality; no synthetic per-clinical-entrant molecule counts are used. Historical Phase I-to-approval estimates are separate cohorts and methods. Measurement-workload sensitivities are inputs, not candidate-count forecasts.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4c7a12dae449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225ad01a2148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728a63685d45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08fd7440a146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427efb8ff942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3f82da02bc4b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DFF4E-5666-4A51-8559-399F62BFE8F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3E1212-92C9-4275-BE68-176ED8703A9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BC3C4C-1A76-4AE8-A424-FDBEDB53F82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CDD4B-28B8-411D-8718-FA881AA58C5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7D9293-61CD-44E7-BB79-B85E09377D5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4A93D-8D35-4579-8CBF-2DC46448E8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DECC06-F707-4503-8843-902C2FF9E88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B21DC-F463-4C7B-BD8E-E12E56AD662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B509BF-44FE-4DB1-A187-32E640BD176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B0E5B8-3A9C-495B-A418-094A904B4A9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9d94e276ce49fa" /><Relationship Type="http://schemas.openxmlformats.org/officeDocument/2006/relationships/slideLayout" Target="/ppt/slideLayouts/slideLayout1.xml" Id="Ra5b4b4502c574020" /><Relationship Type="http://schemas.openxmlformats.org/officeDocument/2006/relationships/slideLayout" Target="/ppt/slideLayouts/slideLayout2.xml" Id="Raf5bbea30b4d4041" /><Relationship Type="http://schemas.openxmlformats.org/officeDocument/2006/relationships/slideLayout" Target="/ppt/slideLayouts/slideLayout3.xml" Id="Rb14bb46a53f64bd9" /><Relationship Type="http://schemas.openxmlformats.org/officeDocument/2006/relationships/slideLayout" Target="/ppt/slideLayouts/slideLayout4.xml" Id="Re72e03ee526d44b6" /><Relationship Type="http://schemas.openxmlformats.org/officeDocument/2006/relationships/slideLayout" Target="/ppt/slideLayouts/slideLayout5.xml" Id="Rfff9a34956ad4b52" /><Relationship Type="http://schemas.openxmlformats.org/officeDocument/2006/relationships/slideLayout" Target="/ppt/slideLayouts/slideLayout6.xml" Id="R1f2625863f924c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b4b4502c574020"/>
    <p:sldLayoutId xmlns:r="http://schemas.openxmlformats.org/officeDocument/2006/relationships" id="2147483650" r:id="Raf5bbea30b4d4041"/>
    <p:sldLayoutId xmlns:r="http://schemas.openxmlformats.org/officeDocument/2006/relationships" id="2147483651" r:id="Rb14bb46a53f64bd9"/>
    <p:sldLayoutId xmlns:r="http://schemas.openxmlformats.org/officeDocument/2006/relationships" id="2147483652" r:id="Re72e03ee526d44b6"/>
    <p:sldLayoutId xmlns:r="http://schemas.openxmlformats.org/officeDocument/2006/relationships" id="2147483653" r:id="Rfff9a34956ad4b52"/>
    <p:sldLayoutId xmlns:r="http://schemas.openxmlformats.org/officeDocument/2006/relationships" id="2147483654" r:id="R1f2625863f924c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5a1b34b1134de4" /><Relationship Type="http://schemas.openxmlformats.org/officeDocument/2006/relationships/image" Target="/ppt/media/image.png" Id="Rc765be0ea93249f0" /><Relationship Type="http://schemas.openxmlformats.org/officeDocument/2006/relationships/image" Target="/ppt/media/image.svg" Id="Rbf4645a9b85548bd" /><Relationship Type="http://schemas.openxmlformats.org/officeDocument/2006/relationships/notesSlide" Target="/ppt/notesSlides/notesSlide1.xml" Id="Rae9710e2c47247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BE3752-609F-4AFF-8383-46E35B09BDDA}"/>
              </a:ext>
            </a:extLst>
          </p:cNvPr>
          <p:cNvSpPr>
            <a:spLocks xmlns:a="http://schemas.openxmlformats.org/drawingml/2006/main" noGrp="1"/>
          </p:cNvSpPr>
          <p:nvPr/>
        </p:nvSpPr>
        <p:spPr>
          <a:xfrm xmlns:a="http://schemas.openxmlformats.org/drawingml/2006/main">
            <a:off x="685800" y="514350"/>
            <a:ext cx="85725" cy="8096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AI discovery: workflows, evidence and sensitivities">
            <a:extLst xmlns:a="http://schemas.openxmlformats.org/drawingml/2006/main">
              <a:ext uri="{FF2B5EF4-FFF2-40B4-BE49-F238E27FC236}">
                <a16:creationId xmlns:a16="http://schemas.microsoft.com/office/drawing/2014/main" id="{CDBADD76-7E0D-4858-B70A-4F8975561292}"/>
              </a:ext>
            </a:extLst>
          </p:cNvPr>
          <p:cNvSpPr>
            <a:spLocks xmlns:a="http://schemas.openxmlformats.org/drawingml/2006/main" noGrp="1"/>
          </p:cNvSpPr>
          <p:nvPr/>
        </p:nvSpPr>
        <p:spPr>
          <a:xfrm xmlns:a="http://schemas.openxmlformats.org/drawingml/2006/main">
            <a:off x="1000125" y="495300"/>
            <a:ext cx="1652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buNone/>
              <a:defRPr sz="3450" b="1">
                <a:solidFill>
                  <a:srgbClr val="00355F"/>
                </a:solidFill>
                <a:latin typeface="Arial"/>
                <a:ea typeface="Arial"/>
                <a:cs typeface="Arial"/>
              </a:defRPr>
            </a:pPr>
            <a:r>
              <a:rPr sz="3450" b="1">
                <a:solidFill>
                  <a:srgbClr val="00355F"/>
                </a:solidFill>
                <a:latin typeface="Arial"/>
                <a:ea typeface="Arial"/>
                <a:cs typeface="Arial"/>
              </a:rPr>
              <a:t>AI discovery: workflows, evidence and sensitivities</a:t>
            </a:r>
          </a:p>
        </p:txBody>
      </p:sp>
      <p:sp>
        <p:nvSpPr>
          <p:cNvPr id="3" name="Modalities use different units. Workload sensitivities and historical clinical benchmarks are shown separately.">
            <a:extLst xmlns:a="http://schemas.openxmlformats.org/drawingml/2006/main">
              <a:ext uri="{FF2B5EF4-FFF2-40B4-BE49-F238E27FC236}">
                <a16:creationId xmlns:a16="http://schemas.microsoft.com/office/drawing/2014/main" id="{493B987F-B96B-4C57-A49E-666B31422D89}"/>
              </a:ext>
            </a:extLst>
          </p:cNvPr>
          <p:cNvSpPr>
            <a:spLocks xmlns:a="http://schemas.openxmlformats.org/drawingml/2006/main" noGrp="1"/>
          </p:cNvSpPr>
          <p:nvPr/>
        </p:nvSpPr>
        <p:spPr>
          <a:xfrm xmlns:a="http://schemas.openxmlformats.org/drawingml/2006/main">
            <a:off x="1009650" y="1143000"/>
            <a:ext cx="1619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buNone/>
              <a:defRPr sz="1725" b="0">
                <a:solidFill>
                  <a:srgbClr val="00355F"/>
                </a:solidFill>
                <a:latin typeface="Arial"/>
                <a:ea typeface="Arial"/>
                <a:cs typeface="Arial"/>
              </a:defRPr>
            </a:pPr>
            <a:r>
              <a:rPr sz="1725" b="0">
                <a:solidFill>
                  <a:srgbClr val="00355F"/>
                </a:solidFill>
                <a:latin typeface="Arial"/>
                <a:ea typeface="Arial"/>
                <a:cs typeface="Arial"/>
              </a:rPr>
              <a:t>Modalities use different units. Workload sensitivities and historical clinical benchmarks are shown separately.</a:t>
            </a:r>
          </a:p>
        </p:txBody>
      </p:sp>
      <p:sp>
        <p:nvSpPr>
          <p:cNvPr id="4" name="">
            <a:extLst xmlns:a="http://schemas.openxmlformats.org/drawingml/2006/main">
              <a:ext uri="{FF2B5EF4-FFF2-40B4-BE49-F238E27FC236}">
                <a16:creationId xmlns:a16="http://schemas.microsoft.com/office/drawing/2014/main" id="{5E91B5EC-9D67-4209-8F8A-C91883007D58}"/>
              </a:ext>
            </a:extLst>
          </p:cNvPr>
          <p:cNvSpPr>
            <a:spLocks xmlns:a="http://schemas.openxmlformats.org/drawingml/2006/main" noGrp="1"/>
          </p:cNvSpPr>
          <p:nvPr/>
        </p:nvSpPr>
        <p:spPr>
          <a:xfrm xmlns:a="http://schemas.openxmlformats.org/drawingml/2006/main">
            <a:off x="685800" y="1676400"/>
            <a:ext cx="16916400" cy="95"/>
          </a:xfrm>
          <a:custGeom xmlns:a="http://schemas.openxmlformats.org/drawingml/2006/main">
            <a:pathLst>
              <a:path w="16916400" h="95">
                <a:moveTo>
                  <a:pt x="0" y="0"/>
                </a:moveTo>
                <a:lnTo>
                  <a:pt x="16916400" y="0"/>
                </a:lnTo>
              </a:path>
            </a:pathLst>
          </a:custGeom>
          <a:noFill xmlns:a="http://schemas.openxmlformats.org/drawingml/2006/main"/>
          <a:ln xmlns:a="http://schemas.openxmlformats.org/drawingml/2006/main" w="9525">
            <a:solidFill>
              <a:srgbClr val="A5A5A5"/>
            </a:solidFill>
            <a:prstDash val="solid"/>
          </a:ln>
        </p:spPr>
      </p:sp>
      <p:graphicFrame>
        <p:nvGraphicFramePr>
          <p:cNvPr id="5" name="">
            <a:extLst xmlns:a="http://schemas.openxmlformats.org/drawingml/2006/main">
              <a:ext uri="{FF2B5EF4-FFF2-40B4-BE49-F238E27FC236}">
                <a16:creationId xmlns:a16="http://schemas.microsoft.com/office/drawing/2014/main" id="{DDE53FCF-A6E5-4C3B-B0EC-C5D401DEC6E8}"/>
              </a:ext>
            </a:extLst>
          </p:cNvPr>
          <p:cNvGraphicFramePr/>
          <p:nvPr/>
        </p:nvGraphicFramePr>
        <p:xfrm>
          <a:off xmlns:a="http://schemas.openxmlformats.org/drawingml/2006/main" x="685800" y="2190750"/>
          <a:ext xmlns:a="http://schemas.openxmlformats.org/drawingml/2006/main" cx="16916400" cy="5772150"/>
        </p:xfrm>
        <a:graphic xmlns:a="http://schemas.openxmlformats.org/drawingml/2006/main">
          <a:graphicData uri="http://schemas.openxmlformats.org/drawingml/2006/table">
            <a:tbl>
              <a:tblPr firstRow="1" bandRow="0"/>
              <a:tblGrid>
                <a:gridCol w="4143375"/>
                <a:gridCol w="2952750"/>
                <a:gridCol w="3143250"/>
                <a:gridCol w="6677025"/>
              </a:tblGrid>
              <a:tr h="666750">
                <a:tc>
                  <a:txBody>
                    <a:bodyPr/>
                    <a:lstStyle/>
                    <a:p>
                      <a:pPr algn="l">
                        <a:buNone/>
                      </a:pPr>
                      <a:r>
                        <a:rPr sz="1350" b="1">
                          <a:solidFill>
                            <a:srgbClr val="FFFFFF"/>
                          </a:solidFill>
                          <a:latin typeface="Arial"/>
                          <a:ea typeface="Arial"/>
                          <a:cs typeface="Arial"/>
                        </a:rPr>
                        <a:t>STAGE</a:t>
                      </a:r>
                    </a:p>
                  </a:txBody>
                  <a:tcPr marL="209550" marR="171450" marT="114300" marB="95250" anchor="ctr">
                    <a:lnL w="0">
                      <a:solidFill>
                        <a:srgbClr val="FFFFFF"/>
                      </a:solidFill>
                    </a:lnL>
                    <a:lnR w="0">
                      <a:solidFill>
                        <a:srgbClr val="FFFFFF"/>
                      </a:solidFill>
                    </a:lnR>
                    <a:lnT w="0">
                      <a:solidFill>
                        <a:srgbClr val="FFFFFF"/>
                      </a:solidFill>
                    </a:lnT>
                    <a:lnB w="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BEFORE GEN-AI</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AI MECHANISMS</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c>
                  <a:txBody>
                    <a:bodyPr/>
                    <a:lstStyle/>
                    <a:p>
                      <a:pPr algn="l">
                        <a:buNone/>
                      </a:pPr>
                      <a:r>
                        <a:rPr sz="1350" b="1">
                          <a:solidFill>
                            <a:srgbClr val="FFFFFF"/>
                          </a:solidFill>
                          <a:latin typeface="Arial"/>
                          <a:ea typeface="Arial"/>
                          <a:cs typeface="Arial"/>
                        </a:rPr>
                        <a:t>WHAT CHANGES</a:t>
                      </a:r>
                    </a:p>
                  </a:txBody>
                  <a:tcPr marL="209550" marR="171450" marT="114300" marB="95250" anchor="ctr">
                    <a:lnR w="0">
                      <a:solidFill>
                        <a:srgbClr val="FFFFFF"/>
                      </a:solidFill>
                    </a:lnR>
                    <a:lnT w="0">
                      <a:solidFill>
                        <a:srgbClr val="FFFFFF"/>
                      </a:solidFill>
                    </a:lnT>
                    <a:lnB w="0">
                      <a:solidFill>
                        <a:srgbClr val="FFFFFF"/>
                      </a:solidFill>
                    </a:lnB>
                    <a:solidFill>
                      <a:srgbClr val="00355F"/>
                    </a:solidFill>
                  </a:tcPr>
                </a:tc>
              </a:tr>
              <a:tr h="1104900">
                <a:tc>
                  <a:txBody>
                    <a:bodyPr/>
                    <a:lstStyle/>
                    <a:p>
                      <a:pPr algn="l">
                        <a:buNone/>
                      </a:pPr>
                      <a:r>
                        <a:rPr sz="1650" b="0">
                          <a:solidFill>
                            <a:srgbClr val="00355F"/>
                          </a:solidFill>
                          <a:latin typeface="Arial"/>
                          <a:ea typeface="Arial"/>
                          <a:cs typeface="Arial"/>
                        </a:rPr>
                        <a:t>Virtual search / design</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Large virtual</a:t>
                      </a:r>
                    </a:p>
                    <a:p>
                      <a:pPr algn="ctr">
                        <a:buNone/>
                      </a:pPr>
                      <a:r>
                        <a:rPr sz="1800" b="0">
                          <a:solidFill>
                            <a:srgbClr val="00355F"/>
                          </a:solidFill>
                          <a:latin typeface="Arial"/>
                          <a:ea typeface="Arial"/>
                          <a:cs typeface="Arial"/>
                        </a:rPr>
                        <a:t>libraries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Quality +</a:t>
                      </a:r>
                    </a:p>
                    <a:p>
                      <a:pPr algn="ctr">
                        <a:buNone/>
                      </a:pPr>
                      <a:r>
                        <a:rPr sz="1800" b="0">
                          <a:solidFill>
                            <a:srgbClr val="00355F"/>
                          </a:solidFill>
                          <a:latin typeface="Arial"/>
                          <a:ea typeface="Arial"/>
                          <a:cs typeface="Arial"/>
                        </a:rPr>
                        <a:t>selection</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buNone/>
                      </a:pPr>
                      <a:r>
                        <a:rPr sz="1650" b="0">
                          <a:solidFill>
                            <a:srgbClr val="00355F"/>
                          </a:solidFill>
                          <a:latin typeface="Arial"/>
                          <a:ea typeface="Arial"/>
                          <a:cs typeface="Arial"/>
                        </a:rPr>
                        <a:t>Large libraries predate generative AI.</a:t>
                      </a:r>
                    </a:p>
                    <a:p>
                      <a:pPr algn="l">
                        <a:buNone/>
                      </a:pPr>
                      <a:r>
                        <a:rPr sz="1650" b="0">
                          <a:solidFill>
                            <a:srgbClr val="00355F"/>
                          </a:solidFill>
                          <a:latin typeface="Arial"/>
                          <a:ea typeface="Arial"/>
                          <a:cs typeface="Arial"/>
                        </a:rPr>
                        <a:t>The investment mechanism is better selection and learning.</a:t>
                      </a:r>
                    </a:p>
                  </a:txBody>
                  <a:tcPr marL="209550" marR="171450" marT="114300" marB="95250" anchor="ctr">
                    <a:lnR w="0">
                      <a:solidFill>
                        <a:srgbClr val="FFFFFF"/>
                      </a:solidFill>
                    </a:lnR>
                    <a:lnB w="0">
                      <a:solidFill>
                        <a:srgbClr val="FFFFFF"/>
                      </a:solidFill>
                    </a:lnB>
                    <a:solidFill>
                      <a:srgbClr val="FFFFFF"/>
                    </a:solidFill>
                  </a:tcPr>
                </a:tc>
              </a:tr>
              <a:tr h="1000125">
                <a:tc>
                  <a:txBody>
                    <a:bodyPr/>
                    <a:lstStyle/>
                    <a:p>
                      <a:pPr algn="l">
                        <a:buNone/>
                      </a:pPr>
                      <a:r>
                        <a:rPr sz="1650" b="0">
                          <a:solidFill>
                            <a:srgbClr val="00355F"/>
                          </a:solidFill>
                          <a:latin typeface="Arial"/>
                          <a:ea typeface="Arial"/>
                          <a:cs typeface="Arial"/>
                        </a:rPr>
                        <a:t>Physical samples</a:t>
                      </a:r>
                    </a:p>
                  </a:txBody>
                  <a:tcPr marL="209550" marR="171450" marT="114300" marB="95250" anchor="ctr">
                    <a:lnL w="0">
                      <a:solidFill>
                        <a:srgbClr val="FFFFFF"/>
                      </a:solidFill>
                    </a:lnL>
                    <a:lnR w="0">
                      <a:solidFill>
                        <a:srgbClr val="FFFFFF"/>
                      </a:solidFill>
                    </a:lnR>
                    <a:lnB w="0">
                      <a:solidFill>
                        <a:srgbClr val="FFFFFF"/>
                      </a:solidFill>
                    </a:lnB>
                    <a:solidFill>
                      <a:srgbClr val="EEF6FC"/>
                    </a:solidFill>
                  </a:tcPr>
                </a:tc>
                <a:tc>
                  <a:txBody>
                    <a:bodyPr/>
                    <a:lstStyle/>
                    <a:p>
                      <a:pPr algn="ctr">
                        <a:buNone/>
                      </a:pPr>
                      <a:r>
                        <a:rPr sz="1800" b="0">
                          <a:solidFill>
                            <a:srgbClr val="00355F"/>
                          </a:solidFill>
                          <a:latin typeface="Arial"/>
                          <a:ea typeface="Arial"/>
                          <a:cs typeface="Arial"/>
                        </a:rPr>
                        <a:t>Program-</a:t>
                      </a:r>
                    </a:p>
                    <a:p>
                      <a:pPr algn="ctr">
                        <a:buNone/>
                      </a:pPr>
                      <a:r>
                        <a:rPr sz="1800" b="0">
                          <a:solidFill>
                            <a:srgbClr val="00355F"/>
                          </a:solidFill>
                          <a:latin typeface="Arial"/>
                          <a:ea typeface="Arial"/>
                          <a:cs typeface="Arial"/>
                        </a:rPr>
                        <a:t>specific</a:t>
                      </a:r>
                    </a:p>
                  </a:txBody>
                  <a:tcPr marL="209550" marR="171450" marT="114300" marB="95250" anchor="ctr">
                    <a:lnR w="0">
                      <a:solidFill>
                        <a:srgbClr val="FFFFFF"/>
                      </a:solidFill>
                    </a:lnR>
                    <a:lnB w="0">
                      <a:solidFill>
                        <a:srgbClr val="FFFFFF"/>
                      </a:solidFill>
                    </a:lnB>
                    <a:solidFill>
                      <a:srgbClr val="EEF6FC"/>
                    </a:solidFill>
                  </a:tcPr>
                </a:tc>
                <a:tc>
                  <a:txBody>
                    <a:bodyPr/>
                    <a:lstStyle/>
                    <a:p>
                      <a:pPr algn="ctr">
                        <a:buNone/>
                      </a:pPr>
                      <a:r>
                        <a:rPr sz="1800" b="0">
                          <a:solidFill>
                            <a:srgbClr val="00355F"/>
                          </a:solidFill>
                          <a:latin typeface="Arial"/>
                          <a:ea typeface="Arial"/>
                          <a:cs typeface="Arial"/>
                        </a:rPr>
                        <a:t>Modality-</a:t>
                      </a:r>
                    </a:p>
                    <a:p>
                      <a:pPr algn="ctr">
                        <a:buNone/>
                      </a:pPr>
                      <a:r>
                        <a:rPr sz="1800" b="0">
                          <a:solidFill>
                            <a:srgbClr val="00355F"/>
                          </a:solidFill>
                          <a:latin typeface="Arial"/>
                          <a:ea typeface="Arial"/>
                          <a:cs typeface="Arial"/>
                        </a:rPr>
                        <a:t>dependent</a:t>
                      </a:r>
                    </a:p>
                  </a:txBody>
                  <a:tcPr marL="209550" marR="171450" marT="114300" marB="95250" anchor="ctr">
                    <a:lnR w="0">
                      <a:solidFill>
                        <a:srgbClr val="FFFFFF"/>
                      </a:solidFill>
                    </a:lnR>
                    <a:lnB w="0">
                      <a:solidFill>
                        <a:srgbClr val="FFFFFF"/>
                      </a:solidFill>
                    </a:lnB>
                    <a:solidFill>
                      <a:srgbClr val="EEF6FC"/>
                    </a:solidFill>
                  </a:tcPr>
                </a:tc>
                <a:tc>
                  <a:txBody>
                    <a:bodyPr/>
                    <a:lstStyle/>
                    <a:p>
                      <a:pPr algn="l">
                        <a:buNone/>
                      </a:pPr>
                      <a:r>
                        <a:rPr sz="1650" b="0">
                          <a:solidFill>
                            <a:srgbClr val="00355F"/>
                          </a:solidFill>
                          <a:latin typeface="Arial"/>
                          <a:ea typeface="Arial"/>
                          <a:cs typeface="Arial"/>
                        </a:rPr>
                        <a:t>Small molecules can need fewer syntheses per program.</a:t>
                      </a:r>
                    </a:p>
                    <a:p>
                      <a:pPr algn="l">
                        <a:buNone/>
                      </a:pPr>
                      <a:r>
                        <a:rPr sz="1650" b="0">
                          <a:solidFill>
                            <a:srgbClr val="00355F"/>
                          </a:solidFill>
                          <a:latin typeface="Arial"/>
                          <a:ea typeface="Arial"/>
                          <a:cs typeface="Arial"/>
                        </a:rPr>
                        <a:t>Protein libraries and individual profiling are different units.</a:t>
                      </a:r>
                    </a:p>
                  </a:txBody>
                  <a:tcPr marL="209550" marR="171450" marT="114300" marB="95250" anchor="ctr">
                    <a:lnR w="0">
                      <a:solidFill>
                        <a:srgbClr val="FFFFFF"/>
                      </a:solidFill>
                    </a:lnR>
                    <a:lnB w="0">
                      <a:solidFill>
                        <a:srgbClr val="FFFFFF"/>
                      </a:solidFill>
                    </a:lnB>
                    <a:solidFill>
                      <a:srgbClr val="EEF6FC"/>
                    </a:solidFill>
                  </a:tcPr>
                </a:tc>
              </a:tr>
              <a:tr h="1000125">
                <a:tc>
                  <a:txBody>
                    <a:bodyPr/>
                    <a:lstStyle/>
                    <a:p>
                      <a:pPr algn="l">
                        <a:buNone/>
                      </a:pPr>
                      <a:r>
                        <a:rPr sz="1650" b="1">
                          <a:solidFill>
                            <a:srgbClr val="00355F"/>
                          </a:solidFill>
                          <a:latin typeface="Arial"/>
                          <a:ea typeface="Arial"/>
                          <a:cs typeface="Arial"/>
                        </a:rPr>
                        <a:t>Assay workload</a:t>
                      </a:r>
                    </a:p>
                  </a:txBody>
                  <a:tcPr marL="209550" marR="171450" marT="114300" marB="95250" anchor="ctr">
                    <a:lnL w="0">
                      <a:solidFill>
                        <a:srgbClr val="FFFFFF"/>
                      </a:solidFill>
                    </a:lnL>
                    <a:lnR w="0">
                      <a:solidFill>
                        <a:srgbClr val="FFFFFF"/>
                      </a:solidFill>
                    </a:lnR>
                    <a:lnB w="0">
                      <a:solidFill>
                        <a:srgbClr val="FFFFFF"/>
                      </a:solidFill>
                    </a:lnB>
                    <a:solidFill>
                      <a:srgbClr val="EEF6FC"/>
                    </a:solidFill>
                  </a:tcPr>
                </a:tc>
                <a:tc>
                  <a:txBody>
                    <a:bodyPr/>
                    <a:lstStyle/>
                    <a:p>
                      <a:pPr algn="ctr">
                        <a:buNone/>
                      </a:pPr>
                      <a:r>
                        <a:rPr sz="1800" b="1">
                          <a:solidFill>
                            <a:srgbClr val="00355F"/>
                          </a:solidFill>
                          <a:latin typeface="Arial"/>
                          <a:ea typeface="Arial"/>
                          <a:cs typeface="Arial"/>
                        </a:rPr>
                        <a:t>1× baseline</a:t>
                      </a:r>
                    </a:p>
                  </a:txBody>
                  <a:tcPr marL="209550" marR="171450" marT="114300" marB="95250" anchor="ctr">
                    <a:lnR w="0">
                      <a:solidFill>
                        <a:srgbClr val="FFFFFF"/>
                      </a:solidFill>
                    </a:lnR>
                    <a:lnB w="0">
                      <a:solidFill>
                        <a:srgbClr val="FFFFFF"/>
                      </a:solidFill>
                    </a:lnB>
                    <a:solidFill>
                      <a:srgbClr val="EEF6FC"/>
                    </a:solidFill>
                  </a:tcPr>
                </a:tc>
                <a:tc>
                  <a:txBody>
                    <a:bodyPr/>
                    <a:lstStyle/>
                    <a:p>
                      <a:pPr algn="ctr">
                        <a:buNone/>
                      </a:pPr>
                      <a:r>
                        <a:rPr sz="1800" b="1">
                          <a:solidFill>
                            <a:srgbClr val="00355F"/>
                          </a:solidFill>
                          <a:latin typeface="Arial"/>
                          <a:ea typeface="Arial"/>
                          <a:cs typeface="Arial"/>
                        </a:rPr>
                        <a:t>1× / 2× /</a:t>
                      </a:r>
                    </a:p>
                    <a:p>
                      <a:pPr algn="ctr">
                        <a:buNone/>
                      </a:pPr>
                      <a:r>
                        <a:rPr sz="1800" b="1">
                          <a:solidFill>
                            <a:srgbClr val="00355F"/>
                          </a:solidFill>
                          <a:latin typeface="Arial"/>
                          <a:ea typeface="Arial"/>
                          <a:cs typeface="Arial"/>
                        </a:rPr>
                        <a:t>5× / 10×</a:t>
                      </a:r>
                    </a:p>
                  </a:txBody>
                  <a:tcPr marL="209550" marR="171450" marT="114300" marB="95250" anchor="ctr">
                    <a:lnR w="0">
                      <a:solidFill>
                        <a:srgbClr val="FFFFFF"/>
                      </a:solidFill>
                    </a:lnR>
                    <a:lnB w="0">
                      <a:solidFill>
                        <a:srgbClr val="FFFFFF"/>
                      </a:solidFill>
                    </a:lnB>
                    <a:solidFill>
                      <a:srgbClr val="EEF6FC"/>
                    </a:solidFill>
                  </a:tcPr>
                </a:tc>
                <a:tc>
                  <a:txBody>
                    <a:bodyPr/>
                    <a:lstStyle/>
                    <a:p>
                      <a:pPr algn="l">
                        <a:buNone/>
                      </a:pPr>
                      <a:r>
                        <a:rPr sz="1650" b="1">
                          <a:solidFill>
                            <a:srgbClr val="00355F"/>
                          </a:solidFill>
                          <a:latin typeface="Arial"/>
                          <a:ea typeface="Arial"/>
                          <a:cs typeface="Arial"/>
                        </a:rPr>
                        <a:t>Analyst workload sensitivities, not predicted fully profiled</a:t>
                      </a:r>
                    </a:p>
                    <a:p>
                      <a:pPr algn="l">
                        <a:buNone/>
                      </a:pPr>
                      <a:r>
                        <a:rPr sz="1650" b="1">
                          <a:solidFill>
                            <a:srgbClr val="00355F"/>
                          </a:solidFill>
                          <a:latin typeface="Arial"/>
                          <a:ea typeface="Arial"/>
                          <a:cs typeface="Arial"/>
                        </a:rPr>
                        <a:t>candidate counts. Include an efficiency/no-growth case.</a:t>
                      </a:r>
                    </a:p>
                  </a:txBody>
                  <a:tcPr marL="209550" marR="171450" marT="114300" marB="95250" anchor="ctr">
                    <a:lnR w="0">
                      <a:solidFill>
                        <a:srgbClr val="FFFFFF"/>
                      </a:solidFill>
                    </a:lnR>
                    <a:lnB w="0">
                      <a:solidFill>
                        <a:srgbClr val="FFFFFF"/>
                      </a:solidFill>
                    </a:lnB>
                    <a:solidFill>
                      <a:srgbClr val="EEF6FC"/>
                    </a:solidFill>
                  </a:tcPr>
                </a:tc>
              </a:tr>
              <a:tr h="1000125">
                <a:tc>
                  <a:txBody>
                    <a:bodyPr/>
                    <a:lstStyle/>
                    <a:p>
                      <a:pPr algn="l">
                        <a:buNone/>
                      </a:pPr>
                      <a:r>
                        <a:rPr sz="1650" b="0">
                          <a:solidFill>
                            <a:srgbClr val="00355F"/>
                          </a:solidFill>
                          <a:latin typeface="Arial"/>
                          <a:ea typeface="Arial"/>
                          <a:cs typeface="Arial"/>
                        </a:rPr>
                        <a:t>Clinical development</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Phase I</a:t>
                      </a:r>
                    </a:p>
                    <a:p>
                      <a:pPr algn="ctr">
                        <a:buNone/>
                      </a:pPr>
                      <a:r>
                        <a:rPr sz="1800" b="0">
                          <a:solidFill>
                            <a:srgbClr val="00355F"/>
                          </a:solidFill>
                          <a:latin typeface="Arial"/>
                          <a:ea typeface="Arial"/>
                          <a:cs typeface="Arial"/>
                        </a:rPr>
                        <a:t>programs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Funded clinical</a:t>
                      </a:r>
                    </a:p>
                    <a:p>
                      <a:pPr algn="ctr">
                        <a:buNone/>
                      </a:pPr>
                      <a:r>
                        <a:rPr sz="1800" b="0">
                          <a:solidFill>
                            <a:srgbClr val="00355F"/>
                          </a:solidFill>
                          <a:latin typeface="Arial"/>
                          <a:ea typeface="Arial"/>
                          <a:cs typeface="Arial"/>
                        </a:rPr>
                        <a:t>programs</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buNone/>
                      </a:pPr>
                      <a:r>
                        <a:rPr sz="1650" b="0">
                          <a:solidFill>
                            <a:srgbClr val="00355F"/>
                          </a:solidFill>
                          <a:latin typeface="Arial"/>
                          <a:ea typeface="Arial"/>
                          <a:cs typeface="Arial"/>
                        </a:rPr>
                        <a:t>Clinical biology, patients, capital and time remain</a:t>
                      </a:r>
                    </a:p>
                    <a:p>
                      <a:pPr algn="l">
                        <a:buNone/>
                      </a:pPr>
                      <a:r>
                        <a:rPr sz="1650" b="0">
                          <a:solidFill>
                            <a:srgbClr val="00355F"/>
                          </a:solidFill>
                          <a:latin typeface="Arial"/>
                          <a:ea typeface="Arial"/>
                          <a:cs typeface="Arial"/>
                        </a:rPr>
                        <a:t>constraints; discovery gains do not establish clinical gains.</a:t>
                      </a:r>
                    </a:p>
                  </a:txBody>
                  <a:tcPr marL="209550" marR="171450" marT="114300" marB="95250" anchor="ctr">
                    <a:lnR w="0">
                      <a:solidFill>
                        <a:srgbClr val="FFFFFF"/>
                      </a:solidFill>
                    </a:lnR>
                    <a:lnB w="0">
                      <a:solidFill>
                        <a:srgbClr val="FFFFFF"/>
                      </a:solidFill>
                    </a:lnB>
                    <a:solidFill>
                      <a:srgbClr val="FFFFFF"/>
                    </a:solidFill>
                  </a:tcPr>
                </a:tc>
              </a:tr>
              <a:tr h="1000125">
                <a:tc>
                  <a:txBody>
                    <a:bodyPr/>
                    <a:lstStyle/>
                    <a:p>
                      <a:pPr algn="l">
                        <a:buNone/>
                      </a:pPr>
                      <a:r>
                        <a:rPr sz="1650" b="0">
                          <a:solidFill>
                            <a:srgbClr val="00355F"/>
                          </a:solidFill>
                          <a:latin typeface="Arial"/>
                          <a:ea typeface="Arial"/>
                          <a:cs typeface="Arial"/>
                        </a:rPr>
                        <a:t>Phase I to approval</a:t>
                      </a:r>
                    </a:p>
                  </a:txBody>
                  <a:tcPr marL="209550" marR="171450" marT="114300" marB="95250" anchor="ctr">
                    <a:lnL w="0">
                      <a:solidFill>
                        <a:srgbClr val="FFFFFF"/>
                      </a:solidFill>
                    </a:lnL>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7.9% / 13.8%</a:t>
                      </a:r>
                    </a:p>
                    <a:p>
                      <a:pPr algn="ctr">
                        <a:buNone/>
                      </a:pPr>
                      <a:r>
                        <a:rPr sz="1800" b="0">
                          <a:solidFill>
                            <a:srgbClr val="00355F"/>
                          </a:solidFill>
                          <a:latin typeface="Arial"/>
                          <a:ea typeface="Arial"/>
                          <a:cs typeface="Arial"/>
                        </a:rPr>
                        <a:t>(study estimates)</a:t>
                      </a:r>
                    </a:p>
                  </a:txBody>
                  <a:tcPr marL="209550" marR="171450" marT="114300" marB="95250" anchor="ctr">
                    <a:lnR w="0">
                      <a:solidFill>
                        <a:srgbClr val="FFFFFF"/>
                      </a:solidFill>
                    </a:lnR>
                    <a:lnB w="0">
                      <a:solidFill>
                        <a:srgbClr val="FFFFFF"/>
                      </a:solidFill>
                    </a:lnB>
                    <a:solidFill>
                      <a:srgbClr val="FFFFFF"/>
                    </a:solidFill>
                  </a:tcPr>
                </a:tc>
                <a:tc>
                  <a:txBody>
                    <a:bodyPr/>
                    <a:lstStyle/>
                    <a:p>
                      <a:pPr algn="ctr">
                        <a:buNone/>
                      </a:pPr>
                      <a:r>
                        <a:rPr sz="1800" b="0">
                          <a:solidFill>
                            <a:srgbClr val="00355F"/>
                          </a:solidFill>
                          <a:latin typeface="Arial"/>
                          <a:ea typeface="Arial"/>
                          <a:cs typeface="Arial"/>
                        </a:rPr>
                        <a:t>AI advantage</a:t>
                      </a:r>
                    </a:p>
                    <a:p>
                      <a:pPr algn="ctr">
                        <a:buNone/>
                      </a:pPr>
                      <a:r>
                        <a:rPr sz="1800" b="0">
                          <a:solidFill>
                            <a:srgbClr val="00355F"/>
                          </a:solidFill>
                          <a:latin typeface="Arial"/>
                          <a:ea typeface="Arial"/>
                          <a:cs typeface="Arial"/>
                        </a:rPr>
                        <a:t>unproven</a:t>
                      </a:r>
                    </a:p>
                  </a:txBody>
                  <a:tcPr marL="209550" marR="171450" marT="114300" marB="95250" anchor="ctr">
                    <a:lnR w="0">
                      <a:solidFill>
                        <a:srgbClr val="FFFFFF"/>
                      </a:solidFill>
                    </a:lnR>
                    <a:lnB w="0">
                      <a:solidFill>
                        <a:srgbClr val="FFFFFF"/>
                      </a:solidFill>
                    </a:lnB>
                    <a:solidFill>
                      <a:srgbClr val="FFFFFF"/>
                    </a:solidFill>
                  </a:tcPr>
                </a:tc>
                <a:tc>
                  <a:txBody>
                    <a:bodyPr/>
                    <a:lstStyle/>
                    <a:p>
                      <a:pPr algn="l">
                        <a:buNone/>
                      </a:pPr>
                      <a:r>
                        <a:rPr sz="1650" b="0">
                          <a:solidFill>
                            <a:srgbClr val="00355F"/>
                          </a:solidFill>
                          <a:latin typeface="Arial"/>
                          <a:ea typeface="Arial"/>
                          <a:cs typeface="Arial"/>
                        </a:rPr>
                        <a:t>BIO 2011–2020 and Wong 2000–2015 are different</a:t>
                      </a:r>
                    </a:p>
                    <a:p>
                      <a:pPr algn="l">
                        <a:buNone/>
                      </a:pPr>
                      <a:r>
                        <a:rPr sz="1650" b="0">
                          <a:solidFill>
                            <a:srgbClr val="00355F"/>
                          </a:solidFill>
                          <a:latin typeface="Arial"/>
                          <a:ea typeface="Arial"/>
                          <a:cs typeface="Arial"/>
                        </a:rPr>
                        <a:t>cohorts and methods, not an AI comparison.</a:t>
                      </a:r>
                    </a:p>
                  </a:txBody>
                  <a:tcPr marL="209550" marR="171450" marT="114300" marB="95250" anchor="ctr">
                    <a:lnR w="0">
                      <a:solidFill>
                        <a:srgbClr val="FFFFFF"/>
                      </a:solidFill>
                    </a:lnR>
                    <a:lnB w="0">
                      <a:solidFill>
                        <a:srgbClr val="FFFFFF"/>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3A12EE8-42D0-4DEE-A228-ED379CCD9046}"/>
              </a:ext>
            </a:extLst>
          </p:cNvPr>
          <p:cNvSpPr>
            <a:spLocks xmlns:a="http://schemas.openxmlformats.org/drawingml/2006/main" noGrp="1"/>
          </p:cNvSpPr>
          <p:nvPr/>
        </p:nvSpPr>
        <p:spPr>
          <a:xfrm xmlns:a="http://schemas.openxmlformats.org/drawingml/2006/main">
            <a:off x="685800" y="8353425"/>
            <a:ext cx="16916400" cy="933450"/>
          </a:xfrm>
          <a:prstGeom xmlns:a="http://schemas.openxmlformats.org/drawingml/2006/main" prst="roundRect">
            <a:avLst>
              <a:gd name="adj" fmla="val 10204"/>
            </a:avLst>
          </a:prstGeom>
          <a:solidFill xmlns:a="http://schemas.openxmlformats.org/drawingml/2006/main">
            <a:srgbClr val="00355F"/>
          </a:solidFill>
          <a:ln xmlns:a="http://schemas.openxmlformats.org/drawingml/2006/main" w="9525">
            <a:noFill/>
          </a:ln>
        </p:spPr>
      </p:sp>
      <p:pic>
        <p:nvPicPr>
          <p:cNvPr id="7" name="">
            <a:extLst xmlns:a="http://schemas.openxmlformats.org/drawingml/2006/main">
              <a:ext uri="{FF2B5EF4-FFF2-40B4-BE49-F238E27FC236}">
                <a16:creationId xmlns:a16="http://schemas.microsoft.com/office/drawing/2014/main" id="{8E7E274D-E692-44DA-A609-1D38AE615C13}"/>
              </a:ext>
            </a:extLst>
          </p:cNvPr>
          <p:cNvPicPr>
            <a:picLocks xmlns:a="http://schemas.openxmlformats.org/drawingml/2006/main" noChangeAspect="1"/>
          </p:cNvPicPr>
          <p:nvPr/>
        </p:nvPicPr>
        <p:blipFill>
          <a:blip xmlns:r="http://schemas.openxmlformats.org/officeDocument/2006/relationships" xmlns:a="http://schemas.openxmlformats.org/drawingml/2006/main" r:embed="Rc765be0ea93249f0">
            <a:extLst>
              <a:ext uri="{96DAC541-7B7A-43D3-8B79-37D633B846F1}">
                <asvg:svgBlip xmlns:asvg="http://schemas.microsoft.com/office/drawing/2016/SVG/main" r:embed="Rbf4645a9b85548bd"/>
              </a:ext>
            </a:extLst>
          </a:blip>
          <a:stretch xmlns:a="http://schemas.openxmlformats.org/drawingml/2006/main"/>
        </p:blipFill>
        <p:spPr>
          <a:xfrm xmlns:a="http://schemas.openxmlformats.org/drawingml/2006/main">
            <a:off x="904875" y="8562975"/>
            <a:ext cx="495300" cy="495300"/>
          </a:xfrm>
          <a:prstGeom xmlns:a="http://schemas.openxmlformats.org/drawingml/2006/main" prst="rect">
            <a:avLst/>
          </a:prstGeom>
        </p:spPr>
      </p:pic>
      <p:sp>
        <p:nvSpPr>
          <p:cNvPr id="8" name="Tool demand depends on funded programs, assay depth, net inputs and prices.">
            <a:extLst xmlns:a="http://schemas.openxmlformats.org/drawingml/2006/main">
              <a:ext uri="{FF2B5EF4-FFF2-40B4-BE49-F238E27FC236}">
                <a16:creationId xmlns:a16="http://schemas.microsoft.com/office/drawing/2014/main" id="{C44C236C-8C2C-4A90-B7C5-1B305C6722A8}"/>
              </a:ext>
            </a:extLst>
          </p:cNvPr>
          <p:cNvSpPr>
            <a:spLocks xmlns:a="http://schemas.openxmlformats.org/drawingml/2006/main" noGrp="1"/>
          </p:cNvSpPr>
          <p:nvPr/>
        </p:nvSpPr>
        <p:spPr>
          <a:xfrm xmlns:a="http://schemas.openxmlformats.org/drawingml/2006/main">
            <a:off x="1628775" y="8562975"/>
            <a:ext cx="1566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Tool demand depends on funded programs, assay depth, net inputs and prices.</a:t>
            </a:r>
          </a:p>
        </p:txBody>
      </p:sp>
      <p:sp>
        <p:nvSpPr>
          <p:cNvPr id="9" name="Sources: Lyu 2019; Sumitomo 2021; BIO 2011–2020; Wong 2000–2015. Workloads are analyst sensitivities, not empirical cohorts.">
            <a:extLst xmlns:a="http://schemas.openxmlformats.org/drawingml/2006/main">
              <a:ext uri="{FF2B5EF4-FFF2-40B4-BE49-F238E27FC236}">
                <a16:creationId xmlns:a16="http://schemas.microsoft.com/office/drawing/2014/main" id="{B2422390-4EC1-4833-BA98-90E0AC54BBAC}"/>
              </a:ext>
            </a:extLst>
          </p:cNvPr>
          <p:cNvSpPr>
            <a:spLocks xmlns:a="http://schemas.openxmlformats.org/drawingml/2006/main" noGrp="1"/>
          </p:cNvSpPr>
          <p:nvPr/>
        </p:nvSpPr>
        <p:spPr>
          <a:xfrm xmlns:a="http://schemas.openxmlformats.org/drawingml/2006/main">
            <a:off x="685800" y="9601200"/>
            <a:ext cx="16916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buNone/>
              <a:defRPr sz="1275" b="0">
                <a:solidFill>
                  <a:srgbClr val="00355F"/>
                </a:solidFill>
                <a:latin typeface="Arial"/>
                <a:ea typeface="Arial"/>
                <a:cs typeface="Arial"/>
              </a:defRPr>
            </a:pPr>
            <a:r>
              <a:rPr sz="1275" b="0">
                <a:solidFill>
                  <a:srgbClr val="00355F"/>
                </a:solidFill>
                <a:latin typeface="Arial"/>
                <a:ea typeface="Arial"/>
                <a:cs typeface="Arial"/>
              </a:rPr>
              <a:t>Sources: Lyu 2019; Sumitomo 2021; BIO 2011–2020; Wong 2000–2015. Workloads are analyst sensitivities, not empirical cohorts.</a:t>
            </a:r>
          </a:p>
        </p:txBody>
      </p:sp>
    </p:spTree>
    <p:extLst>
      <p:ext uri="{BB962C8B-B14F-4D97-AF65-F5344CB8AC3E}">
        <p14:creationId xmlns:p14="http://schemas.microsoft.com/office/powerpoint/2010/main" val="1392389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2026-10-13T07:05:38.1170000Z</dcterms:created>
  <dcterms:modified xsi:type="dcterms:W3CDTF">2026-10-13T07:05:38.1170000Z</dcterms:modified>
</coreProperties>
</file>