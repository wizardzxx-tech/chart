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0fe0f3609d74115" Type="http://schemas.openxmlformats.org/officeDocument/2006/relationships/officeDocument" Target="ppt/presentation.xml"/><Relationship Id="R67e78383d64b489a" Type="http://schemas.openxmlformats.org/package/2006/relationships/metadata/core-properties" Target="docProps/core.xml"/><Relationship Id="Rca37c4fe9e9e4ef8"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a4fa471de4bb48ec"/>
  </p:sldMasterIdLst>
  <p:notesMasterIdLst>
    <p:notesMasterId xmlns:r="http://schemas.openxmlformats.org/officeDocument/2006/relationships" r:id="R12a7cf4e63d44ffd"/>
  </p:notesMasterIdLst>
  <p:sldIdLst>
    <p:sldId xmlns:r="http://schemas.openxmlformats.org/officeDocument/2006/relationships" id="256" r:id="R6ca7062c13ba44a9"/>
    <p:sldId xmlns:r="http://schemas.openxmlformats.org/officeDocument/2006/relationships" id="257" r:id="R468fcb8bbe77477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2a7cf4e63d44ffd" Type="http://schemas.openxmlformats.org/officeDocument/2006/relationships/notesMaster" Target="notesMasters/notesMaster1.xml"/><Relationship Id="R3a6e5697dcec4329" Type="http://schemas.openxmlformats.org/officeDocument/2006/relationships/theme" Target="theme/theme1.xml"/><Relationship Id="R468fcb8bbe77477f" Type="http://schemas.openxmlformats.org/officeDocument/2006/relationships/slide" Target="slides/slide2.xml"/><Relationship Id="R4d2be7e1f0424365" Type="http://schemas.openxmlformats.org/officeDocument/2006/relationships/tableStyles" Target="tableStyles.xml"/><Relationship Id="R6ca7062c13ba44a9" Type="http://schemas.openxmlformats.org/officeDocument/2006/relationships/slide" Target="slides/slide1.xml"/><Relationship Id="Ra4fa471de4bb48ec" Type="http://schemas.openxmlformats.org/officeDocument/2006/relationships/slideMaster" Target="slideMasters/slideMaster1.xml"/><Relationship Id="Ra9bea3f1a9644b2b"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f192b43f3966417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7449d14cc3d41a8" Type="http://schemas.openxmlformats.org/officeDocument/2006/relationships/slide" Target="../slides/slide1.xml"/><Relationship Id="Rd131767669ae46a3"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27d5caa94ce346cd" Type="http://schemas.openxmlformats.org/officeDocument/2006/relationships/slide" Target="../slides/slide2.xml"/><Relationship Id="R46593571fe83427b"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13. Illustrative dataset organization, not an empirical comparison of pre-AI versus AI industry cohorts. Matrix colors encode coverage only, not measured performance. KD is often derived from the same fitted sensorgrams as kon/koff in an appropriate 1:1 model. Traditional drug development already included multi-assay characterization. Stage 0 is an analyst framing for biological data production across model training and iteration.</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is a coverage schematic: solid dot = measured label; hollow dot = KD derived from shared kinetics; dash = unmeasured. Colors do not encode performance. Figure 14 maps properties to workflows and procurement. Original Lucide SVG icons use the [ISC license](https://github.com/lucide-icons/lucide). No company logos or paper figures are reproduced.</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14. Qualitative workflow and listed-supplier exposure mapping. Stage 0 is an analyst demand framework, not a claim of incremental realized revenue. Antigen-specific affinity, epitope and cell potency require target/condition context; PROPHET-Ab has a different set of ten developability assays. Recurring procurement is modeled by actual workflow executions and net material use; instruments CAPEX and services are separate. Logo artwork is omitted by user preference. Icons are Lucide originals, ISC licensed.</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is a coverage schematic: solid dot = measured label; hollow dot = KD derived from shared kinetics; dash = unmeasured. Colors do not encode performance. Figure 14 maps properties to workflows and procurement. Original Lucide SVG icons use the [ISC license](https://github.com/lucide-icons/lucide). No company logos or paper figures are reproduced.</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61ce8990ec944fe8"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47f3e2b4ed4f447c"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74ef1948f8424ec7"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872edb206db54f6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a1ea52dfc45d4448"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70df6f38d6c244b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BF7B23-15D3-42A3-8188-3C6C6CC2EBC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B1B44E-4500-4743-99C0-33B4A5A12FF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620BBE-8FAF-4E71-83EC-3EBCF730A9B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AB2AB0-0361-44B4-B933-B6926B193DD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A8BD50-3A46-41E2-A7EB-F2A7EA2EB3E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8E687E-6C22-4A03-B8A1-C353CC6CD7C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25E284-2A8B-4AE6-8B79-731A7122BB9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539200-0219-4E05-95FE-93351599A46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A690AA-0C4B-4BF0-8ADA-D26A55A5232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10A507-3ECC-4DF4-99EC-CE20EE62AFA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fdef0390066452f" Type="http://schemas.openxmlformats.org/officeDocument/2006/relationships/slideLayout" Target="../slideLayouts/slideLayout5.xml"/><Relationship Id="R584c96e771984e30" Type="http://schemas.openxmlformats.org/officeDocument/2006/relationships/slideLayout" Target="../slideLayouts/slideLayout1.xml"/><Relationship Id="R5b0fc5110643404d" Type="http://schemas.openxmlformats.org/officeDocument/2006/relationships/slideLayout" Target="../slideLayouts/slideLayout2.xml"/><Relationship Id="R8388c9181738462e" Type="http://schemas.openxmlformats.org/officeDocument/2006/relationships/theme" Target="theme/theme2.xml"/><Relationship Id="Rd2947a9b08dd4706" Type="http://schemas.openxmlformats.org/officeDocument/2006/relationships/slideLayout" Target="../slideLayouts/slideLayout4.xml"/><Relationship Id="Rd666a45efe7f4ee5" Type="http://schemas.openxmlformats.org/officeDocument/2006/relationships/slideLayout" Target="../slideLayouts/slideLayout3.xml"/><Relationship Id="Rf402e7200efc404d"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4c96e771984e30"/>
    <p:sldLayoutId xmlns:r="http://schemas.openxmlformats.org/officeDocument/2006/relationships" id="2147483650" r:id="R5b0fc5110643404d"/>
    <p:sldLayoutId xmlns:r="http://schemas.openxmlformats.org/officeDocument/2006/relationships" id="2147483651" r:id="Rd666a45efe7f4ee5"/>
    <p:sldLayoutId xmlns:r="http://schemas.openxmlformats.org/officeDocument/2006/relationships" id="2147483652" r:id="Rd2947a9b08dd4706"/>
    <p:sldLayoutId xmlns:r="http://schemas.openxmlformats.org/officeDocument/2006/relationships" id="2147483653" r:id="R4fdef0390066452f"/>
    <p:sldLayoutId xmlns:r="http://schemas.openxmlformats.org/officeDocument/2006/relationships" id="2147483654" r:id="Rf402e7200efc40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1c6395882364128" Type="http://schemas.openxmlformats.org/officeDocument/2006/relationships/image" Target="../media/image.svg"/><Relationship Id="R98f5281d823544f8" Type="http://schemas.openxmlformats.org/officeDocument/2006/relationships/notesSlide" Target="../notesSlides/notesSlide1.xml"/><Relationship Id="R9b9b55af1c314c7e" Type="http://schemas.openxmlformats.org/officeDocument/2006/relationships/slideLayout" Target="../slideLayouts/slideLayout6.xml"/><Relationship Id="Ra4428f96641840bb" Type="http://schemas.openxmlformats.org/officeDocument/2006/relationships/image" Target="../media/image.png"/></Relationships>
</file>

<file path=ppt/slides/_rels/slide2.xml.rels><?xml version='1.0' encoding='UTF-8' standalone='yes'?>
<Relationships xmlns="http://schemas.openxmlformats.org/package/2006/relationships"><Relationship Id="R1388b333704d44ef" Type="http://schemas.openxmlformats.org/officeDocument/2006/relationships/image" Target="../media/image3.png"/><Relationship Id="R1d68d96716554efc" Type="http://schemas.openxmlformats.org/officeDocument/2006/relationships/notesSlide" Target="../notesSlides/notesSlide2.xml"/><Relationship Id="R22ab9e1f25f94615" Type="http://schemas.openxmlformats.org/officeDocument/2006/relationships/image" Target="../media/image6.png"/><Relationship Id="R32d9c06296634da4" Type="http://schemas.openxmlformats.org/officeDocument/2006/relationships/image" Target="../media/image6.svg"/><Relationship Id="R399f8324945348be" Type="http://schemas.openxmlformats.org/officeDocument/2006/relationships/image" Target="../media/image5.png"/><Relationship Id="R47b4d9201ca347f2" Type="http://schemas.openxmlformats.org/officeDocument/2006/relationships/image" Target="../media/image4.svg"/><Relationship Id="R8519439bc0284a3d" Type="http://schemas.openxmlformats.org/officeDocument/2006/relationships/image" Target="../media/image2.png"/><Relationship Id="Rc8fc553e21b64e23" Type="http://schemas.openxmlformats.org/officeDocument/2006/relationships/image" Target="../media/image2.svg"/><Relationship Id="Rca9d07e535c443e5" Type="http://schemas.openxmlformats.org/officeDocument/2006/relationships/image" Target="../media/image5.svg"/><Relationship Id="Rd531e33713c04c26" Type="http://schemas.openxmlformats.org/officeDocument/2006/relationships/image" Target="../media/image3.svg"/><Relationship Id="Re5e0d5de6cb64124" Type="http://schemas.openxmlformats.org/officeDocument/2006/relationships/image" Target="../media/image4.png"/><Relationship Id="Rfe11019fff9a4dcd"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685800" y="457200"/>
            <a:ext cx="85725" cy="1000125"/>
          </a:xfrm>
          <a:prstGeom prst="rect">
            <a:avLst/>
          </a:prstGeom>
          <a:solidFill>
            <a:srgbClr val="003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981075" y="384810"/>
            <a:ext cx="10477500" cy="569595"/>
          </a:xfrm>
          <a:prstGeom prst="rect">
            <a:avLst/>
          </a:prstGeom>
          <a:noFill/>
        </p:spPr>
        <p:txBody>
          <a:bodyPr wrap="none" lIns="0" rIns="0" tIns="0" bIns="0" anchor="ctr">
            <a:spAutoFit/>
          </a:bodyPr>
          <a:lstStyle/>
          <a:p>
            <a:pPr algn="l"/>
            <a:r>
              <a:rPr sz="3450" b="1">
                <a:solidFill>
                  <a:srgbClr val="00355F"/>
                </a:solidFill>
                <a:latin typeface="Arial"/>
              </a:rPr>
              <a:t>Fewer molecules. Deeper experimental data.</a:t>
            </a:r>
          </a:p>
        </p:txBody>
      </p:sp>
      <p:sp xmlns:a="http://schemas.openxmlformats.org/drawingml/2006/main">
        <p:nvSpPr>
          <p:cNvPr id="5" name="TextBox 4"/>
          <p:cNvSpPr txBox="1"/>
          <p:nvPr/>
        </p:nvSpPr>
        <p:spPr>
          <a:xfrm>
            <a:off x="1000125" y="1002983"/>
            <a:ext cx="10477500" cy="334328"/>
          </a:xfrm>
          <a:prstGeom prst="rect">
            <a:avLst/>
          </a:prstGeom>
          <a:noFill/>
        </p:spPr>
        <p:txBody>
          <a:bodyPr wrap="none" lIns="0" rIns="0" tIns="0" bIns="0" anchor="ctr">
            <a:spAutoFit/>
          </a:bodyPr>
          <a:lstStyle/>
          <a:p>
            <a:pPr algn="l"/>
            <a:r>
              <a:rPr sz="2025" b="0">
                <a:solidFill>
                  <a:srgbClr val="00355F"/>
                </a:solidFill>
                <a:latin typeface="Arial"/>
              </a:rPr>
              <a:t>AI may reduce candidate counts while increasing characterization per molecule</a:t>
            </a:r>
          </a:p>
        </p:txBody>
      </p:sp>
      <p:sp xmlns:a="http://schemas.openxmlformats.org/drawingml/2006/main">
        <p:nvSpPr>
          <p:cNvPr id="6" name="TextBox 5"/>
          <p:cNvSpPr txBox="1"/>
          <p:nvPr/>
        </p:nvSpPr>
        <p:spPr>
          <a:xfrm>
            <a:off x="1000125" y="1437322"/>
            <a:ext cx="10477500" cy="260032"/>
          </a:xfrm>
          <a:prstGeom prst="rect">
            <a:avLst/>
          </a:prstGeom>
          <a:noFill/>
        </p:spPr>
        <p:txBody>
          <a:bodyPr wrap="none" lIns="0" rIns="0" tIns="0" bIns="0" anchor="ctr">
            <a:spAutoFit/>
          </a:bodyPr>
          <a:lstStyle/>
          <a:p>
            <a:pPr algn="l"/>
            <a:r>
              <a:rPr sz="1575" b="0">
                <a:solidFill>
                  <a:srgbClr val="00355F"/>
                </a:solidFill>
                <a:latin typeface="Arial"/>
              </a:rPr>
              <a:t>From molecule throughput to data density: a potential driver of life science tools demand</a:t>
            </a:r>
          </a:p>
        </p:txBody>
      </p:sp>
      <p:cxnSp xmlns:a="http://schemas.openxmlformats.org/drawingml/2006/main">
        <p:nvCxnSpPr>
          <p:cNvPr id="7" name="Connector 6"/>
          <p:cNvCxnSpPr/>
          <p:nvPr/>
        </p:nvCxnSpPr>
        <p:spPr>
          <a:xfrm>
            <a:off x="685800" y="1885950"/>
            <a:ext cx="16916400" cy="0"/>
          </a:xfrm>
          <a:prstGeom prst="line">
            <a:avLst/>
          </a:prstGeom>
          <a:ln w="9525">
            <a:solidFill>
              <a:srgbClr val="A5A5A5"/>
            </a:solidFill>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 name="Rounded Rectangle 7"/>
          <p:cNvSpPr/>
          <p:nvPr/>
        </p:nvSpPr>
        <p:spPr>
          <a:xfrm>
            <a:off x="685800" y="2124075"/>
            <a:ext cx="5638800" cy="4714875"/>
          </a:xfrm>
          <a:prstGeom prst="roundRect">
            <a:avLst>
              <a:gd name="adj" fmla="val 5656"/>
            </a:avLst>
          </a:prstGeom>
          <a:solidFill>
            <a:srgbClr val="F4F9FD"/>
          </a:solidFill>
          <a:ln w="952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981075" y="2286000"/>
            <a:ext cx="10477500" cy="309562"/>
          </a:xfrm>
          <a:prstGeom prst="rect">
            <a:avLst/>
          </a:prstGeom>
          <a:noFill/>
        </p:spPr>
        <p:txBody>
          <a:bodyPr wrap="none" lIns="0" rIns="0" tIns="0" bIns="0" anchor="ctr">
            <a:spAutoFit/>
          </a:bodyPr>
          <a:lstStyle/>
          <a:p>
            <a:pPr algn="l"/>
            <a:r>
              <a:rPr sz="1875" b="1">
                <a:solidFill>
                  <a:srgbClr val="00355F"/>
                </a:solidFill>
                <a:latin typeface="Arial"/>
              </a:rPr>
              <a:t>Existing data: staged screening</a:t>
            </a:r>
          </a:p>
        </p:txBody>
      </p:sp>
      <p:sp xmlns:a="http://schemas.openxmlformats.org/drawingml/2006/main">
        <p:nvSpPr>
          <p:cNvPr id="10" name="TextBox 9"/>
          <p:cNvSpPr txBox="1"/>
          <p:nvPr/>
        </p:nvSpPr>
        <p:spPr>
          <a:xfrm>
            <a:off x="981075" y="2600325"/>
            <a:ext cx="10477500" cy="371475"/>
          </a:xfrm>
          <a:prstGeom prst="rect">
            <a:avLst/>
          </a:prstGeom>
          <a:noFill/>
        </p:spPr>
        <p:txBody>
          <a:bodyPr wrap="none" lIns="0" rIns="0" tIns="0" bIns="0" anchor="ctr">
            <a:spAutoFit/>
          </a:bodyPr>
          <a:lstStyle/>
          <a:p>
            <a:pPr algn="l"/>
            <a:r>
              <a:rPr sz="2250" b="1">
                <a:solidFill>
                  <a:srgbClr val="00355F"/>
                </a:solidFill>
                <a:latin typeface="Arial"/>
              </a:rPr>
              <a:t>1,000 antibodies × 1 label</a:t>
            </a:r>
          </a:p>
        </p:txBody>
      </p:sp>
      <p:sp xmlns:a="http://schemas.openxmlformats.org/drawingml/2006/main">
        <p:nvSpPr>
          <p:cNvPr id="11" name="TextBox 10"/>
          <p:cNvSpPr txBox="1"/>
          <p:nvPr/>
        </p:nvSpPr>
        <p:spPr>
          <a:xfrm>
            <a:off x="981075" y="2962275"/>
            <a:ext cx="10477500" cy="247650"/>
          </a:xfrm>
          <a:prstGeom prst="rect">
            <a:avLst/>
          </a:prstGeom>
          <a:noFill/>
        </p:spPr>
        <p:txBody>
          <a:bodyPr wrap="none" lIns="0" rIns="0" tIns="0" bIns="0" anchor="ctr">
            <a:spAutoFit/>
          </a:bodyPr>
          <a:lstStyle/>
          <a:p>
            <a:pPr algn="l"/>
            <a:r>
              <a:rPr sz="1500" b="0">
                <a:solidFill>
                  <a:srgbClr val="00355F"/>
                </a:solidFill>
                <a:latin typeface="Arial"/>
              </a:rPr>
              <a:t>One experiment, one bit per molecule</a:t>
            </a:r>
          </a:p>
        </p:txBody>
      </p:sp>
      <p:sp xmlns:a="http://schemas.openxmlformats.org/drawingml/2006/main">
        <p:nvSpPr>
          <p:cNvPr id="12" name="Rectangle 11"/>
          <p:cNvSpPr/>
          <p:nvPr/>
        </p:nvSpPr>
        <p:spPr>
          <a:xfrm>
            <a:off x="1000125" y="3333750"/>
            <a:ext cx="5010150" cy="361950"/>
          </a:xfrm>
          <a:prstGeom prst="rect">
            <a:avLst/>
          </a:prstGeom>
          <a:solidFill>
            <a:srgbClr val="003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240982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Antibody</a:t>
            </a:r>
          </a:p>
        </p:txBody>
      </p:sp>
      <p:sp xmlns:a="http://schemas.openxmlformats.org/drawingml/2006/main">
        <p:nvSpPr>
          <p:cNvPr id="14" name="TextBox 13"/>
          <p:cNvSpPr txBox="1"/>
          <p:nvPr/>
        </p:nvSpPr>
        <p:spPr>
          <a:xfrm>
            <a:off x="4914900"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Binds?</a:t>
            </a:r>
          </a:p>
        </p:txBody>
      </p:sp>
      <p:sp xmlns:a="http://schemas.openxmlformats.org/drawingml/2006/main">
        <p:nvSpPr>
          <p:cNvPr id="15" name="Rectangle 14"/>
          <p:cNvSpPr/>
          <p:nvPr/>
        </p:nvSpPr>
        <p:spPr>
          <a:xfrm>
            <a:off x="1000125" y="3695700"/>
            <a:ext cx="5010150" cy="419100"/>
          </a:xfrm>
          <a:prstGeom prst="rect">
            <a:avLst/>
          </a:prstGeom>
          <a:solidFill>
            <a:srgbClr val="FFFFFF"/>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6" name="Connector 15"/>
          <p:cNvCxnSpPr/>
          <p:nvPr/>
        </p:nvCxnSpPr>
        <p:spPr>
          <a:xfrm>
            <a:off x="3857625" y="3695700"/>
            <a:ext cx="0" cy="419100"/>
          </a:xfrm>
          <a:prstGeom prst="line">
            <a:avLst/>
          </a:prstGeom>
          <a:ln w="5714">
            <a:solidFill>
              <a:srgbClr val="A5A5A5"/>
            </a:solidFill>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7" name="TextBox 16"/>
          <p:cNvSpPr txBox="1"/>
          <p:nvPr/>
        </p:nvSpPr>
        <p:spPr>
          <a:xfrm>
            <a:off x="2409825" y="3790950"/>
            <a:ext cx="10477500" cy="222885"/>
          </a:xfrm>
          <a:prstGeom prst="rect">
            <a:avLst/>
          </a:prstGeom>
          <a:noFill/>
        </p:spPr>
        <p:txBody>
          <a:bodyPr wrap="none" lIns="0" rIns="0" tIns="0" bIns="0" anchor="ctr">
            <a:spAutoFit/>
          </a:bodyPr>
          <a:lstStyle/>
          <a:p>
            <a:pPr algn="ctr"/>
            <a:r>
              <a:rPr sz="1350" b="0">
                <a:solidFill>
                  <a:srgbClr val="00355F"/>
                </a:solidFill>
                <a:latin typeface="Arial"/>
              </a:rPr>
              <a:t>Ab-001</a:t>
            </a:r>
          </a:p>
        </p:txBody>
      </p:sp>
      <p:sp xmlns:a="http://schemas.openxmlformats.org/drawingml/2006/main">
        <p:nvSpPr>
          <p:cNvPr id="18" name="TextBox 17"/>
          <p:cNvSpPr txBox="1"/>
          <p:nvPr/>
        </p:nvSpPr>
        <p:spPr>
          <a:xfrm>
            <a:off x="4914900" y="3790950"/>
            <a:ext cx="10477500" cy="222885"/>
          </a:xfrm>
          <a:prstGeom prst="rect">
            <a:avLst/>
          </a:prstGeom>
          <a:noFill/>
        </p:spPr>
        <p:txBody>
          <a:bodyPr wrap="none" lIns="0" rIns="0" tIns="0" bIns="0" anchor="ctr">
            <a:spAutoFit/>
          </a:bodyPr>
          <a:lstStyle/>
          <a:p>
            <a:pPr algn="ctr"/>
            <a:r>
              <a:rPr sz="1350" b="0">
                <a:solidFill>
                  <a:srgbClr val="00355F"/>
                </a:solidFill>
                <a:latin typeface="Arial"/>
              </a:rPr>
              <a:t>Yes</a:t>
            </a:r>
          </a:p>
        </p:txBody>
      </p:sp>
      <p:sp xmlns:a="http://schemas.openxmlformats.org/drawingml/2006/main">
        <p:nvSpPr>
          <p:cNvPr id="19" name="Rectangle 18"/>
          <p:cNvSpPr/>
          <p:nvPr/>
        </p:nvSpPr>
        <p:spPr>
          <a:xfrm>
            <a:off x="1000125" y="4114800"/>
            <a:ext cx="5010150" cy="419100"/>
          </a:xfrm>
          <a:prstGeom prst="rect">
            <a:avLst/>
          </a:prstGeom>
          <a:solidFill>
            <a:srgbClr val="F4F9FD"/>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0" name="Connector 19"/>
          <p:cNvCxnSpPr/>
          <p:nvPr/>
        </p:nvCxnSpPr>
        <p:spPr>
          <a:xfrm>
            <a:off x="3857625" y="4114800"/>
            <a:ext cx="0" cy="419100"/>
          </a:xfrm>
          <a:prstGeom prst="line">
            <a:avLst/>
          </a:prstGeom>
          <a:ln w="5714">
            <a:solidFill>
              <a:srgbClr val="A5A5A5"/>
            </a:solidFill>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1" name="TextBox 20"/>
          <p:cNvSpPr txBox="1"/>
          <p:nvPr/>
        </p:nvSpPr>
        <p:spPr>
          <a:xfrm>
            <a:off x="2409825" y="4210050"/>
            <a:ext cx="10477500" cy="222885"/>
          </a:xfrm>
          <a:prstGeom prst="rect">
            <a:avLst/>
          </a:prstGeom>
          <a:noFill/>
        </p:spPr>
        <p:txBody>
          <a:bodyPr wrap="none" lIns="0" rIns="0" tIns="0" bIns="0" anchor="ctr">
            <a:spAutoFit/>
          </a:bodyPr>
          <a:lstStyle/>
          <a:p>
            <a:pPr algn="ctr"/>
            <a:r>
              <a:rPr sz="1350" b="0">
                <a:solidFill>
                  <a:srgbClr val="00355F"/>
                </a:solidFill>
                <a:latin typeface="Arial"/>
              </a:rPr>
              <a:t>Ab-002</a:t>
            </a:r>
          </a:p>
        </p:txBody>
      </p:sp>
      <p:sp xmlns:a="http://schemas.openxmlformats.org/drawingml/2006/main">
        <p:nvSpPr>
          <p:cNvPr id="22" name="TextBox 21"/>
          <p:cNvSpPr txBox="1"/>
          <p:nvPr/>
        </p:nvSpPr>
        <p:spPr>
          <a:xfrm>
            <a:off x="4914900" y="4210050"/>
            <a:ext cx="10477500" cy="222885"/>
          </a:xfrm>
          <a:prstGeom prst="rect">
            <a:avLst/>
          </a:prstGeom>
          <a:noFill/>
        </p:spPr>
        <p:txBody>
          <a:bodyPr wrap="none" lIns="0" rIns="0" tIns="0" bIns="0" anchor="ctr">
            <a:spAutoFit/>
          </a:bodyPr>
          <a:lstStyle/>
          <a:p>
            <a:pPr algn="ctr"/>
            <a:r>
              <a:rPr sz="1350" b="0">
                <a:solidFill>
                  <a:srgbClr val="00355F"/>
                </a:solidFill>
                <a:latin typeface="Arial"/>
              </a:rPr>
              <a:t>No</a:t>
            </a:r>
          </a:p>
        </p:txBody>
      </p:sp>
      <p:sp xmlns:a="http://schemas.openxmlformats.org/drawingml/2006/main">
        <p:nvSpPr>
          <p:cNvPr id="23" name="Rectangle 22"/>
          <p:cNvSpPr/>
          <p:nvPr/>
        </p:nvSpPr>
        <p:spPr>
          <a:xfrm>
            <a:off x="1000125" y="4533900"/>
            <a:ext cx="5010150" cy="419100"/>
          </a:xfrm>
          <a:prstGeom prst="rect">
            <a:avLst/>
          </a:prstGeom>
          <a:solidFill>
            <a:srgbClr val="FFFFFF"/>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4" name="Connector 23"/>
          <p:cNvCxnSpPr/>
          <p:nvPr/>
        </p:nvCxnSpPr>
        <p:spPr>
          <a:xfrm>
            <a:off x="3857625" y="4533900"/>
            <a:ext cx="0" cy="419100"/>
          </a:xfrm>
          <a:prstGeom prst="line">
            <a:avLst/>
          </a:prstGeom>
          <a:ln w="5714">
            <a:solidFill>
              <a:srgbClr val="A5A5A5"/>
            </a:solidFill>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TextBox 24"/>
          <p:cNvSpPr txBox="1"/>
          <p:nvPr/>
        </p:nvSpPr>
        <p:spPr>
          <a:xfrm>
            <a:off x="2409825" y="4629150"/>
            <a:ext cx="10477500" cy="222885"/>
          </a:xfrm>
          <a:prstGeom prst="rect">
            <a:avLst/>
          </a:prstGeom>
          <a:noFill/>
        </p:spPr>
        <p:txBody>
          <a:bodyPr wrap="none" lIns="0" rIns="0" tIns="0" bIns="0" anchor="ctr">
            <a:spAutoFit/>
          </a:bodyPr>
          <a:lstStyle/>
          <a:p>
            <a:pPr algn="ctr"/>
            <a:r>
              <a:rPr sz="1350" b="0">
                <a:solidFill>
                  <a:srgbClr val="00355F"/>
                </a:solidFill>
                <a:latin typeface="Arial"/>
              </a:rPr>
              <a:t>Ab-003</a:t>
            </a:r>
          </a:p>
        </p:txBody>
      </p:sp>
      <p:sp xmlns:a="http://schemas.openxmlformats.org/drawingml/2006/main">
        <p:nvSpPr>
          <p:cNvPr id="26" name="TextBox 25"/>
          <p:cNvSpPr txBox="1"/>
          <p:nvPr/>
        </p:nvSpPr>
        <p:spPr>
          <a:xfrm>
            <a:off x="4914900" y="4629150"/>
            <a:ext cx="10477500" cy="222885"/>
          </a:xfrm>
          <a:prstGeom prst="rect">
            <a:avLst/>
          </a:prstGeom>
          <a:noFill/>
        </p:spPr>
        <p:txBody>
          <a:bodyPr wrap="none" lIns="0" rIns="0" tIns="0" bIns="0" anchor="ctr">
            <a:spAutoFit/>
          </a:bodyPr>
          <a:lstStyle/>
          <a:p>
            <a:pPr algn="ctr"/>
            <a:r>
              <a:rPr sz="1350" b="0">
                <a:solidFill>
                  <a:srgbClr val="00355F"/>
                </a:solidFill>
                <a:latin typeface="Arial"/>
              </a:rPr>
              <a:t>Yes</a:t>
            </a:r>
          </a:p>
        </p:txBody>
      </p:sp>
      <p:sp xmlns:a="http://schemas.openxmlformats.org/drawingml/2006/main">
        <p:nvSpPr>
          <p:cNvPr id="27" name="Rectangle 26"/>
          <p:cNvSpPr/>
          <p:nvPr/>
        </p:nvSpPr>
        <p:spPr>
          <a:xfrm>
            <a:off x="1000125" y="4953000"/>
            <a:ext cx="5010150" cy="419100"/>
          </a:xfrm>
          <a:prstGeom prst="rect">
            <a:avLst/>
          </a:prstGeom>
          <a:solidFill>
            <a:srgbClr val="F4F9FD"/>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8" name="Connector 27"/>
          <p:cNvCxnSpPr/>
          <p:nvPr/>
        </p:nvCxnSpPr>
        <p:spPr>
          <a:xfrm>
            <a:off x="3857625" y="4953000"/>
            <a:ext cx="0" cy="419100"/>
          </a:xfrm>
          <a:prstGeom prst="line">
            <a:avLst/>
          </a:prstGeom>
          <a:ln w="5714">
            <a:solidFill>
              <a:srgbClr val="A5A5A5"/>
            </a:solidFill>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9" name="TextBox 28"/>
          <p:cNvSpPr txBox="1"/>
          <p:nvPr/>
        </p:nvSpPr>
        <p:spPr>
          <a:xfrm>
            <a:off x="2409825" y="5048250"/>
            <a:ext cx="10477500" cy="222885"/>
          </a:xfrm>
          <a:prstGeom prst="rect">
            <a:avLst/>
          </a:prstGeom>
          <a:noFill/>
        </p:spPr>
        <p:txBody>
          <a:bodyPr wrap="none" lIns="0" rIns="0" tIns="0" bIns="0" anchor="ctr">
            <a:spAutoFit/>
          </a:bodyPr>
          <a:lstStyle/>
          <a:p>
            <a:pPr algn="ctr"/>
            <a:r>
              <a:rPr sz="1350" b="0">
                <a:solidFill>
                  <a:srgbClr val="00355F"/>
                </a:solidFill>
                <a:latin typeface="Arial"/>
              </a:rPr>
              <a:t>Ab-004</a:t>
            </a:r>
          </a:p>
        </p:txBody>
      </p:sp>
      <p:sp xmlns:a="http://schemas.openxmlformats.org/drawingml/2006/main">
        <p:nvSpPr>
          <p:cNvPr id="30" name="TextBox 29"/>
          <p:cNvSpPr txBox="1"/>
          <p:nvPr/>
        </p:nvSpPr>
        <p:spPr>
          <a:xfrm>
            <a:off x="4914900" y="5048250"/>
            <a:ext cx="10477500" cy="222885"/>
          </a:xfrm>
          <a:prstGeom prst="rect">
            <a:avLst/>
          </a:prstGeom>
          <a:noFill/>
        </p:spPr>
        <p:txBody>
          <a:bodyPr wrap="none" lIns="0" rIns="0" tIns="0" bIns="0" anchor="ctr">
            <a:spAutoFit/>
          </a:bodyPr>
          <a:lstStyle/>
          <a:p>
            <a:pPr algn="ctr"/>
            <a:r>
              <a:rPr sz="1350" b="0">
                <a:solidFill>
                  <a:srgbClr val="00355F"/>
                </a:solidFill>
                <a:latin typeface="Arial"/>
              </a:rPr>
              <a:t>Yes</a:t>
            </a:r>
          </a:p>
        </p:txBody>
      </p:sp>
      <p:sp xmlns:a="http://schemas.openxmlformats.org/drawingml/2006/main">
        <p:nvSpPr>
          <p:cNvPr id="31" name="Rectangle 30"/>
          <p:cNvSpPr/>
          <p:nvPr/>
        </p:nvSpPr>
        <p:spPr>
          <a:xfrm>
            <a:off x="1000125" y="5372100"/>
            <a:ext cx="5010150" cy="419100"/>
          </a:xfrm>
          <a:prstGeom prst="rect">
            <a:avLst/>
          </a:prstGeom>
          <a:solidFill>
            <a:srgbClr val="FFFFFF"/>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2" name="Connector 31"/>
          <p:cNvCxnSpPr/>
          <p:nvPr/>
        </p:nvCxnSpPr>
        <p:spPr>
          <a:xfrm>
            <a:off x="3857625" y="5372100"/>
            <a:ext cx="0" cy="419100"/>
          </a:xfrm>
          <a:prstGeom prst="line">
            <a:avLst/>
          </a:prstGeom>
          <a:ln w="5714">
            <a:solidFill>
              <a:srgbClr val="A5A5A5"/>
            </a:solidFill>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3" name="TextBox 32"/>
          <p:cNvSpPr txBox="1"/>
          <p:nvPr/>
        </p:nvSpPr>
        <p:spPr>
          <a:xfrm>
            <a:off x="2409825" y="5467350"/>
            <a:ext cx="10477500" cy="222885"/>
          </a:xfrm>
          <a:prstGeom prst="rect">
            <a:avLst/>
          </a:prstGeom>
          <a:noFill/>
        </p:spPr>
        <p:txBody>
          <a:bodyPr wrap="none" lIns="0" rIns="0" tIns="0" bIns="0" anchor="ctr">
            <a:spAutoFit/>
          </a:bodyPr>
          <a:lstStyle/>
          <a:p>
            <a:pPr algn="ctr"/>
            <a:r>
              <a:rPr sz="1350" b="0">
                <a:solidFill>
                  <a:srgbClr val="00355F"/>
                </a:solidFill>
                <a:latin typeface="Arial"/>
              </a:rPr>
              <a:t>Ab-005</a:t>
            </a:r>
          </a:p>
        </p:txBody>
      </p:sp>
      <p:sp xmlns:a="http://schemas.openxmlformats.org/drawingml/2006/main">
        <p:nvSpPr>
          <p:cNvPr id="34" name="TextBox 33"/>
          <p:cNvSpPr txBox="1"/>
          <p:nvPr/>
        </p:nvSpPr>
        <p:spPr>
          <a:xfrm>
            <a:off x="4914900" y="5467350"/>
            <a:ext cx="10477500" cy="222885"/>
          </a:xfrm>
          <a:prstGeom prst="rect">
            <a:avLst/>
          </a:prstGeom>
          <a:noFill/>
        </p:spPr>
        <p:txBody>
          <a:bodyPr wrap="none" lIns="0" rIns="0" tIns="0" bIns="0" anchor="ctr">
            <a:spAutoFit/>
          </a:bodyPr>
          <a:lstStyle/>
          <a:p>
            <a:pPr algn="ctr"/>
            <a:r>
              <a:rPr sz="1350" b="0">
                <a:solidFill>
                  <a:srgbClr val="00355F"/>
                </a:solidFill>
                <a:latin typeface="Arial"/>
              </a:rPr>
              <a:t>No</a:t>
            </a:r>
          </a:p>
        </p:txBody>
      </p:sp>
      <p:sp xmlns:a="http://schemas.openxmlformats.org/drawingml/2006/main">
        <p:nvSpPr>
          <p:cNvPr id="35" name="Rectangle 34"/>
          <p:cNvSpPr/>
          <p:nvPr/>
        </p:nvSpPr>
        <p:spPr>
          <a:xfrm>
            <a:off x="1000125" y="5791200"/>
            <a:ext cx="5010150" cy="419100"/>
          </a:xfrm>
          <a:prstGeom prst="rect">
            <a:avLst/>
          </a:prstGeom>
          <a:solidFill>
            <a:srgbClr val="F4F9FD"/>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6" name="Connector 35"/>
          <p:cNvCxnSpPr/>
          <p:nvPr/>
        </p:nvCxnSpPr>
        <p:spPr>
          <a:xfrm>
            <a:off x="3857625" y="5791200"/>
            <a:ext cx="0" cy="419100"/>
          </a:xfrm>
          <a:prstGeom prst="line">
            <a:avLst/>
          </a:prstGeom>
          <a:ln w="5714">
            <a:solidFill>
              <a:srgbClr val="A5A5A5"/>
            </a:solidFill>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7" name="TextBox 36"/>
          <p:cNvSpPr txBox="1"/>
          <p:nvPr/>
        </p:nvSpPr>
        <p:spPr>
          <a:xfrm>
            <a:off x="2409825" y="5886450"/>
            <a:ext cx="10477500" cy="222885"/>
          </a:xfrm>
          <a:prstGeom prst="rect">
            <a:avLst/>
          </a:prstGeom>
          <a:noFill/>
        </p:spPr>
        <p:txBody>
          <a:bodyPr wrap="none" lIns="0" rIns="0" tIns="0" bIns="0" anchor="ctr">
            <a:spAutoFit/>
          </a:bodyPr>
          <a:lstStyle/>
          <a:p>
            <a:pPr algn="ctr"/>
            <a:r>
              <a:rPr sz="1350" b="0">
                <a:solidFill>
                  <a:srgbClr val="00355F"/>
                </a:solidFill>
                <a:latin typeface="Arial"/>
              </a:rPr>
              <a:t>Ab-006</a:t>
            </a:r>
          </a:p>
        </p:txBody>
      </p:sp>
      <p:sp xmlns:a="http://schemas.openxmlformats.org/drawingml/2006/main">
        <p:nvSpPr>
          <p:cNvPr id="38" name="TextBox 37"/>
          <p:cNvSpPr txBox="1"/>
          <p:nvPr/>
        </p:nvSpPr>
        <p:spPr>
          <a:xfrm>
            <a:off x="4914900" y="5886450"/>
            <a:ext cx="10477500" cy="222885"/>
          </a:xfrm>
          <a:prstGeom prst="rect">
            <a:avLst/>
          </a:prstGeom>
          <a:noFill/>
        </p:spPr>
        <p:txBody>
          <a:bodyPr wrap="none" lIns="0" rIns="0" tIns="0" bIns="0" anchor="ctr">
            <a:spAutoFit/>
          </a:bodyPr>
          <a:lstStyle/>
          <a:p>
            <a:pPr algn="ctr"/>
            <a:r>
              <a:rPr sz="1350" b="0">
                <a:solidFill>
                  <a:srgbClr val="00355F"/>
                </a:solidFill>
                <a:latin typeface="Arial"/>
              </a:rPr>
              <a:t>Yes</a:t>
            </a:r>
          </a:p>
        </p:txBody>
      </p:sp>
      <p:sp xmlns:a="http://schemas.openxmlformats.org/drawingml/2006/main">
        <p:nvSpPr>
          <p:cNvPr id="39" name="TextBox 38"/>
          <p:cNvSpPr txBox="1"/>
          <p:nvPr/>
        </p:nvSpPr>
        <p:spPr>
          <a:xfrm>
            <a:off x="981075" y="6276975"/>
            <a:ext cx="10477500" cy="210502"/>
          </a:xfrm>
          <a:prstGeom prst="rect">
            <a:avLst/>
          </a:prstGeom>
          <a:noFill/>
        </p:spPr>
        <p:txBody>
          <a:bodyPr wrap="none" lIns="0" rIns="0" tIns="0" bIns="0" anchor="ctr">
            <a:spAutoFit/>
          </a:bodyPr>
          <a:lstStyle/>
          <a:p>
            <a:pPr algn="l"/>
            <a:r>
              <a:rPr sz="1275" b="1">
                <a:solidFill>
                  <a:srgbClr val="00355F"/>
                </a:solidFill>
                <a:latin typeface="Arial"/>
              </a:rPr>
              <a:t>What the model learns: will it bind</a:t>
            </a:r>
          </a:p>
        </p:txBody>
      </p:sp>
      <p:sp xmlns:a="http://schemas.openxmlformats.org/drawingml/2006/main">
        <p:nvSpPr>
          <p:cNvPr id="40" name="TextBox 39"/>
          <p:cNvSpPr txBox="1"/>
          <p:nvPr/>
        </p:nvSpPr>
        <p:spPr>
          <a:xfrm>
            <a:off x="981075" y="6519862"/>
            <a:ext cx="10477500" cy="191929"/>
          </a:xfrm>
          <a:prstGeom prst="rect">
            <a:avLst/>
          </a:prstGeom>
          <a:noFill/>
        </p:spPr>
        <p:txBody>
          <a:bodyPr wrap="none" lIns="0" rIns="0" tIns="0" bIns="0" anchor="ctr">
            <a:spAutoFit/>
          </a:bodyPr>
          <a:lstStyle/>
          <a:p>
            <a:pPr algn="l"/>
            <a:r>
              <a:rPr sz="1162" b="0">
                <a:solidFill>
                  <a:srgbClr val="33475B"/>
                </a:solidFill>
                <a:latin typeface="Arial"/>
              </a:rPr>
              <a:t>Everything else — stability, potency, manufacturability — is a guess</a:t>
            </a:r>
          </a:p>
        </p:txBody>
      </p:sp>
      <p:sp xmlns:a="http://schemas.openxmlformats.org/drawingml/2006/main">
        <p:nvSpPr>
          <p:cNvPr id="41" name="Rounded Rectangle 40"/>
          <p:cNvSpPr/>
          <p:nvPr/>
        </p:nvSpPr>
        <p:spPr>
          <a:xfrm>
            <a:off x="6972300" y="2124075"/>
            <a:ext cx="10629900" cy="4714875"/>
          </a:xfrm>
          <a:prstGeom prst="roundRect">
            <a:avLst>
              <a:gd name="adj" fmla="val 5656"/>
            </a:avLst>
          </a:prstGeom>
          <a:solidFill>
            <a:srgbClr val="EEF6FC"/>
          </a:solidFill>
          <a:ln w="9525">
            <a:solidFill>
              <a:srgbClr val="739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267575" y="2286000"/>
            <a:ext cx="10477500" cy="309562"/>
          </a:xfrm>
          <a:prstGeom prst="rect">
            <a:avLst/>
          </a:prstGeom>
          <a:noFill/>
        </p:spPr>
        <p:txBody>
          <a:bodyPr wrap="none" lIns="0" rIns="0" tIns="0" bIns="0" anchor="ctr">
            <a:spAutoFit/>
          </a:bodyPr>
          <a:lstStyle/>
          <a:p>
            <a:pPr algn="l"/>
            <a:r>
              <a:rPr sz="1875" b="1">
                <a:solidFill>
                  <a:srgbClr val="00355F"/>
                </a:solidFill>
                <a:latin typeface="Arial"/>
              </a:rPr>
              <a:t>AI: richer, linked training data</a:t>
            </a:r>
          </a:p>
        </p:txBody>
      </p:sp>
      <p:sp xmlns:a="http://schemas.openxmlformats.org/drawingml/2006/main">
        <p:nvSpPr>
          <p:cNvPr id="43" name="TextBox 42"/>
          <p:cNvSpPr txBox="1"/>
          <p:nvPr/>
        </p:nvSpPr>
        <p:spPr>
          <a:xfrm>
            <a:off x="7267575" y="2600325"/>
            <a:ext cx="10477500" cy="371475"/>
          </a:xfrm>
          <a:prstGeom prst="rect">
            <a:avLst/>
          </a:prstGeom>
          <a:noFill/>
        </p:spPr>
        <p:txBody>
          <a:bodyPr wrap="none" lIns="0" rIns="0" tIns="0" bIns="0" anchor="ctr">
            <a:spAutoFit/>
          </a:bodyPr>
          <a:lstStyle/>
          <a:p>
            <a:pPr algn="l"/>
            <a:r>
              <a:rPr sz="2250" b="1">
                <a:solidFill>
                  <a:srgbClr val="00355F"/>
                </a:solidFill>
                <a:latin typeface="Arial"/>
              </a:rPr>
              <a:t>1,000 antibodies × 9 label types</a:t>
            </a:r>
          </a:p>
        </p:txBody>
      </p:sp>
      <p:sp xmlns:a="http://schemas.openxmlformats.org/drawingml/2006/main">
        <p:nvSpPr>
          <p:cNvPr id="44" name="TextBox 43"/>
          <p:cNvSpPr txBox="1"/>
          <p:nvPr/>
        </p:nvSpPr>
        <p:spPr>
          <a:xfrm>
            <a:off x="7267575" y="2962275"/>
            <a:ext cx="10477500" cy="247650"/>
          </a:xfrm>
          <a:prstGeom prst="rect">
            <a:avLst/>
          </a:prstGeom>
          <a:noFill/>
        </p:spPr>
        <p:txBody>
          <a:bodyPr wrap="none" lIns="0" rIns="0" tIns="0" bIns="0" anchor="ctr">
            <a:spAutoFit/>
          </a:bodyPr>
          <a:lstStyle/>
          <a:p>
            <a:pPr algn="l"/>
            <a:r>
              <a:rPr sz="1500" b="0">
                <a:solidFill>
                  <a:srgbClr val="00355F"/>
                </a:solidFill>
                <a:latin typeface="Arial"/>
              </a:rPr>
              <a:t>Same wet-lab campaign — nine measured properties per molecule</a:t>
            </a:r>
          </a:p>
        </p:txBody>
      </p:sp>
      <p:sp xmlns:a="http://schemas.openxmlformats.org/drawingml/2006/main">
        <p:nvSpPr>
          <p:cNvPr id="45" name="Rectangle 44"/>
          <p:cNvSpPr/>
          <p:nvPr/>
        </p:nvSpPr>
        <p:spPr>
          <a:xfrm>
            <a:off x="7286625" y="3333750"/>
            <a:ext cx="10001250" cy="361950"/>
          </a:xfrm>
          <a:prstGeom prst="rect">
            <a:avLst/>
          </a:prstGeom>
          <a:solidFill>
            <a:srgbClr val="003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7981950"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Antibody</a:t>
            </a:r>
          </a:p>
        </p:txBody>
      </p:sp>
      <p:sp xmlns:a="http://schemas.openxmlformats.org/drawingml/2006/main">
        <p:nvSpPr>
          <p:cNvPr id="47" name="TextBox 46"/>
          <p:cNvSpPr txBox="1"/>
          <p:nvPr/>
        </p:nvSpPr>
        <p:spPr>
          <a:xfrm>
            <a:off x="91725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KD</a:t>
            </a:r>
          </a:p>
        </p:txBody>
      </p:sp>
      <p:sp xmlns:a="http://schemas.openxmlformats.org/drawingml/2006/main">
        <p:nvSpPr>
          <p:cNvPr id="48" name="TextBox 47"/>
          <p:cNvSpPr txBox="1"/>
          <p:nvPr/>
        </p:nvSpPr>
        <p:spPr>
          <a:xfrm>
            <a:off x="101250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kon</a:t>
            </a:r>
          </a:p>
        </p:txBody>
      </p:sp>
      <p:sp xmlns:a="http://schemas.openxmlformats.org/drawingml/2006/main">
        <p:nvSpPr>
          <p:cNvPr id="49" name="TextBox 48"/>
          <p:cNvSpPr txBox="1"/>
          <p:nvPr/>
        </p:nvSpPr>
        <p:spPr>
          <a:xfrm>
            <a:off x="110775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koff</a:t>
            </a:r>
          </a:p>
        </p:txBody>
      </p:sp>
      <p:sp xmlns:a="http://schemas.openxmlformats.org/drawingml/2006/main">
        <p:nvSpPr>
          <p:cNvPr id="50" name="TextBox 49"/>
          <p:cNvSpPr txBox="1"/>
          <p:nvPr/>
        </p:nvSpPr>
        <p:spPr>
          <a:xfrm>
            <a:off x="120300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expr</a:t>
            </a:r>
          </a:p>
        </p:txBody>
      </p:sp>
      <p:sp xmlns:a="http://schemas.openxmlformats.org/drawingml/2006/main">
        <p:nvSpPr>
          <p:cNvPr id="51" name="TextBox 50"/>
          <p:cNvSpPr txBox="1"/>
          <p:nvPr/>
        </p:nvSpPr>
        <p:spPr>
          <a:xfrm>
            <a:off x="129825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Tm</a:t>
            </a:r>
          </a:p>
        </p:txBody>
      </p:sp>
      <p:sp xmlns:a="http://schemas.openxmlformats.org/drawingml/2006/main">
        <p:nvSpPr>
          <p:cNvPr id="52" name="TextBox 51"/>
          <p:cNvSpPr txBox="1"/>
          <p:nvPr/>
        </p:nvSpPr>
        <p:spPr>
          <a:xfrm>
            <a:off x="139350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agg</a:t>
            </a:r>
          </a:p>
        </p:txBody>
      </p:sp>
      <p:sp xmlns:a="http://schemas.openxmlformats.org/drawingml/2006/main">
        <p:nvSpPr>
          <p:cNvPr id="53" name="TextBox 52"/>
          <p:cNvSpPr txBox="1"/>
          <p:nvPr/>
        </p:nvSpPr>
        <p:spPr>
          <a:xfrm>
            <a:off x="148875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poly</a:t>
            </a:r>
          </a:p>
        </p:txBody>
      </p:sp>
      <p:sp xmlns:a="http://schemas.openxmlformats.org/drawingml/2006/main">
        <p:nvSpPr>
          <p:cNvPr id="54" name="TextBox 53"/>
          <p:cNvSpPr txBox="1"/>
          <p:nvPr/>
        </p:nvSpPr>
        <p:spPr>
          <a:xfrm>
            <a:off x="158400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epi</a:t>
            </a:r>
          </a:p>
        </p:txBody>
      </p:sp>
      <p:sp xmlns:a="http://schemas.openxmlformats.org/drawingml/2006/main">
        <p:nvSpPr>
          <p:cNvPr id="55" name="TextBox 54"/>
          <p:cNvSpPr txBox="1"/>
          <p:nvPr/>
        </p:nvSpPr>
        <p:spPr>
          <a:xfrm>
            <a:off x="16792575" y="3409950"/>
            <a:ext cx="10477500" cy="222885"/>
          </a:xfrm>
          <a:prstGeom prst="rect">
            <a:avLst/>
          </a:prstGeom>
          <a:noFill/>
        </p:spPr>
        <p:txBody>
          <a:bodyPr wrap="none" lIns="0" rIns="0" tIns="0" bIns="0" anchor="ctr">
            <a:spAutoFit/>
          </a:bodyPr>
          <a:lstStyle/>
          <a:p>
            <a:pPr algn="ctr"/>
            <a:r>
              <a:rPr sz="1350" b="1">
                <a:solidFill>
                  <a:srgbClr val="FFFFFF"/>
                </a:solidFill>
                <a:latin typeface="Arial"/>
              </a:rPr>
              <a:t>cell</a:t>
            </a:r>
          </a:p>
        </p:txBody>
      </p:sp>
      <p:sp xmlns:a="http://schemas.openxmlformats.org/drawingml/2006/main">
        <p:nvSpPr>
          <p:cNvPr id="56" name="Rectangle 55"/>
          <p:cNvSpPr/>
          <p:nvPr/>
        </p:nvSpPr>
        <p:spPr>
          <a:xfrm>
            <a:off x="7286625" y="3695700"/>
            <a:ext cx="1428750" cy="419100"/>
          </a:xfrm>
          <a:prstGeom prst="rect">
            <a:avLst/>
          </a:prstGeom>
          <a:solidFill>
            <a:srgbClr val="FFFFFF"/>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7981950" y="3790950"/>
            <a:ext cx="10477500" cy="222885"/>
          </a:xfrm>
          <a:prstGeom prst="rect">
            <a:avLst/>
          </a:prstGeom>
          <a:noFill/>
        </p:spPr>
        <p:txBody>
          <a:bodyPr wrap="none" lIns="0" rIns="0" tIns="0" bIns="0" anchor="ctr">
            <a:spAutoFit/>
          </a:bodyPr>
          <a:lstStyle/>
          <a:p>
            <a:pPr algn="ctr"/>
            <a:r>
              <a:rPr sz="1350" b="0">
                <a:solidFill>
                  <a:srgbClr val="00355F"/>
                </a:solidFill>
                <a:latin typeface="Arial"/>
              </a:rPr>
              <a:t>Ab-001</a:t>
            </a:r>
          </a:p>
        </p:txBody>
      </p:sp>
      <p:sp xmlns:a="http://schemas.openxmlformats.org/drawingml/2006/main">
        <p:nvSpPr>
          <p:cNvPr id="58" name="Rectangle 57"/>
          <p:cNvSpPr/>
          <p:nvPr/>
        </p:nvSpPr>
        <p:spPr>
          <a:xfrm>
            <a:off x="8715375" y="3695700"/>
            <a:ext cx="952500" cy="419100"/>
          </a:xfrm>
          <a:prstGeom prst="rect">
            <a:avLst/>
          </a:prstGeom>
          <a:solidFill>
            <a:srgbClr val="537D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9" name="TextBox 58"/>
          <p:cNvSpPr txBox="1"/>
          <p:nvPr/>
        </p:nvSpPr>
        <p:spPr>
          <a:xfrm>
            <a:off x="9172575" y="3810000"/>
            <a:ext cx="10477500" cy="198120"/>
          </a:xfrm>
          <a:prstGeom prst="rect">
            <a:avLst/>
          </a:prstGeom>
          <a:noFill/>
        </p:spPr>
        <p:txBody>
          <a:bodyPr wrap="none" lIns="0" rIns="0" tIns="0" bIns="0" anchor="ctr">
            <a:spAutoFit/>
          </a:bodyPr>
          <a:lstStyle/>
          <a:p>
            <a:pPr algn="ctr"/>
            <a:r>
              <a:rPr sz="1200" b="0">
                <a:solidFill>
                  <a:srgbClr val="FFFFFF"/>
                </a:solidFill>
                <a:latin typeface="Arial"/>
              </a:rPr>
              <a:t>0.82</a:t>
            </a:r>
          </a:p>
        </p:txBody>
      </p:sp>
      <p:sp xmlns:a="http://schemas.openxmlformats.org/drawingml/2006/main">
        <p:nvSpPr>
          <p:cNvPr id="60" name="Rectangle 59"/>
          <p:cNvSpPr/>
          <p:nvPr/>
        </p:nvSpPr>
        <p:spPr>
          <a:xfrm>
            <a:off x="9667875" y="3695700"/>
            <a:ext cx="952500" cy="419100"/>
          </a:xfrm>
          <a:prstGeom prst="rect">
            <a:avLst/>
          </a:prstGeom>
          <a:solidFill>
            <a:srgbClr val="88A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extBox 60"/>
          <p:cNvSpPr txBox="1"/>
          <p:nvPr/>
        </p:nvSpPr>
        <p:spPr>
          <a:xfrm>
            <a:off x="10125075" y="3810000"/>
            <a:ext cx="10477500" cy="198120"/>
          </a:xfrm>
          <a:prstGeom prst="rect">
            <a:avLst/>
          </a:prstGeom>
          <a:noFill/>
        </p:spPr>
        <p:txBody>
          <a:bodyPr wrap="none" lIns="0" rIns="0" tIns="0" bIns="0" anchor="ctr">
            <a:spAutoFit/>
          </a:bodyPr>
          <a:lstStyle/>
          <a:p>
            <a:pPr algn="ctr"/>
            <a:r>
              <a:rPr sz="1200" b="0">
                <a:solidFill>
                  <a:srgbClr val="FFFFFF"/>
                </a:solidFill>
                <a:latin typeface="Arial"/>
              </a:rPr>
              <a:t>0.64</a:t>
            </a:r>
          </a:p>
        </p:txBody>
      </p:sp>
      <p:sp xmlns:a="http://schemas.openxmlformats.org/drawingml/2006/main">
        <p:nvSpPr>
          <p:cNvPr id="62" name="Rectangle 61"/>
          <p:cNvSpPr/>
          <p:nvPr/>
        </p:nvSpPr>
        <p:spPr>
          <a:xfrm>
            <a:off x="10620375" y="3695700"/>
            <a:ext cx="952500" cy="419100"/>
          </a:xfrm>
          <a:prstGeom prst="rect">
            <a:avLst/>
          </a:prstGeom>
          <a:solidFill>
            <a:srgbClr val="7BA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3" name="TextBox 62"/>
          <p:cNvSpPr txBox="1"/>
          <p:nvPr/>
        </p:nvSpPr>
        <p:spPr>
          <a:xfrm>
            <a:off x="11077575" y="3810000"/>
            <a:ext cx="10477500" cy="198120"/>
          </a:xfrm>
          <a:prstGeom prst="rect">
            <a:avLst/>
          </a:prstGeom>
          <a:noFill/>
        </p:spPr>
        <p:txBody>
          <a:bodyPr wrap="none" lIns="0" rIns="0" tIns="0" bIns="0" anchor="ctr">
            <a:spAutoFit/>
          </a:bodyPr>
          <a:lstStyle/>
          <a:p>
            <a:pPr algn="ctr"/>
            <a:r>
              <a:rPr sz="1200" b="0">
                <a:solidFill>
                  <a:srgbClr val="FFFFFF"/>
                </a:solidFill>
                <a:latin typeface="Arial"/>
              </a:rPr>
              <a:t>0.71</a:t>
            </a:r>
          </a:p>
        </p:txBody>
      </p:sp>
      <p:sp xmlns:a="http://schemas.openxmlformats.org/drawingml/2006/main">
        <p:nvSpPr>
          <p:cNvPr id="64" name="Rectangle 63"/>
          <p:cNvSpPr/>
          <p:nvPr/>
        </p:nvSpPr>
        <p:spPr>
          <a:xfrm>
            <a:off x="11572875" y="3695700"/>
            <a:ext cx="952500" cy="419100"/>
          </a:xfrm>
          <a:prstGeom prst="rect">
            <a:avLst/>
          </a:prstGeom>
          <a:solidFill>
            <a:srgbClr val="99C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TextBox 64"/>
          <p:cNvSpPr txBox="1"/>
          <p:nvPr/>
        </p:nvSpPr>
        <p:spPr>
          <a:xfrm>
            <a:off x="12030075" y="3810000"/>
            <a:ext cx="10477500" cy="198120"/>
          </a:xfrm>
          <a:prstGeom prst="rect">
            <a:avLst/>
          </a:prstGeom>
          <a:noFill/>
        </p:spPr>
        <p:txBody>
          <a:bodyPr wrap="none" lIns="0" rIns="0" tIns="0" bIns="0" anchor="ctr">
            <a:spAutoFit/>
          </a:bodyPr>
          <a:lstStyle/>
          <a:p>
            <a:pPr algn="ctr"/>
            <a:r>
              <a:rPr sz="1200" b="0">
                <a:solidFill>
                  <a:srgbClr val="00355F"/>
                </a:solidFill>
                <a:latin typeface="Arial"/>
              </a:rPr>
              <a:t>0.55</a:t>
            </a:r>
          </a:p>
        </p:txBody>
      </p:sp>
      <p:sp xmlns:a="http://schemas.openxmlformats.org/drawingml/2006/main">
        <p:nvSpPr>
          <p:cNvPr id="66" name="Rectangle 65"/>
          <p:cNvSpPr/>
          <p:nvPr/>
        </p:nvSpPr>
        <p:spPr>
          <a:xfrm>
            <a:off x="12525375" y="3695700"/>
            <a:ext cx="952500" cy="419100"/>
          </a:xfrm>
          <a:prstGeom prst="rect">
            <a:avLst/>
          </a:prstGeom>
          <a:solidFill>
            <a:srgbClr val="A6C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7" name="TextBox 66"/>
          <p:cNvSpPr txBox="1"/>
          <p:nvPr/>
        </p:nvSpPr>
        <p:spPr>
          <a:xfrm>
            <a:off x="12982575" y="3810000"/>
            <a:ext cx="10477500" cy="198120"/>
          </a:xfrm>
          <a:prstGeom prst="rect">
            <a:avLst/>
          </a:prstGeom>
          <a:noFill/>
        </p:spPr>
        <p:txBody>
          <a:bodyPr wrap="none" lIns="0" rIns="0" tIns="0" bIns="0" anchor="ctr">
            <a:spAutoFit/>
          </a:bodyPr>
          <a:lstStyle/>
          <a:p>
            <a:pPr algn="ctr"/>
            <a:r>
              <a:rPr sz="1200" b="0">
                <a:solidFill>
                  <a:srgbClr val="00355F"/>
                </a:solidFill>
                <a:latin typeface="Arial"/>
              </a:rPr>
              <a:t>0.48</a:t>
            </a:r>
          </a:p>
        </p:txBody>
      </p:sp>
      <p:sp xmlns:a="http://schemas.openxmlformats.org/drawingml/2006/main">
        <p:nvSpPr>
          <p:cNvPr id="68" name="Rectangle 67"/>
          <p:cNvSpPr/>
          <p:nvPr/>
        </p:nvSpPr>
        <p:spPr>
          <a:xfrm>
            <a:off x="13477875" y="3695700"/>
            <a:ext cx="952500" cy="419100"/>
          </a:xfrm>
          <a:prstGeom prst="rect">
            <a:avLst/>
          </a:prstGeom>
          <a:solidFill>
            <a:srgbClr val="B5D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9" name="TextBox 68"/>
          <p:cNvSpPr txBox="1"/>
          <p:nvPr/>
        </p:nvSpPr>
        <p:spPr>
          <a:xfrm>
            <a:off x="13935075" y="3810000"/>
            <a:ext cx="10477500" cy="198120"/>
          </a:xfrm>
          <a:prstGeom prst="rect">
            <a:avLst/>
          </a:prstGeom>
          <a:noFill/>
        </p:spPr>
        <p:txBody>
          <a:bodyPr wrap="none" lIns="0" rIns="0" tIns="0" bIns="0" anchor="ctr">
            <a:spAutoFit/>
          </a:bodyPr>
          <a:lstStyle/>
          <a:p>
            <a:pPr algn="ctr"/>
            <a:r>
              <a:rPr sz="1200" b="0">
                <a:solidFill>
                  <a:srgbClr val="00355F"/>
                </a:solidFill>
                <a:latin typeface="Arial"/>
              </a:rPr>
              <a:t>0.39</a:t>
            </a:r>
          </a:p>
        </p:txBody>
      </p:sp>
      <p:sp xmlns:a="http://schemas.openxmlformats.org/drawingml/2006/main">
        <p:nvSpPr>
          <p:cNvPr id="70" name="Rectangle 69"/>
          <p:cNvSpPr/>
          <p:nvPr/>
        </p:nvSpPr>
        <p:spPr>
          <a:xfrm>
            <a:off x="14430375" y="3695700"/>
            <a:ext cx="952500" cy="419100"/>
          </a:xfrm>
          <a:prstGeom prst="rect">
            <a:avLst/>
          </a:prstGeom>
          <a:solidFill>
            <a:srgbClr val="C2D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1" name="TextBox 70"/>
          <p:cNvSpPr txBox="1"/>
          <p:nvPr/>
        </p:nvSpPr>
        <p:spPr>
          <a:xfrm>
            <a:off x="14887575" y="3810000"/>
            <a:ext cx="10477500" cy="198120"/>
          </a:xfrm>
          <a:prstGeom prst="rect">
            <a:avLst/>
          </a:prstGeom>
          <a:noFill/>
        </p:spPr>
        <p:txBody>
          <a:bodyPr wrap="none" lIns="0" rIns="0" tIns="0" bIns="0" anchor="ctr">
            <a:spAutoFit/>
          </a:bodyPr>
          <a:lstStyle/>
          <a:p>
            <a:pPr algn="ctr"/>
            <a:r>
              <a:rPr sz="1200" b="0">
                <a:solidFill>
                  <a:srgbClr val="00355F"/>
                </a:solidFill>
                <a:latin typeface="Arial"/>
              </a:rPr>
              <a:t>0.30</a:t>
            </a:r>
          </a:p>
        </p:txBody>
      </p:sp>
      <p:sp xmlns:a="http://schemas.openxmlformats.org/drawingml/2006/main">
        <p:nvSpPr>
          <p:cNvPr id="72" name="Rectangle 71"/>
          <p:cNvSpPr/>
          <p:nvPr/>
        </p:nvSpPr>
        <p:spPr>
          <a:xfrm>
            <a:off x="15382875" y="3695700"/>
            <a:ext cx="952500" cy="419100"/>
          </a:xfrm>
          <a:prstGeom prst="rect">
            <a:avLst/>
          </a:prstGeom>
          <a:solidFill>
            <a:srgbClr val="93B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3" name="TextBox 72"/>
          <p:cNvSpPr txBox="1"/>
          <p:nvPr/>
        </p:nvSpPr>
        <p:spPr>
          <a:xfrm>
            <a:off x="15840075" y="3810000"/>
            <a:ext cx="10477500" cy="198120"/>
          </a:xfrm>
          <a:prstGeom prst="rect">
            <a:avLst/>
          </a:prstGeom>
          <a:noFill/>
        </p:spPr>
        <p:txBody>
          <a:bodyPr wrap="none" lIns="0" rIns="0" tIns="0" bIns="0" anchor="ctr">
            <a:spAutoFit/>
          </a:bodyPr>
          <a:lstStyle/>
          <a:p>
            <a:pPr algn="ctr"/>
            <a:r>
              <a:rPr sz="1200" b="0">
                <a:solidFill>
                  <a:srgbClr val="00355F"/>
                </a:solidFill>
                <a:latin typeface="Arial"/>
              </a:rPr>
              <a:t>0.58</a:t>
            </a:r>
          </a:p>
        </p:txBody>
      </p:sp>
      <p:sp xmlns:a="http://schemas.openxmlformats.org/drawingml/2006/main">
        <p:nvSpPr>
          <p:cNvPr id="74" name="Rectangle 73"/>
          <p:cNvSpPr/>
          <p:nvPr/>
        </p:nvSpPr>
        <p:spPr>
          <a:xfrm>
            <a:off x="16335375" y="3695700"/>
            <a:ext cx="952500" cy="419100"/>
          </a:xfrm>
          <a:prstGeom prst="rect">
            <a:avLst/>
          </a:prstGeom>
          <a:solidFill>
            <a:srgbClr val="ADD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5" name="TextBox 74"/>
          <p:cNvSpPr txBox="1"/>
          <p:nvPr/>
        </p:nvSpPr>
        <p:spPr>
          <a:xfrm>
            <a:off x="16792575" y="3810000"/>
            <a:ext cx="10477500" cy="198120"/>
          </a:xfrm>
          <a:prstGeom prst="rect">
            <a:avLst/>
          </a:prstGeom>
          <a:noFill/>
        </p:spPr>
        <p:txBody>
          <a:bodyPr wrap="none" lIns="0" rIns="0" tIns="0" bIns="0" anchor="ctr">
            <a:spAutoFit/>
          </a:bodyPr>
          <a:lstStyle/>
          <a:p>
            <a:pPr algn="ctr"/>
            <a:r>
              <a:rPr sz="1200" b="0">
                <a:solidFill>
                  <a:srgbClr val="00355F"/>
                </a:solidFill>
                <a:latin typeface="Arial"/>
              </a:rPr>
              <a:t>0.44</a:t>
            </a:r>
          </a:p>
        </p:txBody>
      </p:sp>
      <p:sp xmlns:a="http://schemas.openxmlformats.org/drawingml/2006/main">
        <p:nvSpPr>
          <p:cNvPr id="76" name="Rectangle 75"/>
          <p:cNvSpPr/>
          <p:nvPr/>
        </p:nvSpPr>
        <p:spPr>
          <a:xfrm>
            <a:off x="7286625" y="4114800"/>
            <a:ext cx="1428750" cy="419100"/>
          </a:xfrm>
          <a:prstGeom prst="rect">
            <a:avLst/>
          </a:prstGeom>
          <a:solidFill>
            <a:srgbClr val="EEF6FC"/>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7" name="TextBox 76"/>
          <p:cNvSpPr txBox="1"/>
          <p:nvPr/>
        </p:nvSpPr>
        <p:spPr>
          <a:xfrm>
            <a:off x="7981950" y="4210050"/>
            <a:ext cx="10477500" cy="222885"/>
          </a:xfrm>
          <a:prstGeom prst="rect">
            <a:avLst/>
          </a:prstGeom>
          <a:noFill/>
        </p:spPr>
        <p:txBody>
          <a:bodyPr wrap="none" lIns="0" rIns="0" tIns="0" bIns="0" anchor="ctr">
            <a:spAutoFit/>
          </a:bodyPr>
          <a:lstStyle/>
          <a:p>
            <a:pPr algn="ctr"/>
            <a:r>
              <a:rPr sz="1350" b="0">
                <a:solidFill>
                  <a:srgbClr val="00355F"/>
                </a:solidFill>
                <a:latin typeface="Arial"/>
              </a:rPr>
              <a:t>Ab-002</a:t>
            </a:r>
          </a:p>
        </p:txBody>
      </p:sp>
      <p:sp xmlns:a="http://schemas.openxmlformats.org/drawingml/2006/main">
        <p:nvSpPr>
          <p:cNvPr id="78" name="Rectangle 77"/>
          <p:cNvSpPr/>
          <p:nvPr/>
        </p:nvSpPr>
        <p:spPr>
          <a:xfrm>
            <a:off x="8715375" y="4114800"/>
            <a:ext cx="952500" cy="419100"/>
          </a:xfrm>
          <a:prstGeom prst="rect">
            <a:avLst/>
          </a:prstGeom>
          <a:solidFill>
            <a:srgbClr val="BBD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9" name="TextBox 78"/>
          <p:cNvSpPr txBox="1"/>
          <p:nvPr/>
        </p:nvSpPr>
        <p:spPr>
          <a:xfrm>
            <a:off x="9172575" y="4229100"/>
            <a:ext cx="10477500" cy="198120"/>
          </a:xfrm>
          <a:prstGeom prst="rect">
            <a:avLst/>
          </a:prstGeom>
          <a:noFill/>
        </p:spPr>
        <p:txBody>
          <a:bodyPr wrap="none" lIns="0" rIns="0" tIns="0" bIns="0" anchor="ctr">
            <a:spAutoFit/>
          </a:bodyPr>
          <a:lstStyle/>
          <a:p>
            <a:pPr algn="ctr"/>
            <a:r>
              <a:rPr sz="1200" b="0">
                <a:solidFill>
                  <a:srgbClr val="00355F"/>
                </a:solidFill>
                <a:latin typeface="Arial"/>
              </a:rPr>
              <a:t>0.35</a:t>
            </a:r>
          </a:p>
        </p:txBody>
      </p:sp>
      <p:sp xmlns:a="http://schemas.openxmlformats.org/drawingml/2006/main">
        <p:nvSpPr>
          <p:cNvPr id="80" name="Rectangle 79"/>
          <p:cNvSpPr/>
          <p:nvPr/>
        </p:nvSpPr>
        <p:spPr>
          <a:xfrm>
            <a:off x="9667875" y="4114800"/>
            <a:ext cx="952500" cy="419100"/>
          </a:xfrm>
          <a:prstGeom prst="rect">
            <a:avLst/>
          </a:prstGeom>
          <a:solidFill>
            <a:srgbClr val="C5E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1" name="TextBox 80"/>
          <p:cNvSpPr txBox="1"/>
          <p:nvPr/>
        </p:nvSpPr>
        <p:spPr>
          <a:xfrm>
            <a:off x="10125075" y="4229100"/>
            <a:ext cx="10477500" cy="198120"/>
          </a:xfrm>
          <a:prstGeom prst="rect">
            <a:avLst/>
          </a:prstGeom>
          <a:noFill/>
        </p:spPr>
        <p:txBody>
          <a:bodyPr wrap="none" lIns="0" rIns="0" tIns="0" bIns="0" anchor="ctr">
            <a:spAutoFit/>
          </a:bodyPr>
          <a:lstStyle/>
          <a:p>
            <a:pPr algn="ctr"/>
            <a:r>
              <a:rPr sz="1200" b="0">
                <a:solidFill>
                  <a:srgbClr val="00355F"/>
                </a:solidFill>
                <a:latin typeface="Arial"/>
              </a:rPr>
              <a:t>0.28</a:t>
            </a:r>
          </a:p>
        </p:txBody>
      </p:sp>
      <p:sp xmlns:a="http://schemas.openxmlformats.org/drawingml/2006/main">
        <p:nvSpPr>
          <p:cNvPr id="82" name="Rectangle 81"/>
          <p:cNvSpPr/>
          <p:nvPr/>
        </p:nvSpPr>
        <p:spPr>
          <a:xfrm>
            <a:off x="10620375" y="4114800"/>
            <a:ext cx="952500" cy="419100"/>
          </a:xfrm>
          <a:prstGeom prst="rect">
            <a:avLst/>
          </a:prstGeom>
          <a:solidFill>
            <a:srgbClr val="B2D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3" name="TextBox 82"/>
          <p:cNvSpPr txBox="1"/>
          <p:nvPr/>
        </p:nvSpPr>
        <p:spPr>
          <a:xfrm>
            <a:off x="11077575" y="4229100"/>
            <a:ext cx="10477500" cy="198120"/>
          </a:xfrm>
          <a:prstGeom prst="rect">
            <a:avLst/>
          </a:prstGeom>
          <a:noFill/>
        </p:spPr>
        <p:txBody>
          <a:bodyPr wrap="none" lIns="0" rIns="0" tIns="0" bIns="0" anchor="ctr">
            <a:spAutoFit/>
          </a:bodyPr>
          <a:lstStyle/>
          <a:p>
            <a:pPr algn="ctr"/>
            <a:r>
              <a:rPr sz="1200" b="0">
                <a:solidFill>
                  <a:srgbClr val="00355F"/>
                </a:solidFill>
                <a:latin typeface="Arial"/>
              </a:rPr>
              <a:t>0.41</a:t>
            </a:r>
          </a:p>
        </p:txBody>
      </p:sp>
      <p:sp xmlns:a="http://schemas.openxmlformats.org/drawingml/2006/main">
        <p:nvSpPr>
          <p:cNvPr id="84" name="Rectangle 83"/>
          <p:cNvSpPr/>
          <p:nvPr/>
        </p:nvSpPr>
        <p:spPr>
          <a:xfrm>
            <a:off x="11572875" y="4114800"/>
            <a:ext cx="952500" cy="419100"/>
          </a:xfrm>
          <a:prstGeom prst="rect">
            <a:avLst/>
          </a:prstGeom>
          <a:solidFill>
            <a:srgbClr val="CEE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5" name="TextBox 84"/>
          <p:cNvSpPr txBox="1"/>
          <p:nvPr/>
        </p:nvSpPr>
        <p:spPr>
          <a:xfrm>
            <a:off x="12030075" y="4229100"/>
            <a:ext cx="10477500" cy="198120"/>
          </a:xfrm>
          <a:prstGeom prst="rect">
            <a:avLst/>
          </a:prstGeom>
          <a:noFill/>
        </p:spPr>
        <p:txBody>
          <a:bodyPr wrap="none" lIns="0" rIns="0" tIns="0" bIns="0" anchor="ctr">
            <a:spAutoFit/>
          </a:bodyPr>
          <a:lstStyle/>
          <a:p>
            <a:pPr algn="ctr"/>
            <a:r>
              <a:rPr sz="1200" b="0">
                <a:solidFill>
                  <a:srgbClr val="00355F"/>
                </a:solidFill>
                <a:latin typeface="Arial"/>
              </a:rPr>
              <a:t>0.22</a:t>
            </a:r>
          </a:p>
        </p:txBody>
      </p:sp>
      <p:sp xmlns:a="http://schemas.openxmlformats.org/drawingml/2006/main">
        <p:nvSpPr>
          <p:cNvPr id="86" name="Rectangle 85"/>
          <p:cNvSpPr/>
          <p:nvPr/>
        </p:nvSpPr>
        <p:spPr>
          <a:xfrm>
            <a:off x="12525375" y="4114800"/>
            <a:ext cx="952500" cy="419100"/>
          </a:xfrm>
          <a:prstGeom prst="rect">
            <a:avLst/>
          </a:prstGeom>
          <a:solidFill>
            <a:srgbClr val="8EB5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7" name="TextBox 86"/>
          <p:cNvSpPr txBox="1"/>
          <p:nvPr/>
        </p:nvSpPr>
        <p:spPr>
          <a:xfrm>
            <a:off x="12982575" y="4229100"/>
            <a:ext cx="10477500" cy="198120"/>
          </a:xfrm>
          <a:prstGeom prst="rect">
            <a:avLst/>
          </a:prstGeom>
          <a:noFill/>
        </p:spPr>
        <p:txBody>
          <a:bodyPr wrap="none" lIns="0" rIns="0" tIns="0" bIns="0" anchor="ctr">
            <a:spAutoFit/>
          </a:bodyPr>
          <a:lstStyle/>
          <a:p>
            <a:pPr algn="ctr"/>
            <a:r>
              <a:rPr sz="1200" b="0">
                <a:solidFill>
                  <a:srgbClr val="00355F"/>
                </a:solidFill>
                <a:latin typeface="Arial"/>
              </a:rPr>
              <a:t>0.61</a:t>
            </a:r>
          </a:p>
        </p:txBody>
      </p:sp>
      <p:sp xmlns:a="http://schemas.openxmlformats.org/drawingml/2006/main">
        <p:nvSpPr>
          <p:cNvPr id="88" name="Rectangle 87"/>
          <p:cNvSpPr/>
          <p:nvPr/>
        </p:nvSpPr>
        <p:spPr>
          <a:xfrm>
            <a:off x="13477875" y="4114800"/>
            <a:ext cx="952500" cy="419100"/>
          </a:xfrm>
          <a:prstGeom prst="rect">
            <a:avLst/>
          </a:prstGeom>
          <a:solidFill>
            <a:srgbClr val="9FC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9" name="TextBox 88"/>
          <p:cNvSpPr txBox="1"/>
          <p:nvPr/>
        </p:nvSpPr>
        <p:spPr>
          <a:xfrm>
            <a:off x="13935075" y="4229100"/>
            <a:ext cx="10477500" cy="198120"/>
          </a:xfrm>
          <a:prstGeom prst="rect">
            <a:avLst/>
          </a:prstGeom>
          <a:noFill/>
        </p:spPr>
        <p:txBody>
          <a:bodyPr wrap="none" lIns="0" rIns="0" tIns="0" bIns="0" anchor="ctr">
            <a:spAutoFit/>
          </a:bodyPr>
          <a:lstStyle/>
          <a:p>
            <a:pPr algn="ctr"/>
            <a:r>
              <a:rPr sz="1200" b="0">
                <a:solidFill>
                  <a:srgbClr val="00355F"/>
                </a:solidFill>
                <a:latin typeface="Arial"/>
              </a:rPr>
              <a:t>0.52</a:t>
            </a:r>
          </a:p>
        </p:txBody>
      </p:sp>
      <p:sp xmlns:a="http://schemas.openxmlformats.org/drawingml/2006/main">
        <p:nvSpPr>
          <p:cNvPr id="90" name="Rectangle 89"/>
          <p:cNvSpPr/>
          <p:nvPr/>
        </p:nvSpPr>
        <p:spPr>
          <a:xfrm>
            <a:off x="14430375" y="4114800"/>
            <a:ext cx="952500" cy="419100"/>
          </a:xfrm>
          <a:prstGeom prst="rect">
            <a:avLst/>
          </a:prstGeom>
          <a:solidFill>
            <a:srgbClr val="ADD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1" name="TextBox 90"/>
          <p:cNvSpPr txBox="1"/>
          <p:nvPr/>
        </p:nvSpPr>
        <p:spPr>
          <a:xfrm>
            <a:off x="14887575" y="4229100"/>
            <a:ext cx="10477500" cy="198120"/>
          </a:xfrm>
          <a:prstGeom prst="rect">
            <a:avLst/>
          </a:prstGeom>
          <a:noFill/>
        </p:spPr>
        <p:txBody>
          <a:bodyPr wrap="none" lIns="0" rIns="0" tIns="0" bIns="0" anchor="ctr">
            <a:spAutoFit/>
          </a:bodyPr>
          <a:lstStyle/>
          <a:p>
            <a:pPr algn="ctr"/>
            <a:r>
              <a:rPr sz="1200" b="0">
                <a:solidFill>
                  <a:srgbClr val="00355F"/>
                </a:solidFill>
                <a:latin typeface="Arial"/>
              </a:rPr>
              <a:t>0.44</a:t>
            </a:r>
          </a:p>
        </p:txBody>
      </p:sp>
      <p:sp xmlns:a="http://schemas.openxmlformats.org/drawingml/2006/main">
        <p:nvSpPr>
          <p:cNvPr id="92" name="Rectangle 91"/>
          <p:cNvSpPr/>
          <p:nvPr/>
        </p:nvSpPr>
        <p:spPr>
          <a:xfrm>
            <a:off x="15382875" y="4114800"/>
            <a:ext cx="952500" cy="419100"/>
          </a:xfrm>
          <a:prstGeom prst="rect">
            <a:avLst/>
          </a:prstGeom>
          <a:solidFill>
            <a:srgbClr val="FFFFFF"/>
          </a:solidFill>
          <a:ln w="762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3" name="TextBox 92"/>
          <p:cNvSpPr txBox="1"/>
          <p:nvPr/>
        </p:nvSpPr>
        <p:spPr>
          <a:xfrm>
            <a:off x="15840075" y="4219575"/>
            <a:ext cx="10477500" cy="210502"/>
          </a:xfrm>
          <a:prstGeom prst="rect">
            <a:avLst/>
          </a:prstGeom>
          <a:noFill/>
        </p:spPr>
        <p:txBody>
          <a:bodyPr wrap="none" lIns="0" rIns="0" tIns="0" bIns="0" anchor="ctr">
            <a:spAutoFit/>
          </a:bodyPr>
          <a:lstStyle/>
          <a:p>
            <a:pPr algn="ctr"/>
            <a:r>
              <a:rPr sz="1275" b="0">
                <a:solidFill>
                  <a:srgbClr val="A5A5A5"/>
                </a:solidFill>
                <a:latin typeface="Arial"/>
              </a:rPr>
              <a:t>—</a:t>
            </a:r>
          </a:p>
        </p:txBody>
      </p:sp>
      <p:sp xmlns:a="http://schemas.openxmlformats.org/drawingml/2006/main">
        <p:nvSpPr>
          <p:cNvPr id="94" name="Rectangle 93"/>
          <p:cNvSpPr/>
          <p:nvPr/>
        </p:nvSpPr>
        <p:spPr>
          <a:xfrm>
            <a:off x="16335375" y="4114800"/>
            <a:ext cx="952500" cy="419100"/>
          </a:xfrm>
          <a:prstGeom prst="rect">
            <a:avLst/>
          </a:prstGeom>
          <a:solidFill>
            <a:srgbClr val="D4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5" name="TextBox 94"/>
          <p:cNvSpPr txBox="1"/>
          <p:nvPr/>
        </p:nvSpPr>
        <p:spPr>
          <a:xfrm>
            <a:off x="16792575" y="4229100"/>
            <a:ext cx="10477500" cy="198120"/>
          </a:xfrm>
          <a:prstGeom prst="rect">
            <a:avLst/>
          </a:prstGeom>
          <a:noFill/>
        </p:spPr>
        <p:txBody>
          <a:bodyPr wrap="none" lIns="0" rIns="0" tIns="0" bIns="0" anchor="ctr">
            <a:spAutoFit/>
          </a:bodyPr>
          <a:lstStyle/>
          <a:p>
            <a:pPr algn="ctr"/>
            <a:r>
              <a:rPr sz="1200" b="0">
                <a:solidFill>
                  <a:srgbClr val="00355F"/>
                </a:solidFill>
                <a:latin typeface="Arial"/>
              </a:rPr>
              <a:t>0.18</a:t>
            </a:r>
          </a:p>
        </p:txBody>
      </p:sp>
      <p:sp xmlns:a="http://schemas.openxmlformats.org/drawingml/2006/main">
        <p:nvSpPr>
          <p:cNvPr id="96" name="Rectangle 95"/>
          <p:cNvSpPr/>
          <p:nvPr/>
        </p:nvSpPr>
        <p:spPr>
          <a:xfrm>
            <a:off x="7286625" y="4533900"/>
            <a:ext cx="1428750" cy="419100"/>
          </a:xfrm>
          <a:prstGeom prst="rect">
            <a:avLst/>
          </a:prstGeom>
          <a:solidFill>
            <a:srgbClr val="FFFFFF"/>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7" name="TextBox 96"/>
          <p:cNvSpPr txBox="1"/>
          <p:nvPr/>
        </p:nvSpPr>
        <p:spPr>
          <a:xfrm>
            <a:off x="7981950" y="4629150"/>
            <a:ext cx="10477500" cy="222885"/>
          </a:xfrm>
          <a:prstGeom prst="rect">
            <a:avLst/>
          </a:prstGeom>
          <a:noFill/>
        </p:spPr>
        <p:txBody>
          <a:bodyPr wrap="none" lIns="0" rIns="0" tIns="0" bIns="0" anchor="ctr">
            <a:spAutoFit/>
          </a:bodyPr>
          <a:lstStyle/>
          <a:p>
            <a:pPr algn="ctr"/>
            <a:r>
              <a:rPr sz="1350" b="0">
                <a:solidFill>
                  <a:srgbClr val="00355F"/>
                </a:solidFill>
                <a:latin typeface="Arial"/>
              </a:rPr>
              <a:t>Ab-003</a:t>
            </a:r>
          </a:p>
        </p:txBody>
      </p:sp>
      <p:sp xmlns:a="http://schemas.openxmlformats.org/drawingml/2006/main">
        <p:nvSpPr>
          <p:cNvPr id="98" name="Rectangle 97"/>
          <p:cNvSpPr/>
          <p:nvPr/>
        </p:nvSpPr>
        <p:spPr>
          <a:xfrm>
            <a:off x="8715375" y="4533900"/>
            <a:ext cx="952500" cy="419100"/>
          </a:xfrm>
          <a:prstGeom prst="rect">
            <a:avLst/>
          </a:prstGeom>
          <a:solidFill>
            <a:srgbClr val="80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9" name="TextBox 98"/>
          <p:cNvSpPr txBox="1"/>
          <p:nvPr/>
        </p:nvSpPr>
        <p:spPr>
          <a:xfrm>
            <a:off x="9172575" y="4648200"/>
            <a:ext cx="10477500" cy="198120"/>
          </a:xfrm>
          <a:prstGeom prst="rect">
            <a:avLst/>
          </a:prstGeom>
          <a:noFill/>
        </p:spPr>
        <p:txBody>
          <a:bodyPr wrap="none" lIns="0" rIns="0" tIns="0" bIns="0" anchor="ctr">
            <a:spAutoFit/>
          </a:bodyPr>
          <a:lstStyle/>
          <a:p>
            <a:pPr algn="ctr"/>
            <a:r>
              <a:rPr sz="1200" b="0">
                <a:solidFill>
                  <a:srgbClr val="FFFFFF"/>
                </a:solidFill>
                <a:latin typeface="Arial"/>
              </a:rPr>
              <a:t>0.68</a:t>
            </a:r>
          </a:p>
        </p:txBody>
      </p:sp>
      <p:sp xmlns:a="http://schemas.openxmlformats.org/drawingml/2006/main">
        <p:nvSpPr>
          <p:cNvPr id="100" name="Rectangle 99"/>
          <p:cNvSpPr/>
          <p:nvPr/>
        </p:nvSpPr>
        <p:spPr>
          <a:xfrm>
            <a:off x="9667875" y="4533900"/>
            <a:ext cx="952500" cy="419100"/>
          </a:xfrm>
          <a:prstGeom prst="rect">
            <a:avLst/>
          </a:prstGeom>
          <a:solidFill>
            <a:srgbClr val="7399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1" name="TextBox 100"/>
          <p:cNvSpPr txBox="1"/>
          <p:nvPr/>
        </p:nvSpPr>
        <p:spPr>
          <a:xfrm>
            <a:off x="10125075" y="4648200"/>
            <a:ext cx="10477500" cy="198120"/>
          </a:xfrm>
          <a:prstGeom prst="rect">
            <a:avLst/>
          </a:prstGeom>
          <a:noFill/>
        </p:spPr>
        <p:txBody>
          <a:bodyPr wrap="none" lIns="0" rIns="0" tIns="0" bIns="0" anchor="ctr">
            <a:spAutoFit/>
          </a:bodyPr>
          <a:lstStyle/>
          <a:p>
            <a:pPr algn="ctr"/>
            <a:r>
              <a:rPr sz="1200" b="0">
                <a:solidFill>
                  <a:srgbClr val="FFFFFF"/>
                </a:solidFill>
                <a:latin typeface="Arial"/>
              </a:rPr>
              <a:t>0.75</a:t>
            </a:r>
          </a:p>
        </p:txBody>
      </p:sp>
      <p:sp xmlns:a="http://schemas.openxmlformats.org/drawingml/2006/main">
        <p:nvSpPr>
          <p:cNvPr id="102" name="Rectangle 101"/>
          <p:cNvSpPr/>
          <p:nvPr/>
        </p:nvSpPr>
        <p:spPr>
          <a:xfrm>
            <a:off x="10620375" y="4533900"/>
            <a:ext cx="952500" cy="419100"/>
          </a:xfrm>
          <a:prstGeom prst="rect">
            <a:avLst/>
          </a:prstGeom>
          <a:solidFill>
            <a:srgbClr val="91B8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3" name="TextBox 102"/>
          <p:cNvSpPr txBox="1"/>
          <p:nvPr/>
        </p:nvSpPr>
        <p:spPr>
          <a:xfrm>
            <a:off x="11077575" y="4648200"/>
            <a:ext cx="10477500" cy="198120"/>
          </a:xfrm>
          <a:prstGeom prst="rect">
            <a:avLst/>
          </a:prstGeom>
          <a:noFill/>
        </p:spPr>
        <p:txBody>
          <a:bodyPr wrap="none" lIns="0" rIns="0" tIns="0" bIns="0" anchor="ctr">
            <a:spAutoFit/>
          </a:bodyPr>
          <a:lstStyle/>
          <a:p>
            <a:pPr algn="ctr"/>
            <a:r>
              <a:rPr sz="1200" b="0">
                <a:solidFill>
                  <a:srgbClr val="00355F"/>
                </a:solidFill>
                <a:latin typeface="Arial"/>
              </a:rPr>
              <a:t>0.59</a:t>
            </a:r>
          </a:p>
        </p:txBody>
      </p:sp>
      <p:sp xmlns:a="http://schemas.openxmlformats.org/drawingml/2006/main">
        <p:nvSpPr>
          <p:cNvPr id="104" name="Rectangle 103"/>
          <p:cNvSpPr/>
          <p:nvPr/>
        </p:nvSpPr>
        <p:spPr>
          <a:xfrm>
            <a:off x="11572875" y="4533900"/>
            <a:ext cx="952500" cy="419100"/>
          </a:xfrm>
          <a:prstGeom prst="rect">
            <a:avLst/>
          </a:prstGeom>
          <a:solidFill>
            <a:srgbClr val="A8D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5" name="TextBox 104"/>
          <p:cNvSpPr txBox="1"/>
          <p:nvPr/>
        </p:nvSpPr>
        <p:spPr>
          <a:xfrm>
            <a:off x="12030075" y="4648200"/>
            <a:ext cx="10477500" cy="198120"/>
          </a:xfrm>
          <a:prstGeom prst="rect">
            <a:avLst/>
          </a:prstGeom>
          <a:noFill/>
        </p:spPr>
        <p:txBody>
          <a:bodyPr wrap="none" lIns="0" rIns="0" tIns="0" bIns="0" anchor="ctr">
            <a:spAutoFit/>
          </a:bodyPr>
          <a:lstStyle/>
          <a:p>
            <a:pPr algn="ctr"/>
            <a:r>
              <a:rPr sz="1200" b="0">
                <a:solidFill>
                  <a:srgbClr val="00355F"/>
                </a:solidFill>
                <a:latin typeface="Arial"/>
              </a:rPr>
              <a:t>0.47</a:t>
            </a:r>
          </a:p>
        </p:txBody>
      </p:sp>
      <p:sp xmlns:a="http://schemas.openxmlformats.org/drawingml/2006/main">
        <p:nvSpPr>
          <p:cNvPr id="106" name="Rectangle 105"/>
          <p:cNvSpPr/>
          <p:nvPr/>
        </p:nvSpPr>
        <p:spPr>
          <a:xfrm>
            <a:off x="12525375" y="4533900"/>
            <a:ext cx="952500" cy="419100"/>
          </a:xfrm>
          <a:prstGeom prst="rect">
            <a:avLst/>
          </a:prstGeom>
          <a:solidFill>
            <a:srgbClr val="BE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7" name="TextBox 106"/>
          <p:cNvSpPr txBox="1"/>
          <p:nvPr/>
        </p:nvSpPr>
        <p:spPr>
          <a:xfrm>
            <a:off x="12982575" y="4648200"/>
            <a:ext cx="10477500" cy="198120"/>
          </a:xfrm>
          <a:prstGeom prst="rect">
            <a:avLst/>
          </a:prstGeom>
          <a:noFill/>
        </p:spPr>
        <p:txBody>
          <a:bodyPr wrap="none" lIns="0" rIns="0" tIns="0" bIns="0" anchor="ctr">
            <a:spAutoFit/>
          </a:bodyPr>
          <a:lstStyle/>
          <a:p>
            <a:pPr algn="ctr"/>
            <a:r>
              <a:rPr sz="1200" b="0">
                <a:solidFill>
                  <a:srgbClr val="00355F"/>
                </a:solidFill>
                <a:latin typeface="Arial"/>
              </a:rPr>
              <a:t>0.33</a:t>
            </a:r>
          </a:p>
        </p:txBody>
      </p:sp>
      <p:sp xmlns:a="http://schemas.openxmlformats.org/drawingml/2006/main">
        <p:nvSpPr>
          <p:cNvPr id="108" name="Rectangle 107"/>
          <p:cNvSpPr/>
          <p:nvPr/>
        </p:nvSpPr>
        <p:spPr>
          <a:xfrm>
            <a:off x="13477875" y="4533900"/>
            <a:ext cx="952500" cy="419100"/>
          </a:xfrm>
          <a:prstGeom prst="rect">
            <a:avLst/>
          </a:prstGeom>
          <a:solidFill>
            <a:srgbClr val="C5E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9" name="TextBox 108"/>
          <p:cNvSpPr txBox="1"/>
          <p:nvPr/>
        </p:nvSpPr>
        <p:spPr>
          <a:xfrm>
            <a:off x="13935075" y="4648200"/>
            <a:ext cx="10477500" cy="198120"/>
          </a:xfrm>
          <a:prstGeom prst="rect">
            <a:avLst/>
          </a:prstGeom>
          <a:noFill/>
        </p:spPr>
        <p:txBody>
          <a:bodyPr wrap="none" lIns="0" rIns="0" tIns="0" bIns="0" anchor="ctr">
            <a:spAutoFit/>
          </a:bodyPr>
          <a:lstStyle/>
          <a:p>
            <a:pPr algn="ctr"/>
            <a:r>
              <a:rPr sz="1200" b="0">
                <a:solidFill>
                  <a:srgbClr val="00355F"/>
                </a:solidFill>
                <a:latin typeface="Arial"/>
              </a:rPr>
              <a:t>0.28</a:t>
            </a:r>
          </a:p>
        </p:txBody>
      </p:sp>
      <p:sp xmlns:a="http://schemas.openxmlformats.org/drawingml/2006/main">
        <p:nvSpPr>
          <p:cNvPr id="110" name="Rectangle 109"/>
          <p:cNvSpPr/>
          <p:nvPr/>
        </p:nvSpPr>
        <p:spPr>
          <a:xfrm>
            <a:off x="14430375" y="4533900"/>
            <a:ext cx="952500" cy="419100"/>
          </a:xfrm>
          <a:prstGeom prst="rect">
            <a:avLst/>
          </a:prstGeom>
          <a:solidFill>
            <a:srgbClr val="8CB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1" name="TextBox 110"/>
          <p:cNvSpPr txBox="1"/>
          <p:nvPr/>
        </p:nvSpPr>
        <p:spPr>
          <a:xfrm>
            <a:off x="14887575" y="4648200"/>
            <a:ext cx="10477500" cy="198120"/>
          </a:xfrm>
          <a:prstGeom prst="rect">
            <a:avLst/>
          </a:prstGeom>
          <a:noFill/>
        </p:spPr>
        <p:txBody>
          <a:bodyPr wrap="none" lIns="0" rIns="0" tIns="0" bIns="0" anchor="ctr">
            <a:spAutoFit/>
          </a:bodyPr>
          <a:lstStyle/>
          <a:p>
            <a:pPr algn="ctr"/>
            <a:r>
              <a:rPr sz="1200" b="0">
                <a:solidFill>
                  <a:srgbClr val="00355F"/>
                </a:solidFill>
                <a:latin typeface="Arial"/>
              </a:rPr>
              <a:t>0.62</a:t>
            </a:r>
          </a:p>
        </p:txBody>
      </p:sp>
      <p:sp xmlns:a="http://schemas.openxmlformats.org/drawingml/2006/main">
        <p:nvSpPr>
          <p:cNvPr id="112" name="Rectangle 111"/>
          <p:cNvSpPr/>
          <p:nvPr/>
        </p:nvSpPr>
        <p:spPr>
          <a:xfrm>
            <a:off x="15382875" y="4533900"/>
            <a:ext cx="952500" cy="419100"/>
          </a:xfrm>
          <a:prstGeom prst="rect">
            <a:avLst/>
          </a:prstGeom>
          <a:solidFill>
            <a:srgbClr val="BBD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3" name="TextBox 112"/>
          <p:cNvSpPr txBox="1"/>
          <p:nvPr/>
        </p:nvSpPr>
        <p:spPr>
          <a:xfrm>
            <a:off x="15840075" y="4648200"/>
            <a:ext cx="10477500" cy="198120"/>
          </a:xfrm>
          <a:prstGeom prst="rect">
            <a:avLst/>
          </a:prstGeom>
          <a:noFill/>
        </p:spPr>
        <p:txBody>
          <a:bodyPr wrap="none" lIns="0" rIns="0" tIns="0" bIns="0" anchor="ctr">
            <a:spAutoFit/>
          </a:bodyPr>
          <a:lstStyle/>
          <a:p>
            <a:pPr algn="ctr"/>
            <a:r>
              <a:rPr sz="1200" b="0">
                <a:solidFill>
                  <a:srgbClr val="00355F"/>
                </a:solidFill>
                <a:latin typeface="Arial"/>
              </a:rPr>
              <a:t>0.35</a:t>
            </a:r>
          </a:p>
        </p:txBody>
      </p:sp>
      <p:sp xmlns:a="http://schemas.openxmlformats.org/drawingml/2006/main">
        <p:nvSpPr>
          <p:cNvPr id="114" name="Rectangle 113"/>
          <p:cNvSpPr/>
          <p:nvPr/>
        </p:nvSpPr>
        <p:spPr>
          <a:xfrm>
            <a:off x="16335375" y="4533900"/>
            <a:ext cx="952500" cy="419100"/>
          </a:xfrm>
          <a:prstGeom prst="rect">
            <a:avLst/>
          </a:prstGeom>
          <a:solidFill>
            <a:srgbClr val="A1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5" name="TextBox 114"/>
          <p:cNvSpPr txBox="1"/>
          <p:nvPr/>
        </p:nvSpPr>
        <p:spPr>
          <a:xfrm>
            <a:off x="16792575" y="4648200"/>
            <a:ext cx="10477500" cy="198120"/>
          </a:xfrm>
          <a:prstGeom prst="rect">
            <a:avLst/>
          </a:prstGeom>
          <a:noFill/>
        </p:spPr>
        <p:txBody>
          <a:bodyPr wrap="none" lIns="0" rIns="0" tIns="0" bIns="0" anchor="ctr">
            <a:spAutoFit/>
          </a:bodyPr>
          <a:lstStyle/>
          <a:p>
            <a:pPr algn="ctr"/>
            <a:r>
              <a:rPr sz="1200" b="0">
                <a:solidFill>
                  <a:srgbClr val="00355F"/>
                </a:solidFill>
                <a:latin typeface="Arial"/>
              </a:rPr>
              <a:t>0.51</a:t>
            </a:r>
          </a:p>
        </p:txBody>
      </p:sp>
      <p:sp xmlns:a="http://schemas.openxmlformats.org/drawingml/2006/main">
        <p:nvSpPr>
          <p:cNvPr id="116" name="Rectangle 115"/>
          <p:cNvSpPr/>
          <p:nvPr/>
        </p:nvSpPr>
        <p:spPr>
          <a:xfrm>
            <a:off x="7286625" y="4953000"/>
            <a:ext cx="1428750" cy="419100"/>
          </a:xfrm>
          <a:prstGeom prst="rect">
            <a:avLst/>
          </a:prstGeom>
          <a:solidFill>
            <a:srgbClr val="EEF6FC"/>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7" name="TextBox 116"/>
          <p:cNvSpPr txBox="1"/>
          <p:nvPr/>
        </p:nvSpPr>
        <p:spPr>
          <a:xfrm>
            <a:off x="7981950" y="5048250"/>
            <a:ext cx="10477500" cy="222885"/>
          </a:xfrm>
          <a:prstGeom prst="rect">
            <a:avLst/>
          </a:prstGeom>
          <a:noFill/>
        </p:spPr>
        <p:txBody>
          <a:bodyPr wrap="none" lIns="0" rIns="0" tIns="0" bIns="0" anchor="ctr">
            <a:spAutoFit/>
          </a:bodyPr>
          <a:lstStyle/>
          <a:p>
            <a:pPr algn="ctr"/>
            <a:r>
              <a:rPr sz="1350" b="0">
                <a:solidFill>
                  <a:srgbClr val="00355F"/>
                </a:solidFill>
                <a:latin typeface="Arial"/>
              </a:rPr>
              <a:t>Ab-004</a:t>
            </a:r>
          </a:p>
        </p:txBody>
      </p:sp>
      <p:sp xmlns:a="http://schemas.openxmlformats.org/drawingml/2006/main">
        <p:nvSpPr>
          <p:cNvPr id="118" name="Rectangle 117"/>
          <p:cNvSpPr/>
          <p:nvPr/>
        </p:nvSpPr>
        <p:spPr>
          <a:xfrm>
            <a:off x="8715375" y="4953000"/>
            <a:ext cx="952500" cy="419100"/>
          </a:xfrm>
          <a:prstGeom prst="rect">
            <a:avLst/>
          </a:prstGeom>
          <a:solidFill>
            <a:srgbClr val="2959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9" name="TextBox 118"/>
          <p:cNvSpPr txBox="1"/>
          <p:nvPr/>
        </p:nvSpPr>
        <p:spPr>
          <a:xfrm>
            <a:off x="9172575" y="5067300"/>
            <a:ext cx="10477500" cy="198120"/>
          </a:xfrm>
          <a:prstGeom prst="rect">
            <a:avLst/>
          </a:prstGeom>
          <a:noFill/>
        </p:spPr>
        <p:txBody>
          <a:bodyPr wrap="none" lIns="0" rIns="0" tIns="0" bIns="0" anchor="ctr">
            <a:spAutoFit/>
          </a:bodyPr>
          <a:lstStyle/>
          <a:p>
            <a:pPr algn="ctr"/>
            <a:r>
              <a:rPr sz="1200" b="0">
                <a:solidFill>
                  <a:srgbClr val="FFFFFF"/>
                </a:solidFill>
                <a:latin typeface="Arial"/>
              </a:rPr>
              <a:t>0.91</a:t>
            </a:r>
          </a:p>
        </p:txBody>
      </p:sp>
      <p:sp xmlns:a="http://schemas.openxmlformats.org/drawingml/2006/main">
        <p:nvSpPr>
          <p:cNvPr id="120" name="Rectangle 119"/>
          <p:cNvSpPr/>
          <p:nvPr/>
        </p:nvSpPr>
        <p:spPr>
          <a:xfrm>
            <a:off x="9667875" y="4953000"/>
            <a:ext cx="952500" cy="419100"/>
          </a:xfrm>
          <a:prstGeom prst="rect">
            <a:avLst/>
          </a:prstGeom>
          <a:solidFill>
            <a:srgbClr val="93B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1" name="TextBox 120"/>
          <p:cNvSpPr txBox="1"/>
          <p:nvPr/>
        </p:nvSpPr>
        <p:spPr>
          <a:xfrm>
            <a:off x="10125075" y="5067300"/>
            <a:ext cx="10477500" cy="198120"/>
          </a:xfrm>
          <a:prstGeom prst="rect">
            <a:avLst/>
          </a:prstGeom>
          <a:noFill/>
        </p:spPr>
        <p:txBody>
          <a:bodyPr wrap="none" lIns="0" rIns="0" tIns="0" bIns="0" anchor="ctr">
            <a:spAutoFit/>
          </a:bodyPr>
          <a:lstStyle/>
          <a:p>
            <a:pPr algn="ctr"/>
            <a:r>
              <a:rPr sz="1200" b="0">
                <a:solidFill>
                  <a:srgbClr val="00355F"/>
                </a:solidFill>
                <a:latin typeface="Arial"/>
              </a:rPr>
              <a:t>0.58</a:t>
            </a:r>
          </a:p>
        </p:txBody>
      </p:sp>
      <p:sp xmlns:a="http://schemas.openxmlformats.org/drawingml/2006/main">
        <p:nvSpPr>
          <p:cNvPr id="122" name="Rectangle 121"/>
          <p:cNvSpPr/>
          <p:nvPr/>
        </p:nvSpPr>
        <p:spPr>
          <a:xfrm>
            <a:off x="10620375" y="4953000"/>
            <a:ext cx="952500" cy="419100"/>
          </a:xfrm>
          <a:prstGeom prst="rect">
            <a:avLst/>
          </a:prstGeom>
          <a:solidFill>
            <a:srgbClr val="4E79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3" name="TextBox 122"/>
          <p:cNvSpPr txBox="1"/>
          <p:nvPr/>
        </p:nvSpPr>
        <p:spPr>
          <a:xfrm>
            <a:off x="11077575" y="5067300"/>
            <a:ext cx="10477500" cy="198120"/>
          </a:xfrm>
          <a:prstGeom prst="rect">
            <a:avLst/>
          </a:prstGeom>
          <a:noFill/>
        </p:spPr>
        <p:txBody>
          <a:bodyPr wrap="none" lIns="0" rIns="0" tIns="0" bIns="0" anchor="ctr">
            <a:spAutoFit/>
          </a:bodyPr>
          <a:lstStyle/>
          <a:p>
            <a:pPr algn="ctr"/>
            <a:r>
              <a:rPr sz="1200" b="0">
                <a:solidFill>
                  <a:srgbClr val="FFFFFF"/>
                </a:solidFill>
                <a:latin typeface="Arial"/>
              </a:rPr>
              <a:t>0.83</a:t>
            </a:r>
          </a:p>
        </p:txBody>
      </p:sp>
      <p:sp xmlns:a="http://schemas.openxmlformats.org/drawingml/2006/main">
        <p:nvSpPr>
          <p:cNvPr id="124" name="Rectangle 123"/>
          <p:cNvSpPr/>
          <p:nvPr/>
        </p:nvSpPr>
        <p:spPr>
          <a:xfrm>
            <a:off x="11572875" y="4953000"/>
            <a:ext cx="952500" cy="419100"/>
          </a:xfrm>
          <a:prstGeom prst="rect">
            <a:avLst/>
          </a:prstGeom>
          <a:solidFill>
            <a:srgbClr val="84A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5" name="TextBox 124"/>
          <p:cNvSpPr txBox="1"/>
          <p:nvPr/>
        </p:nvSpPr>
        <p:spPr>
          <a:xfrm>
            <a:off x="12030075" y="5067300"/>
            <a:ext cx="10477500" cy="198120"/>
          </a:xfrm>
          <a:prstGeom prst="rect">
            <a:avLst/>
          </a:prstGeom>
          <a:noFill/>
        </p:spPr>
        <p:txBody>
          <a:bodyPr wrap="none" lIns="0" rIns="0" tIns="0" bIns="0" anchor="ctr">
            <a:spAutoFit/>
          </a:bodyPr>
          <a:lstStyle/>
          <a:p>
            <a:pPr algn="ctr"/>
            <a:r>
              <a:rPr sz="1200" b="0">
                <a:solidFill>
                  <a:srgbClr val="FFFFFF"/>
                </a:solidFill>
                <a:latin typeface="Arial"/>
              </a:rPr>
              <a:t>0.66</a:t>
            </a:r>
          </a:p>
        </p:txBody>
      </p:sp>
      <p:sp xmlns:a="http://schemas.openxmlformats.org/drawingml/2006/main">
        <p:nvSpPr>
          <p:cNvPr id="126" name="Rectangle 125"/>
          <p:cNvSpPr/>
          <p:nvPr/>
        </p:nvSpPr>
        <p:spPr>
          <a:xfrm>
            <a:off x="12525375" y="4953000"/>
            <a:ext cx="952500" cy="419100"/>
          </a:xfrm>
          <a:prstGeom prst="rect">
            <a:avLst/>
          </a:prstGeom>
          <a:solidFill>
            <a:srgbClr val="799F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7" name="TextBox 126"/>
          <p:cNvSpPr txBox="1"/>
          <p:nvPr/>
        </p:nvSpPr>
        <p:spPr>
          <a:xfrm>
            <a:off x="12982575" y="5067300"/>
            <a:ext cx="10477500" cy="198120"/>
          </a:xfrm>
          <a:prstGeom prst="rect">
            <a:avLst/>
          </a:prstGeom>
          <a:noFill/>
        </p:spPr>
        <p:txBody>
          <a:bodyPr wrap="none" lIns="0" rIns="0" tIns="0" bIns="0" anchor="ctr">
            <a:spAutoFit/>
          </a:bodyPr>
          <a:lstStyle/>
          <a:p>
            <a:pPr algn="ctr"/>
            <a:r>
              <a:rPr sz="1200" b="0">
                <a:solidFill>
                  <a:srgbClr val="FFFFFF"/>
                </a:solidFill>
                <a:latin typeface="Arial"/>
              </a:rPr>
              <a:t>0.72</a:t>
            </a:r>
          </a:p>
        </p:txBody>
      </p:sp>
      <p:sp xmlns:a="http://schemas.openxmlformats.org/drawingml/2006/main">
        <p:nvSpPr>
          <p:cNvPr id="128" name="Rectangle 127"/>
          <p:cNvSpPr/>
          <p:nvPr/>
        </p:nvSpPr>
        <p:spPr>
          <a:xfrm>
            <a:off x="13477875" y="4953000"/>
            <a:ext cx="952500" cy="419100"/>
          </a:xfrm>
          <a:prstGeom prst="rect">
            <a:avLst/>
          </a:prstGeom>
          <a:solidFill>
            <a:srgbClr val="93B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9" name="TextBox 128"/>
          <p:cNvSpPr txBox="1"/>
          <p:nvPr/>
        </p:nvSpPr>
        <p:spPr>
          <a:xfrm>
            <a:off x="13935075" y="5067300"/>
            <a:ext cx="10477500" cy="198120"/>
          </a:xfrm>
          <a:prstGeom prst="rect">
            <a:avLst/>
          </a:prstGeom>
          <a:noFill/>
        </p:spPr>
        <p:txBody>
          <a:bodyPr wrap="none" lIns="0" rIns="0" tIns="0" bIns="0" anchor="ctr">
            <a:spAutoFit/>
          </a:bodyPr>
          <a:lstStyle/>
          <a:p>
            <a:pPr algn="ctr"/>
            <a:r>
              <a:rPr sz="1200" b="0">
                <a:solidFill>
                  <a:srgbClr val="00355F"/>
                </a:solidFill>
                <a:latin typeface="Arial"/>
              </a:rPr>
              <a:t>0.58</a:t>
            </a:r>
          </a:p>
        </p:txBody>
      </p:sp>
      <p:sp xmlns:a="http://schemas.openxmlformats.org/drawingml/2006/main">
        <p:nvSpPr>
          <p:cNvPr id="130" name="Rectangle 129"/>
          <p:cNvSpPr/>
          <p:nvPr/>
        </p:nvSpPr>
        <p:spPr>
          <a:xfrm>
            <a:off x="14430375" y="4953000"/>
            <a:ext cx="952500" cy="419100"/>
          </a:xfrm>
          <a:prstGeom prst="rect">
            <a:avLst/>
          </a:prstGeom>
          <a:solidFill>
            <a:srgbClr val="CBE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1" name="TextBox 130"/>
          <p:cNvSpPr txBox="1"/>
          <p:nvPr/>
        </p:nvSpPr>
        <p:spPr>
          <a:xfrm>
            <a:off x="14887575" y="5067300"/>
            <a:ext cx="10477500" cy="198120"/>
          </a:xfrm>
          <a:prstGeom prst="rect">
            <a:avLst/>
          </a:prstGeom>
          <a:noFill/>
        </p:spPr>
        <p:txBody>
          <a:bodyPr wrap="none" lIns="0" rIns="0" tIns="0" bIns="0" anchor="ctr">
            <a:spAutoFit/>
          </a:bodyPr>
          <a:lstStyle/>
          <a:p>
            <a:pPr algn="ctr"/>
            <a:r>
              <a:rPr sz="1200" b="0">
                <a:solidFill>
                  <a:srgbClr val="00355F"/>
                </a:solidFill>
                <a:latin typeface="Arial"/>
              </a:rPr>
              <a:t>0.24</a:t>
            </a:r>
          </a:p>
        </p:txBody>
      </p:sp>
      <p:sp xmlns:a="http://schemas.openxmlformats.org/drawingml/2006/main">
        <p:nvSpPr>
          <p:cNvPr id="132" name="Rectangle 131"/>
          <p:cNvSpPr/>
          <p:nvPr/>
        </p:nvSpPr>
        <p:spPr>
          <a:xfrm>
            <a:off x="15382875" y="4953000"/>
            <a:ext cx="952500" cy="419100"/>
          </a:xfrm>
          <a:prstGeom prst="rect">
            <a:avLst/>
          </a:prstGeom>
          <a:solidFill>
            <a:srgbClr val="A4C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3" name="TextBox 132"/>
          <p:cNvSpPr txBox="1"/>
          <p:nvPr/>
        </p:nvSpPr>
        <p:spPr>
          <a:xfrm>
            <a:off x="15840075" y="5067300"/>
            <a:ext cx="10477500" cy="198120"/>
          </a:xfrm>
          <a:prstGeom prst="rect">
            <a:avLst/>
          </a:prstGeom>
          <a:noFill/>
        </p:spPr>
        <p:txBody>
          <a:bodyPr wrap="none" lIns="0" rIns="0" tIns="0" bIns="0" anchor="ctr">
            <a:spAutoFit/>
          </a:bodyPr>
          <a:lstStyle/>
          <a:p>
            <a:pPr algn="ctr"/>
            <a:r>
              <a:rPr sz="1200" b="0">
                <a:solidFill>
                  <a:srgbClr val="00355F"/>
                </a:solidFill>
                <a:latin typeface="Arial"/>
              </a:rPr>
              <a:t>0.49</a:t>
            </a:r>
          </a:p>
        </p:txBody>
      </p:sp>
      <p:sp xmlns:a="http://schemas.openxmlformats.org/drawingml/2006/main">
        <p:nvSpPr>
          <p:cNvPr id="134" name="Rectangle 133"/>
          <p:cNvSpPr/>
          <p:nvPr/>
        </p:nvSpPr>
        <p:spPr>
          <a:xfrm>
            <a:off x="16335375" y="4953000"/>
            <a:ext cx="952500" cy="419100"/>
          </a:xfrm>
          <a:prstGeom prst="rect">
            <a:avLst/>
          </a:prstGeom>
          <a:solidFill>
            <a:srgbClr val="6E9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5" name="TextBox 134"/>
          <p:cNvSpPr txBox="1"/>
          <p:nvPr/>
        </p:nvSpPr>
        <p:spPr>
          <a:xfrm>
            <a:off x="16792575" y="5067300"/>
            <a:ext cx="10477500" cy="198120"/>
          </a:xfrm>
          <a:prstGeom prst="rect">
            <a:avLst/>
          </a:prstGeom>
          <a:noFill/>
        </p:spPr>
        <p:txBody>
          <a:bodyPr wrap="none" lIns="0" rIns="0" tIns="0" bIns="0" anchor="ctr">
            <a:spAutoFit/>
          </a:bodyPr>
          <a:lstStyle/>
          <a:p>
            <a:pPr algn="ctr"/>
            <a:r>
              <a:rPr sz="1200" b="0">
                <a:solidFill>
                  <a:srgbClr val="FFFFFF"/>
                </a:solidFill>
                <a:latin typeface="Arial"/>
              </a:rPr>
              <a:t>0.76</a:t>
            </a:r>
          </a:p>
        </p:txBody>
      </p:sp>
      <p:sp xmlns:a="http://schemas.openxmlformats.org/drawingml/2006/main">
        <p:nvSpPr>
          <p:cNvPr id="136" name="Rectangle 135"/>
          <p:cNvSpPr/>
          <p:nvPr/>
        </p:nvSpPr>
        <p:spPr>
          <a:xfrm>
            <a:off x="7286625" y="5372100"/>
            <a:ext cx="1428750" cy="419100"/>
          </a:xfrm>
          <a:prstGeom prst="rect">
            <a:avLst/>
          </a:prstGeom>
          <a:solidFill>
            <a:srgbClr val="FFFFFF"/>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7" name="TextBox 136"/>
          <p:cNvSpPr txBox="1"/>
          <p:nvPr/>
        </p:nvSpPr>
        <p:spPr>
          <a:xfrm>
            <a:off x="7981950" y="5467350"/>
            <a:ext cx="10477500" cy="222885"/>
          </a:xfrm>
          <a:prstGeom prst="rect">
            <a:avLst/>
          </a:prstGeom>
          <a:noFill/>
        </p:spPr>
        <p:txBody>
          <a:bodyPr wrap="none" lIns="0" rIns="0" tIns="0" bIns="0" anchor="ctr">
            <a:spAutoFit/>
          </a:bodyPr>
          <a:lstStyle/>
          <a:p>
            <a:pPr algn="ctr"/>
            <a:r>
              <a:rPr sz="1350" b="0">
                <a:solidFill>
                  <a:srgbClr val="00355F"/>
                </a:solidFill>
                <a:latin typeface="Arial"/>
              </a:rPr>
              <a:t>Ab-005</a:t>
            </a:r>
          </a:p>
        </p:txBody>
      </p:sp>
      <p:sp xmlns:a="http://schemas.openxmlformats.org/drawingml/2006/main">
        <p:nvSpPr>
          <p:cNvPr id="138" name="Rectangle 137"/>
          <p:cNvSpPr/>
          <p:nvPr/>
        </p:nvSpPr>
        <p:spPr>
          <a:xfrm>
            <a:off x="8715375" y="5372100"/>
            <a:ext cx="952500" cy="419100"/>
          </a:xfrm>
          <a:prstGeom prst="rect">
            <a:avLst/>
          </a:prstGeom>
          <a:solidFill>
            <a:srgbClr val="ADD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9" name="TextBox 138"/>
          <p:cNvSpPr txBox="1"/>
          <p:nvPr/>
        </p:nvSpPr>
        <p:spPr>
          <a:xfrm>
            <a:off x="9172575" y="5486400"/>
            <a:ext cx="10477500" cy="198120"/>
          </a:xfrm>
          <a:prstGeom prst="rect">
            <a:avLst/>
          </a:prstGeom>
          <a:noFill/>
        </p:spPr>
        <p:txBody>
          <a:bodyPr wrap="none" lIns="0" rIns="0" tIns="0" bIns="0" anchor="ctr">
            <a:spAutoFit/>
          </a:bodyPr>
          <a:lstStyle/>
          <a:p>
            <a:pPr algn="ctr"/>
            <a:r>
              <a:rPr sz="1200" b="0">
                <a:solidFill>
                  <a:srgbClr val="00355F"/>
                </a:solidFill>
                <a:latin typeface="Arial"/>
              </a:rPr>
              <a:t>0.44</a:t>
            </a:r>
          </a:p>
        </p:txBody>
      </p:sp>
      <p:sp xmlns:a="http://schemas.openxmlformats.org/drawingml/2006/main">
        <p:nvSpPr>
          <p:cNvPr id="140" name="Rectangle 139"/>
          <p:cNvSpPr/>
          <p:nvPr/>
        </p:nvSpPr>
        <p:spPr>
          <a:xfrm>
            <a:off x="9667875" y="5372100"/>
            <a:ext cx="952500" cy="419100"/>
          </a:xfrm>
          <a:prstGeom prst="rect">
            <a:avLst/>
          </a:prstGeom>
          <a:solidFill>
            <a:srgbClr val="C1D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1" name="TextBox 140"/>
          <p:cNvSpPr txBox="1"/>
          <p:nvPr/>
        </p:nvSpPr>
        <p:spPr>
          <a:xfrm>
            <a:off x="10125075" y="5486400"/>
            <a:ext cx="10477500" cy="198120"/>
          </a:xfrm>
          <a:prstGeom prst="rect">
            <a:avLst/>
          </a:prstGeom>
          <a:noFill/>
        </p:spPr>
        <p:txBody>
          <a:bodyPr wrap="none" lIns="0" rIns="0" tIns="0" bIns="0" anchor="ctr">
            <a:spAutoFit/>
          </a:bodyPr>
          <a:lstStyle/>
          <a:p>
            <a:pPr algn="ctr"/>
            <a:r>
              <a:rPr sz="1200" b="0">
                <a:solidFill>
                  <a:srgbClr val="00355F"/>
                </a:solidFill>
                <a:latin typeface="Arial"/>
              </a:rPr>
              <a:t>0.31</a:t>
            </a:r>
          </a:p>
        </p:txBody>
      </p:sp>
      <p:sp xmlns:a="http://schemas.openxmlformats.org/drawingml/2006/main">
        <p:nvSpPr>
          <p:cNvPr id="142" name="Rectangle 141"/>
          <p:cNvSpPr/>
          <p:nvPr/>
        </p:nvSpPr>
        <p:spPr>
          <a:xfrm>
            <a:off x="10620375" y="5372100"/>
            <a:ext cx="952500" cy="419100"/>
          </a:xfrm>
          <a:prstGeom prst="rect">
            <a:avLst/>
          </a:prstGeom>
          <a:solidFill>
            <a:srgbClr val="B6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3" name="TextBox 142"/>
          <p:cNvSpPr txBox="1"/>
          <p:nvPr/>
        </p:nvSpPr>
        <p:spPr>
          <a:xfrm>
            <a:off x="11077575" y="5486400"/>
            <a:ext cx="10477500" cy="198120"/>
          </a:xfrm>
          <a:prstGeom prst="rect">
            <a:avLst/>
          </a:prstGeom>
          <a:noFill/>
        </p:spPr>
        <p:txBody>
          <a:bodyPr wrap="none" lIns="0" rIns="0" tIns="0" bIns="0" anchor="ctr">
            <a:spAutoFit/>
          </a:bodyPr>
          <a:lstStyle/>
          <a:p>
            <a:pPr algn="ctr"/>
            <a:r>
              <a:rPr sz="1200" b="0">
                <a:solidFill>
                  <a:srgbClr val="00355F"/>
                </a:solidFill>
                <a:latin typeface="Arial"/>
              </a:rPr>
              <a:t>0.38</a:t>
            </a:r>
          </a:p>
        </p:txBody>
      </p:sp>
      <p:sp xmlns:a="http://schemas.openxmlformats.org/drawingml/2006/main">
        <p:nvSpPr>
          <p:cNvPr id="144" name="Rectangle 143"/>
          <p:cNvSpPr/>
          <p:nvPr/>
        </p:nvSpPr>
        <p:spPr>
          <a:xfrm>
            <a:off x="11572875" y="5372100"/>
            <a:ext cx="952500" cy="419100"/>
          </a:xfrm>
          <a:prstGeom prst="rect">
            <a:avLst/>
          </a:prstGeom>
          <a:solidFill>
            <a:srgbClr val="93B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5" name="TextBox 144"/>
          <p:cNvSpPr txBox="1"/>
          <p:nvPr/>
        </p:nvSpPr>
        <p:spPr>
          <a:xfrm>
            <a:off x="12030075" y="5486400"/>
            <a:ext cx="10477500" cy="198120"/>
          </a:xfrm>
          <a:prstGeom prst="rect">
            <a:avLst/>
          </a:prstGeom>
          <a:noFill/>
        </p:spPr>
        <p:txBody>
          <a:bodyPr wrap="none" lIns="0" rIns="0" tIns="0" bIns="0" anchor="ctr">
            <a:spAutoFit/>
          </a:bodyPr>
          <a:lstStyle/>
          <a:p>
            <a:pPr algn="ctr"/>
            <a:r>
              <a:rPr sz="1200" b="0">
                <a:solidFill>
                  <a:srgbClr val="00355F"/>
                </a:solidFill>
                <a:latin typeface="Arial"/>
              </a:rPr>
              <a:t>0.58</a:t>
            </a:r>
          </a:p>
        </p:txBody>
      </p:sp>
      <p:sp xmlns:a="http://schemas.openxmlformats.org/drawingml/2006/main">
        <p:nvSpPr>
          <p:cNvPr id="146" name="Rectangle 145"/>
          <p:cNvSpPr/>
          <p:nvPr/>
        </p:nvSpPr>
        <p:spPr>
          <a:xfrm>
            <a:off x="12525375" y="5372100"/>
            <a:ext cx="952500" cy="419100"/>
          </a:xfrm>
          <a:prstGeom prst="rect">
            <a:avLst/>
          </a:prstGeom>
          <a:solidFill>
            <a:srgbClr val="B2D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7" name="TextBox 146"/>
          <p:cNvSpPr txBox="1"/>
          <p:nvPr/>
        </p:nvSpPr>
        <p:spPr>
          <a:xfrm>
            <a:off x="12982575" y="5486400"/>
            <a:ext cx="10477500" cy="198120"/>
          </a:xfrm>
          <a:prstGeom prst="rect">
            <a:avLst/>
          </a:prstGeom>
          <a:noFill/>
        </p:spPr>
        <p:txBody>
          <a:bodyPr wrap="none" lIns="0" rIns="0" tIns="0" bIns="0" anchor="ctr">
            <a:spAutoFit/>
          </a:bodyPr>
          <a:lstStyle/>
          <a:p>
            <a:pPr algn="ctr"/>
            <a:r>
              <a:rPr sz="1200" b="0">
                <a:solidFill>
                  <a:srgbClr val="00355F"/>
                </a:solidFill>
                <a:latin typeface="Arial"/>
              </a:rPr>
              <a:t>0.41</a:t>
            </a:r>
          </a:p>
        </p:txBody>
      </p:sp>
      <p:sp xmlns:a="http://schemas.openxmlformats.org/drawingml/2006/main">
        <p:nvSpPr>
          <p:cNvPr id="148" name="Rectangle 147"/>
          <p:cNvSpPr/>
          <p:nvPr/>
        </p:nvSpPr>
        <p:spPr>
          <a:xfrm>
            <a:off x="13477875" y="5372100"/>
            <a:ext cx="952500" cy="419100"/>
          </a:xfrm>
          <a:prstGeom prst="rect">
            <a:avLst/>
          </a:prstGeom>
          <a:solidFill>
            <a:srgbClr val="84A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9" name="TextBox 148"/>
          <p:cNvSpPr txBox="1"/>
          <p:nvPr/>
        </p:nvSpPr>
        <p:spPr>
          <a:xfrm>
            <a:off x="13935075" y="5486400"/>
            <a:ext cx="10477500" cy="198120"/>
          </a:xfrm>
          <a:prstGeom prst="rect">
            <a:avLst/>
          </a:prstGeom>
          <a:noFill/>
        </p:spPr>
        <p:txBody>
          <a:bodyPr wrap="none" lIns="0" rIns="0" tIns="0" bIns="0" anchor="ctr">
            <a:spAutoFit/>
          </a:bodyPr>
          <a:lstStyle/>
          <a:p>
            <a:pPr algn="ctr"/>
            <a:r>
              <a:rPr sz="1200" b="0">
                <a:solidFill>
                  <a:srgbClr val="FFFFFF"/>
                </a:solidFill>
                <a:latin typeface="Arial"/>
              </a:rPr>
              <a:t>0.66</a:t>
            </a:r>
          </a:p>
        </p:txBody>
      </p:sp>
      <p:sp xmlns:a="http://schemas.openxmlformats.org/drawingml/2006/main">
        <p:nvSpPr>
          <p:cNvPr id="150" name="Rectangle 149"/>
          <p:cNvSpPr/>
          <p:nvPr/>
        </p:nvSpPr>
        <p:spPr>
          <a:xfrm>
            <a:off x="14430375" y="5372100"/>
            <a:ext cx="952500" cy="419100"/>
          </a:xfrm>
          <a:prstGeom prst="rect">
            <a:avLst/>
          </a:prstGeom>
          <a:solidFill>
            <a:srgbClr val="7BA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1" name="TextBox 150"/>
          <p:cNvSpPr txBox="1"/>
          <p:nvPr/>
        </p:nvSpPr>
        <p:spPr>
          <a:xfrm>
            <a:off x="14887575" y="5486400"/>
            <a:ext cx="10477500" cy="198120"/>
          </a:xfrm>
          <a:prstGeom prst="rect">
            <a:avLst/>
          </a:prstGeom>
          <a:noFill/>
        </p:spPr>
        <p:txBody>
          <a:bodyPr wrap="none" lIns="0" rIns="0" tIns="0" bIns="0" anchor="ctr">
            <a:spAutoFit/>
          </a:bodyPr>
          <a:lstStyle/>
          <a:p>
            <a:pPr algn="ctr"/>
            <a:r>
              <a:rPr sz="1200" b="0">
                <a:solidFill>
                  <a:srgbClr val="FFFFFF"/>
                </a:solidFill>
                <a:latin typeface="Arial"/>
              </a:rPr>
              <a:t>0.71</a:t>
            </a:r>
          </a:p>
        </p:txBody>
      </p:sp>
      <p:sp xmlns:a="http://schemas.openxmlformats.org/drawingml/2006/main">
        <p:nvSpPr>
          <p:cNvPr id="152" name="Rectangle 151"/>
          <p:cNvSpPr/>
          <p:nvPr/>
        </p:nvSpPr>
        <p:spPr>
          <a:xfrm>
            <a:off x="15382875" y="5372100"/>
            <a:ext cx="952500" cy="419100"/>
          </a:xfrm>
          <a:prstGeom prst="rect">
            <a:avLst/>
          </a:prstGeom>
          <a:solidFill>
            <a:srgbClr val="FFFFFF"/>
          </a:solidFill>
          <a:ln w="762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3" name="TextBox 152"/>
          <p:cNvSpPr txBox="1"/>
          <p:nvPr/>
        </p:nvSpPr>
        <p:spPr>
          <a:xfrm>
            <a:off x="15840075" y="5476875"/>
            <a:ext cx="10477500" cy="210502"/>
          </a:xfrm>
          <a:prstGeom prst="rect">
            <a:avLst/>
          </a:prstGeom>
          <a:noFill/>
        </p:spPr>
        <p:txBody>
          <a:bodyPr wrap="none" lIns="0" rIns="0" tIns="0" bIns="0" anchor="ctr">
            <a:spAutoFit/>
          </a:bodyPr>
          <a:lstStyle/>
          <a:p>
            <a:pPr algn="ctr"/>
            <a:r>
              <a:rPr sz="1275" b="0">
                <a:solidFill>
                  <a:srgbClr val="A5A5A5"/>
                </a:solidFill>
                <a:latin typeface="Arial"/>
              </a:rPr>
              <a:t>—</a:t>
            </a:r>
          </a:p>
        </p:txBody>
      </p:sp>
      <p:sp xmlns:a="http://schemas.openxmlformats.org/drawingml/2006/main">
        <p:nvSpPr>
          <p:cNvPr id="154" name="Rectangle 153"/>
          <p:cNvSpPr/>
          <p:nvPr/>
        </p:nvSpPr>
        <p:spPr>
          <a:xfrm>
            <a:off x="16335375" y="5372100"/>
            <a:ext cx="952500" cy="419100"/>
          </a:xfrm>
          <a:prstGeom prst="rect">
            <a:avLst/>
          </a:prstGeom>
          <a:solidFill>
            <a:srgbClr val="C3E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5" name="TextBox 154"/>
          <p:cNvSpPr txBox="1"/>
          <p:nvPr/>
        </p:nvSpPr>
        <p:spPr>
          <a:xfrm>
            <a:off x="16792575" y="5486400"/>
            <a:ext cx="10477500" cy="198120"/>
          </a:xfrm>
          <a:prstGeom prst="rect">
            <a:avLst/>
          </a:prstGeom>
          <a:noFill/>
        </p:spPr>
        <p:txBody>
          <a:bodyPr wrap="none" lIns="0" rIns="0" tIns="0" bIns="0" anchor="ctr">
            <a:spAutoFit/>
          </a:bodyPr>
          <a:lstStyle/>
          <a:p>
            <a:pPr algn="ctr"/>
            <a:r>
              <a:rPr sz="1200" b="0">
                <a:solidFill>
                  <a:srgbClr val="00355F"/>
                </a:solidFill>
                <a:latin typeface="Arial"/>
              </a:rPr>
              <a:t>0.29</a:t>
            </a:r>
          </a:p>
        </p:txBody>
      </p:sp>
      <p:sp xmlns:a="http://schemas.openxmlformats.org/drawingml/2006/main">
        <p:nvSpPr>
          <p:cNvPr id="156" name="Rectangle 155"/>
          <p:cNvSpPr/>
          <p:nvPr/>
        </p:nvSpPr>
        <p:spPr>
          <a:xfrm>
            <a:off x="7286625" y="5791200"/>
            <a:ext cx="1428750" cy="419100"/>
          </a:xfrm>
          <a:prstGeom prst="rect">
            <a:avLst/>
          </a:prstGeom>
          <a:solidFill>
            <a:srgbClr val="EEF6FC"/>
          </a:solidFill>
          <a:ln w="5714">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7" name="TextBox 156"/>
          <p:cNvSpPr txBox="1"/>
          <p:nvPr/>
        </p:nvSpPr>
        <p:spPr>
          <a:xfrm>
            <a:off x="7981950" y="5886450"/>
            <a:ext cx="10477500" cy="222885"/>
          </a:xfrm>
          <a:prstGeom prst="rect">
            <a:avLst/>
          </a:prstGeom>
          <a:noFill/>
        </p:spPr>
        <p:txBody>
          <a:bodyPr wrap="none" lIns="0" rIns="0" tIns="0" bIns="0" anchor="ctr">
            <a:spAutoFit/>
          </a:bodyPr>
          <a:lstStyle/>
          <a:p>
            <a:pPr algn="ctr"/>
            <a:r>
              <a:rPr sz="1350" b="0">
                <a:solidFill>
                  <a:srgbClr val="00355F"/>
                </a:solidFill>
                <a:latin typeface="Arial"/>
              </a:rPr>
              <a:t>Ab-006</a:t>
            </a:r>
          </a:p>
        </p:txBody>
      </p:sp>
      <p:sp xmlns:a="http://schemas.openxmlformats.org/drawingml/2006/main">
        <p:nvSpPr>
          <p:cNvPr id="158" name="Rectangle 157"/>
          <p:cNvSpPr/>
          <p:nvPr/>
        </p:nvSpPr>
        <p:spPr>
          <a:xfrm>
            <a:off x="8715375" y="5791200"/>
            <a:ext cx="952500" cy="419100"/>
          </a:xfrm>
          <a:prstGeom prst="rect">
            <a:avLst/>
          </a:prstGeom>
          <a:solidFill>
            <a:srgbClr val="95B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9" name="TextBox 158"/>
          <p:cNvSpPr txBox="1"/>
          <p:nvPr/>
        </p:nvSpPr>
        <p:spPr>
          <a:xfrm>
            <a:off x="9172575" y="5905500"/>
            <a:ext cx="10477500" cy="198120"/>
          </a:xfrm>
          <a:prstGeom prst="rect">
            <a:avLst/>
          </a:prstGeom>
          <a:noFill/>
        </p:spPr>
        <p:txBody>
          <a:bodyPr wrap="none" lIns="0" rIns="0" tIns="0" bIns="0" anchor="ctr">
            <a:spAutoFit/>
          </a:bodyPr>
          <a:lstStyle/>
          <a:p>
            <a:pPr algn="ctr"/>
            <a:r>
              <a:rPr sz="1200" b="0">
                <a:solidFill>
                  <a:srgbClr val="00355F"/>
                </a:solidFill>
                <a:latin typeface="Arial"/>
              </a:rPr>
              <a:t>0.57</a:t>
            </a:r>
          </a:p>
        </p:txBody>
      </p:sp>
      <p:sp xmlns:a="http://schemas.openxmlformats.org/drawingml/2006/main">
        <p:nvSpPr>
          <p:cNvPr id="160" name="Rectangle 159"/>
          <p:cNvSpPr/>
          <p:nvPr/>
        </p:nvSpPr>
        <p:spPr>
          <a:xfrm>
            <a:off x="9667875" y="5791200"/>
            <a:ext cx="952500" cy="419100"/>
          </a:xfrm>
          <a:prstGeom prst="rect">
            <a:avLst/>
          </a:prstGeom>
          <a:solidFill>
            <a:srgbClr val="7EA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1" name="TextBox 160"/>
          <p:cNvSpPr txBox="1"/>
          <p:nvPr/>
        </p:nvSpPr>
        <p:spPr>
          <a:xfrm>
            <a:off x="10125075" y="5905500"/>
            <a:ext cx="10477500" cy="198120"/>
          </a:xfrm>
          <a:prstGeom prst="rect">
            <a:avLst/>
          </a:prstGeom>
          <a:noFill/>
        </p:spPr>
        <p:txBody>
          <a:bodyPr wrap="none" lIns="0" rIns="0" tIns="0" bIns="0" anchor="ctr">
            <a:spAutoFit/>
          </a:bodyPr>
          <a:lstStyle/>
          <a:p>
            <a:pPr algn="ctr"/>
            <a:r>
              <a:rPr sz="1200" b="0">
                <a:solidFill>
                  <a:srgbClr val="FFFFFF"/>
                </a:solidFill>
                <a:latin typeface="Arial"/>
              </a:rPr>
              <a:t>0.69</a:t>
            </a:r>
          </a:p>
        </p:txBody>
      </p:sp>
      <p:sp xmlns:a="http://schemas.openxmlformats.org/drawingml/2006/main">
        <p:nvSpPr>
          <p:cNvPr id="162" name="Rectangle 161"/>
          <p:cNvSpPr/>
          <p:nvPr/>
        </p:nvSpPr>
        <p:spPr>
          <a:xfrm>
            <a:off x="10620375" y="5791200"/>
            <a:ext cx="952500" cy="419100"/>
          </a:xfrm>
          <a:prstGeom prst="rect">
            <a:avLst/>
          </a:prstGeom>
          <a:solidFill>
            <a:srgbClr val="9FC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3" name="TextBox 162"/>
          <p:cNvSpPr txBox="1"/>
          <p:nvPr/>
        </p:nvSpPr>
        <p:spPr>
          <a:xfrm>
            <a:off x="11077575" y="5905500"/>
            <a:ext cx="10477500" cy="198120"/>
          </a:xfrm>
          <a:prstGeom prst="rect">
            <a:avLst/>
          </a:prstGeom>
          <a:noFill/>
        </p:spPr>
        <p:txBody>
          <a:bodyPr wrap="none" lIns="0" rIns="0" tIns="0" bIns="0" anchor="ctr">
            <a:spAutoFit/>
          </a:bodyPr>
          <a:lstStyle/>
          <a:p>
            <a:pPr algn="ctr"/>
            <a:r>
              <a:rPr sz="1200" b="0">
                <a:solidFill>
                  <a:srgbClr val="00355F"/>
                </a:solidFill>
                <a:latin typeface="Arial"/>
              </a:rPr>
              <a:t>0.52</a:t>
            </a:r>
          </a:p>
        </p:txBody>
      </p:sp>
      <p:sp xmlns:a="http://schemas.openxmlformats.org/drawingml/2006/main">
        <p:nvSpPr>
          <p:cNvPr id="164" name="Rectangle 163"/>
          <p:cNvSpPr/>
          <p:nvPr/>
        </p:nvSpPr>
        <p:spPr>
          <a:xfrm>
            <a:off x="11572875" y="5791200"/>
            <a:ext cx="952500" cy="419100"/>
          </a:xfrm>
          <a:prstGeom prst="rect">
            <a:avLst/>
          </a:prstGeom>
          <a:solidFill>
            <a:srgbClr val="779D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5" name="TextBox 164"/>
          <p:cNvSpPr txBox="1"/>
          <p:nvPr/>
        </p:nvSpPr>
        <p:spPr>
          <a:xfrm>
            <a:off x="12030075" y="5905500"/>
            <a:ext cx="10477500" cy="198120"/>
          </a:xfrm>
          <a:prstGeom prst="rect">
            <a:avLst/>
          </a:prstGeom>
          <a:noFill/>
        </p:spPr>
        <p:txBody>
          <a:bodyPr wrap="none" lIns="0" rIns="0" tIns="0" bIns="0" anchor="ctr">
            <a:spAutoFit/>
          </a:bodyPr>
          <a:lstStyle/>
          <a:p>
            <a:pPr algn="ctr"/>
            <a:r>
              <a:rPr sz="1200" b="0">
                <a:solidFill>
                  <a:srgbClr val="FFFFFF"/>
                </a:solidFill>
                <a:latin typeface="Arial"/>
              </a:rPr>
              <a:t>0.73</a:t>
            </a:r>
          </a:p>
        </p:txBody>
      </p:sp>
      <p:sp xmlns:a="http://schemas.openxmlformats.org/drawingml/2006/main">
        <p:nvSpPr>
          <p:cNvPr id="166" name="Rectangle 165"/>
          <p:cNvSpPr/>
          <p:nvPr/>
        </p:nvSpPr>
        <p:spPr>
          <a:xfrm>
            <a:off x="12525375" y="5791200"/>
            <a:ext cx="952500" cy="419100"/>
          </a:xfrm>
          <a:prstGeom prst="rect">
            <a:avLst/>
          </a:prstGeom>
          <a:solidFill>
            <a:srgbClr val="99C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7" name="TextBox 166"/>
          <p:cNvSpPr txBox="1"/>
          <p:nvPr/>
        </p:nvSpPr>
        <p:spPr>
          <a:xfrm>
            <a:off x="12982575" y="5905500"/>
            <a:ext cx="10477500" cy="198120"/>
          </a:xfrm>
          <a:prstGeom prst="rect">
            <a:avLst/>
          </a:prstGeom>
          <a:noFill/>
        </p:spPr>
        <p:txBody>
          <a:bodyPr wrap="none" lIns="0" rIns="0" tIns="0" bIns="0" anchor="ctr">
            <a:spAutoFit/>
          </a:bodyPr>
          <a:lstStyle/>
          <a:p>
            <a:pPr algn="ctr"/>
            <a:r>
              <a:rPr sz="1200" b="0">
                <a:solidFill>
                  <a:srgbClr val="00355F"/>
                </a:solidFill>
                <a:latin typeface="Arial"/>
              </a:rPr>
              <a:t>0.55</a:t>
            </a:r>
          </a:p>
        </p:txBody>
      </p:sp>
      <p:sp xmlns:a="http://schemas.openxmlformats.org/drawingml/2006/main">
        <p:nvSpPr>
          <p:cNvPr id="168" name="Rectangle 167"/>
          <p:cNvSpPr/>
          <p:nvPr/>
        </p:nvSpPr>
        <p:spPr>
          <a:xfrm>
            <a:off x="13477875" y="5791200"/>
            <a:ext cx="952500" cy="419100"/>
          </a:xfrm>
          <a:prstGeom prst="rect">
            <a:avLst/>
          </a:prstGeom>
          <a:solidFill>
            <a:srgbClr val="ADD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9" name="TextBox 168"/>
          <p:cNvSpPr txBox="1"/>
          <p:nvPr/>
        </p:nvSpPr>
        <p:spPr>
          <a:xfrm>
            <a:off x="13935075" y="5905500"/>
            <a:ext cx="10477500" cy="198120"/>
          </a:xfrm>
          <a:prstGeom prst="rect">
            <a:avLst/>
          </a:prstGeom>
          <a:noFill/>
        </p:spPr>
        <p:txBody>
          <a:bodyPr wrap="none" lIns="0" rIns="0" tIns="0" bIns="0" anchor="ctr">
            <a:spAutoFit/>
          </a:bodyPr>
          <a:lstStyle/>
          <a:p>
            <a:pPr algn="ctr"/>
            <a:r>
              <a:rPr sz="1200" b="0">
                <a:solidFill>
                  <a:srgbClr val="00355F"/>
                </a:solidFill>
                <a:latin typeface="Arial"/>
              </a:rPr>
              <a:t>0.44</a:t>
            </a:r>
          </a:p>
        </p:txBody>
      </p:sp>
      <p:sp xmlns:a="http://schemas.openxmlformats.org/drawingml/2006/main">
        <p:nvSpPr>
          <p:cNvPr id="170" name="Rectangle 169"/>
          <p:cNvSpPr/>
          <p:nvPr/>
        </p:nvSpPr>
        <p:spPr>
          <a:xfrm>
            <a:off x="14430375" y="5791200"/>
            <a:ext cx="952500" cy="419100"/>
          </a:xfrm>
          <a:prstGeom prst="rect">
            <a:avLst/>
          </a:prstGeom>
          <a:solidFill>
            <a:srgbClr val="B8D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1" name="TextBox 170"/>
          <p:cNvSpPr txBox="1"/>
          <p:nvPr/>
        </p:nvSpPr>
        <p:spPr>
          <a:xfrm>
            <a:off x="14887575" y="5905500"/>
            <a:ext cx="10477500" cy="198120"/>
          </a:xfrm>
          <a:prstGeom prst="rect">
            <a:avLst/>
          </a:prstGeom>
          <a:noFill/>
        </p:spPr>
        <p:txBody>
          <a:bodyPr wrap="none" lIns="0" rIns="0" tIns="0" bIns="0" anchor="ctr">
            <a:spAutoFit/>
          </a:bodyPr>
          <a:lstStyle/>
          <a:p>
            <a:pPr algn="ctr"/>
            <a:r>
              <a:rPr sz="1200" b="0">
                <a:solidFill>
                  <a:srgbClr val="00355F"/>
                </a:solidFill>
                <a:latin typeface="Arial"/>
              </a:rPr>
              <a:t>0.37</a:t>
            </a:r>
          </a:p>
        </p:txBody>
      </p:sp>
      <p:sp xmlns:a="http://schemas.openxmlformats.org/drawingml/2006/main">
        <p:nvSpPr>
          <p:cNvPr id="172" name="Rectangle 171"/>
          <p:cNvSpPr/>
          <p:nvPr/>
        </p:nvSpPr>
        <p:spPr>
          <a:xfrm>
            <a:off x="15382875" y="5791200"/>
            <a:ext cx="952500" cy="419100"/>
          </a:xfrm>
          <a:prstGeom prst="rect">
            <a:avLst/>
          </a:prstGeom>
          <a:solidFill>
            <a:srgbClr val="8CB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3" name="TextBox 172"/>
          <p:cNvSpPr txBox="1"/>
          <p:nvPr/>
        </p:nvSpPr>
        <p:spPr>
          <a:xfrm>
            <a:off x="15840075" y="5905500"/>
            <a:ext cx="10477500" cy="198120"/>
          </a:xfrm>
          <a:prstGeom prst="rect">
            <a:avLst/>
          </a:prstGeom>
          <a:noFill/>
        </p:spPr>
        <p:txBody>
          <a:bodyPr wrap="none" lIns="0" rIns="0" tIns="0" bIns="0" anchor="ctr">
            <a:spAutoFit/>
          </a:bodyPr>
          <a:lstStyle/>
          <a:p>
            <a:pPr algn="ctr"/>
            <a:r>
              <a:rPr sz="1200" b="0">
                <a:solidFill>
                  <a:srgbClr val="00355F"/>
                </a:solidFill>
                <a:latin typeface="Arial"/>
              </a:rPr>
              <a:t>0.62</a:t>
            </a:r>
          </a:p>
        </p:txBody>
      </p:sp>
      <p:sp xmlns:a="http://schemas.openxmlformats.org/drawingml/2006/main">
        <p:nvSpPr>
          <p:cNvPr id="174" name="Rectangle 173"/>
          <p:cNvSpPr/>
          <p:nvPr/>
        </p:nvSpPr>
        <p:spPr>
          <a:xfrm>
            <a:off x="16335375" y="5791200"/>
            <a:ext cx="952500" cy="419100"/>
          </a:xfrm>
          <a:prstGeom prst="rect">
            <a:avLst/>
          </a:prstGeom>
          <a:solidFill>
            <a:srgbClr val="93BA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5" name="TextBox 174"/>
          <p:cNvSpPr txBox="1"/>
          <p:nvPr/>
        </p:nvSpPr>
        <p:spPr>
          <a:xfrm>
            <a:off x="16792575" y="5905500"/>
            <a:ext cx="10477500" cy="198120"/>
          </a:xfrm>
          <a:prstGeom prst="rect">
            <a:avLst/>
          </a:prstGeom>
          <a:noFill/>
        </p:spPr>
        <p:txBody>
          <a:bodyPr wrap="none" lIns="0" rIns="0" tIns="0" bIns="0" anchor="ctr">
            <a:spAutoFit/>
          </a:bodyPr>
          <a:lstStyle/>
          <a:p>
            <a:pPr algn="ctr"/>
            <a:r>
              <a:rPr sz="1200" b="0">
                <a:solidFill>
                  <a:srgbClr val="00355F"/>
                </a:solidFill>
                <a:latin typeface="Arial"/>
              </a:rPr>
              <a:t>0.58</a:t>
            </a:r>
          </a:p>
        </p:txBody>
      </p:sp>
      <p:sp xmlns:a="http://schemas.openxmlformats.org/drawingml/2006/main">
        <p:nvSpPr>
          <p:cNvPr id="176" name="Rectangle 175"/>
          <p:cNvSpPr/>
          <p:nvPr/>
        </p:nvSpPr>
        <p:spPr>
          <a:xfrm>
            <a:off x="7286625" y="6400800"/>
            <a:ext cx="154441" cy="133350"/>
          </a:xfrm>
          <a:prstGeom prst="rect">
            <a:avLst/>
          </a:prstGeom>
          <a:solidFill>
            <a:srgbClr val="EE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7" name="Rectangle 176"/>
          <p:cNvSpPr/>
          <p:nvPr/>
        </p:nvSpPr>
        <p:spPr>
          <a:xfrm>
            <a:off x="7436304" y="6400800"/>
            <a:ext cx="154441" cy="133350"/>
          </a:xfrm>
          <a:prstGeom prst="rect">
            <a:avLst/>
          </a:prstGeom>
          <a:solidFill>
            <a:srgbClr val="E3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8" name="Rectangle 177"/>
          <p:cNvSpPr/>
          <p:nvPr/>
        </p:nvSpPr>
        <p:spPr>
          <a:xfrm>
            <a:off x="7585982" y="6400800"/>
            <a:ext cx="154441" cy="133350"/>
          </a:xfrm>
          <a:prstGeom prst="rect">
            <a:avLst/>
          </a:prstGeom>
          <a:solidFill>
            <a:srgbClr val="D7E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9" name="Rectangle 178"/>
          <p:cNvSpPr/>
          <p:nvPr/>
        </p:nvSpPr>
        <p:spPr>
          <a:xfrm>
            <a:off x="7735661" y="6400800"/>
            <a:ext cx="154441" cy="133350"/>
          </a:xfrm>
          <a:prstGeom prst="rect">
            <a:avLst/>
          </a:prstGeom>
          <a:solidFill>
            <a:srgbClr val="CCE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0" name="Rectangle 179"/>
          <p:cNvSpPr/>
          <p:nvPr/>
        </p:nvSpPr>
        <p:spPr>
          <a:xfrm>
            <a:off x="7885339" y="6400800"/>
            <a:ext cx="154441" cy="133350"/>
          </a:xfrm>
          <a:prstGeom prst="rect">
            <a:avLst/>
          </a:prstGeom>
          <a:solidFill>
            <a:srgbClr val="C1D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1" name="Rectangle 180"/>
          <p:cNvSpPr/>
          <p:nvPr/>
        </p:nvSpPr>
        <p:spPr>
          <a:xfrm>
            <a:off x="8035018" y="6400800"/>
            <a:ext cx="154441" cy="133350"/>
          </a:xfrm>
          <a:prstGeom prst="rect">
            <a:avLst/>
          </a:prstGeom>
          <a:solidFill>
            <a:srgbClr val="B6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2" name="Rectangle 181"/>
          <p:cNvSpPr/>
          <p:nvPr/>
        </p:nvSpPr>
        <p:spPr>
          <a:xfrm>
            <a:off x="8184696" y="6400800"/>
            <a:ext cx="154441" cy="133350"/>
          </a:xfrm>
          <a:prstGeom prst="rect">
            <a:avLst/>
          </a:prstGeom>
          <a:solidFill>
            <a:srgbClr val="AAD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3" name="Rectangle 182"/>
          <p:cNvSpPr/>
          <p:nvPr/>
        </p:nvSpPr>
        <p:spPr>
          <a:xfrm>
            <a:off x="8334375" y="6400800"/>
            <a:ext cx="154441" cy="133350"/>
          </a:xfrm>
          <a:prstGeom prst="rect">
            <a:avLst/>
          </a:prstGeom>
          <a:solidFill>
            <a:srgbClr val="9BC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4" name="Rectangle 183"/>
          <p:cNvSpPr/>
          <p:nvPr/>
        </p:nvSpPr>
        <p:spPr>
          <a:xfrm>
            <a:off x="8484054" y="6400800"/>
            <a:ext cx="154441" cy="133350"/>
          </a:xfrm>
          <a:prstGeom prst="rect">
            <a:avLst/>
          </a:prstGeom>
          <a:solidFill>
            <a:srgbClr val="8DB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5" name="Rectangle 184"/>
          <p:cNvSpPr/>
          <p:nvPr/>
        </p:nvSpPr>
        <p:spPr>
          <a:xfrm>
            <a:off x="8633732" y="6400800"/>
            <a:ext cx="154441" cy="133350"/>
          </a:xfrm>
          <a:prstGeom prst="rect">
            <a:avLst/>
          </a:prstGeom>
          <a:solidFill>
            <a:srgbClr val="7EA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6" name="Rectangle 185"/>
          <p:cNvSpPr/>
          <p:nvPr/>
        </p:nvSpPr>
        <p:spPr>
          <a:xfrm>
            <a:off x="8783411" y="6400800"/>
            <a:ext cx="154441" cy="133350"/>
          </a:xfrm>
          <a:prstGeom prst="rect">
            <a:avLst/>
          </a:prstGeom>
          <a:solidFill>
            <a:srgbClr val="6A91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7" name="Rectangle 186"/>
          <p:cNvSpPr/>
          <p:nvPr/>
        </p:nvSpPr>
        <p:spPr>
          <a:xfrm>
            <a:off x="8933089" y="6400800"/>
            <a:ext cx="154441" cy="133350"/>
          </a:xfrm>
          <a:prstGeom prst="rect">
            <a:avLst/>
          </a:prstGeom>
          <a:solidFill>
            <a:srgbClr val="4773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8" name="Rectangle 187"/>
          <p:cNvSpPr/>
          <p:nvPr/>
        </p:nvSpPr>
        <p:spPr>
          <a:xfrm>
            <a:off x="9082768" y="6400800"/>
            <a:ext cx="154441" cy="133350"/>
          </a:xfrm>
          <a:prstGeom prst="rect">
            <a:avLst/>
          </a:prstGeom>
          <a:solidFill>
            <a:srgbClr val="235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9" name="Rectangle 188"/>
          <p:cNvSpPr/>
          <p:nvPr/>
        </p:nvSpPr>
        <p:spPr>
          <a:xfrm>
            <a:off x="9232446" y="6400800"/>
            <a:ext cx="154441" cy="133350"/>
          </a:xfrm>
          <a:prstGeom prst="rect">
            <a:avLst/>
          </a:prstGeom>
          <a:solidFill>
            <a:srgbClr val="003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0" name="TextBox 189"/>
          <p:cNvSpPr txBox="1"/>
          <p:nvPr/>
        </p:nvSpPr>
        <p:spPr>
          <a:xfrm>
            <a:off x="9477375" y="6376988"/>
            <a:ext cx="10477500" cy="191929"/>
          </a:xfrm>
          <a:prstGeom prst="rect">
            <a:avLst/>
          </a:prstGeom>
          <a:noFill/>
        </p:spPr>
        <p:txBody>
          <a:bodyPr wrap="none" lIns="0" rIns="0" tIns="0" bIns="0" anchor="ctr">
            <a:spAutoFit/>
          </a:bodyPr>
          <a:lstStyle/>
          <a:p>
            <a:pPr algn="l"/>
            <a:r>
              <a:rPr sz="1162" b="0">
                <a:solidFill>
                  <a:srgbClr val="00355F"/>
                </a:solidFill>
                <a:latin typeface="Arial"/>
              </a:rPr>
              <a:t>low → high</a:t>
            </a:r>
          </a:p>
        </p:txBody>
      </p:sp>
      <p:sp xmlns:a="http://schemas.openxmlformats.org/drawingml/2006/main">
        <p:nvSpPr>
          <p:cNvPr id="191" name="TextBox 190"/>
          <p:cNvSpPr txBox="1"/>
          <p:nvPr/>
        </p:nvSpPr>
        <p:spPr>
          <a:xfrm>
            <a:off x="10506075" y="6376988"/>
            <a:ext cx="10477500" cy="191929"/>
          </a:xfrm>
          <a:prstGeom prst="rect">
            <a:avLst/>
          </a:prstGeom>
          <a:noFill/>
        </p:spPr>
        <p:txBody>
          <a:bodyPr wrap="none" lIns="0" rIns="0" tIns="0" bIns="0" anchor="ctr">
            <a:spAutoFit/>
          </a:bodyPr>
          <a:lstStyle/>
          <a:p>
            <a:pPr algn="l"/>
            <a:r>
              <a:rPr sz="1162" b="0">
                <a:solidFill>
                  <a:srgbClr val="00355F"/>
                </a:solidFill>
                <a:latin typeface="Arial"/>
              </a:rPr>
              <a:t>relative value per label (illustrative)</a:t>
            </a:r>
          </a:p>
        </p:txBody>
      </p:sp>
      <p:sp xmlns:a="http://schemas.openxmlformats.org/drawingml/2006/main">
        <p:nvSpPr>
          <p:cNvPr id="192" name="TextBox 191"/>
          <p:cNvSpPr txBox="1"/>
          <p:nvPr/>
        </p:nvSpPr>
        <p:spPr>
          <a:xfrm>
            <a:off x="14792325" y="6376988"/>
            <a:ext cx="10477500" cy="191929"/>
          </a:xfrm>
          <a:prstGeom prst="rect">
            <a:avLst/>
          </a:prstGeom>
          <a:noFill/>
        </p:spPr>
        <p:txBody>
          <a:bodyPr wrap="none" lIns="0" rIns="0" tIns="0" bIns="0" anchor="ctr">
            <a:spAutoFit/>
          </a:bodyPr>
          <a:lstStyle/>
          <a:p>
            <a:pPr algn="l"/>
            <a:r>
              <a:rPr sz="1162" b="0">
                <a:solidFill>
                  <a:srgbClr val="A5A5A5"/>
                </a:solidFill>
                <a:latin typeface="Arial"/>
              </a:rPr>
              <a:t>— = not measured</a:t>
            </a:r>
          </a:p>
        </p:txBody>
      </p:sp>
      <p:sp xmlns:a="http://schemas.openxmlformats.org/drawingml/2006/main">
        <p:nvSpPr>
          <p:cNvPr id="193" name="TextBox 192"/>
          <p:cNvSpPr txBox="1"/>
          <p:nvPr/>
        </p:nvSpPr>
        <p:spPr>
          <a:xfrm>
            <a:off x="7267575" y="6572250"/>
            <a:ext cx="10477500" cy="210502"/>
          </a:xfrm>
          <a:prstGeom prst="rect">
            <a:avLst/>
          </a:prstGeom>
          <a:noFill/>
        </p:spPr>
        <p:txBody>
          <a:bodyPr wrap="none" lIns="0" rIns="0" tIns="0" bIns="0" anchor="ctr">
            <a:spAutoFit/>
          </a:bodyPr>
          <a:lstStyle/>
          <a:p>
            <a:pPr algn="l"/>
            <a:r>
              <a:rPr sz="1275" b="1">
                <a:solidFill>
                  <a:srgbClr val="00355F"/>
                </a:solidFill>
                <a:latin typeface="Arial"/>
              </a:rPr>
              <a:t>What the model learns: nine properties and how they trade off — developability and potency, not binding alone</a:t>
            </a:r>
          </a:p>
        </p:txBody>
      </p:sp>
      <p:sp xmlns:a="http://schemas.openxmlformats.org/drawingml/2006/main">
        <p:nvSpPr>
          <p:cNvPr id="194" name="Rounded Rectangle 193"/>
          <p:cNvSpPr/>
          <p:nvPr/>
        </p:nvSpPr>
        <p:spPr>
          <a:xfrm>
            <a:off x="685800" y="7172325"/>
            <a:ext cx="5305425" cy="1200150"/>
          </a:xfrm>
          <a:prstGeom prst="roundRect">
            <a:avLst>
              <a:gd name="adj" fmla="val 15873"/>
            </a:avLst>
          </a:prstGeom>
          <a:solidFill>
            <a:srgbClr val="FFFFFF"/>
          </a:solidFill>
          <a:ln w="952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5" name="TextBox 194"/>
          <p:cNvSpPr txBox="1"/>
          <p:nvPr/>
        </p:nvSpPr>
        <p:spPr>
          <a:xfrm>
            <a:off x="895350" y="7291388"/>
            <a:ext cx="10477500" cy="309562"/>
          </a:xfrm>
          <a:prstGeom prst="rect">
            <a:avLst/>
          </a:prstGeom>
          <a:noFill/>
        </p:spPr>
        <p:txBody>
          <a:bodyPr wrap="none" lIns="0" rIns="0" tIns="0" bIns="0" anchor="ctr">
            <a:spAutoFit/>
          </a:bodyPr>
          <a:lstStyle/>
          <a:p>
            <a:pPr algn="l"/>
            <a:r>
              <a:rPr sz="1875" b="1">
                <a:solidFill>
                  <a:srgbClr val="00355F"/>
                </a:solidFill>
                <a:latin typeface="Arial"/>
              </a:rPr>
              <a:t>Reuse existing data</a:t>
            </a:r>
          </a:p>
        </p:txBody>
      </p:sp>
      <p:sp xmlns:a="http://schemas.openxmlformats.org/drawingml/2006/main">
        <p:nvSpPr>
          <p:cNvPr id="196" name="TextBox 195"/>
          <p:cNvSpPr txBox="1"/>
          <p:nvPr/>
        </p:nvSpPr>
        <p:spPr>
          <a:xfrm>
            <a:off x="895350" y="7715250"/>
            <a:ext cx="10477500" cy="247650"/>
          </a:xfrm>
          <a:prstGeom prst="rect">
            <a:avLst/>
          </a:prstGeom>
          <a:noFill/>
        </p:spPr>
        <p:txBody>
          <a:bodyPr wrap="none" lIns="0" rIns="0" tIns="0" bIns="0" anchor="ctr">
            <a:spAutoFit/>
          </a:bodyPr>
          <a:lstStyle/>
          <a:p>
            <a:pPr algn="l"/>
            <a:r>
              <a:rPr sz="1500" b="0">
                <a:solidFill>
                  <a:srgbClr val="00355F"/>
                </a:solidFill>
                <a:latin typeface="Arial"/>
              </a:rPr>
              <a:t>Normalize formats, conditions and accessBetter training may need no new experiment</a:t>
            </a:r>
          </a:p>
        </p:txBody>
      </p:sp>
      <p:sp xmlns:a="http://schemas.openxmlformats.org/drawingml/2006/main">
        <p:nvSpPr>
          <p:cNvPr id="197" name="Rounded Rectangle 196"/>
          <p:cNvSpPr/>
          <p:nvPr/>
        </p:nvSpPr>
        <p:spPr>
          <a:xfrm>
            <a:off x="6191250" y="7172325"/>
            <a:ext cx="5305425" cy="1200150"/>
          </a:xfrm>
          <a:prstGeom prst="roundRect">
            <a:avLst>
              <a:gd name="adj" fmla="val 15873"/>
            </a:avLst>
          </a:prstGeom>
          <a:solidFill>
            <a:srgbClr val="EEF6FC"/>
          </a:solidFill>
          <a:ln w="952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8" name="TextBox 197"/>
          <p:cNvSpPr txBox="1"/>
          <p:nvPr/>
        </p:nvSpPr>
        <p:spPr>
          <a:xfrm>
            <a:off x="6400800" y="7291388"/>
            <a:ext cx="10477500" cy="309562"/>
          </a:xfrm>
          <a:prstGeom prst="rect">
            <a:avLst/>
          </a:prstGeom>
          <a:noFill/>
        </p:spPr>
        <p:txBody>
          <a:bodyPr wrap="none" lIns="0" rIns="0" tIns="0" bIns="0" anchor="ctr">
            <a:spAutoFit/>
          </a:bodyPr>
          <a:lstStyle/>
          <a:p>
            <a:pPr algn="l"/>
            <a:r>
              <a:rPr sz="1875" b="1">
                <a:solidFill>
                  <a:srgbClr val="00355F"/>
                </a:solidFill>
                <a:latin typeface="Arial"/>
              </a:rPr>
              <a:t>Stage 0: fill data gaps</a:t>
            </a:r>
          </a:p>
        </p:txBody>
      </p:sp>
      <p:sp xmlns:a="http://schemas.openxmlformats.org/drawingml/2006/main">
        <p:nvSpPr>
          <p:cNvPr id="199" name="TextBox 198"/>
          <p:cNvSpPr txBox="1"/>
          <p:nvPr/>
        </p:nvSpPr>
        <p:spPr>
          <a:xfrm>
            <a:off x="6400800" y="7715250"/>
            <a:ext cx="10477500" cy="247650"/>
          </a:xfrm>
          <a:prstGeom prst="rect">
            <a:avLst/>
          </a:prstGeom>
          <a:noFill/>
        </p:spPr>
        <p:txBody>
          <a:bodyPr wrap="none" lIns="0" rIns="0" tIns="0" bIns="0" anchor="ctr">
            <a:spAutoFit/>
          </a:bodyPr>
          <a:lstStyle/>
          <a:p>
            <a:pPr algn="l"/>
            <a:r>
              <a:rPr sz="1500" b="0">
                <a:solidFill>
                  <a:srgbClr val="00355F"/>
                </a:solidFill>
                <a:latin typeface="Arial"/>
              </a:rPr>
              <a:t>Add missing assays and biological diversityCreate reusable model-training datasets</a:t>
            </a:r>
          </a:p>
        </p:txBody>
      </p:sp>
      <p:sp xmlns:a="http://schemas.openxmlformats.org/drawingml/2006/main">
        <p:nvSpPr>
          <p:cNvPr id="200" name="Rounded Rectangle 199"/>
          <p:cNvSpPr/>
          <p:nvPr/>
        </p:nvSpPr>
        <p:spPr>
          <a:xfrm>
            <a:off x="11696700" y="7172325"/>
            <a:ext cx="5905500" cy="1200150"/>
          </a:xfrm>
          <a:prstGeom prst="roundRect">
            <a:avLst>
              <a:gd name="adj" fmla="val 15873"/>
            </a:avLst>
          </a:prstGeom>
          <a:solidFill>
            <a:srgbClr val="FFFFFF"/>
          </a:solidFill>
          <a:ln w="952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1" name="TextBox 200"/>
          <p:cNvSpPr txBox="1"/>
          <p:nvPr/>
        </p:nvSpPr>
        <p:spPr>
          <a:xfrm>
            <a:off x="11906250" y="7291388"/>
            <a:ext cx="10477500" cy="309562"/>
          </a:xfrm>
          <a:prstGeom prst="rect">
            <a:avLst/>
          </a:prstGeom>
          <a:noFill/>
        </p:spPr>
        <p:txBody>
          <a:bodyPr wrap="none" lIns="0" rIns="0" tIns="0" bIns="0" anchor="ctr">
            <a:spAutoFit/>
          </a:bodyPr>
          <a:lstStyle/>
          <a:p>
            <a:pPr algn="l"/>
            <a:r>
              <a:rPr sz="1875" b="1">
                <a:solidFill>
                  <a:srgbClr val="00355F"/>
                </a:solidFill>
                <a:latin typeface="Arial"/>
              </a:rPr>
              <a:t>Active learning: measure selectively</a:t>
            </a:r>
          </a:p>
        </p:txBody>
      </p:sp>
      <p:sp xmlns:a="http://schemas.openxmlformats.org/drawingml/2006/main">
        <p:nvSpPr>
          <p:cNvPr id="202" name="TextBox 201"/>
          <p:cNvSpPr txBox="1"/>
          <p:nvPr/>
        </p:nvSpPr>
        <p:spPr>
          <a:xfrm>
            <a:off x="11906250" y="7715250"/>
            <a:ext cx="10477500" cy="247650"/>
          </a:xfrm>
          <a:prstGeom prst="rect">
            <a:avLst/>
          </a:prstGeom>
          <a:noFill/>
        </p:spPr>
        <p:txBody>
          <a:bodyPr wrap="none" lIns="0" rIns="0" tIns="0" bIns="0" anchor="ctr">
            <a:spAutoFit/>
          </a:bodyPr>
          <a:lstStyle/>
          <a:p>
            <a:pPr algn="l"/>
            <a:r>
              <a:rPr sz="1500" b="0">
                <a:solidFill>
                  <a:srgbClr val="00355F"/>
                </a:solidFill>
                <a:latin typeface="Arial"/>
              </a:rPr>
              <a:t>Prioritize informative molecules and testsLimit coverage of costly measurements</a:t>
            </a:r>
          </a:p>
        </p:txBody>
      </p:sp>
      <p:sp xmlns:a="http://schemas.openxmlformats.org/drawingml/2006/main">
        <p:nvSpPr>
          <p:cNvPr id="203" name="Rounded Rectangle 202"/>
          <p:cNvSpPr/>
          <p:nvPr/>
        </p:nvSpPr>
        <p:spPr>
          <a:xfrm>
            <a:off x="685800" y="8429625"/>
            <a:ext cx="16916400" cy="1333500"/>
          </a:xfrm>
          <a:prstGeom prst="roundRect">
            <a:avLst>
              <a:gd name="adj" fmla="val 14285"/>
            </a:avLst>
          </a:prstGeom>
          <a:solidFill>
            <a:srgbClr val="F4F9FD"/>
          </a:solidFill>
          <a:ln w="952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4" name="TextBox 203"/>
          <p:cNvSpPr txBox="1"/>
          <p:nvPr/>
        </p:nvSpPr>
        <p:spPr>
          <a:xfrm>
            <a:off x="895350" y="8486775"/>
            <a:ext cx="10477500" cy="210502"/>
          </a:xfrm>
          <a:prstGeom prst="rect">
            <a:avLst/>
          </a:prstGeom>
          <a:noFill/>
        </p:spPr>
        <p:txBody>
          <a:bodyPr wrap="none" lIns="0" rIns="0" tIns="0" bIns="0" anchor="ctr">
            <a:spAutoFit/>
          </a:bodyPr>
          <a:lstStyle/>
          <a:p>
            <a:pPr algn="l"/>
            <a:r>
              <a:rPr sz="1275" b="1">
                <a:solidFill>
                  <a:srgbClr val="00355F"/>
                </a:solidFill>
                <a:latin typeface="Arial"/>
              </a:rPr>
              <a:t>Terminology — what each of the nine labels measures</a:t>
            </a:r>
          </a:p>
        </p:txBody>
      </p:sp>
      <p:sp xmlns:a="http://schemas.openxmlformats.org/drawingml/2006/main">
        <p:nvSpPr>
          <p:cNvPr id="205" name="Rounded Rectangle 204"/>
          <p:cNvSpPr/>
          <p:nvPr/>
        </p:nvSpPr>
        <p:spPr>
          <a:xfrm>
            <a:off x="914400" y="872490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6" name="TextBox 205"/>
          <p:cNvSpPr txBox="1"/>
          <p:nvPr/>
        </p:nvSpPr>
        <p:spPr>
          <a:xfrm>
            <a:off x="1009650" y="8782050"/>
            <a:ext cx="10477500" cy="173355"/>
          </a:xfrm>
          <a:prstGeom prst="rect">
            <a:avLst/>
          </a:prstGeom>
          <a:noFill/>
        </p:spPr>
        <p:txBody>
          <a:bodyPr wrap="none" lIns="0" rIns="0" tIns="0" bIns="0" anchor="ctr">
            <a:spAutoFit/>
          </a:bodyPr>
          <a:lstStyle/>
          <a:p>
            <a:pPr algn="l"/>
            <a:r>
              <a:rPr sz="1050" b="1">
                <a:solidFill>
                  <a:srgbClr val="00355F"/>
                </a:solidFill>
                <a:latin typeface="Arial"/>
              </a:rPr>
              <a:t>KD</a:t>
            </a:r>
          </a:p>
        </p:txBody>
      </p:sp>
      <p:sp xmlns:a="http://schemas.openxmlformats.org/drawingml/2006/main">
        <p:nvSpPr>
          <p:cNvPr id="207" name="TextBox 206"/>
          <p:cNvSpPr txBox="1"/>
          <p:nvPr/>
        </p:nvSpPr>
        <p:spPr>
          <a:xfrm>
            <a:off x="2019300" y="8782050"/>
            <a:ext cx="10477500" cy="173355"/>
          </a:xfrm>
          <a:prstGeom prst="rect">
            <a:avLst/>
          </a:prstGeom>
          <a:noFill/>
        </p:spPr>
        <p:txBody>
          <a:bodyPr wrap="none" lIns="0" rIns="0" tIns="0" bIns="0" anchor="ctr">
            <a:spAutoFit/>
          </a:bodyPr>
          <a:lstStyle/>
          <a:p>
            <a:pPr algn="l"/>
            <a:r>
              <a:rPr sz="1050" b="0">
                <a:solidFill>
                  <a:srgbClr val="33475B"/>
                </a:solidFill>
                <a:latin typeface="Arial"/>
              </a:rPr>
              <a:t>overall binding strength; lower = tighter</a:t>
            </a:r>
          </a:p>
        </p:txBody>
      </p:sp>
      <p:sp xmlns:a="http://schemas.openxmlformats.org/drawingml/2006/main">
        <p:nvSpPr>
          <p:cNvPr id="208" name="Rounded Rectangle 207"/>
          <p:cNvSpPr/>
          <p:nvPr/>
        </p:nvSpPr>
        <p:spPr>
          <a:xfrm>
            <a:off x="6429375" y="872490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9" name="TextBox 208"/>
          <p:cNvSpPr txBox="1"/>
          <p:nvPr/>
        </p:nvSpPr>
        <p:spPr>
          <a:xfrm>
            <a:off x="6524625" y="8782050"/>
            <a:ext cx="10477500" cy="173355"/>
          </a:xfrm>
          <a:prstGeom prst="rect">
            <a:avLst/>
          </a:prstGeom>
          <a:noFill/>
        </p:spPr>
        <p:txBody>
          <a:bodyPr wrap="none" lIns="0" rIns="0" tIns="0" bIns="0" anchor="ctr">
            <a:spAutoFit/>
          </a:bodyPr>
          <a:lstStyle/>
          <a:p>
            <a:pPr algn="l"/>
            <a:r>
              <a:rPr sz="1050" b="1">
                <a:solidFill>
                  <a:srgbClr val="00355F"/>
                </a:solidFill>
                <a:latin typeface="Arial"/>
              </a:rPr>
              <a:t>kon</a:t>
            </a:r>
          </a:p>
        </p:txBody>
      </p:sp>
      <p:sp xmlns:a="http://schemas.openxmlformats.org/drawingml/2006/main">
        <p:nvSpPr>
          <p:cNvPr id="210" name="TextBox 209"/>
          <p:cNvSpPr txBox="1"/>
          <p:nvPr/>
        </p:nvSpPr>
        <p:spPr>
          <a:xfrm>
            <a:off x="7534275" y="8782050"/>
            <a:ext cx="10477500" cy="173355"/>
          </a:xfrm>
          <a:prstGeom prst="rect">
            <a:avLst/>
          </a:prstGeom>
          <a:noFill/>
        </p:spPr>
        <p:txBody>
          <a:bodyPr wrap="none" lIns="0" rIns="0" tIns="0" bIns="0" anchor="ctr">
            <a:spAutoFit/>
          </a:bodyPr>
          <a:lstStyle/>
          <a:p>
            <a:pPr algn="l"/>
            <a:r>
              <a:rPr sz="1050" b="0">
                <a:solidFill>
                  <a:srgbClr val="33475B"/>
                </a:solidFill>
                <a:latin typeface="Arial"/>
              </a:rPr>
              <a:t>on-rate; how quickly binding forms</a:t>
            </a:r>
          </a:p>
        </p:txBody>
      </p:sp>
      <p:sp xmlns:a="http://schemas.openxmlformats.org/drawingml/2006/main">
        <p:nvSpPr>
          <p:cNvPr id="211" name="Rounded Rectangle 210"/>
          <p:cNvSpPr/>
          <p:nvPr/>
        </p:nvSpPr>
        <p:spPr>
          <a:xfrm>
            <a:off x="11944350" y="872490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2" name="TextBox 211"/>
          <p:cNvSpPr txBox="1"/>
          <p:nvPr/>
        </p:nvSpPr>
        <p:spPr>
          <a:xfrm>
            <a:off x="12039600" y="8782050"/>
            <a:ext cx="10477500" cy="173355"/>
          </a:xfrm>
          <a:prstGeom prst="rect">
            <a:avLst/>
          </a:prstGeom>
          <a:noFill/>
        </p:spPr>
        <p:txBody>
          <a:bodyPr wrap="none" lIns="0" rIns="0" tIns="0" bIns="0" anchor="ctr">
            <a:spAutoFit/>
          </a:bodyPr>
          <a:lstStyle/>
          <a:p>
            <a:pPr algn="l"/>
            <a:r>
              <a:rPr sz="1050" b="1">
                <a:solidFill>
                  <a:srgbClr val="00355F"/>
                </a:solidFill>
                <a:latin typeface="Arial"/>
              </a:rPr>
              <a:t>koff</a:t>
            </a:r>
          </a:p>
        </p:txBody>
      </p:sp>
      <p:sp xmlns:a="http://schemas.openxmlformats.org/drawingml/2006/main">
        <p:nvSpPr>
          <p:cNvPr id="213" name="TextBox 212"/>
          <p:cNvSpPr txBox="1"/>
          <p:nvPr/>
        </p:nvSpPr>
        <p:spPr>
          <a:xfrm>
            <a:off x="13049250" y="8782050"/>
            <a:ext cx="10477500" cy="173355"/>
          </a:xfrm>
          <a:prstGeom prst="rect">
            <a:avLst/>
          </a:prstGeom>
          <a:noFill/>
        </p:spPr>
        <p:txBody>
          <a:bodyPr wrap="none" lIns="0" rIns="0" tIns="0" bIns="0" anchor="ctr">
            <a:spAutoFit/>
          </a:bodyPr>
          <a:lstStyle/>
          <a:p>
            <a:pPr algn="l"/>
            <a:r>
              <a:rPr sz="1050" b="0">
                <a:solidFill>
                  <a:srgbClr val="33475B"/>
                </a:solidFill>
                <a:latin typeface="Arial"/>
              </a:rPr>
              <a:t>off-rate; how long it stays bound</a:t>
            </a:r>
          </a:p>
        </p:txBody>
      </p:sp>
      <p:sp xmlns:a="http://schemas.openxmlformats.org/drawingml/2006/main">
        <p:nvSpPr>
          <p:cNvPr id="214" name="Rounded Rectangle 213"/>
          <p:cNvSpPr/>
          <p:nvPr/>
        </p:nvSpPr>
        <p:spPr>
          <a:xfrm>
            <a:off x="914400" y="904875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5" name="TextBox 214"/>
          <p:cNvSpPr txBox="1"/>
          <p:nvPr/>
        </p:nvSpPr>
        <p:spPr>
          <a:xfrm>
            <a:off x="1009650" y="9105900"/>
            <a:ext cx="10477500" cy="173355"/>
          </a:xfrm>
          <a:prstGeom prst="rect">
            <a:avLst/>
          </a:prstGeom>
          <a:noFill/>
        </p:spPr>
        <p:txBody>
          <a:bodyPr wrap="none" lIns="0" rIns="0" tIns="0" bIns="0" anchor="ctr">
            <a:spAutoFit/>
          </a:bodyPr>
          <a:lstStyle/>
          <a:p>
            <a:pPr algn="l"/>
            <a:r>
              <a:rPr sz="1050" b="1">
                <a:solidFill>
                  <a:srgbClr val="00355F"/>
                </a:solidFill>
                <a:latin typeface="Arial"/>
              </a:rPr>
              <a:t>expression</a:t>
            </a:r>
          </a:p>
        </p:txBody>
      </p:sp>
      <p:sp xmlns:a="http://schemas.openxmlformats.org/drawingml/2006/main">
        <p:nvSpPr>
          <p:cNvPr id="216" name="TextBox 215"/>
          <p:cNvSpPr txBox="1"/>
          <p:nvPr/>
        </p:nvSpPr>
        <p:spPr>
          <a:xfrm>
            <a:off x="2019300" y="9105900"/>
            <a:ext cx="10477500" cy="173355"/>
          </a:xfrm>
          <a:prstGeom prst="rect">
            <a:avLst/>
          </a:prstGeom>
          <a:noFill/>
        </p:spPr>
        <p:txBody>
          <a:bodyPr wrap="none" lIns="0" rIns="0" tIns="0" bIns="0" anchor="ctr">
            <a:spAutoFit/>
          </a:bodyPr>
          <a:lstStyle/>
          <a:p>
            <a:pPr algn="l"/>
            <a:r>
              <a:rPr sz="1050" b="0">
                <a:solidFill>
                  <a:srgbClr val="33475B"/>
                </a:solidFill>
                <a:latin typeface="Arial"/>
              </a:rPr>
              <a:t>how much antibody the cell makes</a:t>
            </a:r>
          </a:p>
        </p:txBody>
      </p:sp>
      <p:sp xmlns:a="http://schemas.openxmlformats.org/drawingml/2006/main">
        <p:nvSpPr>
          <p:cNvPr id="217" name="Rounded Rectangle 216"/>
          <p:cNvSpPr/>
          <p:nvPr/>
        </p:nvSpPr>
        <p:spPr>
          <a:xfrm>
            <a:off x="6429375" y="904875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8" name="TextBox 217"/>
          <p:cNvSpPr txBox="1"/>
          <p:nvPr/>
        </p:nvSpPr>
        <p:spPr>
          <a:xfrm>
            <a:off x="6524625" y="9105900"/>
            <a:ext cx="10477500" cy="173355"/>
          </a:xfrm>
          <a:prstGeom prst="rect">
            <a:avLst/>
          </a:prstGeom>
          <a:noFill/>
        </p:spPr>
        <p:txBody>
          <a:bodyPr wrap="none" lIns="0" rIns="0" tIns="0" bIns="0" anchor="ctr">
            <a:spAutoFit/>
          </a:bodyPr>
          <a:lstStyle/>
          <a:p>
            <a:pPr algn="l"/>
            <a:r>
              <a:rPr sz="1050" b="1">
                <a:solidFill>
                  <a:srgbClr val="00355F"/>
                </a:solidFill>
                <a:latin typeface="Arial"/>
              </a:rPr>
              <a:t>Tm</a:t>
            </a:r>
          </a:p>
        </p:txBody>
      </p:sp>
      <p:sp xmlns:a="http://schemas.openxmlformats.org/drawingml/2006/main">
        <p:nvSpPr>
          <p:cNvPr id="219" name="TextBox 218"/>
          <p:cNvSpPr txBox="1"/>
          <p:nvPr/>
        </p:nvSpPr>
        <p:spPr>
          <a:xfrm>
            <a:off x="7534275" y="9105900"/>
            <a:ext cx="10477500" cy="173355"/>
          </a:xfrm>
          <a:prstGeom prst="rect">
            <a:avLst/>
          </a:prstGeom>
          <a:noFill/>
        </p:spPr>
        <p:txBody>
          <a:bodyPr wrap="none" lIns="0" rIns="0" tIns="0" bIns="0" anchor="ctr">
            <a:spAutoFit/>
          </a:bodyPr>
          <a:lstStyle/>
          <a:p>
            <a:pPr algn="l"/>
            <a:r>
              <a:rPr sz="1050" b="0">
                <a:solidFill>
                  <a:srgbClr val="33475B"/>
                </a:solidFill>
                <a:latin typeface="Arial"/>
              </a:rPr>
              <a:t>melting point; thermal stability</a:t>
            </a:r>
          </a:p>
        </p:txBody>
      </p:sp>
      <p:sp xmlns:a="http://schemas.openxmlformats.org/drawingml/2006/main">
        <p:nvSpPr>
          <p:cNvPr id="220" name="Rounded Rectangle 219"/>
          <p:cNvSpPr/>
          <p:nvPr/>
        </p:nvSpPr>
        <p:spPr>
          <a:xfrm>
            <a:off x="11944350" y="904875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1" name="TextBox 220"/>
          <p:cNvSpPr txBox="1"/>
          <p:nvPr/>
        </p:nvSpPr>
        <p:spPr>
          <a:xfrm>
            <a:off x="12039600" y="9105900"/>
            <a:ext cx="10477500" cy="173355"/>
          </a:xfrm>
          <a:prstGeom prst="rect">
            <a:avLst/>
          </a:prstGeom>
          <a:noFill/>
        </p:spPr>
        <p:txBody>
          <a:bodyPr wrap="none" lIns="0" rIns="0" tIns="0" bIns="0" anchor="ctr">
            <a:spAutoFit/>
          </a:bodyPr>
          <a:lstStyle/>
          <a:p>
            <a:pPr algn="l"/>
            <a:r>
              <a:rPr sz="1050" b="1">
                <a:solidFill>
                  <a:srgbClr val="00355F"/>
                </a:solidFill>
                <a:latin typeface="Arial"/>
              </a:rPr>
              <a:t>aggregation</a:t>
            </a:r>
          </a:p>
        </p:txBody>
      </p:sp>
      <p:sp xmlns:a="http://schemas.openxmlformats.org/drawingml/2006/main">
        <p:nvSpPr>
          <p:cNvPr id="222" name="TextBox 221"/>
          <p:cNvSpPr txBox="1"/>
          <p:nvPr/>
        </p:nvSpPr>
        <p:spPr>
          <a:xfrm>
            <a:off x="13049250" y="9105900"/>
            <a:ext cx="10477500" cy="173355"/>
          </a:xfrm>
          <a:prstGeom prst="rect">
            <a:avLst/>
          </a:prstGeom>
          <a:noFill/>
        </p:spPr>
        <p:txBody>
          <a:bodyPr wrap="none" lIns="0" rIns="0" tIns="0" bIns="0" anchor="ctr">
            <a:spAutoFit/>
          </a:bodyPr>
          <a:lstStyle/>
          <a:p>
            <a:pPr algn="l"/>
            <a:r>
              <a:rPr sz="1050" b="0">
                <a:solidFill>
                  <a:srgbClr val="33475B"/>
                </a:solidFill>
                <a:latin typeface="Arial"/>
              </a:rPr>
              <a:t>self-clumping; risks immunogenicity</a:t>
            </a:r>
          </a:p>
        </p:txBody>
      </p:sp>
      <p:sp xmlns:a="http://schemas.openxmlformats.org/drawingml/2006/main">
        <p:nvSpPr>
          <p:cNvPr id="223" name="Rounded Rectangle 222"/>
          <p:cNvSpPr/>
          <p:nvPr/>
        </p:nvSpPr>
        <p:spPr>
          <a:xfrm>
            <a:off x="914400" y="937260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4" name="TextBox 223"/>
          <p:cNvSpPr txBox="1"/>
          <p:nvPr/>
        </p:nvSpPr>
        <p:spPr>
          <a:xfrm>
            <a:off x="1009650" y="9429750"/>
            <a:ext cx="10477500" cy="173355"/>
          </a:xfrm>
          <a:prstGeom prst="rect">
            <a:avLst/>
          </a:prstGeom>
          <a:noFill/>
        </p:spPr>
        <p:txBody>
          <a:bodyPr wrap="none" lIns="0" rIns="0" tIns="0" bIns="0" anchor="ctr">
            <a:spAutoFit/>
          </a:bodyPr>
          <a:lstStyle/>
          <a:p>
            <a:pPr algn="l"/>
            <a:r>
              <a:rPr sz="1050" b="1">
                <a:solidFill>
                  <a:srgbClr val="00355F"/>
                </a:solidFill>
                <a:latin typeface="Arial"/>
              </a:rPr>
              <a:t>polyreactivity</a:t>
            </a:r>
          </a:p>
        </p:txBody>
      </p:sp>
      <p:sp xmlns:a="http://schemas.openxmlformats.org/drawingml/2006/main">
        <p:nvSpPr>
          <p:cNvPr id="225" name="TextBox 224"/>
          <p:cNvSpPr txBox="1"/>
          <p:nvPr/>
        </p:nvSpPr>
        <p:spPr>
          <a:xfrm>
            <a:off x="2019300" y="9429750"/>
            <a:ext cx="10477500" cy="173355"/>
          </a:xfrm>
          <a:prstGeom prst="rect">
            <a:avLst/>
          </a:prstGeom>
          <a:noFill/>
        </p:spPr>
        <p:txBody>
          <a:bodyPr wrap="none" lIns="0" rIns="0" tIns="0" bIns="0" anchor="ctr">
            <a:spAutoFit/>
          </a:bodyPr>
          <a:lstStyle/>
          <a:p>
            <a:pPr algn="l"/>
            <a:r>
              <a:rPr sz="1050" b="0">
                <a:solidFill>
                  <a:srgbClr val="33475B"/>
                </a:solidFill>
                <a:latin typeface="Arial"/>
              </a:rPr>
              <a:t>sticks to off-targets; safety flag</a:t>
            </a:r>
          </a:p>
        </p:txBody>
      </p:sp>
      <p:sp xmlns:a="http://schemas.openxmlformats.org/drawingml/2006/main">
        <p:nvSpPr>
          <p:cNvPr id="226" name="Rounded Rectangle 225"/>
          <p:cNvSpPr/>
          <p:nvPr/>
        </p:nvSpPr>
        <p:spPr>
          <a:xfrm>
            <a:off x="6429375" y="937260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7" name="TextBox 226"/>
          <p:cNvSpPr txBox="1"/>
          <p:nvPr/>
        </p:nvSpPr>
        <p:spPr>
          <a:xfrm>
            <a:off x="6524625" y="9429750"/>
            <a:ext cx="10477500" cy="173355"/>
          </a:xfrm>
          <a:prstGeom prst="rect">
            <a:avLst/>
          </a:prstGeom>
          <a:noFill/>
        </p:spPr>
        <p:txBody>
          <a:bodyPr wrap="none" lIns="0" rIns="0" tIns="0" bIns="0" anchor="ctr">
            <a:spAutoFit/>
          </a:bodyPr>
          <a:lstStyle/>
          <a:p>
            <a:pPr algn="l"/>
            <a:r>
              <a:rPr sz="1050" b="1">
                <a:solidFill>
                  <a:srgbClr val="00355F"/>
                </a:solidFill>
                <a:latin typeface="Arial"/>
              </a:rPr>
              <a:t>epitope</a:t>
            </a:r>
          </a:p>
        </p:txBody>
      </p:sp>
      <p:sp xmlns:a="http://schemas.openxmlformats.org/drawingml/2006/main">
        <p:nvSpPr>
          <p:cNvPr id="228" name="TextBox 227"/>
          <p:cNvSpPr txBox="1"/>
          <p:nvPr/>
        </p:nvSpPr>
        <p:spPr>
          <a:xfrm>
            <a:off x="7534275" y="9429750"/>
            <a:ext cx="10477500" cy="173355"/>
          </a:xfrm>
          <a:prstGeom prst="rect">
            <a:avLst/>
          </a:prstGeom>
          <a:noFill/>
        </p:spPr>
        <p:txBody>
          <a:bodyPr wrap="none" lIns="0" rIns="0" tIns="0" bIns="0" anchor="ctr">
            <a:spAutoFit/>
          </a:bodyPr>
          <a:lstStyle/>
          <a:p>
            <a:pPr algn="l"/>
            <a:r>
              <a:rPr sz="1050" b="0">
                <a:solidFill>
                  <a:srgbClr val="33475B"/>
                </a:solidFill>
                <a:latin typeface="Arial"/>
              </a:rPr>
              <a:t>where on the target it binds</a:t>
            </a:r>
          </a:p>
        </p:txBody>
      </p:sp>
      <p:sp xmlns:a="http://schemas.openxmlformats.org/drawingml/2006/main">
        <p:nvSpPr>
          <p:cNvPr id="229" name="Rounded Rectangle 228"/>
          <p:cNvSpPr/>
          <p:nvPr/>
        </p:nvSpPr>
        <p:spPr>
          <a:xfrm>
            <a:off x="11944350" y="9372600"/>
            <a:ext cx="5429250" cy="285750"/>
          </a:xfrm>
          <a:prstGeom prst="roundRect">
            <a:avLst>
              <a:gd name="adj" fmla="val 33333"/>
            </a:avLst>
          </a:prstGeom>
          <a:solidFill>
            <a:srgbClr val="FFFFFF"/>
          </a:solidFill>
          <a:ln w="7620">
            <a:solidFill>
              <a:srgbClr val="CFE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0" name="TextBox 229"/>
          <p:cNvSpPr txBox="1"/>
          <p:nvPr/>
        </p:nvSpPr>
        <p:spPr>
          <a:xfrm>
            <a:off x="12039600" y="9429750"/>
            <a:ext cx="10477500" cy="173355"/>
          </a:xfrm>
          <a:prstGeom prst="rect">
            <a:avLst/>
          </a:prstGeom>
          <a:noFill/>
        </p:spPr>
        <p:txBody>
          <a:bodyPr wrap="none" lIns="0" rIns="0" tIns="0" bIns="0" anchor="ctr">
            <a:spAutoFit/>
          </a:bodyPr>
          <a:lstStyle/>
          <a:p>
            <a:pPr algn="l"/>
            <a:r>
              <a:rPr sz="1050" b="1">
                <a:solidFill>
                  <a:srgbClr val="00355F"/>
                </a:solidFill>
                <a:latin typeface="Arial"/>
              </a:rPr>
              <a:t>cell potency</a:t>
            </a:r>
          </a:p>
        </p:txBody>
      </p:sp>
      <p:sp xmlns:a="http://schemas.openxmlformats.org/drawingml/2006/main">
        <p:nvSpPr>
          <p:cNvPr id="231" name="TextBox 230"/>
          <p:cNvSpPr txBox="1"/>
          <p:nvPr/>
        </p:nvSpPr>
        <p:spPr>
          <a:xfrm>
            <a:off x="13049250" y="9429750"/>
            <a:ext cx="10477500" cy="173355"/>
          </a:xfrm>
          <a:prstGeom prst="rect">
            <a:avLst/>
          </a:prstGeom>
          <a:noFill/>
        </p:spPr>
        <p:txBody>
          <a:bodyPr wrap="none" lIns="0" rIns="0" tIns="0" bIns="0" anchor="ctr">
            <a:spAutoFit/>
          </a:bodyPr>
          <a:lstStyle/>
          <a:p>
            <a:pPr algn="l"/>
            <a:r>
              <a:rPr sz="1050" b="0">
                <a:solidFill>
                  <a:srgbClr val="33475B"/>
                </a:solidFill>
                <a:latin typeface="Arial"/>
              </a:rPr>
              <a:t>functional effect in living cells</a:t>
            </a:r>
          </a:p>
        </p:txBody>
      </p:sp>
      <p:sp xmlns:a="http://schemas.openxmlformats.org/drawingml/2006/main">
        <p:nvSpPr>
          <p:cNvPr id="232" name="TextBox 231"/>
          <p:cNvSpPr txBox="1"/>
          <p:nvPr/>
        </p:nvSpPr>
        <p:spPr>
          <a:xfrm>
            <a:off x="666750" y="9782175"/>
            <a:ext cx="10477500" cy="210502"/>
          </a:xfrm>
          <a:prstGeom prst="rect">
            <a:avLst/>
          </a:prstGeom>
          <a:noFill/>
        </p:spPr>
        <p:txBody>
          <a:bodyPr wrap="none" lIns="0" rIns="0" tIns="0" bIns="0" anchor="ctr">
            <a:spAutoFit/>
          </a:bodyPr>
          <a:lstStyle/>
          <a:p>
            <a:pPr algn="l"/>
            <a:r>
              <a:rPr sz="1275" b="0">
                <a:solidFill>
                  <a:srgbClr val="00355F"/>
                </a:solidFill>
                <a:latin typeface="Arial"/>
              </a:rPr>
              <a:t>Illustrative counts. Nine label types are not nine independent assays; richer data need not come at unchanged cost.</a:t>
            </a:r>
          </a:p>
        </p:txBody>
      </p:sp>
      <p:sp xmlns:a="http://schemas.openxmlformats.org/drawingml/2006/main">
        <p:nvSpPr>
          <p:cNvPr id="233" name="TextBox 232"/>
          <p:cNvSpPr txBox="1"/>
          <p:nvPr/>
        </p:nvSpPr>
        <p:spPr>
          <a:xfrm>
            <a:off x="666750" y="10025062"/>
            <a:ext cx="10477500" cy="191929"/>
          </a:xfrm>
          <a:prstGeom prst="rect">
            <a:avLst/>
          </a:prstGeom>
          <a:noFill/>
        </p:spPr>
        <p:txBody>
          <a:bodyPr wrap="none" lIns="0" rIns="0" tIns="0" bIns="0" anchor="ctr">
            <a:spAutoFit/>
          </a:bodyPr>
          <a:lstStyle/>
          <a:p>
            <a:pPr algn="l"/>
            <a:r>
              <a:rPr sz="1162" b="0">
                <a:solidFill>
                  <a:srgbClr val="00355F"/>
                </a:solidFill>
                <a:latin typeface="Arial"/>
              </a:rPr>
              <a:t>Sources: Jain et al., 2017; Arsiwala et al., 2025; van Niekerk et al., 2026. Mechanism illustration; definitions and links in SOURCES.md.</a:t>
            </a:r>
          </a:p>
        </p:txBody>
      </p:sp>
    </p:spTree>
    <p:extLst>
      <p:ext uri="{BB962C8B-B14F-4D97-AF65-F5344CB8AC3E}">
        <p14:creationId xmlns:p14="http://schemas.microsoft.com/office/powerpoint/2010/main" val="21385369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
            <a:extLst xmlns:a="http://schemas.openxmlformats.org/drawingml/2006/main">
              <a:ext uri="{FF2B5EF4-FFF2-40B4-BE49-F238E27FC236}">
                <a16:creationId xmlns:a16="http://schemas.microsoft.com/office/drawing/2014/main" id="{8A146AF6-5BC4-47D6-8446-2D333B0AF25C}"/>
              </a:ext>
            </a:extLst>
          </p:cNvPr>
          <p:cNvSpPr>
            <a:spLocks xmlns:a="http://schemas.openxmlformats.org/drawingml/2006/main" noGrp="1"/>
          </p:cNvSpPr>
          <p:nvPr/>
        </p:nvSpPr>
        <p:spPr>
          <a:xfrm xmlns:a="http://schemas.openxmlformats.org/drawingml/2006/main">
            <a:off x="685800" y="457200"/>
            <a:ext cx="85725"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Experimental data density and the LST ecosystem">
            <a:extLst xmlns:a="http://schemas.openxmlformats.org/drawingml/2006/main">
              <a:ext uri="{FF2B5EF4-FFF2-40B4-BE49-F238E27FC236}">
                <a16:creationId xmlns:a16="http://schemas.microsoft.com/office/drawing/2014/main" id="{7A3AE92C-ED72-456C-B04A-121FFF431267}"/>
              </a:ext>
            </a:extLst>
          </p:cNvPr>
          <p:cNvSpPr>
            <a:spLocks xmlns:a="http://schemas.openxmlformats.org/drawingml/2006/main" noGrp="1"/>
          </p:cNvSpPr>
          <p:nvPr/>
        </p:nvSpPr>
        <p:spPr>
          <a:xfrm xmlns:a="http://schemas.openxmlformats.org/drawingml/2006/main">
            <a:off x="1000125" y="428625"/>
            <a:ext cx="1652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Experimental data density and the LST ecosystem</a:t>
            </a:r>
          </a:p>
        </p:txBody>
      </p:sp>
      <p:sp>
        <p:nvSpPr>
          <p:cNvPr id="3" name="Stage 0: biological data production creates a wet-lab use case">
            <a:extLst xmlns:a="http://schemas.openxmlformats.org/drawingml/2006/main">
              <a:ext uri="{FF2B5EF4-FFF2-40B4-BE49-F238E27FC236}">
                <a16:creationId xmlns:a16="http://schemas.microsoft.com/office/drawing/2014/main" id="{AF57FB39-5F66-4F27-9AAF-7AFE3DF06164}"/>
              </a:ext>
            </a:extLst>
          </p:cNvPr>
          <p:cNvSpPr>
            <a:spLocks xmlns:a="http://schemas.openxmlformats.org/drawingml/2006/main" noGrp="1"/>
          </p:cNvSpPr>
          <p:nvPr/>
        </p:nvSpPr>
        <p:spPr>
          <a:xfrm xmlns:a="http://schemas.openxmlformats.org/drawingml/2006/main">
            <a:off x="1019175" y="1028700"/>
            <a:ext cx="1652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Stage 0: biological data production creates a wet-lab use case</a:t>
            </a:r>
          </a:p>
        </p:txBody>
      </p:sp>
      <p:sp>
        <p:nvSpPr>
          <p:cNvPr id="4" name="Learning developability requires comparable assay data and an integrated tool workflow">
            <a:extLst xmlns:a="http://schemas.openxmlformats.org/drawingml/2006/main">
              <a:ext uri="{FF2B5EF4-FFF2-40B4-BE49-F238E27FC236}">
                <a16:creationId xmlns:a16="http://schemas.microsoft.com/office/drawing/2014/main" id="{6AD4DDED-3F33-4C78-B41B-F327D0E16F2E}"/>
              </a:ext>
            </a:extLst>
          </p:cNvPr>
          <p:cNvSpPr>
            <a:spLocks xmlns:a="http://schemas.openxmlformats.org/drawingml/2006/main" noGrp="1"/>
          </p:cNvSpPr>
          <p:nvPr/>
        </p:nvSpPr>
        <p:spPr>
          <a:xfrm xmlns:a="http://schemas.openxmlformats.org/drawingml/2006/main">
            <a:off x="1019175" y="1457325"/>
            <a:ext cx="1652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Learning developability requires comparable assay data and an integrated tool workflow</a:t>
            </a:r>
          </a:p>
        </p:txBody>
      </p:sp>
      <p:sp>
        <p:nvSpPr>
          <p:cNvPr id="5" name="">
            <a:extLst xmlns:a="http://schemas.openxmlformats.org/drawingml/2006/main">
              <a:ext uri="{FF2B5EF4-FFF2-40B4-BE49-F238E27FC236}">
                <a16:creationId xmlns:a16="http://schemas.microsoft.com/office/drawing/2014/main" id="{3178CD12-9D11-4861-86F1-7E0EE4AC1180}"/>
              </a:ext>
            </a:extLst>
          </p:cNvPr>
          <p:cNvSpPr>
            <a:spLocks xmlns:a="http://schemas.openxmlformats.org/drawingml/2006/main" noGrp="1"/>
          </p:cNvSpPr>
          <p:nvPr/>
        </p:nvSpPr>
        <p:spPr>
          <a:xfrm xmlns:a="http://schemas.openxmlformats.org/drawingml/2006/main">
            <a:off x="685800" y="1885950"/>
            <a:ext cx="16916400" cy="953"/>
          </a:xfrm>
          <a:custGeom xmlns:a="http://schemas.openxmlformats.org/drawingml/2006/main">
            <a:pathLst>
              <a:path w="16916400" h="953">
                <a:moveTo>
                  <a:pt x="0" y="0"/>
                </a:moveTo>
                <a:lnTo>
                  <a:pt x="169164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1B0CDDBC-CF82-434C-BDC9-4DC0FBE3875C}"/>
              </a:ext>
            </a:extLst>
          </p:cNvPr>
          <p:cNvSpPr>
            <a:spLocks xmlns:a="http://schemas.openxmlformats.org/drawingml/2006/main" noGrp="1"/>
          </p:cNvSpPr>
          <p:nvPr/>
        </p:nvSpPr>
        <p:spPr>
          <a:xfrm xmlns:a="http://schemas.openxmlformats.org/drawingml/2006/main">
            <a:off x="685800" y="2124075"/>
            <a:ext cx="5591175" cy="5781675"/>
          </a:xfrm>
          <a:prstGeom xmlns:a="http://schemas.openxmlformats.org/drawingml/2006/main" prst="roundRect">
            <a:avLst>
              <a:gd name="adj" fmla="val 2385"/>
            </a:avLst>
          </a:prstGeom>
          <a:solidFill xmlns:a="http://schemas.openxmlformats.org/drawingml/2006/main">
            <a:srgbClr val="F4F9FD"/>
          </a:solidFill>
          <a:ln xmlns:a="http://schemas.openxmlformats.org/drawingml/2006/main" w="9525">
            <a:solidFill>
              <a:srgbClr val="A5A5A5"/>
            </a:solidFill>
          </a:ln>
        </p:spPr>
      </p:sp>
      <p:sp>
        <p:nvSpPr>
          <p:cNvPr id="7" name="Stage 0: biological data production">
            <a:extLst xmlns:a="http://schemas.openxmlformats.org/drawingml/2006/main">
              <a:ext uri="{FF2B5EF4-FFF2-40B4-BE49-F238E27FC236}">
                <a16:creationId xmlns:a16="http://schemas.microsoft.com/office/drawing/2014/main" id="{F88A7251-AF0E-4952-AAD0-B45A84BDAC3A}"/>
              </a:ext>
            </a:extLst>
          </p:cNvPr>
          <p:cNvSpPr>
            <a:spLocks xmlns:a="http://schemas.openxmlformats.org/drawingml/2006/main" noGrp="1"/>
          </p:cNvSpPr>
          <p:nvPr/>
        </p:nvSpPr>
        <p:spPr>
          <a:xfrm xmlns:a="http://schemas.openxmlformats.org/drawingml/2006/main">
            <a:off x="942975" y="235267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Stage 0: biological data production</a:t>
            </a:r>
          </a:p>
        </p:txBody>
      </p:sp>
      <p:sp>
        <p:nvSpPr>
          <p:cNvPr id="8" name="Continuous input to training and iteration">
            <a:extLst xmlns:a="http://schemas.openxmlformats.org/drawingml/2006/main">
              <a:ext uri="{FF2B5EF4-FFF2-40B4-BE49-F238E27FC236}">
                <a16:creationId xmlns:a16="http://schemas.microsoft.com/office/drawing/2014/main" id="{0CB81708-21DE-41AA-A7CF-D0891E660A84}"/>
              </a:ext>
            </a:extLst>
          </p:cNvPr>
          <p:cNvSpPr>
            <a:spLocks xmlns:a="http://schemas.openxmlformats.org/drawingml/2006/main" noGrp="1"/>
          </p:cNvSpPr>
          <p:nvPr/>
        </p:nvSpPr>
        <p:spPr>
          <a:xfrm xmlns:a="http://schemas.openxmlformats.org/drawingml/2006/main">
            <a:off x="942975" y="2771775"/>
            <a:ext cx="5076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Continuous input to training and iteration</a:t>
            </a:r>
          </a:p>
        </p:txBody>
      </p:sp>
      <p:sp>
        <p:nvSpPr>
          <p:cNvPr id="9" name="">
            <a:extLst xmlns:a="http://schemas.openxmlformats.org/drawingml/2006/main">
              <a:ext uri="{FF2B5EF4-FFF2-40B4-BE49-F238E27FC236}">
                <a16:creationId xmlns:a16="http://schemas.microsoft.com/office/drawing/2014/main" id="{54F9313D-829C-45AD-976D-57715DA64423}"/>
              </a:ext>
            </a:extLst>
          </p:cNvPr>
          <p:cNvSpPr>
            <a:spLocks xmlns:a="http://schemas.openxmlformats.org/drawingml/2006/main" noGrp="1"/>
          </p:cNvSpPr>
          <p:nvPr/>
        </p:nvSpPr>
        <p:spPr>
          <a:xfrm xmlns:a="http://schemas.openxmlformats.org/drawingml/2006/main">
            <a:off x="942975" y="32194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0" name="Binding kinetics">
            <a:extLst xmlns:a="http://schemas.openxmlformats.org/drawingml/2006/main">
              <a:ext uri="{FF2B5EF4-FFF2-40B4-BE49-F238E27FC236}">
                <a16:creationId xmlns:a16="http://schemas.microsoft.com/office/drawing/2014/main" id="{519F21E6-2178-48AC-A602-8D233D018066}"/>
              </a:ext>
            </a:extLst>
          </p:cNvPr>
          <p:cNvSpPr>
            <a:spLocks xmlns:a="http://schemas.openxmlformats.org/drawingml/2006/main" noGrp="1"/>
          </p:cNvSpPr>
          <p:nvPr/>
        </p:nvSpPr>
        <p:spPr>
          <a:xfrm xmlns:a="http://schemas.openxmlformats.org/drawingml/2006/main">
            <a:off x="1104900" y="3314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Binding kinetics</a:t>
            </a:r>
          </a:p>
        </p:txBody>
      </p:sp>
      <p:sp>
        <p:nvSpPr>
          <p:cNvPr id="11" name="KD / kon / koff">
            <a:extLst xmlns:a="http://schemas.openxmlformats.org/drawingml/2006/main">
              <a:ext uri="{FF2B5EF4-FFF2-40B4-BE49-F238E27FC236}">
                <a16:creationId xmlns:a16="http://schemas.microsoft.com/office/drawing/2014/main" id="{0C56D2DC-969C-4713-865E-861716FE7FCB}"/>
              </a:ext>
            </a:extLst>
          </p:cNvPr>
          <p:cNvSpPr>
            <a:spLocks xmlns:a="http://schemas.openxmlformats.org/drawingml/2006/main" noGrp="1"/>
          </p:cNvSpPr>
          <p:nvPr/>
        </p:nvSpPr>
        <p:spPr>
          <a:xfrm xmlns:a="http://schemas.openxmlformats.org/drawingml/2006/main">
            <a:off x="1104900" y="35909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KD / kon / koff</a:t>
            </a:r>
          </a:p>
        </p:txBody>
      </p:sp>
      <p:sp>
        <p:nvSpPr>
          <p:cNvPr id="12" name="">
            <a:extLst xmlns:a="http://schemas.openxmlformats.org/drawingml/2006/main">
              <a:ext uri="{FF2B5EF4-FFF2-40B4-BE49-F238E27FC236}">
                <a16:creationId xmlns:a16="http://schemas.microsoft.com/office/drawing/2014/main" id="{C6AD0970-C38E-43DE-BB7B-16EC10EC0CF6}"/>
              </a:ext>
            </a:extLst>
          </p:cNvPr>
          <p:cNvSpPr>
            <a:spLocks xmlns:a="http://schemas.openxmlformats.org/drawingml/2006/main" noGrp="1"/>
          </p:cNvSpPr>
          <p:nvPr/>
        </p:nvSpPr>
        <p:spPr>
          <a:xfrm xmlns:a="http://schemas.openxmlformats.org/drawingml/2006/main">
            <a:off x="942975" y="41719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3" name="Expression &amp; physicochemical properties">
            <a:extLst xmlns:a="http://schemas.openxmlformats.org/drawingml/2006/main">
              <a:ext uri="{FF2B5EF4-FFF2-40B4-BE49-F238E27FC236}">
                <a16:creationId xmlns:a16="http://schemas.microsoft.com/office/drawing/2014/main" id="{D88B308F-B747-481E-997F-25B3180E4227}"/>
              </a:ext>
            </a:extLst>
          </p:cNvPr>
          <p:cNvSpPr>
            <a:spLocks xmlns:a="http://schemas.openxmlformats.org/drawingml/2006/main" noGrp="1"/>
          </p:cNvSpPr>
          <p:nvPr/>
        </p:nvSpPr>
        <p:spPr>
          <a:xfrm xmlns:a="http://schemas.openxmlformats.org/drawingml/2006/main">
            <a:off x="1104900" y="42672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Expression &amp; physicochemical properties</a:t>
            </a:r>
          </a:p>
        </p:txBody>
      </p:sp>
      <p:sp>
        <p:nvSpPr>
          <p:cNvPr id="14" name="expression / Tm / aggregation">
            <a:extLst xmlns:a="http://schemas.openxmlformats.org/drawingml/2006/main">
              <a:ext uri="{FF2B5EF4-FFF2-40B4-BE49-F238E27FC236}">
                <a16:creationId xmlns:a16="http://schemas.microsoft.com/office/drawing/2014/main" id="{73C57E56-1625-4B07-9F0A-25C69B2BA0F9}"/>
              </a:ext>
            </a:extLst>
          </p:cNvPr>
          <p:cNvSpPr>
            <a:spLocks xmlns:a="http://schemas.openxmlformats.org/drawingml/2006/main" noGrp="1"/>
          </p:cNvSpPr>
          <p:nvPr/>
        </p:nvSpPr>
        <p:spPr>
          <a:xfrm xmlns:a="http://schemas.openxmlformats.org/drawingml/2006/main">
            <a:off x="1104900" y="45434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expression / Tm / aggregation</a:t>
            </a:r>
          </a:p>
        </p:txBody>
      </p:sp>
      <p:sp>
        <p:nvSpPr>
          <p:cNvPr id="15" name="">
            <a:extLst xmlns:a="http://schemas.openxmlformats.org/drawingml/2006/main">
              <a:ext uri="{FF2B5EF4-FFF2-40B4-BE49-F238E27FC236}">
                <a16:creationId xmlns:a16="http://schemas.microsoft.com/office/drawing/2014/main" id="{E81E970A-F77C-46AA-9C8F-25DB8B7841A6}"/>
              </a:ext>
            </a:extLst>
          </p:cNvPr>
          <p:cNvSpPr>
            <a:spLocks xmlns:a="http://schemas.openxmlformats.org/drawingml/2006/main" noGrp="1"/>
          </p:cNvSpPr>
          <p:nvPr/>
        </p:nvSpPr>
        <p:spPr>
          <a:xfrm xmlns:a="http://schemas.openxmlformats.org/drawingml/2006/main">
            <a:off x="942975" y="5124450"/>
            <a:ext cx="5076825" cy="838200"/>
          </a:xfrm>
          <a:prstGeom xmlns:a="http://schemas.openxmlformats.org/drawingml/2006/main" prst="roundRect">
            <a:avLst>
              <a:gd name="adj" fmla="val 9091"/>
            </a:avLst>
          </a:prstGeom>
          <a:solidFill xmlns:a="http://schemas.openxmlformats.org/drawingml/2006/main">
            <a:srgbClr val="EEF6FC"/>
          </a:solidFill>
          <a:ln xmlns:a="http://schemas.openxmlformats.org/drawingml/2006/main" w="9525">
            <a:noFill/>
          </a:ln>
        </p:spPr>
      </p:sp>
      <p:sp>
        <p:nvSpPr>
          <p:cNvPr id="16" name="Specificity &amp; cell function">
            <a:extLst xmlns:a="http://schemas.openxmlformats.org/drawingml/2006/main">
              <a:ext uri="{FF2B5EF4-FFF2-40B4-BE49-F238E27FC236}">
                <a16:creationId xmlns:a16="http://schemas.microsoft.com/office/drawing/2014/main" id="{9C55FB2E-2837-4577-8C74-518CB8A1ACF5}"/>
              </a:ext>
            </a:extLst>
          </p:cNvPr>
          <p:cNvSpPr>
            <a:spLocks xmlns:a="http://schemas.openxmlformats.org/drawingml/2006/main" noGrp="1"/>
          </p:cNvSpPr>
          <p:nvPr/>
        </p:nvSpPr>
        <p:spPr>
          <a:xfrm xmlns:a="http://schemas.openxmlformats.org/drawingml/2006/main">
            <a:off x="1104900" y="5219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Specificity &amp; cell function</a:t>
            </a:r>
          </a:p>
        </p:txBody>
      </p:sp>
      <p:sp>
        <p:nvSpPr>
          <p:cNvPr id="17" name="polyreactivity / epitope / cell potency">
            <a:extLst xmlns:a="http://schemas.openxmlformats.org/drawingml/2006/main">
              <a:ext uri="{FF2B5EF4-FFF2-40B4-BE49-F238E27FC236}">
                <a16:creationId xmlns:a16="http://schemas.microsoft.com/office/drawing/2014/main" id="{A9388E49-DB74-4791-9E8B-1F448DEFD8AC}"/>
              </a:ext>
            </a:extLst>
          </p:cNvPr>
          <p:cNvSpPr>
            <a:spLocks xmlns:a="http://schemas.openxmlformats.org/drawingml/2006/main" noGrp="1"/>
          </p:cNvSpPr>
          <p:nvPr/>
        </p:nvSpPr>
        <p:spPr>
          <a:xfrm xmlns:a="http://schemas.openxmlformats.org/drawingml/2006/main">
            <a:off x="1104900" y="54959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polyreactivity / epitope / cell potency</a:t>
            </a:r>
          </a:p>
        </p:txBody>
      </p:sp>
      <p:sp>
        <p:nvSpPr>
          <p:cNvPr id="18" name="Training records: sequence, target, conditions,">
            <a:extLst xmlns:a="http://schemas.openxmlformats.org/drawingml/2006/main">
              <a:ext uri="{FF2B5EF4-FFF2-40B4-BE49-F238E27FC236}">
                <a16:creationId xmlns:a16="http://schemas.microsoft.com/office/drawing/2014/main" id="{8EDD4EC2-81F3-46BF-B417-CD1AFFF79A21}"/>
              </a:ext>
            </a:extLst>
          </p:cNvPr>
          <p:cNvSpPr>
            <a:spLocks xmlns:a="http://schemas.openxmlformats.org/drawingml/2006/main" noGrp="1"/>
          </p:cNvSpPr>
          <p:nvPr/>
        </p:nvSpPr>
        <p:spPr>
          <a:xfrm xmlns:a="http://schemas.openxmlformats.org/drawingml/2006/main">
            <a:off x="942975" y="6191250"/>
            <a:ext cx="5076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Training records: sequence, target, conditions,</a:t>
            </a:r>
          </a:p>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raw curves, replicates, batches and failures</a:t>
            </a:r>
          </a:p>
        </p:txBody>
      </p:sp>
      <p:sp>
        <p:nvSpPr>
          <p:cNvPr id="19" name="">
            <a:extLst xmlns:a="http://schemas.openxmlformats.org/drawingml/2006/main">
              <a:ext uri="{FF2B5EF4-FFF2-40B4-BE49-F238E27FC236}">
                <a16:creationId xmlns:a16="http://schemas.microsoft.com/office/drawing/2014/main" id="{97C0FDDA-4810-42D0-AE90-166668EEAD62}"/>
              </a:ext>
            </a:extLst>
          </p:cNvPr>
          <p:cNvSpPr>
            <a:spLocks xmlns:a="http://schemas.openxmlformats.org/drawingml/2006/main" noGrp="1"/>
          </p:cNvSpPr>
          <p:nvPr/>
        </p:nvSpPr>
        <p:spPr>
          <a:xfrm xmlns:a="http://schemas.openxmlformats.org/drawingml/2006/main">
            <a:off x="942975" y="6905625"/>
            <a:ext cx="1924050" cy="504825"/>
          </a:xfrm>
          <a:prstGeom xmlns:a="http://schemas.openxmlformats.org/drawingml/2006/main" prst="roundRect">
            <a:avLst>
              <a:gd name="adj" fmla="val 13208"/>
            </a:avLst>
          </a:prstGeom>
          <a:solidFill xmlns:a="http://schemas.openxmlformats.org/drawingml/2006/main">
            <a:srgbClr val="FFFFFF"/>
          </a:solidFill>
          <a:ln xmlns:a="http://schemas.openxmlformats.org/drawingml/2006/main" w="9525">
            <a:solidFill>
              <a:srgbClr val="A5A5A5"/>
            </a:solidFill>
          </a:ln>
        </p:spPr>
      </p:sp>
      <p:sp>
        <p:nvSpPr>
          <p:cNvPr id="20" name="">
            <a:extLst xmlns:a="http://schemas.openxmlformats.org/drawingml/2006/main">
              <a:ext uri="{FF2B5EF4-FFF2-40B4-BE49-F238E27FC236}">
                <a16:creationId xmlns:a16="http://schemas.microsoft.com/office/drawing/2014/main" id="{D63AFB2A-0785-495D-AC67-2ADBEB672D8A}"/>
              </a:ext>
            </a:extLst>
          </p:cNvPr>
          <p:cNvSpPr>
            <a:spLocks xmlns:a="http://schemas.openxmlformats.org/drawingml/2006/main" noGrp="1"/>
          </p:cNvSpPr>
          <p:nvPr/>
        </p:nvSpPr>
        <p:spPr>
          <a:xfrm xmlns:a="http://schemas.openxmlformats.org/drawingml/2006/main">
            <a:off x="3810000" y="6905625"/>
            <a:ext cx="2209800" cy="504825"/>
          </a:xfrm>
          <a:prstGeom xmlns:a="http://schemas.openxmlformats.org/drawingml/2006/main" prst="roundRect">
            <a:avLst>
              <a:gd name="adj" fmla="val 13208"/>
            </a:avLst>
          </a:prstGeom>
          <a:solidFill xmlns:a="http://schemas.openxmlformats.org/drawingml/2006/main">
            <a:srgbClr val="FFFFFF"/>
          </a:solidFill>
          <a:ln xmlns:a="http://schemas.openxmlformats.org/drawingml/2006/main" w="9525">
            <a:solidFill>
              <a:srgbClr val="A5A5A5"/>
            </a:solidFill>
          </a:ln>
        </p:spPr>
      </p:sp>
      <p:sp>
        <p:nvSpPr>
          <p:cNvPr id="21" name="Train / improve">
            <a:extLst xmlns:a="http://schemas.openxmlformats.org/drawingml/2006/main">
              <a:ext uri="{FF2B5EF4-FFF2-40B4-BE49-F238E27FC236}">
                <a16:creationId xmlns:a16="http://schemas.microsoft.com/office/drawing/2014/main" id="{7AD1A853-37EA-4CFF-AD3F-B0A5CB775028}"/>
              </a:ext>
            </a:extLst>
          </p:cNvPr>
          <p:cNvSpPr>
            <a:spLocks xmlns:a="http://schemas.openxmlformats.org/drawingml/2006/main" noGrp="1"/>
          </p:cNvSpPr>
          <p:nvPr/>
        </p:nvSpPr>
        <p:spPr>
          <a:xfrm xmlns:a="http://schemas.openxmlformats.org/drawingml/2006/main">
            <a:off x="942975" y="6981825"/>
            <a:ext cx="1924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Train / improve</a:t>
            </a:r>
          </a:p>
        </p:txBody>
      </p:sp>
      <p:sp>
        <p:nvSpPr>
          <p:cNvPr id="22" name="Design / validate">
            <a:extLst xmlns:a="http://schemas.openxmlformats.org/drawingml/2006/main">
              <a:ext uri="{FF2B5EF4-FFF2-40B4-BE49-F238E27FC236}">
                <a16:creationId xmlns:a16="http://schemas.microsoft.com/office/drawing/2014/main" id="{E9E12D42-4C81-4696-8B77-1BE3F41992D1}"/>
              </a:ext>
            </a:extLst>
          </p:cNvPr>
          <p:cNvSpPr>
            <a:spLocks xmlns:a="http://schemas.openxmlformats.org/drawingml/2006/main" noGrp="1"/>
          </p:cNvSpPr>
          <p:nvPr/>
        </p:nvSpPr>
        <p:spPr>
          <a:xfrm xmlns:a="http://schemas.openxmlformats.org/drawingml/2006/main">
            <a:off x="3810000" y="6981825"/>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Design / validate</a:t>
            </a:r>
          </a:p>
        </p:txBody>
      </p:sp>
      <p:sp>
        <p:nvSpPr>
          <p:cNvPr id="23" name="">
            <a:extLst xmlns:a="http://schemas.openxmlformats.org/drawingml/2006/main">
              <a:ext uri="{FF2B5EF4-FFF2-40B4-BE49-F238E27FC236}">
                <a16:creationId xmlns:a16="http://schemas.microsoft.com/office/drawing/2014/main" id="{5B81C497-7425-4B04-AC41-E6D816D71C8E}"/>
              </a:ext>
            </a:extLst>
          </p:cNvPr>
          <p:cNvSpPr>
            <a:spLocks xmlns:a="http://schemas.openxmlformats.org/drawingml/2006/main" noGrp="1"/>
          </p:cNvSpPr>
          <p:nvPr/>
        </p:nvSpPr>
        <p:spPr>
          <a:xfrm xmlns:a="http://schemas.openxmlformats.org/drawingml/2006/main">
            <a:off x="2971800" y="7153275"/>
            <a:ext cx="733425" cy="953"/>
          </a:xfrm>
          <a:custGeom xmlns:a="http://schemas.openxmlformats.org/drawingml/2006/main">
            <a:pathLst>
              <a:path w="733425" h="953">
                <a:moveTo>
                  <a:pt x="0" y="0"/>
                </a:moveTo>
                <a:lnTo>
                  <a:pt x="733425" y="0"/>
                </a:lnTo>
              </a:path>
            </a:pathLst>
          </a:custGeom>
          <a:noFill xmlns:a="http://schemas.openxmlformats.org/drawingml/2006/main"/>
          <a:ln xmlns:a="http://schemas.openxmlformats.org/drawingml/2006/main" w="19050">
            <a:solidFill>
              <a:srgbClr val="00355F"/>
            </a:solidFill>
          </a:ln>
        </p:spPr>
      </p:sp>
      <p:sp>
        <p:nvSpPr>
          <p:cNvPr id="24" name="">
            <a:extLst xmlns:a="http://schemas.openxmlformats.org/drawingml/2006/main">
              <a:ext uri="{FF2B5EF4-FFF2-40B4-BE49-F238E27FC236}">
                <a16:creationId xmlns:a16="http://schemas.microsoft.com/office/drawing/2014/main" id="{17FAE9EA-FAB9-4D4B-9BE0-D975B0545A42}"/>
              </a:ext>
            </a:extLst>
          </p:cNvPr>
          <p:cNvSpPr>
            <a:spLocks xmlns:a="http://schemas.openxmlformats.org/drawingml/2006/main" noGrp="1"/>
          </p:cNvSpPr>
          <p:nvPr/>
        </p:nvSpPr>
        <p:spPr>
          <a:xfrm xmlns:a="http://schemas.openxmlformats.org/drawingml/2006/main">
            <a:off x="3621635" y="710761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9525">
            <a:noFill/>
          </a:ln>
        </p:spPr>
      </p:sp>
      <p:sp>
        <p:nvSpPr>
          <p:cNvPr id="25" name="">
            <a:extLst xmlns:a="http://schemas.openxmlformats.org/drawingml/2006/main">
              <a:ext uri="{FF2B5EF4-FFF2-40B4-BE49-F238E27FC236}">
                <a16:creationId xmlns:a16="http://schemas.microsoft.com/office/drawing/2014/main" id="{61793ED1-AE04-4538-9FF4-56DBDF62464C}"/>
              </a:ext>
            </a:extLst>
          </p:cNvPr>
          <p:cNvSpPr>
            <a:spLocks xmlns:a="http://schemas.openxmlformats.org/drawingml/2006/main" noGrp="1"/>
          </p:cNvSpPr>
          <p:nvPr/>
        </p:nvSpPr>
        <p:spPr>
          <a:xfrm xmlns:a="http://schemas.openxmlformats.org/drawingml/2006/main">
            <a:off x="4914900" y="7477125"/>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14288">
            <a:solidFill>
              <a:srgbClr val="00355F"/>
            </a:solidFill>
          </a:ln>
        </p:spPr>
      </p:sp>
      <p:sp>
        <p:nvSpPr>
          <p:cNvPr id="26" name="">
            <a:extLst xmlns:a="http://schemas.openxmlformats.org/drawingml/2006/main">
              <a:ext uri="{FF2B5EF4-FFF2-40B4-BE49-F238E27FC236}">
                <a16:creationId xmlns:a16="http://schemas.microsoft.com/office/drawing/2014/main" id="{C5A4A880-E8F1-4CDE-9C39-E37FE68D7EE8}"/>
              </a:ext>
            </a:extLst>
          </p:cNvPr>
          <p:cNvSpPr>
            <a:spLocks xmlns:a="http://schemas.openxmlformats.org/drawingml/2006/main" noGrp="1"/>
          </p:cNvSpPr>
          <p:nvPr/>
        </p:nvSpPr>
        <p:spPr>
          <a:xfrm xmlns:a="http://schemas.openxmlformats.org/drawingml/2006/main">
            <a:off x="1905000" y="7696200"/>
            <a:ext cx="3009900" cy="953"/>
          </a:xfrm>
          <a:custGeom xmlns:a="http://schemas.openxmlformats.org/drawingml/2006/main">
            <a:pathLst>
              <a:path w="3009900" h="953">
                <a:moveTo>
                  <a:pt x="3009900" y="0"/>
                </a:moveTo>
                <a:lnTo>
                  <a:pt x="0" y="0"/>
                </a:lnTo>
              </a:path>
            </a:pathLst>
          </a:custGeom>
          <a:noFill xmlns:a="http://schemas.openxmlformats.org/drawingml/2006/main"/>
          <a:ln xmlns:a="http://schemas.openxmlformats.org/drawingml/2006/main" w="14288">
            <a:solidFill>
              <a:srgbClr val="00355F"/>
            </a:solidFill>
          </a:ln>
        </p:spPr>
      </p:sp>
      <p:sp>
        <p:nvSpPr>
          <p:cNvPr id="27" name="">
            <a:extLst xmlns:a="http://schemas.openxmlformats.org/drawingml/2006/main">
              <a:ext uri="{FF2B5EF4-FFF2-40B4-BE49-F238E27FC236}">
                <a16:creationId xmlns:a16="http://schemas.microsoft.com/office/drawing/2014/main" id="{43453E81-B5E6-412A-8A16-A8673873B3E4}"/>
              </a:ext>
            </a:extLst>
          </p:cNvPr>
          <p:cNvSpPr>
            <a:spLocks xmlns:a="http://schemas.openxmlformats.org/drawingml/2006/main" noGrp="1"/>
          </p:cNvSpPr>
          <p:nvPr/>
        </p:nvSpPr>
        <p:spPr>
          <a:xfrm xmlns:a="http://schemas.openxmlformats.org/drawingml/2006/main">
            <a:off x="1905000" y="7477125"/>
            <a:ext cx="953" cy="219075"/>
          </a:xfrm>
          <a:custGeom xmlns:a="http://schemas.openxmlformats.org/drawingml/2006/main">
            <a:pathLst>
              <a:path w="953" h="219075">
                <a:moveTo>
                  <a:pt x="0" y="219075"/>
                </a:moveTo>
                <a:lnTo>
                  <a:pt x="0" y="0"/>
                </a:lnTo>
              </a:path>
            </a:pathLst>
          </a:custGeom>
          <a:noFill xmlns:a="http://schemas.openxmlformats.org/drawingml/2006/main"/>
          <a:ln xmlns:a="http://schemas.openxmlformats.org/drawingml/2006/main" w="14288">
            <a:solidFill>
              <a:srgbClr val="00355F"/>
            </a:solidFill>
          </a:ln>
        </p:spPr>
      </p:sp>
      <p:sp>
        <p:nvSpPr>
          <p:cNvPr id="28" name="">
            <a:extLst xmlns:a="http://schemas.openxmlformats.org/drawingml/2006/main">
              <a:ext uri="{FF2B5EF4-FFF2-40B4-BE49-F238E27FC236}">
                <a16:creationId xmlns:a16="http://schemas.microsoft.com/office/drawing/2014/main" id="{C820AACC-E3C2-47AC-9298-05E49A2465AC}"/>
              </a:ext>
            </a:extLst>
          </p:cNvPr>
          <p:cNvSpPr>
            <a:spLocks xmlns:a="http://schemas.openxmlformats.org/drawingml/2006/main" noGrp="1"/>
          </p:cNvSpPr>
          <p:nvPr/>
        </p:nvSpPr>
        <p:spPr>
          <a:xfrm xmlns:a="http://schemas.openxmlformats.org/drawingml/2006/main">
            <a:off x="1859335" y="7477125"/>
            <a:ext cx="91331" cy="83590"/>
          </a:xfrm>
          <a:custGeom xmlns:a="http://schemas.openxmlformats.org/drawingml/2006/main">
            <a:pathLst>
              <a:path w="91331" h="83590">
                <a:moveTo>
                  <a:pt x="45665" y="0"/>
                </a:moveTo>
                <a:lnTo>
                  <a:pt x="91331" y="83590"/>
                </a:lnTo>
                <a:lnTo>
                  <a:pt x="0" y="83590"/>
                </a:lnTo>
                <a:close/>
              </a:path>
            </a:pathLst>
          </a:custGeom>
          <a:solidFill xmlns:a="http://schemas.openxmlformats.org/drawingml/2006/main">
            <a:srgbClr val="00355F"/>
          </a:solidFill>
          <a:ln xmlns:a="http://schemas.openxmlformats.org/drawingml/2006/main" w="9525">
            <a:noFill/>
          </a:ln>
        </p:spPr>
      </p:sp>
      <p:sp>
        <p:nvSpPr>
          <p:cNvPr id="29" name="">
            <a:extLst xmlns:a="http://schemas.openxmlformats.org/drawingml/2006/main">
              <a:ext uri="{FF2B5EF4-FFF2-40B4-BE49-F238E27FC236}">
                <a16:creationId xmlns:a16="http://schemas.microsoft.com/office/drawing/2014/main" id="{B01A163D-D691-40AB-82B3-D8DCB63A0A8B}"/>
              </a:ext>
            </a:extLst>
          </p:cNvPr>
          <p:cNvSpPr>
            <a:spLocks xmlns:a="http://schemas.openxmlformats.org/drawingml/2006/main" noGrp="1"/>
          </p:cNvSpPr>
          <p:nvPr/>
        </p:nvSpPr>
        <p:spPr>
          <a:xfrm xmlns:a="http://schemas.openxmlformats.org/drawingml/2006/main">
            <a:off x="2400300" y="7534275"/>
            <a:ext cx="1971675" cy="323850"/>
          </a:xfrm>
          <a:prstGeom xmlns:a="http://schemas.openxmlformats.org/drawingml/2006/main" prst="rect">
            <a:avLst/>
          </a:prstGeom>
          <a:solidFill xmlns:a="http://schemas.openxmlformats.org/drawingml/2006/main">
            <a:srgbClr val="F4F9FD"/>
          </a:solidFill>
          <a:ln xmlns:a="http://schemas.openxmlformats.org/drawingml/2006/main" w="9525">
            <a:noFill/>
          </a:ln>
        </p:spPr>
      </p:sp>
      <p:sp>
        <p:nvSpPr>
          <p:cNvPr id="30" name="Assays inform models">
            <a:extLst xmlns:a="http://schemas.openxmlformats.org/drawingml/2006/main">
              <a:ext uri="{FF2B5EF4-FFF2-40B4-BE49-F238E27FC236}">
                <a16:creationId xmlns:a16="http://schemas.microsoft.com/office/drawing/2014/main" id="{1C924804-3673-4398-8AA5-6FE938B973D7}"/>
              </a:ext>
            </a:extLst>
          </p:cNvPr>
          <p:cNvSpPr>
            <a:spLocks xmlns:a="http://schemas.openxmlformats.org/drawingml/2006/main" noGrp="1"/>
          </p:cNvSpPr>
          <p:nvPr/>
        </p:nvSpPr>
        <p:spPr>
          <a:xfrm xmlns:a="http://schemas.openxmlformats.org/drawingml/2006/main">
            <a:off x="2400300" y="7553325"/>
            <a:ext cx="1971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Assays inform models</a:t>
            </a:r>
          </a:p>
        </p:txBody>
      </p:sp>
      <p:sp>
        <p:nvSpPr>
          <p:cNvPr id="31" name="">
            <a:extLst xmlns:a="http://schemas.openxmlformats.org/drawingml/2006/main">
              <a:ext uri="{FF2B5EF4-FFF2-40B4-BE49-F238E27FC236}">
                <a16:creationId xmlns:a16="http://schemas.microsoft.com/office/drawing/2014/main" id="{7522FB1D-B88D-4BC5-92F4-B76CB6B0D830}"/>
              </a:ext>
            </a:extLst>
          </p:cNvPr>
          <p:cNvSpPr>
            <a:spLocks xmlns:a="http://schemas.openxmlformats.org/drawingml/2006/main" noGrp="1"/>
          </p:cNvSpPr>
          <p:nvPr/>
        </p:nvSpPr>
        <p:spPr>
          <a:xfrm xmlns:a="http://schemas.openxmlformats.org/drawingml/2006/main">
            <a:off x="6391275" y="3219450"/>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1908">
            <a:solidFill>
              <a:srgbClr val="00355F"/>
            </a:solidFill>
          </a:ln>
        </p:spPr>
      </p:sp>
      <p:sp>
        <p:nvSpPr>
          <p:cNvPr id="32" name="">
            <a:extLst xmlns:a="http://schemas.openxmlformats.org/drawingml/2006/main">
              <a:ext uri="{FF2B5EF4-FFF2-40B4-BE49-F238E27FC236}">
                <a16:creationId xmlns:a16="http://schemas.microsoft.com/office/drawing/2014/main" id="{45A2FDD4-DD8B-4D65-ADCD-F2418427DC5B}"/>
              </a:ext>
            </a:extLst>
          </p:cNvPr>
          <p:cNvSpPr>
            <a:spLocks xmlns:a="http://schemas.openxmlformats.org/drawingml/2006/main" noGrp="1"/>
          </p:cNvSpPr>
          <p:nvPr/>
        </p:nvSpPr>
        <p:spPr>
          <a:xfrm xmlns:a="http://schemas.openxmlformats.org/drawingml/2006/main">
            <a:off x="6667500" y="3219450"/>
            <a:ext cx="953" cy="2743200"/>
          </a:xfrm>
          <a:custGeom xmlns:a="http://schemas.openxmlformats.org/drawingml/2006/main">
            <a:pathLst>
              <a:path w="953" h="2743200">
                <a:moveTo>
                  <a:pt x="0" y="0"/>
                </a:moveTo>
                <a:lnTo>
                  <a:pt x="0" y="2743200"/>
                </a:lnTo>
              </a:path>
            </a:pathLst>
          </a:custGeom>
          <a:noFill xmlns:a="http://schemas.openxmlformats.org/drawingml/2006/main"/>
          <a:ln xmlns:a="http://schemas.openxmlformats.org/drawingml/2006/main" w="21908">
            <a:solidFill>
              <a:srgbClr val="00355F"/>
            </a:solidFill>
          </a:ln>
        </p:spPr>
      </p:sp>
      <p:sp>
        <p:nvSpPr>
          <p:cNvPr id="33" name="">
            <a:extLst xmlns:a="http://schemas.openxmlformats.org/drawingml/2006/main">
              <a:ext uri="{FF2B5EF4-FFF2-40B4-BE49-F238E27FC236}">
                <a16:creationId xmlns:a16="http://schemas.microsoft.com/office/drawing/2014/main" id="{022D896C-5F3B-4B7B-A768-8B4A80721EBE}"/>
              </a:ext>
            </a:extLst>
          </p:cNvPr>
          <p:cNvSpPr>
            <a:spLocks xmlns:a="http://schemas.openxmlformats.org/drawingml/2006/main" noGrp="1"/>
          </p:cNvSpPr>
          <p:nvPr/>
        </p:nvSpPr>
        <p:spPr>
          <a:xfrm xmlns:a="http://schemas.openxmlformats.org/drawingml/2006/main">
            <a:off x="6391275" y="5962650"/>
            <a:ext cx="276225" cy="953"/>
          </a:xfrm>
          <a:custGeom xmlns:a="http://schemas.openxmlformats.org/drawingml/2006/main">
            <a:pathLst>
              <a:path w="276225" h="953">
                <a:moveTo>
                  <a:pt x="276225" y="0"/>
                </a:moveTo>
                <a:lnTo>
                  <a:pt x="0" y="0"/>
                </a:lnTo>
              </a:path>
            </a:pathLst>
          </a:custGeom>
          <a:noFill xmlns:a="http://schemas.openxmlformats.org/drawingml/2006/main"/>
          <a:ln xmlns:a="http://schemas.openxmlformats.org/drawingml/2006/main" w="21908">
            <a:solidFill>
              <a:srgbClr val="00355F"/>
            </a:solidFill>
          </a:ln>
        </p:spPr>
      </p:sp>
      <p:sp>
        <p:nvSpPr>
          <p:cNvPr id="34" name="">
            <a:extLst xmlns:a="http://schemas.openxmlformats.org/drawingml/2006/main">
              <a:ext uri="{FF2B5EF4-FFF2-40B4-BE49-F238E27FC236}">
                <a16:creationId xmlns:a16="http://schemas.microsoft.com/office/drawing/2014/main" id="{0952CBCE-3A04-4051-89CF-6513E0A7775F}"/>
              </a:ext>
            </a:extLst>
          </p:cNvPr>
          <p:cNvSpPr>
            <a:spLocks xmlns:a="http://schemas.openxmlformats.org/drawingml/2006/main" noGrp="1"/>
          </p:cNvSpPr>
          <p:nvPr/>
        </p:nvSpPr>
        <p:spPr>
          <a:xfrm xmlns:a="http://schemas.openxmlformats.org/drawingml/2006/main">
            <a:off x="6772275" y="2533650"/>
            <a:ext cx="371475" cy="4867275"/>
          </a:xfrm>
          <a:custGeom xmlns:a="http://schemas.openxmlformats.org/drawingml/2006/main">
            <a:pathLst>
              <a:path w="371475" h="4867275">
                <a:moveTo>
                  <a:pt x="0" y="790575"/>
                </a:moveTo>
                <a:lnTo>
                  <a:pt x="371475" y="0"/>
                </a:lnTo>
                <a:lnTo>
                  <a:pt x="371475" y="4867275"/>
                </a:lnTo>
                <a:lnTo>
                  <a:pt x="0" y="3305175"/>
                </a:lnTo>
                <a:close/>
              </a:path>
            </a:pathLst>
          </a:custGeom>
          <a:solidFill xmlns:a="http://schemas.openxmlformats.org/drawingml/2006/main">
            <a:srgbClr val="F4F9FD"/>
          </a:solidFill>
          <a:ln xmlns:a="http://schemas.openxmlformats.org/drawingml/2006/main" w="9525">
            <a:noFill/>
          </a:ln>
        </p:spPr>
      </p:sp>
      <p:sp>
        <p:nvSpPr>
          <p:cNvPr id="35" name="">
            <a:extLst xmlns:a="http://schemas.openxmlformats.org/drawingml/2006/main">
              <a:ext uri="{FF2B5EF4-FFF2-40B4-BE49-F238E27FC236}">
                <a16:creationId xmlns:a16="http://schemas.microsoft.com/office/drawing/2014/main" id="{F36D0E8D-ED3B-48B9-8C1D-6AD4951E31BA}"/>
              </a:ext>
            </a:extLst>
          </p:cNvPr>
          <p:cNvSpPr>
            <a:spLocks xmlns:a="http://schemas.openxmlformats.org/drawingml/2006/main" noGrp="1"/>
          </p:cNvSpPr>
          <p:nvPr/>
        </p:nvSpPr>
        <p:spPr>
          <a:xfrm xmlns:a="http://schemas.openxmlformats.org/drawingml/2006/main">
            <a:off x="6772275" y="2533650"/>
            <a:ext cx="371475" cy="790575"/>
          </a:xfrm>
          <a:custGeom xmlns:a="http://schemas.openxmlformats.org/drawingml/2006/main">
            <a:pathLst>
              <a:path w="371475" h="790575">
                <a:moveTo>
                  <a:pt x="0" y="790575"/>
                </a:moveTo>
                <a:lnTo>
                  <a:pt x="371475" y="0"/>
                </a:lnTo>
              </a:path>
            </a:pathLst>
          </a:custGeom>
          <a:noFill xmlns:a="http://schemas.openxmlformats.org/drawingml/2006/main"/>
          <a:ln xmlns:a="http://schemas.openxmlformats.org/drawingml/2006/main" w="13335">
            <a:solidFill>
              <a:srgbClr val="7399C6"/>
            </a:solidFill>
          </a:ln>
        </p:spPr>
      </p:sp>
      <p:sp>
        <p:nvSpPr>
          <p:cNvPr id="36" name="">
            <a:extLst xmlns:a="http://schemas.openxmlformats.org/drawingml/2006/main">
              <a:ext uri="{FF2B5EF4-FFF2-40B4-BE49-F238E27FC236}">
                <a16:creationId xmlns:a16="http://schemas.microsoft.com/office/drawing/2014/main" id="{0F2EF029-6E6C-4844-91E4-E15E570783D8}"/>
              </a:ext>
            </a:extLst>
          </p:cNvPr>
          <p:cNvSpPr>
            <a:spLocks xmlns:a="http://schemas.openxmlformats.org/drawingml/2006/main" noGrp="1"/>
          </p:cNvSpPr>
          <p:nvPr/>
        </p:nvSpPr>
        <p:spPr>
          <a:xfrm xmlns:a="http://schemas.openxmlformats.org/drawingml/2006/main">
            <a:off x="6772275" y="5838825"/>
            <a:ext cx="371475" cy="1562100"/>
          </a:xfrm>
          <a:custGeom xmlns:a="http://schemas.openxmlformats.org/drawingml/2006/main">
            <a:pathLst>
              <a:path w="371475" h="1562100">
                <a:moveTo>
                  <a:pt x="0" y="0"/>
                </a:moveTo>
                <a:lnTo>
                  <a:pt x="371475" y="1562100"/>
                </a:lnTo>
              </a:path>
            </a:pathLst>
          </a:custGeom>
          <a:noFill xmlns:a="http://schemas.openxmlformats.org/drawingml/2006/main"/>
          <a:ln xmlns:a="http://schemas.openxmlformats.org/drawingml/2006/main" w="13335">
            <a:solidFill>
              <a:srgbClr val="7399C6"/>
            </a:solidFill>
          </a:ln>
        </p:spPr>
      </p:sp>
      <p:sp>
        <p:nvSpPr>
          <p:cNvPr id="37" name="">
            <a:extLst xmlns:a="http://schemas.openxmlformats.org/drawingml/2006/main">
              <a:ext uri="{FF2B5EF4-FFF2-40B4-BE49-F238E27FC236}">
                <a16:creationId xmlns:a16="http://schemas.microsoft.com/office/drawing/2014/main" id="{53065982-7680-43E1-978D-909E31CE17F7}"/>
              </a:ext>
            </a:extLst>
          </p:cNvPr>
          <p:cNvSpPr>
            <a:spLocks xmlns:a="http://schemas.openxmlformats.org/drawingml/2006/main" noGrp="1"/>
          </p:cNvSpPr>
          <p:nvPr/>
        </p:nvSpPr>
        <p:spPr>
          <a:xfrm xmlns:a="http://schemas.openxmlformats.org/drawingml/2006/main">
            <a:off x="7162800" y="2124075"/>
            <a:ext cx="10439400" cy="5781675"/>
          </a:xfrm>
          <a:prstGeom xmlns:a="http://schemas.openxmlformats.org/drawingml/2006/main" prst="roundRect">
            <a:avLst>
              <a:gd name="adj" fmla="val 2306"/>
            </a:avLst>
          </a:prstGeom>
          <a:solidFill xmlns:a="http://schemas.openxmlformats.org/drawingml/2006/main">
            <a:srgbClr val="F4F9FD"/>
          </a:solidFill>
          <a:ln xmlns:a="http://schemas.openxmlformats.org/drawingml/2006/main" w="9525">
            <a:solidFill>
              <a:srgbClr val="A5A5A5"/>
            </a:solidFill>
          </a:ln>
        </p:spPr>
      </p:sp>
      <p:sp>
        <p:nvSpPr>
          <p:cNvPr id="38" name="Labels → assays → purchases">
            <a:extLst xmlns:a="http://schemas.openxmlformats.org/drawingml/2006/main">
              <a:ext uri="{FF2B5EF4-FFF2-40B4-BE49-F238E27FC236}">
                <a16:creationId xmlns:a16="http://schemas.microsoft.com/office/drawing/2014/main" id="{91C4A504-0760-46C5-84B7-9073896CC036}"/>
              </a:ext>
            </a:extLst>
          </p:cNvPr>
          <p:cNvSpPr>
            <a:spLocks xmlns:a="http://schemas.openxmlformats.org/drawingml/2006/main" noGrp="1"/>
          </p:cNvSpPr>
          <p:nvPr/>
        </p:nvSpPr>
        <p:spPr>
          <a:xfrm xmlns:a="http://schemas.openxmlformats.org/drawingml/2006/main">
            <a:off x="7410450" y="2333625"/>
            <a:ext cx="9944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Labels → assays → purchases</a:t>
            </a:r>
          </a:p>
        </p:txBody>
      </p:sp>
      <p:sp>
        <p:nvSpPr>
          <p:cNvPr id="39" name="Tool revenue needs a bridge from label coverage to workflow volume and unit consumption">
            <a:extLst xmlns:a="http://schemas.openxmlformats.org/drawingml/2006/main">
              <a:ext uri="{FF2B5EF4-FFF2-40B4-BE49-F238E27FC236}">
                <a16:creationId xmlns:a16="http://schemas.microsoft.com/office/drawing/2014/main" id="{4AC87B5E-ADDE-4C9D-86A1-63698CCAC0CD}"/>
              </a:ext>
            </a:extLst>
          </p:cNvPr>
          <p:cNvSpPr>
            <a:spLocks xmlns:a="http://schemas.openxmlformats.org/drawingml/2006/main" noGrp="1"/>
          </p:cNvSpPr>
          <p:nvPr/>
        </p:nvSpPr>
        <p:spPr>
          <a:xfrm xmlns:a="http://schemas.openxmlformats.org/drawingml/2006/main">
            <a:off x="7410450" y="2752725"/>
            <a:ext cx="994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Tool revenue needs a bridge from label coverage to workflow volume and unit consumption</a:t>
            </a:r>
          </a:p>
        </p:txBody>
      </p:sp>
      <p:sp>
        <p:nvSpPr>
          <p:cNvPr id="40" name="">
            <a:extLst xmlns:a="http://schemas.openxmlformats.org/drawingml/2006/main">
              <a:ext uri="{FF2B5EF4-FFF2-40B4-BE49-F238E27FC236}">
                <a16:creationId xmlns:a16="http://schemas.microsoft.com/office/drawing/2014/main" id="{E4B72C0C-6A41-4E93-B762-B148EEB5DD20}"/>
              </a:ext>
            </a:extLst>
          </p:cNvPr>
          <p:cNvSpPr>
            <a:spLocks xmlns:a="http://schemas.openxmlformats.org/drawingml/2006/main" noGrp="1"/>
          </p:cNvSpPr>
          <p:nvPr/>
        </p:nvSpPr>
        <p:spPr>
          <a:xfrm xmlns:a="http://schemas.openxmlformats.org/drawingml/2006/main">
            <a:off x="7410450" y="3181350"/>
            <a:ext cx="4838700"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41" name="">
            <a:extLst xmlns:a="http://schemas.openxmlformats.org/drawingml/2006/main">
              <a:ext uri="{FF2B5EF4-FFF2-40B4-BE49-F238E27FC236}">
                <a16:creationId xmlns:a16="http://schemas.microsoft.com/office/drawing/2014/main" id="{61BBBB50-3152-4BE4-A3CF-EFC4401F914A}"/>
              </a:ext>
            </a:extLst>
          </p:cNvPr>
          <p:cNvPicPr>
            <a:picLocks xmlns:a="http://schemas.openxmlformats.org/drawingml/2006/main" noChangeAspect="1"/>
          </p:cNvPicPr>
          <p:nvPr/>
        </p:nvPicPr>
        <p:blipFill>
          <a:blip xmlns:r="http://schemas.openxmlformats.org/officeDocument/2006/relationships" xmlns:a="http://schemas.openxmlformats.org/drawingml/2006/main" r:embed="R8519439bc0284a3d">
            <a:extLst>
              <a:ext uri="{96DAC541-7B7A-43D3-8B79-37D633B846F1}">
                <asvg:svgBlip xmlns:asvg="http://schemas.microsoft.com/office/drawing/2016/SVG/main" r:embed="Rc8fc553e21b64e23"/>
              </a:ext>
            </a:extLst>
          </a:blip>
          <a:stretch xmlns:a="http://schemas.openxmlformats.org/drawingml/2006/main"/>
        </p:blipFill>
        <p:spPr>
          <a:xfrm xmlns:a="http://schemas.openxmlformats.org/drawingml/2006/main">
            <a:off x="7562850" y="3333750"/>
            <a:ext cx="285750" cy="285750"/>
          </a:xfrm>
          <a:prstGeom xmlns:a="http://schemas.openxmlformats.org/drawingml/2006/main" prst="rect">
            <a:avLst/>
          </a:prstGeom>
        </p:spPr>
      </p:pic>
      <p:sp>
        <p:nvSpPr>
          <p:cNvPr id="42" name="Construction &amp; expression">
            <a:extLst xmlns:a="http://schemas.openxmlformats.org/drawingml/2006/main">
              <a:ext uri="{FF2B5EF4-FFF2-40B4-BE49-F238E27FC236}">
                <a16:creationId xmlns:a16="http://schemas.microsoft.com/office/drawing/2014/main" id="{98B23CE8-96B2-499B-A4DD-2C4020214EAC}"/>
              </a:ext>
            </a:extLst>
          </p:cNvPr>
          <p:cNvSpPr>
            <a:spLocks xmlns:a="http://schemas.openxmlformats.org/drawingml/2006/main" noGrp="1"/>
          </p:cNvSpPr>
          <p:nvPr/>
        </p:nvSpPr>
        <p:spPr>
          <a:xfrm xmlns:a="http://schemas.openxmlformats.org/drawingml/2006/main">
            <a:off x="7981950" y="3324225"/>
            <a:ext cx="410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Construction &amp; expression</a:t>
            </a:r>
          </a:p>
        </p:txBody>
      </p:sp>
      <p:sp>
        <p:nvSpPr>
          <p:cNvPr id="43" name="DNA synthesis, vectors, expression, purification">
            <a:extLst xmlns:a="http://schemas.openxmlformats.org/drawingml/2006/main">
              <a:ext uri="{FF2B5EF4-FFF2-40B4-BE49-F238E27FC236}">
                <a16:creationId xmlns:a16="http://schemas.microsoft.com/office/drawing/2014/main" id="{C3CD6729-208D-46EE-9D29-FFCBA39D9478}"/>
              </a:ext>
            </a:extLst>
          </p:cNvPr>
          <p:cNvSpPr>
            <a:spLocks xmlns:a="http://schemas.openxmlformats.org/drawingml/2006/main" noGrp="1"/>
          </p:cNvSpPr>
          <p:nvPr/>
        </p:nvSpPr>
        <p:spPr>
          <a:xfrm xmlns:a="http://schemas.openxmlformats.org/drawingml/2006/main">
            <a:off x="7562850" y="3724275"/>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DNA synthesis, vectors, expression, purification</a:t>
            </a:r>
          </a:p>
        </p:txBody>
      </p:sp>
      <p:sp>
        <p:nvSpPr>
          <p:cNvPr id="44" name="Expression labels + samples for other assays">
            <a:extLst xmlns:a="http://schemas.openxmlformats.org/drawingml/2006/main">
              <a:ext uri="{FF2B5EF4-FFF2-40B4-BE49-F238E27FC236}">
                <a16:creationId xmlns:a16="http://schemas.microsoft.com/office/drawing/2014/main" id="{98705807-D9BB-42B5-99B9-BA3AD454023A}"/>
              </a:ext>
            </a:extLst>
          </p:cNvPr>
          <p:cNvSpPr>
            <a:spLocks xmlns:a="http://schemas.openxmlformats.org/drawingml/2006/main" noGrp="1"/>
          </p:cNvSpPr>
          <p:nvPr/>
        </p:nvSpPr>
        <p:spPr>
          <a:xfrm xmlns:a="http://schemas.openxmlformats.org/drawingml/2006/main">
            <a:off x="7562850" y="4057650"/>
            <a:ext cx="453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Expression labels + samples for other assays</a:t>
            </a:r>
          </a:p>
        </p:txBody>
      </p:sp>
      <p:sp>
        <p:nvSpPr>
          <p:cNvPr id="45" name="Count shared sample preparation once">
            <a:extLst xmlns:a="http://schemas.openxmlformats.org/drawingml/2006/main">
              <a:ext uri="{FF2B5EF4-FFF2-40B4-BE49-F238E27FC236}">
                <a16:creationId xmlns:a16="http://schemas.microsoft.com/office/drawing/2014/main" id="{FD3E1D10-65F8-4613-972A-CD8008B524E9}"/>
              </a:ext>
            </a:extLst>
          </p:cNvPr>
          <p:cNvSpPr>
            <a:spLocks xmlns:a="http://schemas.openxmlformats.org/drawingml/2006/main" noGrp="1"/>
          </p:cNvSpPr>
          <p:nvPr/>
        </p:nvSpPr>
        <p:spPr>
          <a:xfrm xmlns:a="http://schemas.openxmlformats.org/drawingml/2006/main">
            <a:off x="7562850" y="4352925"/>
            <a:ext cx="453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Count shared sample preparation once</a:t>
            </a:r>
          </a:p>
        </p:txBody>
      </p:sp>
      <p:sp>
        <p:nvSpPr>
          <p:cNvPr id="46" name="">
            <a:extLst xmlns:a="http://schemas.openxmlformats.org/drawingml/2006/main">
              <a:ext uri="{FF2B5EF4-FFF2-40B4-BE49-F238E27FC236}">
                <a16:creationId xmlns:a16="http://schemas.microsoft.com/office/drawing/2014/main" id="{BDEAE822-2058-4AD6-9BC9-C95E16D59B96}"/>
              </a:ext>
            </a:extLst>
          </p:cNvPr>
          <p:cNvSpPr>
            <a:spLocks xmlns:a="http://schemas.openxmlformats.org/drawingml/2006/main" noGrp="1"/>
          </p:cNvSpPr>
          <p:nvPr/>
        </p:nvSpPr>
        <p:spPr>
          <a:xfrm xmlns:a="http://schemas.openxmlformats.org/drawingml/2006/main">
            <a:off x="12449175" y="3181350"/>
            <a:ext cx="4905375"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47" name="">
            <a:extLst xmlns:a="http://schemas.openxmlformats.org/drawingml/2006/main">
              <a:ext uri="{FF2B5EF4-FFF2-40B4-BE49-F238E27FC236}">
                <a16:creationId xmlns:a16="http://schemas.microsoft.com/office/drawing/2014/main" id="{A2197F5F-8820-4B24-83AB-490417EBA650}"/>
              </a:ext>
            </a:extLst>
          </p:cNvPr>
          <p:cNvPicPr>
            <a:picLocks xmlns:a="http://schemas.openxmlformats.org/drawingml/2006/main" noChangeAspect="1"/>
          </p:cNvPicPr>
          <p:nvPr/>
        </p:nvPicPr>
        <p:blipFill>
          <a:blip xmlns:r="http://schemas.openxmlformats.org/officeDocument/2006/relationships" xmlns:a="http://schemas.openxmlformats.org/drawingml/2006/main" r:embed="R1388b333704d44ef">
            <a:extLst>
              <a:ext uri="{96DAC541-7B7A-43D3-8B79-37D633B846F1}">
                <asvg:svgBlip xmlns:asvg="http://schemas.microsoft.com/office/drawing/2016/SVG/main" r:embed="Rd531e33713c04c26"/>
              </a:ext>
            </a:extLst>
          </a:blip>
          <a:stretch xmlns:a="http://schemas.openxmlformats.org/drawingml/2006/main"/>
        </p:blipFill>
        <p:spPr>
          <a:xfrm xmlns:a="http://schemas.openxmlformats.org/drawingml/2006/main">
            <a:off x="12601575" y="3333750"/>
            <a:ext cx="285750" cy="285750"/>
          </a:xfrm>
          <a:prstGeom xmlns:a="http://schemas.openxmlformats.org/drawingml/2006/main" prst="rect">
            <a:avLst/>
          </a:prstGeom>
        </p:spPr>
      </p:pic>
      <p:sp>
        <p:nvSpPr>
          <p:cNvPr id="48" name="Protein &amp; functional testing">
            <a:extLst xmlns:a="http://schemas.openxmlformats.org/drawingml/2006/main">
              <a:ext uri="{FF2B5EF4-FFF2-40B4-BE49-F238E27FC236}">
                <a16:creationId xmlns:a16="http://schemas.microsoft.com/office/drawing/2014/main" id="{D835B44D-F364-4BB0-8B9A-9650493C8054}"/>
              </a:ext>
            </a:extLst>
          </p:cNvPr>
          <p:cNvSpPr>
            <a:spLocks xmlns:a="http://schemas.openxmlformats.org/drawingml/2006/main" noGrp="1"/>
          </p:cNvSpPr>
          <p:nvPr/>
        </p:nvSpPr>
        <p:spPr>
          <a:xfrm xmlns:a="http://schemas.openxmlformats.org/drawingml/2006/main">
            <a:off x="13020675" y="332422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Protein &amp; functional testing</a:t>
            </a:r>
          </a:p>
        </p:txBody>
      </p:sp>
      <p:sp>
        <p:nvSpPr>
          <p:cNvPr id="49" name="SPR / BLI, binding curves, epitope binning">
            <a:extLst xmlns:a="http://schemas.openxmlformats.org/drawingml/2006/main">
              <a:ext uri="{FF2B5EF4-FFF2-40B4-BE49-F238E27FC236}">
                <a16:creationId xmlns:a16="http://schemas.microsoft.com/office/drawing/2014/main" id="{B78DAE3F-3503-496B-BA15-6AC0D8AE2C7C}"/>
              </a:ext>
            </a:extLst>
          </p:cNvPr>
          <p:cNvSpPr>
            <a:spLocks xmlns:a="http://schemas.openxmlformats.org/drawingml/2006/main" noGrp="1"/>
          </p:cNvSpPr>
          <p:nvPr/>
        </p:nvSpPr>
        <p:spPr>
          <a:xfrm xmlns:a="http://schemas.openxmlformats.org/drawingml/2006/main">
            <a:off x="12601575" y="3724275"/>
            <a:ext cx="460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SPR / BLI, binding curves, epitope binning</a:t>
            </a:r>
          </a:p>
        </p:txBody>
      </p:sp>
      <p:sp>
        <p:nvSpPr>
          <p:cNvPr id="50" name="Target proteins, sensors / chips, buffers">
            <a:extLst xmlns:a="http://schemas.openxmlformats.org/drawingml/2006/main">
              <a:ext uri="{FF2B5EF4-FFF2-40B4-BE49-F238E27FC236}">
                <a16:creationId xmlns:a16="http://schemas.microsoft.com/office/drawing/2014/main" id="{85C44D70-8F76-48FF-A777-26744DC01ED3}"/>
              </a:ext>
            </a:extLst>
          </p:cNvPr>
          <p:cNvSpPr>
            <a:spLocks xmlns:a="http://schemas.openxmlformats.org/drawingml/2006/main" noGrp="1"/>
          </p:cNvSpPr>
          <p:nvPr/>
        </p:nvSpPr>
        <p:spPr>
          <a:xfrm xmlns:a="http://schemas.openxmlformats.org/drawingml/2006/main">
            <a:off x="12601575" y="4057650"/>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Target proteins, sensors / chips, buffers</a:t>
            </a:r>
          </a:p>
        </p:txBody>
      </p:sp>
      <p:sp>
        <p:nvSpPr>
          <p:cNvPr id="51" name="KD / kon / koff can share one kinetic run">
            <a:extLst xmlns:a="http://schemas.openxmlformats.org/drawingml/2006/main">
              <a:ext uri="{FF2B5EF4-FFF2-40B4-BE49-F238E27FC236}">
                <a16:creationId xmlns:a16="http://schemas.microsoft.com/office/drawing/2014/main" id="{241183EF-4646-43A0-A828-ACBADE554B02}"/>
              </a:ext>
            </a:extLst>
          </p:cNvPr>
          <p:cNvSpPr>
            <a:spLocks xmlns:a="http://schemas.openxmlformats.org/drawingml/2006/main" noGrp="1"/>
          </p:cNvSpPr>
          <p:nvPr/>
        </p:nvSpPr>
        <p:spPr>
          <a:xfrm xmlns:a="http://schemas.openxmlformats.org/drawingml/2006/main">
            <a:off x="12601575" y="4352925"/>
            <a:ext cx="460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KD / kon / koff can share one kinetic run</a:t>
            </a:r>
          </a:p>
        </p:txBody>
      </p:sp>
      <p:sp>
        <p:nvSpPr>
          <p:cNvPr id="52" name="">
            <a:extLst xmlns:a="http://schemas.openxmlformats.org/drawingml/2006/main">
              <a:ext uri="{FF2B5EF4-FFF2-40B4-BE49-F238E27FC236}">
                <a16:creationId xmlns:a16="http://schemas.microsoft.com/office/drawing/2014/main" id="{996941DD-F3FE-4C1E-A078-A0B905C4554A}"/>
              </a:ext>
            </a:extLst>
          </p:cNvPr>
          <p:cNvSpPr>
            <a:spLocks xmlns:a="http://schemas.openxmlformats.org/drawingml/2006/main" noGrp="1"/>
          </p:cNvSpPr>
          <p:nvPr/>
        </p:nvSpPr>
        <p:spPr>
          <a:xfrm xmlns:a="http://schemas.openxmlformats.org/drawingml/2006/main">
            <a:off x="7410450" y="4867275"/>
            <a:ext cx="4838700"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53" name="">
            <a:extLst xmlns:a="http://schemas.openxmlformats.org/drawingml/2006/main">
              <a:ext uri="{FF2B5EF4-FFF2-40B4-BE49-F238E27FC236}">
                <a16:creationId xmlns:a16="http://schemas.microsoft.com/office/drawing/2014/main" id="{395E1E0D-3699-4BD0-8D20-C5FE05AA0C70}"/>
              </a:ext>
            </a:extLst>
          </p:cNvPr>
          <p:cNvPicPr>
            <a:picLocks xmlns:a="http://schemas.openxmlformats.org/drawingml/2006/main" noChangeAspect="1"/>
          </p:cNvPicPr>
          <p:nvPr/>
        </p:nvPicPr>
        <p:blipFill>
          <a:blip xmlns:r="http://schemas.openxmlformats.org/officeDocument/2006/relationships" xmlns:a="http://schemas.openxmlformats.org/drawingml/2006/main" r:embed="Re5e0d5de6cb64124">
            <a:extLst>
              <a:ext uri="{96DAC541-7B7A-43D3-8B79-37D633B846F1}">
                <asvg:svgBlip xmlns:asvg="http://schemas.microsoft.com/office/drawing/2016/SVG/main" r:embed="R47b4d9201ca347f2"/>
              </a:ext>
            </a:extLst>
          </a:blip>
          <a:stretch xmlns:a="http://schemas.openxmlformats.org/drawingml/2006/main"/>
        </p:blipFill>
        <p:spPr>
          <a:xfrm xmlns:a="http://schemas.openxmlformats.org/drawingml/2006/main">
            <a:off x="7562850" y="5019675"/>
            <a:ext cx="285750" cy="285750"/>
          </a:xfrm>
          <a:prstGeom xmlns:a="http://schemas.openxmlformats.org/drawingml/2006/main" prst="rect">
            <a:avLst/>
          </a:prstGeom>
        </p:spPr>
      </p:pic>
      <p:sp>
        <p:nvSpPr>
          <p:cNvPr id="54" name="Cells &amp; culture systems">
            <a:extLst xmlns:a="http://schemas.openxmlformats.org/drawingml/2006/main">
              <a:ext uri="{FF2B5EF4-FFF2-40B4-BE49-F238E27FC236}">
                <a16:creationId xmlns:a16="http://schemas.microsoft.com/office/drawing/2014/main" id="{87A51E94-22F9-4CE2-89F2-30620BE1312B}"/>
              </a:ext>
            </a:extLst>
          </p:cNvPr>
          <p:cNvSpPr>
            <a:spLocks xmlns:a="http://schemas.openxmlformats.org/drawingml/2006/main" noGrp="1"/>
          </p:cNvSpPr>
          <p:nvPr/>
        </p:nvSpPr>
        <p:spPr>
          <a:xfrm xmlns:a="http://schemas.openxmlformats.org/drawingml/2006/main">
            <a:off x="7981950" y="5010150"/>
            <a:ext cx="410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Cells &amp; culture systems</a:t>
            </a:r>
          </a:p>
        </p:txBody>
      </p:sp>
      <p:sp>
        <p:nvSpPr>
          <p:cNvPr id="55" name="Functional cells, media, transfection, expansion">
            <a:extLst xmlns:a="http://schemas.openxmlformats.org/drawingml/2006/main">
              <a:ext uri="{FF2B5EF4-FFF2-40B4-BE49-F238E27FC236}">
                <a16:creationId xmlns:a16="http://schemas.microsoft.com/office/drawing/2014/main" id="{E7D2A28F-ACDD-42E1-AAC4-BE234F3FC90A}"/>
              </a:ext>
            </a:extLst>
          </p:cNvPr>
          <p:cNvSpPr>
            <a:spLocks xmlns:a="http://schemas.openxmlformats.org/drawingml/2006/main" noGrp="1"/>
          </p:cNvSpPr>
          <p:nvPr/>
        </p:nvSpPr>
        <p:spPr>
          <a:xfrm xmlns:a="http://schemas.openxmlformats.org/drawingml/2006/main">
            <a:off x="7562850" y="5410200"/>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Functional cells, media, transfection, expansion</a:t>
            </a:r>
          </a:p>
        </p:txBody>
      </p:sp>
      <p:sp>
        <p:nvSpPr>
          <p:cNvPr id="56" name="Cell potency; selected polyreactivity assays">
            <a:extLst xmlns:a="http://schemas.openxmlformats.org/drawingml/2006/main">
              <a:ext uri="{FF2B5EF4-FFF2-40B4-BE49-F238E27FC236}">
                <a16:creationId xmlns:a16="http://schemas.microsoft.com/office/drawing/2014/main" id="{1FBD12A5-84C3-4CBA-A2B2-7360038B3F3D}"/>
              </a:ext>
            </a:extLst>
          </p:cNvPr>
          <p:cNvSpPr>
            <a:spLocks xmlns:a="http://schemas.openxmlformats.org/drawingml/2006/main" noGrp="1"/>
          </p:cNvSpPr>
          <p:nvPr/>
        </p:nvSpPr>
        <p:spPr>
          <a:xfrm xmlns:a="http://schemas.openxmlformats.org/drawingml/2006/main">
            <a:off x="7562850" y="5743575"/>
            <a:ext cx="453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Cell potency; selected polyreactivity assays</a:t>
            </a:r>
          </a:p>
        </p:txBody>
      </p:sp>
      <p:sp>
        <p:nvSpPr>
          <p:cNvPr id="57" name="Record cell model, target level and conditions">
            <a:extLst xmlns:a="http://schemas.openxmlformats.org/drawingml/2006/main">
              <a:ext uri="{FF2B5EF4-FFF2-40B4-BE49-F238E27FC236}">
                <a16:creationId xmlns:a16="http://schemas.microsoft.com/office/drawing/2014/main" id="{D03D16E2-7D02-427D-9FD1-2EE924351169}"/>
              </a:ext>
            </a:extLst>
          </p:cNvPr>
          <p:cNvSpPr>
            <a:spLocks xmlns:a="http://schemas.openxmlformats.org/drawingml/2006/main" noGrp="1"/>
          </p:cNvSpPr>
          <p:nvPr/>
        </p:nvSpPr>
        <p:spPr>
          <a:xfrm xmlns:a="http://schemas.openxmlformats.org/drawingml/2006/main">
            <a:off x="7562850" y="6038850"/>
            <a:ext cx="453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Record cell model, target level and conditions</a:t>
            </a:r>
          </a:p>
        </p:txBody>
      </p:sp>
      <p:sp>
        <p:nvSpPr>
          <p:cNvPr id="58" name="">
            <a:extLst xmlns:a="http://schemas.openxmlformats.org/drawingml/2006/main">
              <a:ext uri="{FF2B5EF4-FFF2-40B4-BE49-F238E27FC236}">
                <a16:creationId xmlns:a16="http://schemas.microsoft.com/office/drawing/2014/main" id="{32658A50-C123-4432-A106-FCC6563F41CF}"/>
              </a:ext>
            </a:extLst>
          </p:cNvPr>
          <p:cNvSpPr>
            <a:spLocks xmlns:a="http://schemas.openxmlformats.org/drawingml/2006/main" noGrp="1"/>
          </p:cNvSpPr>
          <p:nvPr/>
        </p:nvSpPr>
        <p:spPr>
          <a:xfrm xmlns:a="http://schemas.openxmlformats.org/drawingml/2006/main">
            <a:off x="12449175" y="4867275"/>
            <a:ext cx="4905375"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A5A5A5"/>
            </a:solidFill>
          </a:ln>
        </p:spPr>
      </p:sp>
      <p:pic>
        <p:nvPicPr>
          <p:cNvPr id="59" name="">
            <a:extLst xmlns:a="http://schemas.openxmlformats.org/drawingml/2006/main">
              <a:ext uri="{FF2B5EF4-FFF2-40B4-BE49-F238E27FC236}">
                <a16:creationId xmlns:a16="http://schemas.microsoft.com/office/drawing/2014/main" id="{31181ECE-BD7C-4222-8A1B-536FF22D3721}"/>
              </a:ext>
            </a:extLst>
          </p:cNvPr>
          <p:cNvPicPr>
            <a:picLocks xmlns:a="http://schemas.openxmlformats.org/drawingml/2006/main" noChangeAspect="1"/>
          </p:cNvPicPr>
          <p:nvPr/>
        </p:nvPicPr>
        <p:blipFill>
          <a:blip xmlns:r="http://schemas.openxmlformats.org/officeDocument/2006/relationships" xmlns:a="http://schemas.openxmlformats.org/drawingml/2006/main" r:embed="R399f8324945348be">
            <a:extLst>
              <a:ext uri="{96DAC541-7B7A-43D3-8B79-37D633B846F1}">
                <asvg:svgBlip xmlns:asvg="http://schemas.microsoft.com/office/drawing/2016/SVG/main" r:embed="Rca9d07e535c443e5"/>
              </a:ext>
            </a:extLst>
          </a:blip>
          <a:stretch xmlns:a="http://schemas.openxmlformats.org/drawingml/2006/main"/>
        </p:blipFill>
        <p:spPr>
          <a:xfrm xmlns:a="http://schemas.openxmlformats.org/drawingml/2006/main">
            <a:off x="12601575" y="5019675"/>
            <a:ext cx="285750" cy="285750"/>
          </a:xfrm>
          <a:prstGeom xmlns:a="http://schemas.openxmlformats.org/drawingml/2006/main" prst="rect">
            <a:avLst/>
          </a:prstGeom>
        </p:spPr>
      </p:pic>
      <p:sp>
        <p:nvSpPr>
          <p:cNvPr id="60" name="Measurement &amp; analysis">
            <a:extLst xmlns:a="http://schemas.openxmlformats.org/drawingml/2006/main">
              <a:ext uri="{FF2B5EF4-FFF2-40B4-BE49-F238E27FC236}">
                <a16:creationId xmlns:a16="http://schemas.microsoft.com/office/drawing/2014/main" id="{F77CE9EB-72D0-40CF-8724-08ECB9D8BEA2}"/>
              </a:ext>
            </a:extLst>
          </p:cNvPr>
          <p:cNvSpPr>
            <a:spLocks xmlns:a="http://schemas.openxmlformats.org/drawingml/2006/main" noGrp="1"/>
          </p:cNvSpPr>
          <p:nvPr/>
        </p:nvSpPr>
        <p:spPr>
          <a:xfrm xmlns:a="http://schemas.openxmlformats.org/drawingml/2006/main">
            <a:off x="13020675" y="5010150"/>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Measurement &amp; analysis</a:t>
            </a:r>
          </a:p>
        </p:txBody>
      </p:sp>
      <p:sp>
        <p:nvSpPr>
          <p:cNvPr id="61" name="SEC / HIC, nanoDSF, LC-MS, flow cytometry">
            <a:extLst xmlns:a="http://schemas.openxmlformats.org/drawingml/2006/main">
              <a:ext uri="{FF2B5EF4-FFF2-40B4-BE49-F238E27FC236}">
                <a16:creationId xmlns:a16="http://schemas.microsoft.com/office/drawing/2014/main" id="{371D8279-90D4-4DE6-B6DA-868F1A3B87E8}"/>
              </a:ext>
            </a:extLst>
          </p:cNvPr>
          <p:cNvSpPr>
            <a:spLocks xmlns:a="http://schemas.openxmlformats.org/drawingml/2006/main" noGrp="1"/>
          </p:cNvSpPr>
          <p:nvPr/>
        </p:nvSpPr>
        <p:spPr>
          <a:xfrm xmlns:a="http://schemas.openxmlformats.org/drawingml/2006/main">
            <a:off x="12601575" y="5410200"/>
            <a:ext cx="460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SEC / HIC, nanoDSF, LC-MS, flow cytometry</a:t>
            </a:r>
          </a:p>
        </p:txBody>
      </p:sp>
      <p:sp>
        <p:nvSpPr>
          <p:cNvPr id="62" name="Stability, aggregation, characterization / QC">
            <a:extLst xmlns:a="http://schemas.openxmlformats.org/drawingml/2006/main">
              <a:ext uri="{FF2B5EF4-FFF2-40B4-BE49-F238E27FC236}">
                <a16:creationId xmlns:a16="http://schemas.microsoft.com/office/drawing/2014/main" id="{943C81BE-E7D4-4D61-82DF-EB010B78336C}"/>
              </a:ext>
            </a:extLst>
          </p:cNvPr>
          <p:cNvSpPr>
            <a:spLocks xmlns:a="http://schemas.openxmlformats.org/drawingml/2006/main" noGrp="1"/>
          </p:cNvSpPr>
          <p:nvPr/>
        </p:nvSpPr>
        <p:spPr>
          <a:xfrm xmlns:a="http://schemas.openxmlformats.org/drawingml/2006/main">
            <a:off x="12601575" y="5743575"/>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Stability, aggregation, characterization / QC</a:t>
            </a:r>
          </a:p>
        </p:txBody>
      </p:sp>
      <p:sp>
        <p:nvSpPr>
          <p:cNvPr id="63" name="Columns are reused; model instrument CAPEX separately">
            <a:extLst xmlns:a="http://schemas.openxmlformats.org/drawingml/2006/main">
              <a:ext uri="{FF2B5EF4-FFF2-40B4-BE49-F238E27FC236}">
                <a16:creationId xmlns:a16="http://schemas.microsoft.com/office/drawing/2014/main" id="{3615B612-8F3B-43C8-9C46-D6C74B46AC6F}"/>
              </a:ext>
            </a:extLst>
          </p:cNvPr>
          <p:cNvSpPr>
            <a:spLocks xmlns:a="http://schemas.openxmlformats.org/drawingml/2006/main" noGrp="1"/>
          </p:cNvSpPr>
          <p:nvPr/>
        </p:nvSpPr>
        <p:spPr>
          <a:xfrm xmlns:a="http://schemas.openxmlformats.org/drawingml/2006/main">
            <a:off x="12601575" y="6038850"/>
            <a:ext cx="460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Columns are reused; model instrument CAPEX separately</a:t>
            </a:r>
          </a:p>
        </p:txBody>
      </p:sp>
      <p:sp>
        <p:nvSpPr>
          <p:cNvPr id="64" name="">
            <a:extLst xmlns:a="http://schemas.openxmlformats.org/drawingml/2006/main">
              <a:ext uri="{FF2B5EF4-FFF2-40B4-BE49-F238E27FC236}">
                <a16:creationId xmlns:a16="http://schemas.microsoft.com/office/drawing/2014/main" id="{D98E8F5C-DCFC-40BC-82BA-128F3FB9BED9}"/>
              </a:ext>
            </a:extLst>
          </p:cNvPr>
          <p:cNvSpPr>
            <a:spLocks xmlns:a="http://schemas.openxmlformats.org/drawingml/2006/main" noGrp="1"/>
          </p:cNvSpPr>
          <p:nvPr/>
        </p:nvSpPr>
        <p:spPr>
          <a:xfrm xmlns:a="http://schemas.openxmlformats.org/drawingml/2006/main">
            <a:off x="7410450" y="6553200"/>
            <a:ext cx="9944100" cy="1104900"/>
          </a:xfrm>
          <a:prstGeom xmlns:a="http://schemas.openxmlformats.org/drawingml/2006/main" prst="roundRect">
            <a:avLst>
              <a:gd name="adj" fmla="val 7759"/>
            </a:avLst>
          </a:prstGeom>
          <a:solidFill xmlns:a="http://schemas.openxmlformats.org/drawingml/2006/main">
            <a:srgbClr val="FFFFFF"/>
          </a:solidFill>
          <a:ln xmlns:a="http://schemas.openxmlformats.org/drawingml/2006/main" w="9525">
            <a:solidFill>
              <a:srgbClr val="A5A5A5"/>
            </a:solidFill>
          </a:ln>
        </p:spPr>
      </p:sp>
      <p:pic>
        <p:nvPicPr>
          <p:cNvPr id="65" name="">
            <a:extLst xmlns:a="http://schemas.openxmlformats.org/drawingml/2006/main">
              <a:ext uri="{FF2B5EF4-FFF2-40B4-BE49-F238E27FC236}">
                <a16:creationId xmlns:a16="http://schemas.microsoft.com/office/drawing/2014/main" id="{598A3F72-E526-4430-BF76-EF1E09FE604B}"/>
              </a:ext>
            </a:extLst>
          </p:cNvPr>
          <p:cNvPicPr>
            <a:picLocks xmlns:a="http://schemas.openxmlformats.org/drawingml/2006/main" noChangeAspect="1"/>
          </p:cNvPicPr>
          <p:nvPr/>
        </p:nvPicPr>
        <p:blipFill>
          <a:blip xmlns:r="http://schemas.openxmlformats.org/officeDocument/2006/relationships" xmlns:a="http://schemas.openxmlformats.org/drawingml/2006/main" r:embed="R22ab9e1f25f94615">
            <a:extLst>
              <a:ext uri="{96DAC541-7B7A-43D3-8B79-37D633B846F1}">
                <asvg:svgBlip xmlns:asvg="http://schemas.microsoft.com/office/drawing/2016/SVG/main" r:embed="R32d9c06296634da4"/>
              </a:ext>
            </a:extLst>
          </a:blip>
          <a:stretch xmlns:a="http://schemas.openxmlformats.org/drawingml/2006/main"/>
        </p:blipFill>
        <p:spPr>
          <a:xfrm xmlns:a="http://schemas.openxmlformats.org/drawingml/2006/main">
            <a:off x="7562850" y="6705600"/>
            <a:ext cx="285750" cy="285750"/>
          </a:xfrm>
          <a:prstGeom xmlns:a="http://schemas.openxmlformats.org/drawingml/2006/main" prst="rect">
            <a:avLst/>
          </a:prstGeom>
        </p:spPr>
      </p:pic>
      <p:sp>
        <p:nvSpPr>
          <p:cNvPr id="66" name="Sample handling, labware &amp; automation">
            <a:extLst xmlns:a="http://schemas.openxmlformats.org/drawingml/2006/main">
              <a:ext uri="{FF2B5EF4-FFF2-40B4-BE49-F238E27FC236}">
                <a16:creationId xmlns:a16="http://schemas.microsoft.com/office/drawing/2014/main" id="{37E1DFE9-2501-43C6-BB41-BC37F8093F9D}"/>
              </a:ext>
            </a:extLst>
          </p:cNvPr>
          <p:cNvSpPr>
            <a:spLocks xmlns:a="http://schemas.openxmlformats.org/drawingml/2006/main" noGrp="1"/>
          </p:cNvSpPr>
          <p:nvPr/>
        </p:nvSpPr>
        <p:spPr>
          <a:xfrm xmlns:a="http://schemas.openxmlformats.org/drawingml/2006/main">
            <a:off x="7981950" y="6696075"/>
            <a:ext cx="921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Sample handling, labware &amp; automation</a:t>
            </a:r>
          </a:p>
        </p:txBody>
      </p:sp>
      <p:sp>
        <p:nvSpPr>
          <p:cNvPr id="67" name="Plates, tips, tubes, filtration / beads, liquid handling">
            <a:extLst xmlns:a="http://schemas.openxmlformats.org/drawingml/2006/main">
              <a:ext uri="{FF2B5EF4-FFF2-40B4-BE49-F238E27FC236}">
                <a16:creationId xmlns:a16="http://schemas.microsoft.com/office/drawing/2014/main" id="{B6C3B861-5C35-4B49-8C2F-2E36BCD85F3F}"/>
              </a:ext>
            </a:extLst>
          </p:cNvPr>
          <p:cNvSpPr>
            <a:spLocks xmlns:a="http://schemas.openxmlformats.org/drawingml/2006/main" noGrp="1"/>
          </p:cNvSpPr>
          <p:nvPr/>
        </p:nvSpPr>
        <p:spPr>
          <a:xfrm xmlns:a="http://schemas.openxmlformats.org/drawingml/2006/main">
            <a:off x="7562850" y="7096125"/>
            <a:ext cx="963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Plates, tips, tubes, filtration / beads, liquid handling</a:t>
            </a:r>
          </a:p>
        </p:txBody>
      </p:sp>
      <p:sp>
        <p:nvSpPr>
          <p:cNvPr id="68" name="Across all workflows; miniaturization, reuse and scheduling alter net consumption">
            <a:extLst xmlns:a="http://schemas.openxmlformats.org/drawingml/2006/main">
              <a:ext uri="{FF2B5EF4-FFF2-40B4-BE49-F238E27FC236}">
                <a16:creationId xmlns:a16="http://schemas.microsoft.com/office/drawing/2014/main" id="{B301483B-5DDD-4C60-811B-2A339851C31C}"/>
              </a:ext>
            </a:extLst>
          </p:cNvPr>
          <p:cNvSpPr>
            <a:spLocks xmlns:a="http://schemas.openxmlformats.org/drawingml/2006/main" noGrp="1"/>
          </p:cNvSpPr>
          <p:nvPr/>
        </p:nvSpPr>
        <p:spPr>
          <a:xfrm xmlns:a="http://schemas.openxmlformats.org/drawingml/2006/main">
            <a:off x="7562850" y="7429500"/>
            <a:ext cx="9639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Across all workflows; miniaturization, reuse and scheduling alter net consumption</a:t>
            </a:r>
          </a:p>
        </p:txBody>
      </p:sp>
      <p:sp>
        <p:nvSpPr>
          <p:cNvPr id="69" name="">
            <a:extLst xmlns:a="http://schemas.openxmlformats.org/drawingml/2006/main">
              <a:ext uri="{FF2B5EF4-FFF2-40B4-BE49-F238E27FC236}">
                <a16:creationId xmlns:a16="http://schemas.microsoft.com/office/drawing/2014/main" id="{B81C799F-B99A-42CF-A1CA-E9E6CE04F3D4}"/>
              </a:ext>
            </a:extLst>
          </p:cNvPr>
          <p:cNvSpPr>
            <a:spLocks xmlns:a="http://schemas.openxmlformats.org/drawingml/2006/main" noGrp="1"/>
          </p:cNvSpPr>
          <p:nvPr/>
        </p:nvSpPr>
        <p:spPr>
          <a:xfrm xmlns:a="http://schemas.openxmlformats.org/drawingml/2006/main">
            <a:off x="685800" y="8143875"/>
            <a:ext cx="8229600" cy="666750"/>
          </a:xfrm>
          <a:prstGeom xmlns:a="http://schemas.openxmlformats.org/drawingml/2006/main" prst="roundRect">
            <a:avLst>
              <a:gd name="adj" fmla="val 11429"/>
            </a:avLst>
          </a:prstGeom>
          <a:solidFill xmlns:a="http://schemas.openxmlformats.org/drawingml/2006/main">
            <a:srgbClr val="EEF6FC"/>
          </a:solidFill>
          <a:ln xmlns:a="http://schemas.openxmlformats.org/drawingml/2006/main" w="9525">
            <a:solidFill>
              <a:srgbClr val="A5A5A5"/>
            </a:solidFill>
          </a:ln>
        </p:spPr>
      </p:sp>
      <p:sp>
        <p:nvSpPr>
          <p:cNvPr id="70" name="">
            <a:extLst xmlns:a="http://schemas.openxmlformats.org/drawingml/2006/main">
              <a:ext uri="{FF2B5EF4-FFF2-40B4-BE49-F238E27FC236}">
                <a16:creationId xmlns:a16="http://schemas.microsoft.com/office/drawing/2014/main" id="{269552AD-F0E4-4245-94FE-22E5333B4B6A}"/>
              </a:ext>
            </a:extLst>
          </p:cNvPr>
          <p:cNvSpPr>
            <a:spLocks xmlns:a="http://schemas.openxmlformats.org/drawingml/2006/main" noGrp="1"/>
          </p:cNvSpPr>
          <p:nvPr/>
        </p:nvSpPr>
        <p:spPr>
          <a:xfrm xmlns:a="http://schemas.openxmlformats.org/drawingml/2006/main">
            <a:off x="9115425" y="8143875"/>
            <a:ext cx="84867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A5A5A5"/>
            </a:solidFill>
          </a:ln>
        </p:spPr>
      </p:sp>
      <p:sp>
        <p:nvSpPr>
          <p:cNvPr id="71" name="ACROBiosystems: target proteins, functional cells &amp; characterization">
            <a:extLst xmlns:a="http://schemas.openxmlformats.org/drawingml/2006/main">
              <a:ext uri="{FF2B5EF4-FFF2-40B4-BE49-F238E27FC236}">
                <a16:creationId xmlns:a16="http://schemas.microsoft.com/office/drawing/2014/main" id="{FF78356D-A199-4C58-883C-F7F15181B8D4}"/>
              </a:ext>
            </a:extLst>
          </p:cNvPr>
          <p:cNvSpPr>
            <a:spLocks xmlns:a="http://schemas.openxmlformats.org/drawingml/2006/main" noGrp="1"/>
          </p:cNvSpPr>
          <p:nvPr/>
        </p:nvSpPr>
        <p:spPr>
          <a:xfrm xmlns:a="http://schemas.openxmlformats.org/drawingml/2006/main">
            <a:off x="866775" y="8220075"/>
            <a:ext cx="7867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ACROBiosystems: target proteins, functional cells &amp; characterization</a:t>
            </a:r>
          </a:p>
        </p:txBody>
      </p:sp>
      <p:sp>
        <p:nvSpPr>
          <p:cNvPr id="72" name="AIDD-Ready offering exists; paid orders and repeat purchases still need verification">
            <a:extLst xmlns:a="http://schemas.openxmlformats.org/drawingml/2006/main">
              <a:ext uri="{FF2B5EF4-FFF2-40B4-BE49-F238E27FC236}">
                <a16:creationId xmlns:a16="http://schemas.microsoft.com/office/drawing/2014/main" id="{6D8078CF-DF5C-49F2-BB9F-8C0282D339D1}"/>
              </a:ext>
            </a:extLst>
          </p:cNvPr>
          <p:cNvSpPr>
            <a:spLocks xmlns:a="http://schemas.openxmlformats.org/drawingml/2006/main" noGrp="1"/>
          </p:cNvSpPr>
          <p:nvPr/>
        </p:nvSpPr>
        <p:spPr>
          <a:xfrm xmlns:a="http://schemas.openxmlformats.org/drawingml/2006/main">
            <a:off x="866775" y="8524875"/>
            <a:ext cx="786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AIDD-Ready offering exists; paid orders and repeat purchases still need verification</a:t>
            </a:r>
          </a:p>
        </p:txBody>
      </p:sp>
      <p:sp>
        <p:nvSpPr>
          <p:cNvPr id="73" name="NanoMicro: analytical separation &amp; lab purification materials">
            <a:extLst xmlns:a="http://schemas.openxmlformats.org/drawingml/2006/main">
              <a:ext uri="{FF2B5EF4-FFF2-40B4-BE49-F238E27FC236}">
                <a16:creationId xmlns:a16="http://schemas.microsoft.com/office/drawing/2014/main" id="{D5F801AC-26B6-4284-A182-EA45B2C1C422}"/>
              </a:ext>
            </a:extLst>
          </p:cNvPr>
          <p:cNvSpPr>
            <a:spLocks xmlns:a="http://schemas.openxmlformats.org/drawingml/2006/main" noGrp="1"/>
          </p:cNvSpPr>
          <p:nvPr/>
        </p:nvSpPr>
        <p:spPr>
          <a:xfrm xmlns:a="http://schemas.openxmlformats.org/drawingml/2006/main">
            <a:off x="9296400" y="8220075"/>
            <a:ext cx="812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NanoMicro: analytical separation &amp; lab purification materials</a:t>
            </a:r>
          </a:p>
        </p:txBody>
      </p:sp>
      <p:sp>
        <p:nvSpPr>
          <p:cNvPr id="74" name="Track sample runs, column life and ASP; manufacturing resin demand has a longer lag">
            <a:extLst xmlns:a="http://schemas.openxmlformats.org/drawingml/2006/main">
              <a:ext uri="{FF2B5EF4-FFF2-40B4-BE49-F238E27FC236}">
                <a16:creationId xmlns:a16="http://schemas.microsoft.com/office/drawing/2014/main" id="{C257EFC7-E9E7-49F5-8ED0-B533A03E3C2E}"/>
              </a:ext>
            </a:extLst>
          </p:cNvPr>
          <p:cNvSpPr>
            <a:spLocks xmlns:a="http://schemas.openxmlformats.org/drawingml/2006/main" noGrp="1"/>
          </p:cNvSpPr>
          <p:nvPr/>
        </p:nvSpPr>
        <p:spPr>
          <a:xfrm xmlns:a="http://schemas.openxmlformats.org/drawingml/2006/main">
            <a:off x="9296400" y="8524875"/>
            <a:ext cx="812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Track sample runs, column life and ASP; manufacturing resin demand has a longer lag</a:t>
            </a:r>
          </a:p>
        </p:txBody>
      </p:sp>
      <p:sp>
        <p:nvSpPr>
          <p:cNvPr id="75" name="">
            <a:extLst xmlns:a="http://schemas.openxmlformats.org/drawingml/2006/main">
              <a:ext uri="{FF2B5EF4-FFF2-40B4-BE49-F238E27FC236}">
                <a16:creationId xmlns:a16="http://schemas.microsoft.com/office/drawing/2014/main" id="{C34EF463-3C49-460D-9396-03C5F46183F6}"/>
              </a:ext>
            </a:extLst>
          </p:cNvPr>
          <p:cNvSpPr>
            <a:spLocks xmlns:a="http://schemas.openxmlformats.org/drawingml/2006/main" noGrp="1"/>
          </p:cNvSpPr>
          <p:nvPr/>
        </p:nvSpPr>
        <p:spPr>
          <a:xfrm xmlns:a="http://schemas.openxmlformats.org/drawingml/2006/main">
            <a:off x="685800" y="9067800"/>
            <a:ext cx="16916400" cy="638175"/>
          </a:xfrm>
          <a:prstGeom xmlns:a="http://schemas.openxmlformats.org/drawingml/2006/main" prst="roundRect">
            <a:avLst>
              <a:gd name="adj" fmla="val 13433"/>
            </a:avLst>
          </a:prstGeom>
          <a:solidFill xmlns:a="http://schemas.openxmlformats.org/drawingml/2006/main">
            <a:srgbClr val="00355F"/>
          </a:solidFill>
          <a:ln xmlns:a="http://schemas.openxmlformats.org/drawingml/2006/main" w="9525">
            <a:noFill/>
          </a:ln>
        </p:spPr>
      </p:sp>
      <p:sp>
        <p:nvSpPr>
          <p:cNvPr id="76" name="LST purchases ≈ Σ [workflow executions × net purchased inputs per run × ASP]">
            <a:extLst xmlns:a="http://schemas.openxmlformats.org/drawingml/2006/main">
              <a:ext uri="{FF2B5EF4-FFF2-40B4-BE49-F238E27FC236}">
                <a16:creationId xmlns:a16="http://schemas.microsoft.com/office/drawing/2014/main" id="{063E87F5-F266-4C9B-9CCE-D8BF3D7D77FA}"/>
              </a:ext>
            </a:extLst>
          </p:cNvPr>
          <p:cNvSpPr>
            <a:spLocks xmlns:a="http://schemas.openxmlformats.org/drawingml/2006/main" noGrp="1"/>
          </p:cNvSpPr>
          <p:nvPr/>
        </p:nvSpPr>
        <p:spPr>
          <a:xfrm xmlns:a="http://schemas.openxmlformats.org/drawingml/2006/main">
            <a:off x="895350" y="9229725"/>
            <a:ext cx="16497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lnSpc>
                <a:spcPct val="100000"/>
              </a:lnSpc>
              <a:buNone/>
              <a:defRPr sz="2175" b="1">
                <a:solidFill>
                  <a:srgbClr val="FFFFFF"/>
                </a:solidFill>
                <a:latin typeface="Arial"/>
                <a:ea typeface="Arial"/>
                <a:cs typeface="Arial"/>
              </a:defRPr>
            </a:pPr>
            <a:r>
              <a:rPr sz="2175" b="1">
                <a:solidFill>
                  <a:srgbClr val="FFFFFF"/>
                </a:solidFill>
                <a:latin typeface="Arial"/>
                <a:ea typeface="Arial"/>
                <a:cs typeface="Arial"/>
              </a:rPr>
              <a:t>LST purchases ≈ Σ [workflow executions × net purchased inputs per run × ASP]</a:t>
            </a:r>
          </a:p>
        </p:txBody>
      </p:sp>
      <p:sp>
        <p:nvSpPr>
          <p:cNvPr id="77" name="Instrument CAPEX is separate. Product alignment does not establish AI orders or revenue. Sources: Ginkgo, Sartorius and company websites.">
            <a:extLst xmlns:a="http://schemas.openxmlformats.org/drawingml/2006/main">
              <a:ext uri="{FF2B5EF4-FFF2-40B4-BE49-F238E27FC236}">
                <a16:creationId xmlns:a16="http://schemas.microsoft.com/office/drawing/2014/main" id="{C101B481-95AA-4122-BD35-066B06502648}"/>
              </a:ext>
            </a:extLst>
          </p:cNvPr>
          <p:cNvSpPr>
            <a:spLocks xmlns:a="http://schemas.openxmlformats.org/drawingml/2006/main" noGrp="1"/>
          </p:cNvSpPr>
          <p:nvPr/>
        </p:nvSpPr>
        <p:spPr>
          <a:xfrm xmlns:a="http://schemas.openxmlformats.org/drawingml/2006/main">
            <a:off x="685800" y="9810750"/>
            <a:ext cx="16916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Instrument CAPEX is separate. Product alignment does not establish AI orders or revenue. Sources: Ginkgo, Sartorius and company websites.</a:t>
            </a:r>
          </a:p>
        </p:txBody>
      </p:sp>
    </p:spTree>
    <p:extLst>
      <p:ext uri="{BB962C8B-B14F-4D97-AF65-F5344CB8AC3E}">
        <p14:creationId xmlns:p14="http://schemas.microsoft.com/office/powerpoint/2010/main" val="1114599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2026-10-13T04:04:47.0500000Z</dcterms:created>
  <dcterms:modified xsi:type="dcterms:W3CDTF">2026-10-13T04:04:47.0500000Z</dcterms:modified>
</coreProperties>
</file>