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3feef211b4471" /><Relationship Type="http://schemas.openxmlformats.org/officeDocument/2006/relationships/extended-properties" Target="/docProps/app.xml" Id="Ra32f941b78b14a4c" /><Relationship Type="http://schemas.openxmlformats.org/officeDocument/2006/relationships/officeDocument" Target="/ppt/presentation.xml" Id="R4db27a5813024f30" /></Relationships>
</file>

<file path=ppt/presentation.xml><?xml version="1.0" encoding="utf-8"?>
<p:presentation xmlns:p="http://schemas.openxmlformats.org/presentationml/2006/main">
  <p:sldMasterIdLst>
    <p:sldMasterId xmlns:r="http://schemas.openxmlformats.org/officeDocument/2006/relationships" id="2147483648" r:id="Re8aced0c104a477f"/>
  </p:sldMasterIdLst>
  <p:notesMasterIdLst>
    <p:notesMasterId xmlns:r="http://schemas.openxmlformats.org/officeDocument/2006/relationships" r:id="R3d1ea14156274064"/>
  </p:notesMasterIdLst>
  <p:sldIdLst>
    <p:sldId xmlns:r="http://schemas.openxmlformats.org/officeDocument/2006/relationships" id="256" r:id="R00d910c70785407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01eebd14f049e8" /><Relationship Type="http://schemas.openxmlformats.org/officeDocument/2006/relationships/slideMaster" Target="/ppt/slideMasters/slideMaster1.xml" Id="Re8aced0c104a477f" /><Relationship Type="http://schemas.openxmlformats.org/officeDocument/2006/relationships/notesMaster" Target="/ppt/notesMasters/notesMaster1.xml" Id="R3d1ea14156274064" /><Relationship Type="http://schemas.openxmlformats.org/officeDocument/2006/relationships/presProps" Target="/ppt/presProps.xml" Id="Rbe509ec176f645e5" /><Relationship Type="http://schemas.openxmlformats.org/officeDocument/2006/relationships/tableStyles" Target="/ppt/tableStyles.xml" Id="R7b9d9ca282a747bf" /><Relationship Type="http://schemas.openxmlformats.org/officeDocument/2006/relationships/slide" Target="/ppt/slides/slide1.xml" Id="R00d910c7078540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913ee2ed1245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1cbfe573fa4ed2" /><Relationship Type="http://schemas.openxmlformats.org/officeDocument/2006/relationships/notesMaster" Target="/ppt/notesMasters/notesMaster1.xml" Id="Rc5e5e799db3e4b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Customer workflows across life science tools</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6353bc4e554c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71b5eeaec742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bf9db547fc4b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405ffc08fa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4967875a0e42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e8046dcdc249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FB759D-1B44-4F72-8920-248307E87C3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1BD9ED-08F1-434B-A3F0-AEFD432FE35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CEEEA3-4F54-4720-869C-B399EB779CC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02694E-3D17-4BFB-B7D4-AC273DD509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7C04FC-973E-46AE-91AF-79868278FB4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541FC5-6A13-490F-B490-16D3BDD937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B22CE-FBBB-47AF-B8D8-258FAEE14C9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8B9A27-E294-4E7C-A199-0C3CCC831EB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1359C-83B4-4D27-80CA-1679B304CA9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3945C-8176-45BA-9FB6-3896AAD0060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5f6fb2d4284c03" /><Relationship Type="http://schemas.openxmlformats.org/officeDocument/2006/relationships/slideLayout" Target="/ppt/slideLayouts/slideLayout1.xml" Id="Rd733ddeb82ab4eab" /><Relationship Type="http://schemas.openxmlformats.org/officeDocument/2006/relationships/slideLayout" Target="/ppt/slideLayouts/slideLayout2.xml" Id="R7ca8bca7f8e34c16" /><Relationship Type="http://schemas.openxmlformats.org/officeDocument/2006/relationships/slideLayout" Target="/ppt/slideLayouts/slideLayout3.xml" Id="R8d0f9747f692431d" /><Relationship Type="http://schemas.openxmlformats.org/officeDocument/2006/relationships/slideLayout" Target="/ppt/slideLayouts/slideLayout4.xml" Id="Rce53ea00866a447e" /><Relationship Type="http://schemas.openxmlformats.org/officeDocument/2006/relationships/slideLayout" Target="/ppt/slideLayouts/slideLayout5.xml" Id="R6abe4df349d14e74" /><Relationship Type="http://schemas.openxmlformats.org/officeDocument/2006/relationships/slideLayout" Target="/ppt/slideLayouts/slideLayout6.xml" Id="R6082b731c4674d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33ddeb82ab4eab"/>
    <p:sldLayoutId xmlns:r="http://schemas.openxmlformats.org/officeDocument/2006/relationships" id="2147483650" r:id="R7ca8bca7f8e34c16"/>
    <p:sldLayoutId xmlns:r="http://schemas.openxmlformats.org/officeDocument/2006/relationships" id="2147483651" r:id="R8d0f9747f692431d"/>
    <p:sldLayoutId xmlns:r="http://schemas.openxmlformats.org/officeDocument/2006/relationships" id="2147483652" r:id="Rce53ea00866a447e"/>
    <p:sldLayoutId xmlns:r="http://schemas.openxmlformats.org/officeDocument/2006/relationships" id="2147483653" r:id="R6abe4df349d14e74"/>
    <p:sldLayoutId xmlns:r="http://schemas.openxmlformats.org/officeDocument/2006/relationships" id="2147483654" r:id="R6082b731c4674d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3e5a45178144f1" /><Relationship Type="http://schemas.openxmlformats.org/officeDocument/2006/relationships/image" Target="/ppt/media/image.png" Id="R369254cebf084f3b" /><Relationship Type="http://schemas.openxmlformats.org/officeDocument/2006/relationships/notesSlide" Target="/ppt/notesSlides/notesSlide1.xml" Id="Rff1a3dee125c4c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8" name="">
            <a:extLst xmlns:a="http://schemas.openxmlformats.org/drawingml/2006/main">
              <a:ext uri="{FF2B5EF4-FFF2-40B4-BE49-F238E27FC236}">
                <a16:creationId xmlns:a16="http://schemas.microsoft.com/office/drawing/2014/main" id="{8FD68C45-9F1E-4295-91BE-4B7204F7F4A3}"/>
              </a:ext>
            </a:extLst>
          </p:cNvPr>
          <p:cNvPicPr>
            <a:picLocks xmlns:a="http://schemas.openxmlformats.org/drawingml/2006/main" noChangeAspect="1"/>
          </p:cNvPicPr>
          <p:nvPr/>
        </p:nvPicPr>
        <p:blipFill>
          <a:blip xmlns:r="http://schemas.openxmlformats.org/officeDocument/2006/relationships" xmlns:a="http://schemas.openxmlformats.org/drawingml/2006/main" r:embed="R369254cebf084f3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3 label 1 line 1">
            <a:extLst xmlns:a="http://schemas.openxmlformats.org/drawingml/2006/main">
              <a:ext uri="{FF2B5EF4-FFF2-40B4-BE49-F238E27FC236}">
                <a16:creationId xmlns:a16="http://schemas.microsoft.com/office/drawing/2014/main" id="{DF7F3AB2-0EE8-4E6B-A7E3-BFD72A5760A4}"/>
              </a:ext>
            </a:extLst>
          </p:cNvPr>
          <p:cNvSpPr>
            <a:spLocks xmlns:a="http://schemas.openxmlformats.org/drawingml/2006/main" noGrp="1"/>
          </p:cNvSpPr>
          <p:nvPr/>
        </p:nvSpPr>
        <p:spPr>
          <a:xfrm xmlns:a="http://schemas.openxmlformats.org/drawingml/2006/main" rot="0">
            <a:off x="991870" y="421675"/>
            <a:ext cx="764029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03  Customer workflows across life science tools</a:t>
            </a:r>
          </a:p>
        </p:txBody>
      </p:sp>
      <p:sp>
        <p:nvSpPr>
          <p:cNvPr id="3" name="Figure 3 label 2 line 1">
            <a:extLst xmlns:a="http://schemas.openxmlformats.org/drawingml/2006/main">
              <a:ext uri="{FF2B5EF4-FFF2-40B4-BE49-F238E27FC236}">
                <a16:creationId xmlns:a16="http://schemas.microsoft.com/office/drawing/2014/main" id="{A34358B5-DF0B-4B96-A132-CEFB6D9C7557}"/>
              </a:ext>
            </a:extLst>
          </p:cNvPr>
          <p:cNvSpPr>
            <a:spLocks xmlns:a="http://schemas.openxmlformats.org/drawingml/2006/main" noGrp="1"/>
          </p:cNvSpPr>
          <p:nvPr/>
        </p:nvSpPr>
        <p:spPr>
          <a:xfrm xmlns:a="http://schemas.openxmlformats.org/drawingml/2006/main" rot="0">
            <a:off x="15842184" y="661601"/>
            <a:ext cx="77683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USE MAP</a:t>
            </a:r>
          </a:p>
        </p:txBody>
      </p:sp>
      <p:sp>
        <p:nvSpPr>
          <p:cNvPr id="4" name="Figure 3 label 3 line 1">
            <a:extLst xmlns:a="http://schemas.openxmlformats.org/drawingml/2006/main">
              <a:ext uri="{FF2B5EF4-FFF2-40B4-BE49-F238E27FC236}">
                <a16:creationId xmlns:a16="http://schemas.microsoft.com/office/drawing/2014/main" id="{6AAA6FEB-1041-4163-826F-37405E20523B}"/>
              </a:ext>
            </a:extLst>
          </p:cNvPr>
          <p:cNvSpPr>
            <a:spLocks xmlns:a="http://schemas.openxmlformats.org/drawingml/2006/main" noGrp="1"/>
          </p:cNvSpPr>
          <p:nvPr/>
        </p:nvSpPr>
        <p:spPr>
          <a:xfrm xmlns:a="http://schemas.openxmlformats.org/drawingml/2006/main" rot="0">
            <a:off x="998220" y="1249487"/>
            <a:ext cx="72503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qualitative workflow map. Customer purchasing shares have not been established.</a:t>
            </a:r>
          </a:p>
        </p:txBody>
      </p:sp>
      <p:sp>
        <p:nvSpPr>
          <p:cNvPr id="5" name="Figure 3 label 4 line 1">
            <a:extLst xmlns:a="http://schemas.openxmlformats.org/drawingml/2006/main">
              <a:ext uri="{FF2B5EF4-FFF2-40B4-BE49-F238E27FC236}">
                <a16:creationId xmlns:a16="http://schemas.microsoft.com/office/drawing/2014/main" id="{9AE2E6DD-E52B-4382-BD6E-43483B2B24D2}"/>
              </a:ext>
            </a:extLst>
          </p:cNvPr>
          <p:cNvSpPr>
            <a:spLocks xmlns:a="http://schemas.openxmlformats.org/drawingml/2006/main" noGrp="1"/>
          </p:cNvSpPr>
          <p:nvPr/>
        </p:nvSpPr>
        <p:spPr>
          <a:xfrm xmlns:a="http://schemas.openxmlformats.org/drawingml/2006/main" rot="0">
            <a:off x="999173" y="9255019"/>
            <a:ext cx="84375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Food, environmental and chemical-analysis uses excluded. Research instruments exclude clinical IVD analyzers.</a:t>
            </a:r>
          </a:p>
        </p:txBody>
      </p:sp>
      <p:sp>
        <p:nvSpPr>
          <p:cNvPr id="6" name="Figure 3 label 5 line 1">
            <a:extLst xmlns:a="http://schemas.openxmlformats.org/drawingml/2006/main">
              <a:ext uri="{FF2B5EF4-FFF2-40B4-BE49-F238E27FC236}">
                <a16:creationId xmlns:a16="http://schemas.microsoft.com/office/drawing/2014/main" id="{96A557D9-B18A-4049-B55E-CD748F4BA306}"/>
              </a:ext>
            </a:extLst>
          </p:cNvPr>
          <p:cNvSpPr>
            <a:spLocks xmlns:a="http://schemas.openxmlformats.org/drawingml/2006/main" noGrp="1"/>
          </p:cNvSpPr>
          <p:nvPr/>
        </p:nvSpPr>
        <p:spPr>
          <a:xfrm xmlns:a="http://schemas.openxmlformats.org/drawingml/2006/main" rot="0">
            <a:off x="1000316" y="9676290"/>
            <a:ext cx="608888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representative supplier product uses; a role map, not an estimated customer revenue mix.</a:t>
            </a:r>
          </a:p>
        </p:txBody>
      </p:sp>
      <p:sp>
        <p:nvSpPr>
          <p:cNvPr id="7" name="Figure 3 label 6 line 1">
            <a:extLst xmlns:a="http://schemas.openxmlformats.org/drawingml/2006/main">
              <a:ext uri="{FF2B5EF4-FFF2-40B4-BE49-F238E27FC236}">
                <a16:creationId xmlns:a16="http://schemas.microsoft.com/office/drawing/2014/main" id="{52F003F5-8249-4843-9078-8CAD63D5B983}"/>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8" name="Figure 3 label 7 line 1">
            <a:extLst xmlns:a="http://schemas.openxmlformats.org/drawingml/2006/main">
              <a:ext uri="{FF2B5EF4-FFF2-40B4-BE49-F238E27FC236}">
                <a16:creationId xmlns:a16="http://schemas.microsoft.com/office/drawing/2014/main" id="{0A11D96E-5F45-4B3B-82D7-C3724E77A82E}"/>
              </a:ext>
            </a:extLst>
          </p:cNvPr>
          <p:cNvSpPr>
            <a:spLocks xmlns:a="http://schemas.openxmlformats.org/drawingml/2006/main" noGrp="1"/>
          </p:cNvSpPr>
          <p:nvPr/>
        </p:nvSpPr>
        <p:spPr>
          <a:xfrm xmlns:a="http://schemas.openxmlformats.org/drawingml/2006/main" rot="0">
            <a:off x="1253617" y="2714778"/>
            <a:ext cx="131479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CUSTOMER</a:t>
            </a:r>
          </a:p>
        </p:txBody>
      </p:sp>
      <p:sp>
        <p:nvSpPr>
          <p:cNvPr id="9" name="Figure 3 label 8 line 1">
            <a:extLst xmlns:a="http://schemas.openxmlformats.org/drawingml/2006/main">
              <a:ext uri="{FF2B5EF4-FFF2-40B4-BE49-F238E27FC236}">
                <a16:creationId xmlns:a16="http://schemas.microsoft.com/office/drawing/2014/main" id="{A58A6121-94D5-4FB9-B204-77518E272443}"/>
              </a:ext>
            </a:extLst>
          </p:cNvPr>
          <p:cNvSpPr>
            <a:spLocks xmlns:a="http://schemas.openxmlformats.org/drawingml/2006/main" noGrp="1"/>
          </p:cNvSpPr>
          <p:nvPr/>
        </p:nvSpPr>
        <p:spPr>
          <a:xfrm xmlns:a="http://schemas.openxmlformats.org/drawingml/2006/main" rot="0">
            <a:off x="5130674" y="2714778"/>
            <a:ext cx="126910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REAGENTS</a:t>
            </a:r>
          </a:p>
        </p:txBody>
      </p:sp>
      <p:sp>
        <p:nvSpPr>
          <p:cNvPr id="10" name="Figure 3 label 9 line 1">
            <a:extLst xmlns:a="http://schemas.openxmlformats.org/drawingml/2006/main">
              <a:ext uri="{FF2B5EF4-FFF2-40B4-BE49-F238E27FC236}">
                <a16:creationId xmlns:a16="http://schemas.microsoft.com/office/drawing/2014/main" id="{DC39E4FD-8857-4E87-B4F8-3E429A114D70}"/>
              </a:ext>
            </a:extLst>
          </p:cNvPr>
          <p:cNvSpPr>
            <a:spLocks xmlns:a="http://schemas.openxmlformats.org/drawingml/2006/main" noGrp="1"/>
          </p:cNvSpPr>
          <p:nvPr/>
        </p:nvSpPr>
        <p:spPr>
          <a:xfrm xmlns:a="http://schemas.openxmlformats.org/drawingml/2006/main" rot="0">
            <a:off x="9117457" y="2714778"/>
            <a:ext cx="1716336"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CONSUMABLES</a:t>
            </a:r>
          </a:p>
        </p:txBody>
      </p:sp>
      <p:sp>
        <p:nvSpPr>
          <p:cNvPr id="11" name="Figure 3 label 10 line 1">
            <a:extLst xmlns:a="http://schemas.openxmlformats.org/drawingml/2006/main">
              <a:ext uri="{FF2B5EF4-FFF2-40B4-BE49-F238E27FC236}">
                <a16:creationId xmlns:a16="http://schemas.microsoft.com/office/drawing/2014/main" id="{AB4216F3-B150-416D-A8EA-D6F0A70AEACC}"/>
              </a:ext>
            </a:extLst>
          </p:cNvPr>
          <p:cNvSpPr>
            <a:spLocks xmlns:a="http://schemas.openxmlformats.org/drawingml/2006/main" noGrp="1"/>
          </p:cNvSpPr>
          <p:nvPr/>
        </p:nvSpPr>
        <p:spPr>
          <a:xfrm xmlns:a="http://schemas.openxmlformats.org/drawingml/2006/main" rot="0">
            <a:off x="13104242" y="2714778"/>
            <a:ext cx="16242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INSTRUMENTS</a:t>
            </a:r>
          </a:p>
        </p:txBody>
      </p:sp>
      <p:sp>
        <p:nvSpPr>
          <p:cNvPr id="12" name="Figure 3 label 11 line 1">
            <a:extLst xmlns:a="http://schemas.openxmlformats.org/drawingml/2006/main">
              <a:ext uri="{FF2B5EF4-FFF2-40B4-BE49-F238E27FC236}">
                <a16:creationId xmlns:a16="http://schemas.microsoft.com/office/drawing/2014/main" id="{01C9AA7A-1C92-47CD-A0F9-247FE957DDD9}"/>
              </a:ext>
            </a:extLst>
          </p:cNvPr>
          <p:cNvSpPr>
            <a:spLocks xmlns:a="http://schemas.openxmlformats.org/drawingml/2006/main" noGrp="1"/>
          </p:cNvSpPr>
          <p:nvPr/>
        </p:nvSpPr>
        <p:spPr>
          <a:xfrm xmlns:a="http://schemas.openxmlformats.org/drawingml/2006/main" rot="0">
            <a:off x="1253934" y="3627985"/>
            <a:ext cx="2786757"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Academia / research hospitals</a:t>
            </a:r>
          </a:p>
        </p:txBody>
      </p:sp>
      <p:sp>
        <p:nvSpPr>
          <p:cNvPr id="13" name="Figure 3 label 12 line 1">
            <a:extLst xmlns:a="http://schemas.openxmlformats.org/drawingml/2006/main">
              <a:ext uri="{FF2B5EF4-FFF2-40B4-BE49-F238E27FC236}">
                <a16:creationId xmlns:a16="http://schemas.microsoft.com/office/drawing/2014/main" id="{68D89E89-4A60-4B34-9B25-089DACCF6ED1}"/>
              </a:ext>
            </a:extLst>
          </p:cNvPr>
          <p:cNvSpPr>
            <a:spLocks xmlns:a="http://schemas.openxmlformats.org/drawingml/2006/main" noGrp="1"/>
          </p:cNvSpPr>
          <p:nvPr/>
        </p:nvSpPr>
        <p:spPr>
          <a:xfrm xmlns:a="http://schemas.openxmlformats.org/drawingml/2006/main" rot="0">
            <a:off x="5131308" y="3523894"/>
            <a:ext cx="16908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Targets, enzymes,</a:t>
            </a:r>
          </a:p>
        </p:txBody>
      </p:sp>
      <p:sp>
        <p:nvSpPr>
          <p:cNvPr id="14" name="Figure 3 label 13 line 1">
            <a:extLst xmlns:a="http://schemas.openxmlformats.org/drawingml/2006/main">
              <a:ext uri="{FF2B5EF4-FFF2-40B4-BE49-F238E27FC236}">
                <a16:creationId xmlns:a16="http://schemas.microsoft.com/office/drawing/2014/main" id="{9A0BC30B-0572-49D1-BB78-A79C1235FD63}"/>
              </a:ext>
            </a:extLst>
          </p:cNvPr>
          <p:cNvSpPr>
            <a:spLocks xmlns:a="http://schemas.openxmlformats.org/drawingml/2006/main" noGrp="1"/>
          </p:cNvSpPr>
          <p:nvPr/>
        </p:nvSpPr>
        <p:spPr>
          <a:xfrm xmlns:a="http://schemas.openxmlformats.org/drawingml/2006/main" rot="0">
            <a:off x="5131308" y="3747979"/>
            <a:ext cx="9815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media</a:t>
            </a:r>
          </a:p>
        </p:txBody>
      </p:sp>
      <p:sp>
        <p:nvSpPr>
          <p:cNvPr id="15" name="Figure 3 label 14 line 1">
            <a:extLst xmlns:a="http://schemas.openxmlformats.org/drawingml/2006/main">
              <a:ext uri="{FF2B5EF4-FFF2-40B4-BE49-F238E27FC236}">
                <a16:creationId xmlns:a16="http://schemas.microsoft.com/office/drawing/2014/main" id="{F6FC561E-0AA0-47D8-9043-C256C5B46D85}"/>
              </a:ext>
            </a:extLst>
          </p:cNvPr>
          <p:cNvSpPr>
            <a:spLocks xmlns:a="http://schemas.openxmlformats.org/drawingml/2006/main" noGrp="1"/>
          </p:cNvSpPr>
          <p:nvPr/>
        </p:nvSpPr>
        <p:spPr>
          <a:xfrm xmlns:a="http://schemas.openxmlformats.org/drawingml/2006/main" rot="0">
            <a:off x="9118092" y="3524920"/>
            <a:ext cx="1108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Plates, tips,</a:t>
            </a:r>
          </a:p>
        </p:txBody>
      </p:sp>
      <p:sp>
        <p:nvSpPr>
          <p:cNvPr id="16" name="Figure 3 label 15 line 1">
            <a:extLst xmlns:a="http://schemas.openxmlformats.org/drawingml/2006/main">
              <a:ext uri="{FF2B5EF4-FFF2-40B4-BE49-F238E27FC236}">
                <a16:creationId xmlns:a16="http://schemas.microsoft.com/office/drawing/2014/main" id="{A1CCD5E6-18E1-4436-A4BF-F5869C1A32C9}"/>
              </a:ext>
            </a:extLst>
          </p:cNvPr>
          <p:cNvSpPr>
            <a:spLocks xmlns:a="http://schemas.openxmlformats.org/drawingml/2006/main" noGrp="1"/>
          </p:cNvSpPr>
          <p:nvPr/>
        </p:nvSpPr>
        <p:spPr>
          <a:xfrm xmlns:a="http://schemas.openxmlformats.org/drawingml/2006/main" rot="0">
            <a:off x="9118092" y="3746953"/>
            <a:ext cx="1108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cultureware</a:t>
            </a:r>
          </a:p>
        </p:txBody>
      </p:sp>
      <p:sp>
        <p:nvSpPr>
          <p:cNvPr id="17" name="Figure 3 label 16 line 1">
            <a:extLst xmlns:a="http://schemas.openxmlformats.org/drawingml/2006/main">
              <a:ext uri="{FF2B5EF4-FFF2-40B4-BE49-F238E27FC236}">
                <a16:creationId xmlns:a16="http://schemas.microsoft.com/office/drawing/2014/main" id="{A59C36B1-2772-4A5F-B3EB-C26EBA3375A1}"/>
              </a:ext>
            </a:extLst>
          </p:cNvPr>
          <p:cNvSpPr>
            <a:spLocks xmlns:a="http://schemas.openxmlformats.org/drawingml/2006/main" noGrp="1"/>
          </p:cNvSpPr>
          <p:nvPr/>
        </p:nvSpPr>
        <p:spPr>
          <a:xfrm xmlns:a="http://schemas.openxmlformats.org/drawingml/2006/main" rot="0">
            <a:off x="13104876" y="3525054"/>
            <a:ext cx="1956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Sequencing, imaging,</a:t>
            </a:r>
          </a:p>
        </p:txBody>
      </p:sp>
      <p:sp>
        <p:nvSpPr>
          <p:cNvPr id="18" name="Figure 3 label 17 line 1">
            <a:extLst xmlns:a="http://schemas.openxmlformats.org/drawingml/2006/main">
              <a:ext uri="{FF2B5EF4-FFF2-40B4-BE49-F238E27FC236}">
                <a16:creationId xmlns:a16="http://schemas.microsoft.com/office/drawing/2014/main" id="{CE7884F5-032B-4B60-924E-049EB93A96E7}"/>
              </a:ext>
            </a:extLst>
          </p:cNvPr>
          <p:cNvSpPr>
            <a:spLocks xmlns:a="http://schemas.openxmlformats.org/drawingml/2006/main" noGrp="1"/>
          </p:cNvSpPr>
          <p:nvPr/>
        </p:nvSpPr>
        <p:spPr>
          <a:xfrm xmlns:a="http://schemas.openxmlformats.org/drawingml/2006/main" rot="0">
            <a:off x="13104876" y="3749141"/>
            <a:ext cx="71660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LC-MS</a:t>
            </a:r>
          </a:p>
        </p:txBody>
      </p:sp>
      <p:sp>
        <p:nvSpPr>
          <p:cNvPr id="19" name="Figure 3 label 18 line 1">
            <a:extLst xmlns:a="http://schemas.openxmlformats.org/drawingml/2006/main">
              <a:ext uri="{FF2B5EF4-FFF2-40B4-BE49-F238E27FC236}">
                <a16:creationId xmlns:a16="http://schemas.microsoft.com/office/drawing/2014/main" id="{D0B5EB0D-EB7E-4E57-B1B6-143549DADE4C}"/>
              </a:ext>
            </a:extLst>
          </p:cNvPr>
          <p:cNvSpPr>
            <a:spLocks xmlns:a="http://schemas.openxmlformats.org/drawingml/2006/main" noGrp="1"/>
          </p:cNvSpPr>
          <p:nvPr/>
        </p:nvSpPr>
        <p:spPr>
          <a:xfrm xmlns:a="http://schemas.openxmlformats.org/drawingml/2006/main" rot="0">
            <a:off x="1253934" y="4534450"/>
            <a:ext cx="2102892"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Biotech / pharma R&amp;D</a:t>
            </a:r>
          </a:p>
        </p:txBody>
      </p:sp>
      <p:sp>
        <p:nvSpPr>
          <p:cNvPr id="20" name="Figure 3 label 19 line 1">
            <a:extLst xmlns:a="http://schemas.openxmlformats.org/drawingml/2006/main">
              <a:ext uri="{FF2B5EF4-FFF2-40B4-BE49-F238E27FC236}">
                <a16:creationId xmlns:a16="http://schemas.microsoft.com/office/drawing/2014/main" id="{314517F2-39E2-4360-BD7B-3366AF5BFFC6}"/>
              </a:ext>
            </a:extLst>
          </p:cNvPr>
          <p:cNvSpPr>
            <a:spLocks xmlns:a="http://schemas.openxmlformats.org/drawingml/2006/main" noGrp="1"/>
          </p:cNvSpPr>
          <p:nvPr/>
        </p:nvSpPr>
        <p:spPr>
          <a:xfrm xmlns:a="http://schemas.openxmlformats.org/drawingml/2006/main" rot="0">
            <a:off x="5131308" y="4428123"/>
            <a:ext cx="209341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Proteins, assay panels,</a:t>
            </a:r>
          </a:p>
        </p:txBody>
      </p:sp>
      <p:sp>
        <p:nvSpPr>
          <p:cNvPr id="21" name="Figure 3 label 20 line 1">
            <a:extLst xmlns:a="http://schemas.openxmlformats.org/drawingml/2006/main">
              <a:ext uri="{FF2B5EF4-FFF2-40B4-BE49-F238E27FC236}">
                <a16:creationId xmlns:a16="http://schemas.microsoft.com/office/drawing/2014/main" id="{42237AF8-FEFD-414C-BA49-79F18F19B2F6}"/>
              </a:ext>
            </a:extLst>
          </p:cNvPr>
          <p:cNvSpPr>
            <a:spLocks xmlns:a="http://schemas.openxmlformats.org/drawingml/2006/main" noGrp="1"/>
          </p:cNvSpPr>
          <p:nvPr/>
        </p:nvSpPr>
        <p:spPr>
          <a:xfrm xmlns:a="http://schemas.openxmlformats.org/drawingml/2006/main" rot="0">
            <a:off x="5131308" y="4652209"/>
            <a:ext cx="183936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expression reagents</a:t>
            </a:r>
          </a:p>
        </p:txBody>
      </p:sp>
      <p:sp>
        <p:nvSpPr>
          <p:cNvPr id="22" name="Figure 3 label 21 line 1">
            <a:extLst xmlns:a="http://schemas.openxmlformats.org/drawingml/2006/main">
              <a:ext uri="{FF2B5EF4-FFF2-40B4-BE49-F238E27FC236}">
                <a16:creationId xmlns:a16="http://schemas.microsoft.com/office/drawing/2014/main" id="{C0932999-9021-4327-9771-099A4809ECB7}"/>
              </a:ext>
            </a:extLst>
          </p:cNvPr>
          <p:cNvSpPr>
            <a:spLocks xmlns:a="http://schemas.openxmlformats.org/drawingml/2006/main" noGrp="1"/>
          </p:cNvSpPr>
          <p:nvPr/>
        </p:nvSpPr>
        <p:spPr>
          <a:xfrm xmlns:a="http://schemas.openxmlformats.org/drawingml/2006/main" rot="0">
            <a:off x="9118092" y="4430177"/>
            <a:ext cx="16908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Sensors, columns,</a:t>
            </a:r>
          </a:p>
        </p:txBody>
      </p:sp>
      <p:sp>
        <p:nvSpPr>
          <p:cNvPr id="23" name="Figure 3 label 22 line 1">
            <a:extLst xmlns:a="http://schemas.openxmlformats.org/drawingml/2006/main">
              <a:ext uri="{FF2B5EF4-FFF2-40B4-BE49-F238E27FC236}">
                <a16:creationId xmlns:a16="http://schemas.microsoft.com/office/drawing/2014/main" id="{DE4BED24-3223-4A1B-823F-44BBD94A6E78}"/>
              </a:ext>
            </a:extLst>
          </p:cNvPr>
          <p:cNvSpPr>
            <a:spLocks xmlns:a="http://schemas.openxmlformats.org/drawingml/2006/main" noGrp="1"/>
          </p:cNvSpPr>
          <p:nvPr/>
        </p:nvSpPr>
        <p:spPr>
          <a:xfrm xmlns:a="http://schemas.openxmlformats.org/drawingml/2006/main" rot="0">
            <a:off x="9118092" y="4652209"/>
            <a:ext cx="79087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filtration</a:t>
            </a:r>
          </a:p>
        </p:txBody>
      </p:sp>
      <p:sp>
        <p:nvSpPr>
          <p:cNvPr id="24" name="Figure 3 label 23 line 1">
            <a:extLst xmlns:a="http://schemas.openxmlformats.org/drawingml/2006/main">
              <a:ext uri="{FF2B5EF4-FFF2-40B4-BE49-F238E27FC236}">
                <a16:creationId xmlns:a16="http://schemas.microsoft.com/office/drawing/2014/main" id="{908A792F-265F-42EB-99C3-CA28B7271F9C}"/>
              </a:ext>
            </a:extLst>
          </p:cNvPr>
          <p:cNvSpPr>
            <a:spLocks xmlns:a="http://schemas.openxmlformats.org/drawingml/2006/main" noGrp="1"/>
          </p:cNvSpPr>
          <p:nvPr/>
        </p:nvSpPr>
        <p:spPr>
          <a:xfrm xmlns:a="http://schemas.openxmlformats.org/drawingml/2006/main" rot="0">
            <a:off x="13104876" y="4427582"/>
            <a:ext cx="206156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BLI / SPR, automation,</a:t>
            </a:r>
          </a:p>
        </p:txBody>
      </p:sp>
      <p:sp>
        <p:nvSpPr>
          <p:cNvPr id="25" name="Figure 3 label 24 line 1">
            <a:extLst xmlns:a="http://schemas.openxmlformats.org/drawingml/2006/main">
              <a:ext uri="{FF2B5EF4-FFF2-40B4-BE49-F238E27FC236}">
                <a16:creationId xmlns:a16="http://schemas.microsoft.com/office/drawing/2014/main" id="{47425DCD-CE18-4F0F-A1F1-761F357070D9}"/>
              </a:ext>
            </a:extLst>
          </p:cNvPr>
          <p:cNvSpPr>
            <a:spLocks xmlns:a="http://schemas.openxmlformats.org/drawingml/2006/main" noGrp="1"/>
          </p:cNvSpPr>
          <p:nvPr/>
        </p:nvSpPr>
        <p:spPr>
          <a:xfrm xmlns:a="http://schemas.openxmlformats.org/drawingml/2006/main" rot="0">
            <a:off x="13104876" y="4652749"/>
            <a:ext cx="13412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cytometry</a:t>
            </a:r>
          </a:p>
        </p:txBody>
      </p:sp>
      <p:sp>
        <p:nvSpPr>
          <p:cNvPr id="26" name="Figure 3 label 25 line 1">
            <a:extLst xmlns:a="http://schemas.openxmlformats.org/drawingml/2006/main">
              <a:ext uri="{FF2B5EF4-FFF2-40B4-BE49-F238E27FC236}">
                <a16:creationId xmlns:a16="http://schemas.microsoft.com/office/drawing/2014/main" id="{9E68EBBB-0483-4F1D-90CC-9C681D16B1C1}"/>
              </a:ext>
            </a:extLst>
          </p:cNvPr>
          <p:cNvSpPr>
            <a:spLocks xmlns:a="http://schemas.openxmlformats.org/drawingml/2006/main" noGrp="1"/>
          </p:cNvSpPr>
          <p:nvPr/>
        </p:nvSpPr>
        <p:spPr>
          <a:xfrm xmlns:a="http://schemas.openxmlformats.org/drawingml/2006/main" rot="0">
            <a:off x="1253934" y="5438497"/>
            <a:ext cx="1341487"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CRO / CDMO</a:t>
            </a:r>
          </a:p>
        </p:txBody>
      </p:sp>
      <p:sp>
        <p:nvSpPr>
          <p:cNvPr id="27" name="Figure 3 label 26 line 1">
            <a:extLst xmlns:a="http://schemas.openxmlformats.org/drawingml/2006/main">
              <a:ext uri="{FF2B5EF4-FFF2-40B4-BE49-F238E27FC236}">
                <a16:creationId xmlns:a16="http://schemas.microsoft.com/office/drawing/2014/main" id="{E55C4244-0842-43EB-B7CD-A59F871C0B8B}"/>
              </a:ext>
            </a:extLst>
          </p:cNvPr>
          <p:cNvSpPr>
            <a:spLocks xmlns:a="http://schemas.openxmlformats.org/drawingml/2006/main" noGrp="1"/>
          </p:cNvSpPr>
          <p:nvPr/>
        </p:nvSpPr>
        <p:spPr>
          <a:xfrm xmlns:a="http://schemas.openxmlformats.org/drawingml/2006/main" rot="0">
            <a:off x="5131308" y="5333379"/>
            <a:ext cx="13308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Discovery and</a:t>
            </a:r>
          </a:p>
        </p:txBody>
      </p:sp>
      <p:sp>
        <p:nvSpPr>
          <p:cNvPr id="28" name="Figure 3 label 27 line 1">
            <a:extLst xmlns:a="http://schemas.openxmlformats.org/drawingml/2006/main">
              <a:ext uri="{FF2B5EF4-FFF2-40B4-BE49-F238E27FC236}">
                <a16:creationId xmlns:a16="http://schemas.microsoft.com/office/drawing/2014/main" id="{56E45FCC-3881-4A2F-80F9-46C4BB500687}"/>
              </a:ext>
            </a:extLst>
          </p:cNvPr>
          <p:cNvSpPr>
            <a:spLocks xmlns:a="http://schemas.openxmlformats.org/drawingml/2006/main" noGrp="1"/>
          </p:cNvSpPr>
          <p:nvPr/>
        </p:nvSpPr>
        <p:spPr>
          <a:xfrm xmlns:a="http://schemas.openxmlformats.org/drawingml/2006/main" rot="0">
            <a:off x="5131308" y="5557464"/>
            <a:ext cx="158516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process reagents</a:t>
            </a:r>
          </a:p>
        </p:txBody>
      </p:sp>
      <p:sp>
        <p:nvSpPr>
          <p:cNvPr id="29" name="Figure 3 label 28 line 1">
            <a:extLst xmlns:a="http://schemas.openxmlformats.org/drawingml/2006/main">
              <a:ext uri="{FF2B5EF4-FFF2-40B4-BE49-F238E27FC236}">
                <a16:creationId xmlns:a16="http://schemas.microsoft.com/office/drawing/2014/main" id="{6EBFAA24-3181-4B73-8497-BDB7A600DE34}"/>
              </a:ext>
            </a:extLst>
          </p:cNvPr>
          <p:cNvSpPr>
            <a:spLocks xmlns:a="http://schemas.openxmlformats.org/drawingml/2006/main" noGrp="1"/>
          </p:cNvSpPr>
          <p:nvPr/>
        </p:nvSpPr>
        <p:spPr>
          <a:xfrm xmlns:a="http://schemas.openxmlformats.org/drawingml/2006/main" rot="0">
            <a:off x="9118092" y="5333865"/>
            <a:ext cx="15216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Labware, resins,</a:t>
            </a:r>
          </a:p>
        </p:txBody>
      </p:sp>
      <p:sp>
        <p:nvSpPr>
          <p:cNvPr id="30" name="Figure 3 label 29 line 1">
            <a:extLst xmlns:a="http://schemas.openxmlformats.org/drawingml/2006/main">
              <a:ext uri="{FF2B5EF4-FFF2-40B4-BE49-F238E27FC236}">
                <a16:creationId xmlns:a16="http://schemas.microsoft.com/office/drawing/2014/main" id="{CE3365CB-5D82-43E0-A5DE-1B3C860CF9D4}"/>
              </a:ext>
            </a:extLst>
          </p:cNvPr>
          <p:cNvSpPr>
            <a:spLocks xmlns:a="http://schemas.openxmlformats.org/drawingml/2006/main" noGrp="1"/>
          </p:cNvSpPr>
          <p:nvPr/>
        </p:nvSpPr>
        <p:spPr>
          <a:xfrm xmlns:a="http://schemas.openxmlformats.org/drawingml/2006/main" rot="0">
            <a:off x="9118092" y="5559032"/>
            <a:ext cx="182850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scale-specific inputs</a:t>
            </a:r>
          </a:p>
        </p:txBody>
      </p:sp>
      <p:sp>
        <p:nvSpPr>
          <p:cNvPr id="31" name="Figure 3 label 30 line 1">
            <a:extLst xmlns:a="http://schemas.openxmlformats.org/drawingml/2006/main">
              <a:ext uri="{FF2B5EF4-FFF2-40B4-BE49-F238E27FC236}">
                <a16:creationId xmlns:a16="http://schemas.microsoft.com/office/drawing/2014/main" id="{DFEDE580-1524-47BC-88AC-0F3E71CC4F6B}"/>
              </a:ext>
            </a:extLst>
          </p:cNvPr>
          <p:cNvSpPr>
            <a:spLocks xmlns:a="http://schemas.openxmlformats.org/drawingml/2006/main" noGrp="1"/>
          </p:cNvSpPr>
          <p:nvPr/>
        </p:nvSpPr>
        <p:spPr>
          <a:xfrm xmlns:a="http://schemas.openxmlformats.org/drawingml/2006/main" rot="0">
            <a:off x="13104876" y="5332838"/>
            <a:ext cx="1786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process and</a:t>
            </a:r>
          </a:p>
        </p:txBody>
      </p:sp>
      <p:sp>
        <p:nvSpPr>
          <p:cNvPr id="32" name="Figure 3 label 31 line 1">
            <a:extLst xmlns:a="http://schemas.openxmlformats.org/drawingml/2006/main">
              <a:ext uri="{FF2B5EF4-FFF2-40B4-BE49-F238E27FC236}">
                <a16:creationId xmlns:a16="http://schemas.microsoft.com/office/drawing/2014/main" id="{5E6A4B55-35B4-49FC-A089-959C26C9B6D0}"/>
              </a:ext>
            </a:extLst>
          </p:cNvPr>
          <p:cNvSpPr>
            <a:spLocks xmlns:a="http://schemas.openxmlformats.org/drawingml/2006/main" noGrp="1"/>
          </p:cNvSpPr>
          <p:nvPr/>
        </p:nvSpPr>
        <p:spPr>
          <a:xfrm xmlns:a="http://schemas.openxmlformats.org/drawingml/2006/main" rot="0">
            <a:off x="13104876" y="5560059"/>
            <a:ext cx="12459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platforms</a:t>
            </a:r>
          </a:p>
        </p:txBody>
      </p:sp>
      <p:sp>
        <p:nvSpPr>
          <p:cNvPr id="33" name="Figure 3 label 32 line 1">
            <a:extLst xmlns:a="http://schemas.openxmlformats.org/drawingml/2006/main">
              <a:ext uri="{FF2B5EF4-FFF2-40B4-BE49-F238E27FC236}">
                <a16:creationId xmlns:a16="http://schemas.microsoft.com/office/drawing/2014/main" id="{9D2D1FB2-E72C-4839-B38B-3269F08530E0}"/>
              </a:ext>
            </a:extLst>
          </p:cNvPr>
          <p:cNvSpPr>
            <a:spLocks xmlns:a="http://schemas.openxmlformats.org/drawingml/2006/main" noGrp="1"/>
          </p:cNvSpPr>
          <p:nvPr/>
        </p:nvSpPr>
        <p:spPr>
          <a:xfrm xmlns:a="http://schemas.openxmlformats.org/drawingml/2006/main" rot="0">
            <a:off x="1253934" y="6343893"/>
            <a:ext cx="1673076"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Biomanufacturing</a:t>
            </a:r>
          </a:p>
        </p:txBody>
      </p:sp>
      <p:sp>
        <p:nvSpPr>
          <p:cNvPr id="34" name="Figure 3 label 33 line 1">
            <a:extLst xmlns:a="http://schemas.openxmlformats.org/drawingml/2006/main">
              <a:ext uri="{FF2B5EF4-FFF2-40B4-BE49-F238E27FC236}">
                <a16:creationId xmlns:a16="http://schemas.microsoft.com/office/drawing/2014/main" id="{B8C62CD8-9FB1-4F60-87DE-1B79C8A22055}"/>
              </a:ext>
            </a:extLst>
          </p:cNvPr>
          <p:cNvSpPr>
            <a:spLocks xmlns:a="http://schemas.openxmlformats.org/drawingml/2006/main" noGrp="1"/>
          </p:cNvSpPr>
          <p:nvPr/>
        </p:nvSpPr>
        <p:spPr>
          <a:xfrm xmlns:a="http://schemas.openxmlformats.org/drawingml/2006/main" rot="0">
            <a:off x="5131308" y="6238094"/>
            <a:ext cx="16592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Production media,</a:t>
            </a:r>
          </a:p>
        </p:txBody>
      </p:sp>
      <p:sp>
        <p:nvSpPr>
          <p:cNvPr id="35" name="Figure 3 label 34 line 1">
            <a:extLst xmlns:a="http://schemas.openxmlformats.org/drawingml/2006/main">
              <a:ext uri="{FF2B5EF4-FFF2-40B4-BE49-F238E27FC236}">
                <a16:creationId xmlns:a16="http://schemas.microsoft.com/office/drawing/2014/main" id="{B609AF59-E079-4E23-AEA6-E8158419BEE6}"/>
              </a:ext>
            </a:extLst>
          </p:cNvPr>
          <p:cNvSpPr>
            <a:spLocks xmlns:a="http://schemas.openxmlformats.org/drawingml/2006/main" noGrp="1"/>
          </p:cNvSpPr>
          <p:nvPr/>
        </p:nvSpPr>
        <p:spPr>
          <a:xfrm xmlns:a="http://schemas.openxmlformats.org/drawingml/2006/main" rot="0">
            <a:off x="5131308" y="6463261"/>
            <a:ext cx="177581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feeds and enzymes</a:t>
            </a:r>
          </a:p>
        </p:txBody>
      </p:sp>
      <p:sp>
        <p:nvSpPr>
          <p:cNvPr id="36" name="Figure 3 label 35 line 1">
            <a:extLst xmlns:a="http://schemas.openxmlformats.org/drawingml/2006/main">
              <a:ext uri="{FF2B5EF4-FFF2-40B4-BE49-F238E27FC236}">
                <a16:creationId xmlns:a16="http://schemas.microsoft.com/office/drawing/2014/main" id="{B21241CD-20EA-44DC-A8E6-833047B694D1}"/>
              </a:ext>
            </a:extLst>
          </p:cNvPr>
          <p:cNvSpPr>
            <a:spLocks xmlns:a="http://schemas.openxmlformats.org/drawingml/2006/main" noGrp="1"/>
          </p:cNvSpPr>
          <p:nvPr/>
        </p:nvSpPr>
        <p:spPr>
          <a:xfrm xmlns:a="http://schemas.openxmlformats.org/drawingml/2006/main" rot="0">
            <a:off x="9118092" y="6239662"/>
            <a:ext cx="13201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Resins, filters,</a:t>
            </a:r>
          </a:p>
        </p:txBody>
      </p:sp>
      <p:sp>
        <p:nvSpPr>
          <p:cNvPr id="37" name="Figure 3 label 36 line 1">
            <a:extLst xmlns:a="http://schemas.openxmlformats.org/drawingml/2006/main">
              <a:ext uri="{FF2B5EF4-FFF2-40B4-BE49-F238E27FC236}">
                <a16:creationId xmlns:a16="http://schemas.microsoft.com/office/drawing/2014/main" id="{0575DCB1-7389-4251-BAC1-66891D9E88C7}"/>
              </a:ext>
            </a:extLst>
          </p:cNvPr>
          <p:cNvSpPr>
            <a:spLocks xmlns:a="http://schemas.openxmlformats.org/drawingml/2006/main" noGrp="1"/>
          </p:cNvSpPr>
          <p:nvPr/>
        </p:nvSpPr>
        <p:spPr>
          <a:xfrm xmlns:a="http://schemas.openxmlformats.org/drawingml/2006/main" rot="0">
            <a:off x="9118092" y="6461694"/>
            <a:ext cx="199801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single-use assemblies</a:t>
            </a:r>
          </a:p>
        </p:txBody>
      </p:sp>
      <p:sp>
        <p:nvSpPr>
          <p:cNvPr id="38" name="Figure 3 label 37 line 1">
            <a:extLst xmlns:a="http://schemas.openxmlformats.org/drawingml/2006/main">
              <a:ext uri="{FF2B5EF4-FFF2-40B4-BE49-F238E27FC236}">
                <a16:creationId xmlns:a16="http://schemas.microsoft.com/office/drawing/2014/main" id="{10C81C20-5595-4C8B-8944-23812DD66066}"/>
              </a:ext>
            </a:extLst>
          </p:cNvPr>
          <p:cNvSpPr>
            <a:spLocks xmlns:a="http://schemas.openxmlformats.org/drawingml/2006/main" noGrp="1"/>
          </p:cNvSpPr>
          <p:nvPr/>
        </p:nvSpPr>
        <p:spPr>
          <a:xfrm xmlns:a="http://schemas.openxmlformats.org/drawingml/2006/main" rot="0">
            <a:off x="13104876" y="6239662"/>
            <a:ext cx="2622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Bioreactors, chromatography,</a:t>
            </a:r>
          </a:p>
        </p:txBody>
      </p:sp>
      <p:sp>
        <p:nvSpPr>
          <p:cNvPr id="39" name="Figure 3 label 38 line 1">
            <a:extLst xmlns:a="http://schemas.openxmlformats.org/drawingml/2006/main">
              <a:ext uri="{FF2B5EF4-FFF2-40B4-BE49-F238E27FC236}">
                <a16:creationId xmlns:a16="http://schemas.microsoft.com/office/drawing/2014/main" id="{58530192-24EF-41E7-A45B-A281E99CEF58}"/>
              </a:ext>
            </a:extLst>
          </p:cNvPr>
          <p:cNvSpPr>
            <a:spLocks xmlns:a="http://schemas.openxmlformats.org/drawingml/2006/main" noGrp="1"/>
          </p:cNvSpPr>
          <p:nvPr/>
        </p:nvSpPr>
        <p:spPr>
          <a:xfrm xmlns:a="http://schemas.openxmlformats.org/drawingml/2006/main" rot="0">
            <a:off x="13104876" y="6463748"/>
            <a:ext cx="1447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instruments</a:t>
            </a:r>
          </a:p>
        </p:txBody>
      </p:sp>
      <p:sp>
        <p:nvSpPr>
          <p:cNvPr id="40" name="Figure 3 label 39 line 1">
            <a:extLst xmlns:a="http://schemas.openxmlformats.org/drawingml/2006/main">
              <a:ext uri="{FF2B5EF4-FFF2-40B4-BE49-F238E27FC236}">
                <a16:creationId xmlns:a16="http://schemas.microsoft.com/office/drawing/2014/main" id="{7E020CCA-E1B0-4ECC-A937-EBB4EB44F32E}"/>
              </a:ext>
            </a:extLst>
          </p:cNvPr>
          <p:cNvSpPr>
            <a:spLocks xmlns:a="http://schemas.openxmlformats.org/drawingml/2006/main" noGrp="1"/>
          </p:cNvSpPr>
          <p:nvPr/>
        </p:nvSpPr>
        <p:spPr>
          <a:xfrm xmlns:a="http://schemas.openxmlformats.org/drawingml/2006/main" rot="0">
            <a:off x="1253934" y="7249010"/>
            <a:ext cx="1651050"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IVD development</a:t>
            </a:r>
          </a:p>
        </p:txBody>
      </p:sp>
      <p:sp>
        <p:nvSpPr>
          <p:cNvPr id="41" name="Figure 3 label 40 line 1">
            <a:extLst xmlns:a="http://schemas.openxmlformats.org/drawingml/2006/main">
              <a:ext uri="{FF2B5EF4-FFF2-40B4-BE49-F238E27FC236}">
                <a16:creationId xmlns:a16="http://schemas.microsoft.com/office/drawing/2014/main" id="{97CF102D-DEAC-4746-B87B-F26FCCBD45FE}"/>
              </a:ext>
            </a:extLst>
          </p:cNvPr>
          <p:cNvSpPr>
            <a:spLocks xmlns:a="http://schemas.openxmlformats.org/drawingml/2006/main" noGrp="1"/>
          </p:cNvSpPr>
          <p:nvPr/>
        </p:nvSpPr>
        <p:spPr>
          <a:xfrm xmlns:a="http://schemas.openxmlformats.org/drawingml/2006/main" rot="0">
            <a:off x="5131308" y="7143890"/>
            <a:ext cx="18924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Antigens, antibodies,</a:t>
            </a:r>
          </a:p>
        </p:txBody>
      </p:sp>
      <p:sp>
        <p:nvSpPr>
          <p:cNvPr id="42" name="Figure 3 label 41 line 1">
            <a:extLst xmlns:a="http://schemas.openxmlformats.org/drawingml/2006/main">
              <a:ext uri="{FF2B5EF4-FFF2-40B4-BE49-F238E27FC236}">
                <a16:creationId xmlns:a16="http://schemas.microsoft.com/office/drawing/2014/main" id="{5AD95740-D2C5-445C-9D56-3E1535224988}"/>
              </a:ext>
            </a:extLst>
          </p:cNvPr>
          <p:cNvSpPr>
            <a:spLocks xmlns:a="http://schemas.openxmlformats.org/drawingml/2006/main" noGrp="1"/>
          </p:cNvSpPr>
          <p:nvPr/>
        </p:nvSpPr>
        <p:spPr>
          <a:xfrm xmlns:a="http://schemas.openxmlformats.org/drawingml/2006/main" rot="0">
            <a:off x="5131308" y="7367977"/>
            <a:ext cx="12462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tool enzymes</a:t>
            </a:r>
          </a:p>
        </p:txBody>
      </p:sp>
      <p:sp>
        <p:nvSpPr>
          <p:cNvPr id="43" name="Figure 3 label 42 line 1">
            <a:extLst xmlns:a="http://schemas.openxmlformats.org/drawingml/2006/main">
              <a:ext uri="{FF2B5EF4-FFF2-40B4-BE49-F238E27FC236}">
                <a16:creationId xmlns:a16="http://schemas.microsoft.com/office/drawing/2014/main" id="{95CB0B26-1189-4A77-8152-09E88A83B2FD}"/>
              </a:ext>
            </a:extLst>
          </p:cNvPr>
          <p:cNvSpPr>
            <a:spLocks xmlns:a="http://schemas.openxmlformats.org/drawingml/2006/main" noGrp="1"/>
          </p:cNvSpPr>
          <p:nvPr/>
        </p:nvSpPr>
        <p:spPr>
          <a:xfrm xmlns:a="http://schemas.openxmlformats.org/drawingml/2006/main" rot="0">
            <a:off x="9118092" y="7143890"/>
            <a:ext cx="125685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plates,</a:t>
            </a:r>
          </a:p>
        </p:txBody>
      </p:sp>
      <p:sp>
        <p:nvSpPr>
          <p:cNvPr id="44" name="Figure 3 label 43 line 1">
            <a:extLst xmlns:a="http://schemas.openxmlformats.org/drawingml/2006/main">
              <a:ext uri="{FF2B5EF4-FFF2-40B4-BE49-F238E27FC236}">
                <a16:creationId xmlns:a16="http://schemas.microsoft.com/office/drawing/2014/main" id="{96DA0084-6466-4A58-927F-B38C1CEDF63E}"/>
              </a:ext>
            </a:extLst>
          </p:cNvPr>
          <p:cNvSpPr>
            <a:spLocks xmlns:a="http://schemas.openxmlformats.org/drawingml/2006/main" noGrp="1"/>
          </p:cNvSpPr>
          <p:nvPr/>
        </p:nvSpPr>
        <p:spPr>
          <a:xfrm xmlns:a="http://schemas.openxmlformats.org/drawingml/2006/main" rot="0">
            <a:off x="9118092" y="7367977"/>
            <a:ext cx="14687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magnetic beads</a:t>
            </a:r>
          </a:p>
        </p:txBody>
      </p:sp>
      <p:sp>
        <p:nvSpPr>
          <p:cNvPr id="45" name="Figure 3 label 44 line 1">
            <a:extLst xmlns:a="http://schemas.openxmlformats.org/drawingml/2006/main">
              <a:ext uri="{FF2B5EF4-FFF2-40B4-BE49-F238E27FC236}">
                <a16:creationId xmlns:a16="http://schemas.microsoft.com/office/drawing/2014/main" id="{6EFF967A-0FCB-47A3-ADBE-CF5BD2EAC599}"/>
              </a:ext>
            </a:extLst>
          </p:cNvPr>
          <p:cNvSpPr>
            <a:spLocks xmlns:a="http://schemas.openxmlformats.org/drawingml/2006/main" noGrp="1"/>
          </p:cNvSpPr>
          <p:nvPr/>
        </p:nvSpPr>
        <p:spPr>
          <a:xfrm xmlns:a="http://schemas.openxmlformats.org/drawingml/2006/main" rot="0">
            <a:off x="13104876" y="7145945"/>
            <a:ext cx="13099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Research and</a:t>
            </a:r>
          </a:p>
        </p:txBody>
      </p:sp>
      <p:sp>
        <p:nvSpPr>
          <p:cNvPr id="46" name="Figure 3 label 45 line 1">
            <a:extLst xmlns:a="http://schemas.openxmlformats.org/drawingml/2006/main">
              <a:ext uri="{FF2B5EF4-FFF2-40B4-BE49-F238E27FC236}">
                <a16:creationId xmlns:a16="http://schemas.microsoft.com/office/drawing/2014/main" id="{2D706CA0-62F0-4C53-A7B7-FF99B5F09B7D}"/>
              </a:ext>
            </a:extLst>
          </p:cNvPr>
          <p:cNvSpPr>
            <a:spLocks xmlns:a="http://schemas.openxmlformats.org/drawingml/2006/main" noGrp="1"/>
          </p:cNvSpPr>
          <p:nvPr/>
        </p:nvSpPr>
        <p:spPr>
          <a:xfrm xmlns:a="http://schemas.openxmlformats.org/drawingml/2006/main" rot="0">
            <a:off x="13104876" y="7367977"/>
            <a:ext cx="1447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instruments</a:t>
            </a:r>
          </a:p>
        </p:txBody>
      </p:sp>
      <p:sp>
        <p:nvSpPr>
          <p:cNvPr id="47" name="Figure 3 label 46 line 1">
            <a:extLst xmlns:a="http://schemas.openxmlformats.org/drawingml/2006/main">
              <a:ext uri="{FF2B5EF4-FFF2-40B4-BE49-F238E27FC236}">
                <a16:creationId xmlns:a16="http://schemas.microsoft.com/office/drawing/2014/main" id="{774586C1-09D8-4204-9A9A-B48F4D6924A5}"/>
              </a:ext>
            </a:extLst>
          </p:cNvPr>
          <p:cNvSpPr>
            <a:spLocks xmlns:a="http://schemas.openxmlformats.org/drawingml/2006/main" noGrp="1"/>
          </p:cNvSpPr>
          <p:nvPr/>
        </p:nvSpPr>
        <p:spPr>
          <a:xfrm xmlns:a="http://schemas.openxmlformats.org/drawingml/2006/main" rot="0">
            <a:off x="4735388" y="8326469"/>
            <a:ext cx="8817223"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1">
                <a:solidFill>
                  <a:srgbClr val="00355F"/>
                </a:solidFill>
                <a:latin typeface="Arial Unicode MS"/>
                <a:ea typeface="Arial Unicode MS"/>
                <a:cs typeface="Arial Unicode MS"/>
              </a:defRPr>
            </a:pPr>
            <a:r>
              <a:rPr sz="2000" b="1">
                <a:solidFill>
                  <a:srgbClr val="00355F"/>
                </a:solidFill>
                <a:latin typeface="Arial Unicode MS"/>
                <a:ea typeface="Arial Unicode MS"/>
                <a:cs typeface="Arial Unicode MS"/>
              </a:rPr>
              <a:t>An instrument supplier’s total China sales are not its China life-science sales.</a:t>
            </a:r>
          </a:p>
        </p:txBody>
      </p:sp>
    </p:spTree>
    <p:extLst>
      <p:ext uri="{BB962C8B-B14F-4D97-AF65-F5344CB8AC3E}">
        <p14:creationId xmlns:p14="http://schemas.microsoft.com/office/powerpoint/2010/main" val="366214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2026-10-13T07:05:25.5660000Z</dcterms:created>
  <dcterms:modified xsi:type="dcterms:W3CDTF">2026-10-13T07:05:25.5660000Z</dcterms:modified>
</coreProperties>
</file>