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svg" ContentType="image/svg+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642c6461c5b44d66" Type="http://schemas.openxmlformats.org/officeDocument/2006/relationships/extended-properties" Target="docProps/app.xml"/><Relationship Id="Rb4af5e483d9241df" Type="http://schemas.openxmlformats.org/officeDocument/2006/relationships/officeDocument" Target="ppt/presentation.xml"/><Relationship Id="Rc6c32f91001148e6"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d61c20247644463c"/>
  </p:sldMasterIdLst>
  <p:notesMasterIdLst>
    <p:notesMasterId xmlns:r="http://schemas.openxmlformats.org/officeDocument/2006/relationships" r:id="R65ede91e286f46a4"/>
  </p:notesMasterIdLst>
  <p:sldIdLst>
    <p:sldId xmlns:r="http://schemas.openxmlformats.org/officeDocument/2006/relationships" id="256" r:id="R2eba65cb73584dca"/>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da0211a1e9b457f" Type="http://schemas.openxmlformats.org/officeDocument/2006/relationships/presProps" Target="presProps.xml"/><Relationship Id="R2eba65cb73584dca" Type="http://schemas.openxmlformats.org/officeDocument/2006/relationships/slide" Target="slides/slide1.xml"/><Relationship Id="R65ede91e286f46a4" Type="http://schemas.openxmlformats.org/officeDocument/2006/relationships/notesMaster" Target="notesMasters/notesMaster1.xml"/><Relationship Id="R7c07deee30024903" Type="http://schemas.openxmlformats.org/officeDocument/2006/relationships/theme" Target="theme/theme1.xml"/><Relationship Id="Ra3d992013e5449fa" Type="http://schemas.openxmlformats.org/officeDocument/2006/relationships/tableStyles" Target="tableStyles.xml"/><Relationship Id="Rd61c20247644463c"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3bc87b79f9c9434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577625f894544a27" Type="http://schemas.openxmlformats.org/officeDocument/2006/relationships/slide" Target="../slides/slide1.xml"/><Relationship Id="Rd446a8980a264135"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13. Illustrative dataset organization, not an empirical comparison of pre-AI versus AI industry cohorts. Matrix colors encode coverage only, not measured performance. KD is often derived from the same fitted sensorgrams as kon/koff in an appropriate 1:1 model. Traditional drug development already included multi-assay characterization. Stage 0 is an analyst framing for biological data production across model training and iteration.</a:t>
            </a:r>
          </a:p>
          <a:p xmlns:a="http://schemas.openxmlformats.org/drawingml/2006/main">
            <a:r>
              <a:t/>
            </a:r>
          </a:p>
          <a:p xmlns:a="http://schemas.openxmlformats.org/drawingml/2006/main">
            <a:r>
              <a:t># AI antibody research: molecule throughput and experimental data density</a:t>
            </a:r>
          </a:p>
          <a:p xmlns:a="http://schemas.openxmlformats.org/drawingml/2006/main">
            <a:r>
              <a:t/>
            </a:r>
          </a:p>
          <a:p xmlns:a="http://schemas.openxmlformats.org/drawingml/2006/main">
            <a:r>
              <a:t>Evidence checked on 13 October 2026. The two English figures describe a mechanism and an investment hypothesis. They do not estimate incremental TAM, realized AI revenue or stock returns. Comparison counts are illustrative.</a:t>
            </a:r>
          </a:p>
          <a:p xmlns:a="http://schemas.openxmlformats.org/drawingml/2006/main">
            <a:r>
              <a:t/>
            </a:r>
          </a:p>
          <a:p xmlns:a="http://schemas.openxmlformats.org/drawingml/2006/main">
            <a:r>
              <a:t>## Conclusion and its limits</a:t>
            </a:r>
          </a:p>
          <a:p xmlns:a="http://schemas.openxmlformats.org/drawingml/2006/main">
            <a:r>
              <a:t/>
            </a:r>
          </a:p>
          <a:p xmlns:a="http://schemas.openxmlformats.org/drawingml/2006/main">
            <a:r>
              <a:t>Experiments can support both today's candidate selection and a reusable training dataset for future projects. Stage 0 describes this continuing biological-data production function across training, design, validation and iteration; it is not necessarily a one-time step before design.</a:t>
            </a:r>
          </a:p>
          <a:p xmlns:a="http://schemas.openxmlformats.org/drawingml/2006/main">
            <a:r>
              <a:t/>
            </a:r>
          </a:p>
          <a:p xmlns:a="http://schemas.openxmlformats.org/drawingml/2006/main">
            <a:r>
              <a:t>Data insufficiency can mean incomplete property coverage, incompatible assay conditions, limited sequence/target/format diversity, or data that cannot be accessed or licensed. Cleaning or licensing existing records can improve modeling without new experiments. Active learning can prioritize fewer informative measurements. Stage 0 is an evidenced demand channel, with uncertain net spending and supplier revenue.</a:t>
            </a:r>
          </a:p>
          <a:p xmlns:a="http://schemas.openxmlformats.org/drawingml/2006/main">
            <a:r>
              <a:t/>
            </a:r>
          </a:p>
          <a:p xmlns:a="http://schemas.openxmlformats.org/drawingml/2006/main">
            <a:r>
              <a:t>## Primary evidence</a:t>
            </a:r>
          </a:p>
          <a:p xmlns:a="http://schemas.openxmlformats.org/drawingml/2006/main">
            <a:r>
              <a:t/>
            </a:r>
          </a:p>
          <a:p xmlns:a="http://schemas.openxmlformats.org/drawingml/2006/main">
            <a:r>
              <a:t>1. **Jain et al., PNAS, 2017.** [Paper](https://pmc.ncbi.nlm.nih.gov/articles/PMC5293111/), DOI 10.1073/pnas.1616408114. The authors expressed 137 advanced clinical-stage antibody sequences on a common IgG1 scaffold and assessed 12 biophysical assays. Multi-property characterization predates the current AI wave. Some approved antibodies still triggered developability warnings; a single risk metric is not a universal clinical veto. The experimental scaffold differs from exact drug formats.</a:t>
            </a:r>
          </a:p>
          <a:p xmlns:a="http://schemas.openxmlformats.org/drawingml/2006/main">
            <a:r>
              <a:t/>
            </a:r>
          </a:p>
          <a:p xmlns:a="http://schemas.openxmlformats.org/drawingml/2006/main">
            <a:r>
              <a:t>2. **Arsiwala et al., mAbs, 2025.** [Paper](https://pmc.ncbi.nlm.nih.gov/articles/PMC12674332/), DOI 10.1080/19420862.2025.2593055. PROPHET-Ab was built for standardized model-training data. The paper reports 246 IgGs and ten developability assay types, with incomplete coverage for some assays; DLS-kD covered ten IgGs. Methods include titer, CE-SDS, SEC, nanoDSF/DSF, HIC, SMAC, AC-SINS, DLS-kD, heparin-affinity chromatography and polyreactivity. This differs from our nine labels and does not supply all target-specific binding kinetics, precise epitopes or cell potency. The PMC page triggered a verification challenge; full text was checked through [Europe PMC original-article XML](https://www.ebi.ac.uk/europepmc/webservices/rest/PMC12674332/fullTextXML).</a:t>
            </a:r>
          </a:p>
          <a:p xmlns:a="http://schemas.openxmlformats.org/drawingml/2006/main">
            <a:r>
              <a:t/>
            </a:r>
          </a:p>
          <a:p xmlns:a="http://schemas.openxmlformats.org/drawingml/2006/main">
            <a:r>
              <a:t>3. **van Niekerk et al., mAbs, 2026.** [Paper abstract](https://www.tandfonline.com/doi/abs/10.1080/19420862.2026.2634216), DOI 10.1080/19420862.2026.2634216. The 2025 competition used 246 clinical antibodies for public training and 80 for blinded testing, with 113 teams. Best test-set Spearman correlations were:</a:t>
            </a:r>
          </a:p>
          <a:p xmlns:a="http://schemas.openxmlformats.org/drawingml/2006/main">
            <a:r>
              <a:t/>
            </a:r>
          </a:p>
          <a:p xmlns:a="http://schemas.openxmlformats.org/drawingml/2006/main">
            <a:r>
              <a:t>| Property | Best test-set Spearman rho |</a:t>
            </a:r>
          </a:p>
          <a:p xmlns:a="http://schemas.openxmlformats.org/drawingml/2006/main">
            <a:r>
              <a:t>|---|---:|</a:t>
            </a:r>
          </a:p>
          <a:p xmlns:a="http://schemas.openxmlformats.org/drawingml/2006/main">
            <a:r>
              <a:t>| Hydrophobicity | 0.708 |</a:t>
            </a:r>
          </a:p>
          <a:p xmlns:a="http://schemas.openxmlformats.org/drawingml/2006/main">
            <a:r>
              <a:t>| Thermostability | 0.392 |</a:t>
            </a:r>
          </a:p>
          <a:p xmlns:a="http://schemas.openxmlformats.org/drawingml/2006/main">
            <a:r>
              <a:t>| Polyreactivity | 0.356 |</a:t>
            </a:r>
          </a:p>
          <a:p xmlns:a="http://schemas.openxmlformats.org/drawingml/2006/main">
            <a:r>
              <a:t>| Self-association | 0.337 |</a:t>
            </a:r>
          </a:p>
          <a:p xmlns:a="http://schemas.openxmlformats.org/drawingml/2006/main">
            <a:r>
              <a:t>| Expression titer | 0.310 |</a:t>
            </a:r>
          </a:p>
          <a:p xmlns:a="http://schemas.openxmlformats.org/drawingml/2006/main">
            <a:r>
              <a:t/>
            </a:r>
          </a:p>
          <a:p xmlns:a="http://schemas.openxmlformats.org/drawingml/2006/main">
            <a:r>
              <a:t>Winners differed by assay. These are rank correlations, not accuracies or the performance of one model across all tasks. They support a problem of small, heterogeneous datasets and limited generalization, not a claim that extra label columns alone solve it.</a:t>
            </a:r>
          </a:p>
          <a:p xmlns:a="http://schemas.openxmlformats.org/drawingml/2006/main">
            <a:r>
              <a:t/>
            </a:r>
          </a:p>
          <a:p xmlns:a="http://schemas.openxmlformats.org/drawingml/2006/main">
            <a:r>
              <a:t>4. **Sartorius assay references.** [Kinetics and affinity white paper](https://www.sartorius.com/resource/blob/756208/2db1b53c5a53af4003bbd12ecfaaea24/streamlining-affinity-analysis-for-accelerated-lead-screening-white-paper-en-sartorius-data.pdf), [BLI platform](https://www.sartorius.com/en/products/biolayer-interferometry), [avoiding avidity](https://www.sartorius.com/en/products/biolayer-interferometry/bli-resources/optimizing-kinetics-assays-to-avoid-avidity-application-note), [epitope binning](https://www.sartorius.com/en/products/biolayer-interferometry/bli-resources/octet-cross-competition-epitope-binning-assays). Suitable association/dissociation curves can yield kon, koff and derived KD. Valency, orientation, surface density and non-specific binding affect interpretation. Competition binning is not atomic-resolution mapping.</a:t>
            </a:r>
          </a:p>
          <a:p xmlns:a="http://schemas.openxmlformats.org/drawingml/2006/main">
            <a:r>
              <a:t/>
            </a:r>
          </a:p>
          <a:p xmlns:a="http://schemas.openxmlformats.org/drawingml/2006/main">
            <a:r>
              <a:t>5. **ACROBiosystems.** The [AIDD-Ready / CHO-Direct offering](https://www.acrobiosystems.com/aix/aidd-ready-solutions) describes expression quantification, BLI screening, optional ELISA, flow, epitope binning and early functional assays, linked to deeper characterization and model iteration. Its [service portfolio](https://www.acrobiosystems.com/services) also lists SPR/BLI, cell customization and functional testing. This establishes a product/service offering, not order volume, realized AI revenue, margin or a Ginkgo supplier relationship.</a:t>
            </a:r>
          </a:p>
          <a:p xmlns:a="http://schemas.openxmlformats.org/drawingml/2006/main">
            <a:r>
              <a:t/>
            </a:r>
          </a:p>
          <a:p xmlns:a="http://schemas.openxmlformats.org/drawingml/2006/main">
            <a:r>
              <a:t>6. **NanoMicro and NanoChrom.** [NanoMicro's official annual-report discussion](https://www.nanomicro.com/news/company/76) describes chromatography media, NanoChrom columns, Fuli analytical instruments and Sepure purification systems. The [NanoChrom SEC catalogue](https://www.nanochrom.com.cn/products_1/?ext_fenlimoshi=SEC&amp;show=selectproductlist) lists SEC and biological-separation products. Analytical exposure is assessed separately from industrial production resins. No Ginkgo supply relationship was verified.</a:t>
            </a:r>
          </a:p>
          <a:p xmlns:a="http://schemas.openxmlformats.org/drawingml/2006/main">
            <a:r>
              <a:t/>
            </a:r>
          </a:p>
          <a:p xmlns:a="http://schemas.openxmlformats.org/drawingml/2006/main">
            <a:r>
              <a:t>## The nine labels</a:t>
            </a:r>
          </a:p>
          <a:p xmlns:a="http://schemas.openxmlformats.org/drawingml/2006/main">
            <a:r>
              <a:t/>
            </a:r>
          </a:p>
          <a:p xmlns:a="http://schemas.openxmlformats.org/drawingml/2006/main">
            <a:r>
              <a:t>| Label | Useful measurement/context | Value | Interpretation limit |</a:t>
            </a:r>
          </a:p>
          <a:p xmlns:a="http://schemas.openxmlformats.org/drawingml/2006/main">
            <a:r>
              <a:t>|---|---|---|---|</a:t>
            </a:r>
          </a:p>
          <a:p xmlns:a="http://schemas.openxmlformats.org/drawingml/2006/main">
            <a:r>
              <a:t>| KD | Equilibrium dissociation constant, M/nM; model and temperature | Affinity under defined conditions | Lower KD does not automatically imply better cell or clinical activity; multivalent systems can yield apparent avidity |</a:t>
            </a:r>
          </a:p>
          <a:p xmlns:a="http://schemas.openxmlformats.org/drawingml/2006/main">
            <a:r>
              <a:t>| kon | Association rate constant, M^-1 s^-1 | Formation kinetics of a binding complex | Not directly the speed of clinical onset |</a:t>
            </a:r>
          </a:p>
          <a:p xmlns:a="http://schemas.openxmlformats.org/drawingml/2006/main">
            <a:r>
              <a:t>| koff | Dissociation rate constant, s^-1 | Dissociation kinetics; ideal 1:1 residence time is 1/koff | Residence time is not serum half-life; superiority to KD for efficacy prediction is context-dependent |</a:t>
            </a:r>
          </a:p>
          <a:p xmlns:a="http://schemas.openxmlformats.org/drawingml/2006/main">
            <a:r>
              <a:t>| Expression | Titer mg/L, host, culture/transfection conditions and recovery | Sample supply and production feasibility | Transient expression is not stable-cell-line commercial productivity |</a:t>
            </a:r>
          </a:p>
          <a:p xmlns:a="http://schemas.openxmlformats.org/drawingml/2006/main">
            <a:r>
              <a:t>| Tm | Thermal transition midpoint, degrees C; domain, buffer and ramp rate | Thermal stability risk | Not directly shelf life or in-vivo half-life; full IgGs can have multiple transitions |</a:t>
            </a:r>
          </a:p>
          <a:p xmlns:a="http://schemas.openxmlformats.org/drawingml/2006/main">
            <a:r>
              <a:t>| Aggregation | SEC monomer/high-molecular-weight fraction, DLS or other methods; concentration/stress | Formulation and potential immunogenicity risk | Not a clinical immunogenicity probability; self-association is not identical to aggregation |</a:t>
            </a:r>
          </a:p>
          <a:p xmlns:a="http://schemas.openxmlformats.org/drawingml/2006/main">
            <a:r>
              <a:t>| Polyreactivity | Binding to defined non-target materials, with assay/reagent context | Non-specific binding, clearance and developability risk | No universal level guarantees clinical failure |</a:t>
            </a:r>
          </a:p>
          <a:p xmlns:a="http://schemas.openxmlformats.org/drawingml/2006/main">
            <a:r>
              <a:t>| Epitope | Competition bin, residues or structure, with method | Binding location and potential mechanism | A competition bin is not a precise structural epitope; location alone does not establish function |</a:t>
            </a:r>
          </a:p>
          <a:p xmlns:a="http://schemas.openxmlformats.org/drawingml/2006/main">
            <a:r>
              <a:t>| Cell potency | EC50/IC50, Emax, cell model, target level and incubation | Functional performance in a relevant cellular system | Does not replace in-vivo efficacy, PK/PD, toxicology or clinical evidence |</a:t>
            </a:r>
          </a:p>
          <a:p xmlns:a="http://schemas.openxmlformats.org/drawingml/2006/main">
            <a:r>
              <a:t/>
            </a:r>
          </a:p>
          <a:p xmlns:a="http://schemas.openxmlformats.org/drawingml/2006/main">
            <a:r>
              <a:t>For a simple reversible 1:1 model, KD = koff / kon. These quantities are not three independent degrees of freedom or necessarily three experiments. Nine labels are not a complete developability checklist: viscosity, solubility, chemical stability, glycosylation, FcRn-related behavior and immunogenicity can also matter.</a:t>
            </a:r>
          </a:p>
          <a:p xmlns:a="http://schemas.openxmlformats.org/drawingml/2006/main">
            <a:r>
              <a:t/>
            </a:r>
          </a:p>
          <a:p xmlns:a="http://schemas.openxmlformats.org/drawingml/2006/main">
            <a:r>
              <a:t>## Data quality and incremental purchases</a:t>
            </a:r>
          </a:p>
          <a:p xmlns:a="http://schemas.openxmlformats.org/drawingml/2006/main">
            <a:r>
              <a:t/>
            </a:r>
          </a:p>
          <a:p xmlns:a="http://schemas.openxmlformats.org/drawingml/2006/main">
            <a:r>
              <a:t>Link sequence and molecular format to target, assay, conditions, batch and replicate. Retain raw curves, concentration series, controls, detection limits, QC and failures. Missing measurements must not become negative labels.</a:t>
            </a:r>
          </a:p>
          <a:p xmlns:a="http://schemas.openxmlformats.org/drawingml/2006/main">
            <a:r>
              <a:t/>
            </a:r>
          </a:p>
          <a:p xmlns:a="http://schemas.openxmlformats.org/drawingml/2006/main">
            <a:r>
              <a:t>Recurring LST purchases can be approximated by summing workflow executions × net purchased inputs per run × ASP. Executions include controls, repeats and multiple conditions. Net inputs reflect miniaturization, shared samples and reuse. Construction, expression and purification prepare shared samples and must not be counted afresh for every label. Instrument CAPEX, maintenance and service costs need separate models. A platform's service revenue and its own reagent purchases must not both enter the same terminal-procurement TAM.</a:t>
            </a:r>
          </a:p>
          <a:p xmlns:a="http://schemas.openxmlformats.org/drawingml/2006/main">
            <a:r>
              <a:t/>
            </a:r>
          </a:p>
          <a:p xmlns:a="http://schemas.openxmlformats.org/drawingml/2006/main">
            <a:r>
              <a:t>With unchanged assay mix, net consumption and pricing, reducing measured molecules from 1,000 to 300 requires more than 3.33 times the cost-weighted characterization intensity per molecule for purchases to rise. Nine fields do not automatically meet that condition. The 1,000 and 300–1,000 counts are supplied illustrations, not history or forecasts.</a:t>
            </a:r>
          </a:p>
          <a:p xmlns:a="http://schemas.openxmlformats.org/drawingml/2006/main">
            <a:r>
              <a:t/>
            </a:r>
          </a:p>
          <a:p xmlns:a="http://schemas.openxmlformats.org/drawingml/2006/main">
            <a:r>
              <a:t>Potential funding channels include pharma R&amp;D budgets, financed AI-biotech programs, platform/data-generation contracts and public research budgets. This is a channel inference; no financing or purchasing amount is assumed. Watch paid assay orders, repeat purchases, actual procurement lists and equipment utilization.</a:t>
            </a:r>
          </a:p>
          <a:p xmlns:a="http://schemas.openxmlformats.org/drawingml/2006/main">
            <a:r>
              <a:t/>
            </a:r>
          </a:p>
          <a:p xmlns:a="http://schemas.openxmlformats.org/drawingml/2006/main">
            <a:r>
              <a:t>## The two suppliers</a:t>
            </a:r>
          </a:p>
          <a:p xmlns:a="http://schemas.openxmlformats.org/drawingml/2006/main">
            <a:r>
              <a:t/>
            </a:r>
          </a:p>
          <a:p xmlns:a="http://schemas.openxmlformats.org/drawingml/2006/main">
            <a:r>
              <a:t>ACROBiosystems has target proteins, functional cells, assay products and characterization services as direct entry points, with an official AI-workflow offering visible. Verify paid orders, repeat usage, external procurement versus self-production and gross profit per workflow. When customers express their own antibodies, their full production activity cannot be assigned to ACRO sales.</a:t>
            </a:r>
          </a:p>
          <a:p xmlns:a="http://schemas.openxmlformats.org/drawingml/2006/main">
            <a:r>
              <a:t/>
            </a:r>
          </a:p>
          <a:p xmlns:a="http://schemas.openxmlformats.org/drawingml/2006/main">
            <a:r>
              <a:t>For NanoMicro, initially watch analytical characterization, lab purification and related instruments, with manufacturing resins as a later pathway. Columns can be reused: sample runs translate into column sales through column life, methods, installed base, ASP and supplier share. Industrial resins still depend on pipeline progression, manufacturing batches and commercial output. Neither company has evidence here of ninefold revenue from nine labels.</a:t>
            </a:r>
          </a:p>
          <a:p xmlns:a="http://schemas.openxmlformats.org/drawingml/2006/main">
            <a:r>
              <a:t/>
            </a:r>
          </a:p>
          <a:p xmlns:a="http://schemas.openxmlformats.org/drawingml/2006/main">
            <a:r>
              <a:t>## Figure interpretation and assets</a:t>
            </a:r>
          </a:p>
          <a:p xmlns:a="http://schemas.openxmlformats.org/drawingml/2006/main">
            <a:r>
              <a:t/>
            </a:r>
          </a:p>
          <a:p xmlns:a="http://schemas.openxmlformats.org/drawingml/2006/main">
            <a:r>
              <a:t>Figure 13 is a coverage schematic: solid dot = measured label; hollow dot = KD derived from shared kinetics; dash = unmeasured. Colors do not encode performance. Figure 14 maps properties to workflows and procurement. Original Lucide SVG icons use the [ISC license](https://github.com/lucide-icons/lucide). No company logos or paper figures are reproduced.</a:t>
            </a:r>
          </a:p>
          <a:p xmlns:a="http://schemas.openxmlformats.org/drawingml/2006/main">
            <a:r>
              <a:t/>
            </a:r>
          </a:p>
          <a:p xmlns:a="http://schemas.openxmlformats.org/drawingml/2006/main">
            <a:r>
              <a:t/>
            </a:r>
          </a:p>
          <a:p xmlns:a="http://schemas.openxmlformats.org/drawingml/2006/main">
            <a:r>
              <a:t>Palette updated to the user's eight RGB colors on 13 October 2026. Original company marks retain their brand colors.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023f623eb2ae4b0e"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ef99dc9427414bd6"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e9ed9fe4aa554258"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91b509ab073b44e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d7bb7c3e21b0447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d80c03c1549440a5"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EBF7B23-15D3-42A3-8188-3C6C6CC2EBC7}"/>
              </a:ext>
            </a:extLst>
          </p:cNvPr>
          <p:cNvSpPr>
            <a:spLocks xmlns:a="http://schemas.openxmlformats.org/drawingml/2006/main" noGrp="1"/>
          </p:cNvSpPr>
          <p:nvPr>
            <p:ph type="title" idx="0"/>
          </p:nvPr>
        </p:nvSpPr>
        <p:spPr>
          <a:xfrm xmlns:a="http://schemas.openxmlformats.org/drawingml/2006/main">
            <a:off x="1828800" y="3886200"/>
            <a:ext cx="14630400" cy="14859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7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7B1B44E-4500-4743-99C0-33B4A5A12FF2}"/>
              </a:ext>
            </a:extLst>
          </p:cNvPr>
          <p:cNvSpPr>
            <a:spLocks xmlns:a="http://schemas.openxmlformats.org/drawingml/2006/main" noGrp="1"/>
          </p:cNvSpPr>
          <p:nvPr>
            <p:ph type="subTitle" idx="1"/>
          </p:nvPr>
        </p:nvSpPr>
        <p:spPr>
          <a:xfrm xmlns:a="http://schemas.openxmlformats.org/drawingml/2006/main">
            <a:off x="2743200" y="5657850"/>
            <a:ext cx="12801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8620BBE-8FAF-4E71-83EC-3EBCF730A9B1}"/>
              </a:ext>
            </a:extLst>
          </p:cNvPr>
          <p:cNvSpPr>
            <a:spLocks xmlns:a="http://schemas.openxmlformats.org/drawingml/2006/main" noGrp="1"/>
          </p:cNvSpPr>
          <p:nvPr>
            <p:ph type="title" idx="0"/>
          </p:nvPr>
        </p:nvSpPr>
        <p:spPr>
          <a:xfrm xmlns:a="http://schemas.openxmlformats.org/drawingml/2006/main">
            <a:off x="1828800" y="4286250"/>
            <a:ext cx="14630400" cy="1714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6AB2AB0-0361-44B4-B933-B6926B193DD0}"/>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DA8BD50-3A46-41E2-A7EB-F2A7EA2EB3E4}"/>
              </a:ext>
            </a:extLst>
          </p:cNvPr>
          <p:cNvSpPr>
            <a:spLocks xmlns:a="http://schemas.openxmlformats.org/drawingml/2006/main" noGrp="1"/>
          </p:cNvSpPr>
          <p:nvPr>
            <p:ph type="body" idx="1"/>
          </p:nvPr>
        </p:nvSpPr>
        <p:spPr>
          <a:xfrm xmlns:a="http://schemas.openxmlformats.org/drawingml/2006/main">
            <a:off x="1028700" y="2857500"/>
            <a:ext cx="162306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defRPr/>
            </a:lvl1pPr>
            <a:lvl2pPr marL="800100" indent="-342900">
              <a:lnSpc>
                <a:spcPct val="110000"/>
              </a:lnSpc>
              <a:spcBef>
                <a:spcPts val="0"/>
              </a:spcBef>
              <a:spcAft>
                <a:spcPts val="1800"/>
              </a:spcAft>
              <a:buChar char="•"/>
              <a:defRPr/>
            </a:lvl2pPr>
            <a:lvl3pPr marL="1257300" indent="-342900">
              <a:lnSpc>
                <a:spcPct val="110000"/>
              </a:lnSpc>
              <a:spcBef>
                <a:spcPts val="0"/>
              </a:spcBef>
              <a:spcAft>
                <a:spcPts val="1800"/>
              </a:spcAft>
              <a:buChar char="•"/>
              <a:defRPr/>
            </a:lvl3pPr>
            <a:lvl4pPr marL="1714500" indent="-342900">
              <a:lnSpc>
                <a:spcPct val="110000"/>
              </a:lnSpc>
              <a:spcBef>
                <a:spcPts val="0"/>
              </a:spcBef>
              <a:spcAft>
                <a:spcPts val="1800"/>
              </a:spcAft>
              <a:buChar char="•"/>
              <a:defRPr/>
            </a:lvl4pPr>
            <a:lvl5pPr marL="2171700" indent="-342900">
              <a:lnSpc>
                <a:spcPct val="110000"/>
              </a:lnSpc>
              <a:spcBef>
                <a:spcPts val="0"/>
              </a:spcBef>
              <a:spcAft>
                <a:spcPts val="1800"/>
              </a:spcAft>
              <a:buChar char="•"/>
              <a:defRPr/>
            </a:lvl5pPr>
            <a:lvl6pPr marL="2628900" indent="-342900">
              <a:lnSpc>
                <a:spcPct val="110000"/>
              </a:lnSpc>
              <a:spcBef>
                <a:spcPts val="0"/>
              </a:spcBef>
              <a:spcAft>
                <a:spcPts val="1800"/>
              </a:spcAft>
              <a:buChar char="•"/>
              <a:defRPr/>
            </a:lvl6pPr>
            <a:lvl7pPr marL="3086100" indent="-342900">
              <a:lnSpc>
                <a:spcPct val="110000"/>
              </a:lnSpc>
              <a:spcBef>
                <a:spcPts val="0"/>
              </a:spcBef>
              <a:spcAft>
                <a:spcPts val="1800"/>
              </a:spcAft>
              <a:buChar char="•"/>
              <a:defRPr/>
            </a:lvl7pPr>
            <a:lvl8pPr marL="3543300" indent="-342900">
              <a:lnSpc>
                <a:spcPct val="110000"/>
              </a:lnSpc>
              <a:spcBef>
                <a:spcPts val="0"/>
              </a:spcBef>
              <a:spcAft>
                <a:spcPts val="1800"/>
              </a:spcAft>
              <a:buChar char="•"/>
              <a:defRPr/>
            </a:lvl8pPr>
            <a:lvl9pPr marL="4000500" indent="-342900">
              <a:lnSpc>
                <a:spcPct val="110000"/>
              </a:lnSpc>
              <a:spcBef>
                <a:spcPts val="0"/>
              </a:spcBef>
              <a:spcAft>
                <a:spcPts val="18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78E687E-6C22-4A03-B8A1-C353CC6CD7CA}"/>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825E284-2A8B-4AE6-8B79-731A7122BB92}"/>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defRPr/>
            </a:lvl1pPr>
            <a:lvl2pPr marL="800100" indent="-342900">
              <a:lnSpc>
                <a:spcPct val="110000"/>
              </a:lnSpc>
              <a:spcBef>
                <a:spcPts val="0"/>
              </a:spcBef>
              <a:spcAft>
                <a:spcPts val="1800"/>
              </a:spcAft>
              <a:buChar char="•"/>
              <a:defRPr/>
            </a:lvl2pPr>
            <a:lvl3pPr marL="1257300" indent="-342900">
              <a:lnSpc>
                <a:spcPct val="110000"/>
              </a:lnSpc>
              <a:spcBef>
                <a:spcPts val="0"/>
              </a:spcBef>
              <a:spcAft>
                <a:spcPts val="1800"/>
              </a:spcAft>
              <a:buChar char="•"/>
              <a:defRPr/>
            </a:lvl3pPr>
            <a:lvl4pPr marL="1714500" indent="-342900">
              <a:lnSpc>
                <a:spcPct val="110000"/>
              </a:lnSpc>
              <a:spcBef>
                <a:spcPts val="0"/>
              </a:spcBef>
              <a:spcAft>
                <a:spcPts val="1800"/>
              </a:spcAft>
              <a:buChar char="•"/>
              <a:defRPr/>
            </a:lvl4pPr>
            <a:lvl5pPr marL="2171700" indent="-342900">
              <a:lnSpc>
                <a:spcPct val="110000"/>
              </a:lnSpc>
              <a:spcBef>
                <a:spcPts val="0"/>
              </a:spcBef>
              <a:spcAft>
                <a:spcPts val="1800"/>
              </a:spcAft>
              <a:buChar char="•"/>
              <a:defRPr/>
            </a:lvl5pPr>
            <a:lvl6pPr marL="2628900" indent="-342900">
              <a:lnSpc>
                <a:spcPct val="110000"/>
              </a:lnSpc>
              <a:spcBef>
                <a:spcPts val="0"/>
              </a:spcBef>
              <a:spcAft>
                <a:spcPts val="1800"/>
              </a:spcAft>
              <a:buChar char="•"/>
              <a:defRPr/>
            </a:lvl6pPr>
            <a:lvl7pPr marL="3086100" indent="-342900">
              <a:lnSpc>
                <a:spcPct val="110000"/>
              </a:lnSpc>
              <a:spcBef>
                <a:spcPts val="0"/>
              </a:spcBef>
              <a:spcAft>
                <a:spcPts val="1800"/>
              </a:spcAft>
              <a:buChar char="•"/>
              <a:defRPr/>
            </a:lvl7pPr>
            <a:lvl8pPr marL="3543300" indent="-342900">
              <a:lnSpc>
                <a:spcPct val="110000"/>
              </a:lnSpc>
              <a:spcBef>
                <a:spcPts val="0"/>
              </a:spcBef>
              <a:spcAft>
                <a:spcPts val="1800"/>
              </a:spcAft>
              <a:buChar char="•"/>
              <a:defRPr/>
            </a:lvl8pPr>
            <a:lvl9pPr marL="4000500" indent="-342900">
              <a:lnSpc>
                <a:spcPct val="110000"/>
              </a:lnSpc>
              <a:spcBef>
                <a:spcPts val="0"/>
              </a:spcBef>
              <a:spcAft>
                <a:spcPts val="18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A539200-0219-4E05-95FE-93351599A46C}"/>
              </a:ext>
            </a:extLst>
          </p:cNvPr>
          <p:cNvSpPr>
            <a:spLocks xmlns:a="http://schemas.openxmlformats.org/drawingml/2006/main" noGrp="1"/>
          </p:cNvSpPr>
          <p:nvPr>
            <p:ph type="body" idx="2"/>
          </p:nvPr>
        </p:nvSpPr>
        <p:spPr>
          <a:xfrm xmlns:a="http://schemas.openxmlformats.org/drawingml/2006/main">
            <a:off x="97155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defRPr/>
            </a:lvl1pPr>
            <a:lvl2pPr marL="800100" indent="-342900">
              <a:lnSpc>
                <a:spcPct val="110000"/>
              </a:lnSpc>
              <a:spcBef>
                <a:spcPts val="0"/>
              </a:spcBef>
              <a:spcAft>
                <a:spcPts val="1800"/>
              </a:spcAft>
              <a:buChar char="•"/>
              <a:defRPr/>
            </a:lvl2pPr>
            <a:lvl3pPr marL="1257300" indent="-342900">
              <a:lnSpc>
                <a:spcPct val="110000"/>
              </a:lnSpc>
              <a:spcBef>
                <a:spcPts val="0"/>
              </a:spcBef>
              <a:spcAft>
                <a:spcPts val="1800"/>
              </a:spcAft>
              <a:buChar char="•"/>
              <a:defRPr/>
            </a:lvl3pPr>
            <a:lvl4pPr marL="1714500" indent="-342900">
              <a:lnSpc>
                <a:spcPct val="110000"/>
              </a:lnSpc>
              <a:spcBef>
                <a:spcPts val="0"/>
              </a:spcBef>
              <a:spcAft>
                <a:spcPts val="1800"/>
              </a:spcAft>
              <a:buChar char="•"/>
              <a:defRPr/>
            </a:lvl4pPr>
            <a:lvl5pPr marL="2171700" indent="-342900">
              <a:lnSpc>
                <a:spcPct val="110000"/>
              </a:lnSpc>
              <a:spcBef>
                <a:spcPts val="0"/>
              </a:spcBef>
              <a:spcAft>
                <a:spcPts val="1800"/>
              </a:spcAft>
              <a:buChar char="•"/>
              <a:defRPr/>
            </a:lvl5pPr>
            <a:lvl6pPr marL="2628900" indent="-342900">
              <a:lnSpc>
                <a:spcPct val="110000"/>
              </a:lnSpc>
              <a:spcBef>
                <a:spcPts val="0"/>
              </a:spcBef>
              <a:spcAft>
                <a:spcPts val="1800"/>
              </a:spcAft>
              <a:buChar char="•"/>
              <a:defRPr/>
            </a:lvl6pPr>
            <a:lvl7pPr marL="3086100" indent="-342900">
              <a:lnSpc>
                <a:spcPct val="110000"/>
              </a:lnSpc>
              <a:spcBef>
                <a:spcPts val="0"/>
              </a:spcBef>
              <a:spcAft>
                <a:spcPts val="1800"/>
              </a:spcAft>
              <a:buChar char="•"/>
              <a:defRPr/>
            </a:lvl7pPr>
            <a:lvl8pPr marL="3543300" indent="-342900">
              <a:lnSpc>
                <a:spcPct val="110000"/>
              </a:lnSpc>
              <a:spcBef>
                <a:spcPts val="0"/>
              </a:spcBef>
              <a:spcAft>
                <a:spcPts val="1800"/>
              </a:spcAft>
              <a:buChar char="•"/>
              <a:defRPr/>
            </a:lvl8pPr>
            <a:lvl9pPr marL="4000500" indent="-342900">
              <a:lnSpc>
                <a:spcPct val="110000"/>
              </a:lnSpc>
              <a:spcBef>
                <a:spcPts val="0"/>
              </a:spcBef>
              <a:spcAft>
                <a:spcPts val="18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CA690AA-0C4B-4BF0-8ADA-D26A55A52320}"/>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010A507-3ECC-4DF4-99EC-CE20EE62AFAD}"/>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defRPr/>
            </a:lvl1pPr>
            <a:lvl2pPr marL="800100" indent="-342900">
              <a:lnSpc>
                <a:spcPct val="110000"/>
              </a:lnSpc>
              <a:spcBef>
                <a:spcPts val="0"/>
              </a:spcBef>
              <a:spcAft>
                <a:spcPts val="1800"/>
              </a:spcAft>
              <a:buChar char="•"/>
              <a:defRPr/>
            </a:lvl2pPr>
            <a:lvl3pPr marL="1257300" indent="-342900">
              <a:lnSpc>
                <a:spcPct val="110000"/>
              </a:lnSpc>
              <a:spcBef>
                <a:spcPts val="0"/>
              </a:spcBef>
              <a:spcAft>
                <a:spcPts val="1800"/>
              </a:spcAft>
              <a:buChar char="•"/>
              <a:defRPr/>
            </a:lvl3pPr>
            <a:lvl4pPr marL="1714500" indent="-342900">
              <a:lnSpc>
                <a:spcPct val="110000"/>
              </a:lnSpc>
              <a:spcBef>
                <a:spcPts val="0"/>
              </a:spcBef>
              <a:spcAft>
                <a:spcPts val="1800"/>
              </a:spcAft>
              <a:buChar char="•"/>
              <a:defRPr/>
            </a:lvl4pPr>
            <a:lvl5pPr marL="2171700" indent="-342900">
              <a:lnSpc>
                <a:spcPct val="110000"/>
              </a:lnSpc>
              <a:spcBef>
                <a:spcPts val="0"/>
              </a:spcBef>
              <a:spcAft>
                <a:spcPts val="1800"/>
              </a:spcAft>
              <a:buChar char="•"/>
              <a:defRPr/>
            </a:lvl5pPr>
            <a:lvl6pPr marL="2628900" indent="-342900">
              <a:lnSpc>
                <a:spcPct val="110000"/>
              </a:lnSpc>
              <a:spcBef>
                <a:spcPts val="0"/>
              </a:spcBef>
              <a:spcAft>
                <a:spcPts val="1800"/>
              </a:spcAft>
              <a:buChar char="•"/>
              <a:defRPr/>
            </a:lvl6pPr>
            <a:lvl7pPr marL="3086100" indent="-342900">
              <a:lnSpc>
                <a:spcPct val="110000"/>
              </a:lnSpc>
              <a:spcBef>
                <a:spcPts val="0"/>
              </a:spcBef>
              <a:spcAft>
                <a:spcPts val="1800"/>
              </a:spcAft>
              <a:buChar char="•"/>
              <a:defRPr/>
            </a:lvl7pPr>
            <a:lvl8pPr marL="3543300" indent="-342900">
              <a:lnSpc>
                <a:spcPct val="110000"/>
              </a:lnSpc>
              <a:spcBef>
                <a:spcPts val="0"/>
              </a:spcBef>
              <a:spcAft>
                <a:spcPts val="1800"/>
              </a:spcAft>
              <a:buChar char="•"/>
              <a:defRPr/>
            </a:lvl8pPr>
            <a:lvl9pPr marL="4000500" indent="-342900">
              <a:lnSpc>
                <a:spcPct val="110000"/>
              </a:lnSpc>
              <a:spcBef>
                <a:spcPts val="0"/>
              </a:spcBef>
              <a:spcAft>
                <a:spcPts val="18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faef95dcdc641b8" Type="http://schemas.openxmlformats.org/officeDocument/2006/relationships/slideLayout" Target="../slideLayouts/slideLayout5.xml"/><Relationship Id="R17898c13bbc6470e" Type="http://schemas.openxmlformats.org/officeDocument/2006/relationships/theme" Target="theme/theme2.xml"/><Relationship Id="R2651580252714f1c" Type="http://schemas.openxmlformats.org/officeDocument/2006/relationships/slideLayout" Target="../slideLayouts/slideLayout4.xml"/><Relationship Id="R40b0e9a7acac4367" Type="http://schemas.openxmlformats.org/officeDocument/2006/relationships/slideLayout" Target="../slideLayouts/slideLayout6.xml"/><Relationship Id="R6d53265102834b0f" Type="http://schemas.openxmlformats.org/officeDocument/2006/relationships/slideLayout" Target="../slideLayouts/slideLayout3.xml"/><Relationship Id="Rb9237d48dd8149e5" Type="http://schemas.openxmlformats.org/officeDocument/2006/relationships/slideLayout" Target="../slideLayouts/slideLayout1.xml"/><Relationship Id="Rf373e5aaa3484f97" Type="http://schemas.openxmlformats.org/officeDocument/2006/relationships/slideLayout" Target="../slideLayouts/slideLayout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9237d48dd8149e5"/>
    <p:sldLayoutId xmlns:r="http://schemas.openxmlformats.org/officeDocument/2006/relationships" id="2147483650" r:id="Rf373e5aaa3484f97"/>
    <p:sldLayoutId xmlns:r="http://schemas.openxmlformats.org/officeDocument/2006/relationships" id="2147483651" r:id="R6d53265102834b0f"/>
    <p:sldLayoutId xmlns:r="http://schemas.openxmlformats.org/officeDocument/2006/relationships" id="2147483652" r:id="R2651580252714f1c"/>
    <p:sldLayoutId xmlns:r="http://schemas.openxmlformats.org/officeDocument/2006/relationships" id="2147483653" r:id="R0faef95dcdc641b8"/>
    <p:sldLayoutId xmlns:r="http://schemas.openxmlformats.org/officeDocument/2006/relationships" id="2147483654" r:id="R40b0e9a7acac436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2095b55d82e4d0b" Type="http://schemas.openxmlformats.org/officeDocument/2006/relationships/image" Target="../media/image.svg"/><Relationship Id="R427ab3676c674f50" Type="http://schemas.openxmlformats.org/officeDocument/2006/relationships/image" Target="../media/image.png"/><Relationship Id="Rc96d6e32da114eae" Type="http://schemas.openxmlformats.org/officeDocument/2006/relationships/slideLayout" Target="../slideLayouts/slideLayout6.xml"/><Relationship Id="Rd2a0878269c640ed" Type="http://schemas.openxmlformats.org/officeDocument/2006/relationships/notesSlide" Target="../notesSlides/notesSlide1.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xmlns:a="http://schemas.openxmlformats.org/drawingml/2006/main">
        <p:nvSpPr>
          <p:cNvPr id="2" name="Rectangle 1"/>
          <p:cNvSpPr/>
          <p:nvPr/>
        </p:nvSpPr>
        <p:spPr>
          <a:xfrm>
            <a:off x="0" y="0"/>
            <a:ext cx="18288000" cy="10287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 name="Rectangle 2"/>
          <p:cNvSpPr/>
          <p:nvPr/>
        </p:nvSpPr>
        <p:spPr>
          <a:xfrm>
            <a:off x="685800" y="457200"/>
            <a:ext cx="85725" cy="1000125"/>
          </a:xfrm>
          <a:prstGeom prst="rect">
            <a:avLst/>
          </a:prstGeom>
          <a:solidFill>
            <a:srgbClr val="0035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 name="TextBox 3"/>
          <p:cNvSpPr txBox="1"/>
          <p:nvPr/>
        </p:nvSpPr>
        <p:spPr>
          <a:xfrm>
            <a:off x="981075" y="384810"/>
            <a:ext cx="10477500" cy="569595"/>
          </a:xfrm>
          <a:prstGeom prst="rect">
            <a:avLst/>
          </a:prstGeom>
          <a:noFill/>
        </p:spPr>
        <p:txBody>
          <a:bodyPr wrap="none" lIns="0" rIns="0" tIns="0" bIns="0" anchor="ctr">
            <a:spAutoFit/>
          </a:bodyPr>
          <a:lstStyle/>
          <a:p>
            <a:pPr algn="l"/>
            <a:r>
              <a:rPr sz="3450" b="1">
                <a:solidFill>
                  <a:srgbClr val="00355F"/>
                </a:solidFill>
                <a:latin typeface="Arial"/>
              </a:rPr>
              <a:t>Fewer molecules. Deeper experimental data.</a:t>
            </a:r>
          </a:p>
        </p:txBody>
      </p:sp>
      <p:sp xmlns:a="http://schemas.openxmlformats.org/drawingml/2006/main">
        <p:nvSpPr>
          <p:cNvPr id="5" name="TextBox 4"/>
          <p:cNvSpPr txBox="1"/>
          <p:nvPr/>
        </p:nvSpPr>
        <p:spPr>
          <a:xfrm>
            <a:off x="1000125" y="1002983"/>
            <a:ext cx="10477500" cy="334328"/>
          </a:xfrm>
          <a:prstGeom prst="rect">
            <a:avLst/>
          </a:prstGeom>
          <a:noFill/>
        </p:spPr>
        <p:txBody>
          <a:bodyPr wrap="none" lIns="0" rIns="0" tIns="0" bIns="0" anchor="ctr">
            <a:spAutoFit/>
          </a:bodyPr>
          <a:lstStyle/>
          <a:p>
            <a:pPr algn="l"/>
            <a:r>
              <a:rPr sz="2025" b="0">
                <a:solidFill>
                  <a:srgbClr val="00355F"/>
                </a:solidFill>
                <a:latin typeface="Arial"/>
              </a:rPr>
              <a:t>AI may reduce candidate counts while increasing characterization per molecule</a:t>
            </a:r>
          </a:p>
        </p:txBody>
      </p:sp>
      <p:sp xmlns:a="http://schemas.openxmlformats.org/drawingml/2006/main">
        <p:nvSpPr>
          <p:cNvPr id="6" name="TextBox 5"/>
          <p:cNvSpPr txBox="1"/>
          <p:nvPr/>
        </p:nvSpPr>
        <p:spPr>
          <a:xfrm>
            <a:off x="1000125" y="1437322"/>
            <a:ext cx="10477500" cy="260032"/>
          </a:xfrm>
          <a:prstGeom prst="rect">
            <a:avLst/>
          </a:prstGeom>
          <a:noFill/>
        </p:spPr>
        <p:txBody>
          <a:bodyPr wrap="none" lIns="0" rIns="0" tIns="0" bIns="0" anchor="ctr">
            <a:spAutoFit/>
          </a:bodyPr>
          <a:lstStyle/>
          <a:p>
            <a:pPr algn="l"/>
            <a:r>
              <a:rPr sz="1575" b="0">
                <a:solidFill>
                  <a:srgbClr val="00355F"/>
                </a:solidFill>
                <a:latin typeface="Arial"/>
              </a:rPr>
              <a:t>From molecule throughput to data density: a potential driver of life science tools demand</a:t>
            </a:r>
          </a:p>
        </p:txBody>
      </p:sp>
      <p:cxnSp xmlns:a="http://schemas.openxmlformats.org/drawingml/2006/main">
        <p:nvCxnSpPr>
          <p:cNvPr id="7" name="Connector 6"/>
          <p:cNvCxnSpPr/>
          <p:nvPr/>
        </p:nvCxnSpPr>
        <p:spPr>
          <a:xfrm>
            <a:off x="685800" y="1885950"/>
            <a:ext cx="16916400" cy="0"/>
          </a:xfrm>
          <a:prstGeom prst="line">
            <a:avLst/>
          </a:prstGeom>
          <a:ln w="9525">
            <a:solidFill>
              <a:srgbClr val="A5A5A5"/>
            </a:solidFill>
          </a:ln>
          <a:effectLst/>
        </p:spPr>
        <p:style>
          <a:lnRef idx="2">
            <a:schemeClr val="accent1"/>
          </a:lnRef>
          <a:fillRef idx="0">
            <a:schemeClr val="accent1"/>
          </a:fillRef>
          <a:effectRef idx="1">
            <a:schemeClr val="accent1"/>
          </a:effectRef>
          <a:fontRef idx="minor">
            <a:schemeClr val="tx1"/>
          </a:fontRef>
        </p:style>
      </p:cxnSp>
      <p:sp xmlns:a="http://schemas.openxmlformats.org/drawingml/2006/main">
        <p:nvSpPr>
          <p:cNvPr id="8" name="Rounded Rectangle 7"/>
          <p:cNvSpPr/>
          <p:nvPr/>
        </p:nvSpPr>
        <p:spPr>
          <a:xfrm>
            <a:off x="685800" y="2124075"/>
            <a:ext cx="5638800" cy="4714875"/>
          </a:xfrm>
          <a:prstGeom prst="roundRect">
            <a:avLst>
              <a:gd name="adj" fmla="val 5656"/>
            </a:avLst>
          </a:prstGeom>
          <a:solidFill>
            <a:srgbClr val="F4F9FD"/>
          </a:solidFill>
          <a:ln w="9525">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 name="TextBox 8"/>
          <p:cNvSpPr txBox="1"/>
          <p:nvPr/>
        </p:nvSpPr>
        <p:spPr>
          <a:xfrm>
            <a:off x="981075" y="2286000"/>
            <a:ext cx="10477500" cy="309562"/>
          </a:xfrm>
          <a:prstGeom prst="rect">
            <a:avLst/>
          </a:prstGeom>
          <a:noFill/>
        </p:spPr>
        <p:txBody>
          <a:bodyPr wrap="none" lIns="0" rIns="0" tIns="0" bIns="0" anchor="ctr">
            <a:spAutoFit/>
          </a:bodyPr>
          <a:lstStyle/>
          <a:p>
            <a:pPr algn="l"/>
            <a:r>
              <a:rPr sz="1875" b="1">
                <a:solidFill>
                  <a:srgbClr val="00355F"/>
                </a:solidFill>
                <a:latin typeface="Arial"/>
              </a:rPr>
              <a:t>Existing data: staged screening</a:t>
            </a:r>
          </a:p>
        </p:txBody>
      </p:sp>
      <p:sp xmlns:a="http://schemas.openxmlformats.org/drawingml/2006/main">
        <p:nvSpPr>
          <p:cNvPr id="10" name="TextBox 9"/>
          <p:cNvSpPr txBox="1"/>
          <p:nvPr/>
        </p:nvSpPr>
        <p:spPr>
          <a:xfrm>
            <a:off x="981075" y="2600325"/>
            <a:ext cx="10477500" cy="371475"/>
          </a:xfrm>
          <a:prstGeom prst="rect">
            <a:avLst/>
          </a:prstGeom>
          <a:noFill/>
        </p:spPr>
        <p:txBody>
          <a:bodyPr wrap="none" lIns="0" rIns="0" tIns="0" bIns="0" anchor="ctr">
            <a:spAutoFit/>
          </a:bodyPr>
          <a:lstStyle/>
          <a:p>
            <a:pPr algn="l"/>
            <a:r>
              <a:rPr sz="2250" b="1">
                <a:solidFill>
                  <a:srgbClr val="00355F"/>
                </a:solidFill>
                <a:latin typeface="Arial"/>
              </a:rPr>
              <a:t>1,000 antibodies × 1 label</a:t>
            </a:r>
          </a:p>
        </p:txBody>
      </p:sp>
      <p:sp xmlns:a="http://schemas.openxmlformats.org/drawingml/2006/main">
        <p:nvSpPr>
          <p:cNvPr id="11" name="TextBox 10"/>
          <p:cNvSpPr txBox="1"/>
          <p:nvPr/>
        </p:nvSpPr>
        <p:spPr>
          <a:xfrm>
            <a:off x="981075" y="2962275"/>
            <a:ext cx="10477500" cy="247650"/>
          </a:xfrm>
          <a:prstGeom prst="rect">
            <a:avLst/>
          </a:prstGeom>
          <a:noFill/>
        </p:spPr>
        <p:txBody>
          <a:bodyPr wrap="none" lIns="0" rIns="0" tIns="0" bIns="0" anchor="ctr">
            <a:spAutoFit/>
          </a:bodyPr>
          <a:lstStyle/>
          <a:p>
            <a:pPr algn="l"/>
            <a:r>
              <a:rPr sz="1500" b="0">
                <a:solidFill>
                  <a:srgbClr val="00355F"/>
                </a:solidFill>
                <a:latin typeface="Arial"/>
              </a:rPr>
              <a:t>One experiment, one bit per molecule</a:t>
            </a:r>
          </a:p>
        </p:txBody>
      </p:sp>
      <p:sp xmlns:a="http://schemas.openxmlformats.org/drawingml/2006/main">
        <p:nvSpPr>
          <p:cNvPr id="12" name="Rectangle 11"/>
          <p:cNvSpPr/>
          <p:nvPr/>
        </p:nvSpPr>
        <p:spPr>
          <a:xfrm>
            <a:off x="1000125" y="3333750"/>
            <a:ext cx="5010150" cy="361950"/>
          </a:xfrm>
          <a:prstGeom prst="rect">
            <a:avLst/>
          </a:prstGeom>
          <a:solidFill>
            <a:srgbClr val="0035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3" name="TextBox 12"/>
          <p:cNvSpPr txBox="1"/>
          <p:nvPr/>
        </p:nvSpPr>
        <p:spPr>
          <a:xfrm>
            <a:off x="2409825" y="3409950"/>
            <a:ext cx="10477500" cy="222885"/>
          </a:xfrm>
          <a:prstGeom prst="rect">
            <a:avLst/>
          </a:prstGeom>
          <a:noFill/>
        </p:spPr>
        <p:txBody>
          <a:bodyPr wrap="none" lIns="0" rIns="0" tIns="0" bIns="0" anchor="ctr">
            <a:spAutoFit/>
          </a:bodyPr>
          <a:lstStyle/>
          <a:p>
            <a:pPr algn="ctr"/>
            <a:r>
              <a:rPr sz="1350" b="1">
                <a:solidFill>
                  <a:srgbClr val="FFFFFF"/>
                </a:solidFill>
                <a:latin typeface="Arial"/>
              </a:rPr>
              <a:t>Antibody</a:t>
            </a:r>
          </a:p>
        </p:txBody>
      </p:sp>
      <p:sp xmlns:a="http://schemas.openxmlformats.org/drawingml/2006/main">
        <p:nvSpPr>
          <p:cNvPr id="14" name="TextBox 13"/>
          <p:cNvSpPr txBox="1"/>
          <p:nvPr/>
        </p:nvSpPr>
        <p:spPr>
          <a:xfrm>
            <a:off x="4914900" y="3409950"/>
            <a:ext cx="10477500" cy="222885"/>
          </a:xfrm>
          <a:prstGeom prst="rect">
            <a:avLst/>
          </a:prstGeom>
          <a:noFill/>
        </p:spPr>
        <p:txBody>
          <a:bodyPr wrap="none" lIns="0" rIns="0" tIns="0" bIns="0" anchor="ctr">
            <a:spAutoFit/>
          </a:bodyPr>
          <a:lstStyle/>
          <a:p>
            <a:pPr algn="ctr"/>
            <a:r>
              <a:rPr sz="1350" b="1">
                <a:solidFill>
                  <a:srgbClr val="FFFFFF"/>
                </a:solidFill>
                <a:latin typeface="Arial"/>
              </a:rPr>
              <a:t>Binds?</a:t>
            </a:r>
          </a:p>
        </p:txBody>
      </p:sp>
      <p:sp xmlns:a="http://schemas.openxmlformats.org/drawingml/2006/main">
        <p:nvSpPr>
          <p:cNvPr id="15" name="Rectangle 14"/>
          <p:cNvSpPr/>
          <p:nvPr/>
        </p:nvSpPr>
        <p:spPr>
          <a:xfrm>
            <a:off x="1000125" y="3695700"/>
            <a:ext cx="5010150" cy="419100"/>
          </a:xfrm>
          <a:prstGeom prst="rect">
            <a:avLst/>
          </a:prstGeom>
          <a:solidFill>
            <a:srgbClr val="FFFFFF"/>
          </a:solidFill>
          <a:ln w="5714">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xmlns:a="http://schemas.openxmlformats.org/drawingml/2006/main">
        <p:nvCxnSpPr>
          <p:cNvPr id="16" name="Connector 15"/>
          <p:cNvCxnSpPr/>
          <p:nvPr/>
        </p:nvCxnSpPr>
        <p:spPr>
          <a:xfrm>
            <a:off x="3857625" y="3695700"/>
            <a:ext cx="0" cy="419100"/>
          </a:xfrm>
          <a:prstGeom prst="line">
            <a:avLst/>
          </a:prstGeom>
          <a:ln w="5714">
            <a:solidFill>
              <a:srgbClr val="A5A5A5"/>
            </a:solidFill>
          </a:ln>
          <a:effectLst/>
        </p:spPr>
        <p:style>
          <a:lnRef idx="2">
            <a:schemeClr val="accent1"/>
          </a:lnRef>
          <a:fillRef idx="0">
            <a:schemeClr val="accent1"/>
          </a:fillRef>
          <a:effectRef idx="1">
            <a:schemeClr val="accent1"/>
          </a:effectRef>
          <a:fontRef idx="minor">
            <a:schemeClr val="tx1"/>
          </a:fontRef>
        </p:style>
      </p:cxnSp>
      <p:sp xmlns:a="http://schemas.openxmlformats.org/drawingml/2006/main">
        <p:nvSpPr>
          <p:cNvPr id="17" name="TextBox 16"/>
          <p:cNvSpPr txBox="1"/>
          <p:nvPr/>
        </p:nvSpPr>
        <p:spPr>
          <a:xfrm>
            <a:off x="2409825" y="3790950"/>
            <a:ext cx="10477500" cy="222885"/>
          </a:xfrm>
          <a:prstGeom prst="rect">
            <a:avLst/>
          </a:prstGeom>
          <a:noFill/>
        </p:spPr>
        <p:txBody>
          <a:bodyPr wrap="none" lIns="0" rIns="0" tIns="0" bIns="0" anchor="ctr">
            <a:spAutoFit/>
          </a:bodyPr>
          <a:lstStyle/>
          <a:p>
            <a:pPr algn="ctr"/>
            <a:r>
              <a:rPr sz="1350" b="0">
                <a:solidFill>
                  <a:srgbClr val="00355F"/>
                </a:solidFill>
                <a:latin typeface="Arial"/>
              </a:rPr>
              <a:t>Ab-001</a:t>
            </a:r>
          </a:p>
        </p:txBody>
      </p:sp>
      <p:sp xmlns:a="http://schemas.openxmlformats.org/drawingml/2006/main">
        <p:nvSpPr>
          <p:cNvPr id="18" name="TextBox 17"/>
          <p:cNvSpPr txBox="1"/>
          <p:nvPr/>
        </p:nvSpPr>
        <p:spPr>
          <a:xfrm>
            <a:off x="4914900" y="3790950"/>
            <a:ext cx="10477500" cy="222885"/>
          </a:xfrm>
          <a:prstGeom prst="rect">
            <a:avLst/>
          </a:prstGeom>
          <a:noFill/>
        </p:spPr>
        <p:txBody>
          <a:bodyPr wrap="none" lIns="0" rIns="0" tIns="0" bIns="0" anchor="ctr">
            <a:spAutoFit/>
          </a:bodyPr>
          <a:lstStyle/>
          <a:p>
            <a:pPr algn="ctr"/>
            <a:r>
              <a:rPr sz="1350" b="0">
                <a:solidFill>
                  <a:srgbClr val="00355F"/>
                </a:solidFill>
                <a:latin typeface="Arial"/>
              </a:rPr>
              <a:t>Yes</a:t>
            </a:r>
          </a:p>
        </p:txBody>
      </p:sp>
      <p:sp xmlns:a="http://schemas.openxmlformats.org/drawingml/2006/main">
        <p:nvSpPr>
          <p:cNvPr id="19" name="Rectangle 18"/>
          <p:cNvSpPr/>
          <p:nvPr/>
        </p:nvSpPr>
        <p:spPr>
          <a:xfrm>
            <a:off x="1000125" y="4114800"/>
            <a:ext cx="5010150" cy="419100"/>
          </a:xfrm>
          <a:prstGeom prst="rect">
            <a:avLst/>
          </a:prstGeom>
          <a:solidFill>
            <a:srgbClr val="F4F9FD"/>
          </a:solidFill>
          <a:ln w="5714">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xmlns:a="http://schemas.openxmlformats.org/drawingml/2006/main">
        <p:nvCxnSpPr>
          <p:cNvPr id="20" name="Connector 19"/>
          <p:cNvCxnSpPr/>
          <p:nvPr/>
        </p:nvCxnSpPr>
        <p:spPr>
          <a:xfrm>
            <a:off x="3857625" y="4114800"/>
            <a:ext cx="0" cy="419100"/>
          </a:xfrm>
          <a:prstGeom prst="line">
            <a:avLst/>
          </a:prstGeom>
          <a:ln w="5714">
            <a:solidFill>
              <a:srgbClr val="A5A5A5"/>
            </a:solidFill>
          </a:ln>
          <a:effectLst/>
        </p:spPr>
        <p:style>
          <a:lnRef idx="2">
            <a:schemeClr val="accent1"/>
          </a:lnRef>
          <a:fillRef idx="0">
            <a:schemeClr val="accent1"/>
          </a:fillRef>
          <a:effectRef idx="1">
            <a:schemeClr val="accent1"/>
          </a:effectRef>
          <a:fontRef idx="minor">
            <a:schemeClr val="tx1"/>
          </a:fontRef>
        </p:style>
      </p:cxnSp>
      <p:sp xmlns:a="http://schemas.openxmlformats.org/drawingml/2006/main">
        <p:nvSpPr>
          <p:cNvPr id="21" name="TextBox 20"/>
          <p:cNvSpPr txBox="1"/>
          <p:nvPr/>
        </p:nvSpPr>
        <p:spPr>
          <a:xfrm>
            <a:off x="2409825" y="4210050"/>
            <a:ext cx="10477500" cy="222885"/>
          </a:xfrm>
          <a:prstGeom prst="rect">
            <a:avLst/>
          </a:prstGeom>
          <a:noFill/>
        </p:spPr>
        <p:txBody>
          <a:bodyPr wrap="none" lIns="0" rIns="0" tIns="0" bIns="0" anchor="ctr">
            <a:spAutoFit/>
          </a:bodyPr>
          <a:lstStyle/>
          <a:p>
            <a:pPr algn="ctr"/>
            <a:r>
              <a:rPr sz="1350" b="0">
                <a:solidFill>
                  <a:srgbClr val="00355F"/>
                </a:solidFill>
                <a:latin typeface="Arial"/>
              </a:rPr>
              <a:t>Ab-002</a:t>
            </a:r>
          </a:p>
        </p:txBody>
      </p:sp>
      <p:sp xmlns:a="http://schemas.openxmlformats.org/drawingml/2006/main">
        <p:nvSpPr>
          <p:cNvPr id="22" name="TextBox 21"/>
          <p:cNvSpPr txBox="1"/>
          <p:nvPr/>
        </p:nvSpPr>
        <p:spPr>
          <a:xfrm>
            <a:off x="4914900" y="4210050"/>
            <a:ext cx="10477500" cy="222885"/>
          </a:xfrm>
          <a:prstGeom prst="rect">
            <a:avLst/>
          </a:prstGeom>
          <a:noFill/>
        </p:spPr>
        <p:txBody>
          <a:bodyPr wrap="none" lIns="0" rIns="0" tIns="0" bIns="0" anchor="ctr">
            <a:spAutoFit/>
          </a:bodyPr>
          <a:lstStyle/>
          <a:p>
            <a:pPr algn="ctr"/>
            <a:r>
              <a:rPr sz="1350" b="0">
                <a:solidFill>
                  <a:srgbClr val="00355F"/>
                </a:solidFill>
                <a:latin typeface="Arial"/>
              </a:rPr>
              <a:t>No</a:t>
            </a:r>
          </a:p>
        </p:txBody>
      </p:sp>
      <p:sp xmlns:a="http://schemas.openxmlformats.org/drawingml/2006/main">
        <p:nvSpPr>
          <p:cNvPr id="23" name="Rectangle 22"/>
          <p:cNvSpPr/>
          <p:nvPr/>
        </p:nvSpPr>
        <p:spPr>
          <a:xfrm>
            <a:off x="1000125" y="4533900"/>
            <a:ext cx="5010150" cy="419100"/>
          </a:xfrm>
          <a:prstGeom prst="rect">
            <a:avLst/>
          </a:prstGeom>
          <a:solidFill>
            <a:srgbClr val="FFFFFF"/>
          </a:solidFill>
          <a:ln w="5714">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xmlns:a="http://schemas.openxmlformats.org/drawingml/2006/main">
        <p:nvCxnSpPr>
          <p:cNvPr id="24" name="Connector 23"/>
          <p:cNvCxnSpPr/>
          <p:nvPr/>
        </p:nvCxnSpPr>
        <p:spPr>
          <a:xfrm>
            <a:off x="3857625" y="4533900"/>
            <a:ext cx="0" cy="419100"/>
          </a:xfrm>
          <a:prstGeom prst="line">
            <a:avLst/>
          </a:prstGeom>
          <a:ln w="5714">
            <a:solidFill>
              <a:srgbClr val="A5A5A5"/>
            </a:solidFill>
          </a:ln>
          <a:effectLst/>
        </p:spPr>
        <p:style>
          <a:lnRef idx="2">
            <a:schemeClr val="accent1"/>
          </a:lnRef>
          <a:fillRef idx="0">
            <a:schemeClr val="accent1"/>
          </a:fillRef>
          <a:effectRef idx="1">
            <a:schemeClr val="accent1"/>
          </a:effectRef>
          <a:fontRef idx="minor">
            <a:schemeClr val="tx1"/>
          </a:fontRef>
        </p:style>
      </p:cxnSp>
      <p:sp xmlns:a="http://schemas.openxmlformats.org/drawingml/2006/main">
        <p:nvSpPr>
          <p:cNvPr id="25" name="TextBox 24"/>
          <p:cNvSpPr txBox="1"/>
          <p:nvPr/>
        </p:nvSpPr>
        <p:spPr>
          <a:xfrm>
            <a:off x="2409825" y="4629150"/>
            <a:ext cx="10477500" cy="222885"/>
          </a:xfrm>
          <a:prstGeom prst="rect">
            <a:avLst/>
          </a:prstGeom>
          <a:noFill/>
        </p:spPr>
        <p:txBody>
          <a:bodyPr wrap="none" lIns="0" rIns="0" tIns="0" bIns="0" anchor="ctr">
            <a:spAutoFit/>
          </a:bodyPr>
          <a:lstStyle/>
          <a:p>
            <a:pPr algn="ctr"/>
            <a:r>
              <a:rPr sz="1350" b="0">
                <a:solidFill>
                  <a:srgbClr val="00355F"/>
                </a:solidFill>
                <a:latin typeface="Arial"/>
              </a:rPr>
              <a:t>Ab-003</a:t>
            </a:r>
          </a:p>
        </p:txBody>
      </p:sp>
      <p:sp xmlns:a="http://schemas.openxmlformats.org/drawingml/2006/main">
        <p:nvSpPr>
          <p:cNvPr id="26" name="TextBox 25"/>
          <p:cNvSpPr txBox="1"/>
          <p:nvPr/>
        </p:nvSpPr>
        <p:spPr>
          <a:xfrm>
            <a:off x="4914900" y="4629150"/>
            <a:ext cx="10477500" cy="222885"/>
          </a:xfrm>
          <a:prstGeom prst="rect">
            <a:avLst/>
          </a:prstGeom>
          <a:noFill/>
        </p:spPr>
        <p:txBody>
          <a:bodyPr wrap="none" lIns="0" rIns="0" tIns="0" bIns="0" anchor="ctr">
            <a:spAutoFit/>
          </a:bodyPr>
          <a:lstStyle/>
          <a:p>
            <a:pPr algn="ctr"/>
            <a:r>
              <a:rPr sz="1350" b="0">
                <a:solidFill>
                  <a:srgbClr val="00355F"/>
                </a:solidFill>
                <a:latin typeface="Arial"/>
              </a:rPr>
              <a:t>Yes</a:t>
            </a:r>
          </a:p>
        </p:txBody>
      </p:sp>
      <p:sp xmlns:a="http://schemas.openxmlformats.org/drawingml/2006/main">
        <p:nvSpPr>
          <p:cNvPr id="27" name="Rectangle 26"/>
          <p:cNvSpPr/>
          <p:nvPr/>
        </p:nvSpPr>
        <p:spPr>
          <a:xfrm>
            <a:off x="1000125" y="4953000"/>
            <a:ext cx="5010150" cy="419100"/>
          </a:xfrm>
          <a:prstGeom prst="rect">
            <a:avLst/>
          </a:prstGeom>
          <a:solidFill>
            <a:srgbClr val="F4F9FD"/>
          </a:solidFill>
          <a:ln w="5714">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xmlns:a="http://schemas.openxmlformats.org/drawingml/2006/main">
        <p:nvCxnSpPr>
          <p:cNvPr id="28" name="Connector 27"/>
          <p:cNvCxnSpPr/>
          <p:nvPr/>
        </p:nvCxnSpPr>
        <p:spPr>
          <a:xfrm>
            <a:off x="3857625" y="4953000"/>
            <a:ext cx="0" cy="419100"/>
          </a:xfrm>
          <a:prstGeom prst="line">
            <a:avLst/>
          </a:prstGeom>
          <a:ln w="5714">
            <a:solidFill>
              <a:srgbClr val="A5A5A5"/>
            </a:solidFill>
          </a:ln>
          <a:effectLst/>
        </p:spPr>
        <p:style>
          <a:lnRef idx="2">
            <a:schemeClr val="accent1"/>
          </a:lnRef>
          <a:fillRef idx="0">
            <a:schemeClr val="accent1"/>
          </a:fillRef>
          <a:effectRef idx="1">
            <a:schemeClr val="accent1"/>
          </a:effectRef>
          <a:fontRef idx="minor">
            <a:schemeClr val="tx1"/>
          </a:fontRef>
        </p:style>
      </p:cxnSp>
      <p:sp xmlns:a="http://schemas.openxmlformats.org/drawingml/2006/main">
        <p:nvSpPr>
          <p:cNvPr id="29" name="TextBox 28"/>
          <p:cNvSpPr txBox="1"/>
          <p:nvPr/>
        </p:nvSpPr>
        <p:spPr>
          <a:xfrm>
            <a:off x="2409825" y="5048250"/>
            <a:ext cx="10477500" cy="222885"/>
          </a:xfrm>
          <a:prstGeom prst="rect">
            <a:avLst/>
          </a:prstGeom>
          <a:noFill/>
        </p:spPr>
        <p:txBody>
          <a:bodyPr wrap="none" lIns="0" rIns="0" tIns="0" bIns="0" anchor="ctr">
            <a:spAutoFit/>
          </a:bodyPr>
          <a:lstStyle/>
          <a:p>
            <a:pPr algn="ctr"/>
            <a:r>
              <a:rPr sz="1350" b="0">
                <a:solidFill>
                  <a:srgbClr val="00355F"/>
                </a:solidFill>
                <a:latin typeface="Arial"/>
              </a:rPr>
              <a:t>Ab-004</a:t>
            </a:r>
          </a:p>
        </p:txBody>
      </p:sp>
      <p:sp xmlns:a="http://schemas.openxmlformats.org/drawingml/2006/main">
        <p:nvSpPr>
          <p:cNvPr id="30" name="TextBox 29"/>
          <p:cNvSpPr txBox="1"/>
          <p:nvPr/>
        </p:nvSpPr>
        <p:spPr>
          <a:xfrm>
            <a:off x="4914900" y="5048250"/>
            <a:ext cx="10477500" cy="222885"/>
          </a:xfrm>
          <a:prstGeom prst="rect">
            <a:avLst/>
          </a:prstGeom>
          <a:noFill/>
        </p:spPr>
        <p:txBody>
          <a:bodyPr wrap="none" lIns="0" rIns="0" tIns="0" bIns="0" anchor="ctr">
            <a:spAutoFit/>
          </a:bodyPr>
          <a:lstStyle/>
          <a:p>
            <a:pPr algn="ctr"/>
            <a:r>
              <a:rPr sz="1350" b="0">
                <a:solidFill>
                  <a:srgbClr val="00355F"/>
                </a:solidFill>
                <a:latin typeface="Arial"/>
              </a:rPr>
              <a:t>Yes</a:t>
            </a:r>
          </a:p>
        </p:txBody>
      </p:sp>
      <p:sp xmlns:a="http://schemas.openxmlformats.org/drawingml/2006/main">
        <p:nvSpPr>
          <p:cNvPr id="31" name="Rectangle 30"/>
          <p:cNvSpPr/>
          <p:nvPr/>
        </p:nvSpPr>
        <p:spPr>
          <a:xfrm>
            <a:off x="1000125" y="5372100"/>
            <a:ext cx="5010150" cy="419100"/>
          </a:xfrm>
          <a:prstGeom prst="rect">
            <a:avLst/>
          </a:prstGeom>
          <a:solidFill>
            <a:srgbClr val="FFFFFF"/>
          </a:solidFill>
          <a:ln w="5714">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xmlns:a="http://schemas.openxmlformats.org/drawingml/2006/main">
        <p:nvCxnSpPr>
          <p:cNvPr id="32" name="Connector 31"/>
          <p:cNvCxnSpPr/>
          <p:nvPr/>
        </p:nvCxnSpPr>
        <p:spPr>
          <a:xfrm>
            <a:off x="3857625" y="5372100"/>
            <a:ext cx="0" cy="419100"/>
          </a:xfrm>
          <a:prstGeom prst="line">
            <a:avLst/>
          </a:prstGeom>
          <a:ln w="5714">
            <a:solidFill>
              <a:srgbClr val="A5A5A5"/>
            </a:solidFill>
          </a:ln>
          <a:effectLst/>
        </p:spPr>
        <p:style>
          <a:lnRef idx="2">
            <a:schemeClr val="accent1"/>
          </a:lnRef>
          <a:fillRef idx="0">
            <a:schemeClr val="accent1"/>
          </a:fillRef>
          <a:effectRef idx="1">
            <a:schemeClr val="accent1"/>
          </a:effectRef>
          <a:fontRef idx="minor">
            <a:schemeClr val="tx1"/>
          </a:fontRef>
        </p:style>
      </p:cxnSp>
      <p:sp xmlns:a="http://schemas.openxmlformats.org/drawingml/2006/main">
        <p:nvSpPr>
          <p:cNvPr id="33" name="TextBox 32"/>
          <p:cNvSpPr txBox="1"/>
          <p:nvPr/>
        </p:nvSpPr>
        <p:spPr>
          <a:xfrm>
            <a:off x="2409825" y="5467350"/>
            <a:ext cx="10477500" cy="222885"/>
          </a:xfrm>
          <a:prstGeom prst="rect">
            <a:avLst/>
          </a:prstGeom>
          <a:noFill/>
        </p:spPr>
        <p:txBody>
          <a:bodyPr wrap="none" lIns="0" rIns="0" tIns="0" bIns="0" anchor="ctr">
            <a:spAutoFit/>
          </a:bodyPr>
          <a:lstStyle/>
          <a:p>
            <a:pPr algn="ctr"/>
            <a:r>
              <a:rPr sz="1350" b="0">
                <a:solidFill>
                  <a:srgbClr val="00355F"/>
                </a:solidFill>
                <a:latin typeface="Arial"/>
              </a:rPr>
              <a:t>Ab-005</a:t>
            </a:r>
          </a:p>
        </p:txBody>
      </p:sp>
      <p:sp xmlns:a="http://schemas.openxmlformats.org/drawingml/2006/main">
        <p:nvSpPr>
          <p:cNvPr id="34" name="TextBox 33"/>
          <p:cNvSpPr txBox="1"/>
          <p:nvPr/>
        </p:nvSpPr>
        <p:spPr>
          <a:xfrm>
            <a:off x="4914900" y="5467350"/>
            <a:ext cx="10477500" cy="222885"/>
          </a:xfrm>
          <a:prstGeom prst="rect">
            <a:avLst/>
          </a:prstGeom>
          <a:noFill/>
        </p:spPr>
        <p:txBody>
          <a:bodyPr wrap="none" lIns="0" rIns="0" tIns="0" bIns="0" anchor="ctr">
            <a:spAutoFit/>
          </a:bodyPr>
          <a:lstStyle/>
          <a:p>
            <a:pPr algn="ctr"/>
            <a:r>
              <a:rPr sz="1350" b="0">
                <a:solidFill>
                  <a:srgbClr val="00355F"/>
                </a:solidFill>
                <a:latin typeface="Arial"/>
              </a:rPr>
              <a:t>No</a:t>
            </a:r>
          </a:p>
        </p:txBody>
      </p:sp>
      <p:sp xmlns:a="http://schemas.openxmlformats.org/drawingml/2006/main">
        <p:nvSpPr>
          <p:cNvPr id="35" name="Rectangle 34"/>
          <p:cNvSpPr/>
          <p:nvPr/>
        </p:nvSpPr>
        <p:spPr>
          <a:xfrm>
            <a:off x="1000125" y="5791200"/>
            <a:ext cx="5010150" cy="419100"/>
          </a:xfrm>
          <a:prstGeom prst="rect">
            <a:avLst/>
          </a:prstGeom>
          <a:solidFill>
            <a:srgbClr val="F4F9FD"/>
          </a:solidFill>
          <a:ln w="5714">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xmlns:a="http://schemas.openxmlformats.org/drawingml/2006/main">
        <p:nvCxnSpPr>
          <p:cNvPr id="36" name="Connector 35"/>
          <p:cNvCxnSpPr/>
          <p:nvPr/>
        </p:nvCxnSpPr>
        <p:spPr>
          <a:xfrm>
            <a:off x="3857625" y="5791200"/>
            <a:ext cx="0" cy="419100"/>
          </a:xfrm>
          <a:prstGeom prst="line">
            <a:avLst/>
          </a:prstGeom>
          <a:ln w="5714">
            <a:solidFill>
              <a:srgbClr val="A5A5A5"/>
            </a:solidFill>
          </a:ln>
          <a:effectLst/>
        </p:spPr>
        <p:style>
          <a:lnRef idx="2">
            <a:schemeClr val="accent1"/>
          </a:lnRef>
          <a:fillRef idx="0">
            <a:schemeClr val="accent1"/>
          </a:fillRef>
          <a:effectRef idx="1">
            <a:schemeClr val="accent1"/>
          </a:effectRef>
          <a:fontRef idx="minor">
            <a:schemeClr val="tx1"/>
          </a:fontRef>
        </p:style>
      </p:cxnSp>
      <p:sp xmlns:a="http://schemas.openxmlformats.org/drawingml/2006/main">
        <p:nvSpPr>
          <p:cNvPr id="37" name="TextBox 36"/>
          <p:cNvSpPr txBox="1"/>
          <p:nvPr/>
        </p:nvSpPr>
        <p:spPr>
          <a:xfrm>
            <a:off x="2409825" y="5886450"/>
            <a:ext cx="10477500" cy="222885"/>
          </a:xfrm>
          <a:prstGeom prst="rect">
            <a:avLst/>
          </a:prstGeom>
          <a:noFill/>
        </p:spPr>
        <p:txBody>
          <a:bodyPr wrap="none" lIns="0" rIns="0" tIns="0" bIns="0" anchor="ctr">
            <a:spAutoFit/>
          </a:bodyPr>
          <a:lstStyle/>
          <a:p>
            <a:pPr algn="ctr"/>
            <a:r>
              <a:rPr sz="1350" b="0">
                <a:solidFill>
                  <a:srgbClr val="00355F"/>
                </a:solidFill>
                <a:latin typeface="Arial"/>
              </a:rPr>
              <a:t>Ab-006</a:t>
            </a:r>
          </a:p>
        </p:txBody>
      </p:sp>
      <p:sp xmlns:a="http://schemas.openxmlformats.org/drawingml/2006/main">
        <p:nvSpPr>
          <p:cNvPr id="38" name="TextBox 37"/>
          <p:cNvSpPr txBox="1"/>
          <p:nvPr/>
        </p:nvSpPr>
        <p:spPr>
          <a:xfrm>
            <a:off x="4914900" y="5886450"/>
            <a:ext cx="10477500" cy="222885"/>
          </a:xfrm>
          <a:prstGeom prst="rect">
            <a:avLst/>
          </a:prstGeom>
          <a:noFill/>
        </p:spPr>
        <p:txBody>
          <a:bodyPr wrap="none" lIns="0" rIns="0" tIns="0" bIns="0" anchor="ctr">
            <a:spAutoFit/>
          </a:bodyPr>
          <a:lstStyle/>
          <a:p>
            <a:pPr algn="ctr"/>
            <a:r>
              <a:rPr sz="1350" b="0">
                <a:solidFill>
                  <a:srgbClr val="00355F"/>
                </a:solidFill>
                <a:latin typeface="Arial"/>
              </a:rPr>
              <a:t>Yes</a:t>
            </a:r>
          </a:p>
        </p:txBody>
      </p:sp>
      <p:sp xmlns:a="http://schemas.openxmlformats.org/drawingml/2006/main">
        <p:nvSpPr>
          <p:cNvPr id="39" name="TextBox 38"/>
          <p:cNvSpPr txBox="1"/>
          <p:nvPr/>
        </p:nvSpPr>
        <p:spPr>
          <a:xfrm>
            <a:off x="981075" y="6276975"/>
            <a:ext cx="10477500" cy="210502"/>
          </a:xfrm>
          <a:prstGeom prst="rect">
            <a:avLst/>
          </a:prstGeom>
          <a:noFill/>
        </p:spPr>
        <p:txBody>
          <a:bodyPr wrap="none" lIns="0" rIns="0" tIns="0" bIns="0" anchor="ctr">
            <a:spAutoFit/>
          </a:bodyPr>
          <a:lstStyle/>
          <a:p>
            <a:pPr algn="l"/>
            <a:r>
              <a:rPr sz="1275" b="1">
                <a:solidFill>
                  <a:srgbClr val="00355F"/>
                </a:solidFill>
                <a:latin typeface="Arial"/>
              </a:rPr>
              <a:t>What the model learns: will it bind</a:t>
            </a:r>
          </a:p>
        </p:txBody>
      </p:sp>
      <p:sp xmlns:a="http://schemas.openxmlformats.org/drawingml/2006/main">
        <p:nvSpPr>
          <p:cNvPr id="40" name="TextBox 39"/>
          <p:cNvSpPr txBox="1"/>
          <p:nvPr/>
        </p:nvSpPr>
        <p:spPr>
          <a:xfrm>
            <a:off x="981075" y="6519862"/>
            <a:ext cx="10477500" cy="191929"/>
          </a:xfrm>
          <a:prstGeom prst="rect">
            <a:avLst/>
          </a:prstGeom>
          <a:noFill/>
        </p:spPr>
        <p:txBody>
          <a:bodyPr wrap="none" lIns="0" rIns="0" tIns="0" bIns="0" anchor="ctr">
            <a:spAutoFit/>
          </a:bodyPr>
          <a:lstStyle/>
          <a:p>
            <a:pPr algn="l"/>
            <a:r>
              <a:rPr sz="1162" b="0">
                <a:solidFill>
                  <a:srgbClr val="33475B"/>
                </a:solidFill>
                <a:latin typeface="Arial"/>
              </a:rPr>
              <a:t>Everything else — stability, potency, manufacturability — is a guess</a:t>
            </a:r>
          </a:p>
        </p:txBody>
      </p:sp>
      <p:sp xmlns:a="http://schemas.openxmlformats.org/drawingml/2006/main">
        <p:nvSpPr>
          <p:cNvPr id="41" name="Rounded Rectangle 40"/>
          <p:cNvSpPr/>
          <p:nvPr/>
        </p:nvSpPr>
        <p:spPr>
          <a:xfrm>
            <a:off x="6972300" y="2124075"/>
            <a:ext cx="10629900" cy="4714875"/>
          </a:xfrm>
          <a:prstGeom prst="roundRect">
            <a:avLst>
              <a:gd name="adj" fmla="val 5656"/>
            </a:avLst>
          </a:prstGeom>
          <a:solidFill>
            <a:srgbClr val="EEF6FC"/>
          </a:solidFill>
          <a:ln w="9525">
            <a:solidFill>
              <a:srgbClr val="7399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2" name="TextBox 41"/>
          <p:cNvSpPr txBox="1"/>
          <p:nvPr/>
        </p:nvSpPr>
        <p:spPr>
          <a:xfrm>
            <a:off x="7267575" y="2286000"/>
            <a:ext cx="10477500" cy="309562"/>
          </a:xfrm>
          <a:prstGeom prst="rect">
            <a:avLst/>
          </a:prstGeom>
          <a:noFill/>
        </p:spPr>
        <p:txBody>
          <a:bodyPr wrap="none" lIns="0" rIns="0" tIns="0" bIns="0" anchor="ctr">
            <a:spAutoFit/>
          </a:bodyPr>
          <a:lstStyle/>
          <a:p>
            <a:pPr algn="l"/>
            <a:r>
              <a:rPr sz="1875" b="1">
                <a:solidFill>
                  <a:srgbClr val="00355F"/>
                </a:solidFill>
                <a:latin typeface="Arial"/>
              </a:rPr>
              <a:t>AI: richer, linked training data</a:t>
            </a:r>
          </a:p>
        </p:txBody>
      </p:sp>
      <p:sp xmlns:a="http://schemas.openxmlformats.org/drawingml/2006/main">
        <p:nvSpPr>
          <p:cNvPr id="43" name="TextBox 42"/>
          <p:cNvSpPr txBox="1"/>
          <p:nvPr/>
        </p:nvSpPr>
        <p:spPr>
          <a:xfrm>
            <a:off x="7267575" y="2600325"/>
            <a:ext cx="10477500" cy="371475"/>
          </a:xfrm>
          <a:prstGeom prst="rect">
            <a:avLst/>
          </a:prstGeom>
          <a:noFill/>
        </p:spPr>
        <p:txBody>
          <a:bodyPr wrap="none" lIns="0" rIns="0" tIns="0" bIns="0" anchor="ctr">
            <a:spAutoFit/>
          </a:bodyPr>
          <a:lstStyle/>
          <a:p>
            <a:pPr algn="l"/>
            <a:r>
              <a:rPr sz="2250" b="1">
                <a:solidFill>
                  <a:srgbClr val="00355F"/>
                </a:solidFill>
                <a:latin typeface="Arial"/>
              </a:rPr>
              <a:t>1,000 antibodies × 9 label types</a:t>
            </a:r>
          </a:p>
        </p:txBody>
      </p:sp>
      <p:sp xmlns:a="http://schemas.openxmlformats.org/drawingml/2006/main">
        <p:nvSpPr>
          <p:cNvPr id="44" name="TextBox 43"/>
          <p:cNvSpPr txBox="1"/>
          <p:nvPr/>
        </p:nvSpPr>
        <p:spPr>
          <a:xfrm>
            <a:off x="7267575" y="2962275"/>
            <a:ext cx="10477500" cy="247650"/>
          </a:xfrm>
          <a:prstGeom prst="rect">
            <a:avLst/>
          </a:prstGeom>
          <a:noFill/>
        </p:spPr>
        <p:txBody>
          <a:bodyPr wrap="none" lIns="0" rIns="0" tIns="0" bIns="0" anchor="ctr">
            <a:spAutoFit/>
          </a:bodyPr>
          <a:lstStyle/>
          <a:p>
            <a:pPr algn="l"/>
            <a:r>
              <a:rPr sz="1500" b="0">
                <a:solidFill>
                  <a:srgbClr val="00355F"/>
                </a:solidFill>
                <a:latin typeface="Arial"/>
              </a:rPr>
              <a:t>Same wet-lab campaign — nine measured properties per molecule</a:t>
            </a:r>
          </a:p>
        </p:txBody>
      </p:sp>
      <p:sp xmlns:a="http://schemas.openxmlformats.org/drawingml/2006/main">
        <p:nvSpPr>
          <p:cNvPr id="45" name="Rectangle 44"/>
          <p:cNvSpPr/>
          <p:nvPr/>
        </p:nvSpPr>
        <p:spPr>
          <a:xfrm>
            <a:off x="7286625" y="3333750"/>
            <a:ext cx="10001250" cy="361950"/>
          </a:xfrm>
          <a:prstGeom prst="rect">
            <a:avLst/>
          </a:prstGeom>
          <a:solidFill>
            <a:srgbClr val="0035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6" name="TextBox 45"/>
          <p:cNvSpPr txBox="1"/>
          <p:nvPr/>
        </p:nvSpPr>
        <p:spPr>
          <a:xfrm>
            <a:off x="7981950" y="3409950"/>
            <a:ext cx="10477500" cy="222885"/>
          </a:xfrm>
          <a:prstGeom prst="rect">
            <a:avLst/>
          </a:prstGeom>
          <a:noFill/>
        </p:spPr>
        <p:txBody>
          <a:bodyPr wrap="none" lIns="0" rIns="0" tIns="0" bIns="0" anchor="ctr">
            <a:spAutoFit/>
          </a:bodyPr>
          <a:lstStyle/>
          <a:p>
            <a:pPr algn="ctr"/>
            <a:r>
              <a:rPr sz="1350" b="1">
                <a:solidFill>
                  <a:srgbClr val="FFFFFF"/>
                </a:solidFill>
                <a:latin typeface="Arial"/>
              </a:rPr>
              <a:t>Antibody</a:t>
            </a:r>
          </a:p>
        </p:txBody>
      </p:sp>
      <p:sp xmlns:a="http://schemas.openxmlformats.org/drawingml/2006/main">
        <p:nvSpPr>
          <p:cNvPr id="47" name="TextBox 46"/>
          <p:cNvSpPr txBox="1"/>
          <p:nvPr/>
        </p:nvSpPr>
        <p:spPr>
          <a:xfrm>
            <a:off x="9172575" y="3409950"/>
            <a:ext cx="10477500" cy="222885"/>
          </a:xfrm>
          <a:prstGeom prst="rect">
            <a:avLst/>
          </a:prstGeom>
          <a:noFill/>
        </p:spPr>
        <p:txBody>
          <a:bodyPr wrap="none" lIns="0" rIns="0" tIns="0" bIns="0" anchor="ctr">
            <a:spAutoFit/>
          </a:bodyPr>
          <a:lstStyle/>
          <a:p>
            <a:pPr algn="ctr"/>
            <a:r>
              <a:rPr sz="1350" b="1">
                <a:solidFill>
                  <a:srgbClr val="FFFFFF"/>
                </a:solidFill>
                <a:latin typeface="Arial"/>
              </a:rPr>
              <a:t>KD</a:t>
            </a:r>
          </a:p>
        </p:txBody>
      </p:sp>
      <p:sp xmlns:a="http://schemas.openxmlformats.org/drawingml/2006/main">
        <p:nvSpPr>
          <p:cNvPr id="48" name="TextBox 47"/>
          <p:cNvSpPr txBox="1"/>
          <p:nvPr/>
        </p:nvSpPr>
        <p:spPr>
          <a:xfrm>
            <a:off x="10125075" y="3409950"/>
            <a:ext cx="10477500" cy="222885"/>
          </a:xfrm>
          <a:prstGeom prst="rect">
            <a:avLst/>
          </a:prstGeom>
          <a:noFill/>
        </p:spPr>
        <p:txBody>
          <a:bodyPr wrap="none" lIns="0" rIns="0" tIns="0" bIns="0" anchor="ctr">
            <a:spAutoFit/>
          </a:bodyPr>
          <a:lstStyle/>
          <a:p>
            <a:pPr algn="ctr"/>
            <a:r>
              <a:rPr sz="1350" b="1">
                <a:solidFill>
                  <a:srgbClr val="FFFFFF"/>
                </a:solidFill>
                <a:latin typeface="Arial"/>
              </a:rPr>
              <a:t>kon</a:t>
            </a:r>
          </a:p>
        </p:txBody>
      </p:sp>
      <p:sp xmlns:a="http://schemas.openxmlformats.org/drawingml/2006/main">
        <p:nvSpPr>
          <p:cNvPr id="49" name="TextBox 48"/>
          <p:cNvSpPr txBox="1"/>
          <p:nvPr/>
        </p:nvSpPr>
        <p:spPr>
          <a:xfrm>
            <a:off x="11077575" y="3409950"/>
            <a:ext cx="10477500" cy="222885"/>
          </a:xfrm>
          <a:prstGeom prst="rect">
            <a:avLst/>
          </a:prstGeom>
          <a:noFill/>
        </p:spPr>
        <p:txBody>
          <a:bodyPr wrap="none" lIns="0" rIns="0" tIns="0" bIns="0" anchor="ctr">
            <a:spAutoFit/>
          </a:bodyPr>
          <a:lstStyle/>
          <a:p>
            <a:pPr algn="ctr"/>
            <a:r>
              <a:rPr sz="1350" b="1">
                <a:solidFill>
                  <a:srgbClr val="FFFFFF"/>
                </a:solidFill>
                <a:latin typeface="Arial"/>
              </a:rPr>
              <a:t>koff</a:t>
            </a:r>
          </a:p>
        </p:txBody>
      </p:sp>
      <p:sp xmlns:a="http://schemas.openxmlformats.org/drawingml/2006/main">
        <p:nvSpPr>
          <p:cNvPr id="50" name="TextBox 49"/>
          <p:cNvSpPr txBox="1"/>
          <p:nvPr/>
        </p:nvSpPr>
        <p:spPr>
          <a:xfrm>
            <a:off x="12030075" y="3409950"/>
            <a:ext cx="10477500" cy="222885"/>
          </a:xfrm>
          <a:prstGeom prst="rect">
            <a:avLst/>
          </a:prstGeom>
          <a:noFill/>
        </p:spPr>
        <p:txBody>
          <a:bodyPr wrap="none" lIns="0" rIns="0" tIns="0" bIns="0" anchor="ctr">
            <a:spAutoFit/>
          </a:bodyPr>
          <a:lstStyle/>
          <a:p>
            <a:pPr algn="ctr"/>
            <a:r>
              <a:rPr sz="1350" b="1">
                <a:solidFill>
                  <a:srgbClr val="FFFFFF"/>
                </a:solidFill>
                <a:latin typeface="Arial"/>
              </a:rPr>
              <a:t>expr</a:t>
            </a:r>
          </a:p>
        </p:txBody>
      </p:sp>
      <p:sp xmlns:a="http://schemas.openxmlformats.org/drawingml/2006/main">
        <p:nvSpPr>
          <p:cNvPr id="51" name="TextBox 50"/>
          <p:cNvSpPr txBox="1"/>
          <p:nvPr/>
        </p:nvSpPr>
        <p:spPr>
          <a:xfrm>
            <a:off x="12982575" y="3409950"/>
            <a:ext cx="10477500" cy="222885"/>
          </a:xfrm>
          <a:prstGeom prst="rect">
            <a:avLst/>
          </a:prstGeom>
          <a:noFill/>
        </p:spPr>
        <p:txBody>
          <a:bodyPr wrap="none" lIns="0" rIns="0" tIns="0" bIns="0" anchor="ctr">
            <a:spAutoFit/>
          </a:bodyPr>
          <a:lstStyle/>
          <a:p>
            <a:pPr algn="ctr"/>
            <a:r>
              <a:rPr sz="1350" b="1">
                <a:solidFill>
                  <a:srgbClr val="FFFFFF"/>
                </a:solidFill>
                <a:latin typeface="Arial"/>
              </a:rPr>
              <a:t>Tm</a:t>
            </a:r>
          </a:p>
        </p:txBody>
      </p:sp>
      <p:sp xmlns:a="http://schemas.openxmlformats.org/drawingml/2006/main">
        <p:nvSpPr>
          <p:cNvPr id="52" name="TextBox 51"/>
          <p:cNvSpPr txBox="1"/>
          <p:nvPr/>
        </p:nvSpPr>
        <p:spPr>
          <a:xfrm>
            <a:off x="13935075" y="3409950"/>
            <a:ext cx="10477500" cy="222885"/>
          </a:xfrm>
          <a:prstGeom prst="rect">
            <a:avLst/>
          </a:prstGeom>
          <a:noFill/>
        </p:spPr>
        <p:txBody>
          <a:bodyPr wrap="none" lIns="0" rIns="0" tIns="0" bIns="0" anchor="ctr">
            <a:spAutoFit/>
          </a:bodyPr>
          <a:lstStyle/>
          <a:p>
            <a:pPr algn="ctr"/>
            <a:r>
              <a:rPr sz="1350" b="1">
                <a:solidFill>
                  <a:srgbClr val="FFFFFF"/>
                </a:solidFill>
                <a:latin typeface="Arial"/>
              </a:rPr>
              <a:t>agg</a:t>
            </a:r>
          </a:p>
        </p:txBody>
      </p:sp>
      <p:sp xmlns:a="http://schemas.openxmlformats.org/drawingml/2006/main">
        <p:nvSpPr>
          <p:cNvPr id="53" name="TextBox 52"/>
          <p:cNvSpPr txBox="1"/>
          <p:nvPr/>
        </p:nvSpPr>
        <p:spPr>
          <a:xfrm>
            <a:off x="14887575" y="3409950"/>
            <a:ext cx="10477500" cy="222885"/>
          </a:xfrm>
          <a:prstGeom prst="rect">
            <a:avLst/>
          </a:prstGeom>
          <a:noFill/>
        </p:spPr>
        <p:txBody>
          <a:bodyPr wrap="none" lIns="0" rIns="0" tIns="0" bIns="0" anchor="ctr">
            <a:spAutoFit/>
          </a:bodyPr>
          <a:lstStyle/>
          <a:p>
            <a:pPr algn="ctr"/>
            <a:r>
              <a:rPr sz="1350" b="1">
                <a:solidFill>
                  <a:srgbClr val="FFFFFF"/>
                </a:solidFill>
                <a:latin typeface="Arial"/>
              </a:rPr>
              <a:t>poly</a:t>
            </a:r>
          </a:p>
        </p:txBody>
      </p:sp>
      <p:sp xmlns:a="http://schemas.openxmlformats.org/drawingml/2006/main">
        <p:nvSpPr>
          <p:cNvPr id="54" name="TextBox 53"/>
          <p:cNvSpPr txBox="1"/>
          <p:nvPr/>
        </p:nvSpPr>
        <p:spPr>
          <a:xfrm>
            <a:off x="15840075" y="3409950"/>
            <a:ext cx="10477500" cy="222885"/>
          </a:xfrm>
          <a:prstGeom prst="rect">
            <a:avLst/>
          </a:prstGeom>
          <a:noFill/>
        </p:spPr>
        <p:txBody>
          <a:bodyPr wrap="none" lIns="0" rIns="0" tIns="0" bIns="0" anchor="ctr">
            <a:spAutoFit/>
          </a:bodyPr>
          <a:lstStyle/>
          <a:p>
            <a:pPr algn="ctr"/>
            <a:r>
              <a:rPr sz="1350" b="1">
                <a:solidFill>
                  <a:srgbClr val="FFFFFF"/>
                </a:solidFill>
                <a:latin typeface="Arial"/>
              </a:rPr>
              <a:t>epi</a:t>
            </a:r>
          </a:p>
        </p:txBody>
      </p:sp>
      <p:sp xmlns:a="http://schemas.openxmlformats.org/drawingml/2006/main">
        <p:nvSpPr>
          <p:cNvPr id="55" name="TextBox 54"/>
          <p:cNvSpPr txBox="1"/>
          <p:nvPr/>
        </p:nvSpPr>
        <p:spPr>
          <a:xfrm>
            <a:off x="16792575" y="3409950"/>
            <a:ext cx="10477500" cy="222885"/>
          </a:xfrm>
          <a:prstGeom prst="rect">
            <a:avLst/>
          </a:prstGeom>
          <a:noFill/>
        </p:spPr>
        <p:txBody>
          <a:bodyPr wrap="none" lIns="0" rIns="0" tIns="0" bIns="0" anchor="ctr">
            <a:spAutoFit/>
          </a:bodyPr>
          <a:lstStyle/>
          <a:p>
            <a:pPr algn="ctr"/>
            <a:r>
              <a:rPr sz="1350" b="1">
                <a:solidFill>
                  <a:srgbClr val="FFFFFF"/>
                </a:solidFill>
                <a:latin typeface="Arial"/>
              </a:rPr>
              <a:t>cell</a:t>
            </a:r>
          </a:p>
        </p:txBody>
      </p:sp>
      <p:sp xmlns:a="http://schemas.openxmlformats.org/drawingml/2006/main">
        <p:nvSpPr>
          <p:cNvPr id="56" name="Rectangle 55"/>
          <p:cNvSpPr/>
          <p:nvPr/>
        </p:nvSpPr>
        <p:spPr>
          <a:xfrm>
            <a:off x="7286625" y="3695700"/>
            <a:ext cx="1428750" cy="419100"/>
          </a:xfrm>
          <a:prstGeom prst="rect">
            <a:avLst/>
          </a:prstGeom>
          <a:solidFill>
            <a:srgbClr val="FFFFFF"/>
          </a:solidFill>
          <a:ln w="5714">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57" name="TextBox 56"/>
          <p:cNvSpPr txBox="1"/>
          <p:nvPr/>
        </p:nvSpPr>
        <p:spPr>
          <a:xfrm>
            <a:off x="7981950" y="3790950"/>
            <a:ext cx="10477500" cy="222885"/>
          </a:xfrm>
          <a:prstGeom prst="rect">
            <a:avLst/>
          </a:prstGeom>
          <a:noFill/>
        </p:spPr>
        <p:txBody>
          <a:bodyPr wrap="none" lIns="0" rIns="0" tIns="0" bIns="0" anchor="ctr">
            <a:spAutoFit/>
          </a:bodyPr>
          <a:lstStyle/>
          <a:p>
            <a:pPr algn="ctr"/>
            <a:r>
              <a:rPr sz="1350" b="0">
                <a:solidFill>
                  <a:srgbClr val="00355F"/>
                </a:solidFill>
                <a:latin typeface="Arial"/>
              </a:rPr>
              <a:t>Ab-001</a:t>
            </a:r>
          </a:p>
        </p:txBody>
      </p:sp>
      <p:sp xmlns:a="http://schemas.openxmlformats.org/drawingml/2006/main">
        <p:nvSpPr>
          <p:cNvPr id="58" name="Rectangle 57"/>
          <p:cNvSpPr/>
          <p:nvPr/>
        </p:nvSpPr>
        <p:spPr>
          <a:xfrm>
            <a:off x="8715375" y="3695700"/>
            <a:ext cx="952500" cy="419100"/>
          </a:xfrm>
          <a:prstGeom prst="rect">
            <a:avLst/>
          </a:prstGeom>
          <a:solidFill>
            <a:srgbClr val="537D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59" name="TextBox 58"/>
          <p:cNvSpPr txBox="1"/>
          <p:nvPr/>
        </p:nvSpPr>
        <p:spPr>
          <a:xfrm>
            <a:off x="9172575" y="3810000"/>
            <a:ext cx="10477500" cy="198120"/>
          </a:xfrm>
          <a:prstGeom prst="rect">
            <a:avLst/>
          </a:prstGeom>
          <a:noFill/>
        </p:spPr>
        <p:txBody>
          <a:bodyPr wrap="none" lIns="0" rIns="0" tIns="0" bIns="0" anchor="ctr">
            <a:spAutoFit/>
          </a:bodyPr>
          <a:lstStyle/>
          <a:p>
            <a:pPr algn="ctr"/>
            <a:r>
              <a:rPr sz="1200" b="0">
                <a:solidFill>
                  <a:srgbClr val="FFFFFF"/>
                </a:solidFill>
                <a:latin typeface="Arial"/>
              </a:rPr>
              <a:t>0.82</a:t>
            </a:r>
          </a:p>
        </p:txBody>
      </p:sp>
      <p:sp xmlns:a="http://schemas.openxmlformats.org/drawingml/2006/main">
        <p:nvSpPr>
          <p:cNvPr id="60" name="Rectangle 59"/>
          <p:cNvSpPr/>
          <p:nvPr/>
        </p:nvSpPr>
        <p:spPr>
          <a:xfrm>
            <a:off x="9667875" y="3695700"/>
            <a:ext cx="952500" cy="419100"/>
          </a:xfrm>
          <a:prstGeom prst="rect">
            <a:avLst/>
          </a:prstGeom>
          <a:solidFill>
            <a:srgbClr val="88A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61" name="TextBox 60"/>
          <p:cNvSpPr txBox="1"/>
          <p:nvPr/>
        </p:nvSpPr>
        <p:spPr>
          <a:xfrm>
            <a:off x="10125075" y="3810000"/>
            <a:ext cx="10477500" cy="198120"/>
          </a:xfrm>
          <a:prstGeom prst="rect">
            <a:avLst/>
          </a:prstGeom>
          <a:noFill/>
        </p:spPr>
        <p:txBody>
          <a:bodyPr wrap="none" lIns="0" rIns="0" tIns="0" bIns="0" anchor="ctr">
            <a:spAutoFit/>
          </a:bodyPr>
          <a:lstStyle/>
          <a:p>
            <a:pPr algn="ctr"/>
            <a:r>
              <a:rPr sz="1200" b="0">
                <a:solidFill>
                  <a:srgbClr val="FFFFFF"/>
                </a:solidFill>
                <a:latin typeface="Arial"/>
              </a:rPr>
              <a:t>0.64</a:t>
            </a:r>
          </a:p>
        </p:txBody>
      </p:sp>
      <p:sp xmlns:a="http://schemas.openxmlformats.org/drawingml/2006/main">
        <p:nvSpPr>
          <p:cNvPr id="62" name="Rectangle 61"/>
          <p:cNvSpPr/>
          <p:nvPr/>
        </p:nvSpPr>
        <p:spPr>
          <a:xfrm>
            <a:off x="10620375" y="3695700"/>
            <a:ext cx="952500" cy="419100"/>
          </a:xfrm>
          <a:prstGeom prst="rect">
            <a:avLst/>
          </a:prstGeom>
          <a:solidFill>
            <a:srgbClr val="7BA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63" name="TextBox 62"/>
          <p:cNvSpPr txBox="1"/>
          <p:nvPr/>
        </p:nvSpPr>
        <p:spPr>
          <a:xfrm>
            <a:off x="11077575" y="3810000"/>
            <a:ext cx="10477500" cy="198120"/>
          </a:xfrm>
          <a:prstGeom prst="rect">
            <a:avLst/>
          </a:prstGeom>
          <a:noFill/>
        </p:spPr>
        <p:txBody>
          <a:bodyPr wrap="none" lIns="0" rIns="0" tIns="0" bIns="0" anchor="ctr">
            <a:spAutoFit/>
          </a:bodyPr>
          <a:lstStyle/>
          <a:p>
            <a:pPr algn="ctr"/>
            <a:r>
              <a:rPr sz="1200" b="0">
                <a:solidFill>
                  <a:srgbClr val="FFFFFF"/>
                </a:solidFill>
                <a:latin typeface="Arial"/>
              </a:rPr>
              <a:t>0.71</a:t>
            </a:r>
          </a:p>
        </p:txBody>
      </p:sp>
      <p:sp xmlns:a="http://schemas.openxmlformats.org/drawingml/2006/main">
        <p:nvSpPr>
          <p:cNvPr id="64" name="Rectangle 63"/>
          <p:cNvSpPr/>
          <p:nvPr/>
        </p:nvSpPr>
        <p:spPr>
          <a:xfrm>
            <a:off x="11572875" y="3695700"/>
            <a:ext cx="952500" cy="419100"/>
          </a:xfrm>
          <a:prstGeom prst="rect">
            <a:avLst/>
          </a:prstGeom>
          <a:solidFill>
            <a:srgbClr val="99C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65" name="TextBox 64"/>
          <p:cNvSpPr txBox="1"/>
          <p:nvPr/>
        </p:nvSpPr>
        <p:spPr>
          <a:xfrm>
            <a:off x="12030075" y="3810000"/>
            <a:ext cx="10477500" cy="198120"/>
          </a:xfrm>
          <a:prstGeom prst="rect">
            <a:avLst/>
          </a:prstGeom>
          <a:noFill/>
        </p:spPr>
        <p:txBody>
          <a:bodyPr wrap="none" lIns="0" rIns="0" tIns="0" bIns="0" anchor="ctr">
            <a:spAutoFit/>
          </a:bodyPr>
          <a:lstStyle/>
          <a:p>
            <a:pPr algn="ctr"/>
            <a:r>
              <a:rPr sz="1200" b="0">
                <a:solidFill>
                  <a:srgbClr val="00355F"/>
                </a:solidFill>
                <a:latin typeface="Arial"/>
              </a:rPr>
              <a:t>0.55</a:t>
            </a:r>
          </a:p>
        </p:txBody>
      </p:sp>
      <p:sp xmlns:a="http://schemas.openxmlformats.org/drawingml/2006/main">
        <p:nvSpPr>
          <p:cNvPr id="66" name="Rectangle 65"/>
          <p:cNvSpPr/>
          <p:nvPr/>
        </p:nvSpPr>
        <p:spPr>
          <a:xfrm>
            <a:off x="12525375" y="3695700"/>
            <a:ext cx="952500" cy="419100"/>
          </a:xfrm>
          <a:prstGeom prst="rect">
            <a:avLst/>
          </a:prstGeom>
          <a:solidFill>
            <a:srgbClr val="A6CE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67" name="TextBox 66"/>
          <p:cNvSpPr txBox="1"/>
          <p:nvPr/>
        </p:nvSpPr>
        <p:spPr>
          <a:xfrm>
            <a:off x="12982575" y="3810000"/>
            <a:ext cx="10477500" cy="198120"/>
          </a:xfrm>
          <a:prstGeom prst="rect">
            <a:avLst/>
          </a:prstGeom>
          <a:noFill/>
        </p:spPr>
        <p:txBody>
          <a:bodyPr wrap="none" lIns="0" rIns="0" tIns="0" bIns="0" anchor="ctr">
            <a:spAutoFit/>
          </a:bodyPr>
          <a:lstStyle/>
          <a:p>
            <a:pPr algn="ctr"/>
            <a:r>
              <a:rPr sz="1200" b="0">
                <a:solidFill>
                  <a:srgbClr val="00355F"/>
                </a:solidFill>
                <a:latin typeface="Arial"/>
              </a:rPr>
              <a:t>0.48</a:t>
            </a:r>
          </a:p>
        </p:txBody>
      </p:sp>
      <p:sp xmlns:a="http://schemas.openxmlformats.org/drawingml/2006/main">
        <p:nvSpPr>
          <p:cNvPr id="68" name="Rectangle 67"/>
          <p:cNvSpPr/>
          <p:nvPr/>
        </p:nvSpPr>
        <p:spPr>
          <a:xfrm>
            <a:off x="13477875" y="3695700"/>
            <a:ext cx="952500" cy="419100"/>
          </a:xfrm>
          <a:prstGeom prst="rect">
            <a:avLst/>
          </a:prstGeom>
          <a:solidFill>
            <a:srgbClr val="B5D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69" name="TextBox 68"/>
          <p:cNvSpPr txBox="1"/>
          <p:nvPr/>
        </p:nvSpPr>
        <p:spPr>
          <a:xfrm>
            <a:off x="13935075" y="3810000"/>
            <a:ext cx="10477500" cy="198120"/>
          </a:xfrm>
          <a:prstGeom prst="rect">
            <a:avLst/>
          </a:prstGeom>
          <a:noFill/>
        </p:spPr>
        <p:txBody>
          <a:bodyPr wrap="none" lIns="0" rIns="0" tIns="0" bIns="0" anchor="ctr">
            <a:spAutoFit/>
          </a:bodyPr>
          <a:lstStyle/>
          <a:p>
            <a:pPr algn="ctr"/>
            <a:r>
              <a:rPr sz="1200" b="0">
                <a:solidFill>
                  <a:srgbClr val="00355F"/>
                </a:solidFill>
                <a:latin typeface="Arial"/>
              </a:rPr>
              <a:t>0.39</a:t>
            </a:r>
          </a:p>
        </p:txBody>
      </p:sp>
      <p:sp xmlns:a="http://schemas.openxmlformats.org/drawingml/2006/main">
        <p:nvSpPr>
          <p:cNvPr id="70" name="Rectangle 69"/>
          <p:cNvSpPr/>
          <p:nvPr/>
        </p:nvSpPr>
        <p:spPr>
          <a:xfrm>
            <a:off x="14430375" y="3695700"/>
            <a:ext cx="952500" cy="419100"/>
          </a:xfrm>
          <a:prstGeom prst="rect">
            <a:avLst/>
          </a:prstGeom>
          <a:solidFill>
            <a:srgbClr val="C2DF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71" name="TextBox 70"/>
          <p:cNvSpPr txBox="1"/>
          <p:nvPr/>
        </p:nvSpPr>
        <p:spPr>
          <a:xfrm>
            <a:off x="14887575" y="3810000"/>
            <a:ext cx="10477500" cy="198120"/>
          </a:xfrm>
          <a:prstGeom prst="rect">
            <a:avLst/>
          </a:prstGeom>
          <a:noFill/>
        </p:spPr>
        <p:txBody>
          <a:bodyPr wrap="none" lIns="0" rIns="0" tIns="0" bIns="0" anchor="ctr">
            <a:spAutoFit/>
          </a:bodyPr>
          <a:lstStyle/>
          <a:p>
            <a:pPr algn="ctr"/>
            <a:r>
              <a:rPr sz="1200" b="0">
                <a:solidFill>
                  <a:srgbClr val="00355F"/>
                </a:solidFill>
                <a:latin typeface="Arial"/>
              </a:rPr>
              <a:t>0.30</a:t>
            </a:r>
          </a:p>
        </p:txBody>
      </p:sp>
      <p:sp xmlns:a="http://schemas.openxmlformats.org/drawingml/2006/main">
        <p:nvSpPr>
          <p:cNvPr id="72" name="Rectangle 71"/>
          <p:cNvSpPr/>
          <p:nvPr/>
        </p:nvSpPr>
        <p:spPr>
          <a:xfrm>
            <a:off x="15382875" y="3695700"/>
            <a:ext cx="952500" cy="419100"/>
          </a:xfrm>
          <a:prstGeom prst="rect">
            <a:avLst/>
          </a:prstGeom>
          <a:solidFill>
            <a:srgbClr val="93B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73" name="TextBox 72"/>
          <p:cNvSpPr txBox="1"/>
          <p:nvPr/>
        </p:nvSpPr>
        <p:spPr>
          <a:xfrm>
            <a:off x="15840075" y="3810000"/>
            <a:ext cx="10477500" cy="198120"/>
          </a:xfrm>
          <a:prstGeom prst="rect">
            <a:avLst/>
          </a:prstGeom>
          <a:noFill/>
        </p:spPr>
        <p:txBody>
          <a:bodyPr wrap="none" lIns="0" rIns="0" tIns="0" bIns="0" anchor="ctr">
            <a:spAutoFit/>
          </a:bodyPr>
          <a:lstStyle/>
          <a:p>
            <a:pPr algn="ctr"/>
            <a:r>
              <a:rPr sz="1200" b="0">
                <a:solidFill>
                  <a:srgbClr val="00355F"/>
                </a:solidFill>
                <a:latin typeface="Arial"/>
              </a:rPr>
              <a:t>0.58</a:t>
            </a:r>
          </a:p>
        </p:txBody>
      </p:sp>
      <p:sp xmlns:a="http://schemas.openxmlformats.org/drawingml/2006/main">
        <p:nvSpPr>
          <p:cNvPr id="74" name="Rectangle 73"/>
          <p:cNvSpPr/>
          <p:nvPr/>
        </p:nvSpPr>
        <p:spPr>
          <a:xfrm>
            <a:off x="16335375" y="3695700"/>
            <a:ext cx="952500" cy="419100"/>
          </a:xfrm>
          <a:prstGeom prst="rect">
            <a:avLst/>
          </a:prstGeom>
          <a:solidFill>
            <a:srgbClr val="ADD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75" name="TextBox 74"/>
          <p:cNvSpPr txBox="1"/>
          <p:nvPr/>
        </p:nvSpPr>
        <p:spPr>
          <a:xfrm>
            <a:off x="16792575" y="3810000"/>
            <a:ext cx="10477500" cy="198120"/>
          </a:xfrm>
          <a:prstGeom prst="rect">
            <a:avLst/>
          </a:prstGeom>
          <a:noFill/>
        </p:spPr>
        <p:txBody>
          <a:bodyPr wrap="none" lIns="0" rIns="0" tIns="0" bIns="0" anchor="ctr">
            <a:spAutoFit/>
          </a:bodyPr>
          <a:lstStyle/>
          <a:p>
            <a:pPr algn="ctr"/>
            <a:r>
              <a:rPr sz="1200" b="0">
                <a:solidFill>
                  <a:srgbClr val="00355F"/>
                </a:solidFill>
                <a:latin typeface="Arial"/>
              </a:rPr>
              <a:t>0.44</a:t>
            </a:r>
          </a:p>
        </p:txBody>
      </p:sp>
      <p:sp xmlns:a="http://schemas.openxmlformats.org/drawingml/2006/main">
        <p:nvSpPr>
          <p:cNvPr id="76" name="Rectangle 75"/>
          <p:cNvSpPr/>
          <p:nvPr/>
        </p:nvSpPr>
        <p:spPr>
          <a:xfrm>
            <a:off x="7286625" y="4114800"/>
            <a:ext cx="1428750" cy="419100"/>
          </a:xfrm>
          <a:prstGeom prst="rect">
            <a:avLst/>
          </a:prstGeom>
          <a:solidFill>
            <a:srgbClr val="EEF6FC"/>
          </a:solidFill>
          <a:ln w="5714">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77" name="TextBox 76"/>
          <p:cNvSpPr txBox="1"/>
          <p:nvPr/>
        </p:nvSpPr>
        <p:spPr>
          <a:xfrm>
            <a:off x="7981950" y="4210050"/>
            <a:ext cx="10477500" cy="222885"/>
          </a:xfrm>
          <a:prstGeom prst="rect">
            <a:avLst/>
          </a:prstGeom>
          <a:noFill/>
        </p:spPr>
        <p:txBody>
          <a:bodyPr wrap="none" lIns="0" rIns="0" tIns="0" bIns="0" anchor="ctr">
            <a:spAutoFit/>
          </a:bodyPr>
          <a:lstStyle/>
          <a:p>
            <a:pPr algn="ctr"/>
            <a:r>
              <a:rPr sz="1350" b="0">
                <a:solidFill>
                  <a:srgbClr val="00355F"/>
                </a:solidFill>
                <a:latin typeface="Arial"/>
              </a:rPr>
              <a:t>Ab-002</a:t>
            </a:r>
          </a:p>
        </p:txBody>
      </p:sp>
      <p:sp xmlns:a="http://schemas.openxmlformats.org/drawingml/2006/main">
        <p:nvSpPr>
          <p:cNvPr id="78" name="Rectangle 77"/>
          <p:cNvSpPr/>
          <p:nvPr/>
        </p:nvSpPr>
        <p:spPr>
          <a:xfrm>
            <a:off x="8715375" y="4114800"/>
            <a:ext cx="952500" cy="419100"/>
          </a:xfrm>
          <a:prstGeom prst="rect">
            <a:avLst/>
          </a:prstGeom>
          <a:solidFill>
            <a:srgbClr val="BBD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79" name="TextBox 78"/>
          <p:cNvSpPr txBox="1"/>
          <p:nvPr/>
        </p:nvSpPr>
        <p:spPr>
          <a:xfrm>
            <a:off x="9172575" y="4229100"/>
            <a:ext cx="10477500" cy="198120"/>
          </a:xfrm>
          <a:prstGeom prst="rect">
            <a:avLst/>
          </a:prstGeom>
          <a:noFill/>
        </p:spPr>
        <p:txBody>
          <a:bodyPr wrap="none" lIns="0" rIns="0" tIns="0" bIns="0" anchor="ctr">
            <a:spAutoFit/>
          </a:bodyPr>
          <a:lstStyle/>
          <a:p>
            <a:pPr algn="ctr"/>
            <a:r>
              <a:rPr sz="1200" b="0">
                <a:solidFill>
                  <a:srgbClr val="00355F"/>
                </a:solidFill>
                <a:latin typeface="Arial"/>
              </a:rPr>
              <a:t>0.35</a:t>
            </a:r>
          </a:p>
        </p:txBody>
      </p:sp>
      <p:sp xmlns:a="http://schemas.openxmlformats.org/drawingml/2006/main">
        <p:nvSpPr>
          <p:cNvPr id="80" name="Rectangle 79"/>
          <p:cNvSpPr/>
          <p:nvPr/>
        </p:nvSpPr>
        <p:spPr>
          <a:xfrm>
            <a:off x="9667875" y="4114800"/>
            <a:ext cx="952500" cy="419100"/>
          </a:xfrm>
          <a:prstGeom prst="rect">
            <a:avLst/>
          </a:prstGeom>
          <a:solidFill>
            <a:srgbClr val="C5E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81" name="TextBox 80"/>
          <p:cNvSpPr txBox="1"/>
          <p:nvPr/>
        </p:nvSpPr>
        <p:spPr>
          <a:xfrm>
            <a:off x="10125075" y="4229100"/>
            <a:ext cx="10477500" cy="198120"/>
          </a:xfrm>
          <a:prstGeom prst="rect">
            <a:avLst/>
          </a:prstGeom>
          <a:noFill/>
        </p:spPr>
        <p:txBody>
          <a:bodyPr wrap="none" lIns="0" rIns="0" tIns="0" bIns="0" anchor="ctr">
            <a:spAutoFit/>
          </a:bodyPr>
          <a:lstStyle/>
          <a:p>
            <a:pPr algn="ctr"/>
            <a:r>
              <a:rPr sz="1200" b="0">
                <a:solidFill>
                  <a:srgbClr val="00355F"/>
                </a:solidFill>
                <a:latin typeface="Arial"/>
              </a:rPr>
              <a:t>0.28</a:t>
            </a:r>
          </a:p>
        </p:txBody>
      </p:sp>
      <p:sp xmlns:a="http://schemas.openxmlformats.org/drawingml/2006/main">
        <p:nvSpPr>
          <p:cNvPr id="82" name="Rectangle 81"/>
          <p:cNvSpPr/>
          <p:nvPr/>
        </p:nvSpPr>
        <p:spPr>
          <a:xfrm>
            <a:off x="10620375" y="4114800"/>
            <a:ext cx="952500" cy="419100"/>
          </a:xfrm>
          <a:prstGeom prst="rect">
            <a:avLst/>
          </a:prstGeom>
          <a:solidFill>
            <a:srgbClr val="B2D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83" name="TextBox 82"/>
          <p:cNvSpPr txBox="1"/>
          <p:nvPr/>
        </p:nvSpPr>
        <p:spPr>
          <a:xfrm>
            <a:off x="11077575" y="4229100"/>
            <a:ext cx="10477500" cy="198120"/>
          </a:xfrm>
          <a:prstGeom prst="rect">
            <a:avLst/>
          </a:prstGeom>
          <a:noFill/>
        </p:spPr>
        <p:txBody>
          <a:bodyPr wrap="none" lIns="0" rIns="0" tIns="0" bIns="0" anchor="ctr">
            <a:spAutoFit/>
          </a:bodyPr>
          <a:lstStyle/>
          <a:p>
            <a:pPr algn="ctr"/>
            <a:r>
              <a:rPr sz="1200" b="0">
                <a:solidFill>
                  <a:srgbClr val="00355F"/>
                </a:solidFill>
                <a:latin typeface="Arial"/>
              </a:rPr>
              <a:t>0.41</a:t>
            </a:r>
          </a:p>
        </p:txBody>
      </p:sp>
      <p:sp xmlns:a="http://schemas.openxmlformats.org/drawingml/2006/main">
        <p:nvSpPr>
          <p:cNvPr id="84" name="Rectangle 83"/>
          <p:cNvSpPr/>
          <p:nvPr/>
        </p:nvSpPr>
        <p:spPr>
          <a:xfrm>
            <a:off x="11572875" y="4114800"/>
            <a:ext cx="952500" cy="419100"/>
          </a:xfrm>
          <a:prstGeom prst="rect">
            <a:avLst/>
          </a:prstGeom>
          <a:solidFill>
            <a:srgbClr val="CEE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85" name="TextBox 84"/>
          <p:cNvSpPr txBox="1"/>
          <p:nvPr/>
        </p:nvSpPr>
        <p:spPr>
          <a:xfrm>
            <a:off x="12030075" y="4229100"/>
            <a:ext cx="10477500" cy="198120"/>
          </a:xfrm>
          <a:prstGeom prst="rect">
            <a:avLst/>
          </a:prstGeom>
          <a:noFill/>
        </p:spPr>
        <p:txBody>
          <a:bodyPr wrap="none" lIns="0" rIns="0" tIns="0" bIns="0" anchor="ctr">
            <a:spAutoFit/>
          </a:bodyPr>
          <a:lstStyle/>
          <a:p>
            <a:pPr algn="ctr"/>
            <a:r>
              <a:rPr sz="1200" b="0">
                <a:solidFill>
                  <a:srgbClr val="00355F"/>
                </a:solidFill>
                <a:latin typeface="Arial"/>
              </a:rPr>
              <a:t>0.22</a:t>
            </a:r>
          </a:p>
        </p:txBody>
      </p:sp>
      <p:sp xmlns:a="http://schemas.openxmlformats.org/drawingml/2006/main">
        <p:nvSpPr>
          <p:cNvPr id="86" name="Rectangle 85"/>
          <p:cNvSpPr/>
          <p:nvPr/>
        </p:nvSpPr>
        <p:spPr>
          <a:xfrm>
            <a:off x="12525375" y="4114800"/>
            <a:ext cx="952500" cy="419100"/>
          </a:xfrm>
          <a:prstGeom prst="rect">
            <a:avLst/>
          </a:prstGeom>
          <a:solidFill>
            <a:srgbClr val="8EB5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87" name="TextBox 86"/>
          <p:cNvSpPr txBox="1"/>
          <p:nvPr/>
        </p:nvSpPr>
        <p:spPr>
          <a:xfrm>
            <a:off x="12982575" y="4229100"/>
            <a:ext cx="10477500" cy="198120"/>
          </a:xfrm>
          <a:prstGeom prst="rect">
            <a:avLst/>
          </a:prstGeom>
          <a:noFill/>
        </p:spPr>
        <p:txBody>
          <a:bodyPr wrap="none" lIns="0" rIns="0" tIns="0" bIns="0" anchor="ctr">
            <a:spAutoFit/>
          </a:bodyPr>
          <a:lstStyle/>
          <a:p>
            <a:pPr algn="ctr"/>
            <a:r>
              <a:rPr sz="1200" b="0">
                <a:solidFill>
                  <a:srgbClr val="00355F"/>
                </a:solidFill>
                <a:latin typeface="Arial"/>
              </a:rPr>
              <a:t>0.61</a:t>
            </a:r>
          </a:p>
        </p:txBody>
      </p:sp>
      <p:sp xmlns:a="http://schemas.openxmlformats.org/drawingml/2006/main">
        <p:nvSpPr>
          <p:cNvPr id="88" name="Rectangle 87"/>
          <p:cNvSpPr/>
          <p:nvPr/>
        </p:nvSpPr>
        <p:spPr>
          <a:xfrm>
            <a:off x="13477875" y="4114800"/>
            <a:ext cx="952500" cy="419100"/>
          </a:xfrm>
          <a:prstGeom prst="rect">
            <a:avLst/>
          </a:prstGeom>
          <a:solidFill>
            <a:srgbClr val="9FC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89" name="TextBox 88"/>
          <p:cNvSpPr txBox="1"/>
          <p:nvPr/>
        </p:nvSpPr>
        <p:spPr>
          <a:xfrm>
            <a:off x="13935075" y="4229100"/>
            <a:ext cx="10477500" cy="198120"/>
          </a:xfrm>
          <a:prstGeom prst="rect">
            <a:avLst/>
          </a:prstGeom>
          <a:noFill/>
        </p:spPr>
        <p:txBody>
          <a:bodyPr wrap="none" lIns="0" rIns="0" tIns="0" bIns="0" anchor="ctr">
            <a:spAutoFit/>
          </a:bodyPr>
          <a:lstStyle/>
          <a:p>
            <a:pPr algn="ctr"/>
            <a:r>
              <a:rPr sz="1200" b="0">
                <a:solidFill>
                  <a:srgbClr val="00355F"/>
                </a:solidFill>
                <a:latin typeface="Arial"/>
              </a:rPr>
              <a:t>0.52</a:t>
            </a:r>
          </a:p>
        </p:txBody>
      </p:sp>
      <p:sp xmlns:a="http://schemas.openxmlformats.org/drawingml/2006/main">
        <p:nvSpPr>
          <p:cNvPr id="90" name="Rectangle 89"/>
          <p:cNvSpPr/>
          <p:nvPr/>
        </p:nvSpPr>
        <p:spPr>
          <a:xfrm>
            <a:off x="14430375" y="4114800"/>
            <a:ext cx="952500" cy="419100"/>
          </a:xfrm>
          <a:prstGeom prst="rect">
            <a:avLst/>
          </a:prstGeom>
          <a:solidFill>
            <a:srgbClr val="ADD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1" name="TextBox 90"/>
          <p:cNvSpPr txBox="1"/>
          <p:nvPr/>
        </p:nvSpPr>
        <p:spPr>
          <a:xfrm>
            <a:off x="14887575" y="4229100"/>
            <a:ext cx="10477500" cy="198120"/>
          </a:xfrm>
          <a:prstGeom prst="rect">
            <a:avLst/>
          </a:prstGeom>
          <a:noFill/>
        </p:spPr>
        <p:txBody>
          <a:bodyPr wrap="none" lIns="0" rIns="0" tIns="0" bIns="0" anchor="ctr">
            <a:spAutoFit/>
          </a:bodyPr>
          <a:lstStyle/>
          <a:p>
            <a:pPr algn="ctr"/>
            <a:r>
              <a:rPr sz="1200" b="0">
                <a:solidFill>
                  <a:srgbClr val="00355F"/>
                </a:solidFill>
                <a:latin typeface="Arial"/>
              </a:rPr>
              <a:t>0.44</a:t>
            </a:r>
          </a:p>
        </p:txBody>
      </p:sp>
      <p:sp xmlns:a="http://schemas.openxmlformats.org/drawingml/2006/main">
        <p:nvSpPr>
          <p:cNvPr id="92" name="Rectangle 91"/>
          <p:cNvSpPr/>
          <p:nvPr/>
        </p:nvSpPr>
        <p:spPr>
          <a:xfrm>
            <a:off x="15382875" y="4114800"/>
            <a:ext cx="952500" cy="419100"/>
          </a:xfrm>
          <a:prstGeom prst="rect">
            <a:avLst/>
          </a:prstGeom>
          <a:solidFill>
            <a:srgbClr val="FFFFFF"/>
          </a:solidFill>
          <a:ln w="7620">
            <a:solidFill>
              <a:srgbClr val="A5A5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3" name="TextBox 92"/>
          <p:cNvSpPr txBox="1"/>
          <p:nvPr/>
        </p:nvSpPr>
        <p:spPr>
          <a:xfrm>
            <a:off x="15840075" y="4219575"/>
            <a:ext cx="10477500" cy="210502"/>
          </a:xfrm>
          <a:prstGeom prst="rect">
            <a:avLst/>
          </a:prstGeom>
          <a:noFill/>
        </p:spPr>
        <p:txBody>
          <a:bodyPr wrap="none" lIns="0" rIns="0" tIns="0" bIns="0" anchor="ctr">
            <a:spAutoFit/>
          </a:bodyPr>
          <a:lstStyle/>
          <a:p>
            <a:pPr algn="ctr"/>
            <a:r>
              <a:rPr sz="1275" b="0">
                <a:solidFill>
                  <a:srgbClr val="A5A5A5"/>
                </a:solidFill>
                <a:latin typeface="Arial"/>
              </a:rPr>
              <a:t>—</a:t>
            </a:r>
          </a:p>
        </p:txBody>
      </p:sp>
      <p:sp xmlns:a="http://schemas.openxmlformats.org/drawingml/2006/main">
        <p:nvSpPr>
          <p:cNvPr id="94" name="Rectangle 93"/>
          <p:cNvSpPr/>
          <p:nvPr/>
        </p:nvSpPr>
        <p:spPr>
          <a:xfrm>
            <a:off x="16335375" y="4114800"/>
            <a:ext cx="952500" cy="419100"/>
          </a:xfrm>
          <a:prstGeom prst="rect">
            <a:avLst/>
          </a:prstGeom>
          <a:solidFill>
            <a:srgbClr val="D4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5" name="TextBox 94"/>
          <p:cNvSpPr txBox="1"/>
          <p:nvPr/>
        </p:nvSpPr>
        <p:spPr>
          <a:xfrm>
            <a:off x="16792575" y="4229100"/>
            <a:ext cx="10477500" cy="198120"/>
          </a:xfrm>
          <a:prstGeom prst="rect">
            <a:avLst/>
          </a:prstGeom>
          <a:noFill/>
        </p:spPr>
        <p:txBody>
          <a:bodyPr wrap="none" lIns="0" rIns="0" tIns="0" bIns="0" anchor="ctr">
            <a:spAutoFit/>
          </a:bodyPr>
          <a:lstStyle/>
          <a:p>
            <a:pPr algn="ctr"/>
            <a:r>
              <a:rPr sz="1200" b="0">
                <a:solidFill>
                  <a:srgbClr val="00355F"/>
                </a:solidFill>
                <a:latin typeface="Arial"/>
              </a:rPr>
              <a:t>0.18</a:t>
            </a:r>
          </a:p>
        </p:txBody>
      </p:sp>
      <p:sp xmlns:a="http://schemas.openxmlformats.org/drawingml/2006/main">
        <p:nvSpPr>
          <p:cNvPr id="96" name="Rectangle 95"/>
          <p:cNvSpPr/>
          <p:nvPr/>
        </p:nvSpPr>
        <p:spPr>
          <a:xfrm>
            <a:off x="7286625" y="4533900"/>
            <a:ext cx="1428750" cy="419100"/>
          </a:xfrm>
          <a:prstGeom prst="rect">
            <a:avLst/>
          </a:prstGeom>
          <a:solidFill>
            <a:srgbClr val="FFFFFF"/>
          </a:solidFill>
          <a:ln w="5714">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7" name="TextBox 96"/>
          <p:cNvSpPr txBox="1"/>
          <p:nvPr/>
        </p:nvSpPr>
        <p:spPr>
          <a:xfrm>
            <a:off x="7981950" y="4629150"/>
            <a:ext cx="10477500" cy="222885"/>
          </a:xfrm>
          <a:prstGeom prst="rect">
            <a:avLst/>
          </a:prstGeom>
          <a:noFill/>
        </p:spPr>
        <p:txBody>
          <a:bodyPr wrap="none" lIns="0" rIns="0" tIns="0" bIns="0" anchor="ctr">
            <a:spAutoFit/>
          </a:bodyPr>
          <a:lstStyle/>
          <a:p>
            <a:pPr algn="ctr"/>
            <a:r>
              <a:rPr sz="1350" b="0">
                <a:solidFill>
                  <a:srgbClr val="00355F"/>
                </a:solidFill>
                <a:latin typeface="Arial"/>
              </a:rPr>
              <a:t>Ab-003</a:t>
            </a:r>
          </a:p>
        </p:txBody>
      </p:sp>
      <p:sp xmlns:a="http://schemas.openxmlformats.org/drawingml/2006/main">
        <p:nvSpPr>
          <p:cNvPr id="98" name="Rectangle 97"/>
          <p:cNvSpPr/>
          <p:nvPr/>
        </p:nvSpPr>
        <p:spPr>
          <a:xfrm>
            <a:off x="8715375" y="4533900"/>
            <a:ext cx="952500" cy="419100"/>
          </a:xfrm>
          <a:prstGeom prst="rect">
            <a:avLst/>
          </a:prstGeom>
          <a:solidFill>
            <a:srgbClr val="80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9" name="TextBox 98"/>
          <p:cNvSpPr txBox="1"/>
          <p:nvPr/>
        </p:nvSpPr>
        <p:spPr>
          <a:xfrm>
            <a:off x="9172575" y="4648200"/>
            <a:ext cx="10477500" cy="198120"/>
          </a:xfrm>
          <a:prstGeom prst="rect">
            <a:avLst/>
          </a:prstGeom>
          <a:noFill/>
        </p:spPr>
        <p:txBody>
          <a:bodyPr wrap="none" lIns="0" rIns="0" tIns="0" bIns="0" anchor="ctr">
            <a:spAutoFit/>
          </a:bodyPr>
          <a:lstStyle/>
          <a:p>
            <a:pPr algn="ctr"/>
            <a:r>
              <a:rPr sz="1200" b="0">
                <a:solidFill>
                  <a:srgbClr val="FFFFFF"/>
                </a:solidFill>
                <a:latin typeface="Arial"/>
              </a:rPr>
              <a:t>0.68</a:t>
            </a:r>
          </a:p>
        </p:txBody>
      </p:sp>
      <p:sp xmlns:a="http://schemas.openxmlformats.org/drawingml/2006/main">
        <p:nvSpPr>
          <p:cNvPr id="100" name="Rectangle 99"/>
          <p:cNvSpPr/>
          <p:nvPr/>
        </p:nvSpPr>
        <p:spPr>
          <a:xfrm>
            <a:off x="9667875" y="4533900"/>
            <a:ext cx="952500" cy="419100"/>
          </a:xfrm>
          <a:prstGeom prst="rect">
            <a:avLst/>
          </a:prstGeom>
          <a:solidFill>
            <a:srgbClr val="739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1" name="TextBox 100"/>
          <p:cNvSpPr txBox="1"/>
          <p:nvPr/>
        </p:nvSpPr>
        <p:spPr>
          <a:xfrm>
            <a:off x="10125075" y="4648200"/>
            <a:ext cx="10477500" cy="198120"/>
          </a:xfrm>
          <a:prstGeom prst="rect">
            <a:avLst/>
          </a:prstGeom>
          <a:noFill/>
        </p:spPr>
        <p:txBody>
          <a:bodyPr wrap="none" lIns="0" rIns="0" tIns="0" bIns="0" anchor="ctr">
            <a:spAutoFit/>
          </a:bodyPr>
          <a:lstStyle/>
          <a:p>
            <a:pPr algn="ctr"/>
            <a:r>
              <a:rPr sz="1200" b="0">
                <a:solidFill>
                  <a:srgbClr val="FFFFFF"/>
                </a:solidFill>
                <a:latin typeface="Arial"/>
              </a:rPr>
              <a:t>0.75</a:t>
            </a:r>
          </a:p>
        </p:txBody>
      </p:sp>
      <p:sp xmlns:a="http://schemas.openxmlformats.org/drawingml/2006/main">
        <p:nvSpPr>
          <p:cNvPr id="102" name="Rectangle 101"/>
          <p:cNvSpPr/>
          <p:nvPr/>
        </p:nvSpPr>
        <p:spPr>
          <a:xfrm>
            <a:off x="10620375" y="4533900"/>
            <a:ext cx="952500" cy="419100"/>
          </a:xfrm>
          <a:prstGeom prst="rect">
            <a:avLst/>
          </a:prstGeom>
          <a:solidFill>
            <a:srgbClr val="91B8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3" name="TextBox 102"/>
          <p:cNvSpPr txBox="1"/>
          <p:nvPr/>
        </p:nvSpPr>
        <p:spPr>
          <a:xfrm>
            <a:off x="11077575" y="4648200"/>
            <a:ext cx="10477500" cy="198120"/>
          </a:xfrm>
          <a:prstGeom prst="rect">
            <a:avLst/>
          </a:prstGeom>
          <a:noFill/>
        </p:spPr>
        <p:txBody>
          <a:bodyPr wrap="none" lIns="0" rIns="0" tIns="0" bIns="0" anchor="ctr">
            <a:spAutoFit/>
          </a:bodyPr>
          <a:lstStyle/>
          <a:p>
            <a:pPr algn="ctr"/>
            <a:r>
              <a:rPr sz="1200" b="0">
                <a:solidFill>
                  <a:srgbClr val="00355F"/>
                </a:solidFill>
                <a:latin typeface="Arial"/>
              </a:rPr>
              <a:t>0.59</a:t>
            </a:r>
          </a:p>
        </p:txBody>
      </p:sp>
      <p:sp xmlns:a="http://schemas.openxmlformats.org/drawingml/2006/main">
        <p:nvSpPr>
          <p:cNvPr id="104" name="Rectangle 103"/>
          <p:cNvSpPr/>
          <p:nvPr/>
        </p:nvSpPr>
        <p:spPr>
          <a:xfrm>
            <a:off x="11572875" y="4533900"/>
            <a:ext cx="952500" cy="419100"/>
          </a:xfrm>
          <a:prstGeom prst="rect">
            <a:avLst/>
          </a:prstGeom>
          <a:solidFill>
            <a:srgbClr val="A8D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5" name="TextBox 104"/>
          <p:cNvSpPr txBox="1"/>
          <p:nvPr/>
        </p:nvSpPr>
        <p:spPr>
          <a:xfrm>
            <a:off x="12030075" y="4648200"/>
            <a:ext cx="10477500" cy="198120"/>
          </a:xfrm>
          <a:prstGeom prst="rect">
            <a:avLst/>
          </a:prstGeom>
          <a:noFill/>
        </p:spPr>
        <p:txBody>
          <a:bodyPr wrap="none" lIns="0" rIns="0" tIns="0" bIns="0" anchor="ctr">
            <a:spAutoFit/>
          </a:bodyPr>
          <a:lstStyle/>
          <a:p>
            <a:pPr algn="ctr"/>
            <a:r>
              <a:rPr sz="1200" b="0">
                <a:solidFill>
                  <a:srgbClr val="00355F"/>
                </a:solidFill>
                <a:latin typeface="Arial"/>
              </a:rPr>
              <a:t>0.47</a:t>
            </a:r>
          </a:p>
        </p:txBody>
      </p:sp>
      <p:sp xmlns:a="http://schemas.openxmlformats.org/drawingml/2006/main">
        <p:nvSpPr>
          <p:cNvPr id="106" name="Rectangle 105"/>
          <p:cNvSpPr/>
          <p:nvPr/>
        </p:nvSpPr>
        <p:spPr>
          <a:xfrm>
            <a:off x="12525375" y="4533900"/>
            <a:ext cx="952500" cy="419100"/>
          </a:xfrm>
          <a:prstGeom prst="rect">
            <a:avLst/>
          </a:prstGeom>
          <a:solidFill>
            <a:srgbClr val="BED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7" name="TextBox 106"/>
          <p:cNvSpPr txBox="1"/>
          <p:nvPr/>
        </p:nvSpPr>
        <p:spPr>
          <a:xfrm>
            <a:off x="12982575" y="4648200"/>
            <a:ext cx="10477500" cy="198120"/>
          </a:xfrm>
          <a:prstGeom prst="rect">
            <a:avLst/>
          </a:prstGeom>
          <a:noFill/>
        </p:spPr>
        <p:txBody>
          <a:bodyPr wrap="none" lIns="0" rIns="0" tIns="0" bIns="0" anchor="ctr">
            <a:spAutoFit/>
          </a:bodyPr>
          <a:lstStyle/>
          <a:p>
            <a:pPr algn="ctr"/>
            <a:r>
              <a:rPr sz="1200" b="0">
                <a:solidFill>
                  <a:srgbClr val="00355F"/>
                </a:solidFill>
                <a:latin typeface="Arial"/>
              </a:rPr>
              <a:t>0.33</a:t>
            </a:r>
          </a:p>
        </p:txBody>
      </p:sp>
      <p:sp xmlns:a="http://schemas.openxmlformats.org/drawingml/2006/main">
        <p:nvSpPr>
          <p:cNvPr id="108" name="Rectangle 107"/>
          <p:cNvSpPr/>
          <p:nvPr/>
        </p:nvSpPr>
        <p:spPr>
          <a:xfrm>
            <a:off x="13477875" y="4533900"/>
            <a:ext cx="952500" cy="419100"/>
          </a:xfrm>
          <a:prstGeom prst="rect">
            <a:avLst/>
          </a:prstGeom>
          <a:solidFill>
            <a:srgbClr val="C5E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9" name="TextBox 108"/>
          <p:cNvSpPr txBox="1"/>
          <p:nvPr/>
        </p:nvSpPr>
        <p:spPr>
          <a:xfrm>
            <a:off x="13935075" y="4648200"/>
            <a:ext cx="10477500" cy="198120"/>
          </a:xfrm>
          <a:prstGeom prst="rect">
            <a:avLst/>
          </a:prstGeom>
          <a:noFill/>
        </p:spPr>
        <p:txBody>
          <a:bodyPr wrap="none" lIns="0" rIns="0" tIns="0" bIns="0" anchor="ctr">
            <a:spAutoFit/>
          </a:bodyPr>
          <a:lstStyle/>
          <a:p>
            <a:pPr algn="ctr"/>
            <a:r>
              <a:rPr sz="1200" b="0">
                <a:solidFill>
                  <a:srgbClr val="00355F"/>
                </a:solidFill>
                <a:latin typeface="Arial"/>
              </a:rPr>
              <a:t>0.28</a:t>
            </a:r>
          </a:p>
        </p:txBody>
      </p:sp>
      <p:sp xmlns:a="http://schemas.openxmlformats.org/drawingml/2006/main">
        <p:nvSpPr>
          <p:cNvPr id="110" name="Rectangle 109"/>
          <p:cNvSpPr/>
          <p:nvPr/>
        </p:nvSpPr>
        <p:spPr>
          <a:xfrm>
            <a:off x="14430375" y="4533900"/>
            <a:ext cx="952500" cy="419100"/>
          </a:xfrm>
          <a:prstGeom prst="rect">
            <a:avLst/>
          </a:prstGeom>
          <a:solidFill>
            <a:srgbClr val="8CB3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11" name="TextBox 110"/>
          <p:cNvSpPr txBox="1"/>
          <p:nvPr/>
        </p:nvSpPr>
        <p:spPr>
          <a:xfrm>
            <a:off x="14887575" y="4648200"/>
            <a:ext cx="10477500" cy="198120"/>
          </a:xfrm>
          <a:prstGeom prst="rect">
            <a:avLst/>
          </a:prstGeom>
          <a:noFill/>
        </p:spPr>
        <p:txBody>
          <a:bodyPr wrap="none" lIns="0" rIns="0" tIns="0" bIns="0" anchor="ctr">
            <a:spAutoFit/>
          </a:bodyPr>
          <a:lstStyle/>
          <a:p>
            <a:pPr algn="ctr"/>
            <a:r>
              <a:rPr sz="1200" b="0">
                <a:solidFill>
                  <a:srgbClr val="00355F"/>
                </a:solidFill>
                <a:latin typeface="Arial"/>
              </a:rPr>
              <a:t>0.62</a:t>
            </a:r>
          </a:p>
        </p:txBody>
      </p:sp>
      <p:sp xmlns:a="http://schemas.openxmlformats.org/drawingml/2006/main">
        <p:nvSpPr>
          <p:cNvPr id="112" name="Rectangle 111"/>
          <p:cNvSpPr/>
          <p:nvPr/>
        </p:nvSpPr>
        <p:spPr>
          <a:xfrm>
            <a:off x="15382875" y="4533900"/>
            <a:ext cx="952500" cy="419100"/>
          </a:xfrm>
          <a:prstGeom prst="rect">
            <a:avLst/>
          </a:prstGeom>
          <a:solidFill>
            <a:srgbClr val="BBDC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13" name="TextBox 112"/>
          <p:cNvSpPr txBox="1"/>
          <p:nvPr/>
        </p:nvSpPr>
        <p:spPr>
          <a:xfrm>
            <a:off x="15840075" y="4648200"/>
            <a:ext cx="10477500" cy="198120"/>
          </a:xfrm>
          <a:prstGeom prst="rect">
            <a:avLst/>
          </a:prstGeom>
          <a:noFill/>
        </p:spPr>
        <p:txBody>
          <a:bodyPr wrap="none" lIns="0" rIns="0" tIns="0" bIns="0" anchor="ctr">
            <a:spAutoFit/>
          </a:bodyPr>
          <a:lstStyle/>
          <a:p>
            <a:pPr algn="ctr"/>
            <a:r>
              <a:rPr sz="1200" b="0">
                <a:solidFill>
                  <a:srgbClr val="00355F"/>
                </a:solidFill>
                <a:latin typeface="Arial"/>
              </a:rPr>
              <a:t>0.35</a:t>
            </a:r>
          </a:p>
        </p:txBody>
      </p:sp>
      <p:sp xmlns:a="http://schemas.openxmlformats.org/drawingml/2006/main">
        <p:nvSpPr>
          <p:cNvPr id="114" name="Rectangle 113"/>
          <p:cNvSpPr/>
          <p:nvPr/>
        </p:nvSpPr>
        <p:spPr>
          <a:xfrm>
            <a:off x="16335375" y="4533900"/>
            <a:ext cx="952500" cy="419100"/>
          </a:xfrm>
          <a:prstGeom prst="rect">
            <a:avLst/>
          </a:prstGeom>
          <a:solidFill>
            <a:srgbClr val="A1C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15" name="TextBox 114"/>
          <p:cNvSpPr txBox="1"/>
          <p:nvPr/>
        </p:nvSpPr>
        <p:spPr>
          <a:xfrm>
            <a:off x="16792575" y="4648200"/>
            <a:ext cx="10477500" cy="198120"/>
          </a:xfrm>
          <a:prstGeom prst="rect">
            <a:avLst/>
          </a:prstGeom>
          <a:noFill/>
        </p:spPr>
        <p:txBody>
          <a:bodyPr wrap="none" lIns="0" rIns="0" tIns="0" bIns="0" anchor="ctr">
            <a:spAutoFit/>
          </a:bodyPr>
          <a:lstStyle/>
          <a:p>
            <a:pPr algn="ctr"/>
            <a:r>
              <a:rPr sz="1200" b="0">
                <a:solidFill>
                  <a:srgbClr val="00355F"/>
                </a:solidFill>
                <a:latin typeface="Arial"/>
              </a:rPr>
              <a:t>0.51</a:t>
            </a:r>
          </a:p>
        </p:txBody>
      </p:sp>
      <p:sp xmlns:a="http://schemas.openxmlformats.org/drawingml/2006/main">
        <p:nvSpPr>
          <p:cNvPr id="116" name="Rectangle 115"/>
          <p:cNvSpPr/>
          <p:nvPr/>
        </p:nvSpPr>
        <p:spPr>
          <a:xfrm>
            <a:off x="7286625" y="4953000"/>
            <a:ext cx="1428750" cy="419100"/>
          </a:xfrm>
          <a:prstGeom prst="rect">
            <a:avLst/>
          </a:prstGeom>
          <a:solidFill>
            <a:srgbClr val="EEF6FC"/>
          </a:solidFill>
          <a:ln w="5714">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17" name="TextBox 116"/>
          <p:cNvSpPr txBox="1"/>
          <p:nvPr/>
        </p:nvSpPr>
        <p:spPr>
          <a:xfrm>
            <a:off x="7981950" y="5048250"/>
            <a:ext cx="10477500" cy="222885"/>
          </a:xfrm>
          <a:prstGeom prst="rect">
            <a:avLst/>
          </a:prstGeom>
          <a:noFill/>
        </p:spPr>
        <p:txBody>
          <a:bodyPr wrap="none" lIns="0" rIns="0" tIns="0" bIns="0" anchor="ctr">
            <a:spAutoFit/>
          </a:bodyPr>
          <a:lstStyle/>
          <a:p>
            <a:pPr algn="ctr"/>
            <a:r>
              <a:rPr sz="1350" b="0">
                <a:solidFill>
                  <a:srgbClr val="00355F"/>
                </a:solidFill>
                <a:latin typeface="Arial"/>
              </a:rPr>
              <a:t>Ab-004</a:t>
            </a:r>
          </a:p>
        </p:txBody>
      </p:sp>
      <p:sp xmlns:a="http://schemas.openxmlformats.org/drawingml/2006/main">
        <p:nvSpPr>
          <p:cNvPr id="118" name="Rectangle 117"/>
          <p:cNvSpPr/>
          <p:nvPr/>
        </p:nvSpPr>
        <p:spPr>
          <a:xfrm>
            <a:off x="8715375" y="4953000"/>
            <a:ext cx="952500" cy="419100"/>
          </a:xfrm>
          <a:prstGeom prst="rect">
            <a:avLst/>
          </a:prstGeom>
          <a:solidFill>
            <a:srgbClr val="2959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19" name="TextBox 118"/>
          <p:cNvSpPr txBox="1"/>
          <p:nvPr/>
        </p:nvSpPr>
        <p:spPr>
          <a:xfrm>
            <a:off x="9172575" y="5067300"/>
            <a:ext cx="10477500" cy="198120"/>
          </a:xfrm>
          <a:prstGeom prst="rect">
            <a:avLst/>
          </a:prstGeom>
          <a:noFill/>
        </p:spPr>
        <p:txBody>
          <a:bodyPr wrap="none" lIns="0" rIns="0" tIns="0" bIns="0" anchor="ctr">
            <a:spAutoFit/>
          </a:bodyPr>
          <a:lstStyle/>
          <a:p>
            <a:pPr algn="ctr"/>
            <a:r>
              <a:rPr sz="1200" b="0">
                <a:solidFill>
                  <a:srgbClr val="FFFFFF"/>
                </a:solidFill>
                <a:latin typeface="Arial"/>
              </a:rPr>
              <a:t>0.91</a:t>
            </a:r>
          </a:p>
        </p:txBody>
      </p:sp>
      <p:sp xmlns:a="http://schemas.openxmlformats.org/drawingml/2006/main">
        <p:nvSpPr>
          <p:cNvPr id="120" name="Rectangle 119"/>
          <p:cNvSpPr/>
          <p:nvPr/>
        </p:nvSpPr>
        <p:spPr>
          <a:xfrm>
            <a:off x="9667875" y="4953000"/>
            <a:ext cx="952500" cy="419100"/>
          </a:xfrm>
          <a:prstGeom prst="rect">
            <a:avLst/>
          </a:prstGeom>
          <a:solidFill>
            <a:srgbClr val="93B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1" name="TextBox 120"/>
          <p:cNvSpPr txBox="1"/>
          <p:nvPr/>
        </p:nvSpPr>
        <p:spPr>
          <a:xfrm>
            <a:off x="10125075" y="5067300"/>
            <a:ext cx="10477500" cy="198120"/>
          </a:xfrm>
          <a:prstGeom prst="rect">
            <a:avLst/>
          </a:prstGeom>
          <a:noFill/>
        </p:spPr>
        <p:txBody>
          <a:bodyPr wrap="none" lIns="0" rIns="0" tIns="0" bIns="0" anchor="ctr">
            <a:spAutoFit/>
          </a:bodyPr>
          <a:lstStyle/>
          <a:p>
            <a:pPr algn="ctr"/>
            <a:r>
              <a:rPr sz="1200" b="0">
                <a:solidFill>
                  <a:srgbClr val="00355F"/>
                </a:solidFill>
                <a:latin typeface="Arial"/>
              </a:rPr>
              <a:t>0.58</a:t>
            </a:r>
          </a:p>
        </p:txBody>
      </p:sp>
      <p:sp xmlns:a="http://schemas.openxmlformats.org/drawingml/2006/main">
        <p:nvSpPr>
          <p:cNvPr id="122" name="Rectangle 121"/>
          <p:cNvSpPr/>
          <p:nvPr/>
        </p:nvSpPr>
        <p:spPr>
          <a:xfrm>
            <a:off x="10620375" y="4953000"/>
            <a:ext cx="952500" cy="419100"/>
          </a:xfrm>
          <a:prstGeom prst="rect">
            <a:avLst/>
          </a:prstGeom>
          <a:solidFill>
            <a:srgbClr val="4E79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3" name="TextBox 122"/>
          <p:cNvSpPr txBox="1"/>
          <p:nvPr/>
        </p:nvSpPr>
        <p:spPr>
          <a:xfrm>
            <a:off x="11077575" y="5067300"/>
            <a:ext cx="10477500" cy="198120"/>
          </a:xfrm>
          <a:prstGeom prst="rect">
            <a:avLst/>
          </a:prstGeom>
          <a:noFill/>
        </p:spPr>
        <p:txBody>
          <a:bodyPr wrap="none" lIns="0" rIns="0" tIns="0" bIns="0" anchor="ctr">
            <a:spAutoFit/>
          </a:bodyPr>
          <a:lstStyle/>
          <a:p>
            <a:pPr algn="ctr"/>
            <a:r>
              <a:rPr sz="1200" b="0">
                <a:solidFill>
                  <a:srgbClr val="FFFFFF"/>
                </a:solidFill>
                <a:latin typeface="Arial"/>
              </a:rPr>
              <a:t>0.83</a:t>
            </a:r>
          </a:p>
        </p:txBody>
      </p:sp>
      <p:sp xmlns:a="http://schemas.openxmlformats.org/drawingml/2006/main">
        <p:nvSpPr>
          <p:cNvPr id="124" name="Rectangle 123"/>
          <p:cNvSpPr/>
          <p:nvPr/>
        </p:nvSpPr>
        <p:spPr>
          <a:xfrm>
            <a:off x="11572875" y="4953000"/>
            <a:ext cx="952500" cy="419100"/>
          </a:xfrm>
          <a:prstGeom prst="rect">
            <a:avLst/>
          </a:prstGeom>
          <a:solidFill>
            <a:srgbClr val="84AB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5" name="TextBox 124"/>
          <p:cNvSpPr txBox="1"/>
          <p:nvPr/>
        </p:nvSpPr>
        <p:spPr>
          <a:xfrm>
            <a:off x="12030075" y="5067300"/>
            <a:ext cx="10477500" cy="198120"/>
          </a:xfrm>
          <a:prstGeom prst="rect">
            <a:avLst/>
          </a:prstGeom>
          <a:noFill/>
        </p:spPr>
        <p:txBody>
          <a:bodyPr wrap="none" lIns="0" rIns="0" tIns="0" bIns="0" anchor="ctr">
            <a:spAutoFit/>
          </a:bodyPr>
          <a:lstStyle/>
          <a:p>
            <a:pPr algn="ctr"/>
            <a:r>
              <a:rPr sz="1200" b="0">
                <a:solidFill>
                  <a:srgbClr val="FFFFFF"/>
                </a:solidFill>
                <a:latin typeface="Arial"/>
              </a:rPr>
              <a:t>0.66</a:t>
            </a:r>
          </a:p>
        </p:txBody>
      </p:sp>
      <p:sp xmlns:a="http://schemas.openxmlformats.org/drawingml/2006/main">
        <p:nvSpPr>
          <p:cNvPr id="126" name="Rectangle 125"/>
          <p:cNvSpPr/>
          <p:nvPr/>
        </p:nvSpPr>
        <p:spPr>
          <a:xfrm>
            <a:off x="12525375" y="4953000"/>
            <a:ext cx="952500" cy="419100"/>
          </a:xfrm>
          <a:prstGeom prst="rect">
            <a:avLst/>
          </a:prstGeom>
          <a:solidFill>
            <a:srgbClr val="799F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7" name="TextBox 126"/>
          <p:cNvSpPr txBox="1"/>
          <p:nvPr/>
        </p:nvSpPr>
        <p:spPr>
          <a:xfrm>
            <a:off x="12982575" y="5067300"/>
            <a:ext cx="10477500" cy="198120"/>
          </a:xfrm>
          <a:prstGeom prst="rect">
            <a:avLst/>
          </a:prstGeom>
          <a:noFill/>
        </p:spPr>
        <p:txBody>
          <a:bodyPr wrap="none" lIns="0" rIns="0" tIns="0" bIns="0" anchor="ctr">
            <a:spAutoFit/>
          </a:bodyPr>
          <a:lstStyle/>
          <a:p>
            <a:pPr algn="ctr"/>
            <a:r>
              <a:rPr sz="1200" b="0">
                <a:solidFill>
                  <a:srgbClr val="FFFFFF"/>
                </a:solidFill>
                <a:latin typeface="Arial"/>
              </a:rPr>
              <a:t>0.72</a:t>
            </a:r>
          </a:p>
        </p:txBody>
      </p:sp>
      <p:sp xmlns:a="http://schemas.openxmlformats.org/drawingml/2006/main">
        <p:nvSpPr>
          <p:cNvPr id="128" name="Rectangle 127"/>
          <p:cNvSpPr/>
          <p:nvPr/>
        </p:nvSpPr>
        <p:spPr>
          <a:xfrm>
            <a:off x="13477875" y="4953000"/>
            <a:ext cx="952500" cy="419100"/>
          </a:xfrm>
          <a:prstGeom prst="rect">
            <a:avLst/>
          </a:prstGeom>
          <a:solidFill>
            <a:srgbClr val="93B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29" name="TextBox 128"/>
          <p:cNvSpPr txBox="1"/>
          <p:nvPr/>
        </p:nvSpPr>
        <p:spPr>
          <a:xfrm>
            <a:off x="13935075" y="5067300"/>
            <a:ext cx="10477500" cy="198120"/>
          </a:xfrm>
          <a:prstGeom prst="rect">
            <a:avLst/>
          </a:prstGeom>
          <a:noFill/>
        </p:spPr>
        <p:txBody>
          <a:bodyPr wrap="none" lIns="0" rIns="0" tIns="0" bIns="0" anchor="ctr">
            <a:spAutoFit/>
          </a:bodyPr>
          <a:lstStyle/>
          <a:p>
            <a:pPr algn="ctr"/>
            <a:r>
              <a:rPr sz="1200" b="0">
                <a:solidFill>
                  <a:srgbClr val="00355F"/>
                </a:solidFill>
                <a:latin typeface="Arial"/>
              </a:rPr>
              <a:t>0.58</a:t>
            </a:r>
          </a:p>
        </p:txBody>
      </p:sp>
      <p:sp xmlns:a="http://schemas.openxmlformats.org/drawingml/2006/main">
        <p:nvSpPr>
          <p:cNvPr id="130" name="Rectangle 129"/>
          <p:cNvSpPr/>
          <p:nvPr/>
        </p:nvSpPr>
        <p:spPr>
          <a:xfrm>
            <a:off x="14430375" y="4953000"/>
            <a:ext cx="952500" cy="419100"/>
          </a:xfrm>
          <a:prstGeom prst="rect">
            <a:avLst/>
          </a:prstGeom>
          <a:solidFill>
            <a:srgbClr val="CBE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31" name="TextBox 130"/>
          <p:cNvSpPr txBox="1"/>
          <p:nvPr/>
        </p:nvSpPr>
        <p:spPr>
          <a:xfrm>
            <a:off x="14887575" y="5067300"/>
            <a:ext cx="10477500" cy="198120"/>
          </a:xfrm>
          <a:prstGeom prst="rect">
            <a:avLst/>
          </a:prstGeom>
          <a:noFill/>
        </p:spPr>
        <p:txBody>
          <a:bodyPr wrap="none" lIns="0" rIns="0" tIns="0" bIns="0" anchor="ctr">
            <a:spAutoFit/>
          </a:bodyPr>
          <a:lstStyle/>
          <a:p>
            <a:pPr algn="ctr"/>
            <a:r>
              <a:rPr sz="1200" b="0">
                <a:solidFill>
                  <a:srgbClr val="00355F"/>
                </a:solidFill>
                <a:latin typeface="Arial"/>
              </a:rPr>
              <a:t>0.24</a:t>
            </a:r>
          </a:p>
        </p:txBody>
      </p:sp>
      <p:sp xmlns:a="http://schemas.openxmlformats.org/drawingml/2006/main">
        <p:nvSpPr>
          <p:cNvPr id="132" name="Rectangle 131"/>
          <p:cNvSpPr/>
          <p:nvPr/>
        </p:nvSpPr>
        <p:spPr>
          <a:xfrm>
            <a:off x="15382875" y="4953000"/>
            <a:ext cx="952500" cy="419100"/>
          </a:xfrm>
          <a:prstGeom prst="rect">
            <a:avLst/>
          </a:prstGeom>
          <a:solidFill>
            <a:srgbClr val="A4C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33" name="TextBox 132"/>
          <p:cNvSpPr txBox="1"/>
          <p:nvPr/>
        </p:nvSpPr>
        <p:spPr>
          <a:xfrm>
            <a:off x="15840075" y="5067300"/>
            <a:ext cx="10477500" cy="198120"/>
          </a:xfrm>
          <a:prstGeom prst="rect">
            <a:avLst/>
          </a:prstGeom>
          <a:noFill/>
        </p:spPr>
        <p:txBody>
          <a:bodyPr wrap="none" lIns="0" rIns="0" tIns="0" bIns="0" anchor="ctr">
            <a:spAutoFit/>
          </a:bodyPr>
          <a:lstStyle/>
          <a:p>
            <a:pPr algn="ctr"/>
            <a:r>
              <a:rPr sz="1200" b="0">
                <a:solidFill>
                  <a:srgbClr val="00355F"/>
                </a:solidFill>
                <a:latin typeface="Arial"/>
              </a:rPr>
              <a:t>0.49</a:t>
            </a:r>
          </a:p>
        </p:txBody>
      </p:sp>
      <p:sp xmlns:a="http://schemas.openxmlformats.org/drawingml/2006/main">
        <p:nvSpPr>
          <p:cNvPr id="134" name="Rectangle 133"/>
          <p:cNvSpPr/>
          <p:nvPr/>
        </p:nvSpPr>
        <p:spPr>
          <a:xfrm>
            <a:off x="16335375" y="4953000"/>
            <a:ext cx="952500" cy="419100"/>
          </a:xfrm>
          <a:prstGeom prst="rect">
            <a:avLst/>
          </a:prstGeom>
          <a:solidFill>
            <a:srgbClr val="6E9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35" name="TextBox 134"/>
          <p:cNvSpPr txBox="1"/>
          <p:nvPr/>
        </p:nvSpPr>
        <p:spPr>
          <a:xfrm>
            <a:off x="16792575" y="5067300"/>
            <a:ext cx="10477500" cy="198120"/>
          </a:xfrm>
          <a:prstGeom prst="rect">
            <a:avLst/>
          </a:prstGeom>
          <a:noFill/>
        </p:spPr>
        <p:txBody>
          <a:bodyPr wrap="none" lIns="0" rIns="0" tIns="0" bIns="0" anchor="ctr">
            <a:spAutoFit/>
          </a:bodyPr>
          <a:lstStyle/>
          <a:p>
            <a:pPr algn="ctr"/>
            <a:r>
              <a:rPr sz="1200" b="0">
                <a:solidFill>
                  <a:srgbClr val="FFFFFF"/>
                </a:solidFill>
                <a:latin typeface="Arial"/>
              </a:rPr>
              <a:t>0.76</a:t>
            </a:r>
          </a:p>
        </p:txBody>
      </p:sp>
      <p:sp xmlns:a="http://schemas.openxmlformats.org/drawingml/2006/main">
        <p:nvSpPr>
          <p:cNvPr id="136" name="Rectangle 135"/>
          <p:cNvSpPr/>
          <p:nvPr/>
        </p:nvSpPr>
        <p:spPr>
          <a:xfrm>
            <a:off x="7286625" y="5372100"/>
            <a:ext cx="1428750" cy="419100"/>
          </a:xfrm>
          <a:prstGeom prst="rect">
            <a:avLst/>
          </a:prstGeom>
          <a:solidFill>
            <a:srgbClr val="FFFFFF"/>
          </a:solidFill>
          <a:ln w="5714">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37" name="TextBox 136"/>
          <p:cNvSpPr txBox="1"/>
          <p:nvPr/>
        </p:nvSpPr>
        <p:spPr>
          <a:xfrm>
            <a:off x="7981950" y="5467350"/>
            <a:ext cx="10477500" cy="222885"/>
          </a:xfrm>
          <a:prstGeom prst="rect">
            <a:avLst/>
          </a:prstGeom>
          <a:noFill/>
        </p:spPr>
        <p:txBody>
          <a:bodyPr wrap="none" lIns="0" rIns="0" tIns="0" bIns="0" anchor="ctr">
            <a:spAutoFit/>
          </a:bodyPr>
          <a:lstStyle/>
          <a:p>
            <a:pPr algn="ctr"/>
            <a:r>
              <a:rPr sz="1350" b="0">
                <a:solidFill>
                  <a:srgbClr val="00355F"/>
                </a:solidFill>
                <a:latin typeface="Arial"/>
              </a:rPr>
              <a:t>Ab-005</a:t>
            </a:r>
          </a:p>
        </p:txBody>
      </p:sp>
      <p:sp xmlns:a="http://schemas.openxmlformats.org/drawingml/2006/main">
        <p:nvSpPr>
          <p:cNvPr id="138" name="Rectangle 137"/>
          <p:cNvSpPr/>
          <p:nvPr/>
        </p:nvSpPr>
        <p:spPr>
          <a:xfrm>
            <a:off x="8715375" y="5372100"/>
            <a:ext cx="952500" cy="419100"/>
          </a:xfrm>
          <a:prstGeom prst="rect">
            <a:avLst/>
          </a:prstGeom>
          <a:solidFill>
            <a:srgbClr val="ADD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39" name="TextBox 138"/>
          <p:cNvSpPr txBox="1"/>
          <p:nvPr/>
        </p:nvSpPr>
        <p:spPr>
          <a:xfrm>
            <a:off x="9172575" y="5486400"/>
            <a:ext cx="10477500" cy="198120"/>
          </a:xfrm>
          <a:prstGeom prst="rect">
            <a:avLst/>
          </a:prstGeom>
          <a:noFill/>
        </p:spPr>
        <p:txBody>
          <a:bodyPr wrap="none" lIns="0" rIns="0" tIns="0" bIns="0" anchor="ctr">
            <a:spAutoFit/>
          </a:bodyPr>
          <a:lstStyle/>
          <a:p>
            <a:pPr algn="ctr"/>
            <a:r>
              <a:rPr sz="1200" b="0">
                <a:solidFill>
                  <a:srgbClr val="00355F"/>
                </a:solidFill>
                <a:latin typeface="Arial"/>
              </a:rPr>
              <a:t>0.44</a:t>
            </a:r>
          </a:p>
        </p:txBody>
      </p:sp>
      <p:sp xmlns:a="http://schemas.openxmlformats.org/drawingml/2006/main">
        <p:nvSpPr>
          <p:cNvPr id="140" name="Rectangle 139"/>
          <p:cNvSpPr/>
          <p:nvPr/>
        </p:nvSpPr>
        <p:spPr>
          <a:xfrm>
            <a:off x="9667875" y="5372100"/>
            <a:ext cx="952500" cy="419100"/>
          </a:xfrm>
          <a:prstGeom prst="rect">
            <a:avLst/>
          </a:prstGeom>
          <a:solidFill>
            <a:srgbClr val="C1D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41" name="TextBox 140"/>
          <p:cNvSpPr txBox="1"/>
          <p:nvPr/>
        </p:nvSpPr>
        <p:spPr>
          <a:xfrm>
            <a:off x="10125075" y="5486400"/>
            <a:ext cx="10477500" cy="198120"/>
          </a:xfrm>
          <a:prstGeom prst="rect">
            <a:avLst/>
          </a:prstGeom>
          <a:noFill/>
        </p:spPr>
        <p:txBody>
          <a:bodyPr wrap="none" lIns="0" rIns="0" tIns="0" bIns="0" anchor="ctr">
            <a:spAutoFit/>
          </a:bodyPr>
          <a:lstStyle/>
          <a:p>
            <a:pPr algn="ctr"/>
            <a:r>
              <a:rPr sz="1200" b="0">
                <a:solidFill>
                  <a:srgbClr val="00355F"/>
                </a:solidFill>
                <a:latin typeface="Arial"/>
              </a:rPr>
              <a:t>0.31</a:t>
            </a:r>
          </a:p>
        </p:txBody>
      </p:sp>
      <p:sp xmlns:a="http://schemas.openxmlformats.org/drawingml/2006/main">
        <p:nvSpPr>
          <p:cNvPr id="142" name="Rectangle 141"/>
          <p:cNvSpPr/>
          <p:nvPr/>
        </p:nvSpPr>
        <p:spPr>
          <a:xfrm>
            <a:off x="10620375" y="5372100"/>
            <a:ext cx="952500" cy="419100"/>
          </a:xfrm>
          <a:prstGeom prst="rect">
            <a:avLst/>
          </a:prstGeom>
          <a:solidFill>
            <a:srgbClr val="B6D9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43" name="TextBox 142"/>
          <p:cNvSpPr txBox="1"/>
          <p:nvPr/>
        </p:nvSpPr>
        <p:spPr>
          <a:xfrm>
            <a:off x="11077575" y="5486400"/>
            <a:ext cx="10477500" cy="198120"/>
          </a:xfrm>
          <a:prstGeom prst="rect">
            <a:avLst/>
          </a:prstGeom>
          <a:noFill/>
        </p:spPr>
        <p:txBody>
          <a:bodyPr wrap="none" lIns="0" rIns="0" tIns="0" bIns="0" anchor="ctr">
            <a:spAutoFit/>
          </a:bodyPr>
          <a:lstStyle/>
          <a:p>
            <a:pPr algn="ctr"/>
            <a:r>
              <a:rPr sz="1200" b="0">
                <a:solidFill>
                  <a:srgbClr val="00355F"/>
                </a:solidFill>
                <a:latin typeface="Arial"/>
              </a:rPr>
              <a:t>0.38</a:t>
            </a:r>
          </a:p>
        </p:txBody>
      </p:sp>
      <p:sp xmlns:a="http://schemas.openxmlformats.org/drawingml/2006/main">
        <p:nvSpPr>
          <p:cNvPr id="144" name="Rectangle 143"/>
          <p:cNvSpPr/>
          <p:nvPr/>
        </p:nvSpPr>
        <p:spPr>
          <a:xfrm>
            <a:off x="11572875" y="5372100"/>
            <a:ext cx="952500" cy="419100"/>
          </a:xfrm>
          <a:prstGeom prst="rect">
            <a:avLst/>
          </a:prstGeom>
          <a:solidFill>
            <a:srgbClr val="93B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45" name="TextBox 144"/>
          <p:cNvSpPr txBox="1"/>
          <p:nvPr/>
        </p:nvSpPr>
        <p:spPr>
          <a:xfrm>
            <a:off x="12030075" y="5486400"/>
            <a:ext cx="10477500" cy="198120"/>
          </a:xfrm>
          <a:prstGeom prst="rect">
            <a:avLst/>
          </a:prstGeom>
          <a:noFill/>
        </p:spPr>
        <p:txBody>
          <a:bodyPr wrap="none" lIns="0" rIns="0" tIns="0" bIns="0" anchor="ctr">
            <a:spAutoFit/>
          </a:bodyPr>
          <a:lstStyle/>
          <a:p>
            <a:pPr algn="ctr"/>
            <a:r>
              <a:rPr sz="1200" b="0">
                <a:solidFill>
                  <a:srgbClr val="00355F"/>
                </a:solidFill>
                <a:latin typeface="Arial"/>
              </a:rPr>
              <a:t>0.58</a:t>
            </a:r>
          </a:p>
        </p:txBody>
      </p:sp>
      <p:sp xmlns:a="http://schemas.openxmlformats.org/drawingml/2006/main">
        <p:nvSpPr>
          <p:cNvPr id="146" name="Rectangle 145"/>
          <p:cNvSpPr/>
          <p:nvPr/>
        </p:nvSpPr>
        <p:spPr>
          <a:xfrm>
            <a:off x="12525375" y="5372100"/>
            <a:ext cx="952500" cy="419100"/>
          </a:xfrm>
          <a:prstGeom prst="rect">
            <a:avLst/>
          </a:prstGeom>
          <a:solidFill>
            <a:srgbClr val="B2D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47" name="TextBox 146"/>
          <p:cNvSpPr txBox="1"/>
          <p:nvPr/>
        </p:nvSpPr>
        <p:spPr>
          <a:xfrm>
            <a:off x="12982575" y="5486400"/>
            <a:ext cx="10477500" cy="198120"/>
          </a:xfrm>
          <a:prstGeom prst="rect">
            <a:avLst/>
          </a:prstGeom>
          <a:noFill/>
        </p:spPr>
        <p:txBody>
          <a:bodyPr wrap="none" lIns="0" rIns="0" tIns="0" bIns="0" anchor="ctr">
            <a:spAutoFit/>
          </a:bodyPr>
          <a:lstStyle/>
          <a:p>
            <a:pPr algn="ctr"/>
            <a:r>
              <a:rPr sz="1200" b="0">
                <a:solidFill>
                  <a:srgbClr val="00355F"/>
                </a:solidFill>
                <a:latin typeface="Arial"/>
              </a:rPr>
              <a:t>0.41</a:t>
            </a:r>
          </a:p>
        </p:txBody>
      </p:sp>
      <p:sp xmlns:a="http://schemas.openxmlformats.org/drawingml/2006/main">
        <p:nvSpPr>
          <p:cNvPr id="148" name="Rectangle 147"/>
          <p:cNvSpPr/>
          <p:nvPr/>
        </p:nvSpPr>
        <p:spPr>
          <a:xfrm>
            <a:off x="13477875" y="5372100"/>
            <a:ext cx="952500" cy="419100"/>
          </a:xfrm>
          <a:prstGeom prst="rect">
            <a:avLst/>
          </a:prstGeom>
          <a:solidFill>
            <a:srgbClr val="84AB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49" name="TextBox 148"/>
          <p:cNvSpPr txBox="1"/>
          <p:nvPr/>
        </p:nvSpPr>
        <p:spPr>
          <a:xfrm>
            <a:off x="13935075" y="5486400"/>
            <a:ext cx="10477500" cy="198120"/>
          </a:xfrm>
          <a:prstGeom prst="rect">
            <a:avLst/>
          </a:prstGeom>
          <a:noFill/>
        </p:spPr>
        <p:txBody>
          <a:bodyPr wrap="none" lIns="0" rIns="0" tIns="0" bIns="0" anchor="ctr">
            <a:spAutoFit/>
          </a:bodyPr>
          <a:lstStyle/>
          <a:p>
            <a:pPr algn="ctr"/>
            <a:r>
              <a:rPr sz="1200" b="0">
                <a:solidFill>
                  <a:srgbClr val="FFFFFF"/>
                </a:solidFill>
                <a:latin typeface="Arial"/>
              </a:rPr>
              <a:t>0.66</a:t>
            </a:r>
          </a:p>
        </p:txBody>
      </p:sp>
      <p:sp xmlns:a="http://schemas.openxmlformats.org/drawingml/2006/main">
        <p:nvSpPr>
          <p:cNvPr id="150" name="Rectangle 149"/>
          <p:cNvSpPr/>
          <p:nvPr/>
        </p:nvSpPr>
        <p:spPr>
          <a:xfrm>
            <a:off x="14430375" y="5372100"/>
            <a:ext cx="952500" cy="419100"/>
          </a:xfrm>
          <a:prstGeom prst="rect">
            <a:avLst/>
          </a:prstGeom>
          <a:solidFill>
            <a:srgbClr val="7BA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51" name="TextBox 150"/>
          <p:cNvSpPr txBox="1"/>
          <p:nvPr/>
        </p:nvSpPr>
        <p:spPr>
          <a:xfrm>
            <a:off x="14887575" y="5486400"/>
            <a:ext cx="10477500" cy="198120"/>
          </a:xfrm>
          <a:prstGeom prst="rect">
            <a:avLst/>
          </a:prstGeom>
          <a:noFill/>
        </p:spPr>
        <p:txBody>
          <a:bodyPr wrap="none" lIns="0" rIns="0" tIns="0" bIns="0" anchor="ctr">
            <a:spAutoFit/>
          </a:bodyPr>
          <a:lstStyle/>
          <a:p>
            <a:pPr algn="ctr"/>
            <a:r>
              <a:rPr sz="1200" b="0">
                <a:solidFill>
                  <a:srgbClr val="FFFFFF"/>
                </a:solidFill>
                <a:latin typeface="Arial"/>
              </a:rPr>
              <a:t>0.71</a:t>
            </a:r>
          </a:p>
        </p:txBody>
      </p:sp>
      <p:sp xmlns:a="http://schemas.openxmlformats.org/drawingml/2006/main">
        <p:nvSpPr>
          <p:cNvPr id="152" name="Rectangle 151"/>
          <p:cNvSpPr/>
          <p:nvPr/>
        </p:nvSpPr>
        <p:spPr>
          <a:xfrm>
            <a:off x="15382875" y="5372100"/>
            <a:ext cx="952500" cy="419100"/>
          </a:xfrm>
          <a:prstGeom prst="rect">
            <a:avLst/>
          </a:prstGeom>
          <a:solidFill>
            <a:srgbClr val="FFFFFF"/>
          </a:solidFill>
          <a:ln w="7620">
            <a:solidFill>
              <a:srgbClr val="A5A5A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53" name="TextBox 152"/>
          <p:cNvSpPr txBox="1"/>
          <p:nvPr/>
        </p:nvSpPr>
        <p:spPr>
          <a:xfrm>
            <a:off x="15840075" y="5476875"/>
            <a:ext cx="10477500" cy="210502"/>
          </a:xfrm>
          <a:prstGeom prst="rect">
            <a:avLst/>
          </a:prstGeom>
          <a:noFill/>
        </p:spPr>
        <p:txBody>
          <a:bodyPr wrap="none" lIns="0" rIns="0" tIns="0" bIns="0" anchor="ctr">
            <a:spAutoFit/>
          </a:bodyPr>
          <a:lstStyle/>
          <a:p>
            <a:pPr algn="ctr"/>
            <a:r>
              <a:rPr sz="1275" b="0">
                <a:solidFill>
                  <a:srgbClr val="A5A5A5"/>
                </a:solidFill>
                <a:latin typeface="Arial"/>
              </a:rPr>
              <a:t>—</a:t>
            </a:r>
          </a:p>
        </p:txBody>
      </p:sp>
      <p:sp xmlns:a="http://schemas.openxmlformats.org/drawingml/2006/main">
        <p:nvSpPr>
          <p:cNvPr id="154" name="Rectangle 153"/>
          <p:cNvSpPr/>
          <p:nvPr/>
        </p:nvSpPr>
        <p:spPr>
          <a:xfrm>
            <a:off x="16335375" y="5372100"/>
            <a:ext cx="952500" cy="419100"/>
          </a:xfrm>
          <a:prstGeom prst="rect">
            <a:avLst/>
          </a:prstGeom>
          <a:solidFill>
            <a:srgbClr val="C3E0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55" name="TextBox 154"/>
          <p:cNvSpPr txBox="1"/>
          <p:nvPr/>
        </p:nvSpPr>
        <p:spPr>
          <a:xfrm>
            <a:off x="16792575" y="5486400"/>
            <a:ext cx="10477500" cy="198120"/>
          </a:xfrm>
          <a:prstGeom prst="rect">
            <a:avLst/>
          </a:prstGeom>
          <a:noFill/>
        </p:spPr>
        <p:txBody>
          <a:bodyPr wrap="none" lIns="0" rIns="0" tIns="0" bIns="0" anchor="ctr">
            <a:spAutoFit/>
          </a:bodyPr>
          <a:lstStyle/>
          <a:p>
            <a:pPr algn="ctr"/>
            <a:r>
              <a:rPr sz="1200" b="0">
                <a:solidFill>
                  <a:srgbClr val="00355F"/>
                </a:solidFill>
                <a:latin typeface="Arial"/>
              </a:rPr>
              <a:t>0.29</a:t>
            </a:r>
          </a:p>
        </p:txBody>
      </p:sp>
      <p:sp xmlns:a="http://schemas.openxmlformats.org/drawingml/2006/main">
        <p:nvSpPr>
          <p:cNvPr id="156" name="Rectangle 155"/>
          <p:cNvSpPr/>
          <p:nvPr/>
        </p:nvSpPr>
        <p:spPr>
          <a:xfrm>
            <a:off x="7286625" y="5791200"/>
            <a:ext cx="1428750" cy="419100"/>
          </a:xfrm>
          <a:prstGeom prst="rect">
            <a:avLst/>
          </a:prstGeom>
          <a:solidFill>
            <a:srgbClr val="EEF6FC"/>
          </a:solidFill>
          <a:ln w="5714">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57" name="TextBox 156"/>
          <p:cNvSpPr txBox="1"/>
          <p:nvPr/>
        </p:nvSpPr>
        <p:spPr>
          <a:xfrm>
            <a:off x="7981950" y="5886450"/>
            <a:ext cx="10477500" cy="222885"/>
          </a:xfrm>
          <a:prstGeom prst="rect">
            <a:avLst/>
          </a:prstGeom>
          <a:noFill/>
        </p:spPr>
        <p:txBody>
          <a:bodyPr wrap="none" lIns="0" rIns="0" tIns="0" bIns="0" anchor="ctr">
            <a:spAutoFit/>
          </a:bodyPr>
          <a:lstStyle/>
          <a:p>
            <a:pPr algn="ctr"/>
            <a:r>
              <a:rPr sz="1350" b="0">
                <a:solidFill>
                  <a:srgbClr val="00355F"/>
                </a:solidFill>
                <a:latin typeface="Arial"/>
              </a:rPr>
              <a:t>Ab-006</a:t>
            </a:r>
          </a:p>
        </p:txBody>
      </p:sp>
      <p:sp xmlns:a="http://schemas.openxmlformats.org/drawingml/2006/main">
        <p:nvSpPr>
          <p:cNvPr id="158" name="Rectangle 157"/>
          <p:cNvSpPr/>
          <p:nvPr/>
        </p:nvSpPr>
        <p:spPr>
          <a:xfrm>
            <a:off x="8715375" y="5791200"/>
            <a:ext cx="952500" cy="419100"/>
          </a:xfrm>
          <a:prstGeom prst="rect">
            <a:avLst/>
          </a:prstGeom>
          <a:solidFill>
            <a:srgbClr val="95B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59" name="TextBox 158"/>
          <p:cNvSpPr txBox="1"/>
          <p:nvPr/>
        </p:nvSpPr>
        <p:spPr>
          <a:xfrm>
            <a:off x="9172575" y="5905500"/>
            <a:ext cx="10477500" cy="198120"/>
          </a:xfrm>
          <a:prstGeom prst="rect">
            <a:avLst/>
          </a:prstGeom>
          <a:noFill/>
        </p:spPr>
        <p:txBody>
          <a:bodyPr wrap="none" lIns="0" rIns="0" tIns="0" bIns="0" anchor="ctr">
            <a:spAutoFit/>
          </a:bodyPr>
          <a:lstStyle/>
          <a:p>
            <a:pPr algn="ctr"/>
            <a:r>
              <a:rPr sz="1200" b="0">
                <a:solidFill>
                  <a:srgbClr val="00355F"/>
                </a:solidFill>
                <a:latin typeface="Arial"/>
              </a:rPr>
              <a:t>0.57</a:t>
            </a:r>
          </a:p>
        </p:txBody>
      </p:sp>
      <p:sp xmlns:a="http://schemas.openxmlformats.org/drawingml/2006/main">
        <p:nvSpPr>
          <p:cNvPr id="160" name="Rectangle 159"/>
          <p:cNvSpPr/>
          <p:nvPr/>
        </p:nvSpPr>
        <p:spPr>
          <a:xfrm>
            <a:off x="9667875" y="5791200"/>
            <a:ext cx="952500" cy="419100"/>
          </a:xfrm>
          <a:prstGeom prst="rect">
            <a:avLst/>
          </a:prstGeom>
          <a:solidFill>
            <a:srgbClr val="7EA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61" name="TextBox 160"/>
          <p:cNvSpPr txBox="1"/>
          <p:nvPr/>
        </p:nvSpPr>
        <p:spPr>
          <a:xfrm>
            <a:off x="10125075" y="5905500"/>
            <a:ext cx="10477500" cy="198120"/>
          </a:xfrm>
          <a:prstGeom prst="rect">
            <a:avLst/>
          </a:prstGeom>
          <a:noFill/>
        </p:spPr>
        <p:txBody>
          <a:bodyPr wrap="none" lIns="0" rIns="0" tIns="0" bIns="0" anchor="ctr">
            <a:spAutoFit/>
          </a:bodyPr>
          <a:lstStyle/>
          <a:p>
            <a:pPr algn="ctr"/>
            <a:r>
              <a:rPr sz="1200" b="0">
                <a:solidFill>
                  <a:srgbClr val="FFFFFF"/>
                </a:solidFill>
                <a:latin typeface="Arial"/>
              </a:rPr>
              <a:t>0.69</a:t>
            </a:r>
          </a:p>
        </p:txBody>
      </p:sp>
      <p:sp xmlns:a="http://schemas.openxmlformats.org/drawingml/2006/main">
        <p:nvSpPr>
          <p:cNvPr id="162" name="Rectangle 161"/>
          <p:cNvSpPr/>
          <p:nvPr/>
        </p:nvSpPr>
        <p:spPr>
          <a:xfrm>
            <a:off x="10620375" y="5791200"/>
            <a:ext cx="952500" cy="419100"/>
          </a:xfrm>
          <a:prstGeom prst="rect">
            <a:avLst/>
          </a:prstGeom>
          <a:solidFill>
            <a:srgbClr val="9FC6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63" name="TextBox 162"/>
          <p:cNvSpPr txBox="1"/>
          <p:nvPr/>
        </p:nvSpPr>
        <p:spPr>
          <a:xfrm>
            <a:off x="11077575" y="5905500"/>
            <a:ext cx="10477500" cy="198120"/>
          </a:xfrm>
          <a:prstGeom prst="rect">
            <a:avLst/>
          </a:prstGeom>
          <a:noFill/>
        </p:spPr>
        <p:txBody>
          <a:bodyPr wrap="none" lIns="0" rIns="0" tIns="0" bIns="0" anchor="ctr">
            <a:spAutoFit/>
          </a:bodyPr>
          <a:lstStyle/>
          <a:p>
            <a:pPr algn="ctr"/>
            <a:r>
              <a:rPr sz="1200" b="0">
                <a:solidFill>
                  <a:srgbClr val="00355F"/>
                </a:solidFill>
                <a:latin typeface="Arial"/>
              </a:rPr>
              <a:t>0.52</a:t>
            </a:r>
          </a:p>
        </p:txBody>
      </p:sp>
      <p:sp xmlns:a="http://schemas.openxmlformats.org/drawingml/2006/main">
        <p:nvSpPr>
          <p:cNvPr id="164" name="Rectangle 163"/>
          <p:cNvSpPr/>
          <p:nvPr/>
        </p:nvSpPr>
        <p:spPr>
          <a:xfrm>
            <a:off x="11572875" y="5791200"/>
            <a:ext cx="952500" cy="419100"/>
          </a:xfrm>
          <a:prstGeom prst="rect">
            <a:avLst/>
          </a:prstGeom>
          <a:solidFill>
            <a:srgbClr val="779D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65" name="TextBox 164"/>
          <p:cNvSpPr txBox="1"/>
          <p:nvPr/>
        </p:nvSpPr>
        <p:spPr>
          <a:xfrm>
            <a:off x="12030075" y="5905500"/>
            <a:ext cx="10477500" cy="198120"/>
          </a:xfrm>
          <a:prstGeom prst="rect">
            <a:avLst/>
          </a:prstGeom>
          <a:noFill/>
        </p:spPr>
        <p:txBody>
          <a:bodyPr wrap="none" lIns="0" rIns="0" tIns="0" bIns="0" anchor="ctr">
            <a:spAutoFit/>
          </a:bodyPr>
          <a:lstStyle/>
          <a:p>
            <a:pPr algn="ctr"/>
            <a:r>
              <a:rPr sz="1200" b="0">
                <a:solidFill>
                  <a:srgbClr val="FFFFFF"/>
                </a:solidFill>
                <a:latin typeface="Arial"/>
              </a:rPr>
              <a:t>0.73</a:t>
            </a:r>
          </a:p>
        </p:txBody>
      </p:sp>
      <p:sp xmlns:a="http://schemas.openxmlformats.org/drawingml/2006/main">
        <p:nvSpPr>
          <p:cNvPr id="166" name="Rectangle 165"/>
          <p:cNvSpPr/>
          <p:nvPr/>
        </p:nvSpPr>
        <p:spPr>
          <a:xfrm>
            <a:off x="12525375" y="5791200"/>
            <a:ext cx="952500" cy="419100"/>
          </a:xfrm>
          <a:prstGeom prst="rect">
            <a:avLst/>
          </a:prstGeom>
          <a:solidFill>
            <a:srgbClr val="99C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67" name="TextBox 166"/>
          <p:cNvSpPr txBox="1"/>
          <p:nvPr/>
        </p:nvSpPr>
        <p:spPr>
          <a:xfrm>
            <a:off x="12982575" y="5905500"/>
            <a:ext cx="10477500" cy="198120"/>
          </a:xfrm>
          <a:prstGeom prst="rect">
            <a:avLst/>
          </a:prstGeom>
          <a:noFill/>
        </p:spPr>
        <p:txBody>
          <a:bodyPr wrap="none" lIns="0" rIns="0" tIns="0" bIns="0" anchor="ctr">
            <a:spAutoFit/>
          </a:bodyPr>
          <a:lstStyle/>
          <a:p>
            <a:pPr algn="ctr"/>
            <a:r>
              <a:rPr sz="1200" b="0">
                <a:solidFill>
                  <a:srgbClr val="00355F"/>
                </a:solidFill>
                <a:latin typeface="Arial"/>
              </a:rPr>
              <a:t>0.55</a:t>
            </a:r>
          </a:p>
        </p:txBody>
      </p:sp>
      <p:sp xmlns:a="http://schemas.openxmlformats.org/drawingml/2006/main">
        <p:nvSpPr>
          <p:cNvPr id="168" name="Rectangle 167"/>
          <p:cNvSpPr/>
          <p:nvPr/>
        </p:nvSpPr>
        <p:spPr>
          <a:xfrm>
            <a:off x="13477875" y="5791200"/>
            <a:ext cx="952500" cy="419100"/>
          </a:xfrm>
          <a:prstGeom prst="rect">
            <a:avLst/>
          </a:prstGeom>
          <a:solidFill>
            <a:srgbClr val="ADD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69" name="TextBox 168"/>
          <p:cNvSpPr txBox="1"/>
          <p:nvPr/>
        </p:nvSpPr>
        <p:spPr>
          <a:xfrm>
            <a:off x="13935075" y="5905500"/>
            <a:ext cx="10477500" cy="198120"/>
          </a:xfrm>
          <a:prstGeom prst="rect">
            <a:avLst/>
          </a:prstGeom>
          <a:noFill/>
        </p:spPr>
        <p:txBody>
          <a:bodyPr wrap="none" lIns="0" rIns="0" tIns="0" bIns="0" anchor="ctr">
            <a:spAutoFit/>
          </a:bodyPr>
          <a:lstStyle/>
          <a:p>
            <a:pPr algn="ctr"/>
            <a:r>
              <a:rPr sz="1200" b="0">
                <a:solidFill>
                  <a:srgbClr val="00355F"/>
                </a:solidFill>
                <a:latin typeface="Arial"/>
              </a:rPr>
              <a:t>0.44</a:t>
            </a:r>
          </a:p>
        </p:txBody>
      </p:sp>
      <p:sp xmlns:a="http://schemas.openxmlformats.org/drawingml/2006/main">
        <p:nvSpPr>
          <p:cNvPr id="170" name="Rectangle 169"/>
          <p:cNvSpPr/>
          <p:nvPr/>
        </p:nvSpPr>
        <p:spPr>
          <a:xfrm>
            <a:off x="14430375" y="5791200"/>
            <a:ext cx="952500" cy="419100"/>
          </a:xfrm>
          <a:prstGeom prst="rect">
            <a:avLst/>
          </a:prstGeom>
          <a:solidFill>
            <a:srgbClr val="B8DA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71" name="TextBox 170"/>
          <p:cNvSpPr txBox="1"/>
          <p:nvPr/>
        </p:nvSpPr>
        <p:spPr>
          <a:xfrm>
            <a:off x="14887575" y="5905500"/>
            <a:ext cx="10477500" cy="198120"/>
          </a:xfrm>
          <a:prstGeom prst="rect">
            <a:avLst/>
          </a:prstGeom>
          <a:noFill/>
        </p:spPr>
        <p:txBody>
          <a:bodyPr wrap="none" lIns="0" rIns="0" tIns="0" bIns="0" anchor="ctr">
            <a:spAutoFit/>
          </a:bodyPr>
          <a:lstStyle/>
          <a:p>
            <a:pPr algn="ctr"/>
            <a:r>
              <a:rPr sz="1200" b="0">
                <a:solidFill>
                  <a:srgbClr val="00355F"/>
                </a:solidFill>
                <a:latin typeface="Arial"/>
              </a:rPr>
              <a:t>0.37</a:t>
            </a:r>
          </a:p>
        </p:txBody>
      </p:sp>
      <p:sp xmlns:a="http://schemas.openxmlformats.org/drawingml/2006/main">
        <p:nvSpPr>
          <p:cNvPr id="172" name="Rectangle 171"/>
          <p:cNvSpPr/>
          <p:nvPr/>
        </p:nvSpPr>
        <p:spPr>
          <a:xfrm>
            <a:off x="15382875" y="5791200"/>
            <a:ext cx="952500" cy="419100"/>
          </a:xfrm>
          <a:prstGeom prst="rect">
            <a:avLst/>
          </a:prstGeom>
          <a:solidFill>
            <a:srgbClr val="8CB3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73" name="TextBox 172"/>
          <p:cNvSpPr txBox="1"/>
          <p:nvPr/>
        </p:nvSpPr>
        <p:spPr>
          <a:xfrm>
            <a:off x="15840075" y="5905500"/>
            <a:ext cx="10477500" cy="198120"/>
          </a:xfrm>
          <a:prstGeom prst="rect">
            <a:avLst/>
          </a:prstGeom>
          <a:noFill/>
        </p:spPr>
        <p:txBody>
          <a:bodyPr wrap="none" lIns="0" rIns="0" tIns="0" bIns="0" anchor="ctr">
            <a:spAutoFit/>
          </a:bodyPr>
          <a:lstStyle/>
          <a:p>
            <a:pPr algn="ctr"/>
            <a:r>
              <a:rPr sz="1200" b="0">
                <a:solidFill>
                  <a:srgbClr val="00355F"/>
                </a:solidFill>
                <a:latin typeface="Arial"/>
              </a:rPr>
              <a:t>0.62</a:t>
            </a:r>
          </a:p>
        </p:txBody>
      </p:sp>
      <p:sp xmlns:a="http://schemas.openxmlformats.org/drawingml/2006/main">
        <p:nvSpPr>
          <p:cNvPr id="174" name="Rectangle 173"/>
          <p:cNvSpPr/>
          <p:nvPr/>
        </p:nvSpPr>
        <p:spPr>
          <a:xfrm>
            <a:off x="16335375" y="5791200"/>
            <a:ext cx="952500" cy="419100"/>
          </a:xfrm>
          <a:prstGeom prst="rect">
            <a:avLst/>
          </a:prstGeom>
          <a:solidFill>
            <a:srgbClr val="93B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75" name="TextBox 174"/>
          <p:cNvSpPr txBox="1"/>
          <p:nvPr/>
        </p:nvSpPr>
        <p:spPr>
          <a:xfrm>
            <a:off x="16792575" y="5905500"/>
            <a:ext cx="10477500" cy="198120"/>
          </a:xfrm>
          <a:prstGeom prst="rect">
            <a:avLst/>
          </a:prstGeom>
          <a:noFill/>
        </p:spPr>
        <p:txBody>
          <a:bodyPr wrap="none" lIns="0" rIns="0" tIns="0" bIns="0" anchor="ctr">
            <a:spAutoFit/>
          </a:bodyPr>
          <a:lstStyle/>
          <a:p>
            <a:pPr algn="ctr"/>
            <a:r>
              <a:rPr sz="1200" b="0">
                <a:solidFill>
                  <a:srgbClr val="00355F"/>
                </a:solidFill>
                <a:latin typeface="Arial"/>
              </a:rPr>
              <a:t>0.58</a:t>
            </a:r>
          </a:p>
        </p:txBody>
      </p:sp>
      <p:sp xmlns:a="http://schemas.openxmlformats.org/drawingml/2006/main">
        <p:nvSpPr>
          <p:cNvPr id="176" name="Rectangle 175"/>
          <p:cNvSpPr/>
          <p:nvPr/>
        </p:nvSpPr>
        <p:spPr>
          <a:xfrm>
            <a:off x="7286625" y="6400800"/>
            <a:ext cx="154441" cy="133350"/>
          </a:xfrm>
          <a:prstGeom prst="rect">
            <a:avLst/>
          </a:prstGeom>
          <a:solidFill>
            <a:srgbClr val="EE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77" name="Rectangle 176"/>
          <p:cNvSpPr/>
          <p:nvPr/>
        </p:nvSpPr>
        <p:spPr>
          <a:xfrm>
            <a:off x="7436304" y="6400800"/>
            <a:ext cx="154441" cy="133350"/>
          </a:xfrm>
          <a:prstGeom prst="rect">
            <a:avLst/>
          </a:prstGeom>
          <a:solidFill>
            <a:srgbClr val="E3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78" name="Rectangle 177"/>
          <p:cNvSpPr/>
          <p:nvPr/>
        </p:nvSpPr>
        <p:spPr>
          <a:xfrm>
            <a:off x="7585982" y="6400800"/>
            <a:ext cx="154441" cy="133350"/>
          </a:xfrm>
          <a:prstGeom prst="rect">
            <a:avLst/>
          </a:prstGeom>
          <a:solidFill>
            <a:srgbClr val="D7E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79" name="Rectangle 178"/>
          <p:cNvSpPr/>
          <p:nvPr/>
        </p:nvSpPr>
        <p:spPr>
          <a:xfrm>
            <a:off x="7735661" y="6400800"/>
            <a:ext cx="154441" cy="133350"/>
          </a:xfrm>
          <a:prstGeom prst="rect">
            <a:avLst/>
          </a:prstGeom>
          <a:solidFill>
            <a:srgbClr val="CCE5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80" name="Rectangle 179"/>
          <p:cNvSpPr/>
          <p:nvPr/>
        </p:nvSpPr>
        <p:spPr>
          <a:xfrm>
            <a:off x="7885339" y="6400800"/>
            <a:ext cx="154441" cy="133350"/>
          </a:xfrm>
          <a:prstGeom prst="rect">
            <a:avLst/>
          </a:prstGeom>
          <a:solidFill>
            <a:srgbClr val="C1D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81" name="Rectangle 180"/>
          <p:cNvSpPr/>
          <p:nvPr/>
        </p:nvSpPr>
        <p:spPr>
          <a:xfrm>
            <a:off x="8035018" y="6400800"/>
            <a:ext cx="154441" cy="133350"/>
          </a:xfrm>
          <a:prstGeom prst="rect">
            <a:avLst/>
          </a:prstGeom>
          <a:solidFill>
            <a:srgbClr val="B6D9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82" name="Rectangle 181"/>
          <p:cNvSpPr/>
          <p:nvPr/>
        </p:nvSpPr>
        <p:spPr>
          <a:xfrm>
            <a:off x="8184696" y="6400800"/>
            <a:ext cx="154441" cy="133350"/>
          </a:xfrm>
          <a:prstGeom prst="rect">
            <a:avLst/>
          </a:prstGeom>
          <a:solidFill>
            <a:srgbClr val="AAD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83" name="Rectangle 182"/>
          <p:cNvSpPr/>
          <p:nvPr/>
        </p:nvSpPr>
        <p:spPr>
          <a:xfrm>
            <a:off x="8334375" y="6400800"/>
            <a:ext cx="154441" cy="133350"/>
          </a:xfrm>
          <a:prstGeom prst="rect">
            <a:avLst/>
          </a:prstGeom>
          <a:solidFill>
            <a:srgbClr val="9BC3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84" name="Rectangle 183"/>
          <p:cNvSpPr/>
          <p:nvPr/>
        </p:nvSpPr>
        <p:spPr>
          <a:xfrm>
            <a:off x="8484054" y="6400800"/>
            <a:ext cx="154441" cy="133350"/>
          </a:xfrm>
          <a:prstGeom prst="rect">
            <a:avLst/>
          </a:prstGeom>
          <a:solidFill>
            <a:srgbClr val="8DB3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85" name="Rectangle 184"/>
          <p:cNvSpPr/>
          <p:nvPr/>
        </p:nvSpPr>
        <p:spPr>
          <a:xfrm>
            <a:off x="8633732" y="6400800"/>
            <a:ext cx="154441" cy="133350"/>
          </a:xfrm>
          <a:prstGeom prst="rect">
            <a:avLst/>
          </a:prstGeom>
          <a:solidFill>
            <a:srgbClr val="7EA4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86" name="Rectangle 185"/>
          <p:cNvSpPr/>
          <p:nvPr/>
        </p:nvSpPr>
        <p:spPr>
          <a:xfrm>
            <a:off x="8783411" y="6400800"/>
            <a:ext cx="154441" cy="133350"/>
          </a:xfrm>
          <a:prstGeom prst="rect">
            <a:avLst/>
          </a:prstGeom>
          <a:solidFill>
            <a:srgbClr val="6A91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87" name="Rectangle 186"/>
          <p:cNvSpPr/>
          <p:nvPr/>
        </p:nvSpPr>
        <p:spPr>
          <a:xfrm>
            <a:off x="8933089" y="6400800"/>
            <a:ext cx="154441" cy="133350"/>
          </a:xfrm>
          <a:prstGeom prst="rect">
            <a:avLst/>
          </a:prstGeom>
          <a:solidFill>
            <a:srgbClr val="4773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88" name="Rectangle 187"/>
          <p:cNvSpPr/>
          <p:nvPr/>
        </p:nvSpPr>
        <p:spPr>
          <a:xfrm>
            <a:off x="9082768" y="6400800"/>
            <a:ext cx="154441" cy="133350"/>
          </a:xfrm>
          <a:prstGeom prst="rect">
            <a:avLst/>
          </a:prstGeom>
          <a:solidFill>
            <a:srgbClr val="2354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89" name="Rectangle 188"/>
          <p:cNvSpPr/>
          <p:nvPr/>
        </p:nvSpPr>
        <p:spPr>
          <a:xfrm>
            <a:off x="9232446" y="6400800"/>
            <a:ext cx="154441" cy="133350"/>
          </a:xfrm>
          <a:prstGeom prst="rect">
            <a:avLst/>
          </a:prstGeom>
          <a:solidFill>
            <a:srgbClr val="0035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90" name="TextBox 189"/>
          <p:cNvSpPr txBox="1"/>
          <p:nvPr/>
        </p:nvSpPr>
        <p:spPr>
          <a:xfrm>
            <a:off x="9477375" y="6376988"/>
            <a:ext cx="10477500" cy="191929"/>
          </a:xfrm>
          <a:prstGeom prst="rect">
            <a:avLst/>
          </a:prstGeom>
          <a:noFill/>
        </p:spPr>
        <p:txBody>
          <a:bodyPr wrap="none" lIns="0" rIns="0" tIns="0" bIns="0" anchor="ctr">
            <a:spAutoFit/>
          </a:bodyPr>
          <a:lstStyle/>
          <a:p>
            <a:pPr algn="l"/>
            <a:r>
              <a:rPr sz="1162" b="0">
                <a:solidFill>
                  <a:srgbClr val="00355F"/>
                </a:solidFill>
                <a:latin typeface="Arial"/>
              </a:rPr>
              <a:t>low → high</a:t>
            </a:r>
          </a:p>
        </p:txBody>
      </p:sp>
      <p:sp xmlns:a="http://schemas.openxmlformats.org/drawingml/2006/main">
        <p:nvSpPr>
          <p:cNvPr id="191" name="TextBox 190"/>
          <p:cNvSpPr txBox="1"/>
          <p:nvPr/>
        </p:nvSpPr>
        <p:spPr>
          <a:xfrm>
            <a:off x="10506075" y="6376988"/>
            <a:ext cx="10477500" cy="191929"/>
          </a:xfrm>
          <a:prstGeom prst="rect">
            <a:avLst/>
          </a:prstGeom>
          <a:noFill/>
        </p:spPr>
        <p:txBody>
          <a:bodyPr wrap="none" lIns="0" rIns="0" tIns="0" bIns="0" anchor="ctr">
            <a:spAutoFit/>
          </a:bodyPr>
          <a:lstStyle/>
          <a:p>
            <a:pPr algn="l"/>
            <a:r>
              <a:rPr sz="1162" b="0">
                <a:solidFill>
                  <a:srgbClr val="00355F"/>
                </a:solidFill>
                <a:latin typeface="Arial"/>
              </a:rPr>
              <a:t>relative value per label (illustrative)</a:t>
            </a:r>
          </a:p>
        </p:txBody>
      </p:sp>
      <p:sp xmlns:a="http://schemas.openxmlformats.org/drawingml/2006/main">
        <p:nvSpPr>
          <p:cNvPr id="192" name="TextBox 191"/>
          <p:cNvSpPr txBox="1"/>
          <p:nvPr/>
        </p:nvSpPr>
        <p:spPr>
          <a:xfrm>
            <a:off x="14792325" y="6376988"/>
            <a:ext cx="10477500" cy="191929"/>
          </a:xfrm>
          <a:prstGeom prst="rect">
            <a:avLst/>
          </a:prstGeom>
          <a:noFill/>
        </p:spPr>
        <p:txBody>
          <a:bodyPr wrap="none" lIns="0" rIns="0" tIns="0" bIns="0" anchor="ctr">
            <a:spAutoFit/>
          </a:bodyPr>
          <a:lstStyle/>
          <a:p>
            <a:pPr algn="l"/>
            <a:r>
              <a:rPr sz="1162" b="0">
                <a:solidFill>
                  <a:srgbClr val="A5A5A5"/>
                </a:solidFill>
                <a:latin typeface="Arial"/>
              </a:rPr>
              <a:t>— = not measured</a:t>
            </a:r>
          </a:p>
        </p:txBody>
      </p:sp>
      <p:sp xmlns:a="http://schemas.openxmlformats.org/drawingml/2006/main">
        <p:nvSpPr>
          <p:cNvPr id="193" name="TextBox 192"/>
          <p:cNvSpPr txBox="1"/>
          <p:nvPr/>
        </p:nvSpPr>
        <p:spPr>
          <a:xfrm>
            <a:off x="7267575" y="6572250"/>
            <a:ext cx="10477500" cy="210502"/>
          </a:xfrm>
          <a:prstGeom prst="rect">
            <a:avLst/>
          </a:prstGeom>
          <a:noFill/>
        </p:spPr>
        <p:txBody>
          <a:bodyPr wrap="none" lIns="0" rIns="0" tIns="0" bIns="0" anchor="ctr">
            <a:spAutoFit/>
          </a:bodyPr>
          <a:lstStyle/>
          <a:p>
            <a:pPr algn="l"/>
            <a:r>
              <a:rPr sz="1275" b="1">
                <a:solidFill>
                  <a:srgbClr val="00355F"/>
                </a:solidFill>
                <a:latin typeface="Arial"/>
              </a:rPr>
              <a:t>What the model learns: nine properties and how they trade off — developability and potency, not binding alone</a:t>
            </a:r>
          </a:p>
        </p:txBody>
      </p:sp>
      <p:sp xmlns:a="http://schemas.openxmlformats.org/drawingml/2006/main">
        <p:nvSpPr>
          <p:cNvPr id="194" name="Rounded Rectangle 193"/>
          <p:cNvSpPr/>
          <p:nvPr/>
        </p:nvSpPr>
        <p:spPr>
          <a:xfrm>
            <a:off x="685800" y="7172325"/>
            <a:ext cx="5305425" cy="1200150"/>
          </a:xfrm>
          <a:prstGeom prst="roundRect">
            <a:avLst>
              <a:gd name="adj" fmla="val 15873"/>
            </a:avLst>
          </a:prstGeom>
          <a:solidFill>
            <a:srgbClr val="FFFFFF"/>
          </a:solidFill>
          <a:ln w="9525">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95" name="TextBox 194"/>
          <p:cNvSpPr txBox="1"/>
          <p:nvPr/>
        </p:nvSpPr>
        <p:spPr>
          <a:xfrm>
            <a:off x="895350" y="7291388"/>
            <a:ext cx="10477500" cy="309562"/>
          </a:xfrm>
          <a:prstGeom prst="rect">
            <a:avLst/>
          </a:prstGeom>
          <a:noFill/>
        </p:spPr>
        <p:txBody>
          <a:bodyPr wrap="none" lIns="0" rIns="0" tIns="0" bIns="0" anchor="ctr">
            <a:spAutoFit/>
          </a:bodyPr>
          <a:lstStyle/>
          <a:p>
            <a:pPr algn="l"/>
            <a:r>
              <a:rPr sz="1875" b="1">
                <a:solidFill>
                  <a:srgbClr val="00355F"/>
                </a:solidFill>
                <a:latin typeface="Arial"/>
              </a:rPr>
              <a:t>Reuse existing data</a:t>
            </a:r>
          </a:p>
        </p:txBody>
      </p:sp>
      <p:sp xmlns:a="http://schemas.openxmlformats.org/drawingml/2006/main">
        <p:nvSpPr>
          <p:cNvPr id="196" name="TextBox 195"/>
          <p:cNvSpPr txBox="1"/>
          <p:nvPr/>
        </p:nvSpPr>
        <p:spPr>
          <a:xfrm>
            <a:off x="895350" y="7715250"/>
            <a:ext cx="10477500" cy="247650"/>
          </a:xfrm>
          <a:prstGeom prst="rect">
            <a:avLst/>
          </a:prstGeom>
          <a:noFill/>
        </p:spPr>
        <p:txBody>
          <a:bodyPr wrap="none" lIns="0" rIns="0" tIns="0" bIns="0" anchor="ctr">
            <a:spAutoFit/>
          </a:bodyPr>
          <a:lstStyle/>
          <a:p>
            <a:pPr algn="l"/>
            <a:r>
              <a:rPr sz="1500" b="0">
                <a:solidFill>
                  <a:srgbClr val="00355F"/>
                </a:solidFill>
                <a:latin typeface="Arial"/>
              </a:rPr>
              <a:t>Normalize formats, conditions and accessBetter training may need no new experiment</a:t>
            </a:r>
          </a:p>
        </p:txBody>
      </p:sp>
      <p:sp xmlns:a="http://schemas.openxmlformats.org/drawingml/2006/main">
        <p:nvSpPr>
          <p:cNvPr id="197" name="Rounded Rectangle 196"/>
          <p:cNvSpPr/>
          <p:nvPr/>
        </p:nvSpPr>
        <p:spPr>
          <a:xfrm>
            <a:off x="6191250" y="7172325"/>
            <a:ext cx="5305425" cy="1200150"/>
          </a:xfrm>
          <a:prstGeom prst="roundRect">
            <a:avLst>
              <a:gd name="adj" fmla="val 15873"/>
            </a:avLst>
          </a:prstGeom>
          <a:solidFill>
            <a:srgbClr val="EEF6FC"/>
          </a:solidFill>
          <a:ln w="9525">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98" name="TextBox 197"/>
          <p:cNvSpPr txBox="1"/>
          <p:nvPr/>
        </p:nvSpPr>
        <p:spPr>
          <a:xfrm>
            <a:off x="6400800" y="7291388"/>
            <a:ext cx="10477500" cy="309562"/>
          </a:xfrm>
          <a:prstGeom prst="rect">
            <a:avLst/>
          </a:prstGeom>
          <a:noFill/>
        </p:spPr>
        <p:txBody>
          <a:bodyPr wrap="none" lIns="0" rIns="0" tIns="0" bIns="0" anchor="ctr">
            <a:spAutoFit/>
          </a:bodyPr>
          <a:lstStyle/>
          <a:p>
            <a:pPr algn="l"/>
            <a:r>
              <a:rPr sz="1875" b="1">
                <a:solidFill>
                  <a:srgbClr val="00355F"/>
                </a:solidFill>
                <a:latin typeface="Arial"/>
              </a:rPr>
              <a:t>Stage 0: fill data gaps</a:t>
            </a:r>
          </a:p>
        </p:txBody>
      </p:sp>
      <p:sp xmlns:a="http://schemas.openxmlformats.org/drawingml/2006/main">
        <p:nvSpPr>
          <p:cNvPr id="199" name="TextBox 198"/>
          <p:cNvSpPr txBox="1"/>
          <p:nvPr/>
        </p:nvSpPr>
        <p:spPr>
          <a:xfrm>
            <a:off x="6400800" y="7715250"/>
            <a:ext cx="10477500" cy="247650"/>
          </a:xfrm>
          <a:prstGeom prst="rect">
            <a:avLst/>
          </a:prstGeom>
          <a:noFill/>
        </p:spPr>
        <p:txBody>
          <a:bodyPr wrap="none" lIns="0" rIns="0" tIns="0" bIns="0" anchor="ctr">
            <a:spAutoFit/>
          </a:bodyPr>
          <a:lstStyle/>
          <a:p>
            <a:pPr algn="l"/>
            <a:r>
              <a:rPr sz="1500" b="0">
                <a:solidFill>
                  <a:srgbClr val="00355F"/>
                </a:solidFill>
                <a:latin typeface="Arial"/>
              </a:rPr>
              <a:t>Add missing assays and biological diversityCreate reusable model-training datasets</a:t>
            </a:r>
          </a:p>
        </p:txBody>
      </p:sp>
      <p:sp xmlns:a="http://schemas.openxmlformats.org/drawingml/2006/main">
        <p:nvSpPr>
          <p:cNvPr id="200" name="Rounded Rectangle 199"/>
          <p:cNvSpPr/>
          <p:nvPr/>
        </p:nvSpPr>
        <p:spPr>
          <a:xfrm>
            <a:off x="11696700" y="7172325"/>
            <a:ext cx="5905500" cy="1200150"/>
          </a:xfrm>
          <a:prstGeom prst="roundRect">
            <a:avLst>
              <a:gd name="adj" fmla="val 15873"/>
            </a:avLst>
          </a:prstGeom>
          <a:solidFill>
            <a:srgbClr val="FFFFFF"/>
          </a:solidFill>
          <a:ln w="9525">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01" name="TextBox 200"/>
          <p:cNvSpPr txBox="1"/>
          <p:nvPr/>
        </p:nvSpPr>
        <p:spPr>
          <a:xfrm>
            <a:off x="11906250" y="7291388"/>
            <a:ext cx="10477500" cy="309562"/>
          </a:xfrm>
          <a:prstGeom prst="rect">
            <a:avLst/>
          </a:prstGeom>
          <a:noFill/>
        </p:spPr>
        <p:txBody>
          <a:bodyPr wrap="none" lIns="0" rIns="0" tIns="0" bIns="0" anchor="ctr">
            <a:spAutoFit/>
          </a:bodyPr>
          <a:lstStyle/>
          <a:p>
            <a:pPr algn="l"/>
            <a:r>
              <a:rPr sz="1875" b="1">
                <a:solidFill>
                  <a:srgbClr val="00355F"/>
                </a:solidFill>
                <a:latin typeface="Arial"/>
              </a:rPr>
              <a:t>Active learning: measure selectively</a:t>
            </a:r>
          </a:p>
        </p:txBody>
      </p:sp>
      <p:sp xmlns:a="http://schemas.openxmlformats.org/drawingml/2006/main">
        <p:nvSpPr>
          <p:cNvPr id="202" name="TextBox 201"/>
          <p:cNvSpPr txBox="1"/>
          <p:nvPr/>
        </p:nvSpPr>
        <p:spPr>
          <a:xfrm>
            <a:off x="11906250" y="7715250"/>
            <a:ext cx="10477500" cy="247650"/>
          </a:xfrm>
          <a:prstGeom prst="rect">
            <a:avLst/>
          </a:prstGeom>
          <a:noFill/>
        </p:spPr>
        <p:txBody>
          <a:bodyPr wrap="none" lIns="0" rIns="0" tIns="0" bIns="0" anchor="ctr">
            <a:spAutoFit/>
          </a:bodyPr>
          <a:lstStyle/>
          <a:p>
            <a:pPr algn="l"/>
            <a:r>
              <a:rPr sz="1500" b="0">
                <a:solidFill>
                  <a:srgbClr val="00355F"/>
                </a:solidFill>
                <a:latin typeface="Arial"/>
              </a:rPr>
              <a:t>Prioritize informative molecules and testsLimit coverage of costly measurements</a:t>
            </a:r>
          </a:p>
        </p:txBody>
      </p:sp>
      <p:sp xmlns:a="http://schemas.openxmlformats.org/drawingml/2006/main">
        <p:nvSpPr>
          <p:cNvPr id="203" name="Rounded Rectangle 202"/>
          <p:cNvSpPr/>
          <p:nvPr/>
        </p:nvSpPr>
        <p:spPr>
          <a:xfrm>
            <a:off x="685800" y="8429625"/>
            <a:ext cx="16916400" cy="1333500"/>
          </a:xfrm>
          <a:prstGeom prst="roundRect">
            <a:avLst>
              <a:gd name="adj" fmla="val 14285"/>
            </a:avLst>
          </a:prstGeom>
          <a:solidFill>
            <a:srgbClr val="F4F9FD"/>
          </a:solidFill>
          <a:ln w="9525">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04" name="TextBox 203"/>
          <p:cNvSpPr txBox="1"/>
          <p:nvPr/>
        </p:nvSpPr>
        <p:spPr>
          <a:xfrm>
            <a:off x="895350" y="8486775"/>
            <a:ext cx="10477500" cy="210502"/>
          </a:xfrm>
          <a:prstGeom prst="rect">
            <a:avLst/>
          </a:prstGeom>
          <a:noFill/>
        </p:spPr>
        <p:txBody>
          <a:bodyPr wrap="none" lIns="0" rIns="0" tIns="0" bIns="0" anchor="ctr">
            <a:spAutoFit/>
          </a:bodyPr>
          <a:lstStyle/>
          <a:p>
            <a:pPr algn="l"/>
            <a:r>
              <a:rPr sz="1275" b="1">
                <a:solidFill>
                  <a:srgbClr val="00355F"/>
                </a:solidFill>
                <a:latin typeface="Arial"/>
              </a:rPr>
              <a:t>Terminology — what each of the nine labels measures</a:t>
            </a:r>
          </a:p>
        </p:txBody>
      </p:sp>
      <p:sp xmlns:a="http://schemas.openxmlformats.org/drawingml/2006/main">
        <p:nvSpPr>
          <p:cNvPr id="205" name="Rounded Rectangle 204"/>
          <p:cNvSpPr/>
          <p:nvPr/>
        </p:nvSpPr>
        <p:spPr>
          <a:xfrm>
            <a:off x="914400" y="8724900"/>
            <a:ext cx="5429250" cy="285750"/>
          </a:xfrm>
          <a:prstGeom prst="roundRect">
            <a:avLst>
              <a:gd name="adj" fmla="val 33333"/>
            </a:avLst>
          </a:prstGeom>
          <a:solidFill>
            <a:srgbClr val="FFFFFF"/>
          </a:solidFill>
          <a:ln w="7620">
            <a:solidFill>
              <a:srgbClr val="CFE0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06" name="TextBox 205"/>
          <p:cNvSpPr txBox="1"/>
          <p:nvPr/>
        </p:nvSpPr>
        <p:spPr>
          <a:xfrm>
            <a:off x="1009650" y="8782050"/>
            <a:ext cx="10477500" cy="173355"/>
          </a:xfrm>
          <a:prstGeom prst="rect">
            <a:avLst/>
          </a:prstGeom>
          <a:noFill/>
        </p:spPr>
        <p:txBody>
          <a:bodyPr wrap="none" lIns="0" rIns="0" tIns="0" bIns="0" anchor="ctr">
            <a:spAutoFit/>
          </a:bodyPr>
          <a:lstStyle/>
          <a:p>
            <a:pPr algn="l"/>
            <a:r>
              <a:rPr sz="1050" b="1">
                <a:solidFill>
                  <a:srgbClr val="00355F"/>
                </a:solidFill>
                <a:latin typeface="Arial"/>
              </a:rPr>
              <a:t>KD</a:t>
            </a:r>
          </a:p>
        </p:txBody>
      </p:sp>
      <p:sp xmlns:a="http://schemas.openxmlformats.org/drawingml/2006/main">
        <p:nvSpPr>
          <p:cNvPr id="207" name="TextBox 206"/>
          <p:cNvSpPr txBox="1"/>
          <p:nvPr/>
        </p:nvSpPr>
        <p:spPr>
          <a:xfrm>
            <a:off x="2019300" y="8782050"/>
            <a:ext cx="10477500" cy="173355"/>
          </a:xfrm>
          <a:prstGeom prst="rect">
            <a:avLst/>
          </a:prstGeom>
          <a:noFill/>
        </p:spPr>
        <p:txBody>
          <a:bodyPr wrap="none" lIns="0" rIns="0" tIns="0" bIns="0" anchor="ctr">
            <a:spAutoFit/>
          </a:bodyPr>
          <a:lstStyle/>
          <a:p>
            <a:pPr algn="l"/>
            <a:r>
              <a:rPr sz="1050" b="0">
                <a:solidFill>
                  <a:srgbClr val="33475B"/>
                </a:solidFill>
                <a:latin typeface="Arial"/>
              </a:rPr>
              <a:t>overall binding strength; lower = tighter</a:t>
            </a:r>
          </a:p>
        </p:txBody>
      </p:sp>
      <p:sp xmlns:a="http://schemas.openxmlformats.org/drawingml/2006/main">
        <p:nvSpPr>
          <p:cNvPr id="208" name="Rounded Rectangle 207"/>
          <p:cNvSpPr/>
          <p:nvPr/>
        </p:nvSpPr>
        <p:spPr>
          <a:xfrm>
            <a:off x="6429375" y="8724900"/>
            <a:ext cx="5429250" cy="285750"/>
          </a:xfrm>
          <a:prstGeom prst="roundRect">
            <a:avLst>
              <a:gd name="adj" fmla="val 33333"/>
            </a:avLst>
          </a:prstGeom>
          <a:solidFill>
            <a:srgbClr val="FFFFFF"/>
          </a:solidFill>
          <a:ln w="7620">
            <a:solidFill>
              <a:srgbClr val="CFE0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09" name="TextBox 208"/>
          <p:cNvSpPr txBox="1"/>
          <p:nvPr/>
        </p:nvSpPr>
        <p:spPr>
          <a:xfrm>
            <a:off x="6524625" y="8782050"/>
            <a:ext cx="10477500" cy="173355"/>
          </a:xfrm>
          <a:prstGeom prst="rect">
            <a:avLst/>
          </a:prstGeom>
          <a:noFill/>
        </p:spPr>
        <p:txBody>
          <a:bodyPr wrap="none" lIns="0" rIns="0" tIns="0" bIns="0" anchor="ctr">
            <a:spAutoFit/>
          </a:bodyPr>
          <a:lstStyle/>
          <a:p>
            <a:pPr algn="l"/>
            <a:r>
              <a:rPr sz="1050" b="1">
                <a:solidFill>
                  <a:srgbClr val="00355F"/>
                </a:solidFill>
                <a:latin typeface="Arial"/>
              </a:rPr>
              <a:t>kon</a:t>
            </a:r>
          </a:p>
        </p:txBody>
      </p:sp>
      <p:sp xmlns:a="http://schemas.openxmlformats.org/drawingml/2006/main">
        <p:nvSpPr>
          <p:cNvPr id="210" name="TextBox 209"/>
          <p:cNvSpPr txBox="1"/>
          <p:nvPr/>
        </p:nvSpPr>
        <p:spPr>
          <a:xfrm>
            <a:off x="7534275" y="8782050"/>
            <a:ext cx="10477500" cy="173355"/>
          </a:xfrm>
          <a:prstGeom prst="rect">
            <a:avLst/>
          </a:prstGeom>
          <a:noFill/>
        </p:spPr>
        <p:txBody>
          <a:bodyPr wrap="none" lIns="0" rIns="0" tIns="0" bIns="0" anchor="ctr">
            <a:spAutoFit/>
          </a:bodyPr>
          <a:lstStyle/>
          <a:p>
            <a:pPr algn="l"/>
            <a:r>
              <a:rPr sz="1050" b="0">
                <a:solidFill>
                  <a:srgbClr val="33475B"/>
                </a:solidFill>
                <a:latin typeface="Arial"/>
              </a:rPr>
              <a:t>on-rate; how quickly binding forms</a:t>
            </a:r>
          </a:p>
        </p:txBody>
      </p:sp>
      <p:sp xmlns:a="http://schemas.openxmlformats.org/drawingml/2006/main">
        <p:nvSpPr>
          <p:cNvPr id="211" name="Rounded Rectangle 210"/>
          <p:cNvSpPr/>
          <p:nvPr/>
        </p:nvSpPr>
        <p:spPr>
          <a:xfrm>
            <a:off x="11944350" y="8724900"/>
            <a:ext cx="5429250" cy="285750"/>
          </a:xfrm>
          <a:prstGeom prst="roundRect">
            <a:avLst>
              <a:gd name="adj" fmla="val 33333"/>
            </a:avLst>
          </a:prstGeom>
          <a:solidFill>
            <a:srgbClr val="FFFFFF"/>
          </a:solidFill>
          <a:ln w="7620">
            <a:solidFill>
              <a:srgbClr val="CFE0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12" name="TextBox 211"/>
          <p:cNvSpPr txBox="1"/>
          <p:nvPr/>
        </p:nvSpPr>
        <p:spPr>
          <a:xfrm>
            <a:off x="12039600" y="8782050"/>
            <a:ext cx="10477500" cy="173355"/>
          </a:xfrm>
          <a:prstGeom prst="rect">
            <a:avLst/>
          </a:prstGeom>
          <a:noFill/>
        </p:spPr>
        <p:txBody>
          <a:bodyPr wrap="none" lIns="0" rIns="0" tIns="0" bIns="0" anchor="ctr">
            <a:spAutoFit/>
          </a:bodyPr>
          <a:lstStyle/>
          <a:p>
            <a:pPr algn="l"/>
            <a:r>
              <a:rPr sz="1050" b="1">
                <a:solidFill>
                  <a:srgbClr val="00355F"/>
                </a:solidFill>
                <a:latin typeface="Arial"/>
              </a:rPr>
              <a:t>koff</a:t>
            </a:r>
          </a:p>
        </p:txBody>
      </p:sp>
      <p:sp xmlns:a="http://schemas.openxmlformats.org/drawingml/2006/main">
        <p:nvSpPr>
          <p:cNvPr id="213" name="TextBox 212"/>
          <p:cNvSpPr txBox="1"/>
          <p:nvPr/>
        </p:nvSpPr>
        <p:spPr>
          <a:xfrm>
            <a:off x="13049250" y="8782050"/>
            <a:ext cx="10477500" cy="173355"/>
          </a:xfrm>
          <a:prstGeom prst="rect">
            <a:avLst/>
          </a:prstGeom>
          <a:noFill/>
        </p:spPr>
        <p:txBody>
          <a:bodyPr wrap="none" lIns="0" rIns="0" tIns="0" bIns="0" anchor="ctr">
            <a:spAutoFit/>
          </a:bodyPr>
          <a:lstStyle/>
          <a:p>
            <a:pPr algn="l"/>
            <a:r>
              <a:rPr sz="1050" b="0">
                <a:solidFill>
                  <a:srgbClr val="33475B"/>
                </a:solidFill>
                <a:latin typeface="Arial"/>
              </a:rPr>
              <a:t>off-rate; how long it stays bound</a:t>
            </a:r>
          </a:p>
        </p:txBody>
      </p:sp>
      <p:sp xmlns:a="http://schemas.openxmlformats.org/drawingml/2006/main">
        <p:nvSpPr>
          <p:cNvPr id="214" name="Rounded Rectangle 213"/>
          <p:cNvSpPr/>
          <p:nvPr/>
        </p:nvSpPr>
        <p:spPr>
          <a:xfrm>
            <a:off x="914400" y="9048750"/>
            <a:ext cx="5429250" cy="285750"/>
          </a:xfrm>
          <a:prstGeom prst="roundRect">
            <a:avLst>
              <a:gd name="adj" fmla="val 33333"/>
            </a:avLst>
          </a:prstGeom>
          <a:solidFill>
            <a:srgbClr val="FFFFFF"/>
          </a:solidFill>
          <a:ln w="7620">
            <a:solidFill>
              <a:srgbClr val="CFE0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15" name="TextBox 214"/>
          <p:cNvSpPr txBox="1"/>
          <p:nvPr/>
        </p:nvSpPr>
        <p:spPr>
          <a:xfrm>
            <a:off x="1009650" y="9105900"/>
            <a:ext cx="10477500" cy="173355"/>
          </a:xfrm>
          <a:prstGeom prst="rect">
            <a:avLst/>
          </a:prstGeom>
          <a:noFill/>
        </p:spPr>
        <p:txBody>
          <a:bodyPr wrap="none" lIns="0" rIns="0" tIns="0" bIns="0" anchor="ctr">
            <a:spAutoFit/>
          </a:bodyPr>
          <a:lstStyle/>
          <a:p>
            <a:pPr algn="l"/>
            <a:r>
              <a:rPr sz="1050" b="1">
                <a:solidFill>
                  <a:srgbClr val="00355F"/>
                </a:solidFill>
                <a:latin typeface="Arial"/>
              </a:rPr>
              <a:t>expression</a:t>
            </a:r>
          </a:p>
        </p:txBody>
      </p:sp>
      <p:sp xmlns:a="http://schemas.openxmlformats.org/drawingml/2006/main">
        <p:nvSpPr>
          <p:cNvPr id="216" name="TextBox 215"/>
          <p:cNvSpPr txBox="1"/>
          <p:nvPr/>
        </p:nvSpPr>
        <p:spPr>
          <a:xfrm>
            <a:off x="2019300" y="9105900"/>
            <a:ext cx="10477500" cy="173355"/>
          </a:xfrm>
          <a:prstGeom prst="rect">
            <a:avLst/>
          </a:prstGeom>
          <a:noFill/>
        </p:spPr>
        <p:txBody>
          <a:bodyPr wrap="none" lIns="0" rIns="0" tIns="0" bIns="0" anchor="ctr">
            <a:spAutoFit/>
          </a:bodyPr>
          <a:lstStyle/>
          <a:p>
            <a:pPr algn="l"/>
            <a:r>
              <a:rPr sz="1050" b="0">
                <a:solidFill>
                  <a:srgbClr val="33475B"/>
                </a:solidFill>
                <a:latin typeface="Arial"/>
              </a:rPr>
              <a:t>how much antibody the cell makes</a:t>
            </a:r>
          </a:p>
        </p:txBody>
      </p:sp>
      <p:sp xmlns:a="http://schemas.openxmlformats.org/drawingml/2006/main">
        <p:nvSpPr>
          <p:cNvPr id="217" name="Rounded Rectangle 216"/>
          <p:cNvSpPr/>
          <p:nvPr/>
        </p:nvSpPr>
        <p:spPr>
          <a:xfrm>
            <a:off x="6429375" y="9048750"/>
            <a:ext cx="5429250" cy="285750"/>
          </a:xfrm>
          <a:prstGeom prst="roundRect">
            <a:avLst>
              <a:gd name="adj" fmla="val 33333"/>
            </a:avLst>
          </a:prstGeom>
          <a:solidFill>
            <a:srgbClr val="FFFFFF"/>
          </a:solidFill>
          <a:ln w="7620">
            <a:solidFill>
              <a:srgbClr val="CFE0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18" name="TextBox 217"/>
          <p:cNvSpPr txBox="1"/>
          <p:nvPr/>
        </p:nvSpPr>
        <p:spPr>
          <a:xfrm>
            <a:off x="6524625" y="9105900"/>
            <a:ext cx="10477500" cy="173355"/>
          </a:xfrm>
          <a:prstGeom prst="rect">
            <a:avLst/>
          </a:prstGeom>
          <a:noFill/>
        </p:spPr>
        <p:txBody>
          <a:bodyPr wrap="none" lIns="0" rIns="0" tIns="0" bIns="0" anchor="ctr">
            <a:spAutoFit/>
          </a:bodyPr>
          <a:lstStyle/>
          <a:p>
            <a:pPr algn="l"/>
            <a:r>
              <a:rPr sz="1050" b="1">
                <a:solidFill>
                  <a:srgbClr val="00355F"/>
                </a:solidFill>
                <a:latin typeface="Arial"/>
              </a:rPr>
              <a:t>Tm</a:t>
            </a:r>
          </a:p>
        </p:txBody>
      </p:sp>
      <p:sp xmlns:a="http://schemas.openxmlformats.org/drawingml/2006/main">
        <p:nvSpPr>
          <p:cNvPr id="219" name="TextBox 218"/>
          <p:cNvSpPr txBox="1"/>
          <p:nvPr/>
        </p:nvSpPr>
        <p:spPr>
          <a:xfrm>
            <a:off x="7534275" y="9105900"/>
            <a:ext cx="10477500" cy="173355"/>
          </a:xfrm>
          <a:prstGeom prst="rect">
            <a:avLst/>
          </a:prstGeom>
          <a:noFill/>
        </p:spPr>
        <p:txBody>
          <a:bodyPr wrap="none" lIns="0" rIns="0" tIns="0" bIns="0" anchor="ctr">
            <a:spAutoFit/>
          </a:bodyPr>
          <a:lstStyle/>
          <a:p>
            <a:pPr algn="l"/>
            <a:r>
              <a:rPr sz="1050" b="0">
                <a:solidFill>
                  <a:srgbClr val="33475B"/>
                </a:solidFill>
                <a:latin typeface="Arial"/>
              </a:rPr>
              <a:t>melting point; thermal stability</a:t>
            </a:r>
          </a:p>
        </p:txBody>
      </p:sp>
      <p:sp xmlns:a="http://schemas.openxmlformats.org/drawingml/2006/main">
        <p:nvSpPr>
          <p:cNvPr id="220" name="Rounded Rectangle 219"/>
          <p:cNvSpPr/>
          <p:nvPr/>
        </p:nvSpPr>
        <p:spPr>
          <a:xfrm>
            <a:off x="11944350" y="9048750"/>
            <a:ext cx="5429250" cy="285750"/>
          </a:xfrm>
          <a:prstGeom prst="roundRect">
            <a:avLst>
              <a:gd name="adj" fmla="val 33333"/>
            </a:avLst>
          </a:prstGeom>
          <a:solidFill>
            <a:srgbClr val="FFFFFF"/>
          </a:solidFill>
          <a:ln w="7620">
            <a:solidFill>
              <a:srgbClr val="CFE0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21" name="TextBox 220"/>
          <p:cNvSpPr txBox="1"/>
          <p:nvPr/>
        </p:nvSpPr>
        <p:spPr>
          <a:xfrm>
            <a:off x="12039600" y="9105900"/>
            <a:ext cx="10477500" cy="173355"/>
          </a:xfrm>
          <a:prstGeom prst="rect">
            <a:avLst/>
          </a:prstGeom>
          <a:noFill/>
        </p:spPr>
        <p:txBody>
          <a:bodyPr wrap="none" lIns="0" rIns="0" tIns="0" bIns="0" anchor="ctr">
            <a:spAutoFit/>
          </a:bodyPr>
          <a:lstStyle/>
          <a:p>
            <a:pPr algn="l"/>
            <a:r>
              <a:rPr sz="1050" b="1">
                <a:solidFill>
                  <a:srgbClr val="00355F"/>
                </a:solidFill>
                <a:latin typeface="Arial"/>
              </a:rPr>
              <a:t>aggregation</a:t>
            </a:r>
          </a:p>
        </p:txBody>
      </p:sp>
      <p:sp xmlns:a="http://schemas.openxmlformats.org/drawingml/2006/main">
        <p:nvSpPr>
          <p:cNvPr id="222" name="TextBox 221"/>
          <p:cNvSpPr txBox="1"/>
          <p:nvPr/>
        </p:nvSpPr>
        <p:spPr>
          <a:xfrm>
            <a:off x="13049250" y="9105900"/>
            <a:ext cx="10477500" cy="173355"/>
          </a:xfrm>
          <a:prstGeom prst="rect">
            <a:avLst/>
          </a:prstGeom>
          <a:noFill/>
        </p:spPr>
        <p:txBody>
          <a:bodyPr wrap="none" lIns="0" rIns="0" tIns="0" bIns="0" anchor="ctr">
            <a:spAutoFit/>
          </a:bodyPr>
          <a:lstStyle/>
          <a:p>
            <a:pPr algn="l"/>
            <a:r>
              <a:rPr sz="1050" b="0">
                <a:solidFill>
                  <a:srgbClr val="33475B"/>
                </a:solidFill>
                <a:latin typeface="Arial"/>
              </a:rPr>
              <a:t>self-clumping; risks immunogenicity</a:t>
            </a:r>
          </a:p>
        </p:txBody>
      </p:sp>
      <p:sp xmlns:a="http://schemas.openxmlformats.org/drawingml/2006/main">
        <p:nvSpPr>
          <p:cNvPr id="223" name="Rounded Rectangle 222"/>
          <p:cNvSpPr/>
          <p:nvPr/>
        </p:nvSpPr>
        <p:spPr>
          <a:xfrm>
            <a:off x="914400" y="9372600"/>
            <a:ext cx="5429250" cy="285750"/>
          </a:xfrm>
          <a:prstGeom prst="roundRect">
            <a:avLst>
              <a:gd name="adj" fmla="val 33333"/>
            </a:avLst>
          </a:prstGeom>
          <a:solidFill>
            <a:srgbClr val="FFFFFF"/>
          </a:solidFill>
          <a:ln w="7620">
            <a:solidFill>
              <a:srgbClr val="CFE0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24" name="TextBox 223"/>
          <p:cNvSpPr txBox="1"/>
          <p:nvPr/>
        </p:nvSpPr>
        <p:spPr>
          <a:xfrm>
            <a:off x="1009650" y="9429750"/>
            <a:ext cx="10477500" cy="173355"/>
          </a:xfrm>
          <a:prstGeom prst="rect">
            <a:avLst/>
          </a:prstGeom>
          <a:noFill/>
        </p:spPr>
        <p:txBody>
          <a:bodyPr wrap="none" lIns="0" rIns="0" tIns="0" bIns="0" anchor="ctr">
            <a:spAutoFit/>
          </a:bodyPr>
          <a:lstStyle/>
          <a:p>
            <a:pPr algn="l"/>
            <a:r>
              <a:rPr sz="1050" b="1">
                <a:solidFill>
                  <a:srgbClr val="00355F"/>
                </a:solidFill>
                <a:latin typeface="Arial"/>
              </a:rPr>
              <a:t>polyreactivity</a:t>
            </a:r>
          </a:p>
        </p:txBody>
      </p:sp>
      <p:sp xmlns:a="http://schemas.openxmlformats.org/drawingml/2006/main">
        <p:nvSpPr>
          <p:cNvPr id="225" name="TextBox 224"/>
          <p:cNvSpPr txBox="1"/>
          <p:nvPr/>
        </p:nvSpPr>
        <p:spPr>
          <a:xfrm>
            <a:off x="2019300" y="9429750"/>
            <a:ext cx="10477500" cy="173355"/>
          </a:xfrm>
          <a:prstGeom prst="rect">
            <a:avLst/>
          </a:prstGeom>
          <a:noFill/>
        </p:spPr>
        <p:txBody>
          <a:bodyPr wrap="none" lIns="0" rIns="0" tIns="0" bIns="0" anchor="ctr">
            <a:spAutoFit/>
          </a:bodyPr>
          <a:lstStyle/>
          <a:p>
            <a:pPr algn="l"/>
            <a:r>
              <a:rPr sz="1050" b="0">
                <a:solidFill>
                  <a:srgbClr val="33475B"/>
                </a:solidFill>
                <a:latin typeface="Arial"/>
              </a:rPr>
              <a:t>sticks to off-targets; safety flag</a:t>
            </a:r>
          </a:p>
        </p:txBody>
      </p:sp>
      <p:sp xmlns:a="http://schemas.openxmlformats.org/drawingml/2006/main">
        <p:nvSpPr>
          <p:cNvPr id="226" name="Rounded Rectangle 225"/>
          <p:cNvSpPr/>
          <p:nvPr/>
        </p:nvSpPr>
        <p:spPr>
          <a:xfrm>
            <a:off x="6429375" y="9372600"/>
            <a:ext cx="5429250" cy="285750"/>
          </a:xfrm>
          <a:prstGeom prst="roundRect">
            <a:avLst>
              <a:gd name="adj" fmla="val 33333"/>
            </a:avLst>
          </a:prstGeom>
          <a:solidFill>
            <a:srgbClr val="FFFFFF"/>
          </a:solidFill>
          <a:ln w="7620">
            <a:solidFill>
              <a:srgbClr val="CFE0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27" name="TextBox 226"/>
          <p:cNvSpPr txBox="1"/>
          <p:nvPr/>
        </p:nvSpPr>
        <p:spPr>
          <a:xfrm>
            <a:off x="6524625" y="9429750"/>
            <a:ext cx="10477500" cy="173355"/>
          </a:xfrm>
          <a:prstGeom prst="rect">
            <a:avLst/>
          </a:prstGeom>
          <a:noFill/>
        </p:spPr>
        <p:txBody>
          <a:bodyPr wrap="none" lIns="0" rIns="0" tIns="0" bIns="0" anchor="ctr">
            <a:spAutoFit/>
          </a:bodyPr>
          <a:lstStyle/>
          <a:p>
            <a:pPr algn="l"/>
            <a:r>
              <a:rPr sz="1050" b="1">
                <a:solidFill>
                  <a:srgbClr val="00355F"/>
                </a:solidFill>
                <a:latin typeface="Arial"/>
              </a:rPr>
              <a:t>epitope</a:t>
            </a:r>
          </a:p>
        </p:txBody>
      </p:sp>
      <p:sp xmlns:a="http://schemas.openxmlformats.org/drawingml/2006/main">
        <p:nvSpPr>
          <p:cNvPr id="228" name="TextBox 227"/>
          <p:cNvSpPr txBox="1"/>
          <p:nvPr/>
        </p:nvSpPr>
        <p:spPr>
          <a:xfrm>
            <a:off x="7534275" y="9429750"/>
            <a:ext cx="10477500" cy="173355"/>
          </a:xfrm>
          <a:prstGeom prst="rect">
            <a:avLst/>
          </a:prstGeom>
          <a:noFill/>
        </p:spPr>
        <p:txBody>
          <a:bodyPr wrap="none" lIns="0" rIns="0" tIns="0" bIns="0" anchor="ctr">
            <a:spAutoFit/>
          </a:bodyPr>
          <a:lstStyle/>
          <a:p>
            <a:pPr algn="l"/>
            <a:r>
              <a:rPr sz="1050" b="0">
                <a:solidFill>
                  <a:srgbClr val="33475B"/>
                </a:solidFill>
                <a:latin typeface="Arial"/>
              </a:rPr>
              <a:t>where on the target it binds</a:t>
            </a:r>
          </a:p>
        </p:txBody>
      </p:sp>
      <p:sp xmlns:a="http://schemas.openxmlformats.org/drawingml/2006/main">
        <p:nvSpPr>
          <p:cNvPr id="229" name="Rounded Rectangle 228"/>
          <p:cNvSpPr/>
          <p:nvPr/>
        </p:nvSpPr>
        <p:spPr>
          <a:xfrm>
            <a:off x="11944350" y="9372600"/>
            <a:ext cx="5429250" cy="285750"/>
          </a:xfrm>
          <a:prstGeom prst="roundRect">
            <a:avLst>
              <a:gd name="adj" fmla="val 33333"/>
            </a:avLst>
          </a:prstGeom>
          <a:solidFill>
            <a:srgbClr val="FFFFFF"/>
          </a:solidFill>
          <a:ln w="7620">
            <a:solidFill>
              <a:srgbClr val="CFE0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30" name="TextBox 229"/>
          <p:cNvSpPr txBox="1"/>
          <p:nvPr/>
        </p:nvSpPr>
        <p:spPr>
          <a:xfrm>
            <a:off x="12039600" y="9429750"/>
            <a:ext cx="10477500" cy="173355"/>
          </a:xfrm>
          <a:prstGeom prst="rect">
            <a:avLst/>
          </a:prstGeom>
          <a:noFill/>
        </p:spPr>
        <p:txBody>
          <a:bodyPr wrap="none" lIns="0" rIns="0" tIns="0" bIns="0" anchor="ctr">
            <a:spAutoFit/>
          </a:bodyPr>
          <a:lstStyle/>
          <a:p>
            <a:pPr algn="l"/>
            <a:r>
              <a:rPr sz="1050" b="1">
                <a:solidFill>
                  <a:srgbClr val="00355F"/>
                </a:solidFill>
                <a:latin typeface="Arial"/>
              </a:rPr>
              <a:t>cell potency</a:t>
            </a:r>
          </a:p>
        </p:txBody>
      </p:sp>
      <p:sp xmlns:a="http://schemas.openxmlformats.org/drawingml/2006/main">
        <p:nvSpPr>
          <p:cNvPr id="231" name="TextBox 230"/>
          <p:cNvSpPr txBox="1"/>
          <p:nvPr/>
        </p:nvSpPr>
        <p:spPr>
          <a:xfrm>
            <a:off x="13049250" y="9429750"/>
            <a:ext cx="10477500" cy="173355"/>
          </a:xfrm>
          <a:prstGeom prst="rect">
            <a:avLst/>
          </a:prstGeom>
          <a:noFill/>
        </p:spPr>
        <p:txBody>
          <a:bodyPr wrap="none" lIns="0" rIns="0" tIns="0" bIns="0" anchor="ctr">
            <a:spAutoFit/>
          </a:bodyPr>
          <a:lstStyle/>
          <a:p>
            <a:pPr algn="l"/>
            <a:r>
              <a:rPr sz="1050" b="0">
                <a:solidFill>
                  <a:srgbClr val="33475B"/>
                </a:solidFill>
                <a:latin typeface="Arial"/>
              </a:rPr>
              <a:t>functional effect in living cells</a:t>
            </a:r>
          </a:p>
        </p:txBody>
      </p:sp>
      <p:sp xmlns:a="http://schemas.openxmlformats.org/drawingml/2006/main">
        <p:nvSpPr>
          <p:cNvPr id="232" name="TextBox 231"/>
          <p:cNvSpPr txBox="1"/>
          <p:nvPr/>
        </p:nvSpPr>
        <p:spPr>
          <a:xfrm>
            <a:off x="666750" y="9782175"/>
            <a:ext cx="10477500" cy="210502"/>
          </a:xfrm>
          <a:prstGeom prst="rect">
            <a:avLst/>
          </a:prstGeom>
          <a:noFill/>
        </p:spPr>
        <p:txBody>
          <a:bodyPr wrap="none" lIns="0" rIns="0" tIns="0" bIns="0" anchor="ctr">
            <a:spAutoFit/>
          </a:bodyPr>
          <a:lstStyle/>
          <a:p>
            <a:pPr algn="l"/>
            <a:r>
              <a:rPr sz="1275" b="0">
                <a:solidFill>
                  <a:srgbClr val="00355F"/>
                </a:solidFill>
                <a:latin typeface="Arial"/>
              </a:rPr>
              <a:t>Illustrative counts. Nine label types are not nine independent assays; richer data need not come at unchanged cost.</a:t>
            </a:r>
          </a:p>
        </p:txBody>
      </p:sp>
      <p:sp xmlns:a="http://schemas.openxmlformats.org/drawingml/2006/main">
        <p:nvSpPr>
          <p:cNvPr id="233" name="TextBox 232"/>
          <p:cNvSpPr txBox="1"/>
          <p:nvPr/>
        </p:nvSpPr>
        <p:spPr>
          <a:xfrm>
            <a:off x="666750" y="10025062"/>
            <a:ext cx="10477500" cy="191929"/>
          </a:xfrm>
          <a:prstGeom prst="rect">
            <a:avLst/>
          </a:prstGeom>
          <a:noFill/>
        </p:spPr>
        <p:txBody>
          <a:bodyPr wrap="none" lIns="0" rIns="0" tIns="0" bIns="0" anchor="ctr">
            <a:spAutoFit/>
          </a:bodyPr>
          <a:lstStyle/>
          <a:p>
            <a:pPr algn="l"/>
            <a:r>
              <a:rPr sz="1162" b="0">
                <a:solidFill>
                  <a:srgbClr val="00355F"/>
                </a:solidFill>
                <a:latin typeface="Arial"/>
              </a:rPr>
              <a:t>Sources: Jain et al., 2017; Arsiwala et al., 2025; van Niekerk et al., 2026. Mechanism illustration; definitions and links in SOURCES.md.</a:t>
            </a:r>
          </a:p>
        </p:txBody>
      </p:sp>
    </p:spTree>
    <p:extLst>
      <p:ext uri="{BB962C8B-B14F-4D97-AF65-F5344CB8AC3E}">
        <p14:creationId xmlns:p14="http://schemas.microsoft.com/office/powerpoint/2010/main" val="213853690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2026-10-13T06:02:31.3710000Z</dcterms:created>
  <dcterms:modified xsi:type="dcterms:W3CDTF">2026-10-13T06:02:31.3710000Z</dcterms:modified>
</coreProperties>
</file>