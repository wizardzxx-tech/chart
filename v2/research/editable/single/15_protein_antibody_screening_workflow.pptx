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de50bbf5a84278" /><Relationship Type="http://schemas.openxmlformats.org/officeDocument/2006/relationships/extended-properties" Target="/docProps/app.xml" Id="R9817a1e5773a4da3" /><Relationship Type="http://schemas.openxmlformats.org/officeDocument/2006/relationships/officeDocument" Target="/ppt/presentation.xml" Id="R925e8545501b4cab" /></Relationships>
</file>

<file path=ppt/presentation.xml><?xml version="1.0" encoding="utf-8"?>
<p:presentation xmlns:p="http://schemas.openxmlformats.org/presentationml/2006/main">
  <p:sldMasterIdLst>
    <p:sldMasterId xmlns:r="http://schemas.openxmlformats.org/officeDocument/2006/relationships" id="2147483648" r:id="Rdd6c2151cebb423d"/>
  </p:sldMasterIdLst>
  <p:notesMasterIdLst>
    <p:notesMasterId xmlns:r="http://schemas.openxmlformats.org/officeDocument/2006/relationships" r:id="Rf01482d4d124449f"/>
  </p:notesMasterIdLst>
  <p:sldIdLst>
    <p:sldId xmlns:r="http://schemas.openxmlformats.org/officeDocument/2006/relationships" id="256" r:id="R4015992a92524f3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c3143578754c04" /><Relationship Type="http://schemas.openxmlformats.org/officeDocument/2006/relationships/slideMaster" Target="/ppt/slideMasters/slideMaster1.xml" Id="Rdd6c2151cebb423d" /><Relationship Type="http://schemas.openxmlformats.org/officeDocument/2006/relationships/notesMaster" Target="/ppt/notesMasters/notesMaster1.xml" Id="Rf01482d4d124449f" /><Relationship Type="http://schemas.openxmlformats.org/officeDocument/2006/relationships/presProps" Target="/ppt/presProps.xml" Id="R950b9af7bd0d43ee" /><Relationship Type="http://schemas.openxmlformats.org/officeDocument/2006/relationships/tableStyles" Target="/ppt/tableStyles.xml" Id="Ra0d1a6efe38f4e57" /><Relationship Type="http://schemas.openxmlformats.org/officeDocument/2006/relationships/slide" Target="/ppt/slides/slide1.xml" Id="R4015992a92524f3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37585314690447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c66a65b05fb4740" /><Relationship Type="http://schemas.openxmlformats.org/officeDocument/2006/relationships/notesMaster" Target="/ppt/notesMasters/notesMaster1.xml" Id="R56d71b3235e440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Inside a gene-building wet lab</a:t>
            </a:r>
          </a:p>
          <a:p xmlns:a="http://schemas.openxmlformats.org/drawingml/2006/main">
            <a:r>
              <a:t/>
            </a:r>
          </a:p>
          <a:p xmlns:a="http://schemas.openxmlformats.org/drawingml/2006/main">
            <a:r>
              <a:t>Figure 15. English bench illustration and interactive supplier guide. Revised 15 October 2026.</a:t>
            </a:r>
          </a:p>
          <a:p xmlns:a="http://schemas.openxmlformats.org/drawingml/2006/main">
            <a:r>
              <a:t/>
            </a:r>
          </a:p>
          <a:p xmlns:a="http://schemas.openxmlformats.org/drawingml/2006/main">
            <a:r>
              <a:t>## What the illustration shows</a:t>
            </a:r>
          </a:p>
          <a:p xmlns:a="http://schemas.openxmlformats.org/drawingml/2006/main">
            <a:r>
              <a:t/>
            </a:r>
          </a:p>
          <a:p xmlns:a="http://schemas.openxmlformats.org/drawingml/2006/main">
            <a:r>
              <a:t>This is an illustrative gene-construction bench. A lab can buy synthetic DNA fragments or oligos, assemble them into a vector, amplify selected templates, clone and expand the construct, purify plasmid DNA and check the sequence. Gene synthesis at a specialist supplier and PCR amplification in a customer laboratory are different activities. Laboratories can also order a finished, sequence-verified plasmid and skip some bench work.</a:t>
            </a:r>
          </a:p>
          <a:p xmlns:a="http://schemas.openxmlformats.org/drawingml/2006/main">
            <a:r>
              <a:t/>
            </a:r>
          </a:p>
          <a:p xmlns:a="http://schemas.openxmlformats.org/drawingml/2006/main">
            <a:r>
              <a:t>The numbers identify tool groups and the physical layout, not seven mandatory protocol steps. For example, purification can occur during fragment preparation and again after clone growth. Transformation and colony selection precede liquid clone expansion. PCR, assembly, culture and QC choices depend on the construct and workflow. No operating parameters, experimental quantities or throughput assumptions are given.</a:t>
            </a:r>
          </a:p>
          <a:p xmlns:a="http://schemas.openxmlformats.org/drawingml/2006/main">
            <a:r>
              <a:t/>
            </a:r>
          </a:p>
          <a:p xmlns:a="http://schemas.openxmlformats.org/drawingml/2006/main">
            <a:r>
              <a:t>Fluorometry estimates concentration and gel electrophoresis provides fragment-size information. Neither verifies the full base sequence. Sanger sequence reads can support construct confirmation when coverage and quality are adequate. The computer illustrates data review, not a claim that a sequencer sits in every laboratory. Sequencing can be purchased as a service. A gel-imaging system is a related item in the expanded guide, not a separate imager pictured on the bench.</a:t>
            </a:r>
          </a:p>
          <a:p xmlns:a="http://schemas.openxmlformats.org/drawingml/2006/main">
            <a:r>
              <a:t/>
            </a:r>
          </a:p>
          <a:p xmlns:a="http://schemas.openxmlformats.org/drawingml/2006/main">
            <a:r>
              <a:t>Equipment, reagents and consumables are distinct procurement categories. Kits can bundle buffers with disposable columns and tubes. Supplier examples are alternatives, not one installed equipment set, an endorsement or a market-share ranking. The generated equipment is generic and is not an exact rendering of any named model. This revision intentionally focuses on physical bench work rather than repeating the AI funnel or market-size framework.</a:t>
            </a:r>
          </a:p>
          <a:p xmlns:a="http://schemas.openxmlformats.org/drawingml/2006/main">
            <a:r>
              <a:t/>
            </a:r>
          </a:p>
          <a:p xmlns:a="http://schemas.openxmlformats.org/drawingml/2006/main">
            <a:r>
              <a:t>## Item-by-item guide and primary sources</a:t>
            </a:r>
          </a:p>
          <a:p xmlns:a="http://schemas.openxmlformats.org/drawingml/2006/main">
            <a:r>
              <a:t/>
            </a:r>
          </a:p>
          <a:p xmlns:a="http://schemas.openxmlformats.org/drawingml/2006/main">
            <a:r>
              <a:t>### 1. DNA inputs</a:t>
            </a:r>
          </a:p>
          <a:p xmlns:a="http://schemas.openxmlformats.org/drawingml/2006/main">
            <a:r>
              <a:t/>
            </a:r>
          </a:p>
          <a:p xmlns:a="http://schemas.openxmlformats.org/drawingml/2006/main">
            <a:r>
              <a:t>Provide the sequence to build.</a:t>
            </a:r>
          </a:p>
          <a:p xmlns:a="http://schemas.openxmlformats.org/drawingml/2006/main">
            <a:r>
              <a:t/>
            </a:r>
          </a:p>
          <a:p xmlns:a="http://schemas.openxmlformats.org/drawingml/2006/main">
            <a:r>
              <a:t>- **Synthetic DNA fragments / oligos** (Reagent / service): Supply designed DNA sequences for construct assembly. Examples: Twist Gene Fragments, GenScript, Tsingke Tsynth. [Primary product source](https://www.twistbioscience.com/products/genes/fragments).</a:t>
            </a:r>
          </a:p>
          <a:p xmlns:a="http://schemas.openxmlformats.org/drawingml/2006/main">
            <a:r>
              <a:t>- **Vector DNA** (Reagent): Provide the plasmid backbone that receives the insert. Examples: GenScript, Tsingke custom constructs. [Primary product source](https://www.tsingke.com/products/tsynth-gene-synthesis/).</a:t>
            </a:r>
          </a:p>
          <a:p xmlns:a="http://schemas.openxmlformats.org/drawingml/2006/main">
            <a:r>
              <a:t/>
            </a:r>
          </a:p>
          <a:p xmlns:a="http://schemas.openxmlformats.org/drawingml/2006/main">
            <a:r>
              <a:t>### 2. Reaction setup</a:t>
            </a:r>
          </a:p>
          <a:p xmlns:a="http://schemas.openxmlformats.org/drawingml/2006/main">
            <a:r>
              <a:t/>
            </a:r>
          </a:p>
          <a:p xmlns:a="http://schemas.openxmlformats.org/drawingml/2006/main">
            <a:r>
              <a:t>Transfer and combine reagents.</a:t>
            </a:r>
          </a:p>
          <a:p xmlns:a="http://schemas.openxmlformats.org/drawingml/2006/main">
            <a:r>
              <a:t/>
            </a:r>
          </a:p>
          <a:p xmlns:a="http://schemas.openxmlformats.org/drawingml/2006/main">
            <a:r>
              <a:t>- **Micropipette** (Instrument): Transfer sample and reagent volumes. Examples: Gilson PIPETMAN, Eppendorf Research. [Primary product source](https://row.gilson.com/liquid-handling.html).</a:t>
            </a:r>
          </a:p>
          <a:p xmlns:a="http://schemas.openxmlformats.org/drawingml/2006/main">
            <a:r>
              <a:t>- **Assembly mix / PCR mix** (Reagent): Join DNA fragments or amplify selected templates. These are distinct reagents and operations. Examples: NEB NEBuilder / Q5, Vazyme ClonExpress / Phanta. [Primary product source](https://www.neb.com/en-ca/tools-and-resources/usage-guidelines/guidelines-for-using-nebuilder-hifi-dna-assembly).</a:t>
            </a:r>
          </a:p>
          <a:p xmlns:a="http://schemas.openxmlformats.org/drawingml/2006/main">
            <a:r>
              <a:t>- **Pipette tips and microtubes** (Consumable): Carry liquids and hold samples. Choose fit and purity for the application. Examples: Gilson, Eppendorf, JET Biofil. [Primary product source](https://www.gilson.com/default/shop-products/pipetman-diamond-tips.html).</a:t>
            </a:r>
          </a:p>
          <a:p xmlns:a="http://schemas.openxmlformats.org/drawingml/2006/main">
            <a:r>
              <a:t/>
            </a:r>
          </a:p>
          <a:p xmlns:a="http://schemas.openxmlformats.org/drawingml/2006/main">
            <a:r>
              <a:t>### 3. Thermal cycling</a:t>
            </a:r>
          </a:p>
          <a:p xmlns:a="http://schemas.openxmlformats.org/drawingml/2006/main">
            <a:r>
              <a:t/>
            </a:r>
          </a:p>
          <a:p xmlns:a="http://schemas.openxmlformats.org/drawingml/2006/main">
            <a:r>
              <a:t>Run PCR or assembly incubation.</a:t>
            </a:r>
          </a:p>
          <a:p xmlns:a="http://schemas.openxmlformats.org/drawingml/2006/main">
            <a:r>
              <a:t/>
            </a:r>
          </a:p>
          <a:p xmlns:a="http://schemas.openxmlformats.org/drawingml/2006/main">
            <a:r>
              <a:t>- **Thermocycler** (Instrument): Control temperature during PCR and compatible assembly incubations. Some incubations can use a heating block. Examples: Applied Biosystems, Bio-Rad T100. [Primary product source](https://www.bio-rad.com/en-nl/category/thermal-cyclers-for-pcr?ID=75f1b406-3746-4580-a998-74245b094f56).</a:t>
            </a:r>
          </a:p>
          <a:p xmlns:a="http://schemas.openxmlformats.org/drawingml/2006/main">
            <a:r>
              <a:t>- **PCR plates, tubes and sealing film** (Consumable): Contain reactions in an instrument-compatible format. Examples: Thermo Fisher, Eppendorf, JET Biofil. [Primary product source](https://www.jetbiofil.com/news/show_94.html).</a:t>
            </a:r>
          </a:p>
          <a:p xmlns:a="http://schemas.openxmlformats.org/drawingml/2006/main">
            <a:r>
              <a:t/>
            </a:r>
          </a:p>
          <a:p xmlns:a="http://schemas.openxmlformats.org/drawingml/2006/main">
            <a:r>
              <a:t>### 4. DNA cleanup</a:t>
            </a:r>
          </a:p>
          <a:p xmlns:a="http://schemas.openxmlformats.org/drawingml/2006/main">
            <a:r>
              <a:t/>
            </a:r>
          </a:p>
          <a:p xmlns:a="http://schemas.openxmlformats.org/drawingml/2006/main">
            <a:r>
              <a:t>Recover DNA and remove impurities.</a:t>
            </a:r>
          </a:p>
          <a:p xmlns:a="http://schemas.openxmlformats.org/drawingml/2006/main">
            <a:r>
              <a:t/>
            </a:r>
          </a:p>
          <a:p xmlns:a="http://schemas.openxmlformats.org/drawingml/2006/main">
            <a:r>
              <a:t>- **Microcentrifuge** (Instrument): Support sample separation and spin-column workflows. Examples: Eppendorf 5425 / 5425 R. [Primary product source](https://www.eppendorf.com/us-en/Products/Centrifugation/Microcentrifuges/Centrifuge-5425-5425R-p-PF-934144).</a:t>
            </a:r>
          </a:p>
          <a:p xmlns:a="http://schemas.openxmlformats.org/drawingml/2006/main">
            <a:r>
              <a:t>- **DNA cleanup kit / plasmid miniprep kit** (Reagent + consumable kit): Purify PCR products or isolate plasmid DNA after clone growth. These are different kit applications. Examples: QIAGEN QIAquick / QIAprep, TIANGEN purification / TIANprep. [Primary product source](https://www.qiagen.com/re/products/discovery-and-translational-research/dna-rna-purification/dna-purification/plasmid-dna/qiaprep-spin-miniprep-kit).</a:t>
            </a:r>
          </a:p>
          <a:p xmlns:a="http://schemas.openxmlformats.org/drawingml/2006/main">
            <a:r>
              <a:t/>
            </a:r>
          </a:p>
          <a:p xmlns:a="http://schemas.openxmlformats.org/drawingml/2006/main">
            <a:r>
              <a:t>### 5. DNA quality checks</a:t>
            </a:r>
          </a:p>
          <a:p xmlns:a="http://schemas.openxmlformats.org/drawingml/2006/main">
            <a:r>
              <a:t/>
            </a:r>
          </a:p>
          <a:p xmlns:a="http://schemas.openxmlformats.org/drawingml/2006/main">
            <a:r>
              <a:t>Check concentration and fragment size.</a:t>
            </a:r>
          </a:p>
          <a:p xmlns:a="http://schemas.openxmlformats.org/drawingml/2006/main">
            <a:r>
              <a:t/>
            </a:r>
          </a:p>
          <a:p xmlns:a="http://schemas.openxmlformats.org/drawingml/2006/main">
            <a:r>
              <a:t>- **Fluorometer and DNA assay kit** (Instrument + reagent): Estimate DNA concentration with an appropriate fluorescent assay and standards. Examples: Invitrogen Qubit / Thermo Fisher. [Primary product source](https://documents.thermofisher.com/TFS-Assets/BID/brochures/qubit-fluorometers-assays-brochure.pdf).</a:t>
            </a:r>
          </a:p>
          <a:p xmlns:a="http://schemas.openxmlformats.org/drawingml/2006/main">
            <a:r>
              <a:t>- **Gel electrophoresis / imaging system** (Instrument): Visualize DNA fragment-size patterns. This does not read the base sequence. Examples: Bio-Rad Mini-Sub / Gel Doc. [Primary product source](https://www.bio-rad.com/en-cn/p/edu).</a:t>
            </a:r>
          </a:p>
          <a:p xmlns:a="http://schemas.openxmlformats.org/drawingml/2006/main">
            <a:r>
              <a:t>- **Agarose, ladder, dye and assay tubes** (Reagent + consumable): Support size and concentration QC. Fluorometry requires compatible assay tubes and standards. Examples: Thermo Fisher / Invitrogen, Bio-Rad. [Primary product source](https://documents.thermofisher.com/TFS-Assets/LSG/manuals/MAN0017209_Qubit_4_Fluorometer_UG.pdf).</a:t>
            </a:r>
          </a:p>
          <a:p xmlns:a="http://schemas.openxmlformats.org/drawingml/2006/main">
            <a:r>
              <a:t/>
            </a:r>
          </a:p>
          <a:p xmlns:a="http://schemas.openxmlformats.org/drawingml/2006/main">
            <a:r>
              <a:t>### 6. Clone growth</a:t>
            </a:r>
          </a:p>
          <a:p xmlns:a="http://schemas.openxmlformats.org/drawingml/2006/main">
            <a:r>
              <a:t/>
            </a:r>
          </a:p>
          <a:p xmlns:a="http://schemas.openxmlformats.org/drawingml/2006/main">
            <a:r>
              <a:t>Expand cells carrying the construct.</a:t>
            </a:r>
          </a:p>
          <a:p xmlns:a="http://schemas.openxmlformats.org/drawingml/2006/main">
            <a:r>
              <a:t/>
            </a:r>
          </a:p>
          <a:p xmlns:a="http://schemas.openxmlformats.org/drawingml/2006/main">
            <a:r>
              <a:t>- **Shaking incubator** (Instrument): Support growth of a suitable laboratory host culture. The illustrated unit is generic. Examples: Eppendorf New Brunswick Innova. [Primary product source](https://www.eppendorf.com/de-en/Products/Lab-Shakers/Incubator-Shakers/New-Brunswick-Innova-42-42R-p-PF-11016).</a:t>
            </a:r>
          </a:p>
          <a:p xmlns:a="http://schemas.openxmlformats.org/drawingml/2006/main">
            <a:r>
              <a:t>- **Cloning cells and growth medium** (Reagent): Host and expand plasmid constructs. Transformation and colony selection precede liquid clone expansion. Examples: NEB cloning cells, Thermo Fisher media. [Primary product source](https://intl.neb.com/en/-/media/nebus/files/manuals/manuale2621_e5520.pdf?hash=DBB3AAA03690BBDA4C873814C891A375&amp;rev=120c86ac1f4f48ed95f1eb46990d9d0e).</a:t>
            </a:r>
          </a:p>
          <a:p xmlns:a="http://schemas.openxmlformats.org/drawingml/2006/main">
            <a:r>
              <a:t>- **Culture tubes, flasks and plates** (Consumable): Hold cultures during clone selection and expansion. Examples: Eppendorf, Thermo Fisher, JET Biofil. [Primary product source](https://www.jetbiofil.com/product/index_100000010797627.html).</a:t>
            </a:r>
          </a:p>
          <a:p xmlns:a="http://schemas.openxmlformats.org/drawingml/2006/main">
            <a:r>
              <a:t/>
            </a:r>
          </a:p>
          <a:p xmlns:a="http://schemas.openxmlformats.org/drawingml/2006/main">
            <a:r>
              <a:t>### 7. Sequence confirmation</a:t>
            </a:r>
          </a:p>
          <a:p xmlns:a="http://schemas.openxmlformats.org/drawingml/2006/main">
            <a:r>
              <a:t/>
            </a:r>
          </a:p>
          <a:p xmlns:a="http://schemas.openxmlformats.org/drawingml/2006/main">
            <a:r>
              <a:t>Confirm the construct sequence.</a:t>
            </a:r>
          </a:p>
          <a:p xmlns:a="http://schemas.openxmlformats.org/drawingml/2006/main">
            <a:r>
              <a:t/>
            </a:r>
          </a:p>
          <a:p xmlns:a="http://schemas.openxmlformats.org/drawingml/2006/main">
            <a:r>
              <a:t>- **Sanger service / sequencer** (Service or instrument): Read sequence data and compare the construct with the design. An analysis screen does not imply an on-site sequencer. Examples: Tsingke / GenScript service, Applied Biosystems SeqStudio. [Primary product source](https://www.thermofisher.com/de/en/home/life-science/sequencing/sanger-sequencing/genetic-analyzers/models/seqstudio.html).</a:t>
            </a:r>
          </a:p>
          <a:p xmlns:a="http://schemas.openxmlformats.org/drawingml/2006/main">
            <a:r>
              <a:t>- **Sequence trace and construct record** (Data output): Link sequence identity with the sample record before expression or assays. Examples: Analysis software and laboratory sample records. [Primary product source](https://www.tsingke.com.cn/sanger).</a:t>
            </a:r>
          </a:p>
          <a:p xmlns:a="http://schemas.openxmlformats.org/drawingml/2006/main">
            <a:r>
              <a:t/>
            </a:r>
          </a:p>
          <a:p xmlns:a="http://schemas.openxmlformats.org/drawingml/2006/main">
            <a:r>
              <a:t>## Additional cross-checks</a:t>
            </a:r>
          </a:p>
          <a:p xmlns:a="http://schemas.openxmlformats.org/drawingml/2006/main">
            <a:r>
              <a:t/>
            </a:r>
          </a:p>
          <a:p xmlns:a="http://schemas.openxmlformats.org/drawingml/2006/main">
            <a:r>
              <a:t>- [NEB assembly guidelines](https://www.neb.com/en-ca/tools-and-resources/usage-guidelines/guidelines-for-using-nebuilder-hifi-dna-assembly): assembled fragments and vectors.</a:t>
            </a:r>
          </a:p>
          <a:p xmlns:a="http://schemas.openxmlformats.org/drawingml/2006/main">
            <a:r>
              <a:t>- [Vazyme ClonExpress MultiS](https://www.vazymeglobal.com/cetool/multifragment.html): multi-fragment cloning. [Phanta Max](https://www.vazymeglobal.com/product-center/high-fidelity-pcr/phanta-max-super-fidelity-dna-polymerase/): high-fidelity PCR product family.</a:t>
            </a:r>
          </a:p>
          <a:p xmlns:a="http://schemas.openxmlformats.org/drawingml/2006/main">
            <a:r>
              <a:t>- [Eppendorf Research plus](https://www.eppendorf.com/gb-en/Products/Liquid-Handling/All-Pipettes-Dispensers-Automated-Liquid-Handlers/Eppendorf-Research-plus-p-PF-534798): micropipette product family.</a:t>
            </a:r>
          </a:p>
          <a:p xmlns:a="http://schemas.openxmlformats.org/drawingml/2006/main">
            <a:r>
              <a:t>- [TIANGEN DNA purification](https://en.tiangen.com/content/details_69_5374.html) and [TIANprep plasmid kit](https://en.tiangen.com/content/details_69_4307.html): different purification applications.</a:t>
            </a:r>
          </a:p>
          <a:p xmlns:a="http://schemas.openxmlformats.org/drawingml/2006/main">
            <a:r>
              <a:t>- [QIAGEN PCR cleanup](https://www.qiagen.com/ee/products/discovery-and-translational-research/dna-rna-purification/dna-purification/dna-clean-up/qiaquick-pcr-purification-kit): DNA clean-up product family.</a:t>
            </a:r>
          </a:p>
          <a:p xmlns:a="http://schemas.openxmlformats.org/drawingml/2006/main">
            <a:r>
              <a:t>- [GenScript gene fragments](https://www.genscript.com/gene-fragments.html?src=pullmenu): synthetic fragments. Fragment delivery should not automatically be equated with a fully sequence-verified plasmid.</a:t>
            </a:r>
          </a:p>
          <a:p xmlns:a="http://schemas.openxmlformats.org/drawingml/2006/main">
            <a:r>
              <a:t>- [GenScript molecular biology services](https://www.genscript.com/molecular-biology-service.html?src=footer): sequencing and other service offerings.</a:t>
            </a:r>
          </a:p>
          <a:p xmlns:a="http://schemas.openxmlformats.org/drawingml/2006/main">
            <a:r>
              <a:t>- [Tsingke Sanger service](https://www.tsingke.com.cn/sanger): outsourced sequence confirmation.</a:t>
            </a:r>
          </a:p>
          <a:p xmlns:a="http://schemas.openxmlformats.org/drawingml/2006/main">
            <a:r>
              <a:t/>
            </a:r>
          </a:p>
          <a:p xmlns:a="http://schemas.openxmlformats.org/drawingml/2006/main">
            <a:r>
              <a:t>No market sizes, company revenue forecasts, unit prices or experimental success rates are introduced.</a:t>
            </a:r>
          </a:p>
          <a:p xmlns:a="http://schemas.openxmlformats.org/drawingml/2006/main">
            <a:r>
              <a:t/>
            </a:r>
          </a:p>
          <a:p xmlns:a="http://schemas.openxmlformats.org/drawingml/2006/main">
            <a:r>
              <a:t>## Visual provenance and editability</a:t>
            </a:r>
          </a:p>
          <a:p xmlns:a="http://schemas.openxmlformats.org/drawingml/2006/main">
            <a:r>
              <a:t/>
            </a:r>
          </a:p>
          <a:p xmlns:a="http://schemas.openxmlformats.org/drawingml/2006/main">
            <a:r>
              <a:t>The unbranded laboratory illustration was generated with the built-in imagegen tool. A focused revision replaces two culture vessels with conical shake flasks. This is a conceptual illustration, not a photograph of an actual laboratory. [Prompts](PROMPTS.md).</a:t>
            </a:r>
          </a:p>
          <a:p xmlns:a="http://schemas.openxmlformats.org/drawingml/2006/main">
            <a:r>
              <a:t/>
            </a:r>
          </a:p>
          <a:p xmlns:a="http://schemas.openxmlformats.org/drawingml/2006/main">
            <a:r>
              <a:t>All diagram titles, equipment labels, numbered markers, supplier names and leader lines remain editable in the SVG and PowerPoint. The bench illustration and original JET Biofil logo are embedded images. Web text and the item guide are English. The palette follows the user's navy, pale blue, gray and slate-blue priorities. Original logos retain their brand colors.</a:t>
            </a:r>
          </a:p>
          <a:p xmlns:a="http://schemas.openxmlformats.org/drawingml/2006/main">
            <a:r>
              <a:t/>
            </a:r>
          </a:p>
          <a:p xmlns:a="http://schemas.openxmlformats.org/drawingml/2006/main">
            <a:r>
              <a:t>Original JET Biofil logo: https://image.makewebeasy.net/makeweb/m_1920x0/EtyBgz2ZO/Product_Brand/Jet_01.png?v=202012190947 (previously archived project asset).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1602491f36435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0914e6946954d4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b956b9781064d2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e6986143ee461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948b19bbc0b406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7c02256a97f463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9DE1E-0A8C-412E-B833-599E78C637B3}"/>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985E79F-8DF1-4BA6-8726-786857E31E70}"/>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172846C-ED0A-436C-89F2-605DD9297AFA}"/>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EA39BB-83F4-4725-A480-936E3C395F18}"/>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BF31086-7ECD-41BF-BF73-4C85AC3BB9BC}"/>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A8C1083-AD1C-48F8-A7F6-E31479C84BA3}"/>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DB6640-97B8-44CA-96D4-29BE9BE1977C}"/>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27811F8-DFA8-4939-AC09-FA4BC0427E88}"/>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F8AEC1-FB90-4C1F-9039-31F9361E2861}"/>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198709-2E8C-4E39-A534-741914E9920B}"/>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16287aa5c2b4a3b" /><Relationship Type="http://schemas.openxmlformats.org/officeDocument/2006/relationships/slideLayout" Target="/ppt/slideLayouts/slideLayout1.xml" Id="R9709b77587e0479e" /><Relationship Type="http://schemas.openxmlformats.org/officeDocument/2006/relationships/slideLayout" Target="/ppt/slideLayouts/slideLayout2.xml" Id="Ref7a854bbffb4852" /><Relationship Type="http://schemas.openxmlformats.org/officeDocument/2006/relationships/slideLayout" Target="/ppt/slideLayouts/slideLayout3.xml" Id="R646758d5a90a4f06" /><Relationship Type="http://schemas.openxmlformats.org/officeDocument/2006/relationships/slideLayout" Target="/ppt/slideLayouts/slideLayout4.xml" Id="R5af98f4add0b439f" /><Relationship Type="http://schemas.openxmlformats.org/officeDocument/2006/relationships/slideLayout" Target="/ppt/slideLayouts/slideLayout5.xml" Id="Rc83e11aac6a846ec" /><Relationship Type="http://schemas.openxmlformats.org/officeDocument/2006/relationships/slideLayout" Target="/ppt/slideLayouts/slideLayout6.xml" Id="Re0ff2d31e7c4490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709b77587e0479e"/>
    <p:sldLayoutId xmlns:r="http://schemas.openxmlformats.org/officeDocument/2006/relationships" id="2147483650" r:id="Ref7a854bbffb4852"/>
    <p:sldLayoutId xmlns:r="http://schemas.openxmlformats.org/officeDocument/2006/relationships" id="2147483651" r:id="R646758d5a90a4f06"/>
    <p:sldLayoutId xmlns:r="http://schemas.openxmlformats.org/officeDocument/2006/relationships" id="2147483652" r:id="R5af98f4add0b439f"/>
    <p:sldLayoutId xmlns:r="http://schemas.openxmlformats.org/officeDocument/2006/relationships" id="2147483653" r:id="Rc83e11aac6a846ec"/>
    <p:sldLayoutId xmlns:r="http://schemas.openxmlformats.org/officeDocument/2006/relationships" id="2147483654" r:id="Re0ff2d31e7c4490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98fb0674573434f" /><Relationship Type="http://schemas.openxmlformats.org/officeDocument/2006/relationships/image" Target="/ppt/media/image.jpeg" Id="Rabc87f40711044c4" /><Relationship Type="http://schemas.openxmlformats.org/officeDocument/2006/relationships/image" Target="/ppt/media/image.png" Id="R402571ce83114018" /><Relationship Type="http://schemas.openxmlformats.org/officeDocument/2006/relationships/image" Target="/ppt/media/image2.png" Id="R3bd480fa26c54d0c" /><Relationship Type="http://schemas.openxmlformats.org/officeDocument/2006/relationships/image" Target="/ppt/media/image3.png" Id="Reffaa91fc6a94448" /><Relationship Type="http://schemas.openxmlformats.org/officeDocument/2006/relationships/notesSlide" Target="/ppt/notesSlides/notesSlide1.xml" Id="Rb875b71b35fe463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2" name="">
            <a:extLst xmlns:a="http://schemas.openxmlformats.org/drawingml/2006/main">
              <a:ext uri="{FF2B5EF4-FFF2-40B4-BE49-F238E27FC236}">
                <a16:creationId xmlns:a16="http://schemas.microsoft.com/office/drawing/2014/main" id="{0D5D431C-822B-436C-8E7D-58DEB7BA9C66}"/>
              </a:ext>
            </a:extLst>
          </p:cNvPr>
          <p:cNvSpPr>
            <a:spLocks xmlns:a="http://schemas.openxmlformats.org/drawingml/2006/main" noGrp="1"/>
          </p:cNvSpPr>
          <p:nvPr/>
        </p:nvSpPr>
        <p:spPr>
          <a:xfrm xmlns:a="http://schemas.openxmlformats.org/drawingml/2006/main">
            <a:off x="762000" y="457200"/>
            <a:ext cx="76200" cy="800100"/>
          </a:xfrm>
          <a:prstGeom xmlns:a="http://schemas.openxmlformats.org/drawingml/2006/main" prst="rect">
            <a:avLst/>
          </a:prstGeom>
          <a:solidFill xmlns:a="http://schemas.openxmlformats.org/drawingml/2006/main">
            <a:srgbClr val="00355F"/>
          </a:solidFill>
          <a:ln xmlns:a="http://schemas.openxmlformats.org/drawingml/2006/main" w="0">
            <a:noFill/>
          </a:ln>
        </p:spPr>
      </p:sp>
      <p:sp>
        <p:nvSpPr>
          <p:cNvPr id="2" name="Inside a gene-building wet lab">
            <a:extLst xmlns:a="http://schemas.openxmlformats.org/drawingml/2006/main">
              <a:ext uri="{FF2B5EF4-FFF2-40B4-BE49-F238E27FC236}">
                <a16:creationId xmlns:a16="http://schemas.microsoft.com/office/drawing/2014/main" id="{6F1F2AC8-A53D-4960-81FB-FC035CD0D3EF}"/>
              </a:ext>
            </a:extLst>
          </p:cNvPr>
          <p:cNvSpPr>
            <a:spLocks xmlns:a="http://schemas.openxmlformats.org/drawingml/2006/main" noGrp="1"/>
          </p:cNvSpPr>
          <p:nvPr/>
        </p:nvSpPr>
        <p:spPr>
          <a:xfrm xmlns:a="http://schemas.openxmlformats.org/drawingml/2006/main">
            <a:off x="1074420" y="449580"/>
            <a:ext cx="16451580" cy="579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360" b="1">
                <a:solidFill>
                  <a:srgbClr val="00355F"/>
                </a:solidFill>
                <a:latin typeface="Arial"/>
                <a:ea typeface="Arial"/>
                <a:cs typeface="Arial"/>
              </a:defRPr>
            </a:defPPr>
          </a:lstStyle>
          <a:p xmlns:a="http://schemas.openxmlformats.org/drawingml/2006/main">
            <a:pPr algn="l">
              <a:lnSpc>
                <a:spcPct val="100000"/>
              </a:lnSpc>
              <a:buNone/>
              <a:defRPr sz="3360" b="1">
                <a:solidFill>
                  <a:srgbClr val="00355F"/>
                </a:solidFill>
                <a:latin typeface="Arial"/>
                <a:ea typeface="Arial"/>
                <a:cs typeface="Arial"/>
              </a:defRPr>
            </a:pPr>
            <a:r>
              <a:rPr sz="3360" b="1">
                <a:solidFill>
                  <a:srgbClr val="00355F"/>
                </a:solidFill>
                <a:latin typeface="Arial"/>
                <a:ea typeface="Arial"/>
                <a:cs typeface="Arial"/>
              </a:rPr>
              <a:t>Inside a gene-building wet lab</a:t>
            </a:r>
          </a:p>
        </p:txBody>
      </p:sp>
      <p:sp>
        <p:nvSpPr>
          <p:cNvPr id="3" name="An example bench for assembling DNA fragments into a sequence-verified plasmid">
            <a:extLst xmlns:a="http://schemas.openxmlformats.org/drawingml/2006/main">
              <a:ext uri="{FF2B5EF4-FFF2-40B4-BE49-F238E27FC236}">
                <a16:creationId xmlns:a16="http://schemas.microsoft.com/office/drawing/2014/main" id="{6C5104A3-DA0D-41C3-A8E8-3750FD16004A}"/>
              </a:ext>
            </a:extLst>
          </p:cNvPr>
          <p:cNvSpPr>
            <a:spLocks xmlns:a="http://schemas.openxmlformats.org/drawingml/2006/main" noGrp="1"/>
          </p:cNvSpPr>
          <p:nvPr/>
        </p:nvSpPr>
        <p:spPr>
          <a:xfrm xmlns:a="http://schemas.openxmlformats.org/drawingml/2006/main">
            <a:off x="1074420" y="1066800"/>
            <a:ext cx="1645158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40" b="0">
                <a:solidFill>
                  <a:srgbClr val="00355F"/>
                </a:solidFill>
                <a:latin typeface="Arial"/>
                <a:ea typeface="Arial"/>
                <a:cs typeface="Arial"/>
              </a:defRPr>
            </a:defPPr>
          </a:lstStyle>
          <a:p xmlns:a="http://schemas.openxmlformats.org/drawingml/2006/main">
            <a:pPr algn="l">
              <a:lnSpc>
                <a:spcPct val="100000"/>
              </a:lnSpc>
              <a:buNone/>
              <a:defRPr sz="1740" b="0">
                <a:solidFill>
                  <a:srgbClr val="00355F"/>
                </a:solidFill>
                <a:latin typeface="Arial"/>
                <a:ea typeface="Arial"/>
                <a:cs typeface="Arial"/>
              </a:defRPr>
            </a:pPr>
            <a:r>
              <a:rPr sz="1740" b="0">
                <a:solidFill>
                  <a:srgbClr val="00355F"/>
                </a:solidFill>
                <a:latin typeface="Arial"/>
                <a:ea typeface="Arial"/>
                <a:cs typeface="Arial"/>
              </a:rPr>
              <a:t>An example bench for assembling DNA fragments into a sequence-verified plasmid</a:t>
            </a:r>
          </a:p>
        </p:txBody>
      </p:sp>
      <p:sp>
        <p:nvSpPr>
          <p:cNvPr id="4" name="">
            <a:extLst xmlns:a="http://schemas.openxmlformats.org/drawingml/2006/main">
              <a:ext uri="{FF2B5EF4-FFF2-40B4-BE49-F238E27FC236}">
                <a16:creationId xmlns:a16="http://schemas.microsoft.com/office/drawing/2014/main" id="{BDDE62A1-9505-46E4-B340-D4893AED1495}"/>
              </a:ext>
            </a:extLst>
          </p:cNvPr>
          <p:cNvSpPr>
            <a:spLocks xmlns:a="http://schemas.openxmlformats.org/drawingml/2006/main" noGrp="1"/>
          </p:cNvSpPr>
          <p:nvPr/>
        </p:nvSpPr>
        <p:spPr>
          <a:xfrm xmlns:a="http://schemas.openxmlformats.org/drawingml/2006/main">
            <a:off x="762000" y="1600200"/>
            <a:ext cx="16764000" cy="762"/>
          </a:xfrm>
          <a:custGeom xmlns:a="http://schemas.openxmlformats.org/drawingml/2006/main">
            <a:pathLst>
              <a:path w="16764000" h="762">
                <a:moveTo>
                  <a:pt x="0" y="0"/>
                </a:moveTo>
                <a:lnTo>
                  <a:pt x="16764000" y="0"/>
                </a:lnTo>
              </a:path>
            </a:pathLst>
          </a:custGeom>
          <a:noFill xmlns:a="http://schemas.openxmlformats.org/drawingml/2006/main"/>
          <a:ln xmlns:a="http://schemas.openxmlformats.org/drawingml/2006/main" w="7620">
            <a:solidFill>
              <a:srgbClr val="A5A5A5"/>
            </a:solidFill>
          </a:ln>
        </p:spPr>
      </p:sp>
      <p:sp>
        <p:nvSpPr>
          <p:cNvPr id="5" name="A working bench, shown through the tools on it">
            <a:extLst xmlns:a="http://schemas.openxmlformats.org/drawingml/2006/main">
              <a:ext uri="{FF2B5EF4-FFF2-40B4-BE49-F238E27FC236}">
                <a16:creationId xmlns:a16="http://schemas.microsoft.com/office/drawing/2014/main" id="{9AA238F6-E3D7-421A-A974-9B450B0BA941}"/>
              </a:ext>
            </a:extLst>
          </p:cNvPr>
          <p:cNvSpPr>
            <a:spLocks xmlns:a="http://schemas.openxmlformats.org/drawingml/2006/main" noGrp="1"/>
          </p:cNvSpPr>
          <p:nvPr/>
        </p:nvSpPr>
        <p:spPr>
          <a:xfrm xmlns:a="http://schemas.openxmlformats.org/drawingml/2006/main">
            <a:off x="762000" y="1798320"/>
            <a:ext cx="11734800" cy="259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0" b="1">
                <a:solidFill>
                  <a:srgbClr val="00355F"/>
                </a:solidFill>
                <a:latin typeface="Arial"/>
                <a:ea typeface="Arial"/>
                <a:cs typeface="Arial"/>
              </a:defRPr>
            </a:defPPr>
          </a:lstStyle>
          <a:p xmlns:a="http://schemas.openxmlformats.org/drawingml/2006/main">
            <a:pPr algn="l">
              <a:lnSpc>
                <a:spcPct val="100000"/>
              </a:lnSpc>
              <a:buNone/>
              <a:defRPr sz="1620" b="1">
                <a:solidFill>
                  <a:srgbClr val="00355F"/>
                </a:solidFill>
                <a:latin typeface="Arial"/>
                <a:ea typeface="Arial"/>
                <a:cs typeface="Arial"/>
              </a:defRPr>
            </a:pPr>
            <a:r>
              <a:rPr sz="1620" b="1">
                <a:solidFill>
                  <a:srgbClr val="00355F"/>
                </a:solidFill>
                <a:latin typeface="Arial"/>
                <a:ea typeface="Arial"/>
                <a:cs typeface="Arial"/>
              </a:rPr>
              <a:t>A working bench, shown through the tools on it</a:t>
            </a:r>
          </a:p>
        </p:txBody>
      </p:sp>
      <p:sp>
        <p:nvSpPr>
          <p:cNvPr id="6" name="Tools, inputs and brands">
            <a:extLst xmlns:a="http://schemas.openxmlformats.org/drawingml/2006/main">
              <a:ext uri="{FF2B5EF4-FFF2-40B4-BE49-F238E27FC236}">
                <a16:creationId xmlns:a16="http://schemas.microsoft.com/office/drawing/2014/main" id="{4A14202C-D492-41F9-B5DB-34F64123C33F}"/>
              </a:ext>
            </a:extLst>
          </p:cNvPr>
          <p:cNvSpPr>
            <a:spLocks xmlns:a="http://schemas.openxmlformats.org/drawingml/2006/main" noGrp="1"/>
          </p:cNvSpPr>
          <p:nvPr/>
        </p:nvSpPr>
        <p:spPr>
          <a:xfrm xmlns:a="http://schemas.openxmlformats.org/drawingml/2006/main">
            <a:off x="13335000" y="1798320"/>
            <a:ext cx="4191000" cy="259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0" b="1">
                <a:solidFill>
                  <a:srgbClr val="00355F"/>
                </a:solidFill>
                <a:latin typeface="Arial"/>
                <a:ea typeface="Arial"/>
                <a:cs typeface="Arial"/>
              </a:defRPr>
            </a:defPPr>
          </a:lstStyle>
          <a:p xmlns:a="http://schemas.openxmlformats.org/drawingml/2006/main">
            <a:pPr algn="l">
              <a:lnSpc>
                <a:spcPct val="100000"/>
              </a:lnSpc>
              <a:buNone/>
              <a:defRPr sz="1620" b="1">
                <a:solidFill>
                  <a:srgbClr val="00355F"/>
                </a:solidFill>
                <a:latin typeface="Arial"/>
                <a:ea typeface="Arial"/>
                <a:cs typeface="Arial"/>
              </a:defRPr>
            </a:pPr>
            <a:r>
              <a:rPr sz="1620" b="1">
                <a:solidFill>
                  <a:srgbClr val="00355F"/>
                </a:solidFill>
                <a:latin typeface="Arial"/>
                <a:ea typeface="Arial"/>
                <a:cs typeface="Arial"/>
              </a:rPr>
              <a:t>Tools, inputs and brands</a:t>
            </a:r>
          </a:p>
        </p:txBody>
      </p:sp>
      <p:pic>
        <p:nvPicPr>
          <p:cNvPr id="7" name="">
            <a:extLst xmlns:a="http://schemas.openxmlformats.org/drawingml/2006/main">
              <a:ext uri="{FF2B5EF4-FFF2-40B4-BE49-F238E27FC236}">
                <a16:creationId xmlns:a16="http://schemas.microsoft.com/office/drawing/2014/main" id="{5B3F4D2D-9264-4452-9DED-9C9F9906A924}"/>
              </a:ext>
            </a:extLst>
          </p:cNvPr>
          <p:cNvPicPr>
            <a:picLocks xmlns:a="http://schemas.openxmlformats.org/drawingml/2006/main" noChangeAspect="1"/>
          </p:cNvPicPr>
          <p:nvPr/>
        </p:nvPicPr>
        <p:blipFill>
          <a:blip xmlns:r="http://schemas.openxmlformats.org/officeDocument/2006/relationships" xmlns:a="http://schemas.openxmlformats.org/drawingml/2006/main" r:embed="Rabc87f40711044c4"/>
          <a:stretch xmlns:a="http://schemas.openxmlformats.org/drawingml/2006/main"/>
        </p:blipFill>
        <p:spPr>
          <a:xfrm xmlns:a="http://schemas.openxmlformats.org/drawingml/2006/main">
            <a:off x="612839" y="2247900"/>
            <a:ext cx="12185522" cy="68580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1D2110E-E297-40EC-8090-83BD21DF851B}"/>
              </a:ext>
            </a:extLst>
          </p:cNvPr>
          <p:cNvSpPr>
            <a:spLocks xmlns:a="http://schemas.openxmlformats.org/drawingml/2006/main" noGrp="1"/>
          </p:cNvSpPr>
          <p:nvPr/>
        </p:nvSpPr>
        <p:spPr>
          <a:xfrm xmlns:a="http://schemas.openxmlformats.org/drawingml/2006/main">
            <a:off x="3352800" y="6210300"/>
            <a:ext cx="152400" cy="1851660"/>
          </a:xfrm>
          <a:custGeom xmlns:a="http://schemas.openxmlformats.org/drawingml/2006/main">
            <a:pathLst>
              <a:path w="152400" h="1851660">
                <a:moveTo>
                  <a:pt x="152400" y="1851660"/>
                </a:moveTo>
                <a:lnTo>
                  <a:pt x="152400" y="1028700"/>
                </a:lnTo>
                <a:lnTo>
                  <a:pt x="0" y="0"/>
                </a:lnTo>
              </a:path>
            </a:pathLst>
          </a:custGeom>
          <a:noFill xmlns:a="http://schemas.openxmlformats.org/drawingml/2006/main"/>
          <a:ln xmlns:a="http://schemas.openxmlformats.org/drawingml/2006/main" w="15240">
            <a:solidFill>
              <a:srgbClr val="7399C6"/>
            </a:solidFill>
          </a:ln>
        </p:spPr>
      </p:sp>
      <p:sp>
        <p:nvSpPr>
          <p:cNvPr id="9" name="">
            <a:extLst xmlns:a="http://schemas.openxmlformats.org/drawingml/2006/main">
              <a:ext uri="{FF2B5EF4-FFF2-40B4-BE49-F238E27FC236}">
                <a16:creationId xmlns:a16="http://schemas.microsoft.com/office/drawing/2014/main" id="{084F741A-3242-47C8-B0CF-FA34F2198FE2}"/>
              </a:ext>
            </a:extLst>
          </p:cNvPr>
          <p:cNvSpPr>
            <a:spLocks xmlns:a="http://schemas.openxmlformats.org/drawingml/2006/main" noGrp="1"/>
          </p:cNvSpPr>
          <p:nvPr/>
        </p:nvSpPr>
        <p:spPr>
          <a:xfrm xmlns:a="http://schemas.openxmlformats.org/drawingml/2006/main">
            <a:off x="3314700" y="617220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B349310-3BBC-4763-B630-78A2A32239F2}"/>
              </a:ext>
            </a:extLst>
          </p:cNvPr>
          <p:cNvSpPr>
            <a:spLocks xmlns:a="http://schemas.openxmlformats.org/drawingml/2006/main" noGrp="1"/>
          </p:cNvSpPr>
          <p:nvPr/>
        </p:nvSpPr>
        <p:spPr>
          <a:xfrm xmlns:a="http://schemas.openxmlformats.org/drawingml/2006/main">
            <a:off x="3307080" y="7680960"/>
            <a:ext cx="2865120" cy="43434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9A7CC4F-511B-4E83-9880-E97CB759769E}"/>
              </a:ext>
            </a:extLst>
          </p:cNvPr>
          <p:cNvSpPr>
            <a:spLocks xmlns:a="http://schemas.openxmlformats.org/drawingml/2006/main" noGrp="1"/>
          </p:cNvSpPr>
          <p:nvPr/>
        </p:nvSpPr>
        <p:spPr>
          <a:xfrm xmlns:a="http://schemas.openxmlformats.org/drawingml/2006/main">
            <a:off x="3322320" y="7703820"/>
            <a:ext cx="365760" cy="365760"/>
          </a:xfrm>
          <a:prstGeom xmlns:a="http://schemas.openxmlformats.org/drawingml/2006/main" prst="ellipse">
            <a:avLst/>
          </a:prstGeom>
          <a:solidFill xmlns:a="http://schemas.openxmlformats.org/drawingml/2006/main">
            <a:srgbClr val="00355F"/>
          </a:solidFill>
          <a:ln xmlns:a="http://schemas.openxmlformats.org/drawingml/2006/main" w="11430">
            <a:solidFill>
              <a:srgbClr val="00355F"/>
            </a:solidFill>
          </a:ln>
        </p:spPr>
      </p:sp>
      <p:sp>
        <p:nvSpPr>
          <p:cNvPr id="12" name="1">
            <a:extLst xmlns:a="http://schemas.openxmlformats.org/drawingml/2006/main">
              <a:ext uri="{FF2B5EF4-FFF2-40B4-BE49-F238E27FC236}">
                <a16:creationId xmlns:a16="http://schemas.microsoft.com/office/drawing/2014/main" id="{7E91A667-18D4-4F4C-A554-E249891700D1}"/>
              </a:ext>
            </a:extLst>
          </p:cNvPr>
          <p:cNvSpPr>
            <a:spLocks xmlns:a="http://schemas.openxmlformats.org/drawingml/2006/main" noGrp="1"/>
          </p:cNvSpPr>
          <p:nvPr/>
        </p:nvSpPr>
        <p:spPr>
          <a:xfrm xmlns:a="http://schemas.openxmlformats.org/drawingml/2006/main">
            <a:off x="3337560" y="7757160"/>
            <a:ext cx="3352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0" b="1">
                <a:solidFill>
                  <a:srgbClr val="FFFFFF"/>
                </a:solidFill>
                <a:latin typeface="Arial"/>
                <a:ea typeface="Arial"/>
                <a:cs typeface="Arial"/>
              </a:defRPr>
            </a:defPPr>
          </a:lstStyle>
          <a:p xmlns:a="http://schemas.openxmlformats.org/drawingml/2006/main">
            <a:pPr algn="ctr">
              <a:lnSpc>
                <a:spcPct val="100000"/>
              </a:lnSpc>
              <a:buNone/>
              <a:defRPr sz="1620" b="1">
                <a:solidFill>
                  <a:srgbClr val="FFFFFF"/>
                </a:solidFill>
                <a:latin typeface="Arial"/>
                <a:ea typeface="Arial"/>
                <a:cs typeface="Arial"/>
              </a:defRPr>
            </a:pPr>
            <a:r>
              <a:rPr sz="1620" b="1">
                <a:solidFill>
                  <a:srgbClr val="FFFFFF"/>
                </a:solidFill>
                <a:latin typeface="Arial"/>
                <a:ea typeface="Arial"/>
                <a:cs typeface="Arial"/>
              </a:rPr>
              <a:t>1</a:t>
            </a:r>
          </a:p>
        </p:txBody>
      </p:sp>
      <p:sp>
        <p:nvSpPr>
          <p:cNvPr id="13" name="DNA fragments + vector">
            <a:extLst xmlns:a="http://schemas.openxmlformats.org/drawingml/2006/main">
              <a:ext uri="{FF2B5EF4-FFF2-40B4-BE49-F238E27FC236}">
                <a16:creationId xmlns:a16="http://schemas.microsoft.com/office/drawing/2014/main" id="{366BB9D2-A241-4F08-A74F-E4AB3316FF07}"/>
              </a:ext>
            </a:extLst>
          </p:cNvPr>
          <p:cNvSpPr>
            <a:spLocks xmlns:a="http://schemas.openxmlformats.org/drawingml/2006/main" noGrp="1"/>
          </p:cNvSpPr>
          <p:nvPr/>
        </p:nvSpPr>
        <p:spPr>
          <a:xfrm xmlns:a="http://schemas.openxmlformats.org/drawingml/2006/main">
            <a:off x="3787140" y="7764780"/>
            <a:ext cx="23926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DNA fragments + vector</a:t>
            </a:r>
          </a:p>
        </p:txBody>
      </p:sp>
      <p:sp>
        <p:nvSpPr>
          <p:cNvPr id="14" name="">
            <a:extLst xmlns:a="http://schemas.openxmlformats.org/drawingml/2006/main">
              <a:ext uri="{FF2B5EF4-FFF2-40B4-BE49-F238E27FC236}">
                <a16:creationId xmlns:a16="http://schemas.microsoft.com/office/drawing/2014/main" id="{C6D3A201-6F48-40E9-B5EE-1FE78CC156C9}"/>
              </a:ext>
            </a:extLst>
          </p:cNvPr>
          <p:cNvSpPr>
            <a:spLocks xmlns:a="http://schemas.openxmlformats.org/drawingml/2006/main" noGrp="1"/>
          </p:cNvSpPr>
          <p:nvPr/>
        </p:nvSpPr>
        <p:spPr>
          <a:xfrm xmlns:a="http://schemas.openxmlformats.org/drawingml/2006/main">
            <a:off x="1409700" y="2880360"/>
            <a:ext cx="609600" cy="2644140"/>
          </a:xfrm>
          <a:custGeom xmlns:a="http://schemas.openxmlformats.org/drawingml/2006/main">
            <a:pathLst>
              <a:path w="609600" h="2644140">
                <a:moveTo>
                  <a:pt x="0" y="0"/>
                </a:moveTo>
                <a:lnTo>
                  <a:pt x="0" y="1424940"/>
                </a:lnTo>
                <a:lnTo>
                  <a:pt x="609600" y="2644140"/>
                </a:lnTo>
              </a:path>
            </a:pathLst>
          </a:custGeom>
          <a:noFill xmlns:a="http://schemas.openxmlformats.org/drawingml/2006/main"/>
          <a:ln xmlns:a="http://schemas.openxmlformats.org/drawingml/2006/main" w="15240">
            <a:solidFill>
              <a:srgbClr val="7399C6"/>
            </a:solidFill>
          </a:ln>
        </p:spPr>
      </p:sp>
      <p:sp>
        <p:nvSpPr>
          <p:cNvPr id="15" name="">
            <a:extLst xmlns:a="http://schemas.openxmlformats.org/drawingml/2006/main">
              <a:ext uri="{FF2B5EF4-FFF2-40B4-BE49-F238E27FC236}">
                <a16:creationId xmlns:a16="http://schemas.microsoft.com/office/drawing/2014/main" id="{448C4BBE-F4DD-4F27-A68B-8E8A9AFFFF25}"/>
              </a:ext>
            </a:extLst>
          </p:cNvPr>
          <p:cNvSpPr>
            <a:spLocks xmlns:a="http://schemas.openxmlformats.org/drawingml/2006/main" noGrp="1"/>
          </p:cNvSpPr>
          <p:nvPr/>
        </p:nvSpPr>
        <p:spPr>
          <a:xfrm xmlns:a="http://schemas.openxmlformats.org/drawingml/2006/main">
            <a:off x="1981200" y="548640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625E325-49E0-449F-866C-EC35518EF773}"/>
              </a:ext>
            </a:extLst>
          </p:cNvPr>
          <p:cNvSpPr>
            <a:spLocks xmlns:a="http://schemas.openxmlformats.org/drawingml/2006/main" noGrp="1"/>
          </p:cNvSpPr>
          <p:nvPr/>
        </p:nvSpPr>
        <p:spPr>
          <a:xfrm xmlns:a="http://schemas.openxmlformats.org/drawingml/2006/main">
            <a:off x="1211580" y="2499360"/>
            <a:ext cx="2788920" cy="43434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2B38719-D404-4A4A-8A16-DC52A8E849AE}"/>
              </a:ext>
            </a:extLst>
          </p:cNvPr>
          <p:cNvSpPr>
            <a:spLocks xmlns:a="http://schemas.openxmlformats.org/drawingml/2006/main" noGrp="1"/>
          </p:cNvSpPr>
          <p:nvPr/>
        </p:nvSpPr>
        <p:spPr>
          <a:xfrm xmlns:a="http://schemas.openxmlformats.org/drawingml/2006/main">
            <a:off x="1226820" y="2522220"/>
            <a:ext cx="365760" cy="365760"/>
          </a:xfrm>
          <a:prstGeom xmlns:a="http://schemas.openxmlformats.org/drawingml/2006/main" prst="ellipse">
            <a:avLst/>
          </a:prstGeom>
          <a:solidFill xmlns:a="http://schemas.openxmlformats.org/drawingml/2006/main">
            <a:srgbClr val="00355F"/>
          </a:solidFill>
          <a:ln xmlns:a="http://schemas.openxmlformats.org/drawingml/2006/main" w="11430">
            <a:solidFill>
              <a:srgbClr val="00355F"/>
            </a:solidFill>
          </a:ln>
        </p:spPr>
      </p:sp>
      <p:sp>
        <p:nvSpPr>
          <p:cNvPr id="18" name="2">
            <a:extLst xmlns:a="http://schemas.openxmlformats.org/drawingml/2006/main">
              <a:ext uri="{FF2B5EF4-FFF2-40B4-BE49-F238E27FC236}">
                <a16:creationId xmlns:a16="http://schemas.microsoft.com/office/drawing/2014/main" id="{31946055-AFA7-4AB6-A1DA-32D71C43C86A}"/>
              </a:ext>
            </a:extLst>
          </p:cNvPr>
          <p:cNvSpPr>
            <a:spLocks xmlns:a="http://schemas.openxmlformats.org/drawingml/2006/main" noGrp="1"/>
          </p:cNvSpPr>
          <p:nvPr/>
        </p:nvSpPr>
        <p:spPr>
          <a:xfrm xmlns:a="http://schemas.openxmlformats.org/drawingml/2006/main">
            <a:off x="1242060" y="2575560"/>
            <a:ext cx="3352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0" b="1">
                <a:solidFill>
                  <a:srgbClr val="FFFFFF"/>
                </a:solidFill>
                <a:latin typeface="Arial"/>
                <a:ea typeface="Arial"/>
                <a:cs typeface="Arial"/>
              </a:defRPr>
            </a:defPPr>
          </a:lstStyle>
          <a:p xmlns:a="http://schemas.openxmlformats.org/drawingml/2006/main">
            <a:pPr algn="ctr">
              <a:lnSpc>
                <a:spcPct val="100000"/>
              </a:lnSpc>
              <a:buNone/>
              <a:defRPr sz="1620" b="1">
                <a:solidFill>
                  <a:srgbClr val="FFFFFF"/>
                </a:solidFill>
                <a:latin typeface="Arial"/>
                <a:ea typeface="Arial"/>
                <a:cs typeface="Arial"/>
              </a:defRPr>
            </a:pPr>
            <a:r>
              <a:rPr sz="1620" b="1">
                <a:solidFill>
                  <a:srgbClr val="FFFFFF"/>
                </a:solidFill>
                <a:latin typeface="Arial"/>
                <a:ea typeface="Arial"/>
                <a:cs typeface="Arial"/>
              </a:rPr>
              <a:t>2</a:t>
            </a:r>
          </a:p>
        </p:txBody>
      </p:sp>
      <p:sp>
        <p:nvSpPr>
          <p:cNvPr id="19" name="Pipettes + enzyme mix">
            <a:extLst xmlns:a="http://schemas.openxmlformats.org/drawingml/2006/main">
              <a:ext uri="{FF2B5EF4-FFF2-40B4-BE49-F238E27FC236}">
                <a16:creationId xmlns:a16="http://schemas.microsoft.com/office/drawing/2014/main" id="{48ACAD47-06E6-4E1E-A724-4ADA336E8884}"/>
              </a:ext>
            </a:extLst>
          </p:cNvPr>
          <p:cNvSpPr>
            <a:spLocks xmlns:a="http://schemas.openxmlformats.org/drawingml/2006/main" noGrp="1"/>
          </p:cNvSpPr>
          <p:nvPr/>
        </p:nvSpPr>
        <p:spPr>
          <a:xfrm xmlns:a="http://schemas.openxmlformats.org/drawingml/2006/main">
            <a:off x="1691640" y="2583180"/>
            <a:ext cx="23164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Pipettes + enzyme mix</a:t>
            </a:r>
          </a:p>
        </p:txBody>
      </p:sp>
      <p:sp>
        <p:nvSpPr>
          <p:cNvPr id="20" name="">
            <a:extLst xmlns:a="http://schemas.openxmlformats.org/drawingml/2006/main">
              <a:ext uri="{FF2B5EF4-FFF2-40B4-BE49-F238E27FC236}">
                <a16:creationId xmlns:a16="http://schemas.microsoft.com/office/drawing/2014/main" id="{30F2290E-9628-4572-AFD4-217203C4840B}"/>
              </a:ext>
            </a:extLst>
          </p:cNvPr>
          <p:cNvSpPr>
            <a:spLocks xmlns:a="http://schemas.openxmlformats.org/drawingml/2006/main" noGrp="1"/>
          </p:cNvSpPr>
          <p:nvPr/>
        </p:nvSpPr>
        <p:spPr>
          <a:xfrm xmlns:a="http://schemas.openxmlformats.org/drawingml/2006/main">
            <a:off x="4495800" y="2689860"/>
            <a:ext cx="762" cy="2263140"/>
          </a:xfrm>
          <a:custGeom xmlns:a="http://schemas.openxmlformats.org/drawingml/2006/main">
            <a:pathLst>
              <a:path w="762" h="2263140">
                <a:moveTo>
                  <a:pt x="0" y="0"/>
                </a:moveTo>
                <a:lnTo>
                  <a:pt x="0" y="967740"/>
                </a:lnTo>
                <a:lnTo>
                  <a:pt x="0" y="2263140"/>
                </a:lnTo>
              </a:path>
            </a:pathLst>
          </a:custGeom>
          <a:noFill xmlns:a="http://schemas.openxmlformats.org/drawingml/2006/main"/>
          <a:ln xmlns:a="http://schemas.openxmlformats.org/drawingml/2006/main" w="15240">
            <a:solidFill>
              <a:srgbClr val="7399C6"/>
            </a:solidFill>
          </a:ln>
        </p:spPr>
      </p:sp>
      <p:sp>
        <p:nvSpPr>
          <p:cNvPr id="21" name="">
            <a:extLst xmlns:a="http://schemas.openxmlformats.org/drawingml/2006/main">
              <a:ext uri="{FF2B5EF4-FFF2-40B4-BE49-F238E27FC236}">
                <a16:creationId xmlns:a16="http://schemas.microsoft.com/office/drawing/2014/main" id="{05FAFADB-7325-42C4-A708-13F6CB9BB22A}"/>
              </a:ext>
            </a:extLst>
          </p:cNvPr>
          <p:cNvSpPr>
            <a:spLocks xmlns:a="http://schemas.openxmlformats.org/drawingml/2006/main" noGrp="1"/>
          </p:cNvSpPr>
          <p:nvPr/>
        </p:nvSpPr>
        <p:spPr>
          <a:xfrm xmlns:a="http://schemas.openxmlformats.org/drawingml/2006/main">
            <a:off x="4457700" y="491490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45DB90C-C476-49F9-B574-B1F5F0E6A618}"/>
              </a:ext>
            </a:extLst>
          </p:cNvPr>
          <p:cNvSpPr>
            <a:spLocks xmlns:a="http://schemas.openxmlformats.org/drawingml/2006/main" noGrp="1"/>
          </p:cNvSpPr>
          <p:nvPr/>
        </p:nvSpPr>
        <p:spPr>
          <a:xfrm xmlns:a="http://schemas.openxmlformats.org/drawingml/2006/main">
            <a:off x="4297680" y="2308860"/>
            <a:ext cx="2484120" cy="43434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68D1392-CECC-4F7F-B4B2-85A42C577FE0}"/>
              </a:ext>
            </a:extLst>
          </p:cNvPr>
          <p:cNvSpPr>
            <a:spLocks xmlns:a="http://schemas.openxmlformats.org/drawingml/2006/main" noGrp="1"/>
          </p:cNvSpPr>
          <p:nvPr/>
        </p:nvSpPr>
        <p:spPr>
          <a:xfrm xmlns:a="http://schemas.openxmlformats.org/drawingml/2006/main">
            <a:off x="4312920" y="2331720"/>
            <a:ext cx="365760" cy="365760"/>
          </a:xfrm>
          <a:prstGeom xmlns:a="http://schemas.openxmlformats.org/drawingml/2006/main" prst="ellipse">
            <a:avLst/>
          </a:prstGeom>
          <a:solidFill xmlns:a="http://schemas.openxmlformats.org/drawingml/2006/main">
            <a:srgbClr val="00355F"/>
          </a:solidFill>
          <a:ln xmlns:a="http://schemas.openxmlformats.org/drawingml/2006/main" w="11430">
            <a:solidFill>
              <a:srgbClr val="00355F"/>
            </a:solidFill>
          </a:ln>
        </p:spPr>
      </p:sp>
      <p:sp>
        <p:nvSpPr>
          <p:cNvPr id="24" name="3">
            <a:extLst xmlns:a="http://schemas.openxmlformats.org/drawingml/2006/main">
              <a:ext uri="{FF2B5EF4-FFF2-40B4-BE49-F238E27FC236}">
                <a16:creationId xmlns:a16="http://schemas.microsoft.com/office/drawing/2014/main" id="{526799C7-F2C9-40D5-82FA-08D0C50DF131}"/>
              </a:ext>
            </a:extLst>
          </p:cNvPr>
          <p:cNvSpPr>
            <a:spLocks xmlns:a="http://schemas.openxmlformats.org/drawingml/2006/main" noGrp="1"/>
          </p:cNvSpPr>
          <p:nvPr/>
        </p:nvSpPr>
        <p:spPr>
          <a:xfrm xmlns:a="http://schemas.openxmlformats.org/drawingml/2006/main">
            <a:off x="4328160" y="2385060"/>
            <a:ext cx="3352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0" b="1">
                <a:solidFill>
                  <a:srgbClr val="FFFFFF"/>
                </a:solidFill>
                <a:latin typeface="Arial"/>
                <a:ea typeface="Arial"/>
                <a:cs typeface="Arial"/>
              </a:defRPr>
            </a:defPPr>
          </a:lstStyle>
          <a:p xmlns:a="http://schemas.openxmlformats.org/drawingml/2006/main">
            <a:pPr algn="ctr">
              <a:lnSpc>
                <a:spcPct val="100000"/>
              </a:lnSpc>
              <a:buNone/>
              <a:defRPr sz="1620" b="1">
                <a:solidFill>
                  <a:srgbClr val="FFFFFF"/>
                </a:solidFill>
                <a:latin typeface="Arial"/>
                <a:ea typeface="Arial"/>
                <a:cs typeface="Arial"/>
              </a:defRPr>
            </a:pPr>
            <a:r>
              <a:rPr sz="1620" b="1">
                <a:solidFill>
                  <a:srgbClr val="FFFFFF"/>
                </a:solidFill>
                <a:latin typeface="Arial"/>
                <a:ea typeface="Arial"/>
                <a:cs typeface="Arial"/>
              </a:rPr>
              <a:t>3</a:t>
            </a:r>
          </a:p>
        </p:txBody>
      </p:sp>
      <p:sp>
        <p:nvSpPr>
          <p:cNvPr id="25" name="Thermocycler">
            <a:extLst xmlns:a="http://schemas.openxmlformats.org/drawingml/2006/main">
              <a:ext uri="{FF2B5EF4-FFF2-40B4-BE49-F238E27FC236}">
                <a16:creationId xmlns:a16="http://schemas.microsoft.com/office/drawing/2014/main" id="{F3FFC281-B3B8-40E8-A4BE-FF09C1B444A4}"/>
              </a:ext>
            </a:extLst>
          </p:cNvPr>
          <p:cNvSpPr>
            <a:spLocks xmlns:a="http://schemas.openxmlformats.org/drawingml/2006/main" noGrp="1"/>
          </p:cNvSpPr>
          <p:nvPr/>
        </p:nvSpPr>
        <p:spPr>
          <a:xfrm xmlns:a="http://schemas.openxmlformats.org/drawingml/2006/main">
            <a:off x="4777740" y="2392680"/>
            <a:ext cx="20116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Thermocycler</a:t>
            </a:r>
          </a:p>
        </p:txBody>
      </p:sp>
      <p:sp>
        <p:nvSpPr>
          <p:cNvPr id="26" name="">
            <a:extLst xmlns:a="http://schemas.openxmlformats.org/drawingml/2006/main">
              <a:ext uri="{FF2B5EF4-FFF2-40B4-BE49-F238E27FC236}">
                <a16:creationId xmlns:a16="http://schemas.microsoft.com/office/drawing/2014/main" id="{58D274E8-9352-4D5F-9CCE-3A6BA1C004A6}"/>
              </a:ext>
            </a:extLst>
          </p:cNvPr>
          <p:cNvSpPr>
            <a:spLocks xmlns:a="http://schemas.openxmlformats.org/drawingml/2006/main" noGrp="1"/>
          </p:cNvSpPr>
          <p:nvPr/>
        </p:nvSpPr>
        <p:spPr>
          <a:xfrm xmlns:a="http://schemas.openxmlformats.org/drawingml/2006/main">
            <a:off x="6362700" y="2766060"/>
            <a:ext cx="457200" cy="2186940"/>
          </a:xfrm>
          <a:custGeom xmlns:a="http://schemas.openxmlformats.org/drawingml/2006/main">
            <a:pathLst>
              <a:path w="457200" h="2186940">
                <a:moveTo>
                  <a:pt x="457200" y="0"/>
                </a:moveTo>
                <a:lnTo>
                  <a:pt x="457200" y="1043940"/>
                </a:lnTo>
                <a:lnTo>
                  <a:pt x="0" y="2186940"/>
                </a:lnTo>
              </a:path>
            </a:pathLst>
          </a:custGeom>
          <a:noFill xmlns:a="http://schemas.openxmlformats.org/drawingml/2006/main"/>
          <a:ln xmlns:a="http://schemas.openxmlformats.org/drawingml/2006/main" w="15240">
            <a:solidFill>
              <a:srgbClr val="7399C6"/>
            </a:solidFill>
          </a:ln>
        </p:spPr>
      </p:sp>
      <p:sp>
        <p:nvSpPr>
          <p:cNvPr id="27" name="">
            <a:extLst xmlns:a="http://schemas.openxmlformats.org/drawingml/2006/main">
              <a:ext uri="{FF2B5EF4-FFF2-40B4-BE49-F238E27FC236}">
                <a16:creationId xmlns:a16="http://schemas.microsoft.com/office/drawing/2014/main" id="{20B756E4-B236-4DFB-8D95-BE460DA08276}"/>
              </a:ext>
            </a:extLst>
          </p:cNvPr>
          <p:cNvSpPr>
            <a:spLocks xmlns:a="http://schemas.openxmlformats.org/drawingml/2006/main" noGrp="1"/>
          </p:cNvSpPr>
          <p:nvPr/>
        </p:nvSpPr>
        <p:spPr>
          <a:xfrm xmlns:a="http://schemas.openxmlformats.org/drawingml/2006/main">
            <a:off x="6324600" y="491490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AF91419C-E89C-40E3-B3C2-D7536E6E9A19}"/>
              </a:ext>
            </a:extLst>
          </p:cNvPr>
          <p:cNvSpPr>
            <a:spLocks xmlns:a="http://schemas.openxmlformats.org/drawingml/2006/main" noGrp="1"/>
          </p:cNvSpPr>
          <p:nvPr/>
        </p:nvSpPr>
        <p:spPr>
          <a:xfrm xmlns:a="http://schemas.openxmlformats.org/drawingml/2006/main">
            <a:off x="6621780" y="2385060"/>
            <a:ext cx="2712720" cy="43434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2D76DE4-9476-46FA-9B2F-109AD93FF003}"/>
              </a:ext>
            </a:extLst>
          </p:cNvPr>
          <p:cNvSpPr>
            <a:spLocks xmlns:a="http://schemas.openxmlformats.org/drawingml/2006/main" noGrp="1"/>
          </p:cNvSpPr>
          <p:nvPr/>
        </p:nvSpPr>
        <p:spPr>
          <a:xfrm xmlns:a="http://schemas.openxmlformats.org/drawingml/2006/main">
            <a:off x="6637020" y="2407920"/>
            <a:ext cx="365760" cy="365760"/>
          </a:xfrm>
          <a:prstGeom xmlns:a="http://schemas.openxmlformats.org/drawingml/2006/main" prst="ellipse">
            <a:avLst/>
          </a:prstGeom>
          <a:solidFill xmlns:a="http://schemas.openxmlformats.org/drawingml/2006/main">
            <a:srgbClr val="00355F"/>
          </a:solidFill>
          <a:ln xmlns:a="http://schemas.openxmlformats.org/drawingml/2006/main" w="11430">
            <a:solidFill>
              <a:srgbClr val="00355F"/>
            </a:solidFill>
          </a:ln>
        </p:spPr>
      </p:sp>
      <p:sp>
        <p:nvSpPr>
          <p:cNvPr id="30" name="4">
            <a:extLst xmlns:a="http://schemas.openxmlformats.org/drawingml/2006/main">
              <a:ext uri="{FF2B5EF4-FFF2-40B4-BE49-F238E27FC236}">
                <a16:creationId xmlns:a16="http://schemas.microsoft.com/office/drawing/2014/main" id="{93F08D35-9F8A-4D6E-8DD0-62CC9E78507C}"/>
              </a:ext>
            </a:extLst>
          </p:cNvPr>
          <p:cNvSpPr>
            <a:spLocks xmlns:a="http://schemas.openxmlformats.org/drawingml/2006/main" noGrp="1"/>
          </p:cNvSpPr>
          <p:nvPr/>
        </p:nvSpPr>
        <p:spPr>
          <a:xfrm xmlns:a="http://schemas.openxmlformats.org/drawingml/2006/main">
            <a:off x="6652260" y="2461260"/>
            <a:ext cx="3352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0" b="1">
                <a:solidFill>
                  <a:srgbClr val="FFFFFF"/>
                </a:solidFill>
                <a:latin typeface="Arial"/>
                <a:ea typeface="Arial"/>
                <a:cs typeface="Arial"/>
              </a:defRPr>
            </a:defPPr>
          </a:lstStyle>
          <a:p xmlns:a="http://schemas.openxmlformats.org/drawingml/2006/main">
            <a:pPr algn="ctr">
              <a:lnSpc>
                <a:spcPct val="100000"/>
              </a:lnSpc>
              <a:buNone/>
              <a:defRPr sz="1620" b="1">
                <a:solidFill>
                  <a:srgbClr val="FFFFFF"/>
                </a:solidFill>
                <a:latin typeface="Arial"/>
                <a:ea typeface="Arial"/>
                <a:cs typeface="Arial"/>
              </a:defRPr>
            </a:pPr>
            <a:r>
              <a:rPr sz="1620" b="1">
                <a:solidFill>
                  <a:srgbClr val="FFFFFF"/>
                </a:solidFill>
                <a:latin typeface="Arial"/>
                <a:ea typeface="Arial"/>
                <a:cs typeface="Arial"/>
              </a:rPr>
              <a:t>4</a:t>
            </a:r>
          </a:p>
        </p:txBody>
      </p:sp>
      <p:sp>
        <p:nvSpPr>
          <p:cNvPr id="31" name="Microcentrifuge">
            <a:extLst xmlns:a="http://schemas.openxmlformats.org/drawingml/2006/main">
              <a:ext uri="{FF2B5EF4-FFF2-40B4-BE49-F238E27FC236}">
                <a16:creationId xmlns:a16="http://schemas.microsoft.com/office/drawing/2014/main" id="{2FB10C4D-47D6-49BF-8CA7-3B03B0589DD5}"/>
              </a:ext>
            </a:extLst>
          </p:cNvPr>
          <p:cNvSpPr>
            <a:spLocks xmlns:a="http://schemas.openxmlformats.org/drawingml/2006/main" noGrp="1"/>
          </p:cNvSpPr>
          <p:nvPr/>
        </p:nvSpPr>
        <p:spPr>
          <a:xfrm xmlns:a="http://schemas.openxmlformats.org/drawingml/2006/main">
            <a:off x="7101840" y="2468880"/>
            <a:ext cx="22402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Microcentrifuge</a:t>
            </a:r>
          </a:p>
        </p:txBody>
      </p:sp>
      <p:sp>
        <p:nvSpPr>
          <p:cNvPr id="32" name="">
            <a:extLst xmlns:a="http://schemas.openxmlformats.org/drawingml/2006/main">
              <a:ext uri="{FF2B5EF4-FFF2-40B4-BE49-F238E27FC236}">
                <a16:creationId xmlns:a16="http://schemas.microsoft.com/office/drawing/2014/main" id="{F4E4B155-DE91-4DF3-B59B-246D1B304116}"/>
              </a:ext>
            </a:extLst>
          </p:cNvPr>
          <p:cNvSpPr>
            <a:spLocks xmlns:a="http://schemas.openxmlformats.org/drawingml/2006/main" noGrp="1"/>
          </p:cNvSpPr>
          <p:nvPr/>
        </p:nvSpPr>
        <p:spPr>
          <a:xfrm xmlns:a="http://schemas.openxmlformats.org/drawingml/2006/main">
            <a:off x="8648700" y="5753100"/>
            <a:ext cx="38100" cy="2308860"/>
          </a:xfrm>
          <a:custGeom xmlns:a="http://schemas.openxmlformats.org/drawingml/2006/main">
            <a:pathLst>
              <a:path w="38100" h="2308860">
                <a:moveTo>
                  <a:pt x="0" y="2308860"/>
                </a:moveTo>
                <a:lnTo>
                  <a:pt x="0" y="1409700"/>
                </a:lnTo>
                <a:lnTo>
                  <a:pt x="38100" y="0"/>
                </a:lnTo>
              </a:path>
            </a:pathLst>
          </a:custGeom>
          <a:noFill xmlns:a="http://schemas.openxmlformats.org/drawingml/2006/main"/>
          <a:ln xmlns:a="http://schemas.openxmlformats.org/drawingml/2006/main" w="15240">
            <a:solidFill>
              <a:srgbClr val="7399C6"/>
            </a:solidFill>
          </a:ln>
        </p:spPr>
      </p:sp>
      <p:sp>
        <p:nvSpPr>
          <p:cNvPr id="33" name="">
            <a:extLst xmlns:a="http://schemas.openxmlformats.org/drawingml/2006/main">
              <a:ext uri="{FF2B5EF4-FFF2-40B4-BE49-F238E27FC236}">
                <a16:creationId xmlns:a16="http://schemas.microsoft.com/office/drawing/2014/main" id="{1BA96E36-8738-4D1E-B5AA-3AE8FF0FC35B}"/>
              </a:ext>
            </a:extLst>
          </p:cNvPr>
          <p:cNvSpPr>
            <a:spLocks xmlns:a="http://schemas.openxmlformats.org/drawingml/2006/main" noGrp="1"/>
          </p:cNvSpPr>
          <p:nvPr/>
        </p:nvSpPr>
        <p:spPr>
          <a:xfrm xmlns:a="http://schemas.openxmlformats.org/drawingml/2006/main">
            <a:off x="8648700" y="571500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3FB327F6-2894-48AD-AF62-38B7477EA784}"/>
              </a:ext>
            </a:extLst>
          </p:cNvPr>
          <p:cNvSpPr>
            <a:spLocks xmlns:a="http://schemas.openxmlformats.org/drawingml/2006/main" noGrp="1"/>
          </p:cNvSpPr>
          <p:nvPr/>
        </p:nvSpPr>
        <p:spPr>
          <a:xfrm xmlns:a="http://schemas.openxmlformats.org/drawingml/2006/main">
            <a:off x="8450580" y="7680960"/>
            <a:ext cx="2788920" cy="43434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3BFEA00B-DA12-47B0-BC46-31186ACF64D7}"/>
              </a:ext>
            </a:extLst>
          </p:cNvPr>
          <p:cNvSpPr>
            <a:spLocks xmlns:a="http://schemas.openxmlformats.org/drawingml/2006/main" noGrp="1"/>
          </p:cNvSpPr>
          <p:nvPr/>
        </p:nvSpPr>
        <p:spPr>
          <a:xfrm xmlns:a="http://schemas.openxmlformats.org/drawingml/2006/main">
            <a:off x="8465820" y="7703820"/>
            <a:ext cx="365760" cy="365760"/>
          </a:xfrm>
          <a:prstGeom xmlns:a="http://schemas.openxmlformats.org/drawingml/2006/main" prst="ellipse">
            <a:avLst/>
          </a:prstGeom>
          <a:solidFill xmlns:a="http://schemas.openxmlformats.org/drawingml/2006/main">
            <a:srgbClr val="00355F"/>
          </a:solidFill>
          <a:ln xmlns:a="http://schemas.openxmlformats.org/drawingml/2006/main" w="11430">
            <a:solidFill>
              <a:srgbClr val="00355F"/>
            </a:solidFill>
          </a:ln>
        </p:spPr>
      </p:sp>
      <p:sp>
        <p:nvSpPr>
          <p:cNvPr id="36" name="5">
            <a:extLst xmlns:a="http://schemas.openxmlformats.org/drawingml/2006/main">
              <a:ext uri="{FF2B5EF4-FFF2-40B4-BE49-F238E27FC236}">
                <a16:creationId xmlns:a16="http://schemas.microsoft.com/office/drawing/2014/main" id="{A50CECE6-7DE5-42ED-8EF0-50B61DC4E298}"/>
              </a:ext>
            </a:extLst>
          </p:cNvPr>
          <p:cNvSpPr>
            <a:spLocks xmlns:a="http://schemas.openxmlformats.org/drawingml/2006/main" noGrp="1"/>
          </p:cNvSpPr>
          <p:nvPr/>
        </p:nvSpPr>
        <p:spPr>
          <a:xfrm xmlns:a="http://schemas.openxmlformats.org/drawingml/2006/main">
            <a:off x="8481060" y="7757160"/>
            <a:ext cx="3352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0" b="1">
                <a:solidFill>
                  <a:srgbClr val="FFFFFF"/>
                </a:solidFill>
                <a:latin typeface="Arial"/>
                <a:ea typeface="Arial"/>
                <a:cs typeface="Arial"/>
              </a:defRPr>
            </a:defPPr>
          </a:lstStyle>
          <a:p xmlns:a="http://schemas.openxmlformats.org/drawingml/2006/main">
            <a:pPr algn="ctr">
              <a:lnSpc>
                <a:spcPct val="100000"/>
              </a:lnSpc>
              <a:buNone/>
              <a:defRPr sz="1620" b="1">
                <a:solidFill>
                  <a:srgbClr val="FFFFFF"/>
                </a:solidFill>
                <a:latin typeface="Arial"/>
                <a:ea typeface="Arial"/>
                <a:cs typeface="Arial"/>
              </a:defRPr>
            </a:pPr>
            <a:r>
              <a:rPr sz="1620" b="1">
                <a:solidFill>
                  <a:srgbClr val="FFFFFF"/>
                </a:solidFill>
                <a:latin typeface="Arial"/>
                <a:ea typeface="Arial"/>
                <a:cs typeface="Arial"/>
              </a:rPr>
              <a:t>5</a:t>
            </a:r>
          </a:p>
        </p:txBody>
      </p:sp>
      <p:sp>
        <p:nvSpPr>
          <p:cNvPr id="37" name="Fluorometer + gel">
            <a:extLst xmlns:a="http://schemas.openxmlformats.org/drawingml/2006/main">
              <a:ext uri="{FF2B5EF4-FFF2-40B4-BE49-F238E27FC236}">
                <a16:creationId xmlns:a16="http://schemas.microsoft.com/office/drawing/2014/main" id="{2FA12ABE-053E-4C93-9B3F-52C862BACEA3}"/>
              </a:ext>
            </a:extLst>
          </p:cNvPr>
          <p:cNvSpPr>
            <a:spLocks xmlns:a="http://schemas.openxmlformats.org/drawingml/2006/main" noGrp="1"/>
          </p:cNvSpPr>
          <p:nvPr/>
        </p:nvSpPr>
        <p:spPr>
          <a:xfrm xmlns:a="http://schemas.openxmlformats.org/drawingml/2006/main">
            <a:off x="8930640" y="7764780"/>
            <a:ext cx="23164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Fluorometer + gel</a:t>
            </a:r>
          </a:p>
        </p:txBody>
      </p:sp>
      <p:sp>
        <p:nvSpPr>
          <p:cNvPr id="38" name="">
            <a:extLst xmlns:a="http://schemas.openxmlformats.org/drawingml/2006/main">
              <a:ext uri="{FF2B5EF4-FFF2-40B4-BE49-F238E27FC236}">
                <a16:creationId xmlns:a16="http://schemas.microsoft.com/office/drawing/2014/main" id="{048F16DB-BD8C-4475-A8F0-99206D3BFCAF}"/>
              </a:ext>
            </a:extLst>
          </p:cNvPr>
          <p:cNvSpPr>
            <a:spLocks xmlns:a="http://schemas.openxmlformats.org/drawingml/2006/main" noGrp="1"/>
          </p:cNvSpPr>
          <p:nvPr/>
        </p:nvSpPr>
        <p:spPr>
          <a:xfrm xmlns:a="http://schemas.openxmlformats.org/drawingml/2006/main">
            <a:off x="9525000" y="2689860"/>
            <a:ext cx="457200" cy="1958340"/>
          </a:xfrm>
          <a:custGeom xmlns:a="http://schemas.openxmlformats.org/drawingml/2006/main">
            <a:pathLst>
              <a:path w="457200" h="1958340">
                <a:moveTo>
                  <a:pt x="0" y="0"/>
                </a:moveTo>
                <a:lnTo>
                  <a:pt x="0" y="739140"/>
                </a:lnTo>
                <a:lnTo>
                  <a:pt x="457200" y="1958340"/>
                </a:lnTo>
              </a:path>
            </a:pathLst>
          </a:custGeom>
          <a:noFill xmlns:a="http://schemas.openxmlformats.org/drawingml/2006/main"/>
          <a:ln xmlns:a="http://schemas.openxmlformats.org/drawingml/2006/main" w="15240">
            <a:solidFill>
              <a:srgbClr val="7399C6"/>
            </a:solidFill>
          </a:ln>
        </p:spPr>
      </p:sp>
      <p:sp>
        <p:nvSpPr>
          <p:cNvPr id="39" name="">
            <a:extLst xmlns:a="http://schemas.openxmlformats.org/drawingml/2006/main">
              <a:ext uri="{FF2B5EF4-FFF2-40B4-BE49-F238E27FC236}">
                <a16:creationId xmlns:a16="http://schemas.microsoft.com/office/drawing/2014/main" id="{DCC357C0-86E6-4DB0-9016-8C72494BFD18}"/>
              </a:ext>
            </a:extLst>
          </p:cNvPr>
          <p:cNvSpPr>
            <a:spLocks xmlns:a="http://schemas.openxmlformats.org/drawingml/2006/main" noGrp="1"/>
          </p:cNvSpPr>
          <p:nvPr/>
        </p:nvSpPr>
        <p:spPr>
          <a:xfrm xmlns:a="http://schemas.openxmlformats.org/drawingml/2006/main">
            <a:off x="9944100" y="461010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D17BA87-D8C2-4B4C-A5A1-9B3DAAA7C84E}"/>
              </a:ext>
            </a:extLst>
          </p:cNvPr>
          <p:cNvSpPr>
            <a:spLocks xmlns:a="http://schemas.openxmlformats.org/drawingml/2006/main" noGrp="1"/>
          </p:cNvSpPr>
          <p:nvPr/>
        </p:nvSpPr>
        <p:spPr>
          <a:xfrm xmlns:a="http://schemas.openxmlformats.org/drawingml/2006/main">
            <a:off x="9326880" y="2308860"/>
            <a:ext cx="2712720" cy="43434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89A86CE7-344E-41F2-947D-4EDDE29EA46E}"/>
              </a:ext>
            </a:extLst>
          </p:cNvPr>
          <p:cNvSpPr>
            <a:spLocks xmlns:a="http://schemas.openxmlformats.org/drawingml/2006/main" noGrp="1"/>
          </p:cNvSpPr>
          <p:nvPr/>
        </p:nvSpPr>
        <p:spPr>
          <a:xfrm xmlns:a="http://schemas.openxmlformats.org/drawingml/2006/main">
            <a:off x="9342120" y="2331720"/>
            <a:ext cx="365760" cy="365760"/>
          </a:xfrm>
          <a:prstGeom xmlns:a="http://schemas.openxmlformats.org/drawingml/2006/main" prst="ellipse">
            <a:avLst/>
          </a:prstGeom>
          <a:solidFill xmlns:a="http://schemas.openxmlformats.org/drawingml/2006/main">
            <a:srgbClr val="00355F"/>
          </a:solidFill>
          <a:ln xmlns:a="http://schemas.openxmlformats.org/drawingml/2006/main" w="11430">
            <a:solidFill>
              <a:srgbClr val="00355F"/>
            </a:solidFill>
          </a:ln>
        </p:spPr>
      </p:sp>
      <p:sp>
        <p:nvSpPr>
          <p:cNvPr id="42" name="6">
            <a:extLst xmlns:a="http://schemas.openxmlformats.org/drawingml/2006/main">
              <a:ext uri="{FF2B5EF4-FFF2-40B4-BE49-F238E27FC236}">
                <a16:creationId xmlns:a16="http://schemas.microsoft.com/office/drawing/2014/main" id="{5AB926BC-BD41-48D0-A984-7025A30A9921}"/>
              </a:ext>
            </a:extLst>
          </p:cNvPr>
          <p:cNvSpPr>
            <a:spLocks xmlns:a="http://schemas.openxmlformats.org/drawingml/2006/main" noGrp="1"/>
          </p:cNvSpPr>
          <p:nvPr/>
        </p:nvSpPr>
        <p:spPr>
          <a:xfrm xmlns:a="http://schemas.openxmlformats.org/drawingml/2006/main">
            <a:off x="9357360" y="2385060"/>
            <a:ext cx="3352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0" b="1">
                <a:solidFill>
                  <a:srgbClr val="FFFFFF"/>
                </a:solidFill>
                <a:latin typeface="Arial"/>
                <a:ea typeface="Arial"/>
                <a:cs typeface="Arial"/>
              </a:defRPr>
            </a:defPPr>
          </a:lstStyle>
          <a:p xmlns:a="http://schemas.openxmlformats.org/drawingml/2006/main">
            <a:pPr algn="ctr">
              <a:lnSpc>
                <a:spcPct val="100000"/>
              </a:lnSpc>
              <a:buNone/>
              <a:defRPr sz="1620" b="1">
                <a:solidFill>
                  <a:srgbClr val="FFFFFF"/>
                </a:solidFill>
                <a:latin typeface="Arial"/>
                <a:ea typeface="Arial"/>
                <a:cs typeface="Arial"/>
              </a:defRPr>
            </a:pPr>
            <a:r>
              <a:rPr sz="1620" b="1">
                <a:solidFill>
                  <a:srgbClr val="FFFFFF"/>
                </a:solidFill>
                <a:latin typeface="Arial"/>
                <a:ea typeface="Arial"/>
                <a:cs typeface="Arial"/>
              </a:rPr>
              <a:t>6</a:t>
            </a:r>
          </a:p>
        </p:txBody>
      </p:sp>
      <p:sp>
        <p:nvSpPr>
          <p:cNvPr id="43" name="Incubator / shaker">
            <a:extLst xmlns:a="http://schemas.openxmlformats.org/drawingml/2006/main">
              <a:ext uri="{FF2B5EF4-FFF2-40B4-BE49-F238E27FC236}">
                <a16:creationId xmlns:a16="http://schemas.microsoft.com/office/drawing/2014/main" id="{43530B4D-D146-4035-8678-5396F0418D7E}"/>
              </a:ext>
            </a:extLst>
          </p:cNvPr>
          <p:cNvSpPr>
            <a:spLocks xmlns:a="http://schemas.openxmlformats.org/drawingml/2006/main" noGrp="1"/>
          </p:cNvSpPr>
          <p:nvPr/>
        </p:nvSpPr>
        <p:spPr>
          <a:xfrm xmlns:a="http://schemas.openxmlformats.org/drawingml/2006/main">
            <a:off x="9806940" y="2392680"/>
            <a:ext cx="22402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Incubator / shaker</a:t>
            </a:r>
          </a:p>
        </p:txBody>
      </p:sp>
      <p:sp>
        <p:nvSpPr>
          <p:cNvPr id="44" name="">
            <a:extLst xmlns:a="http://schemas.openxmlformats.org/drawingml/2006/main">
              <a:ext uri="{FF2B5EF4-FFF2-40B4-BE49-F238E27FC236}">
                <a16:creationId xmlns:a16="http://schemas.microsoft.com/office/drawing/2014/main" id="{0CB0C9B4-9EF7-49A0-B029-56B88BE08A50}"/>
              </a:ext>
            </a:extLst>
          </p:cNvPr>
          <p:cNvSpPr>
            <a:spLocks xmlns:a="http://schemas.openxmlformats.org/drawingml/2006/main" noGrp="1"/>
          </p:cNvSpPr>
          <p:nvPr/>
        </p:nvSpPr>
        <p:spPr>
          <a:xfrm xmlns:a="http://schemas.openxmlformats.org/drawingml/2006/main">
            <a:off x="9982200" y="4267200"/>
            <a:ext cx="2590800" cy="4442460"/>
          </a:xfrm>
          <a:custGeom xmlns:a="http://schemas.openxmlformats.org/drawingml/2006/main">
            <a:pathLst>
              <a:path w="2590800" h="4442460">
                <a:moveTo>
                  <a:pt x="0" y="4442460"/>
                </a:moveTo>
                <a:lnTo>
                  <a:pt x="2590800" y="4267200"/>
                </a:lnTo>
                <a:lnTo>
                  <a:pt x="1638300" y="0"/>
                </a:lnTo>
              </a:path>
            </a:pathLst>
          </a:custGeom>
          <a:noFill xmlns:a="http://schemas.openxmlformats.org/drawingml/2006/main"/>
          <a:ln xmlns:a="http://schemas.openxmlformats.org/drawingml/2006/main" w="15240">
            <a:solidFill>
              <a:srgbClr val="7399C6"/>
            </a:solidFill>
          </a:ln>
        </p:spPr>
      </p:sp>
      <p:sp>
        <p:nvSpPr>
          <p:cNvPr id="45" name="">
            <a:extLst xmlns:a="http://schemas.openxmlformats.org/drawingml/2006/main">
              <a:ext uri="{FF2B5EF4-FFF2-40B4-BE49-F238E27FC236}">
                <a16:creationId xmlns:a16="http://schemas.microsoft.com/office/drawing/2014/main" id="{2E66A272-32E1-4371-8D26-61165DF9C05D}"/>
              </a:ext>
            </a:extLst>
          </p:cNvPr>
          <p:cNvSpPr>
            <a:spLocks xmlns:a="http://schemas.openxmlformats.org/drawingml/2006/main" noGrp="1"/>
          </p:cNvSpPr>
          <p:nvPr/>
        </p:nvSpPr>
        <p:spPr>
          <a:xfrm xmlns:a="http://schemas.openxmlformats.org/drawingml/2006/main">
            <a:off x="11582400" y="4229100"/>
            <a:ext cx="76200" cy="76200"/>
          </a:xfrm>
          <a:prstGeom xmlns:a="http://schemas.openxmlformats.org/drawingml/2006/main" prst="ellipse">
            <a:avLst/>
          </a:prstGeom>
          <a:solidFill xmlns:a="http://schemas.openxmlformats.org/drawingml/2006/main">
            <a:srgbClr val="00355F"/>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633078F-FFA9-4F1F-A4D0-4BCBE1418025}"/>
              </a:ext>
            </a:extLst>
          </p:cNvPr>
          <p:cNvSpPr>
            <a:spLocks xmlns:a="http://schemas.openxmlformats.org/drawingml/2006/main" noGrp="1"/>
          </p:cNvSpPr>
          <p:nvPr/>
        </p:nvSpPr>
        <p:spPr>
          <a:xfrm xmlns:a="http://schemas.openxmlformats.org/drawingml/2006/main">
            <a:off x="9784080" y="8328660"/>
            <a:ext cx="2788920" cy="43434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54F93807-4EA9-4D01-85B9-79AF45ADC6C7}"/>
              </a:ext>
            </a:extLst>
          </p:cNvPr>
          <p:cNvSpPr>
            <a:spLocks xmlns:a="http://schemas.openxmlformats.org/drawingml/2006/main" noGrp="1"/>
          </p:cNvSpPr>
          <p:nvPr/>
        </p:nvSpPr>
        <p:spPr>
          <a:xfrm xmlns:a="http://schemas.openxmlformats.org/drawingml/2006/main">
            <a:off x="9799320" y="8351520"/>
            <a:ext cx="365760" cy="365760"/>
          </a:xfrm>
          <a:prstGeom xmlns:a="http://schemas.openxmlformats.org/drawingml/2006/main" prst="ellipse">
            <a:avLst/>
          </a:prstGeom>
          <a:solidFill xmlns:a="http://schemas.openxmlformats.org/drawingml/2006/main">
            <a:srgbClr val="00355F"/>
          </a:solidFill>
          <a:ln xmlns:a="http://schemas.openxmlformats.org/drawingml/2006/main" w="11430">
            <a:solidFill>
              <a:srgbClr val="00355F"/>
            </a:solidFill>
          </a:ln>
        </p:spPr>
      </p:sp>
      <p:sp>
        <p:nvSpPr>
          <p:cNvPr id="48" name="7">
            <a:extLst xmlns:a="http://schemas.openxmlformats.org/drawingml/2006/main">
              <a:ext uri="{FF2B5EF4-FFF2-40B4-BE49-F238E27FC236}">
                <a16:creationId xmlns:a16="http://schemas.microsoft.com/office/drawing/2014/main" id="{F7C22990-ECF2-4CC8-A7CC-9F4F36735BDD}"/>
              </a:ext>
            </a:extLst>
          </p:cNvPr>
          <p:cNvSpPr>
            <a:spLocks xmlns:a="http://schemas.openxmlformats.org/drawingml/2006/main" noGrp="1"/>
          </p:cNvSpPr>
          <p:nvPr/>
        </p:nvSpPr>
        <p:spPr>
          <a:xfrm xmlns:a="http://schemas.openxmlformats.org/drawingml/2006/main">
            <a:off x="9814560" y="8404860"/>
            <a:ext cx="3352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0" b="1">
                <a:solidFill>
                  <a:srgbClr val="FFFFFF"/>
                </a:solidFill>
                <a:latin typeface="Arial"/>
                <a:ea typeface="Arial"/>
                <a:cs typeface="Arial"/>
              </a:defRPr>
            </a:defPPr>
          </a:lstStyle>
          <a:p xmlns:a="http://schemas.openxmlformats.org/drawingml/2006/main">
            <a:pPr algn="ctr">
              <a:lnSpc>
                <a:spcPct val="100000"/>
              </a:lnSpc>
              <a:buNone/>
              <a:defRPr sz="1620" b="1">
                <a:solidFill>
                  <a:srgbClr val="FFFFFF"/>
                </a:solidFill>
                <a:latin typeface="Arial"/>
                <a:ea typeface="Arial"/>
                <a:cs typeface="Arial"/>
              </a:defRPr>
            </a:pPr>
            <a:r>
              <a:rPr sz="1620" b="1">
                <a:solidFill>
                  <a:srgbClr val="FFFFFF"/>
                </a:solidFill>
                <a:latin typeface="Arial"/>
                <a:ea typeface="Arial"/>
                <a:cs typeface="Arial"/>
              </a:rPr>
              <a:t>7</a:t>
            </a:r>
          </a:p>
        </p:txBody>
      </p:sp>
      <p:sp>
        <p:nvSpPr>
          <p:cNvPr id="49" name="Sequence readout">
            <a:extLst xmlns:a="http://schemas.openxmlformats.org/drawingml/2006/main">
              <a:ext uri="{FF2B5EF4-FFF2-40B4-BE49-F238E27FC236}">
                <a16:creationId xmlns:a16="http://schemas.microsoft.com/office/drawing/2014/main" id="{F94EC842-5A07-479C-BBEF-25241A7BFBD4}"/>
              </a:ext>
            </a:extLst>
          </p:cNvPr>
          <p:cNvSpPr>
            <a:spLocks xmlns:a="http://schemas.openxmlformats.org/drawingml/2006/main" noGrp="1"/>
          </p:cNvSpPr>
          <p:nvPr/>
        </p:nvSpPr>
        <p:spPr>
          <a:xfrm xmlns:a="http://schemas.openxmlformats.org/drawingml/2006/main">
            <a:off x="10264140" y="8412480"/>
            <a:ext cx="23164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Sequence readout</a:t>
            </a:r>
          </a:p>
        </p:txBody>
      </p:sp>
      <p:pic>
        <p:nvPicPr>
          <p:cNvPr id="50" name="">
            <a:extLst xmlns:a="http://schemas.openxmlformats.org/drawingml/2006/main">
              <a:ext uri="{FF2B5EF4-FFF2-40B4-BE49-F238E27FC236}">
                <a16:creationId xmlns:a16="http://schemas.microsoft.com/office/drawing/2014/main" id="{267F8285-892E-46D9-8FBD-35ABA0B67552}"/>
              </a:ext>
            </a:extLst>
          </p:cNvPr>
          <p:cNvPicPr>
            <a:picLocks xmlns:a="http://schemas.openxmlformats.org/drawingml/2006/main" noChangeAspect="1"/>
          </p:cNvPicPr>
          <p:nvPr/>
        </p:nvPicPr>
        <p:blipFill>
          <a:blip xmlns:r="http://schemas.openxmlformats.org/officeDocument/2006/relationships" xmlns:a="http://schemas.openxmlformats.org/drawingml/2006/main" r:embed="R402571ce83114018"/>
          <a:stretch xmlns:a="http://schemas.openxmlformats.org/drawingml/2006/main"/>
        </p:blipFill>
        <p:spPr>
          <a:xfrm xmlns:a="http://schemas.openxmlformats.org/drawingml/2006/main">
            <a:off x="3947253" y="8260080"/>
            <a:ext cx="677994" cy="289560"/>
          </a:xfrm>
          <a:prstGeom xmlns:a="http://schemas.openxmlformats.org/drawingml/2006/main" prst="rect">
            <a:avLst/>
          </a:prstGeom>
        </p:spPr>
      </p:pic>
      <p:pic>
        <p:nvPicPr>
          <p:cNvPr id="51" name="">
            <a:extLst xmlns:a="http://schemas.openxmlformats.org/drawingml/2006/main">
              <a:ext uri="{FF2B5EF4-FFF2-40B4-BE49-F238E27FC236}">
                <a16:creationId xmlns:a16="http://schemas.microsoft.com/office/drawing/2014/main" id="{04498363-EE9C-4F4B-8B48-15979DB3929E}"/>
              </a:ext>
            </a:extLst>
          </p:cNvPr>
          <p:cNvPicPr>
            <a:picLocks xmlns:a="http://schemas.openxmlformats.org/drawingml/2006/main" noChangeAspect="1"/>
          </p:cNvPicPr>
          <p:nvPr/>
        </p:nvPicPr>
        <p:blipFill>
          <a:blip xmlns:r="http://schemas.openxmlformats.org/officeDocument/2006/relationships" xmlns:a="http://schemas.openxmlformats.org/drawingml/2006/main" r:embed="R3bd480fa26c54d0c"/>
          <a:stretch xmlns:a="http://schemas.openxmlformats.org/drawingml/2006/main"/>
        </p:blipFill>
        <p:spPr>
          <a:xfrm xmlns:a="http://schemas.openxmlformats.org/drawingml/2006/main">
            <a:off x="5070898" y="8260080"/>
            <a:ext cx="1021503" cy="289560"/>
          </a:xfrm>
          <a:prstGeom xmlns:a="http://schemas.openxmlformats.org/drawingml/2006/main" prst="rect">
            <a:avLst/>
          </a:prstGeom>
        </p:spPr>
      </p:pic>
      <p:sp>
        <p:nvSpPr>
          <p:cNvPr id="52" name="">
            <a:extLst xmlns:a="http://schemas.openxmlformats.org/drawingml/2006/main">
              <a:ext uri="{FF2B5EF4-FFF2-40B4-BE49-F238E27FC236}">
                <a16:creationId xmlns:a16="http://schemas.microsoft.com/office/drawing/2014/main" id="{A60FA5C1-0FFD-4179-A6DE-0C1C48457731}"/>
              </a:ext>
            </a:extLst>
          </p:cNvPr>
          <p:cNvSpPr>
            <a:spLocks xmlns:a="http://schemas.openxmlformats.org/drawingml/2006/main" noGrp="1"/>
          </p:cNvSpPr>
          <p:nvPr/>
        </p:nvSpPr>
        <p:spPr>
          <a:xfrm xmlns:a="http://schemas.openxmlformats.org/drawingml/2006/main">
            <a:off x="12992100" y="2171700"/>
            <a:ext cx="762" cy="6758940"/>
          </a:xfrm>
          <a:custGeom xmlns:a="http://schemas.openxmlformats.org/drawingml/2006/main">
            <a:pathLst>
              <a:path w="762" h="6758940">
                <a:moveTo>
                  <a:pt x="0" y="0"/>
                </a:moveTo>
                <a:lnTo>
                  <a:pt x="0" y="6758940"/>
                </a:lnTo>
              </a:path>
            </a:pathLst>
          </a:custGeom>
          <a:noFill xmlns:a="http://schemas.openxmlformats.org/drawingml/2006/main"/>
          <a:ln xmlns:a="http://schemas.openxmlformats.org/drawingml/2006/main" w="7620">
            <a:solidFill>
              <a:srgbClr val="A5A5A5"/>
            </a:solidFill>
          </a:ln>
        </p:spPr>
      </p:sp>
      <p:sp>
        <p:nvSpPr>
          <p:cNvPr id="53" name="">
            <a:extLst xmlns:a="http://schemas.openxmlformats.org/drawingml/2006/main">
              <a:ext uri="{FF2B5EF4-FFF2-40B4-BE49-F238E27FC236}">
                <a16:creationId xmlns:a16="http://schemas.microsoft.com/office/drawing/2014/main" id="{11015D9F-4A43-4E1D-B4A4-D608D7FEED84}"/>
              </a:ext>
            </a:extLst>
          </p:cNvPr>
          <p:cNvSpPr>
            <a:spLocks xmlns:a="http://schemas.openxmlformats.org/drawingml/2006/main" noGrp="1"/>
          </p:cNvSpPr>
          <p:nvPr/>
        </p:nvSpPr>
        <p:spPr>
          <a:xfrm xmlns:a="http://schemas.openxmlformats.org/drawingml/2006/main">
            <a:off x="13266420" y="2148840"/>
            <a:ext cx="289560" cy="289560"/>
          </a:xfrm>
          <a:prstGeom xmlns:a="http://schemas.openxmlformats.org/drawingml/2006/main" prst="ellipse">
            <a:avLst/>
          </a:prstGeom>
          <a:solidFill xmlns:a="http://schemas.openxmlformats.org/drawingml/2006/main">
            <a:srgbClr val="EEF6FC"/>
          </a:solidFill>
          <a:ln xmlns:a="http://schemas.openxmlformats.org/drawingml/2006/main" w="11430">
            <a:solidFill>
              <a:srgbClr val="7399C6"/>
            </a:solidFill>
          </a:ln>
        </p:spPr>
      </p:sp>
      <p:sp>
        <p:nvSpPr>
          <p:cNvPr id="54" name="1">
            <a:extLst xmlns:a="http://schemas.openxmlformats.org/drawingml/2006/main">
              <a:ext uri="{FF2B5EF4-FFF2-40B4-BE49-F238E27FC236}">
                <a16:creationId xmlns:a16="http://schemas.microsoft.com/office/drawing/2014/main" id="{D11B0CB1-169F-4D28-A3BA-5765E53E7FA3}"/>
              </a:ext>
            </a:extLst>
          </p:cNvPr>
          <p:cNvSpPr>
            <a:spLocks xmlns:a="http://schemas.openxmlformats.org/drawingml/2006/main" noGrp="1"/>
          </p:cNvSpPr>
          <p:nvPr/>
        </p:nvSpPr>
        <p:spPr>
          <a:xfrm xmlns:a="http://schemas.openxmlformats.org/drawingml/2006/main">
            <a:off x="13266420" y="2194560"/>
            <a:ext cx="28956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1">
                <a:solidFill>
                  <a:srgbClr val="00355F"/>
                </a:solidFill>
                <a:latin typeface="Arial"/>
                <a:ea typeface="Arial"/>
                <a:cs typeface="Arial"/>
              </a:defRPr>
            </a:defPPr>
          </a:lstStyle>
          <a:p xmlns:a="http://schemas.openxmlformats.org/drawingml/2006/main">
            <a:pPr algn="ctr">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1</a:t>
            </a:r>
          </a:p>
        </p:txBody>
      </p:sp>
      <p:sp>
        <p:nvSpPr>
          <p:cNvPr id="55" name="DNA inputs">
            <a:extLst xmlns:a="http://schemas.openxmlformats.org/drawingml/2006/main">
              <a:ext uri="{FF2B5EF4-FFF2-40B4-BE49-F238E27FC236}">
                <a16:creationId xmlns:a16="http://schemas.microsoft.com/office/drawing/2014/main" id="{8B32C1A8-E3E8-47E1-8477-B432A550202C}"/>
              </a:ext>
            </a:extLst>
          </p:cNvPr>
          <p:cNvSpPr>
            <a:spLocks xmlns:a="http://schemas.openxmlformats.org/drawingml/2006/main" noGrp="1"/>
          </p:cNvSpPr>
          <p:nvPr/>
        </p:nvSpPr>
        <p:spPr>
          <a:xfrm xmlns:a="http://schemas.openxmlformats.org/drawingml/2006/main">
            <a:off x="13693140" y="2164080"/>
            <a:ext cx="3810000"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DNA inputs</a:t>
            </a:r>
          </a:p>
        </p:txBody>
      </p:sp>
      <p:sp>
        <p:nvSpPr>
          <p:cNvPr id="56" name="Oligos, fragments and vector DNA">
            <a:extLst xmlns:a="http://schemas.openxmlformats.org/drawingml/2006/main">
              <a:ext uri="{FF2B5EF4-FFF2-40B4-BE49-F238E27FC236}">
                <a16:creationId xmlns:a16="http://schemas.microsoft.com/office/drawing/2014/main" id="{C738B603-19B6-48F2-9BEE-F5543EDE629F}"/>
              </a:ext>
            </a:extLst>
          </p:cNvPr>
          <p:cNvSpPr>
            <a:spLocks xmlns:a="http://schemas.openxmlformats.org/drawingml/2006/main" noGrp="1"/>
          </p:cNvSpPr>
          <p:nvPr/>
        </p:nvSpPr>
        <p:spPr>
          <a:xfrm xmlns:a="http://schemas.openxmlformats.org/drawingml/2006/main">
            <a:off x="13693140" y="247650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Oligos, fragments and vector DNA</a:t>
            </a:r>
          </a:p>
        </p:txBody>
      </p:sp>
      <p:sp>
        <p:nvSpPr>
          <p:cNvPr id="57" name="Twist, GenScript, Tsingke">
            <a:extLst xmlns:a="http://schemas.openxmlformats.org/drawingml/2006/main">
              <a:ext uri="{FF2B5EF4-FFF2-40B4-BE49-F238E27FC236}">
                <a16:creationId xmlns:a16="http://schemas.microsoft.com/office/drawing/2014/main" id="{884D4F88-D3F1-4068-B159-59C7DC1840EA}"/>
              </a:ext>
            </a:extLst>
          </p:cNvPr>
          <p:cNvSpPr>
            <a:spLocks xmlns:a="http://schemas.openxmlformats.org/drawingml/2006/main" noGrp="1"/>
          </p:cNvSpPr>
          <p:nvPr/>
        </p:nvSpPr>
        <p:spPr>
          <a:xfrm xmlns:a="http://schemas.openxmlformats.org/drawingml/2006/main">
            <a:off x="13693140" y="2727960"/>
            <a:ext cx="3810000"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Twist, GenScript, Tsingke</a:t>
            </a:r>
          </a:p>
        </p:txBody>
      </p:sp>
      <p:sp>
        <p:nvSpPr>
          <p:cNvPr id="58" name="">
            <a:extLst xmlns:a="http://schemas.openxmlformats.org/drawingml/2006/main">
              <a:ext uri="{FF2B5EF4-FFF2-40B4-BE49-F238E27FC236}">
                <a16:creationId xmlns:a16="http://schemas.microsoft.com/office/drawing/2014/main" id="{1FEFAFEC-332F-43C3-9CBA-2AD9CD06D547}"/>
              </a:ext>
            </a:extLst>
          </p:cNvPr>
          <p:cNvSpPr>
            <a:spLocks xmlns:a="http://schemas.openxmlformats.org/drawingml/2006/main" noGrp="1"/>
          </p:cNvSpPr>
          <p:nvPr/>
        </p:nvSpPr>
        <p:spPr>
          <a:xfrm xmlns:a="http://schemas.openxmlformats.org/drawingml/2006/main">
            <a:off x="13258800" y="3131820"/>
            <a:ext cx="4267200" cy="762"/>
          </a:xfrm>
          <a:custGeom xmlns:a="http://schemas.openxmlformats.org/drawingml/2006/main">
            <a:pathLst>
              <a:path w="4267200" h="762">
                <a:moveTo>
                  <a:pt x="0" y="0"/>
                </a:moveTo>
                <a:lnTo>
                  <a:pt x="4267200" y="0"/>
                </a:lnTo>
              </a:path>
            </a:pathLst>
          </a:custGeom>
          <a:noFill xmlns:a="http://schemas.openxmlformats.org/drawingml/2006/main"/>
          <a:ln xmlns:a="http://schemas.openxmlformats.org/drawingml/2006/main" w="5334">
            <a:solidFill>
              <a:srgbClr val="A5A5A5"/>
            </a:solidFill>
          </a:ln>
        </p:spPr>
      </p:sp>
      <p:sp>
        <p:nvSpPr>
          <p:cNvPr id="59" name="">
            <a:extLst xmlns:a="http://schemas.openxmlformats.org/drawingml/2006/main">
              <a:ext uri="{FF2B5EF4-FFF2-40B4-BE49-F238E27FC236}">
                <a16:creationId xmlns:a16="http://schemas.microsoft.com/office/drawing/2014/main" id="{21F100C8-3C01-40EC-ABDB-2156395CF9BF}"/>
              </a:ext>
            </a:extLst>
          </p:cNvPr>
          <p:cNvSpPr>
            <a:spLocks xmlns:a="http://schemas.openxmlformats.org/drawingml/2006/main" noGrp="1"/>
          </p:cNvSpPr>
          <p:nvPr/>
        </p:nvSpPr>
        <p:spPr>
          <a:xfrm xmlns:a="http://schemas.openxmlformats.org/drawingml/2006/main">
            <a:off x="13266420" y="3116580"/>
            <a:ext cx="289560" cy="289560"/>
          </a:xfrm>
          <a:prstGeom xmlns:a="http://schemas.openxmlformats.org/drawingml/2006/main" prst="ellipse">
            <a:avLst/>
          </a:prstGeom>
          <a:solidFill xmlns:a="http://schemas.openxmlformats.org/drawingml/2006/main">
            <a:srgbClr val="EEF6FC"/>
          </a:solidFill>
          <a:ln xmlns:a="http://schemas.openxmlformats.org/drawingml/2006/main" w="11430">
            <a:solidFill>
              <a:srgbClr val="7399C6"/>
            </a:solidFill>
          </a:ln>
        </p:spPr>
      </p:sp>
      <p:sp>
        <p:nvSpPr>
          <p:cNvPr id="60" name="2">
            <a:extLst xmlns:a="http://schemas.openxmlformats.org/drawingml/2006/main">
              <a:ext uri="{FF2B5EF4-FFF2-40B4-BE49-F238E27FC236}">
                <a16:creationId xmlns:a16="http://schemas.microsoft.com/office/drawing/2014/main" id="{16890A15-99D0-4F3D-AA4B-84A07022779D}"/>
              </a:ext>
            </a:extLst>
          </p:cNvPr>
          <p:cNvSpPr>
            <a:spLocks xmlns:a="http://schemas.openxmlformats.org/drawingml/2006/main" noGrp="1"/>
          </p:cNvSpPr>
          <p:nvPr/>
        </p:nvSpPr>
        <p:spPr>
          <a:xfrm xmlns:a="http://schemas.openxmlformats.org/drawingml/2006/main">
            <a:off x="13266420" y="3162300"/>
            <a:ext cx="28956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1">
                <a:solidFill>
                  <a:srgbClr val="00355F"/>
                </a:solidFill>
                <a:latin typeface="Arial"/>
                <a:ea typeface="Arial"/>
                <a:cs typeface="Arial"/>
              </a:defRPr>
            </a:defPPr>
          </a:lstStyle>
          <a:p xmlns:a="http://schemas.openxmlformats.org/drawingml/2006/main">
            <a:pPr algn="ctr">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2</a:t>
            </a:r>
          </a:p>
        </p:txBody>
      </p:sp>
      <p:sp>
        <p:nvSpPr>
          <p:cNvPr id="61" name="Reaction setup">
            <a:extLst xmlns:a="http://schemas.openxmlformats.org/drawingml/2006/main">
              <a:ext uri="{FF2B5EF4-FFF2-40B4-BE49-F238E27FC236}">
                <a16:creationId xmlns:a16="http://schemas.microsoft.com/office/drawing/2014/main" id="{B74B81A9-FE1A-45F7-8BC3-262EA477975E}"/>
              </a:ext>
            </a:extLst>
          </p:cNvPr>
          <p:cNvSpPr>
            <a:spLocks xmlns:a="http://schemas.openxmlformats.org/drawingml/2006/main" noGrp="1"/>
          </p:cNvSpPr>
          <p:nvPr/>
        </p:nvSpPr>
        <p:spPr>
          <a:xfrm xmlns:a="http://schemas.openxmlformats.org/drawingml/2006/main">
            <a:off x="13693140" y="3131820"/>
            <a:ext cx="3810000"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Reaction setup</a:t>
            </a:r>
          </a:p>
        </p:txBody>
      </p:sp>
      <p:sp>
        <p:nvSpPr>
          <p:cNvPr id="62" name="Pipettes, tips, enzyme mix and tubes">
            <a:extLst xmlns:a="http://schemas.openxmlformats.org/drawingml/2006/main">
              <a:ext uri="{FF2B5EF4-FFF2-40B4-BE49-F238E27FC236}">
                <a16:creationId xmlns:a16="http://schemas.microsoft.com/office/drawing/2014/main" id="{6002BAFC-B9C7-4E66-81A8-BD8390B3049B}"/>
              </a:ext>
            </a:extLst>
          </p:cNvPr>
          <p:cNvSpPr>
            <a:spLocks xmlns:a="http://schemas.openxmlformats.org/drawingml/2006/main" noGrp="1"/>
          </p:cNvSpPr>
          <p:nvPr/>
        </p:nvSpPr>
        <p:spPr>
          <a:xfrm xmlns:a="http://schemas.openxmlformats.org/drawingml/2006/main">
            <a:off x="13693140" y="344424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Pipettes, tips, enzyme mix and tubes</a:t>
            </a:r>
          </a:p>
        </p:txBody>
      </p:sp>
      <p:sp>
        <p:nvSpPr>
          <p:cNvPr id="63" name="Pipettes: Gilson / Eppendorf">
            <a:extLst xmlns:a="http://schemas.openxmlformats.org/drawingml/2006/main">
              <a:ext uri="{FF2B5EF4-FFF2-40B4-BE49-F238E27FC236}">
                <a16:creationId xmlns:a16="http://schemas.microsoft.com/office/drawing/2014/main" id="{1A6B1039-D53C-4E5F-BF08-A7791851931A}"/>
              </a:ext>
            </a:extLst>
          </p:cNvPr>
          <p:cNvSpPr>
            <a:spLocks xmlns:a="http://schemas.openxmlformats.org/drawingml/2006/main" noGrp="1"/>
          </p:cNvSpPr>
          <p:nvPr/>
        </p:nvSpPr>
        <p:spPr>
          <a:xfrm xmlns:a="http://schemas.openxmlformats.org/drawingml/2006/main">
            <a:off x="13693140" y="3695700"/>
            <a:ext cx="3810000"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Pipettes: Gilson / Eppendorf</a:t>
            </a:r>
          </a:p>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Assembly mix: NEB / Vazyme</a:t>
            </a:r>
          </a:p>
        </p:txBody>
      </p:sp>
      <p:sp>
        <p:nvSpPr>
          <p:cNvPr id="64" name="">
            <a:extLst xmlns:a="http://schemas.openxmlformats.org/drawingml/2006/main">
              <a:ext uri="{FF2B5EF4-FFF2-40B4-BE49-F238E27FC236}">
                <a16:creationId xmlns:a16="http://schemas.microsoft.com/office/drawing/2014/main" id="{55593484-C36C-4A1A-8F36-B39E62860313}"/>
              </a:ext>
            </a:extLst>
          </p:cNvPr>
          <p:cNvSpPr>
            <a:spLocks xmlns:a="http://schemas.openxmlformats.org/drawingml/2006/main" noGrp="1"/>
          </p:cNvSpPr>
          <p:nvPr/>
        </p:nvSpPr>
        <p:spPr>
          <a:xfrm xmlns:a="http://schemas.openxmlformats.org/drawingml/2006/main">
            <a:off x="13258800" y="4099560"/>
            <a:ext cx="4267200" cy="762"/>
          </a:xfrm>
          <a:custGeom xmlns:a="http://schemas.openxmlformats.org/drawingml/2006/main">
            <a:pathLst>
              <a:path w="4267200" h="762">
                <a:moveTo>
                  <a:pt x="0" y="0"/>
                </a:moveTo>
                <a:lnTo>
                  <a:pt x="4267200" y="0"/>
                </a:lnTo>
              </a:path>
            </a:pathLst>
          </a:custGeom>
          <a:noFill xmlns:a="http://schemas.openxmlformats.org/drawingml/2006/main"/>
          <a:ln xmlns:a="http://schemas.openxmlformats.org/drawingml/2006/main" w="5334">
            <a:solidFill>
              <a:srgbClr val="A5A5A5"/>
            </a:solidFill>
          </a:ln>
        </p:spPr>
      </p:sp>
      <p:sp>
        <p:nvSpPr>
          <p:cNvPr id="65" name="">
            <a:extLst xmlns:a="http://schemas.openxmlformats.org/drawingml/2006/main">
              <a:ext uri="{FF2B5EF4-FFF2-40B4-BE49-F238E27FC236}">
                <a16:creationId xmlns:a16="http://schemas.microsoft.com/office/drawing/2014/main" id="{15C9E3FA-1100-4643-A6A8-CB512B1E9132}"/>
              </a:ext>
            </a:extLst>
          </p:cNvPr>
          <p:cNvSpPr>
            <a:spLocks xmlns:a="http://schemas.openxmlformats.org/drawingml/2006/main" noGrp="1"/>
          </p:cNvSpPr>
          <p:nvPr/>
        </p:nvSpPr>
        <p:spPr>
          <a:xfrm xmlns:a="http://schemas.openxmlformats.org/drawingml/2006/main">
            <a:off x="13266420" y="4084320"/>
            <a:ext cx="289560" cy="289560"/>
          </a:xfrm>
          <a:prstGeom xmlns:a="http://schemas.openxmlformats.org/drawingml/2006/main" prst="ellipse">
            <a:avLst/>
          </a:prstGeom>
          <a:solidFill xmlns:a="http://schemas.openxmlformats.org/drawingml/2006/main">
            <a:srgbClr val="EEF6FC"/>
          </a:solidFill>
          <a:ln xmlns:a="http://schemas.openxmlformats.org/drawingml/2006/main" w="11430">
            <a:solidFill>
              <a:srgbClr val="7399C6"/>
            </a:solidFill>
          </a:ln>
        </p:spPr>
      </p:sp>
      <p:sp>
        <p:nvSpPr>
          <p:cNvPr id="66" name="3">
            <a:extLst xmlns:a="http://schemas.openxmlformats.org/drawingml/2006/main">
              <a:ext uri="{FF2B5EF4-FFF2-40B4-BE49-F238E27FC236}">
                <a16:creationId xmlns:a16="http://schemas.microsoft.com/office/drawing/2014/main" id="{27C061E1-F68B-4177-A85D-69FBF8D1D8CC}"/>
              </a:ext>
            </a:extLst>
          </p:cNvPr>
          <p:cNvSpPr>
            <a:spLocks xmlns:a="http://schemas.openxmlformats.org/drawingml/2006/main" noGrp="1"/>
          </p:cNvSpPr>
          <p:nvPr/>
        </p:nvSpPr>
        <p:spPr>
          <a:xfrm xmlns:a="http://schemas.openxmlformats.org/drawingml/2006/main">
            <a:off x="13266420" y="4130040"/>
            <a:ext cx="28956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1">
                <a:solidFill>
                  <a:srgbClr val="00355F"/>
                </a:solidFill>
                <a:latin typeface="Arial"/>
                <a:ea typeface="Arial"/>
                <a:cs typeface="Arial"/>
              </a:defRPr>
            </a:defPPr>
          </a:lstStyle>
          <a:p xmlns:a="http://schemas.openxmlformats.org/drawingml/2006/main">
            <a:pPr algn="ctr">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3</a:t>
            </a:r>
          </a:p>
        </p:txBody>
      </p:sp>
      <p:sp>
        <p:nvSpPr>
          <p:cNvPr id="67" name="Thermal cycling">
            <a:extLst xmlns:a="http://schemas.openxmlformats.org/drawingml/2006/main">
              <a:ext uri="{FF2B5EF4-FFF2-40B4-BE49-F238E27FC236}">
                <a16:creationId xmlns:a16="http://schemas.microsoft.com/office/drawing/2014/main" id="{7583382A-0747-407C-A3EC-30A871CC6BE9}"/>
              </a:ext>
            </a:extLst>
          </p:cNvPr>
          <p:cNvSpPr>
            <a:spLocks xmlns:a="http://schemas.openxmlformats.org/drawingml/2006/main" noGrp="1"/>
          </p:cNvSpPr>
          <p:nvPr/>
        </p:nvSpPr>
        <p:spPr>
          <a:xfrm xmlns:a="http://schemas.openxmlformats.org/drawingml/2006/main">
            <a:off x="13693140" y="4099560"/>
            <a:ext cx="3810000"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Thermal cycling</a:t>
            </a:r>
          </a:p>
        </p:txBody>
      </p:sp>
      <p:sp>
        <p:nvSpPr>
          <p:cNvPr id="68" name="Thermocycler and PCR plates / tubes">
            <a:extLst xmlns:a="http://schemas.openxmlformats.org/drawingml/2006/main">
              <a:ext uri="{FF2B5EF4-FFF2-40B4-BE49-F238E27FC236}">
                <a16:creationId xmlns:a16="http://schemas.microsoft.com/office/drawing/2014/main" id="{F14F0A97-A394-4348-8EB4-E653CBCECFBC}"/>
              </a:ext>
            </a:extLst>
          </p:cNvPr>
          <p:cNvSpPr>
            <a:spLocks xmlns:a="http://schemas.openxmlformats.org/drawingml/2006/main" noGrp="1"/>
          </p:cNvSpPr>
          <p:nvPr/>
        </p:nvSpPr>
        <p:spPr>
          <a:xfrm xmlns:a="http://schemas.openxmlformats.org/drawingml/2006/main">
            <a:off x="13693140" y="441198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Thermocycler and PCR plates / tubes</a:t>
            </a:r>
          </a:p>
        </p:txBody>
      </p:sp>
      <p:sp>
        <p:nvSpPr>
          <p:cNvPr id="69" name="Applied Biosystems, Bio-Rad">
            <a:extLst xmlns:a="http://schemas.openxmlformats.org/drawingml/2006/main">
              <a:ext uri="{FF2B5EF4-FFF2-40B4-BE49-F238E27FC236}">
                <a16:creationId xmlns:a16="http://schemas.microsoft.com/office/drawing/2014/main" id="{AAB74774-433D-4F00-A7C6-14062565F7B9}"/>
              </a:ext>
            </a:extLst>
          </p:cNvPr>
          <p:cNvSpPr>
            <a:spLocks xmlns:a="http://schemas.openxmlformats.org/drawingml/2006/main" noGrp="1"/>
          </p:cNvSpPr>
          <p:nvPr/>
        </p:nvSpPr>
        <p:spPr>
          <a:xfrm xmlns:a="http://schemas.openxmlformats.org/drawingml/2006/main">
            <a:off x="13693140" y="4663440"/>
            <a:ext cx="3810000"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Applied Biosystems, Bio-Rad</a:t>
            </a:r>
          </a:p>
        </p:txBody>
      </p:sp>
      <p:sp>
        <p:nvSpPr>
          <p:cNvPr id="70" name="">
            <a:extLst xmlns:a="http://schemas.openxmlformats.org/drawingml/2006/main">
              <a:ext uri="{FF2B5EF4-FFF2-40B4-BE49-F238E27FC236}">
                <a16:creationId xmlns:a16="http://schemas.microsoft.com/office/drawing/2014/main" id="{5CB42D9C-1529-4DAA-AC96-9232FDC038AB}"/>
              </a:ext>
            </a:extLst>
          </p:cNvPr>
          <p:cNvSpPr>
            <a:spLocks xmlns:a="http://schemas.openxmlformats.org/drawingml/2006/main" noGrp="1"/>
          </p:cNvSpPr>
          <p:nvPr/>
        </p:nvSpPr>
        <p:spPr>
          <a:xfrm xmlns:a="http://schemas.openxmlformats.org/drawingml/2006/main">
            <a:off x="13258800" y="5067300"/>
            <a:ext cx="4267200" cy="762"/>
          </a:xfrm>
          <a:custGeom xmlns:a="http://schemas.openxmlformats.org/drawingml/2006/main">
            <a:pathLst>
              <a:path w="4267200" h="762">
                <a:moveTo>
                  <a:pt x="0" y="0"/>
                </a:moveTo>
                <a:lnTo>
                  <a:pt x="4267200" y="0"/>
                </a:lnTo>
              </a:path>
            </a:pathLst>
          </a:custGeom>
          <a:noFill xmlns:a="http://schemas.openxmlformats.org/drawingml/2006/main"/>
          <a:ln xmlns:a="http://schemas.openxmlformats.org/drawingml/2006/main" w="5334">
            <a:solidFill>
              <a:srgbClr val="A5A5A5"/>
            </a:solidFill>
          </a:ln>
        </p:spPr>
      </p:sp>
      <p:sp>
        <p:nvSpPr>
          <p:cNvPr id="71" name="">
            <a:extLst xmlns:a="http://schemas.openxmlformats.org/drawingml/2006/main">
              <a:ext uri="{FF2B5EF4-FFF2-40B4-BE49-F238E27FC236}">
                <a16:creationId xmlns:a16="http://schemas.microsoft.com/office/drawing/2014/main" id="{1C36657F-6F8B-40FC-B2B4-31B3299717BD}"/>
              </a:ext>
            </a:extLst>
          </p:cNvPr>
          <p:cNvSpPr>
            <a:spLocks xmlns:a="http://schemas.openxmlformats.org/drawingml/2006/main" noGrp="1"/>
          </p:cNvSpPr>
          <p:nvPr/>
        </p:nvSpPr>
        <p:spPr>
          <a:xfrm xmlns:a="http://schemas.openxmlformats.org/drawingml/2006/main">
            <a:off x="13266420" y="5052060"/>
            <a:ext cx="289560" cy="289560"/>
          </a:xfrm>
          <a:prstGeom xmlns:a="http://schemas.openxmlformats.org/drawingml/2006/main" prst="ellipse">
            <a:avLst/>
          </a:prstGeom>
          <a:solidFill xmlns:a="http://schemas.openxmlformats.org/drawingml/2006/main">
            <a:srgbClr val="EEF6FC"/>
          </a:solidFill>
          <a:ln xmlns:a="http://schemas.openxmlformats.org/drawingml/2006/main" w="11430">
            <a:solidFill>
              <a:srgbClr val="7399C6"/>
            </a:solidFill>
          </a:ln>
        </p:spPr>
      </p:sp>
      <p:sp>
        <p:nvSpPr>
          <p:cNvPr id="72" name="4">
            <a:extLst xmlns:a="http://schemas.openxmlformats.org/drawingml/2006/main">
              <a:ext uri="{FF2B5EF4-FFF2-40B4-BE49-F238E27FC236}">
                <a16:creationId xmlns:a16="http://schemas.microsoft.com/office/drawing/2014/main" id="{0C956095-474E-41D6-A275-38315A9DA957}"/>
              </a:ext>
            </a:extLst>
          </p:cNvPr>
          <p:cNvSpPr>
            <a:spLocks xmlns:a="http://schemas.openxmlformats.org/drawingml/2006/main" noGrp="1"/>
          </p:cNvSpPr>
          <p:nvPr/>
        </p:nvSpPr>
        <p:spPr>
          <a:xfrm xmlns:a="http://schemas.openxmlformats.org/drawingml/2006/main">
            <a:off x="13266420" y="5097780"/>
            <a:ext cx="28956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1">
                <a:solidFill>
                  <a:srgbClr val="00355F"/>
                </a:solidFill>
                <a:latin typeface="Arial"/>
                <a:ea typeface="Arial"/>
                <a:cs typeface="Arial"/>
              </a:defRPr>
            </a:defPPr>
          </a:lstStyle>
          <a:p xmlns:a="http://schemas.openxmlformats.org/drawingml/2006/main">
            <a:pPr algn="ctr">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4</a:t>
            </a:r>
          </a:p>
        </p:txBody>
      </p:sp>
      <p:sp>
        <p:nvSpPr>
          <p:cNvPr id="73" name="DNA cleanup">
            <a:extLst xmlns:a="http://schemas.openxmlformats.org/drawingml/2006/main">
              <a:ext uri="{FF2B5EF4-FFF2-40B4-BE49-F238E27FC236}">
                <a16:creationId xmlns:a16="http://schemas.microsoft.com/office/drawing/2014/main" id="{28E60C8B-9E7F-40DA-A183-22E2BE73F9B6}"/>
              </a:ext>
            </a:extLst>
          </p:cNvPr>
          <p:cNvSpPr>
            <a:spLocks xmlns:a="http://schemas.openxmlformats.org/drawingml/2006/main" noGrp="1"/>
          </p:cNvSpPr>
          <p:nvPr/>
        </p:nvSpPr>
        <p:spPr>
          <a:xfrm xmlns:a="http://schemas.openxmlformats.org/drawingml/2006/main">
            <a:off x="13693140" y="5067300"/>
            <a:ext cx="3810000"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DNA cleanup</a:t>
            </a:r>
          </a:p>
        </p:txBody>
      </p:sp>
      <p:sp>
        <p:nvSpPr>
          <p:cNvPr id="74" name="Microcentrifuge, columns and buffers">
            <a:extLst xmlns:a="http://schemas.openxmlformats.org/drawingml/2006/main">
              <a:ext uri="{FF2B5EF4-FFF2-40B4-BE49-F238E27FC236}">
                <a16:creationId xmlns:a16="http://schemas.microsoft.com/office/drawing/2014/main" id="{B3794A22-27A9-45E2-A4C4-7F651F13F6E5}"/>
              </a:ext>
            </a:extLst>
          </p:cNvPr>
          <p:cNvSpPr>
            <a:spLocks xmlns:a="http://schemas.openxmlformats.org/drawingml/2006/main" noGrp="1"/>
          </p:cNvSpPr>
          <p:nvPr/>
        </p:nvSpPr>
        <p:spPr>
          <a:xfrm xmlns:a="http://schemas.openxmlformats.org/drawingml/2006/main">
            <a:off x="13693140" y="537972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Microcentrifuge, columns and buffers</a:t>
            </a:r>
          </a:p>
        </p:txBody>
      </p:sp>
      <p:sp>
        <p:nvSpPr>
          <p:cNvPr id="75" name="Centrifuge: Eppendorf">
            <a:extLst xmlns:a="http://schemas.openxmlformats.org/drawingml/2006/main">
              <a:ext uri="{FF2B5EF4-FFF2-40B4-BE49-F238E27FC236}">
                <a16:creationId xmlns:a16="http://schemas.microsoft.com/office/drawing/2014/main" id="{325F7A9D-08B3-418F-82BE-CFABF636D972}"/>
              </a:ext>
            </a:extLst>
          </p:cNvPr>
          <p:cNvSpPr>
            <a:spLocks xmlns:a="http://schemas.openxmlformats.org/drawingml/2006/main" noGrp="1"/>
          </p:cNvSpPr>
          <p:nvPr/>
        </p:nvSpPr>
        <p:spPr>
          <a:xfrm xmlns:a="http://schemas.openxmlformats.org/drawingml/2006/main">
            <a:off x="13693140" y="5631180"/>
            <a:ext cx="3810000"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Centrifuge: Eppendorf</a:t>
            </a:r>
          </a:p>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Kits: QIAGEN / TIANGEN</a:t>
            </a:r>
          </a:p>
        </p:txBody>
      </p:sp>
      <p:sp>
        <p:nvSpPr>
          <p:cNvPr id="76" name="">
            <a:extLst xmlns:a="http://schemas.openxmlformats.org/drawingml/2006/main">
              <a:ext uri="{FF2B5EF4-FFF2-40B4-BE49-F238E27FC236}">
                <a16:creationId xmlns:a16="http://schemas.microsoft.com/office/drawing/2014/main" id="{C42F06A0-8B9D-47AC-9909-45C021852768}"/>
              </a:ext>
            </a:extLst>
          </p:cNvPr>
          <p:cNvSpPr>
            <a:spLocks xmlns:a="http://schemas.openxmlformats.org/drawingml/2006/main" noGrp="1"/>
          </p:cNvSpPr>
          <p:nvPr/>
        </p:nvSpPr>
        <p:spPr>
          <a:xfrm xmlns:a="http://schemas.openxmlformats.org/drawingml/2006/main">
            <a:off x="13258800" y="6035040"/>
            <a:ext cx="4267200" cy="762"/>
          </a:xfrm>
          <a:custGeom xmlns:a="http://schemas.openxmlformats.org/drawingml/2006/main">
            <a:pathLst>
              <a:path w="4267200" h="762">
                <a:moveTo>
                  <a:pt x="0" y="0"/>
                </a:moveTo>
                <a:lnTo>
                  <a:pt x="4267200" y="0"/>
                </a:lnTo>
              </a:path>
            </a:pathLst>
          </a:custGeom>
          <a:noFill xmlns:a="http://schemas.openxmlformats.org/drawingml/2006/main"/>
          <a:ln xmlns:a="http://schemas.openxmlformats.org/drawingml/2006/main" w="5334">
            <a:solidFill>
              <a:srgbClr val="A5A5A5"/>
            </a:solidFill>
          </a:ln>
        </p:spPr>
      </p:sp>
      <p:sp>
        <p:nvSpPr>
          <p:cNvPr id="77" name="">
            <a:extLst xmlns:a="http://schemas.openxmlformats.org/drawingml/2006/main">
              <a:ext uri="{FF2B5EF4-FFF2-40B4-BE49-F238E27FC236}">
                <a16:creationId xmlns:a16="http://schemas.microsoft.com/office/drawing/2014/main" id="{134745F7-F68C-4B41-A964-D3B9AB52B132}"/>
              </a:ext>
            </a:extLst>
          </p:cNvPr>
          <p:cNvSpPr>
            <a:spLocks xmlns:a="http://schemas.openxmlformats.org/drawingml/2006/main" noGrp="1"/>
          </p:cNvSpPr>
          <p:nvPr/>
        </p:nvSpPr>
        <p:spPr>
          <a:xfrm xmlns:a="http://schemas.openxmlformats.org/drawingml/2006/main">
            <a:off x="13266420" y="6019800"/>
            <a:ext cx="289560" cy="289560"/>
          </a:xfrm>
          <a:prstGeom xmlns:a="http://schemas.openxmlformats.org/drawingml/2006/main" prst="ellipse">
            <a:avLst/>
          </a:prstGeom>
          <a:solidFill xmlns:a="http://schemas.openxmlformats.org/drawingml/2006/main">
            <a:srgbClr val="EEF6FC"/>
          </a:solidFill>
          <a:ln xmlns:a="http://schemas.openxmlformats.org/drawingml/2006/main" w="11430">
            <a:solidFill>
              <a:srgbClr val="7399C6"/>
            </a:solidFill>
          </a:ln>
        </p:spPr>
      </p:sp>
      <p:sp>
        <p:nvSpPr>
          <p:cNvPr id="78" name="5">
            <a:extLst xmlns:a="http://schemas.openxmlformats.org/drawingml/2006/main">
              <a:ext uri="{FF2B5EF4-FFF2-40B4-BE49-F238E27FC236}">
                <a16:creationId xmlns:a16="http://schemas.microsoft.com/office/drawing/2014/main" id="{82A18C2F-13F9-4D13-9CC2-45C35F1B306A}"/>
              </a:ext>
            </a:extLst>
          </p:cNvPr>
          <p:cNvSpPr>
            <a:spLocks xmlns:a="http://schemas.openxmlformats.org/drawingml/2006/main" noGrp="1"/>
          </p:cNvSpPr>
          <p:nvPr/>
        </p:nvSpPr>
        <p:spPr>
          <a:xfrm xmlns:a="http://schemas.openxmlformats.org/drawingml/2006/main">
            <a:off x="13266420" y="6065520"/>
            <a:ext cx="28956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1">
                <a:solidFill>
                  <a:srgbClr val="00355F"/>
                </a:solidFill>
                <a:latin typeface="Arial"/>
                <a:ea typeface="Arial"/>
                <a:cs typeface="Arial"/>
              </a:defRPr>
            </a:defPPr>
          </a:lstStyle>
          <a:p xmlns:a="http://schemas.openxmlformats.org/drawingml/2006/main">
            <a:pPr algn="ctr">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5</a:t>
            </a:r>
          </a:p>
        </p:txBody>
      </p:sp>
      <p:sp>
        <p:nvSpPr>
          <p:cNvPr id="79" name="DNA quality checks">
            <a:extLst xmlns:a="http://schemas.openxmlformats.org/drawingml/2006/main">
              <a:ext uri="{FF2B5EF4-FFF2-40B4-BE49-F238E27FC236}">
                <a16:creationId xmlns:a16="http://schemas.microsoft.com/office/drawing/2014/main" id="{EF826477-B91D-4536-A50C-632FD749723C}"/>
              </a:ext>
            </a:extLst>
          </p:cNvPr>
          <p:cNvSpPr>
            <a:spLocks xmlns:a="http://schemas.openxmlformats.org/drawingml/2006/main" noGrp="1"/>
          </p:cNvSpPr>
          <p:nvPr/>
        </p:nvSpPr>
        <p:spPr>
          <a:xfrm xmlns:a="http://schemas.openxmlformats.org/drawingml/2006/main">
            <a:off x="13693140" y="6035040"/>
            <a:ext cx="3810000"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DNA quality checks</a:t>
            </a:r>
          </a:p>
        </p:txBody>
      </p:sp>
      <p:sp>
        <p:nvSpPr>
          <p:cNvPr id="80" name="Fluorometer, gel tank and imaging">
            <a:extLst xmlns:a="http://schemas.openxmlformats.org/drawingml/2006/main">
              <a:ext uri="{FF2B5EF4-FFF2-40B4-BE49-F238E27FC236}">
                <a16:creationId xmlns:a16="http://schemas.microsoft.com/office/drawing/2014/main" id="{72E028C1-AB97-4414-864E-DE27346BE176}"/>
              </a:ext>
            </a:extLst>
          </p:cNvPr>
          <p:cNvSpPr>
            <a:spLocks xmlns:a="http://schemas.openxmlformats.org/drawingml/2006/main" noGrp="1"/>
          </p:cNvSpPr>
          <p:nvPr/>
        </p:nvSpPr>
        <p:spPr>
          <a:xfrm xmlns:a="http://schemas.openxmlformats.org/drawingml/2006/main">
            <a:off x="13693140" y="634746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Fluorometer, gel tank and imaging</a:t>
            </a:r>
          </a:p>
        </p:txBody>
      </p:sp>
      <p:sp>
        <p:nvSpPr>
          <p:cNvPr id="81" name="Qubit / Thermo Fisher, Bio-Rad">
            <a:extLst xmlns:a="http://schemas.openxmlformats.org/drawingml/2006/main">
              <a:ext uri="{FF2B5EF4-FFF2-40B4-BE49-F238E27FC236}">
                <a16:creationId xmlns:a16="http://schemas.microsoft.com/office/drawing/2014/main" id="{FEBC0F2C-285D-4CF1-833F-8825868D2742}"/>
              </a:ext>
            </a:extLst>
          </p:cNvPr>
          <p:cNvSpPr>
            <a:spLocks xmlns:a="http://schemas.openxmlformats.org/drawingml/2006/main" noGrp="1"/>
          </p:cNvSpPr>
          <p:nvPr/>
        </p:nvSpPr>
        <p:spPr>
          <a:xfrm xmlns:a="http://schemas.openxmlformats.org/drawingml/2006/main">
            <a:off x="13693140" y="6598920"/>
            <a:ext cx="3810000"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Qubit / Thermo Fisher, Bio-Rad</a:t>
            </a:r>
          </a:p>
        </p:txBody>
      </p:sp>
      <p:sp>
        <p:nvSpPr>
          <p:cNvPr id="82" name="">
            <a:extLst xmlns:a="http://schemas.openxmlformats.org/drawingml/2006/main">
              <a:ext uri="{FF2B5EF4-FFF2-40B4-BE49-F238E27FC236}">
                <a16:creationId xmlns:a16="http://schemas.microsoft.com/office/drawing/2014/main" id="{7E0F5238-67DA-4235-A30C-F443F4DE52B4}"/>
              </a:ext>
            </a:extLst>
          </p:cNvPr>
          <p:cNvSpPr>
            <a:spLocks xmlns:a="http://schemas.openxmlformats.org/drawingml/2006/main" noGrp="1"/>
          </p:cNvSpPr>
          <p:nvPr/>
        </p:nvSpPr>
        <p:spPr>
          <a:xfrm xmlns:a="http://schemas.openxmlformats.org/drawingml/2006/main">
            <a:off x="13258800" y="7002780"/>
            <a:ext cx="4267200" cy="762"/>
          </a:xfrm>
          <a:custGeom xmlns:a="http://schemas.openxmlformats.org/drawingml/2006/main">
            <a:pathLst>
              <a:path w="4267200" h="762">
                <a:moveTo>
                  <a:pt x="0" y="0"/>
                </a:moveTo>
                <a:lnTo>
                  <a:pt x="4267200" y="0"/>
                </a:lnTo>
              </a:path>
            </a:pathLst>
          </a:custGeom>
          <a:noFill xmlns:a="http://schemas.openxmlformats.org/drawingml/2006/main"/>
          <a:ln xmlns:a="http://schemas.openxmlformats.org/drawingml/2006/main" w="5334">
            <a:solidFill>
              <a:srgbClr val="A5A5A5"/>
            </a:solidFill>
          </a:ln>
        </p:spPr>
      </p:sp>
      <p:sp>
        <p:nvSpPr>
          <p:cNvPr id="83" name="">
            <a:extLst xmlns:a="http://schemas.openxmlformats.org/drawingml/2006/main">
              <a:ext uri="{FF2B5EF4-FFF2-40B4-BE49-F238E27FC236}">
                <a16:creationId xmlns:a16="http://schemas.microsoft.com/office/drawing/2014/main" id="{0975E408-A229-488F-AE29-5520CD11BF8A}"/>
              </a:ext>
            </a:extLst>
          </p:cNvPr>
          <p:cNvSpPr>
            <a:spLocks xmlns:a="http://schemas.openxmlformats.org/drawingml/2006/main" noGrp="1"/>
          </p:cNvSpPr>
          <p:nvPr/>
        </p:nvSpPr>
        <p:spPr>
          <a:xfrm xmlns:a="http://schemas.openxmlformats.org/drawingml/2006/main">
            <a:off x="13266420" y="6987540"/>
            <a:ext cx="289560" cy="289560"/>
          </a:xfrm>
          <a:prstGeom xmlns:a="http://schemas.openxmlformats.org/drawingml/2006/main" prst="ellipse">
            <a:avLst/>
          </a:prstGeom>
          <a:solidFill xmlns:a="http://schemas.openxmlformats.org/drawingml/2006/main">
            <a:srgbClr val="EEF6FC"/>
          </a:solidFill>
          <a:ln xmlns:a="http://schemas.openxmlformats.org/drawingml/2006/main" w="11430">
            <a:solidFill>
              <a:srgbClr val="7399C6"/>
            </a:solidFill>
          </a:ln>
        </p:spPr>
      </p:sp>
      <p:sp>
        <p:nvSpPr>
          <p:cNvPr id="84" name="6">
            <a:extLst xmlns:a="http://schemas.openxmlformats.org/drawingml/2006/main">
              <a:ext uri="{FF2B5EF4-FFF2-40B4-BE49-F238E27FC236}">
                <a16:creationId xmlns:a16="http://schemas.microsoft.com/office/drawing/2014/main" id="{71B073C7-8CFC-4AD0-87B6-E58299C3330D}"/>
              </a:ext>
            </a:extLst>
          </p:cNvPr>
          <p:cNvSpPr>
            <a:spLocks xmlns:a="http://schemas.openxmlformats.org/drawingml/2006/main" noGrp="1"/>
          </p:cNvSpPr>
          <p:nvPr/>
        </p:nvSpPr>
        <p:spPr>
          <a:xfrm xmlns:a="http://schemas.openxmlformats.org/drawingml/2006/main">
            <a:off x="13266420" y="7033260"/>
            <a:ext cx="28956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1">
                <a:solidFill>
                  <a:srgbClr val="00355F"/>
                </a:solidFill>
                <a:latin typeface="Arial"/>
                <a:ea typeface="Arial"/>
                <a:cs typeface="Arial"/>
              </a:defRPr>
            </a:defPPr>
          </a:lstStyle>
          <a:p xmlns:a="http://schemas.openxmlformats.org/drawingml/2006/main">
            <a:pPr algn="ctr">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6</a:t>
            </a:r>
          </a:p>
        </p:txBody>
      </p:sp>
      <p:sp>
        <p:nvSpPr>
          <p:cNvPr id="85" name="Clone growth">
            <a:extLst xmlns:a="http://schemas.openxmlformats.org/drawingml/2006/main">
              <a:ext uri="{FF2B5EF4-FFF2-40B4-BE49-F238E27FC236}">
                <a16:creationId xmlns:a16="http://schemas.microsoft.com/office/drawing/2014/main" id="{1D045FFC-D9CC-45FF-B7F9-440A1AC8B81B}"/>
              </a:ext>
            </a:extLst>
          </p:cNvPr>
          <p:cNvSpPr>
            <a:spLocks xmlns:a="http://schemas.openxmlformats.org/drawingml/2006/main" noGrp="1"/>
          </p:cNvSpPr>
          <p:nvPr/>
        </p:nvSpPr>
        <p:spPr>
          <a:xfrm xmlns:a="http://schemas.openxmlformats.org/drawingml/2006/main">
            <a:off x="13693140" y="7002780"/>
            <a:ext cx="3810000"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Clone growth</a:t>
            </a:r>
          </a:p>
        </p:txBody>
      </p:sp>
      <p:sp>
        <p:nvSpPr>
          <p:cNvPr id="86" name="Shaking incubator, cells and cultureware">
            <a:extLst xmlns:a="http://schemas.openxmlformats.org/drawingml/2006/main">
              <a:ext uri="{FF2B5EF4-FFF2-40B4-BE49-F238E27FC236}">
                <a16:creationId xmlns:a16="http://schemas.microsoft.com/office/drawing/2014/main" id="{850C1FBF-0F89-4769-A6AB-640FBD4A8220}"/>
              </a:ext>
            </a:extLst>
          </p:cNvPr>
          <p:cNvSpPr>
            <a:spLocks xmlns:a="http://schemas.openxmlformats.org/drawingml/2006/main" noGrp="1"/>
          </p:cNvSpPr>
          <p:nvPr/>
        </p:nvSpPr>
        <p:spPr>
          <a:xfrm xmlns:a="http://schemas.openxmlformats.org/drawingml/2006/main">
            <a:off x="13693140" y="731520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Shaking incubator, cells and cultureware</a:t>
            </a:r>
          </a:p>
        </p:txBody>
      </p:sp>
      <p:sp>
        <p:nvSpPr>
          <p:cNvPr id="87" name="Shaker: Eppendorf">
            <a:extLst xmlns:a="http://schemas.openxmlformats.org/drawingml/2006/main">
              <a:ext uri="{FF2B5EF4-FFF2-40B4-BE49-F238E27FC236}">
                <a16:creationId xmlns:a16="http://schemas.microsoft.com/office/drawing/2014/main" id="{40C38C39-FAD4-483C-9CAA-53CEEE8E08AB}"/>
              </a:ext>
            </a:extLst>
          </p:cNvPr>
          <p:cNvSpPr>
            <a:spLocks xmlns:a="http://schemas.openxmlformats.org/drawingml/2006/main" noGrp="1"/>
          </p:cNvSpPr>
          <p:nvPr/>
        </p:nvSpPr>
        <p:spPr>
          <a:xfrm xmlns:a="http://schemas.openxmlformats.org/drawingml/2006/main">
            <a:off x="13693140" y="7566660"/>
            <a:ext cx="3810000"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Shaker: Eppendorf</a:t>
            </a:r>
          </a:p>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Cells / media: NEB / Thermo Fisher</a:t>
            </a:r>
          </a:p>
        </p:txBody>
      </p:sp>
      <p:sp>
        <p:nvSpPr>
          <p:cNvPr id="88" name="">
            <a:extLst xmlns:a="http://schemas.openxmlformats.org/drawingml/2006/main">
              <a:ext uri="{FF2B5EF4-FFF2-40B4-BE49-F238E27FC236}">
                <a16:creationId xmlns:a16="http://schemas.microsoft.com/office/drawing/2014/main" id="{632C1F2F-EF5A-427A-A5AA-96A9DBFDB372}"/>
              </a:ext>
            </a:extLst>
          </p:cNvPr>
          <p:cNvSpPr>
            <a:spLocks xmlns:a="http://schemas.openxmlformats.org/drawingml/2006/main" noGrp="1"/>
          </p:cNvSpPr>
          <p:nvPr/>
        </p:nvSpPr>
        <p:spPr>
          <a:xfrm xmlns:a="http://schemas.openxmlformats.org/drawingml/2006/main">
            <a:off x="13258800" y="7970520"/>
            <a:ext cx="4267200" cy="762"/>
          </a:xfrm>
          <a:custGeom xmlns:a="http://schemas.openxmlformats.org/drawingml/2006/main">
            <a:pathLst>
              <a:path w="4267200" h="762">
                <a:moveTo>
                  <a:pt x="0" y="0"/>
                </a:moveTo>
                <a:lnTo>
                  <a:pt x="4267200" y="0"/>
                </a:lnTo>
              </a:path>
            </a:pathLst>
          </a:custGeom>
          <a:noFill xmlns:a="http://schemas.openxmlformats.org/drawingml/2006/main"/>
          <a:ln xmlns:a="http://schemas.openxmlformats.org/drawingml/2006/main" w="5334">
            <a:solidFill>
              <a:srgbClr val="A5A5A5"/>
            </a:solidFill>
          </a:ln>
        </p:spPr>
      </p:sp>
      <p:sp>
        <p:nvSpPr>
          <p:cNvPr id="89" name="">
            <a:extLst xmlns:a="http://schemas.openxmlformats.org/drawingml/2006/main">
              <a:ext uri="{FF2B5EF4-FFF2-40B4-BE49-F238E27FC236}">
                <a16:creationId xmlns:a16="http://schemas.microsoft.com/office/drawing/2014/main" id="{B1A5D842-8D9D-46B6-B731-414285BF712A}"/>
              </a:ext>
            </a:extLst>
          </p:cNvPr>
          <p:cNvSpPr>
            <a:spLocks xmlns:a="http://schemas.openxmlformats.org/drawingml/2006/main" noGrp="1"/>
          </p:cNvSpPr>
          <p:nvPr/>
        </p:nvSpPr>
        <p:spPr>
          <a:xfrm xmlns:a="http://schemas.openxmlformats.org/drawingml/2006/main">
            <a:off x="13266420" y="7955280"/>
            <a:ext cx="289560" cy="289560"/>
          </a:xfrm>
          <a:prstGeom xmlns:a="http://schemas.openxmlformats.org/drawingml/2006/main" prst="ellipse">
            <a:avLst/>
          </a:prstGeom>
          <a:solidFill xmlns:a="http://schemas.openxmlformats.org/drawingml/2006/main">
            <a:srgbClr val="EEF6FC"/>
          </a:solidFill>
          <a:ln xmlns:a="http://schemas.openxmlformats.org/drawingml/2006/main" w="11430">
            <a:solidFill>
              <a:srgbClr val="7399C6"/>
            </a:solidFill>
          </a:ln>
        </p:spPr>
      </p:sp>
      <p:sp>
        <p:nvSpPr>
          <p:cNvPr id="90" name="7">
            <a:extLst xmlns:a="http://schemas.openxmlformats.org/drawingml/2006/main">
              <a:ext uri="{FF2B5EF4-FFF2-40B4-BE49-F238E27FC236}">
                <a16:creationId xmlns:a16="http://schemas.microsoft.com/office/drawing/2014/main" id="{645C1052-C6C4-4245-8ECF-6217F5439CE9}"/>
              </a:ext>
            </a:extLst>
          </p:cNvPr>
          <p:cNvSpPr>
            <a:spLocks xmlns:a="http://schemas.openxmlformats.org/drawingml/2006/main" noGrp="1"/>
          </p:cNvSpPr>
          <p:nvPr/>
        </p:nvSpPr>
        <p:spPr>
          <a:xfrm xmlns:a="http://schemas.openxmlformats.org/drawingml/2006/main">
            <a:off x="13266420" y="8001000"/>
            <a:ext cx="28956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1">
                <a:solidFill>
                  <a:srgbClr val="00355F"/>
                </a:solidFill>
                <a:latin typeface="Arial"/>
                <a:ea typeface="Arial"/>
                <a:cs typeface="Arial"/>
              </a:defRPr>
            </a:defPPr>
          </a:lstStyle>
          <a:p xmlns:a="http://schemas.openxmlformats.org/drawingml/2006/main">
            <a:pPr algn="ctr">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7</a:t>
            </a:r>
          </a:p>
        </p:txBody>
      </p:sp>
      <p:sp>
        <p:nvSpPr>
          <p:cNvPr id="91" name="Sequence confirmation">
            <a:extLst xmlns:a="http://schemas.openxmlformats.org/drawingml/2006/main">
              <a:ext uri="{FF2B5EF4-FFF2-40B4-BE49-F238E27FC236}">
                <a16:creationId xmlns:a16="http://schemas.microsoft.com/office/drawing/2014/main" id="{AF2E9463-978E-4F6B-A69D-87CEEAF5E607}"/>
              </a:ext>
            </a:extLst>
          </p:cNvPr>
          <p:cNvSpPr>
            <a:spLocks xmlns:a="http://schemas.openxmlformats.org/drawingml/2006/main" noGrp="1"/>
          </p:cNvSpPr>
          <p:nvPr/>
        </p:nvSpPr>
        <p:spPr>
          <a:xfrm xmlns:a="http://schemas.openxmlformats.org/drawingml/2006/main">
            <a:off x="13693140" y="7970520"/>
            <a:ext cx="3810000"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Sequence confirmation</a:t>
            </a:r>
          </a:p>
        </p:txBody>
      </p:sp>
      <p:sp>
        <p:nvSpPr>
          <p:cNvPr id="92" name="Sanger readout, service or sequencer">
            <a:extLst xmlns:a="http://schemas.openxmlformats.org/drawingml/2006/main">
              <a:ext uri="{FF2B5EF4-FFF2-40B4-BE49-F238E27FC236}">
                <a16:creationId xmlns:a16="http://schemas.microsoft.com/office/drawing/2014/main" id="{A36419AA-02F9-43D6-91C3-DF9B90E81644}"/>
              </a:ext>
            </a:extLst>
          </p:cNvPr>
          <p:cNvSpPr>
            <a:spLocks xmlns:a="http://schemas.openxmlformats.org/drawingml/2006/main" noGrp="1"/>
          </p:cNvSpPr>
          <p:nvPr/>
        </p:nvSpPr>
        <p:spPr>
          <a:xfrm xmlns:a="http://schemas.openxmlformats.org/drawingml/2006/main">
            <a:off x="13693140" y="828294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Sanger readout, service or sequencer</a:t>
            </a:r>
          </a:p>
        </p:txBody>
      </p:sp>
      <p:sp>
        <p:nvSpPr>
          <p:cNvPr id="93" name="Service: Tsingke / GenScript">
            <a:extLst xmlns:a="http://schemas.openxmlformats.org/drawingml/2006/main">
              <a:ext uri="{FF2B5EF4-FFF2-40B4-BE49-F238E27FC236}">
                <a16:creationId xmlns:a16="http://schemas.microsoft.com/office/drawing/2014/main" id="{136887CE-94BB-40DC-9652-95648D7E5750}"/>
              </a:ext>
            </a:extLst>
          </p:cNvPr>
          <p:cNvSpPr>
            <a:spLocks xmlns:a="http://schemas.openxmlformats.org/drawingml/2006/main" noGrp="1"/>
          </p:cNvSpPr>
          <p:nvPr/>
        </p:nvSpPr>
        <p:spPr>
          <a:xfrm xmlns:a="http://schemas.openxmlformats.org/drawingml/2006/main">
            <a:off x="13693140" y="8534400"/>
            <a:ext cx="3810000"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Service: Tsingke / GenScript</a:t>
            </a:r>
          </a:p>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Instrument: Applied Biosystems</a:t>
            </a:r>
          </a:p>
        </p:txBody>
      </p:sp>
      <p:sp>
        <p:nvSpPr>
          <p:cNvPr id="94" name="">
            <a:extLst xmlns:a="http://schemas.openxmlformats.org/drawingml/2006/main">
              <a:ext uri="{FF2B5EF4-FFF2-40B4-BE49-F238E27FC236}">
                <a16:creationId xmlns:a16="http://schemas.microsoft.com/office/drawing/2014/main" id="{B0F9E7F7-D752-4C52-B0E7-9516F1DFED20}"/>
              </a:ext>
            </a:extLst>
          </p:cNvPr>
          <p:cNvSpPr>
            <a:spLocks xmlns:a="http://schemas.openxmlformats.org/drawingml/2006/main" noGrp="1"/>
          </p:cNvSpPr>
          <p:nvPr/>
        </p:nvSpPr>
        <p:spPr>
          <a:xfrm xmlns:a="http://schemas.openxmlformats.org/drawingml/2006/main">
            <a:off x="762000" y="9083040"/>
            <a:ext cx="16764000" cy="762"/>
          </a:xfrm>
          <a:custGeom xmlns:a="http://schemas.openxmlformats.org/drawingml/2006/main">
            <a:pathLst>
              <a:path w="16764000" h="762">
                <a:moveTo>
                  <a:pt x="0" y="0"/>
                </a:moveTo>
                <a:lnTo>
                  <a:pt x="16764000" y="0"/>
                </a:lnTo>
              </a:path>
            </a:pathLst>
          </a:custGeom>
          <a:noFill xmlns:a="http://schemas.openxmlformats.org/drawingml/2006/main"/>
          <a:ln xmlns:a="http://schemas.openxmlformats.org/drawingml/2006/main" w="7620">
            <a:solidFill>
              <a:srgbClr val="A5A5A5"/>
            </a:solidFill>
          </a:ln>
        </p:spPr>
      </p:sp>
      <p:sp>
        <p:nvSpPr>
          <p:cNvPr id="95" name="Recurring labware">
            <a:extLst xmlns:a="http://schemas.openxmlformats.org/drawingml/2006/main">
              <a:ext uri="{FF2B5EF4-FFF2-40B4-BE49-F238E27FC236}">
                <a16:creationId xmlns:a16="http://schemas.microsoft.com/office/drawing/2014/main" id="{72F8F743-6D24-4ED9-95CD-F2CD31C482AA}"/>
              </a:ext>
            </a:extLst>
          </p:cNvPr>
          <p:cNvSpPr>
            <a:spLocks xmlns:a="http://schemas.openxmlformats.org/drawingml/2006/main" noGrp="1"/>
          </p:cNvSpPr>
          <p:nvPr/>
        </p:nvSpPr>
        <p:spPr>
          <a:xfrm xmlns:a="http://schemas.openxmlformats.org/drawingml/2006/main">
            <a:off x="762000" y="9220200"/>
            <a:ext cx="38100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Recurring labware</a:t>
            </a:r>
          </a:p>
        </p:txBody>
      </p:sp>
      <p:sp>
        <p:nvSpPr>
          <p:cNvPr id="96" name="Tips, PCR plates, microtubes, columns">
            <a:extLst xmlns:a="http://schemas.openxmlformats.org/drawingml/2006/main">
              <a:ext uri="{FF2B5EF4-FFF2-40B4-BE49-F238E27FC236}">
                <a16:creationId xmlns:a16="http://schemas.microsoft.com/office/drawing/2014/main" id="{2D8B3D3B-2C7B-4EE8-8B6A-4B9D8E7DAB3C}"/>
              </a:ext>
            </a:extLst>
          </p:cNvPr>
          <p:cNvSpPr>
            <a:spLocks xmlns:a="http://schemas.openxmlformats.org/drawingml/2006/main" noGrp="1"/>
          </p:cNvSpPr>
          <p:nvPr/>
        </p:nvSpPr>
        <p:spPr>
          <a:xfrm xmlns:a="http://schemas.openxmlformats.org/drawingml/2006/main">
            <a:off x="762000" y="9525000"/>
            <a:ext cx="45720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0">
                <a:solidFill>
                  <a:srgbClr val="00355F"/>
                </a:solidFill>
                <a:latin typeface="Arial"/>
                <a:ea typeface="Arial"/>
                <a:cs typeface="Arial"/>
              </a:defRPr>
            </a:defPPr>
          </a:lstStyle>
          <a:p xmlns:a="http://schemas.openxmlformats.org/drawingml/2006/main">
            <a:pPr algn="l">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Tips, PCR plates, microtubes, columns</a:t>
            </a:r>
          </a:p>
        </p:txBody>
      </p:sp>
      <p:sp>
        <p:nvSpPr>
          <p:cNvPr id="97" name="Examples: Eppendorf / Thermo Fisher / JET Biofil">
            <a:extLst xmlns:a="http://schemas.openxmlformats.org/drawingml/2006/main">
              <a:ext uri="{FF2B5EF4-FFF2-40B4-BE49-F238E27FC236}">
                <a16:creationId xmlns:a16="http://schemas.microsoft.com/office/drawing/2014/main" id="{8EDBA407-3BA1-4830-B8AC-9460E1E46622}"/>
              </a:ext>
            </a:extLst>
          </p:cNvPr>
          <p:cNvSpPr>
            <a:spLocks xmlns:a="http://schemas.openxmlformats.org/drawingml/2006/main" noGrp="1"/>
          </p:cNvSpPr>
          <p:nvPr/>
        </p:nvSpPr>
        <p:spPr>
          <a:xfrm xmlns:a="http://schemas.openxmlformats.org/drawingml/2006/main">
            <a:off x="5486400" y="9220200"/>
            <a:ext cx="57150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0">
                <a:solidFill>
                  <a:srgbClr val="00355F"/>
                </a:solidFill>
                <a:latin typeface="Arial"/>
                <a:ea typeface="Arial"/>
                <a:cs typeface="Arial"/>
              </a:defRPr>
            </a:defPPr>
          </a:lstStyle>
          <a:p xmlns:a="http://schemas.openxmlformats.org/drawingml/2006/main">
            <a:pPr algn="l">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Examples: Eppendorf / Thermo Fisher / JET Biofil</a:t>
            </a:r>
          </a:p>
        </p:txBody>
      </p:sp>
      <p:pic>
        <p:nvPicPr>
          <p:cNvPr id="98" name="">
            <a:extLst xmlns:a="http://schemas.openxmlformats.org/drawingml/2006/main">
              <a:ext uri="{FF2B5EF4-FFF2-40B4-BE49-F238E27FC236}">
                <a16:creationId xmlns:a16="http://schemas.microsoft.com/office/drawing/2014/main" id="{464FBF92-6379-4B55-92A0-9FC94473B117}"/>
              </a:ext>
            </a:extLst>
          </p:cNvPr>
          <p:cNvPicPr>
            <a:picLocks xmlns:a="http://schemas.openxmlformats.org/drawingml/2006/main" noChangeAspect="1"/>
          </p:cNvPicPr>
          <p:nvPr/>
        </p:nvPicPr>
        <p:blipFill>
          <a:blip xmlns:r="http://schemas.openxmlformats.org/officeDocument/2006/relationships" xmlns:a="http://schemas.openxmlformats.org/drawingml/2006/main" r:embed="Reffaa91fc6a94448"/>
          <a:stretch xmlns:a="http://schemas.openxmlformats.org/drawingml/2006/main"/>
        </p:blipFill>
        <p:spPr>
          <a:xfrm xmlns:a="http://schemas.openxmlformats.org/drawingml/2006/main">
            <a:off x="5806440" y="9502140"/>
            <a:ext cx="502920" cy="251460"/>
          </a:xfrm>
          <a:prstGeom xmlns:a="http://schemas.openxmlformats.org/drawingml/2006/main" prst="rect">
            <a:avLst/>
          </a:prstGeom>
        </p:spPr>
      </p:pic>
      <p:sp>
        <p:nvSpPr>
          <p:cNvPr id="99" name="Output: a verified DNA construct">
            <a:extLst xmlns:a="http://schemas.openxmlformats.org/drawingml/2006/main">
              <a:ext uri="{FF2B5EF4-FFF2-40B4-BE49-F238E27FC236}">
                <a16:creationId xmlns:a16="http://schemas.microsoft.com/office/drawing/2014/main" id="{19E0E59E-0CBC-4BAE-814E-72C35D8DB8EA}"/>
              </a:ext>
            </a:extLst>
          </p:cNvPr>
          <p:cNvSpPr>
            <a:spLocks xmlns:a="http://schemas.openxmlformats.org/drawingml/2006/main" noGrp="1"/>
          </p:cNvSpPr>
          <p:nvPr/>
        </p:nvSpPr>
        <p:spPr>
          <a:xfrm xmlns:a="http://schemas.openxmlformats.org/drawingml/2006/main">
            <a:off x="12420600" y="9220200"/>
            <a:ext cx="51054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Output: a verified DNA construct</a:t>
            </a:r>
          </a:p>
        </p:txBody>
      </p:sp>
      <p:sp>
        <p:nvSpPr>
          <p:cNvPr id="100" name="Ready for downstream expression and assays">
            <a:extLst xmlns:a="http://schemas.openxmlformats.org/drawingml/2006/main">
              <a:ext uri="{FF2B5EF4-FFF2-40B4-BE49-F238E27FC236}">
                <a16:creationId xmlns:a16="http://schemas.microsoft.com/office/drawing/2014/main" id="{E66D38FA-75B9-4D6B-8DAA-4EA525467652}"/>
              </a:ext>
            </a:extLst>
          </p:cNvPr>
          <p:cNvSpPr>
            <a:spLocks xmlns:a="http://schemas.openxmlformats.org/drawingml/2006/main" noGrp="1"/>
          </p:cNvSpPr>
          <p:nvPr/>
        </p:nvSpPr>
        <p:spPr>
          <a:xfrm xmlns:a="http://schemas.openxmlformats.org/drawingml/2006/main">
            <a:off x="12420600" y="9525000"/>
            <a:ext cx="51054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0">
                <a:solidFill>
                  <a:srgbClr val="00355F"/>
                </a:solidFill>
                <a:latin typeface="Arial"/>
                <a:ea typeface="Arial"/>
                <a:cs typeface="Arial"/>
              </a:defRPr>
            </a:defPPr>
          </a:lstStyle>
          <a:p xmlns:a="http://schemas.openxmlformats.org/drawingml/2006/main">
            <a:pPr algn="l">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Ready for downstream expression and assays</a:t>
            </a:r>
          </a:p>
        </p:txBody>
      </p:sp>
      <p:sp>
        <p:nvSpPr>
          <p:cNvPr id="101" name="Generic illustration. Brands are alternatives. Numbers identify tool groups, not protocol steps. Sequencing may be outsourced. Sources: workflow/SOURCES.md.">
            <a:extLst xmlns:a="http://schemas.openxmlformats.org/drawingml/2006/main">
              <a:ext uri="{FF2B5EF4-FFF2-40B4-BE49-F238E27FC236}">
                <a16:creationId xmlns:a16="http://schemas.microsoft.com/office/drawing/2014/main" id="{1A7C5EF4-DFCE-45C3-BB2C-81D2649549EF}"/>
              </a:ext>
            </a:extLst>
          </p:cNvPr>
          <p:cNvSpPr>
            <a:spLocks xmlns:a="http://schemas.openxmlformats.org/drawingml/2006/main" noGrp="1"/>
          </p:cNvSpPr>
          <p:nvPr/>
        </p:nvSpPr>
        <p:spPr>
          <a:xfrm xmlns:a="http://schemas.openxmlformats.org/drawingml/2006/main">
            <a:off x="762000" y="9944100"/>
            <a:ext cx="1676400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Generic illustration. Brands are alternatives. Numbers identify tool groups, not protocol steps. Sequencing may be outsourced. Sources: workflow/SOURCES.md.</a:t>
            </a:r>
          </a:p>
        </p:txBody>
      </p:sp>
    </p:spTree>
    <p:extLst>
      <p:ext uri="{BB962C8B-B14F-4D97-AF65-F5344CB8AC3E}">
        <p14:creationId xmlns:p14="http://schemas.microsoft.com/office/powerpoint/2010/main" val="11483517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2026-10-15T08:15:17.7450000Z</dcterms:created>
  <dcterms:modified xsi:type="dcterms:W3CDTF">2026-10-15T08:15:17.7450000Z</dcterms:modified>
</coreProperties>
</file>