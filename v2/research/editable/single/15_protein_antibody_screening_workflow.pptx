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9b43d599274c2b" /><Relationship Type="http://schemas.openxmlformats.org/officeDocument/2006/relationships/extended-properties" Target="/docProps/app.xml" Id="R7ea2ab167ff9427f" /><Relationship Type="http://schemas.openxmlformats.org/officeDocument/2006/relationships/officeDocument" Target="/ppt/presentation.xml" Id="Ra21640c6106342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88ec6a40b545ee"/>
  </p:sldMasterIdLst>
  <p:notesMasterIdLst>
    <p:notesMasterId xmlns:r="http://schemas.openxmlformats.org/officeDocument/2006/relationships" r:id="Rc5ca5c28e5e24abf"/>
  </p:notesMasterIdLst>
  <p:sldIdLst>
    <p:sldId xmlns:r="http://schemas.openxmlformats.org/officeDocument/2006/relationships" id="256" r:id="Rafa23c4d25c84416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204f23dce54edc" /><Relationship Type="http://schemas.openxmlformats.org/officeDocument/2006/relationships/slideMaster" Target="/ppt/slideMasters/slideMaster1.xml" Id="Ra788ec6a40b545ee" /><Relationship Type="http://schemas.openxmlformats.org/officeDocument/2006/relationships/notesMaster" Target="/ppt/notesMasters/notesMaster1.xml" Id="Rc5ca5c28e5e24abf" /><Relationship Type="http://schemas.openxmlformats.org/officeDocument/2006/relationships/presProps" Target="/ppt/presProps.xml" Id="R930deff3dd224896" /><Relationship Type="http://schemas.openxmlformats.org/officeDocument/2006/relationships/tableStyles" Target="/ppt/tableStyles.xml" Id="Raea1793484c64849" /><Relationship Type="http://schemas.openxmlformats.org/officeDocument/2006/relationships/slide" Target="/ppt/slides/slide1.xml" Id="Rafa23c4d25c844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a7f7997f2246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f69ea54b6e4b70" /><Relationship Type="http://schemas.openxmlformats.org/officeDocument/2006/relationships/notesMaster" Target="/ppt/notesMasters/notesMaster1.xml" Id="R959a18d2d8da41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Protein / antibody screening workflow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Figure 15. English infographic. Flat experimental schematic revision, 15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Scope and interpretation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example follows sequence-defined antibody candidates against a protein target, from DNA constructs to physical samples, binding screens, characterization and cell function. It is a simplified logical workflow, not a mandatory six-step protocol. Target preparation and candidate expression can run in parallel; primary screens can use culture supernatant before full purification. Assays are chosen for the molecule, mechanism and program.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Stages 4–5 are highlighted as potential constraints on generating comparable, reproducible multi-property data for AI. This is an analytical hypothesis, not evidence that every program has these bottlenecks or that AI raises realized supplier revenue.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KD, kon and koff can come from the same binding experiment and appropriate kinetic model. Expression data originate during production. Epitope competition binning is not atomic-resolution epitope mapping. Stability, aggregation and polyreactivity require different assays; none is implied to be measured by SEC or LC-MS alone. Cell potency is assay-specific and does not establish clinical efficacy. The label panel is a linked record assembled across stages, not nine independent tests.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Instrumentation is shown separately from recurring inputs. Chromatography columns may be reused. Culture bags and bioreactors are scale-dependent. Shared sample preparation and shared assay readouts should be counted once in a procurement model. LIMS/ELN and orchestration are software systems. Data infrastructure supports the whole workflow, even though integration is shown as the sixth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Supplier lists are selected examples spanning reagents, instruments, consumables or services. A supplier listed beneath a stage is not asserted to supply every item in that stage. This is not a market-share ranking, endorsement or statement about installed systems in one laboratory.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Primary sources supporting the mappings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[GenScript — antibody production](https://www.genscript.com/custom-antibody-production-services.html?src=home): antibody production and purification services. [Gene-to-antibody workflow](https://www.genscript.com/high-throughput-antibody-purification.html): constructs, expression and purification.</a:t>
            </a:r>
          </a:p>
          <a:p xmlns:a="http://schemas.openxmlformats.org/drawingml/2006/main">
            <a:r>
              <a:t>2. [Twist — gene fragments](https://www.twistbioscience.com/products/genes/fragments): DNA fragments for construct generation. [Multiplexed gene fragments](https://investors.twistbioscience.com/news-releases/news-release-details/twist-bioscience-launches-multiplexed-gene-fragments-enable-high): applications include antibody discovery and protein engineering.</a:t>
            </a:r>
          </a:p>
          <a:p xmlns:a="http://schemas.openxmlformats.org/drawingml/2006/main">
            <a:r>
              <a:t>3. [ACROBiosystems — AIDD-Ready](https://www.acrobiosystems.com/aix/aidd-ready-solutions): target proteins; gene synthesis, CHO expression, expression quantification, binding screening, optional epitope and cell assays. [Services](https://www.acrobiosystems.com/services): protein and cellular services and characterization.</a:t>
            </a:r>
          </a:p>
          <a:p xmlns:a="http://schemas.openxmlformats.org/drawingml/2006/main">
            <a:r>
              <a:t>4. [Cytiva — antibody purification handbook](https://cdn.cytivalifesciences.com/api/public/content/digi-26798-pdf): antibody affinity purification and chromatography choices. [Handbooks](https://www.cytivalifesciences.com/en/us/support/handbooks): laboratory protein purification. ÄKTA is a Cytiva instrument family; FPLC denotes a chromatography technique.</a:t>
            </a:r>
          </a:p>
          <a:p xmlns:a="http://schemas.openxmlformats.org/drawingml/2006/main">
            <a:r>
              <a:t>5. [Sartorius — BLI](https://www.sartorius.com/en/products/biolayer-interferometry): binding kinetics, affinity, concentration, biosensors and epitope binning. [Epitope binning](https://www.sartorius.com/en/products/biolayer-interferometry/bli-resources/octet-cross-competition-epitope-binning-assays): cross-competition assays.</a:t>
            </a:r>
          </a:p>
          <a:p xmlns:a="http://schemas.openxmlformats.org/drawingml/2006/main">
            <a:r>
              <a:t>6. [NanoTemper — Prometheus Panta](https://nanotempertech.com/prometheus-panta/): nanoDSF and scattering measurements for stability and aggregation-related properties. [nanoDSF](https://nanotempertech.com/nanodsf/): thermal unfolding and the distinction between conformational and colloidal stability.</a:t>
            </a:r>
          </a:p>
          <a:p xmlns:a="http://schemas.openxmlformats.org/drawingml/2006/main">
            <a:r>
              <a:t>7. [NanoMicro — company business description](https://www.nanomicro.com/news/company/76): chromatography materials and analytical separation portfolio. [NanoChrom SEC catalog](https://www.nanochrom.com.cn/products_1/?ext_fenlimoshi=SEC&amp;show=selectproductlist): SEC products, previously inspected in the preceding research; not freshly accessible through the web reader on 13 October. NanoMicro exposure here is analytical separation and purification, not an assertion that research-scale assay growth immediately translates into manufacturing resin demand.</a:t>
            </a:r>
          </a:p>
          <a:p xmlns:a="http://schemas.openxmlformats.org/drawingml/2006/main">
            <a:r>
              <a:t>8. [Molecular Devices — cellular imaging](https://www.moleculardevices.com/products/cellular-imaging-systems): cell imaging platforms. [Antibody binding with high-content imaging](https://www.moleculardevices.com/en/assets/app-note/dd/img/homogeneous-antibody-binding-assays-with-high-content-imaging): cell-surface binding as an example distinct from a complete potency assay.</a:t>
            </a:r>
          </a:p>
          <a:p xmlns:a="http://schemas.openxmlformats.org/drawingml/2006/main">
            <a:r>
              <a:t>9. [Corning — life sciences](https://www.corning.com/worldwide/en/products/life-sciences.html): culture vessels and microplates.</a:t>
            </a:r>
          </a:p>
          <a:p xmlns:a="http://schemas.openxmlformats.org/drawingml/2006/main">
            <a:r>
              <a:t>10. [Waters Biosciences — flow cytometers](https://www.bdbiosciences.com/en-br/products/instruments/flow-cytometers): current portfolio naming. [Waters transaction disclosure](https://www.waters.com/nextgen/us/en/about-waters/corporate-governance/legal-and-privacy-notices/bdtransaction.html): combination with BD's Biosciences &amp; Diagnostic Solutions closed 9 February 2026. The slide therefore labels the former BD Biosciences portfolio as Waters Biosciences (ex-BD).</a:t>
            </a:r>
          </a:p>
          <a:p xmlns:a="http://schemas.openxmlformats.org/drawingml/2006/main">
            <a:r>
              <a:t>11. [Hamilton — applications](https://www.hamiltoncompany.com/applications): liquid handling and protein/cell workflow automation. [Tecan](https://www.tecan.com): liquid handling and laboratory automation.</a:t>
            </a:r>
          </a:p>
          <a:p xmlns:a="http://schemas.openxmlformats.org/drawingml/2006/main">
            <a:r>
              <a:t>12. [Benchling — biopharmaceutical R&amp;D](https://www.benchling.com/solutions/biopharmaceutical): ELN, LIMS and linked data. [Genedata Biologics](https://www.genedata.com/platform/biologics): molecule/sample tracking, screening records and characterization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Additional suppliers from the user's requested representative set are included as company-name examples consistent with their established product families: Tsingke and Vazyme (construction reagents/services); Thermo Fisher and Gibco (instruments, reagents and media); Sino Biological and Bioss (proteins/antibodies); OPM and Duoning (culture/bioprocess inputs); Waters, Agilent and Sepax (analytical separation); Bio-Techne (proteins and cellular assay reagents); JET Biofil (labware). Individual stock-keeping units are not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Original visual assets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Original artwork is embedded without redrawing, with aspect ratios preserved. Whitespace-trimmed versions already exist in this project's asset library. Company-name text labels are editable native text; original logo artwork remains an image. Logos remain images in the PowerPoint; all diagram text, frames and arrows are native editable objects.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Twist: https://www.twistbioscience.com/content/dam/twist-aem-migration/twist-home-logo.svg</a:t>
            </a:r>
          </a:p>
          <a:p xmlns:a="http://schemas.openxmlformats.org/drawingml/2006/main">
            <a:r>
              <a:t>- GenScript: https://www.genscript.com/gsimages/logo.jpg</a:t>
            </a:r>
          </a:p>
          <a:p xmlns:a="http://schemas.openxmlformats.org/drawingml/2006/main">
            <a:r>
              <a:t>- ACROBiosystems: https://console.acrobiosystems.com/public/images/LOGO-download.png</a:t>
            </a:r>
          </a:p>
          <a:p xmlns:a="http://schemas.openxmlformats.org/drawingml/2006/main">
            <a:r>
              <a:t>- Cytiva: https://massbioportalimages.blob.core.windows.net/massbioportalimages/a28b10cf8e90ea11a811000d3a33b4ee/Cytiva%20-%20Copy.png (previously archived logo from MassBio).</a:t>
            </a:r>
          </a:p>
          <a:p xmlns:a="http://schemas.openxmlformats.org/drawingml/2006/main">
            <a:r>
              <a:t>- NanoMicro emblem: https://www.nanomicro.com/Public/Cn/images/com_logo.svg (original emblem with a separate editable English company name).</a:t>
            </a:r>
          </a:p>
          <a:p xmlns:a="http://schemas.openxmlformats.org/drawingml/2006/main">
            <a:r>
              <a:t>- Tecan: https://www.tecan.com/hubfs/page_images/logo.png</a:t>
            </a:r>
          </a:p>
          <a:p xmlns:a="http://schemas.openxmlformats.org/drawingml/2006/main">
            <a:r>
              <a:t>- JET Biofil: https://image.makewebeasy.net/makeweb/m_1920x0/EtyBgz2ZO/Product_Brand/Jet_01.png?v=202012190947 (English original from distributor; previously archived).</a:t>
            </a:r>
          </a:p>
          <a:p xmlns:a="http://schemas.openxmlformats.org/drawingml/2006/main">
            <a:r>
              <a:t>- Lucide icons: https://github.com/lucide-icons/lucide — ISC license. DNA, flask, test tubes, microscope, pipette, database and bot. Icons retain original paths; stroke color is teal for the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market sizes, unit prices, empirical throughput values or company revenue forecasts are introduced in this figure.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Palette updated to the user's eight RGB colors on 13 October 2026. Original company marks retain their brand colors.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Flat experimental scenes (15 October 2026 revision)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six-card workflow is retained. Each card contains a small composition of editable flat vector shapes: a dispensing arm, multiwell plate and thermocycler; culture flask, medium, chromatography column and analytical MS; antibody, target, assay plate and binding platform; separation, thermal and kinetic readouts; cell dosing, flow and imaging; and linked records feeding the next design. These are generic scientific diagrams, not literal vendor models. No photorealistic or isometric artwork is used in the current Figure 15.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PCR supports construct amplification/assembly after DNA purchase; it is not labeled as de novo gene synthesis. LC-MS is labeled analytical QC after chromatographic purification, not the preparative purification device. Binding curves, peaks, cell dots and model nodes are illustrative; they are not measured datasets. The flow supplier is Waters Biosciences (ex-BD). Supplier groupings identify selected relevant product families, not complete stage coverage. Full item explanations are in `workflow-data.json` and the public `wetlab/` page.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current diagram components, company labels, frames, arrows and text are native editable PowerPoint shapes/text. No company logos are redrawn. The current figure uses text supplier names to keep the six scenes legible. The generation recipe is `generate_workflow.mjs`.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6e4c7724ff4a0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4dc819f7114cf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9a57d17a01418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96a7ecc4e94c3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909a431cd041a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42efa9628446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C05A56D-C22C-4D08-9D7A-FD2458BD6E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ED894A8-3AED-45D0-981D-FEAA0BD1C79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3DD92C0-D14B-42EE-8CCF-9E455D4BE1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845F54-D789-44D0-8BA8-EA15C39A1C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9B17289-F0C3-48A9-9DE6-8F49287FFB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7674CCA-0692-4715-AF84-D547B64CB5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53E6884-A514-40F4-BAC2-E7206FDBDC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823252C-12F1-4895-B0A7-664243C1207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A3F4312-0C77-4629-B688-97BE90CFC3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71B78EC-F0FA-4AFB-9DD6-2747DB7F45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9711c71b064298" /><Relationship Type="http://schemas.openxmlformats.org/officeDocument/2006/relationships/slideLayout" Target="/ppt/slideLayouts/slideLayout1.xml" Id="R0f97be58e29d4156" /><Relationship Type="http://schemas.openxmlformats.org/officeDocument/2006/relationships/slideLayout" Target="/ppt/slideLayouts/slideLayout2.xml" Id="R92a7217591104293" /><Relationship Type="http://schemas.openxmlformats.org/officeDocument/2006/relationships/slideLayout" Target="/ppt/slideLayouts/slideLayout3.xml" Id="Rf72760f0ad534744" /><Relationship Type="http://schemas.openxmlformats.org/officeDocument/2006/relationships/slideLayout" Target="/ppt/slideLayouts/slideLayout4.xml" Id="Rbb8ba74df2124e02" /><Relationship Type="http://schemas.openxmlformats.org/officeDocument/2006/relationships/slideLayout" Target="/ppt/slideLayouts/slideLayout5.xml" Id="R6410187220914424" /><Relationship Type="http://schemas.openxmlformats.org/officeDocument/2006/relationships/slideLayout" Target="/ppt/slideLayouts/slideLayout6.xml" Id="Rc355ee9a615046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97be58e29d4156"/>
    <p:sldLayoutId xmlns:r="http://schemas.openxmlformats.org/officeDocument/2006/relationships" id="2147483650" r:id="R92a7217591104293"/>
    <p:sldLayoutId xmlns:r="http://schemas.openxmlformats.org/officeDocument/2006/relationships" id="2147483651" r:id="Rf72760f0ad534744"/>
    <p:sldLayoutId xmlns:r="http://schemas.openxmlformats.org/officeDocument/2006/relationships" id="2147483652" r:id="Rbb8ba74df2124e02"/>
    <p:sldLayoutId xmlns:r="http://schemas.openxmlformats.org/officeDocument/2006/relationships" id="2147483653" r:id="R6410187220914424"/>
    <p:sldLayoutId xmlns:r="http://schemas.openxmlformats.org/officeDocument/2006/relationships" id="2147483654" r:id="Rc355ee9a615046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52424ebe50451d" /><Relationship Type="http://schemas.openxmlformats.org/officeDocument/2006/relationships/notesSlide" Target="/ppt/notesSlides/notesSlide1.xml" Id="Rfe71777ddd6444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6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C10FE36A-DF9A-4BA3-A247-D4E9861A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55F"/>
          </a:solidFill>
          <a:ln xmlns:a="http://schemas.openxmlformats.org/drawingml/2006/main" w="0">
            <a:noFill/>
          </a:ln>
        </p:spPr>
      </p:sp>
      <p:sp>
        <p:nvSpPr>
          <p:cNvPr id="2" name="Typical protein / antibody screening workflow">
            <a:extLst xmlns:a="http://schemas.openxmlformats.org/drawingml/2006/main">
              <a:ext uri="{FF2B5EF4-FFF2-40B4-BE49-F238E27FC236}">
                <a16:creationId xmlns:a16="http://schemas.microsoft.com/office/drawing/2014/main" id="{158003D5-D0A0-424F-9CC0-469A90C0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" y="449580"/>
            <a:ext cx="1645158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336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6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336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Typical protein / antibody screening workflow</a:t>
            </a:r>
          </a:p>
        </p:txBody>
      </p:sp>
      <p:sp>
        <p:nvSpPr>
          <p:cNvPr id="3" name="Flat experimental schematics: the tools, inputs and suppliers behind each step">
            <a:extLst xmlns:a="http://schemas.openxmlformats.org/drawingml/2006/main">
              <a:ext uri="{FF2B5EF4-FFF2-40B4-BE49-F238E27FC236}">
                <a16:creationId xmlns:a16="http://schemas.microsoft.com/office/drawing/2014/main" id="{DA6D4AFD-65C3-4E18-9199-E8AEE30C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" y="1066800"/>
            <a:ext cx="16451580" cy="327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1740" b="0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0" b="0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740" b="0">
                <a:solidFill>
                  <a:srgbClr val="00355F"/>
                </a:solidFill>
                <a:latin typeface="Arial"/>
                <a:ea typeface="Arial"/>
                <a:cs typeface="Arial"/>
              </a:rPr>
              <a:t>Flat experimental schematics: the tools, inputs and suppliers behind each step</a:t>
            </a:r>
          </a:p>
        </p:txBody>
      </p:sp>
      <p:sp>
        <p:nvSpPr>
          <p:cNvPr id="4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D3619AA6-0FB4-4050-AF7B-2ED98F96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16764000" cy="762"/>
          </a:xfrm>
          <a:custGeom xmlns:a="http://schemas.openxmlformats.org/drawingml/2006/main">
            <a:pathLst>
              <a:path w="16764000" h="762">
                <a:moveTo>
                  <a:pt x="0" y="0"/>
                </a:moveTo>
                <a:lnTo>
                  <a:pt x="1676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A5A5A5"/>
            </a:solidFill>
          </a:ln>
        </p:spPr>
      </p:sp>
      <p:sp>
        <p:nvSpPr>
          <p:cNvPr id="5" name="BUILD · Make physical samples">
            <a:extLst xmlns:a="http://schemas.openxmlformats.org/drawingml/2006/main">
              <a:ext uri="{FF2B5EF4-FFF2-40B4-BE49-F238E27FC236}">
                <a16:creationId xmlns:a16="http://schemas.microsoft.com/office/drawing/2014/main" id="{C2AE5CF5-C203-4535-9FFA-6DAD974D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13560"/>
            <a:ext cx="548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156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56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BUILD · Make physical samples</a:t>
            </a:r>
          </a:p>
        </p:txBody>
      </p:sp>
      <p:sp>
        <p:nvSpPr>
          <p:cNvPr id="6" name="TEST · Generate biological evidence">
            <a:extLst xmlns:a="http://schemas.openxmlformats.org/drawingml/2006/main">
              <a:ext uri="{FF2B5EF4-FFF2-40B4-BE49-F238E27FC236}">
                <a16:creationId xmlns:a16="http://schemas.microsoft.com/office/drawing/2014/main" id="{6F6C855A-B3D4-4E98-AE90-B728C3C1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13560"/>
            <a:ext cx="830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156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56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TEST · Generate biological evidence</a:t>
            </a:r>
          </a:p>
        </p:txBody>
      </p:sp>
      <p:sp>
        <p:nvSpPr>
          <p:cNvPr id="7" name="LEARN · Iterate">
            <a:extLst xmlns:a="http://schemas.openxmlformats.org/drawingml/2006/main">
              <a:ext uri="{FF2B5EF4-FFF2-40B4-BE49-F238E27FC236}">
                <a16:creationId xmlns:a16="http://schemas.microsoft.com/office/drawing/2014/main" id="{7D07690C-8AD1-4434-A5DC-2FD557BC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181356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156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56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LEARN · Iterate</a:t>
            </a:r>
          </a:p>
        </p:txBody>
      </p:sp>
      <p:sp>
        <p:nvSpPr>
          <p:cNvPr id="8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65F92FCF-3C91-469D-BCA7-980C8A67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9320"/>
            <a:ext cx="2667000" cy="6477000"/>
          </a:xfrm>
          <a:prstGeom xmlns:a="http://schemas.openxmlformats.org/drawingml/2006/main" prst="roundRect">
            <a:avLst>
              <a:gd name="adj" fmla="val 3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5A5A5"/>
            </a:solidFill>
          </a:ln>
        </p:spPr>
      </p:sp>
      <p:sp>
        <p:nvSpPr>
          <p:cNvPr id="9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DEA5FECF-B5F9-4CB7-AEE6-B095478C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9320"/>
            <a:ext cx="266700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55F"/>
          </a:solidFill>
          <a:ln xmlns:a="http://schemas.openxmlformats.org/drawingml/2006/main" w="0">
            <a:noFill/>
          </a:ln>
        </p:spPr>
      </p:sp>
      <p:sp>
        <p:nvSpPr>
          <p:cNvPr id="10" name="01 / BUILD">
            <a:extLst xmlns:a="http://schemas.openxmlformats.org/drawingml/2006/main">
              <a:ext uri="{FF2B5EF4-FFF2-40B4-BE49-F238E27FC236}">
                <a16:creationId xmlns:a16="http://schemas.microsoft.com/office/drawing/2014/main" id="{1CF25FFB-A3EF-4B65-A38E-235FDB40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2385060"/>
            <a:ext cx="23317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114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14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01 / BUILD</a:t>
            </a:r>
          </a:p>
        </p:txBody>
      </p:sp>
      <p:sp>
        <p:nvSpPr>
          <p:cNvPr id="11" name="Construct design /">
            <a:extLst xmlns:a="http://schemas.openxmlformats.org/drawingml/2006/main">
              <a:ext uri="{FF2B5EF4-FFF2-40B4-BE49-F238E27FC236}">
                <a16:creationId xmlns:a16="http://schemas.microsoft.com/office/drawing/2014/main" id="{6DF9C63D-F931-45DA-AAF2-5508ED8F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2697480"/>
            <a:ext cx="233172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180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Construct design /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DNA synthesis</a:t>
            </a:r>
          </a:p>
        </p:txBody>
      </p:sp>
      <p:sp>
        <p:nvSpPr>
          <p:cNvPr id="12" name="Make DNA constructs">
            <a:extLst xmlns:a="http://schemas.openxmlformats.org/drawingml/2006/main">
              <a:ext uri="{FF2B5EF4-FFF2-40B4-BE49-F238E27FC236}">
                <a16:creationId xmlns:a16="http://schemas.microsoft.com/office/drawing/2014/main" id="{1440230D-13D6-44E9-B47E-0E243021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3329940"/>
            <a:ext cx="233172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1260" b="0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0" b="0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260" b="0">
                <a:solidFill>
                  <a:srgbClr val="00355F"/>
                </a:solidFill>
                <a:latin typeface="Arial"/>
                <a:ea typeface="Arial"/>
                <a:cs typeface="Arial"/>
              </a:rPr>
              <a:t>Make DNA constructs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60" b="0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260" b="0">
                <a:solidFill>
                  <a:srgbClr val="00355F"/>
                </a:solidFill>
                <a:latin typeface="Arial"/>
                <a:ea typeface="Arial"/>
                <a:cs typeface="Arial"/>
              </a:rPr>
              <a:t>for the selected candidates</a:t>
            </a:r>
          </a:p>
        </p:txBody>
      </p:sp>
      <p:sp>
        <p:nvSpPr>
          <p:cNvPr id="13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0BA3F02B-1E95-4E86-B2DE-FB112B3A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924300"/>
            <a:ext cx="2453640" cy="2682240"/>
          </a:xfrm>
          <a:prstGeom xmlns:a="http://schemas.openxmlformats.org/drawingml/2006/main" prst="roundRect">
            <a:avLst>
              <a:gd name="adj" fmla="val 3106"/>
            </a:avLst>
          </a:prstGeom>
          <a:solidFill xmlns:a="http://schemas.openxmlformats.org/drawingml/2006/main">
            <a:srgbClr val="F0F7FC"/>
          </a:solidFill>
          <a:ln xmlns:a="http://schemas.openxmlformats.org/drawingml/2006/main" w="0">
            <a:noFill/>
          </a:ln>
        </p:spPr>
      </p:sp>
      <p:sp>
        <p:nvSpPr>
          <p:cNvPr id="14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37BF8184-683C-4C78-94B9-46142A28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4526280"/>
            <a:ext cx="327660" cy="36576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ACD4F1"/>
          </a:solidFill>
          <a:ln xmlns:a="http://schemas.openxmlformats.org/drawingml/2006/main" w="15240">
            <a:solidFill>
              <a:srgbClr val="00355F"/>
            </a:solidFill>
          </a:ln>
        </p:spPr>
      </p:sp>
      <p:sp>
        <p:nvSpPr>
          <p:cNvPr id="15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CE59B568-76C0-4FCC-8954-5E9B4B87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" y="4861560"/>
            <a:ext cx="480060" cy="9906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7399C6"/>
          </a:solidFill>
          <a:ln xmlns:a="http://schemas.openxmlformats.org/drawingml/2006/main" w="15240">
            <a:solidFill>
              <a:srgbClr val="00355F"/>
            </a:solidFill>
          </a:ln>
        </p:spPr>
      </p:sp>
      <p:sp>
        <p:nvSpPr>
          <p:cNvPr id="16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6BE98B51-DA0E-4AEA-AF3E-433A0370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" y="4221480"/>
            <a:ext cx="670560" cy="601980"/>
          </a:xfrm>
          <a:custGeom xmlns:a="http://schemas.openxmlformats.org/drawingml/2006/main">
            <a:pathLst>
              <a:path w="670560" h="601980">
                <a:moveTo>
                  <a:pt x="0" y="312420"/>
                </a:moveTo>
                <a:lnTo>
                  <a:pt x="259080" y="0"/>
                </a:lnTo>
                <a:lnTo>
                  <a:pt x="647700" y="220980"/>
                </a:lnTo>
                <a:lnTo>
                  <a:pt x="670560" y="601980"/>
                </a:lnTo>
              </a:path>
            </a:pathLst>
          </a:custGeom>
          <a:noFill xmlns:a="http://schemas.openxmlformats.org/drawingml/2006/main"/>
          <a:ln xmlns:a="http://schemas.openxmlformats.org/drawingml/2006/main" w="106680">
            <a:solidFill>
              <a:srgbClr val="00355F"/>
            </a:solidFill>
          </a:ln>
        </p:spPr>
      </p:sp>
      <p:sp>
        <p:nvSpPr>
          <p:cNvPr id="17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8CE51E57-46EE-42B1-AC72-FF0BA86C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" y="4221480"/>
            <a:ext cx="670560" cy="601980"/>
          </a:xfrm>
          <a:custGeom xmlns:a="http://schemas.openxmlformats.org/drawingml/2006/main">
            <a:pathLst>
              <a:path w="670560" h="601980">
                <a:moveTo>
                  <a:pt x="0" y="312420"/>
                </a:moveTo>
                <a:lnTo>
                  <a:pt x="259080" y="0"/>
                </a:lnTo>
                <a:lnTo>
                  <a:pt x="647700" y="220980"/>
                </a:lnTo>
                <a:lnTo>
                  <a:pt x="670560" y="601980"/>
                </a:lnTo>
              </a:path>
            </a:pathLst>
          </a:custGeom>
          <a:noFill xmlns:a="http://schemas.openxmlformats.org/drawingml/2006/main"/>
          <a:ln xmlns:a="http://schemas.openxmlformats.org/drawingml/2006/main" w="60960">
            <a:solidFill>
              <a:srgbClr val="ACD4F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9D4317-663E-42D8-89AB-8EC87F6F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" y="4472940"/>
            <a:ext cx="121920" cy="121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15240">
            <a:solidFill>
              <a:srgbClr val="00355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3E4381-609B-4676-A5F8-0AEFBFEC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60520"/>
            <a:ext cx="121920" cy="121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15240">
            <a:solidFill>
              <a:srgbClr val="00355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D58334-EDF6-4733-9881-A1227AD0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220" y="4381500"/>
            <a:ext cx="121920" cy="121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15240">
            <a:solidFill>
              <a:srgbClr val="00355F"/>
            </a:solidFill>
          </a:ln>
        </p:spPr>
      </p:sp>
      <p:sp>
        <p:nvSpPr>
          <p:cNvPr id="21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F81E1C85-DD5E-4A2C-823D-B5880103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5460" y="4770120"/>
            <a:ext cx="13716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355F"/>
            </a:solidFill>
          </a:ln>
        </p:spPr>
      </p:sp>
      <p:sp>
        <p:nvSpPr>
          <p:cNvPr id="22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EE660A56-B97D-43EA-9FA1-C81B3E0C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040" y="4953000"/>
            <a:ext cx="762" cy="121920"/>
          </a:xfrm>
          <a:custGeom xmlns:a="http://schemas.openxmlformats.org/drawingml/2006/main">
            <a:pathLst>
              <a:path w="762" h="121920">
                <a:moveTo>
                  <a:pt x="0" y="0"/>
                </a:moveTo>
                <a:lnTo>
                  <a:pt x="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355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AF9589-F8A0-4B89-906E-5C4594C5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3560" y="512064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24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FEB38E6C-6424-4ED6-8742-7E478709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280660"/>
            <a:ext cx="1112520" cy="594360"/>
          </a:xfrm>
          <a:prstGeom xmlns:a="http://schemas.openxmlformats.org/drawingml/2006/main" prst="roundRect">
            <a:avLst>
              <a:gd name="adj" fmla="val 8974"/>
            </a:avLst>
          </a:prstGeom>
          <a:solidFill xmlns:a="http://schemas.openxmlformats.org/drawingml/2006/main">
            <a:srgbClr val="ACD4F1"/>
          </a:solidFill>
          <a:ln xmlns:a="http://schemas.openxmlformats.org/drawingml/2006/main" w="15240">
            <a:solidFill>
              <a:srgbClr val="00355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7D3A57-67E1-4378-9972-A1CF4B93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372" y="533857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4B0167-B81E-4F9A-8298-7190751F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01" y="533857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1DEC68-84A3-4FFC-ABD6-9E030EFA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629" y="533857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517B9E-0E5A-459C-8A87-7C137A4D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258" y="533857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B1DDF5-2E49-4676-8739-E4C01223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886" y="533857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93F1DD-21D1-44E7-AAA2-F76AF869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515" y="533857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4E3A89-0281-486C-9D01-17B9C5D0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143" y="533857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DEED2C-E4CF-431E-8DA8-25F6BE7A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5772" y="533857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DA7FF3-B5AB-4AE6-BFE0-0D7A91B1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372" y="547573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E565BE-F409-4770-A485-DEEF6132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01" y="547573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E682BF-6226-4521-BE73-B4C0A118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629" y="547573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37DFE9-4F15-49A9-8908-72530334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258" y="547573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1C0E09-28C1-4480-87D4-E7063782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886" y="547573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548164-8A18-46DE-911F-C60CFB30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515" y="547573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8E6D09-A5EB-4386-B5AD-001CB3DE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143" y="547573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63F3334-C91A-4897-98C4-7C02F3F4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5772" y="547573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D23423-F174-4327-8295-FEE392B9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372" y="561289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FD1031C-276B-4093-B7C4-5B824861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01" y="561289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B8748CF-5A1C-4935-8962-BCD6710C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629" y="561289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311692D-AACD-4AC1-BECE-AEA12BF7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258" y="561289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B2ED473-3C4F-40E5-BAF5-4D754126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886" y="561289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9998A1F-B825-4B39-B37D-13C4ECA2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515" y="561289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2B775C8-FF57-4649-92A1-17231B79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143" y="561289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F6D87C9-333A-49D1-B90E-C3D88B99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5772" y="561289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8F6B7F9-DCE8-4824-A540-793541CE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372" y="575005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C730560-CA60-4C6F-8809-EFED143F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01" y="575005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E72F37E-C234-4388-89B5-09AF1AE7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629" y="575005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A1C0B01-02D9-4AE5-B322-3560574E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258" y="575005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5F6E843-0D33-4D9C-B0FC-E923E14C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886" y="575005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0F21C5A-DCF2-4DED-8169-CA7F05FB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515" y="575005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DA62698-086A-4DF9-BFB2-B83DE42F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143" y="575005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ABF79B1-F4B5-47B4-9A0E-3F94B72F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5772" y="575005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57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C9B7B926-A2CB-4ED4-BB90-057A428E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240" y="5036820"/>
            <a:ext cx="929640" cy="8382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355F"/>
            </a:solidFill>
          </a:ln>
        </p:spPr>
      </p:sp>
      <p:sp>
        <p:nvSpPr>
          <p:cNvPr id="58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9803070D-8157-464C-BB2C-BAA1CD67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5113020"/>
            <a:ext cx="777240" cy="28194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ACD4F1"/>
          </a:solidFill>
          <a:ln xmlns:a="http://schemas.openxmlformats.org/drawingml/2006/main" w="12954">
            <a:solidFill>
              <a:srgbClr val="00355F"/>
            </a:solidFill>
          </a:ln>
        </p:spPr>
      </p:sp>
      <p:sp>
        <p:nvSpPr>
          <p:cNvPr id="59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B52B16C9-75F5-4C8F-A957-7072A0C3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020" y="5204460"/>
            <a:ext cx="640080" cy="762"/>
          </a:xfrm>
          <a:custGeom xmlns:a="http://schemas.openxmlformats.org/drawingml/2006/main">
            <a:pathLst>
              <a:path w="640080" h="762">
                <a:moveTo>
                  <a:pt x="0" y="0"/>
                </a:moveTo>
                <a:lnTo>
                  <a:pt x="6400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7399C6"/>
            </a:solidFill>
          </a:ln>
        </p:spPr>
      </p:sp>
      <p:sp>
        <p:nvSpPr>
          <p:cNvPr id="60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8F2068A8-171D-49E2-908A-07D280A2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5494020"/>
            <a:ext cx="396240" cy="19812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0355F"/>
          </a:solidFill>
          <a:ln xmlns:a="http://schemas.openxmlformats.org/drawingml/2006/main" w="0">
            <a:noFill/>
          </a:ln>
        </p:spPr>
      </p:sp>
      <p:sp>
        <p:nvSpPr>
          <p:cNvPr id="61" name="PCR">
            <a:extLst xmlns:a="http://schemas.openxmlformats.org/drawingml/2006/main">
              <a:ext uri="{FF2B5EF4-FFF2-40B4-BE49-F238E27FC236}">
                <a16:creationId xmlns:a16="http://schemas.microsoft.com/office/drawing/2014/main" id="{C8AD61DE-C26A-4373-90A4-BF739E12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020" y="5524500"/>
            <a:ext cx="35052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96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6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6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PCR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F52CAAF-78DC-46BA-B453-629E9124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24500"/>
            <a:ext cx="121920" cy="121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CD4F1"/>
          </a:solidFill>
          <a:ln xmlns:a="http://schemas.openxmlformats.org/drawingml/2006/main" w="15240">
            <a:solidFill>
              <a:srgbClr val="00355F"/>
            </a:solidFill>
          </a:ln>
        </p:spPr>
      </p:sp>
      <p:sp>
        <p:nvSpPr>
          <p:cNvPr id="63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B3471A9C-CE29-44BA-A68F-A5CFE0DF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5783580"/>
            <a:ext cx="777240" cy="762"/>
          </a:xfrm>
          <a:custGeom xmlns:a="http://schemas.openxmlformats.org/drawingml/2006/main">
            <a:pathLst>
              <a:path w="777240" h="762">
                <a:moveTo>
                  <a:pt x="0" y="0"/>
                </a:moveTo>
                <a:lnTo>
                  <a:pt x="7772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7399C6"/>
            </a:solidFill>
          </a:ln>
        </p:spPr>
      </p:sp>
      <p:sp>
        <p:nvSpPr>
          <p:cNvPr id="64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55711BD8-C98E-4B76-85D7-2F35797A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780" y="4221480"/>
            <a:ext cx="175260" cy="6858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7399C6"/>
          </a:solidFill>
          <a:ln xmlns:a="http://schemas.openxmlformats.org/drawingml/2006/main" w="13716">
            <a:solidFill>
              <a:srgbClr val="00355F"/>
            </a:solidFill>
          </a:ln>
        </p:spPr>
      </p:sp>
      <p:sp>
        <p:nvSpPr>
          <p:cNvPr id="65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D4C71CF0-8B1B-4C0C-BA96-AF888272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3640" y="4290060"/>
            <a:ext cx="129540" cy="350520"/>
          </a:xfrm>
          <a:custGeom xmlns:a="http://schemas.openxmlformats.org/drawingml/2006/main">
            <a:pathLst>
              <a:path w="129540" h="350520">
                <a:moveTo>
                  <a:pt x="0" y="0"/>
                </a:moveTo>
                <a:lnTo>
                  <a:pt x="129540" y="0"/>
                </a:lnTo>
                <a:lnTo>
                  <a:pt x="129540" y="251460"/>
                </a:lnTo>
                <a:lnTo>
                  <a:pt x="68580" y="350520"/>
                </a:lnTo>
                <a:lnTo>
                  <a:pt x="0" y="25146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355F"/>
            </a:solidFill>
          </a:ln>
        </p:spPr>
      </p:sp>
      <p:sp>
        <p:nvSpPr>
          <p:cNvPr id="66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2C354142-E0B4-4242-9C50-D84F3B0F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4439412"/>
            <a:ext cx="99060" cy="170688"/>
          </a:xfrm>
          <a:custGeom xmlns:a="http://schemas.openxmlformats.org/drawingml/2006/main">
            <a:pathLst>
              <a:path w="99060" h="170688">
                <a:moveTo>
                  <a:pt x="0" y="0"/>
                </a:moveTo>
                <a:lnTo>
                  <a:pt x="99060" y="0"/>
                </a:lnTo>
                <a:lnTo>
                  <a:pt x="99060" y="94488"/>
                </a:lnTo>
                <a:lnTo>
                  <a:pt x="53340" y="170688"/>
                </a:lnTo>
                <a:lnTo>
                  <a:pt x="0" y="94488"/>
                </a:lnTo>
                <a:close/>
              </a:path>
            </a:pathLst>
          </a:custGeom>
          <a:solidFill xmlns:a="http://schemas.openxmlformats.org/drawingml/2006/main">
            <a:srgbClr val="ACD4F1"/>
          </a:solidFill>
          <a:ln xmlns:a="http://schemas.openxmlformats.org/drawingml/2006/main" w="0">
            <a:noFill/>
          </a:ln>
        </p:spPr>
      </p:sp>
      <p:sp>
        <p:nvSpPr>
          <p:cNvPr id="67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A1454B9F-08CE-4C27-9DD5-DBB2A8B4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4221480"/>
            <a:ext cx="175260" cy="6858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7399C6"/>
          </a:solidFill>
          <a:ln xmlns:a="http://schemas.openxmlformats.org/drawingml/2006/main" w="13716">
            <a:solidFill>
              <a:srgbClr val="00355F"/>
            </a:solidFill>
          </a:ln>
        </p:spPr>
      </p:sp>
      <p:sp>
        <p:nvSpPr>
          <p:cNvPr id="68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6C90898B-0139-4D30-9019-35720242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340" y="4290060"/>
            <a:ext cx="129540" cy="350520"/>
          </a:xfrm>
          <a:custGeom xmlns:a="http://schemas.openxmlformats.org/drawingml/2006/main">
            <a:pathLst>
              <a:path w="129540" h="350520">
                <a:moveTo>
                  <a:pt x="0" y="0"/>
                </a:moveTo>
                <a:lnTo>
                  <a:pt x="129540" y="0"/>
                </a:lnTo>
                <a:lnTo>
                  <a:pt x="129540" y="251460"/>
                </a:lnTo>
                <a:lnTo>
                  <a:pt x="68580" y="350520"/>
                </a:lnTo>
                <a:lnTo>
                  <a:pt x="0" y="25146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355F"/>
            </a:solidFill>
          </a:ln>
        </p:spPr>
      </p:sp>
      <p:sp>
        <p:nvSpPr>
          <p:cNvPr id="69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D6B05B2E-DC47-47EA-A188-A51F7B1D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580" y="4439412"/>
            <a:ext cx="99060" cy="170688"/>
          </a:xfrm>
          <a:custGeom xmlns:a="http://schemas.openxmlformats.org/drawingml/2006/main">
            <a:pathLst>
              <a:path w="99060" h="170688">
                <a:moveTo>
                  <a:pt x="0" y="0"/>
                </a:moveTo>
                <a:lnTo>
                  <a:pt x="99060" y="0"/>
                </a:lnTo>
                <a:lnTo>
                  <a:pt x="99060" y="94488"/>
                </a:lnTo>
                <a:lnTo>
                  <a:pt x="53340" y="170688"/>
                </a:lnTo>
                <a:lnTo>
                  <a:pt x="0" y="94488"/>
                </a:lnTo>
                <a:close/>
              </a:path>
            </a:pathLst>
          </a:custGeom>
          <a:solidFill xmlns:a="http://schemas.openxmlformats.org/drawingml/2006/main">
            <a:srgbClr val="078549"/>
          </a:solidFill>
          <a:ln xmlns:a="http://schemas.openxmlformats.org/drawingml/2006/main" w="0">
            <a:noFill/>
          </a:ln>
        </p:spPr>
      </p:sp>
      <p:sp>
        <p:nvSpPr>
          <p:cNvPr id="70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A517D465-6A3E-4656-B999-95F25D65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4180" y="4221480"/>
            <a:ext cx="175260" cy="6858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7399C6"/>
          </a:solidFill>
          <a:ln xmlns:a="http://schemas.openxmlformats.org/drawingml/2006/main" w="13716">
            <a:solidFill>
              <a:srgbClr val="00355F"/>
            </a:solidFill>
          </a:ln>
        </p:spPr>
      </p:sp>
      <p:sp>
        <p:nvSpPr>
          <p:cNvPr id="71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C96E103B-A803-4C46-AAFF-5BBD3C8A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040" y="4290060"/>
            <a:ext cx="129540" cy="350520"/>
          </a:xfrm>
          <a:custGeom xmlns:a="http://schemas.openxmlformats.org/drawingml/2006/main">
            <a:pathLst>
              <a:path w="129540" h="350520">
                <a:moveTo>
                  <a:pt x="0" y="0"/>
                </a:moveTo>
                <a:lnTo>
                  <a:pt x="129540" y="0"/>
                </a:lnTo>
                <a:lnTo>
                  <a:pt x="129540" y="251460"/>
                </a:lnTo>
                <a:lnTo>
                  <a:pt x="68580" y="350520"/>
                </a:lnTo>
                <a:lnTo>
                  <a:pt x="0" y="25146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355F"/>
            </a:solidFill>
          </a:ln>
        </p:spPr>
      </p:sp>
      <p:sp>
        <p:nvSpPr>
          <p:cNvPr id="72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6498D15B-3B9F-448B-A7FA-C0041C49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280" y="4439412"/>
            <a:ext cx="99060" cy="170688"/>
          </a:xfrm>
          <a:custGeom xmlns:a="http://schemas.openxmlformats.org/drawingml/2006/main">
            <a:pathLst>
              <a:path w="99060" h="170688">
                <a:moveTo>
                  <a:pt x="0" y="0"/>
                </a:moveTo>
                <a:lnTo>
                  <a:pt x="99060" y="0"/>
                </a:lnTo>
                <a:lnTo>
                  <a:pt x="99060" y="94488"/>
                </a:lnTo>
                <a:lnTo>
                  <a:pt x="53340" y="170688"/>
                </a:lnTo>
                <a:lnTo>
                  <a:pt x="0" y="94488"/>
                </a:lnTo>
                <a:close/>
              </a:path>
            </a:pathLst>
          </a:custGeom>
          <a:solidFill xmlns:a="http://schemas.openxmlformats.org/drawingml/2006/main">
            <a:srgbClr val="ACD4F1"/>
          </a:solidFill>
          <a:ln xmlns:a="http://schemas.openxmlformats.org/drawingml/2006/main" w="0">
            <a:noFill/>
          </a:ln>
        </p:spPr>
      </p:sp>
      <p:sp>
        <p:nvSpPr>
          <p:cNvPr id="73" name="DNA + enzymes">
            <a:extLst xmlns:a="http://schemas.openxmlformats.org/drawingml/2006/main">
              <a:ext uri="{FF2B5EF4-FFF2-40B4-BE49-F238E27FC236}">
                <a16:creationId xmlns:a16="http://schemas.microsoft.com/office/drawing/2014/main" id="{C7EBD385-D7A5-403A-8DA0-13EA9C3D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9320" y="471678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08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08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08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DNA + enzymes</a:t>
            </a:r>
          </a:p>
        </p:txBody>
      </p:sp>
      <p:sp>
        <p:nvSpPr>
          <p:cNvPr id="74" name="Liquid handling">
            <a:extLst xmlns:a="http://schemas.openxmlformats.org/drawingml/2006/main">
              <a:ext uri="{FF2B5EF4-FFF2-40B4-BE49-F238E27FC236}">
                <a16:creationId xmlns:a16="http://schemas.microsoft.com/office/drawing/2014/main" id="{9A2EFAFB-9511-4A8E-A60D-605C60E8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57900"/>
            <a:ext cx="130302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08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08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08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Liquid handling</a:t>
            </a:r>
          </a:p>
        </p:txBody>
      </p:sp>
      <p:sp>
        <p:nvSpPr>
          <p:cNvPr id="75" name="PCR">
            <a:extLst xmlns:a="http://schemas.openxmlformats.org/drawingml/2006/main">
              <a:ext uri="{FF2B5EF4-FFF2-40B4-BE49-F238E27FC236}">
                <a16:creationId xmlns:a16="http://schemas.microsoft.com/office/drawing/2014/main" id="{026C3CED-6C2B-4A8C-BE87-3BE42D76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0760" y="605790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08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08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08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PCR</a:t>
            </a:r>
          </a:p>
        </p:txBody>
      </p:sp>
      <p:sp>
        <p:nvSpPr>
          <p:cNvPr id="76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02104AC8-969E-4C90-8CCA-9E47ED47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58940"/>
            <a:ext cx="2362200" cy="37338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ACD4F1"/>
          </a:solidFill>
          <a:ln xmlns:a="http://schemas.openxmlformats.org/drawingml/2006/main" w="0">
            <a:noFill/>
          </a:ln>
        </p:spPr>
      </p:sp>
      <p:sp>
        <p:nvSpPr>
          <p:cNvPr id="77" name="Sequence-verified DNA">
            <a:extLst xmlns:a="http://schemas.openxmlformats.org/drawingml/2006/main">
              <a:ext uri="{FF2B5EF4-FFF2-40B4-BE49-F238E27FC236}">
                <a16:creationId xmlns:a16="http://schemas.microsoft.com/office/drawing/2014/main" id="{7D9EE63F-4420-434F-AACD-86BA6D98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" y="6858000"/>
            <a:ext cx="2225040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20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Sequence-verified DNA</a:t>
            </a:r>
          </a:p>
        </p:txBody>
      </p:sp>
      <p:sp>
        <p:nvSpPr>
          <p:cNvPr id="78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60F0F0EE-72F9-4F67-B976-4D73B702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7284720"/>
            <a:ext cx="2331720" cy="762"/>
          </a:xfrm>
          <a:custGeom xmlns:a="http://schemas.openxmlformats.org/drawingml/2006/main">
            <a:pathLst>
              <a:path w="2331720" h="762">
                <a:moveTo>
                  <a:pt x="0" y="0"/>
                </a:moveTo>
                <a:lnTo>
                  <a:pt x="23317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A5A5A5"/>
            </a:solidFill>
          </a:ln>
        </p:spPr>
      </p:sp>
      <p:sp>
        <p:nvSpPr>
          <p:cNvPr id="79" name="REPRESENTATIVE SUPPLIERS">
            <a:extLst xmlns:a="http://schemas.openxmlformats.org/drawingml/2006/main">
              <a:ext uri="{FF2B5EF4-FFF2-40B4-BE49-F238E27FC236}">
                <a16:creationId xmlns:a16="http://schemas.microsoft.com/office/drawing/2014/main" id="{003AB648-8BF7-4435-A6FE-E50962E9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7437120"/>
            <a:ext cx="233172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90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REPRESENTATIVE SUPPLIERS</a:t>
            </a:r>
          </a:p>
        </p:txBody>
      </p:sp>
      <p:sp>
        <p:nvSpPr>
          <p:cNvPr id="80" name="DNA + enzymes">
            <a:extLst xmlns:a="http://schemas.openxmlformats.org/drawingml/2006/main">
              <a:ext uri="{FF2B5EF4-FFF2-40B4-BE49-F238E27FC236}">
                <a16:creationId xmlns:a16="http://schemas.microsoft.com/office/drawing/2014/main" id="{CE839BFF-B1EF-4441-AC89-0737BB1B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7703820"/>
            <a:ext cx="2331720" cy="175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900" b="1">
                <a:solidFill>
                  <a:srgbClr val="7399C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7399C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399C6"/>
                </a:solidFill>
                <a:latin typeface="Arial"/>
                <a:ea typeface="Arial"/>
                <a:cs typeface="Arial"/>
              </a:rPr>
              <a:t>DNA + enzymes</a:t>
            </a:r>
          </a:p>
        </p:txBody>
      </p:sp>
      <p:sp>
        <p:nvSpPr>
          <p:cNvPr id="81" name="Twist · GenScript · Vazyme">
            <a:extLst xmlns:a="http://schemas.openxmlformats.org/drawingml/2006/main">
              <a:ext uri="{FF2B5EF4-FFF2-40B4-BE49-F238E27FC236}">
                <a16:creationId xmlns:a16="http://schemas.microsoft.com/office/drawing/2014/main" id="{FD12126E-2530-45D6-8B1D-48A521A8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7871460"/>
            <a:ext cx="23317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1020" b="0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20" b="0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020" b="0">
                <a:solidFill>
                  <a:srgbClr val="00355F"/>
                </a:solidFill>
                <a:latin typeface="Arial"/>
                <a:ea typeface="Arial"/>
                <a:cs typeface="Arial"/>
              </a:rPr>
              <a:t>Twist · GenScript · Vazyme</a:t>
            </a:r>
          </a:p>
        </p:txBody>
      </p:sp>
      <p:sp>
        <p:nvSpPr>
          <p:cNvPr id="82" name="Liquid handling / PCR">
            <a:extLst xmlns:a="http://schemas.openxmlformats.org/drawingml/2006/main">
              <a:ext uri="{FF2B5EF4-FFF2-40B4-BE49-F238E27FC236}">
                <a16:creationId xmlns:a16="http://schemas.microsoft.com/office/drawing/2014/main" id="{A257D386-52CC-4F1C-891D-C91E6207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8122920"/>
            <a:ext cx="2331720" cy="175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900" b="1">
                <a:solidFill>
                  <a:srgbClr val="7399C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7399C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399C6"/>
                </a:solidFill>
                <a:latin typeface="Arial"/>
                <a:ea typeface="Arial"/>
                <a:cs typeface="Arial"/>
              </a:rPr>
              <a:t>Liquid handling / PCR</a:t>
            </a:r>
          </a:p>
        </p:txBody>
      </p:sp>
      <p:sp>
        <p:nvSpPr>
          <p:cNvPr id="83" name="Tecan · Hamilton · Thermo Fisher">
            <a:extLst xmlns:a="http://schemas.openxmlformats.org/drawingml/2006/main">
              <a:ext uri="{FF2B5EF4-FFF2-40B4-BE49-F238E27FC236}">
                <a16:creationId xmlns:a16="http://schemas.microsoft.com/office/drawing/2014/main" id="{8C734E61-B753-486F-AFD4-8C95EBFE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8290560"/>
            <a:ext cx="23317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1020" b="0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20" b="0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020" b="0">
                <a:solidFill>
                  <a:srgbClr val="00355F"/>
                </a:solidFill>
                <a:latin typeface="Arial"/>
                <a:ea typeface="Arial"/>
                <a:cs typeface="Arial"/>
              </a:rPr>
              <a:t>Tecan · Hamilton · Thermo Fisher</a:t>
            </a:r>
          </a:p>
        </p:txBody>
      </p:sp>
      <p:sp>
        <p:nvSpPr>
          <p:cNvPr id="84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D7AB9114-3C7D-4842-B86D-D823E2AD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4240" y="5090160"/>
            <a:ext cx="114300" cy="762"/>
          </a:xfrm>
          <a:custGeom xmlns:a="http://schemas.openxmlformats.org/drawingml/2006/main">
            <a:pathLst>
              <a:path w="114300" h="762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00355F"/>
            </a:solidFill>
          </a:ln>
        </p:spPr>
      </p:sp>
      <p:sp>
        <p:nvSpPr>
          <p:cNvPr id="85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53F597BE-448E-467C-85AE-EC7183C3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074" y="5054314"/>
            <a:ext cx="58466" cy="71692"/>
          </a:xfrm>
          <a:custGeom xmlns:a="http://schemas.openxmlformats.org/drawingml/2006/main">
            <a:pathLst>
              <a:path w="58466" h="71692">
                <a:moveTo>
                  <a:pt x="58466" y="35846"/>
                </a:moveTo>
                <a:lnTo>
                  <a:pt x="0" y="716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355F"/>
          </a:solidFill>
          <a:ln xmlns:a="http://schemas.openxmlformats.org/drawingml/2006/main" w="0">
            <a:noFill/>
          </a:ln>
        </p:spPr>
      </p:sp>
      <p:sp>
        <p:nvSpPr>
          <p:cNvPr id="86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33F5FD10-1F87-44AF-B5BF-3D25E13A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79320"/>
            <a:ext cx="2667000" cy="6477000"/>
          </a:xfrm>
          <a:prstGeom xmlns:a="http://schemas.openxmlformats.org/drawingml/2006/main" prst="roundRect">
            <a:avLst>
              <a:gd name="adj" fmla="val 3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5A5A5"/>
            </a:solidFill>
          </a:ln>
        </p:spPr>
      </p:sp>
      <p:sp>
        <p:nvSpPr>
          <p:cNvPr id="87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8B1C73D9-573E-4E12-ACEF-5E8465E9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79320"/>
            <a:ext cx="266700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55F"/>
          </a:solidFill>
          <a:ln xmlns:a="http://schemas.openxmlformats.org/drawingml/2006/main" w="0">
            <a:noFill/>
          </a:ln>
        </p:spPr>
      </p:sp>
      <p:sp>
        <p:nvSpPr>
          <p:cNvPr id="88" name="02 / BUILD">
            <a:extLst xmlns:a="http://schemas.openxmlformats.org/drawingml/2006/main">
              <a:ext uri="{FF2B5EF4-FFF2-40B4-BE49-F238E27FC236}">
                <a16:creationId xmlns:a16="http://schemas.microsoft.com/office/drawing/2014/main" id="{78A71C1D-F897-4181-8AB0-33FAADCB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2385060"/>
            <a:ext cx="23317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114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14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02 / BUILD</a:t>
            </a:r>
          </a:p>
        </p:txBody>
      </p:sp>
      <p:sp>
        <p:nvSpPr>
          <p:cNvPr id="89" name="Protein expression">
            <a:extLst xmlns:a="http://schemas.openxmlformats.org/drawingml/2006/main">
              <a:ext uri="{FF2B5EF4-FFF2-40B4-BE49-F238E27FC236}">
                <a16:creationId xmlns:a16="http://schemas.microsoft.com/office/drawing/2014/main" id="{778FD4EE-91E4-476C-9F31-95E553F4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2697480"/>
            <a:ext cx="233172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180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Protein expression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&amp; purification</a:t>
            </a:r>
          </a:p>
        </p:txBody>
      </p:sp>
      <p:sp>
        <p:nvSpPr>
          <p:cNvPr id="90" name="Express the protein, purify it">
            <a:extLst xmlns:a="http://schemas.openxmlformats.org/drawingml/2006/main">
              <a:ext uri="{FF2B5EF4-FFF2-40B4-BE49-F238E27FC236}">
                <a16:creationId xmlns:a16="http://schemas.microsoft.com/office/drawing/2014/main" id="{3EC6941F-08A5-4841-92F8-10298495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3329940"/>
            <a:ext cx="233172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1260" b="0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0" b="0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260" b="0">
                <a:solidFill>
                  <a:srgbClr val="00355F"/>
                </a:solidFill>
                <a:latin typeface="Arial"/>
                <a:ea typeface="Arial"/>
                <a:cs typeface="Arial"/>
              </a:rPr>
              <a:t>Express the protein, purify it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60" b="0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260" b="0">
                <a:solidFill>
                  <a:srgbClr val="00355F"/>
                </a:solidFill>
                <a:latin typeface="Arial"/>
                <a:ea typeface="Arial"/>
                <a:cs typeface="Arial"/>
              </a:rPr>
              <a:t>and check sample quality</a:t>
            </a:r>
          </a:p>
        </p:txBody>
      </p:sp>
      <p:sp>
        <p:nvSpPr>
          <p:cNvPr id="91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6C3AAD2B-0896-4AA4-BCA9-2DDF0897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80" y="3924300"/>
            <a:ext cx="2453640" cy="2682240"/>
          </a:xfrm>
          <a:prstGeom xmlns:a="http://schemas.openxmlformats.org/drawingml/2006/main" prst="roundRect">
            <a:avLst>
              <a:gd name="adj" fmla="val 3106"/>
            </a:avLst>
          </a:prstGeom>
          <a:solidFill xmlns:a="http://schemas.openxmlformats.org/drawingml/2006/main">
            <a:srgbClr val="F0F7FC"/>
          </a:solidFill>
          <a:ln xmlns:a="http://schemas.openxmlformats.org/drawingml/2006/main" w="0">
            <a:noFill/>
          </a:ln>
        </p:spPr>
      </p:sp>
      <p:sp>
        <p:nvSpPr>
          <p:cNvPr id="92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0CDFF02E-C08F-49C2-AF51-00F6C2D0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9553" y="4152900"/>
            <a:ext cx="602894" cy="906780"/>
          </a:xfrm>
          <a:custGeom xmlns:a="http://schemas.openxmlformats.org/drawingml/2006/main">
            <a:pathLst>
              <a:path w="602894" h="906780">
                <a:moveTo>
                  <a:pt x="209702" y="0"/>
                </a:moveTo>
                <a:lnTo>
                  <a:pt x="399745" y="0"/>
                </a:lnTo>
                <a:lnTo>
                  <a:pt x="399745" y="253898"/>
                </a:lnTo>
                <a:lnTo>
                  <a:pt x="602894" y="797966"/>
                </a:lnTo>
                <a:lnTo>
                  <a:pt x="563575" y="906780"/>
                </a:lnTo>
                <a:lnTo>
                  <a:pt x="39319" y="906780"/>
                </a:lnTo>
                <a:lnTo>
                  <a:pt x="0" y="797966"/>
                </a:lnTo>
                <a:lnTo>
                  <a:pt x="209702" y="25389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355F"/>
            </a:solidFill>
          </a:ln>
        </p:spPr>
      </p:sp>
      <p:sp>
        <p:nvSpPr>
          <p:cNvPr id="93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E1CBE140-BEB3-435C-8EDD-0D5F3C8D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766" y="4724171"/>
            <a:ext cx="550469" cy="299237"/>
          </a:xfrm>
          <a:custGeom xmlns:a="http://schemas.openxmlformats.org/drawingml/2006/main">
            <a:pathLst>
              <a:path w="550469" h="299237">
                <a:moveTo>
                  <a:pt x="111404" y="0"/>
                </a:moveTo>
                <a:lnTo>
                  <a:pt x="445618" y="0"/>
                </a:lnTo>
                <a:lnTo>
                  <a:pt x="550469" y="244831"/>
                </a:lnTo>
                <a:lnTo>
                  <a:pt x="524256" y="299237"/>
                </a:lnTo>
                <a:lnTo>
                  <a:pt x="26213" y="299237"/>
                </a:lnTo>
                <a:lnTo>
                  <a:pt x="0" y="244831"/>
                </a:lnTo>
                <a:close/>
              </a:path>
            </a:pathLst>
          </a:custGeom>
          <a:solidFill xmlns:a="http://schemas.openxmlformats.org/drawingml/2006/main">
            <a:srgbClr val="ACD4F1"/>
          </a:solidFill>
          <a:ln xmlns:a="http://schemas.openxmlformats.org/drawingml/2006/main" w="0">
            <a:noFill/>
          </a:ln>
        </p:spPr>
      </p:sp>
      <p:sp>
        <p:nvSpPr>
          <p:cNvPr id="94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3ED1CF28-83AC-44E6-9C09-B5A0B64C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6489" y="4091940"/>
            <a:ext cx="262128" cy="914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7399C6"/>
          </a:solidFill>
          <a:ln xmlns:a="http://schemas.openxmlformats.org/drawingml/2006/main" w="15240">
            <a:solidFill>
              <a:srgbClr val="00355F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2F4512F-3538-46F4-BB53-84ACBB4D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5669" y="482970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27CE179-65E5-42E3-821F-10494931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2605" y="487504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8FFA4BF-7E99-40B9-A884-4E6EAC1F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860" y="492945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4A1498A-346F-4F51-AC63-150575FC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8478" y="477530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99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52FD0EBB-26F5-47AD-B54B-CAF1CE7E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160" y="4221480"/>
            <a:ext cx="228600" cy="914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7399C6"/>
          </a:solidFill>
          <a:ln xmlns:a="http://schemas.openxmlformats.org/drawingml/2006/main" w="15240">
            <a:solidFill>
              <a:srgbClr val="00355F"/>
            </a:solidFill>
          </a:ln>
        </p:spPr>
      </p:sp>
      <p:sp>
        <p:nvSpPr>
          <p:cNvPr id="100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05ABC7E3-89F7-46E8-A568-78010991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440" y="4312920"/>
            <a:ext cx="320040" cy="106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355F"/>
            </a:solidFill>
          </a:ln>
        </p:spPr>
      </p:sp>
      <p:sp>
        <p:nvSpPr>
          <p:cNvPr id="101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8CAA6C41-7BA6-48DE-A324-1BB77ECF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411980"/>
            <a:ext cx="426720" cy="59436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355F"/>
            </a:solidFill>
          </a:ln>
        </p:spPr>
      </p:sp>
      <p:sp>
        <p:nvSpPr>
          <p:cNvPr id="102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BB7585A8-9BB5-46C6-9363-EFDFC682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1580" y="4610100"/>
            <a:ext cx="365760" cy="36576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ACD4F1"/>
          </a:solidFill>
          <a:ln xmlns:a="http://schemas.openxmlformats.org/drawingml/2006/main" w="0">
            <a:noFill/>
          </a:ln>
        </p:spPr>
      </p:sp>
      <p:sp>
        <p:nvSpPr>
          <p:cNvPr id="103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5E49459B-5058-48E8-996C-69CC6122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4564380"/>
            <a:ext cx="304800" cy="190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104" name="MEDIA">
            <a:extLst xmlns:a="http://schemas.openxmlformats.org/drawingml/2006/main">
              <a:ext uri="{FF2B5EF4-FFF2-40B4-BE49-F238E27FC236}">
                <a16:creationId xmlns:a16="http://schemas.microsoft.com/office/drawing/2014/main" id="{D18EF0E8-641D-47CD-A642-E10CD059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4602480"/>
            <a:ext cx="289560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60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MEDIA</a:t>
            </a:r>
          </a:p>
        </p:txBody>
      </p:sp>
      <p:sp>
        <p:nvSpPr>
          <p:cNvPr id="105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7738285C-161C-4F7C-90CC-42CCA0D9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4860" y="4632960"/>
            <a:ext cx="289560" cy="762"/>
          </a:xfrm>
          <a:custGeom xmlns:a="http://schemas.openxmlformats.org/drawingml/2006/main">
            <a:pathLst>
              <a:path w="289560" h="762">
                <a:moveTo>
                  <a:pt x="28956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399C6"/>
            </a:solidFill>
          </a:ln>
        </p:spPr>
      </p:sp>
      <p:sp>
        <p:nvSpPr>
          <p:cNvPr id="106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CCA648A7-44CC-4CFE-81D1-42BACB4D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4860" y="4597114"/>
            <a:ext cx="58466" cy="71692"/>
          </a:xfrm>
          <a:custGeom xmlns:a="http://schemas.openxmlformats.org/drawingml/2006/main">
            <a:pathLst>
              <a:path w="58466" h="71692">
                <a:moveTo>
                  <a:pt x="0" y="35846"/>
                </a:moveTo>
                <a:lnTo>
                  <a:pt x="58466" y="0"/>
                </a:lnTo>
                <a:lnTo>
                  <a:pt x="58466" y="71692"/>
                </a:lnTo>
                <a:close/>
              </a:path>
            </a:pathLst>
          </a:cu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3C3FC02-9194-44C6-AD14-83144DFD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510" y="4560570"/>
            <a:ext cx="160020" cy="1600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549"/>
          </a:solidFill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662AEB9-18A6-48D3-869A-60CDDB5C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5945" y="4497705"/>
            <a:ext cx="194310" cy="194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549"/>
          </a:solidFill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FDA86B0-7FDC-4D69-B285-3CB3BFB4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1670" y="4583430"/>
            <a:ext cx="160020" cy="1600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549"/>
          </a:solidFill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BB0F523-D4A0-4B27-8EC9-DA4175F2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8805" y="4634865"/>
            <a:ext cx="148590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549"/>
          </a:solidFill>
          <a:ln xmlns:a="http://schemas.openxmlformats.org/drawingml/2006/main" w="0">
            <a:noFill/>
          </a:ln>
        </p:spPr>
      </p:sp>
      <p:sp>
        <p:nvSpPr>
          <p:cNvPr id="111" name="Expression · cells + media">
            <a:extLst xmlns:a="http://schemas.openxmlformats.org/drawingml/2006/main">
              <a:ext uri="{FF2B5EF4-FFF2-40B4-BE49-F238E27FC236}">
                <a16:creationId xmlns:a16="http://schemas.microsoft.com/office/drawing/2014/main" id="{A7FBB76D-382A-44DA-AA57-D44A83B4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660" y="5158740"/>
            <a:ext cx="2247900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08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08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08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Expression · cells + media</a:t>
            </a:r>
          </a:p>
        </p:txBody>
      </p:sp>
      <p:sp>
        <p:nvSpPr>
          <p:cNvPr id="112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6632FAEC-E800-447A-9E47-6791E8B9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3840" y="5402580"/>
            <a:ext cx="144780" cy="10668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7399C6"/>
          </a:solidFill>
          <a:ln xmlns:a="http://schemas.openxmlformats.org/drawingml/2006/main" w="15240">
            <a:solidFill>
              <a:srgbClr val="00355F"/>
            </a:solidFill>
          </a:ln>
        </p:spPr>
      </p:sp>
      <p:sp>
        <p:nvSpPr>
          <p:cNvPr id="113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B34F6532-D374-4060-9090-BC798102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2880" y="5486400"/>
            <a:ext cx="266700" cy="75438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355F"/>
            </a:solidFill>
          </a:ln>
        </p:spPr>
      </p:sp>
      <p:sp>
        <p:nvSpPr>
          <p:cNvPr id="114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366C603B-B127-40E2-9FD1-0AB96287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5745480"/>
            <a:ext cx="205740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4F1"/>
          </a:solidFill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6B5771E-0895-4ECD-AC50-57561E6A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5794248"/>
            <a:ext cx="39624" cy="39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F10687C-62E1-4CBF-9306-4B02A9A5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418" y="5794248"/>
            <a:ext cx="39624" cy="39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D6A7848-34C9-4FEF-9079-91948F8F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188" y="5794248"/>
            <a:ext cx="39624" cy="39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3F297C6-142A-43C8-89E9-30D1357D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5846318"/>
            <a:ext cx="39624" cy="39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97BD158-8FB3-4FDE-ABBB-AC399D71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418" y="5846318"/>
            <a:ext cx="39624" cy="39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D5538AD-F4D7-4EFE-B15C-3DA80FFF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188" y="5846318"/>
            <a:ext cx="39624" cy="39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0238884-D024-4E2E-A4BB-1550609E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5898388"/>
            <a:ext cx="39624" cy="39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6B27A7DE-6E00-4761-9225-091C68B9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418" y="5898388"/>
            <a:ext cx="39624" cy="39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363EA07-C1D4-45C9-ADD4-6EFFE9FA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188" y="5898388"/>
            <a:ext cx="39624" cy="39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2C64E99-FF93-4088-837E-0A59F1A8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5950458"/>
            <a:ext cx="39624" cy="39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AE83595-608F-4743-BDD5-28AA1C26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418" y="5950458"/>
            <a:ext cx="39624" cy="39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97ECB60-B0BC-4971-9E84-606A26CE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188" y="5950458"/>
            <a:ext cx="39624" cy="39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49083AB-C62C-41C9-A962-79E0DABC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6002528"/>
            <a:ext cx="39624" cy="39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B73CEF4-3741-4A18-A5DB-9DBD659D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418" y="6002528"/>
            <a:ext cx="39624" cy="39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1BB9010-2AC2-4F90-A4A4-A217ECD3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188" y="6002528"/>
            <a:ext cx="39624" cy="39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A2E9FF49-0CEA-4CF4-AC7C-1EBE5EE8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6054598"/>
            <a:ext cx="39624" cy="39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EA4A5949-EABD-4ECB-B21B-BE4B69AF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418" y="6054598"/>
            <a:ext cx="39624" cy="39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445BA8E5-C292-4AF4-B3B1-069D9517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188" y="6054598"/>
            <a:ext cx="39624" cy="39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815ABEC-9E99-4475-A52E-84804244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6106668"/>
            <a:ext cx="39624" cy="39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E465FA55-0DB1-47CA-8428-45A3F9FB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418" y="6106668"/>
            <a:ext cx="39624" cy="39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7BC0919C-C2DB-4D72-B63E-452B065D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188" y="6106668"/>
            <a:ext cx="39624" cy="39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136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14373E92-A1C2-4B6B-8BA3-0F67DA9A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1460" y="6240780"/>
            <a:ext cx="129540" cy="76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7399C6"/>
          </a:solidFill>
          <a:ln xmlns:a="http://schemas.openxmlformats.org/drawingml/2006/main" w="11430">
            <a:solidFill>
              <a:srgbClr val="00355F"/>
            </a:solidFill>
          </a:ln>
        </p:spPr>
      </p:sp>
      <p:sp>
        <p:nvSpPr>
          <p:cNvPr id="137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AC171272-290F-4485-9E04-C3957F64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6230" y="6316980"/>
            <a:ext cx="762" cy="137160"/>
          </a:xfrm>
          <a:custGeom xmlns:a="http://schemas.openxmlformats.org/drawingml/2006/main">
            <a:pathLst>
              <a:path w="762" h="137160">
                <a:moveTo>
                  <a:pt x="0" y="0"/>
                </a:moveTo>
                <a:lnTo>
                  <a:pt x="0" y="13716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00355F"/>
            </a:solidFill>
          </a:ln>
        </p:spPr>
      </p:sp>
      <p:sp>
        <p:nvSpPr>
          <p:cNvPr id="138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C6012E8D-264C-4B29-BFA5-54AF1D5D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720" y="5570220"/>
            <a:ext cx="952500" cy="7239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355F"/>
            </a:solidFill>
          </a:ln>
        </p:spPr>
      </p:sp>
      <p:sp>
        <p:nvSpPr>
          <p:cNvPr id="139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ADA8829C-DE7C-4F00-9534-A671D223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5646420"/>
            <a:ext cx="333375" cy="571500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0F7FC"/>
          </a:solidFill>
          <a:ln xmlns:a="http://schemas.openxmlformats.org/drawingml/2006/main" w="11430">
            <a:solidFill>
              <a:srgbClr val="7399C6"/>
            </a:solidFill>
          </a:ln>
        </p:spPr>
      </p:sp>
      <p:sp>
        <p:nvSpPr>
          <p:cNvPr id="140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2A47DBFD-E904-4DBB-9ABB-026AFE15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745480"/>
            <a:ext cx="226695" cy="762"/>
          </a:xfrm>
          <a:custGeom xmlns:a="http://schemas.openxmlformats.org/drawingml/2006/main">
            <a:pathLst>
              <a:path w="226695" h="762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7399C6"/>
            </a:solidFill>
          </a:ln>
        </p:spPr>
      </p:sp>
      <p:sp>
        <p:nvSpPr>
          <p:cNvPr id="141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61F35E49-2452-43D7-BA50-6AEEF266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844540"/>
            <a:ext cx="226695" cy="762"/>
          </a:xfrm>
          <a:custGeom xmlns:a="http://schemas.openxmlformats.org/drawingml/2006/main">
            <a:pathLst>
              <a:path w="226695" h="762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7399C6"/>
            </a:solidFill>
          </a:ln>
        </p:spPr>
      </p:sp>
      <p:sp>
        <p:nvSpPr>
          <p:cNvPr id="142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014380DD-B4E2-4B1F-95A3-A6D84E35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943600"/>
            <a:ext cx="226695" cy="762"/>
          </a:xfrm>
          <a:custGeom xmlns:a="http://schemas.openxmlformats.org/drawingml/2006/main">
            <a:pathLst>
              <a:path w="226695" h="762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7399C6"/>
            </a:solidFill>
          </a:ln>
        </p:spPr>
      </p:sp>
      <p:sp>
        <p:nvSpPr>
          <p:cNvPr id="143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B067B652-E118-4468-88E3-44240586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6042660"/>
            <a:ext cx="226695" cy="762"/>
          </a:xfrm>
          <a:custGeom xmlns:a="http://schemas.openxmlformats.org/drawingml/2006/main">
            <a:pathLst>
              <a:path w="226695" h="762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7399C6"/>
            </a:solidFill>
          </a:ln>
        </p:spPr>
      </p:sp>
      <p:sp>
        <p:nvSpPr>
          <p:cNvPr id="144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0CEB9DC0-4234-461B-807C-CFB2A517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5920" y="5676900"/>
            <a:ext cx="400050" cy="28194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00355F"/>
          </a:solidFill>
          <a:ln xmlns:a="http://schemas.openxmlformats.org/drawingml/2006/main" w="0">
            <a:noFill/>
          </a:ln>
        </p:spPr>
      </p:sp>
      <p:sp>
        <p:nvSpPr>
          <p:cNvPr id="145" name="MS">
            <a:extLst xmlns:a="http://schemas.openxmlformats.org/drawingml/2006/main">
              <a:ext uri="{FF2B5EF4-FFF2-40B4-BE49-F238E27FC236}">
                <a16:creationId xmlns:a16="http://schemas.microsoft.com/office/drawing/2014/main" id="{857DAF40-3AAB-426E-815E-1104D153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5445" y="5737860"/>
            <a:ext cx="381000" cy="175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14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14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4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MS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DB07518E-708F-4AD0-83F0-AAC8F09A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7360" y="6042660"/>
            <a:ext cx="198120" cy="198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CD4F1"/>
          </a:solidFill>
          <a:ln xmlns:a="http://schemas.openxmlformats.org/drawingml/2006/main" w="11430">
            <a:solidFill>
              <a:srgbClr val="00355F"/>
            </a:solidFill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A451BBC9-1EC9-4771-86D8-730E4F47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6915" y="611124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549"/>
          </a:solidFill>
          <a:ln xmlns:a="http://schemas.openxmlformats.org/drawingml/2006/main" w="0">
            <a:noFill/>
          </a:ln>
        </p:spPr>
      </p:sp>
      <p:sp>
        <p:nvSpPr>
          <p:cNvPr id="148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146E84B8-8A70-4D6B-91B4-B5C73958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8640" y="5920740"/>
            <a:ext cx="502920" cy="762"/>
          </a:xfrm>
          <a:custGeom xmlns:a="http://schemas.openxmlformats.org/drawingml/2006/main">
            <a:pathLst>
              <a:path w="502920" h="762">
                <a:moveTo>
                  <a:pt x="0" y="0"/>
                </a:moveTo>
                <a:lnTo>
                  <a:pt x="502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399C6"/>
            </a:solidFill>
          </a:ln>
        </p:spPr>
      </p:sp>
      <p:sp>
        <p:nvSpPr>
          <p:cNvPr id="149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ABDC8849-D91C-449B-8F29-FBC67F8D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3094" y="5884894"/>
            <a:ext cx="58466" cy="71692"/>
          </a:xfrm>
          <a:custGeom xmlns:a="http://schemas.openxmlformats.org/drawingml/2006/main">
            <a:pathLst>
              <a:path w="58466" h="71692">
                <a:moveTo>
                  <a:pt x="58466" y="35846"/>
                </a:moveTo>
                <a:lnTo>
                  <a:pt x="0" y="716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150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EB9C42A3-1F31-48D3-BB55-A6556DD2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019800"/>
            <a:ext cx="175260" cy="6858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7399C6"/>
          </a:solidFill>
          <a:ln xmlns:a="http://schemas.openxmlformats.org/drawingml/2006/main" w="13716">
            <a:solidFill>
              <a:srgbClr val="00355F"/>
            </a:solidFill>
          </a:ln>
        </p:spPr>
      </p:sp>
      <p:sp>
        <p:nvSpPr>
          <p:cNvPr id="151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D5AE5B4B-5E79-45F0-BFD6-16717EB9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6088380"/>
            <a:ext cx="129540" cy="236220"/>
          </a:xfrm>
          <a:custGeom xmlns:a="http://schemas.openxmlformats.org/drawingml/2006/main">
            <a:pathLst>
              <a:path w="129540" h="236220">
                <a:moveTo>
                  <a:pt x="0" y="0"/>
                </a:moveTo>
                <a:lnTo>
                  <a:pt x="129540" y="0"/>
                </a:lnTo>
                <a:lnTo>
                  <a:pt x="129540" y="137160"/>
                </a:lnTo>
                <a:lnTo>
                  <a:pt x="68580" y="236220"/>
                </a:lnTo>
                <a:lnTo>
                  <a:pt x="0" y="13716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355F"/>
            </a:solidFill>
          </a:ln>
        </p:spPr>
      </p:sp>
      <p:sp>
        <p:nvSpPr>
          <p:cNvPr id="152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B66EBE69-0942-4F03-A1E7-91885A97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6178296"/>
            <a:ext cx="99060" cy="115824"/>
          </a:xfrm>
          <a:custGeom xmlns:a="http://schemas.openxmlformats.org/drawingml/2006/main">
            <a:pathLst>
              <a:path w="99060" h="115824">
                <a:moveTo>
                  <a:pt x="0" y="0"/>
                </a:moveTo>
                <a:lnTo>
                  <a:pt x="99060" y="0"/>
                </a:lnTo>
                <a:lnTo>
                  <a:pt x="99060" y="39624"/>
                </a:lnTo>
                <a:lnTo>
                  <a:pt x="53340" y="115824"/>
                </a:lnTo>
                <a:lnTo>
                  <a:pt x="0" y="39624"/>
                </a:lnTo>
                <a:close/>
              </a:path>
            </a:pathLst>
          </a:custGeom>
          <a:solidFill xmlns:a="http://schemas.openxmlformats.org/drawingml/2006/main">
            <a:srgbClr val="ACD4F1"/>
          </a:solidFill>
          <a:ln xmlns:a="http://schemas.openxmlformats.org/drawingml/2006/main" w="0">
            <a:noFill/>
          </a:ln>
        </p:spPr>
      </p:sp>
      <p:sp>
        <p:nvSpPr>
          <p:cNvPr id="153" name="Chromatography">
            <a:extLst xmlns:a="http://schemas.openxmlformats.org/drawingml/2006/main">
              <a:ext uri="{FF2B5EF4-FFF2-40B4-BE49-F238E27FC236}">
                <a16:creationId xmlns:a16="http://schemas.microsoft.com/office/drawing/2014/main" id="{FA215F7B-D285-423D-91AB-4F340EF1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280" y="6385560"/>
            <a:ext cx="944880" cy="175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96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6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96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Chromatography</a:t>
            </a:r>
          </a:p>
        </p:txBody>
      </p:sp>
      <p:sp>
        <p:nvSpPr>
          <p:cNvPr id="154" name="LC-MS / QC">
            <a:extLst xmlns:a="http://schemas.openxmlformats.org/drawingml/2006/main">
              <a:ext uri="{FF2B5EF4-FFF2-40B4-BE49-F238E27FC236}">
                <a16:creationId xmlns:a16="http://schemas.microsoft.com/office/drawing/2014/main" id="{619C5966-63DE-4E05-B557-532B48A0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280" y="6385560"/>
            <a:ext cx="1089660" cy="175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02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02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02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LC-MS / QC</a:t>
            </a:r>
          </a:p>
        </p:txBody>
      </p:sp>
      <p:sp>
        <p:nvSpPr>
          <p:cNvPr id="155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7922EA2B-8DAA-4213-86BF-0D070186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758940"/>
            <a:ext cx="2362200" cy="37338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ACD4F1"/>
          </a:solidFill>
          <a:ln xmlns:a="http://schemas.openxmlformats.org/drawingml/2006/main" w="0">
            <a:noFill/>
          </a:ln>
        </p:spPr>
      </p:sp>
      <p:sp>
        <p:nvSpPr>
          <p:cNvPr id="156" name="Purified protein + yield">
            <a:extLst xmlns:a="http://schemas.openxmlformats.org/drawingml/2006/main">
              <a:ext uri="{FF2B5EF4-FFF2-40B4-BE49-F238E27FC236}">
                <a16:creationId xmlns:a16="http://schemas.microsoft.com/office/drawing/2014/main" id="{5BF0C354-10AB-4771-929A-B3D8DB83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2380" y="6858000"/>
            <a:ext cx="2225040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20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Purified protein + yield</a:t>
            </a:r>
          </a:p>
        </p:txBody>
      </p:sp>
      <p:sp>
        <p:nvSpPr>
          <p:cNvPr id="157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67EA4B89-B1B6-4D43-A7BC-7ABE2008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7284720"/>
            <a:ext cx="2331720" cy="762"/>
          </a:xfrm>
          <a:custGeom xmlns:a="http://schemas.openxmlformats.org/drawingml/2006/main">
            <a:pathLst>
              <a:path w="2331720" h="762">
                <a:moveTo>
                  <a:pt x="0" y="0"/>
                </a:moveTo>
                <a:lnTo>
                  <a:pt x="23317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A5A5A5"/>
            </a:solidFill>
          </a:ln>
        </p:spPr>
      </p:sp>
      <p:sp>
        <p:nvSpPr>
          <p:cNvPr id="158" name="REPRESENTATIVE SUPPLIERS">
            <a:extLst xmlns:a="http://schemas.openxmlformats.org/drawingml/2006/main">
              <a:ext uri="{FF2B5EF4-FFF2-40B4-BE49-F238E27FC236}">
                <a16:creationId xmlns:a16="http://schemas.microsoft.com/office/drawing/2014/main" id="{A900B2FD-DAA6-4697-9354-5520B2D1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7437120"/>
            <a:ext cx="233172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90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REPRESENTATIVE SUPPLIERS</a:t>
            </a:r>
          </a:p>
        </p:txBody>
      </p:sp>
      <p:sp>
        <p:nvSpPr>
          <p:cNvPr id="159" name="Expression / media">
            <a:extLst xmlns:a="http://schemas.openxmlformats.org/drawingml/2006/main">
              <a:ext uri="{FF2B5EF4-FFF2-40B4-BE49-F238E27FC236}">
                <a16:creationId xmlns:a16="http://schemas.microsoft.com/office/drawing/2014/main" id="{5966BDC4-5717-4510-A34B-A36C2E13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7703820"/>
            <a:ext cx="2331720" cy="175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900" b="1">
                <a:solidFill>
                  <a:srgbClr val="7399C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7399C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399C6"/>
                </a:solidFill>
                <a:latin typeface="Arial"/>
                <a:ea typeface="Arial"/>
                <a:cs typeface="Arial"/>
              </a:rPr>
              <a:t>Expression / media</a:t>
            </a:r>
          </a:p>
        </p:txBody>
      </p:sp>
      <p:sp>
        <p:nvSpPr>
          <p:cNvPr id="160" name="GenScript · Gibco">
            <a:extLst xmlns:a="http://schemas.openxmlformats.org/drawingml/2006/main">
              <a:ext uri="{FF2B5EF4-FFF2-40B4-BE49-F238E27FC236}">
                <a16:creationId xmlns:a16="http://schemas.microsoft.com/office/drawing/2014/main" id="{B11A1F89-104E-455C-BC6F-62D6CAFB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7871460"/>
            <a:ext cx="23317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1020" b="0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20" b="0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020" b="0">
                <a:solidFill>
                  <a:srgbClr val="00355F"/>
                </a:solidFill>
                <a:latin typeface="Arial"/>
                <a:ea typeface="Arial"/>
                <a:cs typeface="Arial"/>
              </a:rPr>
              <a:t>GenScript · Gibco</a:t>
            </a:r>
          </a:p>
        </p:txBody>
      </p:sp>
      <p:sp>
        <p:nvSpPr>
          <p:cNvPr id="161" name="Separation / QC">
            <a:extLst xmlns:a="http://schemas.openxmlformats.org/drawingml/2006/main">
              <a:ext uri="{FF2B5EF4-FFF2-40B4-BE49-F238E27FC236}">
                <a16:creationId xmlns:a16="http://schemas.microsoft.com/office/drawing/2014/main" id="{F901FD18-8691-471C-96F3-AA33BEF3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8122920"/>
            <a:ext cx="2331720" cy="175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900" b="1">
                <a:solidFill>
                  <a:srgbClr val="7399C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7399C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399C6"/>
                </a:solidFill>
                <a:latin typeface="Arial"/>
                <a:ea typeface="Arial"/>
                <a:cs typeface="Arial"/>
              </a:rPr>
              <a:t>Separation / QC</a:t>
            </a:r>
          </a:p>
        </p:txBody>
      </p:sp>
      <p:sp>
        <p:nvSpPr>
          <p:cNvPr id="162" name="Cytiva · NanoMicro · Waters">
            <a:extLst xmlns:a="http://schemas.openxmlformats.org/drawingml/2006/main">
              <a:ext uri="{FF2B5EF4-FFF2-40B4-BE49-F238E27FC236}">
                <a16:creationId xmlns:a16="http://schemas.microsoft.com/office/drawing/2014/main" id="{44BA897E-4605-4E1B-B349-66E12D06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8290560"/>
            <a:ext cx="23317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1020" b="0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20" b="0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020" b="0">
                <a:solidFill>
                  <a:srgbClr val="00355F"/>
                </a:solidFill>
                <a:latin typeface="Arial"/>
                <a:ea typeface="Arial"/>
                <a:cs typeface="Arial"/>
              </a:rPr>
              <a:t>Cytiva · NanoMicro · Waters</a:t>
            </a:r>
          </a:p>
        </p:txBody>
      </p:sp>
      <p:sp>
        <p:nvSpPr>
          <p:cNvPr id="163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B5D61813-301F-44D3-B147-4845EED4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5090160"/>
            <a:ext cx="114300" cy="762"/>
          </a:xfrm>
          <a:custGeom xmlns:a="http://schemas.openxmlformats.org/drawingml/2006/main">
            <a:pathLst>
              <a:path w="114300" h="762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00355F"/>
            </a:solidFill>
          </a:ln>
        </p:spPr>
      </p:sp>
      <p:sp>
        <p:nvSpPr>
          <p:cNvPr id="164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9282C842-98FF-4739-A9EE-7107B35B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9474" y="5054314"/>
            <a:ext cx="58466" cy="71692"/>
          </a:xfrm>
          <a:custGeom xmlns:a="http://schemas.openxmlformats.org/drawingml/2006/main">
            <a:pathLst>
              <a:path w="58466" h="71692">
                <a:moveTo>
                  <a:pt x="58466" y="35846"/>
                </a:moveTo>
                <a:lnTo>
                  <a:pt x="0" y="716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355F"/>
          </a:solidFill>
          <a:ln xmlns:a="http://schemas.openxmlformats.org/drawingml/2006/main" w="0">
            <a:noFill/>
          </a:ln>
        </p:spPr>
      </p:sp>
      <p:sp>
        <p:nvSpPr>
          <p:cNvPr id="165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11A3F9BF-CC36-43E6-99F6-61185955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79320"/>
            <a:ext cx="2667000" cy="6477000"/>
          </a:xfrm>
          <a:prstGeom xmlns:a="http://schemas.openxmlformats.org/drawingml/2006/main" prst="roundRect">
            <a:avLst>
              <a:gd name="adj" fmla="val 3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5A5A5"/>
            </a:solidFill>
          </a:ln>
        </p:spPr>
      </p:sp>
      <p:sp>
        <p:nvSpPr>
          <p:cNvPr id="166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7194BC70-4DA6-4F7D-BD98-AF5DA100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79320"/>
            <a:ext cx="266700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167" name="03 / TEST">
            <a:extLst xmlns:a="http://schemas.openxmlformats.org/drawingml/2006/main">
              <a:ext uri="{FF2B5EF4-FFF2-40B4-BE49-F238E27FC236}">
                <a16:creationId xmlns:a16="http://schemas.microsoft.com/office/drawing/2014/main" id="{BFF281B4-4397-4936-ABBC-0EDD13D8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8440" y="2385060"/>
            <a:ext cx="23317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114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14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03 / TEST</a:t>
            </a:r>
          </a:p>
        </p:txBody>
      </p:sp>
      <p:sp>
        <p:nvSpPr>
          <p:cNvPr id="168" name="Primary binding">
            <a:extLst xmlns:a="http://schemas.openxmlformats.org/drawingml/2006/main">
              <a:ext uri="{FF2B5EF4-FFF2-40B4-BE49-F238E27FC236}">
                <a16:creationId xmlns:a16="http://schemas.microsoft.com/office/drawing/2014/main" id="{64D3907D-612C-43BA-8942-FBD9C19F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8440" y="2697480"/>
            <a:ext cx="233172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180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Primary binding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screen</a:t>
            </a:r>
          </a:p>
        </p:txBody>
      </p:sp>
      <p:sp>
        <p:nvSpPr>
          <p:cNvPr id="169" name="Identify binders against">
            <a:extLst xmlns:a="http://schemas.openxmlformats.org/drawingml/2006/main">
              <a:ext uri="{FF2B5EF4-FFF2-40B4-BE49-F238E27FC236}">
                <a16:creationId xmlns:a16="http://schemas.microsoft.com/office/drawing/2014/main" id="{EF4B048A-6801-407D-BBFB-367B05DF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8440" y="3329940"/>
            <a:ext cx="233172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1260" b="0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0" b="0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260" b="0">
                <a:solidFill>
                  <a:srgbClr val="00355F"/>
                </a:solidFill>
                <a:latin typeface="Arial"/>
                <a:ea typeface="Arial"/>
                <a:cs typeface="Arial"/>
              </a:rPr>
              <a:t>Identify binders against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60" b="0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260" b="0">
                <a:solidFill>
                  <a:srgbClr val="00355F"/>
                </a:solidFill>
                <a:latin typeface="Arial"/>
                <a:ea typeface="Arial"/>
                <a:cs typeface="Arial"/>
              </a:rPr>
              <a:t>the chosen target protein</a:t>
            </a:r>
          </a:p>
        </p:txBody>
      </p:sp>
      <p:sp>
        <p:nvSpPr>
          <p:cNvPr id="170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F42856AF-B3B9-4D9D-84E5-32F0B3B3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480" y="3924300"/>
            <a:ext cx="2453640" cy="2682240"/>
          </a:xfrm>
          <a:prstGeom xmlns:a="http://schemas.openxmlformats.org/drawingml/2006/main" prst="roundRect">
            <a:avLst>
              <a:gd name="adj" fmla="val 3106"/>
            </a:avLst>
          </a:prstGeom>
          <a:solidFill xmlns:a="http://schemas.openxmlformats.org/drawingml/2006/main">
            <a:srgbClr val="F0F7FC"/>
          </a:solidFill>
          <a:ln xmlns:a="http://schemas.openxmlformats.org/drawingml/2006/main" w="0">
            <a:noFill/>
          </a:ln>
        </p:spPr>
      </p:sp>
      <p:sp>
        <p:nvSpPr>
          <p:cNvPr id="171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498276B7-6C79-49E7-8F27-A337D8CB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860" y="4229100"/>
            <a:ext cx="213360" cy="365760"/>
          </a:xfrm>
          <a:custGeom xmlns:a="http://schemas.openxmlformats.org/drawingml/2006/main">
            <a:pathLst>
              <a:path w="213360" h="365760">
                <a:moveTo>
                  <a:pt x="213360" y="365760"/>
                </a:moveTo>
                <a:lnTo>
                  <a:pt x="213360" y="170688"/>
                </a:lnTo>
                <a:lnTo>
                  <a:pt x="60960" y="0"/>
                </a:lnTo>
                <a:lnTo>
                  <a:pt x="0" y="54864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00355F"/>
            </a:solidFill>
          </a:ln>
        </p:spPr>
      </p:sp>
      <p:sp>
        <p:nvSpPr>
          <p:cNvPr id="172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79EE7217-4CD6-46A5-BD6C-3C5DE824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4229100"/>
            <a:ext cx="213360" cy="170688"/>
          </a:xfrm>
          <a:custGeom xmlns:a="http://schemas.openxmlformats.org/drawingml/2006/main">
            <a:pathLst>
              <a:path w="213360" h="170688">
                <a:moveTo>
                  <a:pt x="0" y="170688"/>
                </a:moveTo>
                <a:lnTo>
                  <a:pt x="152400" y="0"/>
                </a:lnTo>
                <a:lnTo>
                  <a:pt x="213360" y="54864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00355F"/>
            </a:solidFill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6F636D1E-47BA-4A9A-9296-190F32A8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4938" y="4374642"/>
            <a:ext cx="181356" cy="1813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549"/>
          </a:solidFill>
          <a:ln xmlns:a="http://schemas.openxmlformats.org/drawingml/2006/main" w="0">
            <a:noFill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DE689E53-3CE2-4D7D-BF19-29907D01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3231" y="4303395"/>
            <a:ext cx="220218" cy="2202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549"/>
          </a:solidFill>
          <a:ln xmlns:a="http://schemas.openxmlformats.org/drawingml/2006/main" w="0">
            <a:noFill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400913B8-C289-413A-87EA-D0E59F64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0386" y="4400550"/>
            <a:ext cx="181356" cy="1813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549"/>
          </a:solidFill>
          <a:ln xmlns:a="http://schemas.openxmlformats.org/drawingml/2006/main" w="0">
            <a:noFill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3AE2B589-CEA7-43D0-9EA6-5185B8CC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139" y="4458843"/>
            <a:ext cx="168402" cy="1684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549"/>
          </a:solidFill>
          <a:ln xmlns:a="http://schemas.openxmlformats.org/drawingml/2006/main" w="0">
            <a:noFill/>
          </a:ln>
        </p:spPr>
      </p:sp>
      <p:sp>
        <p:nvSpPr>
          <p:cNvPr id="177" name="Antibody + target">
            <a:extLst xmlns:a="http://schemas.openxmlformats.org/drawingml/2006/main">
              <a:ext uri="{FF2B5EF4-FFF2-40B4-BE49-F238E27FC236}">
                <a16:creationId xmlns:a16="http://schemas.microsoft.com/office/drawing/2014/main" id="{D1E1D520-EE26-46EC-A8C5-BAC713C0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8920" y="4815840"/>
            <a:ext cx="1706880" cy="175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08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08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08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Antibody + target</a:t>
            </a:r>
          </a:p>
        </p:txBody>
      </p:sp>
      <p:sp>
        <p:nvSpPr>
          <p:cNvPr id="178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5C821D62-5B52-4869-9FA0-F219C9AA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80560"/>
            <a:ext cx="358140" cy="312420"/>
          </a:xfrm>
          <a:custGeom xmlns:a="http://schemas.openxmlformats.org/drawingml/2006/main">
            <a:pathLst>
              <a:path w="358140" h="312420">
                <a:moveTo>
                  <a:pt x="0" y="0"/>
                </a:moveTo>
                <a:lnTo>
                  <a:pt x="358140" y="31242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399C6"/>
            </a:solidFill>
          </a:ln>
        </p:spPr>
      </p:sp>
      <p:sp>
        <p:nvSpPr>
          <p:cNvPr id="179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A2CA7C5E-15DA-437D-95B3-E19D2F08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7718" y="4727534"/>
            <a:ext cx="67622" cy="65446"/>
          </a:xfrm>
          <a:custGeom xmlns:a="http://schemas.openxmlformats.org/drawingml/2006/main">
            <a:pathLst>
              <a:path w="67622" h="65446">
                <a:moveTo>
                  <a:pt x="67622" y="65446"/>
                </a:moveTo>
                <a:lnTo>
                  <a:pt x="0" y="54025"/>
                </a:lnTo>
                <a:lnTo>
                  <a:pt x="47128" y="0"/>
                </a:lnTo>
                <a:close/>
              </a:path>
            </a:pathLst>
          </a:cu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180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102FE6FF-AAAD-4DB5-B116-1FE1E92D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0520" y="4953000"/>
            <a:ext cx="838200" cy="48006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ACD4F1"/>
          </a:solidFill>
          <a:ln xmlns:a="http://schemas.openxmlformats.org/drawingml/2006/main" w="15240">
            <a:solidFill>
              <a:srgbClr val="00355F"/>
            </a:solidFill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C136616A-D5B5-43FD-AA6D-A51D73C9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6052" y="501091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12DD9E82-FC74-415F-A100-6D33362F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4068" y="501091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71043913-3278-4C85-8B43-2845AC08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2084" y="501091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784E3296-53A7-4011-98C6-E14CFDD9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1091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C91C5ACE-D751-4516-B99F-8327C689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8116" y="501091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4E787F2F-3FDA-4535-9175-8D00A37F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6132" y="501091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36586023-AD1C-4AE8-88B2-F6842672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6052" y="515950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EDF05B18-C5F1-4054-9BC7-93B306F1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4068" y="515950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B92F459A-6CB4-42AB-916B-939DF148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2084" y="515950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43B67593-2912-4BE0-8ABD-6255AB31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5950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34A29DC5-92BA-48E7-8983-0C4EC267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8116" y="515950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B5A09EA4-137B-42E5-ABC4-BEDC2DD8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6132" y="515950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73C83EBB-11E1-4355-9717-CB564564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6052" y="530809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B765DFB5-C1A1-4BE5-8AD2-92018D77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4068" y="530809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204D4658-245A-4116-A072-84978186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2084" y="530809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BFD7816E-6590-4E91-B9C6-F8B09757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30809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92156FCE-A612-42E3-B9C5-FE6AE656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8116" y="530809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D2E2A44D-00A2-42EE-9F2D-4AFC3316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6132" y="530809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199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A2975F05-49BA-442A-9FCD-AD6AF2B5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72100"/>
            <a:ext cx="1089660" cy="822960"/>
          </a:xfrm>
          <a:prstGeom xmlns:a="http://schemas.openxmlformats.org/drawingml/2006/main" prst="roundRect">
            <a:avLst>
              <a:gd name="adj" fmla="val 6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355F"/>
            </a:solidFill>
          </a:ln>
        </p:spPr>
      </p:sp>
      <p:sp>
        <p:nvSpPr>
          <p:cNvPr id="200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68DCF752-EE20-465B-89C5-B76E0D41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478780"/>
            <a:ext cx="937260" cy="22098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ACD4F1"/>
          </a:solidFill>
          <a:ln xmlns:a="http://schemas.openxmlformats.org/drawingml/2006/main" w="11430">
            <a:solidFill>
              <a:srgbClr val="00355F"/>
            </a:solidFill>
          </a:ln>
        </p:spPr>
      </p:sp>
      <p:sp>
        <p:nvSpPr>
          <p:cNvPr id="201" name="BLI">
            <a:extLst xmlns:a="http://schemas.openxmlformats.org/drawingml/2006/main">
              <a:ext uri="{FF2B5EF4-FFF2-40B4-BE49-F238E27FC236}">
                <a16:creationId xmlns:a16="http://schemas.microsoft.com/office/drawing/2014/main" id="{A7BE9503-5F2A-4169-9F5F-313814EC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8940" y="5516880"/>
            <a:ext cx="90678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96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6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96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BLI</a:t>
            </a:r>
          </a:p>
        </p:txBody>
      </p:sp>
      <p:sp>
        <p:nvSpPr>
          <p:cNvPr id="202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22028D0A-0538-47F3-B56D-1B558113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806440"/>
            <a:ext cx="861060" cy="20574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0355F"/>
          </a:solidFill>
          <a:ln xmlns:a="http://schemas.openxmlformats.org/drawingml/2006/main" w="0">
            <a:noFill/>
          </a:ln>
        </p:spPr>
      </p:sp>
      <p:sp>
        <p:nvSpPr>
          <p:cNvPr id="203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6956B437-A100-4FB4-B0EE-E2EC7BB4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5620" y="5882640"/>
            <a:ext cx="693420" cy="762"/>
          </a:xfrm>
          <a:custGeom xmlns:a="http://schemas.openxmlformats.org/drawingml/2006/main">
            <a:pathLst>
              <a:path w="693420" h="762">
                <a:moveTo>
                  <a:pt x="0" y="0"/>
                </a:moveTo>
                <a:lnTo>
                  <a:pt x="6934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ACD4F1"/>
            </a:solidFill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03BDECE8-0471-4719-989C-CFCEA58A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4760" y="609600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549"/>
          </a:solidFill>
          <a:ln xmlns:a="http://schemas.openxmlformats.org/drawingml/2006/main" w="0">
            <a:noFill/>
          </a:ln>
        </p:spPr>
      </p:sp>
      <p:sp>
        <p:nvSpPr>
          <p:cNvPr id="205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5F6C5A66-0BB9-41F2-8A3B-1BA9FD53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1840" y="5120640"/>
            <a:ext cx="304800" cy="167640"/>
          </a:xfrm>
          <a:custGeom xmlns:a="http://schemas.openxmlformats.org/drawingml/2006/main">
            <a:pathLst>
              <a:path w="304800" h="167640">
                <a:moveTo>
                  <a:pt x="0" y="167640"/>
                </a:moveTo>
                <a:lnTo>
                  <a:pt x="0" y="0"/>
                </a:lnTo>
                <a:lnTo>
                  <a:pt x="304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7399C6"/>
            </a:solidFill>
          </a:ln>
        </p:spPr>
      </p:sp>
      <p:sp>
        <p:nvSpPr>
          <p:cNvPr id="206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9E507984-9BE6-42F7-94F7-5757D629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960620"/>
            <a:ext cx="175260" cy="6858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7399C6"/>
          </a:solidFill>
          <a:ln xmlns:a="http://schemas.openxmlformats.org/drawingml/2006/main" w="13716">
            <a:solidFill>
              <a:srgbClr val="00355F"/>
            </a:solidFill>
          </a:ln>
        </p:spPr>
      </p:sp>
      <p:sp>
        <p:nvSpPr>
          <p:cNvPr id="207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B9AB663E-FAC2-41D6-9924-C6942D47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340" y="5029200"/>
            <a:ext cx="129540" cy="175260"/>
          </a:xfrm>
          <a:custGeom xmlns:a="http://schemas.openxmlformats.org/drawingml/2006/main">
            <a:pathLst>
              <a:path w="129540" h="175260">
                <a:moveTo>
                  <a:pt x="0" y="0"/>
                </a:moveTo>
                <a:lnTo>
                  <a:pt x="129540" y="0"/>
                </a:lnTo>
                <a:lnTo>
                  <a:pt x="129540" y="76200"/>
                </a:lnTo>
                <a:lnTo>
                  <a:pt x="68580" y="17526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355F"/>
            </a:solidFill>
          </a:ln>
        </p:spPr>
      </p:sp>
      <p:sp>
        <p:nvSpPr>
          <p:cNvPr id="208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9D116AD7-6022-431C-AC2D-7D8BFD14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5087417"/>
            <a:ext cx="99060" cy="86563"/>
          </a:xfrm>
          <a:custGeom xmlns:a="http://schemas.openxmlformats.org/drawingml/2006/main">
            <a:pathLst>
              <a:path w="99060" h="86563">
                <a:moveTo>
                  <a:pt x="0" y="0"/>
                </a:moveTo>
                <a:lnTo>
                  <a:pt x="99060" y="0"/>
                </a:lnTo>
                <a:lnTo>
                  <a:pt x="99060" y="10363"/>
                </a:lnTo>
                <a:lnTo>
                  <a:pt x="53340" y="86563"/>
                </a:lnTo>
                <a:lnTo>
                  <a:pt x="0" y="10363"/>
                </a:lnTo>
                <a:close/>
              </a:path>
            </a:pathLst>
          </a:custGeom>
          <a:solidFill xmlns:a="http://schemas.openxmlformats.org/drawingml/2006/main">
            <a:srgbClr val="ACD4F1"/>
          </a:solidFill>
          <a:ln xmlns:a="http://schemas.openxmlformats.org/drawingml/2006/main" w="0">
            <a:noFill/>
          </a:ln>
        </p:spPr>
      </p:sp>
      <p:sp>
        <p:nvSpPr>
          <p:cNvPr id="209" name="Assay plate">
            <a:extLst xmlns:a="http://schemas.openxmlformats.org/drawingml/2006/main">
              <a:ext uri="{FF2B5EF4-FFF2-40B4-BE49-F238E27FC236}">
                <a16:creationId xmlns:a16="http://schemas.microsoft.com/office/drawing/2014/main" id="{EFA6E5E4-332D-434D-B8FA-1CD746BF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7180" y="5539740"/>
            <a:ext cx="937260" cy="175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02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02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02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Assay plate</a:t>
            </a:r>
          </a:p>
        </p:txBody>
      </p:sp>
      <p:sp>
        <p:nvSpPr>
          <p:cNvPr id="210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1D120DEC-DBCB-48B2-BED3-0F87F5B7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4340" y="5844540"/>
            <a:ext cx="716280" cy="495300"/>
          </a:xfrm>
          <a:custGeom xmlns:a="http://schemas.openxmlformats.org/drawingml/2006/main">
            <a:pathLst>
              <a:path w="716280" h="495300">
                <a:moveTo>
                  <a:pt x="0" y="0"/>
                </a:moveTo>
                <a:lnTo>
                  <a:pt x="0" y="495300"/>
                </a:lnTo>
                <a:lnTo>
                  <a:pt x="716280" y="4953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7399C6"/>
            </a:solidFill>
          </a:ln>
        </p:spPr>
      </p:sp>
      <p:sp>
        <p:nvSpPr>
          <p:cNvPr id="211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EA71FB41-AE2D-46BF-A267-56223D7C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4340" y="5928741"/>
            <a:ext cx="716280" cy="381381"/>
          </a:xfrm>
          <a:custGeom xmlns:a="http://schemas.openxmlformats.org/drawingml/2006/main">
            <a:pathLst>
              <a:path w="716280" h="381381">
                <a:moveTo>
                  <a:pt x="0" y="381381"/>
                </a:moveTo>
                <a:lnTo>
                  <a:pt x="85954" y="232791"/>
                </a:lnTo>
                <a:lnTo>
                  <a:pt x="179070" y="89154"/>
                </a:lnTo>
                <a:lnTo>
                  <a:pt x="286512" y="19812"/>
                </a:lnTo>
                <a:lnTo>
                  <a:pt x="429768" y="0"/>
                </a:lnTo>
                <a:lnTo>
                  <a:pt x="501396" y="69342"/>
                </a:lnTo>
                <a:lnTo>
                  <a:pt x="601675" y="143637"/>
                </a:lnTo>
                <a:lnTo>
                  <a:pt x="716280" y="20307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355F"/>
            </a:solidFill>
          </a:ln>
        </p:spPr>
      </p:sp>
      <p:sp>
        <p:nvSpPr>
          <p:cNvPr id="212" name="Binding platform">
            <a:extLst xmlns:a="http://schemas.openxmlformats.org/drawingml/2006/main">
              <a:ext uri="{FF2B5EF4-FFF2-40B4-BE49-F238E27FC236}">
                <a16:creationId xmlns:a16="http://schemas.microsoft.com/office/drawing/2014/main" id="{041B001F-D280-4C5E-84CF-C7EA5A78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8440" y="6393180"/>
            <a:ext cx="12573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02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02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02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Binding platform</a:t>
            </a:r>
          </a:p>
        </p:txBody>
      </p:sp>
      <p:sp>
        <p:nvSpPr>
          <p:cNvPr id="213" name="Binding signal">
            <a:extLst xmlns:a="http://schemas.openxmlformats.org/drawingml/2006/main">
              <a:ext uri="{FF2B5EF4-FFF2-40B4-BE49-F238E27FC236}">
                <a16:creationId xmlns:a16="http://schemas.microsoft.com/office/drawing/2014/main" id="{C2363F7B-722D-4E7F-B8DB-86C2D31E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6400800"/>
            <a:ext cx="88392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96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6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96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Binding signal</a:t>
            </a:r>
          </a:p>
        </p:txBody>
      </p:sp>
      <p:sp>
        <p:nvSpPr>
          <p:cNvPr id="214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3ECC3324-DDE0-4C7F-A31C-2D939934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758940"/>
            <a:ext cx="2362200" cy="37338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ACD4F1"/>
          </a:solidFill>
          <a:ln xmlns:a="http://schemas.openxmlformats.org/drawingml/2006/main" w="0">
            <a:noFill/>
          </a:ln>
        </p:spPr>
      </p:sp>
      <p:sp>
        <p:nvSpPr>
          <p:cNvPr id="215" name="Binding hits">
            <a:extLst xmlns:a="http://schemas.openxmlformats.org/drawingml/2006/main">
              <a:ext uri="{FF2B5EF4-FFF2-40B4-BE49-F238E27FC236}">
                <a16:creationId xmlns:a16="http://schemas.microsoft.com/office/drawing/2014/main" id="{EC214409-EFF8-4CA8-8257-7610B622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780" y="6858000"/>
            <a:ext cx="2225040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20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Binding hits</a:t>
            </a:r>
          </a:p>
        </p:txBody>
      </p:sp>
      <p:sp>
        <p:nvSpPr>
          <p:cNvPr id="216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38654265-8245-497E-A3CC-FFF21D58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8440" y="7284720"/>
            <a:ext cx="2331720" cy="762"/>
          </a:xfrm>
          <a:custGeom xmlns:a="http://schemas.openxmlformats.org/drawingml/2006/main">
            <a:pathLst>
              <a:path w="2331720" h="762">
                <a:moveTo>
                  <a:pt x="0" y="0"/>
                </a:moveTo>
                <a:lnTo>
                  <a:pt x="23317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A5A5A5"/>
            </a:solidFill>
          </a:ln>
        </p:spPr>
      </p:sp>
      <p:sp>
        <p:nvSpPr>
          <p:cNvPr id="217" name="REPRESENTATIVE SUPPLIERS">
            <a:extLst xmlns:a="http://schemas.openxmlformats.org/drawingml/2006/main">
              <a:ext uri="{FF2B5EF4-FFF2-40B4-BE49-F238E27FC236}">
                <a16:creationId xmlns:a16="http://schemas.microsoft.com/office/drawing/2014/main" id="{9A1D490E-C57B-4A09-B5B8-07BAB8D0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8440" y="7437120"/>
            <a:ext cx="233172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90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REPRESENTATIVE SUPPLIERS</a:t>
            </a:r>
          </a:p>
        </p:txBody>
      </p:sp>
      <p:sp>
        <p:nvSpPr>
          <p:cNvPr id="218" name="Target reagents">
            <a:extLst xmlns:a="http://schemas.openxmlformats.org/drawingml/2006/main">
              <a:ext uri="{FF2B5EF4-FFF2-40B4-BE49-F238E27FC236}">
                <a16:creationId xmlns:a16="http://schemas.microsoft.com/office/drawing/2014/main" id="{61EA388B-E3E4-49A5-AD8B-19246FD6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8440" y="7703820"/>
            <a:ext cx="2331720" cy="175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900" b="1">
                <a:solidFill>
                  <a:srgbClr val="7399C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7399C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399C6"/>
                </a:solidFill>
                <a:latin typeface="Arial"/>
                <a:ea typeface="Arial"/>
                <a:cs typeface="Arial"/>
              </a:rPr>
              <a:t>Target reagents</a:t>
            </a:r>
          </a:p>
        </p:txBody>
      </p:sp>
      <p:sp>
        <p:nvSpPr>
          <p:cNvPr id="219" name="ACROBiosystems · Sino Biological">
            <a:extLst xmlns:a="http://schemas.openxmlformats.org/drawingml/2006/main">
              <a:ext uri="{FF2B5EF4-FFF2-40B4-BE49-F238E27FC236}">
                <a16:creationId xmlns:a16="http://schemas.microsoft.com/office/drawing/2014/main" id="{360CDEA1-2331-4501-B14E-70602094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8440" y="7871460"/>
            <a:ext cx="23317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1020" b="0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20" b="0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020" b="0">
                <a:solidFill>
                  <a:srgbClr val="00355F"/>
                </a:solidFill>
                <a:latin typeface="Arial"/>
                <a:ea typeface="Arial"/>
                <a:cs typeface="Arial"/>
              </a:rPr>
              <a:t>ACROBiosystems · Sino Biological</a:t>
            </a:r>
          </a:p>
        </p:txBody>
      </p:sp>
      <p:sp>
        <p:nvSpPr>
          <p:cNvPr id="220" name="Binding platforms / labware">
            <a:extLst xmlns:a="http://schemas.openxmlformats.org/drawingml/2006/main">
              <a:ext uri="{FF2B5EF4-FFF2-40B4-BE49-F238E27FC236}">
                <a16:creationId xmlns:a16="http://schemas.microsoft.com/office/drawing/2014/main" id="{8B89C455-AC58-4926-8817-9384D7B4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8440" y="8122920"/>
            <a:ext cx="2331720" cy="175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900" b="1">
                <a:solidFill>
                  <a:srgbClr val="7399C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7399C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399C6"/>
                </a:solidFill>
                <a:latin typeface="Arial"/>
                <a:ea typeface="Arial"/>
                <a:cs typeface="Arial"/>
              </a:rPr>
              <a:t>Binding platforms / labware</a:t>
            </a:r>
          </a:p>
        </p:txBody>
      </p:sp>
      <p:sp>
        <p:nvSpPr>
          <p:cNvPr id="221" name="Sartorius · Cytiva · JET Biofil">
            <a:extLst xmlns:a="http://schemas.openxmlformats.org/drawingml/2006/main">
              <a:ext uri="{FF2B5EF4-FFF2-40B4-BE49-F238E27FC236}">
                <a16:creationId xmlns:a16="http://schemas.microsoft.com/office/drawing/2014/main" id="{62EA4418-5F4A-4E55-BCE3-28FBFAC5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8440" y="8290560"/>
            <a:ext cx="23317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1020" b="0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20" b="0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020" b="0">
                <a:solidFill>
                  <a:srgbClr val="00355F"/>
                </a:solidFill>
                <a:latin typeface="Arial"/>
                <a:ea typeface="Arial"/>
                <a:cs typeface="Arial"/>
              </a:rPr>
              <a:t>Sartorius · Cytiva · JET Biofil</a:t>
            </a:r>
          </a:p>
        </p:txBody>
      </p:sp>
      <p:sp>
        <p:nvSpPr>
          <p:cNvPr id="222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51EB5ABB-E0E6-4144-B77C-46356898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3040" y="5090160"/>
            <a:ext cx="114300" cy="762"/>
          </a:xfrm>
          <a:custGeom xmlns:a="http://schemas.openxmlformats.org/drawingml/2006/main">
            <a:pathLst>
              <a:path w="114300" h="762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00355F"/>
            </a:solidFill>
          </a:ln>
        </p:spPr>
      </p:sp>
      <p:sp>
        <p:nvSpPr>
          <p:cNvPr id="223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AA17A23B-81B1-4CDE-B7B0-9979E1C2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8874" y="5054314"/>
            <a:ext cx="58466" cy="71692"/>
          </a:xfrm>
          <a:custGeom xmlns:a="http://schemas.openxmlformats.org/drawingml/2006/main">
            <a:pathLst>
              <a:path w="58466" h="71692">
                <a:moveTo>
                  <a:pt x="58466" y="35846"/>
                </a:moveTo>
                <a:lnTo>
                  <a:pt x="0" y="716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355F"/>
          </a:solidFill>
          <a:ln xmlns:a="http://schemas.openxmlformats.org/drawingml/2006/main" w="0">
            <a:noFill/>
          </a:ln>
        </p:spPr>
      </p:sp>
      <p:sp>
        <p:nvSpPr>
          <p:cNvPr id="224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AF3959CE-74A7-4E8B-8E6F-FBCA3D33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79320"/>
            <a:ext cx="2667000" cy="6477000"/>
          </a:xfrm>
          <a:prstGeom xmlns:a="http://schemas.openxmlformats.org/drawingml/2006/main" prst="roundRect">
            <a:avLst>
              <a:gd name="adj" fmla="val 3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399C6"/>
            </a:solidFill>
          </a:ln>
        </p:spPr>
      </p:sp>
      <p:sp>
        <p:nvSpPr>
          <p:cNvPr id="225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FF414A5A-2D8E-43AB-B178-7E83BFC5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79320"/>
            <a:ext cx="266700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226" name="04 / TEST">
            <a:extLst xmlns:a="http://schemas.openxmlformats.org/drawingml/2006/main">
              <a:ext uri="{FF2B5EF4-FFF2-40B4-BE49-F238E27FC236}">
                <a16:creationId xmlns:a16="http://schemas.microsoft.com/office/drawing/2014/main" id="{17112DB3-954D-4E7C-989B-0CB8CE18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2385060"/>
            <a:ext cx="23317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114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14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04 / TEST</a:t>
            </a:r>
          </a:p>
        </p:txBody>
      </p:sp>
      <p:sp>
        <p:nvSpPr>
          <p:cNvPr id="227" name="Multi-property">
            <a:extLst xmlns:a="http://schemas.openxmlformats.org/drawingml/2006/main">
              <a:ext uri="{FF2B5EF4-FFF2-40B4-BE49-F238E27FC236}">
                <a16:creationId xmlns:a16="http://schemas.microsoft.com/office/drawing/2014/main" id="{583EC978-7F6D-4A2A-8183-879246C2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2697480"/>
            <a:ext cx="233172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180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Multi-property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characterization</a:t>
            </a:r>
          </a:p>
        </p:txBody>
      </p:sp>
      <p:sp>
        <p:nvSpPr>
          <p:cNvPr id="228" name="Measure binding, stability">
            <a:extLst xmlns:a="http://schemas.openxmlformats.org/drawingml/2006/main">
              <a:ext uri="{FF2B5EF4-FFF2-40B4-BE49-F238E27FC236}">
                <a16:creationId xmlns:a16="http://schemas.microsoft.com/office/drawing/2014/main" id="{C2D5E149-5C63-4928-A5A9-9A2E6EF7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3329940"/>
            <a:ext cx="233172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1260" b="0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0" b="0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260" b="0">
                <a:solidFill>
                  <a:srgbClr val="00355F"/>
                </a:solidFill>
                <a:latin typeface="Arial"/>
                <a:ea typeface="Arial"/>
                <a:cs typeface="Arial"/>
              </a:rPr>
              <a:t>Measure binding, stability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60" b="0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260" b="0">
                <a:solidFill>
                  <a:srgbClr val="00355F"/>
                </a:solidFill>
                <a:latin typeface="Arial"/>
                <a:ea typeface="Arial"/>
                <a:cs typeface="Arial"/>
              </a:rPr>
              <a:t>and developability risks</a:t>
            </a:r>
          </a:p>
        </p:txBody>
      </p:sp>
      <p:sp>
        <p:nvSpPr>
          <p:cNvPr id="229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9D1D4A21-0AF8-45CC-89E9-303106F0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3924300"/>
            <a:ext cx="2453640" cy="2682240"/>
          </a:xfrm>
          <a:prstGeom xmlns:a="http://schemas.openxmlformats.org/drawingml/2006/main" prst="roundRect">
            <a:avLst>
              <a:gd name="adj" fmla="val 3106"/>
            </a:avLst>
          </a:prstGeom>
          <a:solidFill xmlns:a="http://schemas.openxmlformats.org/drawingml/2006/main">
            <a:srgbClr val="F0F7FC"/>
          </a:solidFill>
          <a:ln xmlns:a="http://schemas.openxmlformats.org/drawingml/2006/main" w="0">
            <a:noFill/>
          </a:ln>
        </p:spPr>
      </p:sp>
      <p:sp>
        <p:nvSpPr>
          <p:cNvPr id="230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A5B94AB4-F75B-4CDE-9F7C-38326903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240" y="4130040"/>
            <a:ext cx="99060" cy="10668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399C6"/>
          </a:solidFill>
          <a:ln xmlns:a="http://schemas.openxmlformats.org/drawingml/2006/main" w="15240">
            <a:solidFill>
              <a:srgbClr val="00355F"/>
            </a:solidFill>
          </a:ln>
        </p:spPr>
      </p:sp>
      <p:sp>
        <p:nvSpPr>
          <p:cNvPr id="231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B2A5EECB-3F15-4B78-B0AA-331660BD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4213860"/>
            <a:ext cx="220980" cy="6858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355F"/>
            </a:solidFill>
          </a:ln>
        </p:spPr>
      </p:sp>
      <p:sp>
        <p:nvSpPr>
          <p:cNvPr id="232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6CE712AE-1165-438E-898C-F38C4560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4472940"/>
            <a:ext cx="160020" cy="327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4F1"/>
          </a:solidFill>
          <a:ln xmlns:a="http://schemas.openxmlformats.org/drawingml/2006/main" w="0">
            <a:noFill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EC7BEABC-6395-435A-BE64-0EAEADD0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048" y="4521708"/>
            <a:ext cx="39624" cy="39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F769283C-BDEB-4320-87FD-C87165A7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9958" y="4521708"/>
            <a:ext cx="39624" cy="39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A8282F0B-E023-4B3F-ADD8-3CEBD6DF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1868" y="4521708"/>
            <a:ext cx="39624" cy="39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2B0D72F0-5B74-46F0-97D0-A0295A9E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048" y="4562348"/>
            <a:ext cx="39624" cy="39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20AF56FD-1AA5-402F-98F3-011E97CA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9958" y="4562348"/>
            <a:ext cx="39624" cy="39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65EA9D37-84DC-46F6-9C89-49E429C0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1868" y="4562348"/>
            <a:ext cx="39624" cy="39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F26B1BB9-2F5D-4DDC-B859-655F0209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048" y="4602988"/>
            <a:ext cx="39624" cy="39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954D8DC6-651C-4A5A-9841-6D3D88D2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9958" y="4602988"/>
            <a:ext cx="39624" cy="39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6B5A67A1-F041-426E-95E4-ABCA3230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1868" y="4602988"/>
            <a:ext cx="39624" cy="39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1D2906ED-E566-43A5-8C5D-A9147AF4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048" y="4643628"/>
            <a:ext cx="39624" cy="39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21D018A3-5DC1-4E5E-BDBC-32185A58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9958" y="4643628"/>
            <a:ext cx="39624" cy="39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462D4D51-39D6-4A40-8FE3-B9F2B3E5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1868" y="4643628"/>
            <a:ext cx="39624" cy="39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F81FEC98-8A8D-442E-83A6-35FC84A0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048" y="4684268"/>
            <a:ext cx="39624" cy="39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4F6CC48D-3736-4AD8-B321-F9DBDA7D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9958" y="4684268"/>
            <a:ext cx="39624" cy="39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FF24D67F-0B28-4BA1-B244-7815ABA0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1868" y="4684268"/>
            <a:ext cx="39624" cy="39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FC546487-7E73-4F7B-8A3F-9EF688F7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048" y="4724908"/>
            <a:ext cx="39624" cy="39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C0F3527B-EB54-4F0E-8DDC-932CB232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9958" y="4724908"/>
            <a:ext cx="39624" cy="39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6556AB5F-24A2-485A-BA64-D62CC9DB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1868" y="4724908"/>
            <a:ext cx="39624" cy="39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6D4CB415-4319-4C4E-BD37-37D30910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048" y="4765548"/>
            <a:ext cx="39624" cy="39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951D1F14-0308-48D5-AFC2-0A2278FF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9958" y="4765548"/>
            <a:ext cx="39624" cy="39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DC77935E-99C7-4E86-B477-7E347A1F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1868" y="4765548"/>
            <a:ext cx="39624" cy="39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254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D1225FAA-EC82-4F55-B437-300871DA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7860" y="4899660"/>
            <a:ext cx="83820" cy="76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7399C6"/>
          </a:solidFill>
          <a:ln xmlns:a="http://schemas.openxmlformats.org/drawingml/2006/main" w="11430">
            <a:solidFill>
              <a:srgbClr val="00355F"/>
            </a:solidFill>
          </a:ln>
        </p:spPr>
      </p:sp>
      <p:sp>
        <p:nvSpPr>
          <p:cNvPr id="255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459F295E-F18C-4A06-89C0-54C3F7AC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9770" y="4975860"/>
            <a:ext cx="762" cy="137160"/>
          </a:xfrm>
          <a:custGeom xmlns:a="http://schemas.openxmlformats.org/drawingml/2006/main">
            <a:pathLst>
              <a:path w="762" h="137160">
                <a:moveTo>
                  <a:pt x="0" y="0"/>
                </a:moveTo>
                <a:lnTo>
                  <a:pt x="0" y="13716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00355F"/>
            </a:solidFill>
          </a:ln>
        </p:spPr>
      </p:sp>
      <p:sp>
        <p:nvSpPr>
          <p:cNvPr id="256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C5569872-BD55-4CA9-B36F-48CDE391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0780" y="4229100"/>
            <a:ext cx="830580" cy="67056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355F"/>
            </a:solidFill>
          </a:ln>
        </p:spPr>
      </p:sp>
      <p:sp>
        <p:nvSpPr>
          <p:cNvPr id="257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750F3AEC-500D-450A-8A57-FDBA38D9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1740" y="4305300"/>
            <a:ext cx="290703" cy="518160"/>
          </a:xfrm>
          <a:prstGeom xmlns:a="http://schemas.openxmlformats.org/drawingml/2006/main" prst="roundRect">
            <a:avLst>
              <a:gd name="adj" fmla="val 7864"/>
            </a:avLst>
          </a:prstGeom>
          <a:solidFill xmlns:a="http://schemas.openxmlformats.org/drawingml/2006/main">
            <a:srgbClr val="F0F7FC"/>
          </a:solidFill>
          <a:ln xmlns:a="http://schemas.openxmlformats.org/drawingml/2006/main" w="11430">
            <a:solidFill>
              <a:srgbClr val="7399C6"/>
            </a:solidFill>
          </a:ln>
        </p:spPr>
      </p:sp>
      <p:sp>
        <p:nvSpPr>
          <p:cNvPr id="258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1D27F3F4-90B1-40B2-BF9B-6411AE76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460" y="4404360"/>
            <a:ext cx="184023" cy="762"/>
          </a:xfrm>
          <a:custGeom xmlns:a="http://schemas.openxmlformats.org/drawingml/2006/main">
            <a:pathLst>
              <a:path w="184023" h="762">
                <a:moveTo>
                  <a:pt x="0" y="0"/>
                </a:moveTo>
                <a:lnTo>
                  <a:pt x="1840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7399C6"/>
            </a:solidFill>
          </a:ln>
        </p:spPr>
      </p:sp>
      <p:sp>
        <p:nvSpPr>
          <p:cNvPr id="259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CB2FFFC5-31A9-4201-900F-F665463A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460" y="4503420"/>
            <a:ext cx="184023" cy="762"/>
          </a:xfrm>
          <a:custGeom xmlns:a="http://schemas.openxmlformats.org/drawingml/2006/main">
            <a:pathLst>
              <a:path w="184023" h="762">
                <a:moveTo>
                  <a:pt x="0" y="0"/>
                </a:moveTo>
                <a:lnTo>
                  <a:pt x="1840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7399C6"/>
            </a:solidFill>
          </a:ln>
        </p:spPr>
      </p:sp>
      <p:sp>
        <p:nvSpPr>
          <p:cNvPr id="260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EF0650F4-B9B0-4BE6-AF00-D0CE8851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460" y="4602480"/>
            <a:ext cx="184023" cy="762"/>
          </a:xfrm>
          <a:custGeom xmlns:a="http://schemas.openxmlformats.org/drawingml/2006/main">
            <a:pathLst>
              <a:path w="184023" h="762">
                <a:moveTo>
                  <a:pt x="0" y="0"/>
                </a:moveTo>
                <a:lnTo>
                  <a:pt x="1840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7399C6"/>
            </a:solidFill>
          </a:ln>
        </p:spPr>
      </p:sp>
      <p:sp>
        <p:nvSpPr>
          <p:cNvPr id="261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7F97FDB6-0B87-4401-B4C3-27EC289D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460" y="4701540"/>
            <a:ext cx="184023" cy="762"/>
          </a:xfrm>
          <a:custGeom xmlns:a="http://schemas.openxmlformats.org/drawingml/2006/main">
            <a:pathLst>
              <a:path w="184023" h="762">
                <a:moveTo>
                  <a:pt x="0" y="0"/>
                </a:moveTo>
                <a:lnTo>
                  <a:pt x="1840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7399C6"/>
            </a:solidFill>
          </a:ln>
        </p:spPr>
      </p:sp>
      <p:sp>
        <p:nvSpPr>
          <p:cNvPr id="262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70556258-445D-4D32-9FFC-DCA8764D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9458" y="4335780"/>
            <a:ext cx="348844" cy="28194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00355F"/>
          </a:solidFill>
          <a:ln xmlns:a="http://schemas.openxmlformats.org/drawingml/2006/main" w="0">
            <a:noFill/>
          </a:ln>
        </p:spPr>
      </p:sp>
      <p:sp>
        <p:nvSpPr>
          <p:cNvPr id="263" name="MS">
            <a:extLst xmlns:a="http://schemas.openxmlformats.org/drawingml/2006/main">
              <a:ext uri="{FF2B5EF4-FFF2-40B4-BE49-F238E27FC236}">
                <a16:creationId xmlns:a16="http://schemas.microsoft.com/office/drawing/2014/main" id="{3EB8BD1C-34E7-41A2-A8A3-7A68E105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7764" y="4396740"/>
            <a:ext cx="332232" cy="175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14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14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4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MS</a:t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0A1C8918-D30E-42CE-BFC8-6083F7BC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6514" y="4701540"/>
            <a:ext cx="198120" cy="198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CD4F1"/>
          </a:solidFill>
          <a:ln xmlns:a="http://schemas.openxmlformats.org/drawingml/2006/main" w="11430">
            <a:solidFill>
              <a:srgbClr val="00355F"/>
            </a:solidFill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E4CFABA9-9D3C-4060-93E1-4AF0298F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2905" y="477012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549"/>
          </a:solidFill>
          <a:ln xmlns:a="http://schemas.openxmlformats.org/drawingml/2006/main" w="0">
            <a:noFill/>
          </a:ln>
        </p:spPr>
      </p:sp>
      <p:sp>
        <p:nvSpPr>
          <p:cNvPr id="266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DCE84C94-AD1B-41AE-92AE-DABDFC40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460" y="4533900"/>
            <a:ext cx="190500" cy="762"/>
          </a:xfrm>
          <a:custGeom xmlns:a="http://schemas.openxmlformats.org/drawingml/2006/main">
            <a:pathLst>
              <a:path w="190500" h="762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399C6"/>
            </a:solidFill>
          </a:ln>
        </p:spPr>
      </p:sp>
      <p:sp>
        <p:nvSpPr>
          <p:cNvPr id="267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D0EA7674-AE70-488C-9480-6E2F72BF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8494" y="4498054"/>
            <a:ext cx="58466" cy="71692"/>
          </a:xfrm>
          <a:custGeom xmlns:a="http://schemas.openxmlformats.org/drawingml/2006/main">
            <a:pathLst>
              <a:path w="58466" h="71692">
                <a:moveTo>
                  <a:pt x="58466" y="35846"/>
                </a:moveTo>
                <a:lnTo>
                  <a:pt x="0" y="716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268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55EF7126-E609-4401-BDF0-C7B79591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2340" y="4290060"/>
            <a:ext cx="495300" cy="533400"/>
          </a:xfrm>
          <a:custGeom xmlns:a="http://schemas.openxmlformats.org/drawingml/2006/main">
            <a:pathLst>
              <a:path w="495300" h="533400">
                <a:moveTo>
                  <a:pt x="0" y="0"/>
                </a:moveTo>
                <a:lnTo>
                  <a:pt x="0" y="533400"/>
                </a:lnTo>
                <a:lnTo>
                  <a:pt x="495300" y="533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7399C6"/>
            </a:solidFill>
          </a:ln>
        </p:spPr>
      </p:sp>
      <p:sp>
        <p:nvSpPr>
          <p:cNvPr id="269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165685F9-9F42-4F17-82AD-3597C8C3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2340" y="4343400"/>
            <a:ext cx="495300" cy="458724"/>
          </a:xfrm>
          <a:custGeom xmlns:a="http://schemas.openxmlformats.org/drawingml/2006/main">
            <a:pathLst>
              <a:path w="495300" h="458724">
                <a:moveTo>
                  <a:pt x="0" y="458724"/>
                </a:moveTo>
                <a:lnTo>
                  <a:pt x="99060" y="448056"/>
                </a:lnTo>
                <a:lnTo>
                  <a:pt x="148590" y="416052"/>
                </a:lnTo>
                <a:lnTo>
                  <a:pt x="183261" y="213360"/>
                </a:lnTo>
                <a:lnTo>
                  <a:pt x="217932" y="0"/>
                </a:lnTo>
                <a:lnTo>
                  <a:pt x="252603" y="256032"/>
                </a:lnTo>
                <a:lnTo>
                  <a:pt x="297180" y="448056"/>
                </a:lnTo>
                <a:lnTo>
                  <a:pt x="495300" y="45872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355F"/>
            </a:solidFill>
          </a:ln>
        </p:spPr>
      </p:sp>
      <p:sp>
        <p:nvSpPr>
          <p:cNvPr id="270" name="SEC / LC-MS · separation + QC">
            <a:extLst xmlns:a="http://schemas.openxmlformats.org/drawingml/2006/main">
              <a:ext uri="{FF2B5EF4-FFF2-40B4-BE49-F238E27FC236}">
                <a16:creationId xmlns:a16="http://schemas.microsoft.com/office/drawing/2014/main" id="{BCC86389-C5D0-4648-AFAB-B66B6860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3080" y="5067300"/>
            <a:ext cx="226314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02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02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02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SEC / LC-MS · separation + QC</a:t>
            </a:r>
          </a:p>
        </p:txBody>
      </p:sp>
      <p:sp>
        <p:nvSpPr>
          <p:cNvPr id="271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5E21EA79-54FB-4A02-A2A1-2214A93C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40" y="5524500"/>
            <a:ext cx="175260" cy="6858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7399C6"/>
          </a:solidFill>
          <a:ln xmlns:a="http://schemas.openxmlformats.org/drawingml/2006/main" w="13716">
            <a:solidFill>
              <a:srgbClr val="00355F"/>
            </a:solidFill>
          </a:ln>
        </p:spPr>
      </p:sp>
      <p:sp>
        <p:nvSpPr>
          <p:cNvPr id="272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723386D8-7C4F-4A86-99C2-93208E58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593080"/>
            <a:ext cx="129540" cy="464820"/>
          </a:xfrm>
          <a:custGeom xmlns:a="http://schemas.openxmlformats.org/drawingml/2006/main">
            <a:pathLst>
              <a:path w="129540" h="464820">
                <a:moveTo>
                  <a:pt x="0" y="0"/>
                </a:moveTo>
                <a:lnTo>
                  <a:pt x="129540" y="0"/>
                </a:lnTo>
                <a:lnTo>
                  <a:pt x="129540" y="365760"/>
                </a:lnTo>
                <a:lnTo>
                  <a:pt x="68580" y="464820"/>
                </a:lnTo>
                <a:lnTo>
                  <a:pt x="0" y="36576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355F"/>
            </a:solidFill>
          </a:ln>
        </p:spPr>
      </p:sp>
      <p:sp>
        <p:nvSpPr>
          <p:cNvPr id="273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D45A0A69-4019-43B5-8F52-FC717DEA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6440" y="5801868"/>
            <a:ext cx="99060" cy="225552"/>
          </a:xfrm>
          <a:custGeom xmlns:a="http://schemas.openxmlformats.org/drawingml/2006/main">
            <a:pathLst>
              <a:path w="99060" h="225552">
                <a:moveTo>
                  <a:pt x="0" y="0"/>
                </a:moveTo>
                <a:lnTo>
                  <a:pt x="99060" y="0"/>
                </a:lnTo>
                <a:lnTo>
                  <a:pt x="99060" y="149352"/>
                </a:lnTo>
                <a:lnTo>
                  <a:pt x="53340" y="225552"/>
                </a:lnTo>
                <a:lnTo>
                  <a:pt x="0" y="149352"/>
                </a:lnTo>
                <a:close/>
              </a:path>
            </a:pathLst>
          </a:custGeom>
          <a:solidFill xmlns:a="http://schemas.openxmlformats.org/drawingml/2006/main">
            <a:srgbClr val="ACD4F1"/>
          </a:solidFill>
          <a:ln xmlns:a="http://schemas.openxmlformats.org/drawingml/2006/main" w="0">
            <a:noFill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747EC6D9-13E6-45D4-ABDA-9C33934A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569976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7F26"/>
          </a:solidFill>
          <a:ln xmlns:a="http://schemas.openxmlformats.org/drawingml/2006/main" w="0">
            <a:noFill/>
          </a:ln>
        </p:spPr>
      </p:sp>
      <p:sp>
        <p:nvSpPr>
          <p:cNvPr id="275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97BE4F8B-C7F8-4FD4-978A-0F2DB438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420" y="5585460"/>
            <a:ext cx="762" cy="320040"/>
          </a:xfrm>
          <a:custGeom xmlns:a="http://schemas.openxmlformats.org/drawingml/2006/main">
            <a:pathLst>
              <a:path w="762" h="320040">
                <a:moveTo>
                  <a:pt x="0" y="0"/>
                </a:moveTo>
                <a:lnTo>
                  <a:pt x="0" y="32004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F67F26"/>
            </a:solidFill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81444849-AE43-4368-B108-956CF102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460" y="5890260"/>
            <a:ext cx="121920" cy="121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7F26"/>
          </a:solidFill>
          <a:ln xmlns:a="http://schemas.openxmlformats.org/drawingml/2006/main" w="11430">
            <a:solidFill>
              <a:srgbClr val="00355F"/>
            </a:solidFill>
          </a:ln>
        </p:spPr>
      </p:sp>
      <p:sp>
        <p:nvSpPr>
          <p:cNvPr id="277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6D7DCE9A-1DEE-4F37-9473-2BCCA163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539740"/>
            <a:ext cx="579120" cy="487680"/>
          </a:xfrm>
          <a:custGeom xmlns:a="http://schemas.openxmlformats.org/drawingml/2006/main">
            <a:pathLst>
              <a:path w="579120" h="487680">
                <a:moveTo>
                  <a:pt x="0" y="0"/>
                </a:moveTo>
                <a:lnTo>
                  <a:pt x="0" y="487680"/>
                </a:lnTo>
                <a:lnTo>
                  <a:pt x="579120" y="48768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7399C6"/>
            </a:solidFill>
          </a:ln>
        </p:spPr>
      </p:sp>
      <p:sp>
        <p:nvSpPr>
          <p:cNvPr id="278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18BFD225-1F01-4B10-A221-DCB5290C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564124"/>
            <a:ext cx="579120" cy="424282"/>
          </a:xfrm>
          <a:custGeom xmlns:a="http://schemas.openxmlformats.org/drawingml/2006/main">
            <a:pathLst>
              <a:path w="579120" h="424282">
                <a:moveTo>
                  <a:pt x="0" y="424282"/>
                </a:moveTo>
                <a:lnTo>
                  <a:pt x="86868" y="424282"/>
                </a:lnTo>
                <a:lnTo>
                  <a:pt x="173736" y="404774"/>
                </a:lnTo>
                <a:lnTo>
                  <a:pt x="231648" y="326746"/>
                </a:lnTo>
                <a:lnTo>
                  <a:pt x="277978" y="160934"/>
                </a:lnTo>
                <a:lnTo>
                  <a:pt x="347472" y="24384"/>
                </a:lnTo>
                <a:lnTo>
                  <a:pt x="440131" y="0"/>
                </a:lnTo>
                <a:lnTo>
                  <a:pt x="579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355F"/>
            </a:solidFill>
          </a:ln>
        </p:spPr>
      </p:sp>
      <p:sp>
        <p:nvSpPr>
          <p:cNvPr id="279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2345D649-DDBE-4D86-A104-629919B3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5180" y="5539740"/>
            <a:ext cx="609600" cy="487680"/>
          </a:xfrm>
          <a:custGeom xmlns:a="http://schemas.openxmlformats.org/drawingml/2006/main">
            <a:pathLst>
              <a:path w="609600" h="487680">
                <a:moveTo>
                  <a:pt x="0" y="0"/>
                </a:moveTo>
                <a:lnTo>
                  <a:pt x="0" y="487680"/>
                </a:lnTo>
                <a:lnTo>
                  <a:pt x="609600" y="48768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7399C6"/>
            </a:solidFill>
          </a:ln>
        </p:spPr>
      </p:sp>
      <p:sp>
        <p:nvSpPr>
          <p:cNvPr id="280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CBC65C34-01D9-409E-8C0C-8091AD00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5180" y="5622646"/>
            <a:ext cx="609600" cy="375514"/>
          </a:xfrm>
          <a:custGeom xmlns:a="http://schemas.openxmlformats.org/drawingml/2006/main">
            <a:pathLst>
              <a:path w="609600" h="375514">
                <a:moveTo>
                  <a:pt x="0" y="375514"/>
                </a:moveTo>
                <a:lnTo>
                  <a:pt x="73152" y="229210"/>
                </a:lnTo>
                <a:lnTo>
                  <a:pt x="152400" y="87782"/>
                </a:lnTo>
                <a:lnTo>
                  <a:pt x="243840" y="19507"/>
                </a:lnTo>
                <a:lnTo>
                  <a:pt x="365760" y="0"/>
                </a:lnTo>
                <a:lnTo>
                  <a:pt x="426720" y="68275"/>
                </a:lnTo>
                <a:lnTo>
                  <a:pt x="512064" y="141427"/>
                </a:lnTo>
                <a:lnTo>
                  <a:pt x="609600" y="19994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355F"/>
            </a:solidFill>
          </a:ln>
        </p:spPr>
      </p:sp>
      <p:sp>
        <p:nvSpPr>
          <p:cNvPr id="281" name="Thermal stability">
            <a:extLst xmlns:a="http://schemas.openxmlformats.org/drawingml/2006/main">
              <a:ext uri="{FF2B5EF4-FFF2-40B4-BE49-F238E27FC236}">
                <a16:creationId xmlns:a16="http://schemas.microsoft.com/office/drawing/2014/main" id="{DA95F562-71CE-44C1-9344-AF00C75D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6278880"/>
            <a:ext cx="134112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02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02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02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Thermal stability</a:t>
            </a:r>
          </a:p>
        </p:txBody>
      </p:sp>
      <p:sp>
        <p:nvSpPr>
          <p:cNvPr id="282" name="Binding">
            <a:extLst xmlns:a="http://schemas.openxmlformats.org/drawingml/2006/main">
              <a:ext uri="{FF2B5EF4-FFF2-40B4-BE49-F238E27FC236}">
                <a16:creationId xmlns:a16="http://schemas.microsoft.com/office/drawing/2014/main" id="{64045D83-60EC-4CFE-B48D-D7689E33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7060" y="6278880"/>
            <a:ext cx="952500" cy="327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02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02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02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Binding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2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02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kinetics</a:t>
            </a:r>
          </a:p>
        </p:txBody>
      </p:sp>
      <p:sp>
        <p:nvSpPr>
          <p:cNvPr id="283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112A8B8B-E8E2-4739-A525-5CB4EDAD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758940"/>
            <a:ext cx="2362200" cy="37338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ACD4F1"/>
          </a:solidFill>
          <a:ln xmlns:a="http://schemas.openxmlformats.org/drawingml/2006/main" w="0">
            <a:noFill/>
          </a:ln>
        </p:spPr>
      </p:sp>
      <p:sp>
        <p:nvSpPr>
          <p:cNvPr id="284" name="Linked multi-property labels">
            <a:extLst xmlns:a="http://schemas.openxmlformats.org/drawingml/2006/main">
              <a:ext uri="{FF2B5EF4-FFF2-40B4-BE49-F238E27FC236}">
                <a16:creationId xmlns:a16="http://schemas.microsoft.com/office/drawing/2014/main" id="{2CABD0C5-7614-4340-A5EC-9E81D002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1180" y="6858000"/>
            <a:ext cx="2225040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20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Linked multi-property labels</a:t>
            </a:r>
          </a:p>
        </p:txBody>
      </p:sp>
      <p:sp>
        <p:nvSpPr>
          <p:cNvPr id="285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4FA43CA6-11E8-4CFC-A35E-A696439D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7284720"/>
            <a:ext cx="2331720" cy="762"/>
          </a:xfrm>
          <a:custGeom xmlns:a="http://schemas.openxmlformats.org/drawingml/2006/main">
            <a:pathLst>
              <a:path w="2331720" h="762">
                <a:moveTo>
                  <a:pt x="0" y="0"/>
                </a:moveTo>
                <a:lnTo>
                  <a:pt x="23317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A5A5A5"/>
            </a:solidFill>
          </a:ln>
        </p:spPr>
      </p:sp>
      <p:sp>
        <p:nvSpPr>
          <p:cNvPr id="286" name="REPRESENTATIVE SUPPLIERS">
            <a:extLst xmlns:a="http://schemas.openxmlformats.org/drawingml/2006/main">
              <a:ext uri="{FF2B5EF4-FFF2-40B4-BE49-F238E27FC236}">
                <a16:creationId xmlns:a16="http://schemas.microsoft.com/office/drawing/2014/main" id="{2DC2EBDF-9560-43E5-BE2B-22183A5E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7437120"/>
            <a:ext cx="233172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90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REPRESENTATIVE SUPPLIERS</a:t>
            </a:r>
          </a:p>
        </p:txBody>
      </p:sp>
      <p:sp>
        <p:nvSpPr>
          <p:cNvPr id="287" name="Separation / analytics">
            <a:extLst xmlns:a="http://schemas.openxmlformats.org/drawingml/2006/main">
              <a:ext uri="{FF2B5EF4-FFF2-40B4-BE49-F238E27FC236}">
                <a16:creationId xmlns:a16="http://schemas.microsoft.com/office/drawing/2014/main" id="{E14B4392-66A8-4386-AA70-33EEAB83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7703820"/>
            <a:ext cx="2331720" cy="175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900" b="1">
                <a:solidFill>
                  <a:srgbClr val="7399C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7399C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399C6"/>
                </a:solidFill>
                <a:latin typeface="Arial"/>
                <a:ea typeface="Arial"/>
                <a:cs typeface="Arial"/>
              </a:rPr>
              <a:t>Separation / analytics</a:t>
            </a:r>
          </a:p>
        </p:txBody>
      </p:sp>
      <p:sp>
        <p:nvSpPr>
          <p:cNvPr id="288" name="Waters · Agilent · NanoMicro">
            <a:extLst xmlns:a="http://schemas.openxmlformats.org/drawingml/2006/main">
              <a:ext uri="{FF2B5EF4-FFF2-40B4-BE49-F238E27FC236}">
                <a16:creationId xmlns:a16="http://schemas.microsoft.com/office/drawing/2014/main" id="{5F6AE2B4-2C48-4FA2-9E7A-D381AF9E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7871460"/>
            <a:ext cx="23317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1020" b="0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20" b="0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020" b="0">
                <a:solidFill>
                  <a:srgbClr val="00355F"/>
                </a:solidFill>
                <a:latin typeface="Arial"/>
                <a:ea typeface="Arial"/>
                <a:cs typeface="Arial"/>
              </a:rPr>
              <a:t>Waters · Agilent · NanoMicro</a:t>
            </a:r>
          </a:p>
        </p:txBody>
      </p:sp>
      <p:sp>
        <p:nvSpPr>
          <p:cNvPr id="289" name="Stability / binding">
            <a:extLst xmlns:a="http://schemas.openxmlformats.org/drawingml/2006/main">
              <a:ext uri="{FF2B5EF4-FFF2-40B4-BE49-F238E27FC236}">
                <a16:creationId xmlns:a16="http://schemas.microsoft.com/office/drawing/2014/main" id="{FFAD32F9-B174-4A2B-B545-62F97A05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8122920"/>
            <a:ext cx="2331720" cy="175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900" b="1">
                <a:solidFill>
                  <a:srgbClr val="7399C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7399C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399C6"/>
                </a:solidFill>
                <a:latin typeface="Arial"/>
                <a:ea typeface="Arial"/>
                <a:cs typeface="Arial"/>
              </a:rPr>
              <a:t>Stability / binding</a:t>
            </a:r>
          </a:p>
        </p:txBody>
      </p:sp>
      <p:sp>
        <p:nvSpPr>
          <p:cNvPr id="290" name="NanoTemper · Sartorius">
            <a:extLst xmlns:a="http://schemas.openxmlformats.org/drawingml/2006/main">
              <a:ext uri="{FF2B5EF4-FFF2-40B4-BE49-F238E27FC236}">
                <a16:creationId xmlns:a16="http://schemas.microsoft.com/office/drawing/2014/main" id="{7F5A377F-2F54-4488-88E3-0141B5A9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8290560"/>
            <a:ext cx="23317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1020" b="0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20" b="0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020" b="0">
                <a:solidFill>
                  <a:srgbClr val="00355F"/>
                </a:solidFill>
                <a:latin typeface="Arial"/>
                <a:ea typeface="Arial"/>
                <a:cs typeface="Arial"/>
              </a:rPr>
              <a:t>NanoTemper · Sartorius</a:t>
            </a:r>
          </a:p>
        </p:txBody>
      </p:sp>
      <p:sp>
        <p:nvSpPr>
          <p:cNvPr id="291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E7172668-81C9-48F8-A5E9-A64BAA8A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2440" y="5090160"/>
            <a:ext cx="114300" cy="762"/>
          </a:xfrm>
          <a:custGeom xmlns:a="http://schemas.openxmlformats.org/drawingml/2006/main">
            <a:pathLst>
              <a:path w="114300" h="762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00355F"/>
            </a:solidFill>
          </a:ln>
        </p:spPr>
      </p:sp>
      <p:sp>
        <p:nvSpPr>
          <p:cNvPr id="292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A8FC1309-AC4E-4AAA-BC60-0202D35D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8274" y="5054314"/>
            <a:ext cx="58466" cy="71692"/>
          </a:xfrm>
          <a:custGeom xmlns:a="http://schemas.openxmlformats.org/drawingml/2006/main">
            <a:pathLst>
              <a:path w="58466" h="71692">
                <a:moveTo>
                  <a:pt x="58466" y="35846"/>
                </a:moveTo>
                <a:lnTo>
                  <a:pt x="0" y="716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355F"/>
          </a:solidFill>
          <a:ln xmlns:a="http://schemas.openxmlformats.org/drawingml/2006/main" w="0">
            <a:noFill/>
          </a:ln>
        </p:spPr>
      </p:sp>
      <p:sp>
        <p:nvSpPr>
          <p:cNvPr id="293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91669415-6B7F-4B8E-A541-172D585A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2179320"/>
            <a:ext cx="2667000" cy="6477000"/>
          </a:xfrm>
          <a:prstGeom xmlns:a="http://schemas.openxmlformats.org/drawingml/2006/main" prst="roundRect">
            <a:avLst>
              <a:gd name="adj" fmla="val 3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399C6"/>
            </a:solidFill>
          </a:ln>
        </p:spPr>
      </p:sp>
      <p:sp>
        <p:nvSpPr>
          <p:cNvPr id="294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84662094-B3B5-4C70-B50F-4F349A2F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2179320"/>
            <a:ext cx="266700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295" name="05 / TEST">
            <a:extLst xmlns:a="http://schemas.openxmlformats.org/drawingml/2006/main">
              <a:ext uri="{FF2B5EF4-FFF2-40B4-BE49-F238E27FC236}">
                <a16:creationId xmlns:a16="http://schemas.microsoft.com/office/drawing/2014/main" id="{35A4804D-EF60-48DB-989A-2815C38C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7240" y="2385060"/>
            <a:ext cx="23317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114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14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05 / TEST</a:t>
            </a:r>
          </a:p>
        </p:txBody>
      </p:sp>
      <p:sp>
        <p:nvSpPr>
          <p:cNvPr id="296" name="Cell-function">
            <a:extLst xmlns:a="http://schemas.openxmlformats.org/drawingml/2006/main">
              <a:ext uri="{FF2B5EF4-FFF2-40B4-BE49-F238E27FC236}">
                <a16:creationId xmlns:a16="http://schemas.microsoft.com/office/drawing/2014/main" id="{BAA52162-CE19-4F34-95DC-5505BC98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7240" y="2697480"/>
            <a:ext cx="233172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180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Cell-function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297" name="Test biological activity">
            <a:extLst xmlns:a="http://schemas.openxmlformats.org/drawingml/2006/main">
              <a:ext uri="{FF2B5EF4-FFF2-40B4-BE49-F238E27FC236}">
                <a16:creationId xmlns:a16="http://schemas.microsoft.com/office/drawing/2014/main" id="{F28F35A7-0F4B-4F56-9E30-AB1A1B5B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7240" y="3329940"/>
            <a:ext cx="233172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1260" b="0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0" b="0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260" b="0">
                <a:solidFill>
                  <a:srgbClr val="00355F"/>
                </a:solidFill>
                <a:latin typeface="Arial"/>
                <a:ea typeface="Arial"/>
                <a:cs typeface="Arial"/>
              </a:rPr>
              <a:t>Test biological activity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60" b="0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260" b="0">
                <a:solidFill>
                  <a:srgbClr val="00355F"/>
                </a:solidFill>
                <a:latin typeface="Arial"/>
                <a:ea typeface="Arial"/>
                <a:cs typeface="Arial"/>
              </a:rPr>
              <a:t>in a relevant cell model</a:t>
            </a:r>
          </a:p>
        </p:txBody>
      </p:sp>
      <p:sp>
        <p:nvSpPr>
          <p:cNvPr id="298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CF05CC91-8AD3-4487-AF0F-CC5C404B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6280" y="3924300"/>
            <a:ext cx="2453640" cy="2682240"/>
          </a:xfrm>
          <a:prstGeom xmlns:a="http://schemas.openxmlformats.org/drawingml/2006/main" prst="roundRect">
            <a:avLst>
              <a:gd name="adj" fmla="val 3106"/>
            </a:avLst>
          </a:prstGeom>
          <a:solidFill xmlns:a="http://schemas.openxmlformats.org/drawingml/2006/main">
            <a:srgbClr val="F0F7FC"/>
          </a:solidFill>
          <a:ln xmlns:a="http://schemas.openxmlformats.org/drawingml/2006/main" w="0">
            <a:noFill/>
          </a:ln>
        </p:spPr>
      </p:sp>
      <p:sp>
        <p:nvSpPr>
          <p:cNvPr id="299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D69DE35A-E02A-48D4-BAE9-C2C255B9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5340" y="4640580"/>
            <a:ext cx="952500" cy="29718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ACD4F1"/>
          </a:solidFill>
          <a:ln xmlns:a="http://schemas.openxmlformats.org/drawingml/2006/main" w="17526">
            <a:solidFill>
              <a:srgbClr val="00355F"/>
            </a:solidFill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1599CC40-AB4F-47CC-BFD3-744FCCCB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5340" y="4564380"/>
            <a:ext cx="952500" cy="205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7FC"/>
          </a:solidFill>
          <a:ln xmlns:a="http://schemas.openxmlformats.org/drawingml/2006/main" w="15240">
            <a:solidFill>
              <a:srgbClr val="00355F"/>
            </a:solidFill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42A6DB86-772A-4AB0-8C8C-51E6BD71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5340" y="4815840"/>
            <a:ext cx="952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CD4F1"/>
          </a:solidFill>
          <a:ln xmlns:a="http://schemas.openxmlformats.org/drawingml/2006/main" w="15240">
            <a:solidFill>
              <a:srgbClr val="00355F"/>
            </a:solidFill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497E644B-9E12-4660-A19B-7FBDD8AC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4738726"/>
            <a:ext cx="11430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7620">
            <a:solidFill>
              <a:srgbClr val="00355F"/>
            </a:solidFill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F77BAE72-A199-429D-9D98-01445670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3475" y="4802734"/>
            <a:ext cx="11430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7620">
            <a:solidFill>
              <a:srgbClr val="00355F"/>
            </a:solidFill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E00D931F-4858-4194-87FA-3C8EE3C6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3025" y="4738726"/>
            <a:ext cx="11430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7620">
            <a:solidFill>
              <a:srgbClr val="00355F"/>
            </a:solidFill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86D9D61E-264E-4B28-B0D0-D6E905E7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4475" y="4798466"/>
            <a:ext cx="11430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7620">
            <a:solidFill>
              <a:srgbClr val="00355F"/>
            </a:solidFill>
          </a:ln>
        </p:spPr>
      </p:sp>
      <p:sp>
        <p:nvSpPr>
          <p:cNvPr id="306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8A68D0E9-DFEB-42D3-9230-9671473C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6040" y="4229100"/>
            <a:ext cx="198120" cy="914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7399C6"/>
          </a:solidFill>
          <a:ln xmlns:a="http://schemas.openxmlformats.org/drawingml/2006/main" w="15240">
            <a:solidFill>
              <a:srgbClr val="00355F"/>
            </a:solidFill>
          </a:ln>
        </p:spPr>
      </p:sp>
      <p:sp>
        <p:nvSpPr>
          <p:cNvPr id="307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8266AC82-20A9-4747-9DC7-DEFADA7A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0320" y="4320540"/>
            <a:ext cx="289560" cy="106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355F"/>
            </a:solidFill>
          </a:ln>
        </p:spPr>
      </p:sp>
      <p:sp>
        <p:nvSpPr>
          <p:cNvPr id="308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6A94F8B8-6389-4BD8-A919-CA30C442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6980" y="4419600"/>
            <a:ext cx="396240" cy="5334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355F"/>
            </a:solidFill>
          </a:ln>
        </p:spPr>
      </p:sp>
      <p:sp>
        <p:nvSpPr>
          <p:cNvPr id="309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3C287308-2B35-4444-A497-1A6C5C5E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7460" y="4617720"/>
            <a:ext cx="335280" cy="3048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ACD4F1"/>
          </a:solidFill>
          <a:ln xmlns:a="http://schemas.openxmlformats.org/drawingml/2006/main" w="0">
            <a:noFill/>
          </a:ln>
        </p:spPr>
      </p:sp>
      <p:sp>
        <p:nvSpPr>
          <p:cNvPr id="310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8C5C09FB-6AE5-4D60-B93F-1EC3F0D7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7940" y="4572000"/>
            <a:ext cx="274320" cy="190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311" name="MEDIA">
            <a:extLst xmlns:a="http://schemas.openxmlformats.org/drawingml/2006/main">
              <a:ext uri="{FF2B5EF4-FFF2-40B4-BE49-F238E27FC236}">
                <a16:creationId xmlns:a16="http://schemas.microsoft.com/office/drawing/2014/main" id="{FECF2AB9-7D00-4272-82FB-A6AB2E16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5560" y="4610100"/>
            <a:ext cx="259080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60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MEDIA</a:t>
            </a:r>
          </a:p>
        </p:txBody>
      </p:sp>
      <p:sp>
        <p:nvSpPr>
          <p:cNvPr id="312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56328F9B-256E-455A-BBEF-8293FD25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3502" y="4038600"/>
            <a:ext cx="362712" cy="632155"/>
          </a:xfrm>
          <a:custGeom xmlns:a="http://schemas.openxmlformats.org/drawingml/2006/main">
            <a:pathLst>
              <a:path w="362712" h="632155">
                <a:moveTo>
                  <a:pt x="253898" y="0"/>
                </a:moveTo>
                <a:lnTo>
                  <a:pt x="362712" y="51816"/>
                </a:lnTo>
                <a:lnTo>
                  <a:pt x="51816" y="632155"/>
                </a:lnTo>
                <a:lnTo>
                  <a:pt x="0" y="60106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355F"/>
            </a:solidFill>
          </a:ln>
        </p:spPr>
      </p:sp>
      <p:sp>
        <p:nvSpPr>
          <p:cNvPr id="313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51654D0B-F940-4719-9775-F2D2F144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504" y="4639666"/>
            <a:ext cx="108814" cy="150266"/>
          </a:xfrm>
          <a:custGeom xmlns:a="http://schemas.openxmlformats.org/drawingml/2006/main">
            <a:pathLst>
              <a:path w="108814" h="150266">
                <a:moveTo>
                  <a:pt x="108814" y="31090"/>
                </a:moveTo>
                <a:lnTo>
                  <a:pt x="56998" y="0"/>
                </a:lnTo>
                <a:lnTo>
                  <a:pt x="0" y="150266"/>
                </a:lnTo>
                <a:close/>
              </a:path>
            </a:pathLst>
          </a:custGeom>
          <a:solidFill xmlns:a="http://schemas.openxmlformats.org/drawingml/2006/main">
            <a:srgbClr val="ACD4F1"/>
          </a:solidFill>
          <a:ln xmlns:a="http://schemas.openxmlformats.org/drawingml/2006/main" w="15240">
            <a:solidFill>
              <a:srgbClr val="00355F"/>
            </a:solidFill>
          </a:ln>
        </p:spPr>
      </p:sp>
      <p:sp>
        <p:nvSpPr>
          <p:cNvPr id="314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D3200A49-ABCA-4F3D-AD81-F995FEC2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218" y="3976421"/>
            <a:ext cx="113995" cy="77724"/>
          </a:xfrm>
          <a:prstGeom xmlns:a="http://schemas.openxmlformats.org/drawingml/2006/main" prst="roundRect">
            <a:avLst>
              <a:gd name="adj" fmla="val 19608"/>
            </a:avLst>
          </a:prstGeom>
          <a:solidFill xmlns:a="http://schemas.openxmlformats.org/drawingml/2006/main">
            <a:srgbClr val="7399C6"/>
          </a:solidFill>
          <a:ln xmlns:a="http://schemas.openxmlformats.org/drawingml/2006/main" w="11430">
            <a:solidFill>
              <a:srgbClr val="00355F"/>
            </a:solidFill>
          </a:ln>
        </p:spPr>
      </p:sp>
      <p:sp>
        <p:nvSpPr>
          <p:cNvPr id="315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1EEF1AEA-A04E-4C7D-907C-12084C6A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5051" y="4831385"/>
            <a:ext cx="56998" cy="98450"/>
          </a:xfrm>
          <a:custGeom xmlns:a="http://schemas.openxmlformats.org/drawingml/2006/main">
            <a:pathLst>
              <a:path w="56998" h="98450">
                <a:moveTo>
                  <a:pt x="31090" y="0"/>
                </a:moveTo>
                <a:lnTo>
                  <a:pt x="0" y="67361"/>
                </a:lnTo>
                <a:lnTo>
                  <a:pt x="20726" y="98450"/>
                </a:lnTo>
                <a:lnTo>
                  <a:pt x="56998" y="77724"/>
                </a:lnTo>
                <a:close/>
              </a:path>
            </a:pathLst>
          </a:cu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316" name="Cell model + media + dosing">
            <a:extLst xmlns:a="http://schemas.openxmlformats.org/drawingml/2006/main">
              <a:ext uri="{FF2B5EF4-FFF2-40B4-BE49-F238E27FC236}">
                <a16:creationId xmlns:a16="http://schemas.microsoft.com/office/drawing/2014/main" id="{29A992C4-727A-41AE-AE18-49E9CC99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7240" y="5151120"/>
            <a:ext cx="233172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08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08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08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Cell model + media + dosing</a:t>
            </a:r>
          </a:p>
        </p:txBody>
      </p:sp>
      <p:sp>
        <p:nvSpPr>
          <p:cNvPr id="317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5501A064-410C-4254-8E4A-90A485A4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0580" y="5455920"/>
            <a:ext cx="1005840" cy="73152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355F"/>
            </a:solidFill>
          </a:ln>
        </p:spPr>
      </p:sp>
      <p:sp>
        <p:nvSpPr>
          <p:cNvPr id="318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0FD266FE-03F7-4147-867D-390CB199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9160" y="5524500"/>
            <a:ext cx="381000" cy="5867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0F7FC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5C111F62-387E-4EB7-9B79-3D91AE28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9180" y="556260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05FFC65B-1F3A-429E-8139-53A3824F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9180" y="569976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55BB7A3E-00E1-4116-BCF8-909F40AB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9180" y="583692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72F86006-D94D-4EA8-92E2-8F25209B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9180" y="597408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323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D0340346-E195-464B-A0DD-C5ECE834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6780" y="5806440"/>
            <a:ext cx="350520" cy="762"/>
          </a:xfrm>
          <a:custGeom xmlns:a="http://schemas.openxmlformats.org/drawingml/2006/main">
            <a:pathLst>
              <a:path w="350520" h="762">
                <a:moveTo>
                  <a:pt x="0" y="0"/>
                </a:moveTo>
                <a:lnTo>
                  <a:pt x="3505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F67F26"/>
            </a:solidFill>
          </a:ln>
        </p:spPr>
      </p:sp>
      <p:sp>
        <p:nvSpPr>
          <p:cNvPr id="324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B02E62C0-1289-4470-8372-475D994C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6360" y="5554980"/>
            <a:ext cx="411480" cy="41148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ACD4F1"/>
          </a:solidFill>
          <a:ln xmlns:a="http://schemas.openxmlformats.org/drawingml/2006/main" w="11430">
            <a:solidFill>
              <a:srgbClr val="00355F"/>
            </a:solidFill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20914A69-B5BC-465B-9F21-2E730CFF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5128" y="5618988"/>
            <a:ext cx="24384" cy="243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55F"/>
          </a:solidFill>
          <a:ln xmlns:a="http://schemas.openxmlformats.org/drawingml/2006/main" w="0">
            <a:noFill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8086EB9D-B32C-4051-B2D6-FD0F7F8E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4668" y="5718048"/>
            <a:ext cx="24384" cy="243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55F"/>
          </a:solidFill>
          <a:ln xmlns:a="http://schemas.openxmlformats.org/drawingml/2006/main" w="0">
            <a:noFill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7F8B00C1-9828-4163-A46C-DABEC909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208" y="5817108"/>
            <a:ext cx="24384" cy="243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55F"/>
          </a:solidFill>
          <a:ln xmlns:a="http://schemas.openxmlformats.org/drawingml/2006/main" w="0">
            <a:noFill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E2F02661-71AE-4A4E-A156-763ED959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1808" y="5664708"/>
            <a:ext cx="24384" cy="243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55F"/>
          </a:solidFill>
          <a:ln xmlns:a="http://schemas.openxmlformats.org/drawingml/2006/main" w="0">
            <a:noFill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A921AD0A-A50E-4669-AC6E-B0714B9D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1348" y="5763768"/>
            <a:ext cx="24384" cy="243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55F"/>
          </a:solidFill>
          <a:ln xmlns:a="http://schemas.openxmlformats.org/drawingml/2006/main" w="0">
            <a:noFill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09FFB6E0-0D9F-46C6-A3CA-CF46E3E5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8948" y="5862828"/>
            <a:ext cx="24384" cy="243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55F"/>
          </a:solidFill>
          <a:ln xmlns:a="http://schemas.openxmlformats.org/drawingml/2006/main" w="0">
            <a:noFill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51EB2785-DAE7-4384-8152-AAF556FA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8488" y="5710428"/>
            <a:ext cx="24384" cy="243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55F"/>
          </a:solidFill>
          <a:ln xmlns:a="http://schemas.openxmlformats.org/drawingml/2006/main" w="0">
            <a:noFill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CC940BC8-267C-430B-B927-B77892E0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088" y="5809488"/>
            <a:ext cx="24384" cy="243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55F"/>
          </a:solidFill>
          <a:ln xmlns:a="http://schemas.openxmlformats.org/drawingml/2006/main" w="0">
            <a:noFill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A28D0BB3-3D0F-4A55-84A6-514FD920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5628" y="5657088"/>
            <a:ext cx="24384" cy="243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55F"/>
          </a:solidFill>
          <a:ln xmlns:a="http://schemas.openxmlformats.org/drawingml/2006/main" w="0">
            <a:noFill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88179C84-9C0F-4156-93B7-36296743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3228" y="5756148"/>
            <a:ext cx="24384" cy="243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55F"/>
          </a:solidFill>
          <a:ln xmlns:a="http://schemas.openxmlformats.org/drawingml/2006/main" w="0">
            <a:noFill/>
          </a:ln>
        </p:spPr>
      </p:sp>
      <p:sp>
        <p:nvSpPr>
          <p:cNvPr id="335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C0640300-ED83-4DE2-BFEC-22EB4450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4080" y="6156960"/>
            <a:ext cx="876300" cy="10668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7399C6"/>
          </a:solidFill>
          <a:ln xmlns:a="http://schemas.openxmlformats.org/drawingml/2006/main" w="15240">
            <a:solidFill>
              <a:srgbClr val="00355F"/>
            </a:solidFill>
          </a:ln>
        </p:spPr>
      </p:sp>
      <p:sp>
        <p:nvSpPr>
          <p:cNvPr id="336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407E6D80-90CF-410C-B8B5-90A3F8EE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4580" y="5669280"/>
            <a:ext cx="251460" cy="487680"/>
          </a:xfrm>
          <a:custGeom xmlns:a="http://schemas.openxmlformats.org/drawingml/2006/main">
            <a:pathLst>
              <a:path w="251460" h="487680">
                <a:moveTo>
                  <a:pt x="251460" y="487680"/>
                </a:moveTo>
                <a:lnTo>
                  <a:pt x="0" y="259080"/>
                </a:ln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1440">
            <a:solidFill>
              <a:srgbClr val="00355F"/>
            </a:solidFill>
          </a:ln>
        </p:spPr>
      </p:sp>
      <p:sp>
        <p:nvSpPr>
          <p:cNvPr id="337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89110F50-F5C6-4AB6-A488-9EA3A667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9340" y="5547360"/>
            <a:ext cx="350520" cy="381000"/>
          </a:xfrm>
          <a:custGeom xmlns:a="http://schemas.openxmlformats.org/drawingml/2006/main">
            <a:pathLst>
              <a:path w="350520" h="381000">
                <a:moveTo>
                  <a:pt x="152400" y="0"/>
                </a:moveTo>
                <a:lnTo>
                  <a:pt x="350520" y="83820"/>
                </a:lnTo>
                <a:lnTo>
                  <a:pt x="175260" y="381000"/>
                </a:lnTo>
                <a:lnTo>
                  <a:pt x="0" y="297180"/>
                </a:lnTo>
                <a:close/>
              </a:path>
            </a:pathLst>
          </a:custGeom>
          <a:solidFill xmlns:a="http://schemas.openxmlformats.org/drawingml/2006/main">
            <a:srgbClr val="ACD4F1"/>
          </a:solidFill>
          <a:ln xmlns:a="http://schemas.openxmlformats.org/drawingml/2006/main" w="19050">
            <a:solidFill>
              <a:srgbClr val="00355F"/>
            </a:solidFill>
          </a:ln>
        </p:spPr>
      </p:sp>
      <p:sp>
        <p:nvSpPr>
          <p:cNvPr id="338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C3774A68-3AAE-4A68-A8AF-E35235B3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0760" y="5943600"/>
            <a:ext cx="556260" cy="60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355F"/>
            </a:solidFill>
          </a:ln>
        </p:spPr>
      </p:sp>
      <p:sp>
        <p:nvSpPr>
          <p:cNvPr id="339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AA29B118-AD54-4B9D-92CC-D8BBD0E2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4140" y="5402580"/>
            <a:ext cx="160020" cy="220980"/>
          </a:xfrm>
          <a:custGeom xmlns:a="http://schemas.openxmlformats.org/drawingml/2006/main">
            <a:pathLst>
              <a:path w="160020" h="220980">
                <a:moveTo>
                  <a:pt x="0" y="220980"/>
                </a:moveTo>
                <a:lnTo>
                  <a:pt x="1600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060">
            <a:solidFill>
              <a:srgbClr val="00355F"/>
            </a:solidFill>
          </a:ln>
        </p:spPr>
      </p:sp>
      <p:sp>
        <p:nvSpPr>
          <p:cNvPr id="340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EC1F3D76-7829-4F9E-BD90-6FC92342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5580" y="5379720"/>
            <a:ext cx="19050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11430">
            <a:solidFill>
              <a:srgbClr val="00355F"/>
            </a:solidFill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FC35A298-CF24-4D46-BD9D-CC8EB14A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9820" y="5882640"/>
            <a:ext cx="121920" cy="121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549"/>
          </a:solidFill>
          <a:ln xmlns:a="http://schemas.openxmlformats.org/drawingml/2006/main" w="0">
            <a:noFill/>
          </a:ln>
        </p:spPr>
      </p:sp>
      <p:sp>
        <p:nvSpPr>
          <p:cNvPr id="342" name="Flow cytometry">
            <a:extLst xmlns:a="http://schemas.openxmlformats.org/drawingml/2006/main">
              <a:ext uri="{FF2B5EF4-FFF2-40B4-BE49-F238E27FC236}">
                <a16:creationId xmlns:a16="http://schemas.microsoft.com/office/drawing/2014/main" id="{84885465-3EFB-41EB-BC99-5D5DC066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6760" y="6370320"/>
            <a:ext cx="1165860" cy="175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02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02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02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Flow cytometry</a:t>
            </a:r>
          </a:p>
        </p:txBody>
      </p:sp>
      <p:sp>
        <p:nvSpPr>
          <p:cNvPr id="343" name="Cell imaging">
            <a:extLst xmlns:a="http://schemas.openxmlformats.org/drawingml/2006/main">
              <a:ext uri="{FF2B5EF4-FFF2-40B4-BE49-F238E27FC236}">
                <a16:creationId xmlns:a16="http://schemas.microsoft.com/office/drawing/2014/main" id="{9364546E-8811-4207-BA2D-6EB26BD3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6370320"/>
            <a:ext cx="1028700" cy="175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02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02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02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Cell imaging</a:t>
            </a:r>
          </a:p>
        </p:txBody>
      </p:sp>
      <p:sp>
        <p:nvSpPr>
          <p:cNvPr id="344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5BC8F5BF-7FD0-4249-A54F-831E1292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6758940"/>
            <a:ext cx="2362200" cy="37338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ACD4F1"/>
          </a:solidFill>
          <a:ln xmlns:a="http://schemas.openxmlformats.org/drawingml/2006/main" w="0">
            <a:noFill/>
          </a:ln>
        </p:spPr>
      </p:sp>
      <p:sp>
        <p:nvSpPr>
          <p:cNvPr id="345" name="Cell potency">
            <a:extLst xmlns:a="http://schemas.openxmlformats.org/drawingml/2006/main">
              <a:ext uri="{FF2B5EF4-FFF2-40B4-BE49-F238E27FC236}">
                <a16:creationId xmlns:a16="http://schemas.microsoft.com/office/drawing/2014/main" id="{FD9901B8-2E75-45DD-BF25-86EE367B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0580" y="6858000"/>
            <a:ext cx="2225040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20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Cell potency</a:t>
            </a:r>
          </a:p>
        </p:txBody>
      </p:sp>
      <p:sp>
        <p:nvSpPr>
          <p:cNvPr id="346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4AFBED08-03BD-4CD9-8779-30196D7F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7240" y="7284720"/>
            <a:ext cx="2331720" cy="762"/>
          </a:xfrm>
          <a:custGeom xmlns:a="http://schemas.openxmlformats.org/drawingml/2006/main">
            <a:pathLst>
              <a:path w="2331720" h="762">
                <a:moveTo>
                  <a:pt x="0" y="0"/>
                </a:moveTo>
                <a:lnTo>
                  <a:pt x="23317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A5A5A5"/>
            </a:solidFill>
          </a:ln>
        </p:spPr>
      </p:sp>
      <p:sp>
        <p:nvSpPr>
          <p:cNvPr id="347" name="REPRESENTATIVE SUPPLIERS">
            <a:extLst xmlns:a="http://schemas.openxmlformats.org/drawingml/2006/main">
              <a:ext uri="{FF2B5EF4-FFF2-40B4-BE49-F238E27FC236}">
                <a16:creationId xmlns:a16="http://schemas.microsoft.com/office/drawing/2014/main" id="{713A8104-85E1-4CB9-BEE8-52CBDAF7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7240" y="7437120"/>
            <a:ext cx="233172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90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REPRESENTATIVE SUPPLIERS</a:t>
            </a:r>
          </a:p>
        </p:txBody>
      </p:sp>
      <p:sp>
        <p:nvSpPr>
          <p:cNvPr id="348" name="Cell inputs / labware">
            <a:extLst xmlns:a="http://schemas.openxmlformats.org/drawingml/2006/main">
              <a:ext uri="{FF2B5EF4-FFF2-40B4-BE49-F238E27FC236}">
                <a16:creationId xmlns:a16="http://schemas.microsoft.com/office/drawing/2014/main" id="{667DE412-7BA2-45EB-BD21-95AC105E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7240" y="7703820"/>
            <a:ext cx="2331720" cy="175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900" b="1">
                <a:solidFill>
                  <a:srgbClr val="7399C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7399C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399C6"/>
                </a:solidFill>
                <a:latin typeface="Arial"/>
                <a:ea typeface="Arial"/>
                <a:cs typeface="Arial"/>
              </a:rPr>
              <a:t>Cell inputs / labware</a:t>
            </a:r>
          </a:p>
        </p:txBody>
      </p:sp>
      <p:sp>
        <p:nvSpPr>
          <p:cNvPr id="349" name="Gibco · Bio-Techne · Corning">
            <a:extLst xmlns:a="http://schemas.openxmlformats.org/drawingml/2006/main">
              <a:ext uri="{FF2B5EF4-FFF2-40B4-BE49-F238E27FC236}">
                <a16:creationId xmlns:a16="http://schemas.microsoft.com/office/drawing/2014/main" id="{139B8827-A1E2-4470-BB23-DE09B551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7240" y="7871460"/>
            <a:ext cx="23317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1020" b="0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20" b="0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020" b="0">
                <a:solidFill>
                  <a:srgbClr val="00355F"/>
                </a:solidFill>
                <a:latin typeface="Arial"/>
                <a:ea typeface="Arial"/>
                <a:cs typeface="Arial"/>
              </a:rPr>
              <a:t>Gibco · Bio-Techne · Corning</a:t>
            </a:r>
          </a:p>
        </p:txBody>
      </p:sp>
      <p:sp>
        <p:nvSpPr>
          <p:cNvPr id="350" name="Flow / imaging">
            <a:extLst xmlns:a="http://schemas.openxmlformats.org/drawingml/2006/main">
              <a:ext uri="{FF2B5EF4-FFF2-40B4-BE49-F238E27FC236}">
                <a16:creationId xmlns:a16="http://schemas.microsoft.com/office/drawing/2014/main" id="{AB7F8435-2DE9-42CA-AFCA-296BABAC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7240" y="8122920"/>
            <a:ext cx="2331720" cy="175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900" b="1">
                <a:solidFill>
                  <a:srgbClr val="7399C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7399C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399C6"/>
                </a:solidFill>
                <a:latin typeface="Arial"/>
                <a:ea typeface="Arial"/>
                <a:cs typeface="Arial"/>
              </a:rPr>
              <a:t>Flow / imaging</a:t>
            </a:r>
          </a:p>
        </p:txBody>
      </p:sp>
      <p:sp>
        <p:nvSpPr>
          <p:cNvPr id="351" name="Waters Biosciences* · Mol. Devices">
            <a:extLst xmlns:a="http://schemas.openxmlformats.org/drawingml/2006/main">
              <a:ext uri="{FF2B5EF4-FFF2-40B4-BE49-F238E27FC236}">
                <a16:creationId xmlns:a16="http://schemas.microsoft.com/office/drawing/2014/main" id="{699E8ABE-C9CE-4CCB-8222-ADFFFA0D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7240" y="8290560"/>
            <a:ext cx="23317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1020" b="0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20" b="0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020" b="0">
                <a:solidFill>
                  <a:srgbClr val="00355F"/>
                </a:solidFill>
                <a:latin typeface="Arial"/>
                <a:ea typeface="Arial"/>
                <a:cs typeface="Arial"/>
              </a:rPr>
              <a:t>Waters Biosciences* · Mol. Devices</a:t>
            </a:r>
          </a:p>
        </p:txBody>
      </p:sp>
      <p:sp>
        <p:nvSpPr>
          <p:cNvPr id="352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A5A334AB-B1F9-4EB8-9B9F-9C5BF15E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1840" y="5090160"/>
            <a:ext cx="114300" cy="762"/>
          </a:xfrm>
          <a:custGeom xmlns:a="http://schemas.openxmlformats.org/drawingml/2006/main">
            <a:pathLst>
              <a:path w="114300" h="762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00355F"/>
            </a:solidFill>
          </a:ln>
        </p:spPr>
      </p:sp>
      <p:sp>
        <p:nvSpPr>
          <p:cNvPr id="353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7D041BCE-802D-450E-8EBE-5BFA151D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7674" y="5054314"/>
            <a:ext cx="58466" cy="71692"/>
          </a:xfrm>
          <a:custGeom xmlns:a="http://schemas.openxmlformats.org/drawingml/2006/main">
            <a:pathLst>
              <a:path w="58466" h="71692">
                <a:moveTo>
                  <a:pt x="58466" y="35846"/>
                </a:moveTo>
                <a:lnTo>
                  <a:pt x="0" y="716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355F"/>
          </a:solidFill>
          <a:ln xmlns:a="http://schemas.openxmlformats.org/drawingml/2006/main" w="0">
            <a:noFill/>
          </a:ln>
        </p:spPr>
      </p:sp>
      <p:sp>
        <p:nvSpPr>
          <p:cNvPr id="354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CA58B731-3D55-4800-A884-2D7D6951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2179320"/>
            <a:ext cx="2667000" cy="6477000"/>
          </a:xfrm>
          <a:prstGeom xmlns:a="http://schemas.openxmlformats.org/drawingml/2006/main" prst="roundRect">
            <a:avLst>
              <a:gd name="adj" fmla="val 3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5A5A5"/>
            </a:solidFill>
          </a:ln>
        </p:spPr>
      </p:sp>
      <p:sp>
        <p:nvSpPr>
          <p:cNvPr id="355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E98630D6-31D5-4F28-8165-173EDC7E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2179320"/>
            <a:ext cx="266700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55F"/>
          </a:solidFill>
          <a:ln xmlns:a="http://schemas.openxmlformats.org/drawingml/2006/main" w="0">
            <a:noFill/>
          </a:ln>
        </p:spPr>
      </p:sp>
      <p:sp>
        <p:nvSpPr>
          <p:cNvPr id="356" name="06 / LEARN">
            <a:extLst xmlns:a="http://schemas.openxmlformats.org/drawingml/2006/main">
              <a:ext uri="{FF2B5EF4-FFF2-40B4-BE49-F238E27FC236}">
                <a16:creationId xmlns:a16="http://schemas.microsoft.com/office/drawing/2014/main" id="{1CCED0E2-1342-412D-9D96-B03F089C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6640" y="2385060"/>
            <a:ext cx="23317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114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14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06 / LEARN</a:t>
            </a:r>
          </a:p>
        </p:txBody>
      </p:sp>
      <p:sp>
        <p:nvSpPr>
          <p:cNvPr id="357" name="Data integration">
            <a:extLst xmlns:a="http://schemas.openxmlformats.org/drawingml/2006/main">
              <a:ext uri="{FF2B5EF4-FFF2-40B4-BE49-F238E27FC236}">
                <a16:creationId xmlns:a16="http://schemas.microsoft.com/office/drawing/2014/main" id="{17AE09D4-97B1-4D56-9CFB-4F03456A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6640" y="2697480"/>
            <a:ext cx="233172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180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Data integration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&amp; feedback</a:t>
            </a:r>
          </a:p>
        </p:txBody>
      </p:sp>
      <p:sp>
        <p:nvSpPr>
          <p:cNvPr id="358" name="Link samples and results">
            <a:extLst xmlns:a="http://schemas.openxmlformats.org/drawingml/2006/main">
              <a:ext uri="{FF2B5EF4-FFF2-40B4-BE49-F238E27FC236}">
                <a16:creationId xmlns:a16="http://schemas.microsoft.com/office/drawing/2014/main" id="{5F5B5DBC-C1C1-4098-9522-52C82056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6640" y="3329940"/>
            <a:ext cx="233172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1260" b="0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0" b="0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260" b="0">
                <a:solidFill>
                  <a:srgbClr val="00355F"/>
                </a:solidFill>
                <a:latin typeface="Arial"/>
                <a:ea typeface="Arial"/>
                <a:cs typeface="Arial"/>
              </a:rPr>
              <a:t>Link samples and results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60" b="0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260" b="0">
                <a:solidFill>
                  <a:srgbClr val="00355F"/>
                </a:solidFill>
                <a:latin typeface="Arial"/>
                <a:ea typeface="Arial"/>
                <a:cs typeface="Arial"/>
              </a:rPr>
              <a:t>to the next model-guided design</a:t>
            </a:r>
          </a:p>
        </p:txBody>
      </p:sp>
      <p:sp>
        <p:nvSpPr>
          <p:cNvPr id="359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4FEA9E5E-7221-4A3F-8934-1F2591A5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5680" y="3924300"/>
            <a:ext cx="2453640" cy="2682240"/>
          </a:xfrm>
          <a:prstGeom xmlns:a="http://schemas.openxmlformats.org/drawingml/2006/main" prst="roundRect">
            <a:avLst>
              <a:gd name="adj" fmla="val 3106"/>
            </a:avLst>
          </a:prstGeom>
          <a:solidFill xmlns:a="http://schemas.openxmlformats.org/drawingml/2006/main">
            <a:srgbClr val="F0F7FC"/>
          </a:solidFill>
          <a:ln xmlns:a="http://schemas.openxmlformats.org/drawingml/2006/main" w="0">
            <a:noFill/>
          </a:ln>
        </p:spPr>
      </p:sp>
      <p:sp>
        <p:nvSpPr>
          <p:cNvPr id="360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62F44150-D857-4519-8D52-5853EE7D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9980" y="4229100"/>
            <a:ext cx="769620" cy="46482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ACD4F1"/>
          </a:solidFill>
          <a:ln xmlns:a="http://schemas.openxmlformats.org/drawingml/2006/main" w="15240">
            <a:solidFill>
              <a:srgbClr val="00355F"/>
            </a:solidFill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767FEC5E-E8DC-4D2D-B78A-21AAF1C5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5512" y="428701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3B358693-CD4D-46DF-9EE5-B5105BF3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8387" y="428701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55A908CE-F2F0-4F31-969D-313CAA2E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1262" y="428701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B91B7C09-6C82-4FA1-AFF2-13B06E39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4137" y="428701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F5001D74-EDDD-4A8F-98FD-43D5AE6C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7012" y="428701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F72B618F-C825-4D29-ABAC-CA1FAFC2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5512" y="442798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89FA098C-A819-46E5-9C57-C1B6A135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8387" y="442798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E6F9DE3D-8E49-4431-AAD1-45F0C06F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1262" y="442798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43F2D151-C98F-44CA-8993-77F866E1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4137" y="442798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D8297896-67EF-4950-8663-7B80D587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7012" y="442798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8A1D004B-877E-496F-B918-8820513F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5512" y="456895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ED7F1605-7BFC-4525-A1D8-ED364715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8387" y="456895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FA5B8DF3-7C56-4884-B70F-7D2B4EF6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1262" y="456895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1634E506-F75F-4250-BF2B-652BCB49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4137" y="456895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9C6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D0657315-52BF-4A81-83D3-A03D861B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7012" y="4568952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399C6"/>
            </a:solidFill>
          </a:ln>
        </p:spPr>
      </p:sp>
      <p:sp>
        <p:nvSpPr>
          <p:cNvPr id="376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C0AB0092-968F-4E5D-AC74-0E2E6584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7320" y="4191000"/>
            <a:ext cx="480060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4F1"/>
          </a:solidFill>
          <a:ln xmlns:a="http://schemas.openxmlformats.org/drawingml/2006/main" w="15240">
            <a:solidFill>
              <a:srgbClr val="00355F"/>
            </a:solidFill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5DAC4DC5-6DC8-4166-9466-D310AD15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7320" y="4099560"/>
            <a:ext cx="48006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7FC"/>
          </a:solidFill>
          <a:ln xmlns:a="http://schemas.openxmlformats.org/drawingml/2006/main" w="15240">
            <a:solidFill>
              <a:srgbClr val="00355F"/>
            </a:solidFill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E93F4158-DB6D-4F7E-9428-969D2DDF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7320" y="4549140"/>
            <a:ext cx="48006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CD4F1"/>
          </a:solidFill>
          <a:ln xmlns:a="http://schemas.openxmlformats.org/drawingml/2006/main" w="15240">
            <a:solidFill>
              <a:srgbClr val="00355F"/>
            </a:solidFill>
          </a:ln>
        </p:spPr>
      </p:sp>
      <p:sp>
        <p:nvSpPr>
          <p:cNvPr id="379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F19D39C2-1A40-4703-80BF-E1DF863E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2560" y="4366260"/>
            <a:ext cx="449580" cy="38100"/>
          </a:xfrm>
          <a:custGeom xmlns:a="http://schemas.openxmlformats.org/drawingml/2006/main">
            <a:pathLst>
              <a:path w="449580" h="38100">
                <a:moveTo>
                  <a:pt x="0" y="0"/>
                </a:moveTo>
                <a:lnTo>
                  <a:pt x="106680" y="38100"/>
                </a:lnTo>
                <a:lnTo>
                  <a:pt x="342900" y="38100"/>
                </a:lnTo>
                <a:lnTo>
                  <a:pt x="4495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7399C6"/>
            </a:solidFill>
          </a:ln>
        </p:spPr>
      </p:sp>
      <p:sp>
        <p:nvSpPr>
          <p:cNvPr id="380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2AFEA0A1-EB6E-4459-868C-37BE1A00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2560" y="4556760"/>
            <a:ext cx="449580" cy="38100"/>
          </a:xfrm>
          <a:custGeom xmlns:a="http://schemas.openxmlformats.org/drawingml/2006/main">
            <a:pathLst>
              <a:path w="449580" h="38100">
                <a:moveTo>
                  <a:pt x="0" y="0"/>
                </a:moveTo>
                <a:lnTo>
                  <a:pt x="106680" y="38100"/>
                </a:lnTo>
                <a:lnTo>
                  <a:pt x="342900" y="38100"/>
                </a:lnTo>
                <a:lnTo>
                  <a:pt x="4495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7399C6"/>
            </a:solidFill>
          </a:ln>
        </p:spPr>
      </p:sp>
      <p:sp>
        <p:nvSpPr>
          <p:cNvPr id="381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A336E012-A047-4F41-AC82-59A06345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3420" y="4434840"/>
            <a:ext cx="624840" cy="762"/>
          </a:xfrm>
          <a:custGeom xmlns:a="http://schemas.openxmlformats.org/drawingml/2006/main">
            <a:pathLst>
              <a:path w="624840" h="762">
                <a:moveTo>
                  <a:pt x="0" y="0"/>
                </a:moveTo>
                <a:lnTo>
                  <a:pt x="6248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399C6"/>
            </a:solidFill>
          </a:ln>
        </p:spPr>
      </p:sp>
      <p:sp>
        <p:nvSpPr>
          <p:cNvPr id="382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C78D20E3-DDA1-4178-A92A-DA927F78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9794" y="4398994"/>
            <a:ext cx="58466" cy="71692"/>
          </a:xfrm>
          <a:custGeom xmlns:a="http://schemas.openxmlformats.org/drawingml/2006/main">
            <a:pathLst>
              <a:path w="58466" h="71692">
                <a:moveTo>
                  <a:pt x="58466" y="35846"/>
                </a:moveTo>
                <a:lnTo>
                  <a:pt x="0" y="716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383" name="Sample IDs + assay results">
            <a:extLst xmlns:a="http://schemas.openxmlformats.org/drawingml/2006/main">
              <a:ext uri="{FF2B5EF4-FFF2-40B4-BE49-F238E27FC236}">
                <a16:creationId xmlns:a16="http://schemas.microsoft.com/office/drawing/2014/main" id="{D08CF0BD-45BE-40FD-B434-4F69BB09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6640" y="4861560"/>
            <a:ext cx="2324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08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08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08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Sample IDs + assay results</a:t>
            </a:r>
          </a:p>
        </p:txBody>
      </p:sp>
      <p:sp>
        <p:nvSpPr>
          <p:cNvPr id="384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61BC8CA9-DAB3-4DF3-8CB7-3170384C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7620" y="5318760"/>
            <a:ext cx="1127760" cy="73152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355F"/>
            </a:solidFill>
          </a:ln>
        </p:spPr>
      </p:sp>
      <p:sp>
        <p:nvSpPr>
          <p:cNvPr id="385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37F7A807-4AAD-4CAB-A0E1-63AC8ACC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1440" y="5410200"/>
            <a:ext cx="960120" cy="54102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0F7FC"/>
          </a:solidFill>
          <a:ln xmlns:a="http://schemas.openxmlformats.org/drawingml/2006/main" w="11430">
            <a:solidFill>
              <a:srgbClr val="7399C6"/>
            </a:solidFill>
          </a:ln>
        </p:spPr>
      </p:sp>
      <p:sp>
        <p:nvSpPr>
          <p:cNvPr id="386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1E0A8D74-ED42-48F2-8216-6407FEB3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6180" y="6050280"/>
            <a:ext cx="1310640" cy="152400"/>
          </a:xfrm>
          <a:custGeom xmlns:a="http://schemas.openxmlformats.org/drawingml/2006/main">
            <a:pathLst>
              <a:path w="1310640" h="152400">
                <a:moveTo>
                  <a:pt x="91440" y="0"/>
                </a:moveTo>
                <a:lnTo>
                  <a:pt x="1219200" y="0"/>
                </a:lnTo>
                <a:lnTo>
                  <a:pt x="1310640" y="1524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ACD4F1"/>
          </a:solidFill>
          <a:ln xmlns:a="http://schemas.openxmlformats.org/drawingml/2006/main" w="15240">
            <a:solidFill>
              <a:srgbClr val="00355F"/>
            </a:solidFill>
          </a:ln>
        </p:spPr>
      </p:sp>
      <p:sp>
        <p:nvSpPr>
          <p:cNvPr id="387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740D5365-565D-4C54-BBE9-82F76749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4223" y="6149340"/>
            <a:ext cx="314554" cy="762"/>
          </a:xfrm>
          <a:custGeom xmlns:a="http://schemas.openxmlformats.org/drawingml/2006/main">
            <a:pathLst>
              <a:path w="314554" h="762">
                <a:moveTo>
                  <a:pt x="0" y="0"/>
                </a:moveTo>
                <a:lnTo>
                  <a:pt x="3145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00355F"/>
            </a:solidFill>
          </a:ln>
        </p:spPr>
      </p:sp>
      <p:sp>
        <p:nvSpPr>
          <p:cNvPr id="388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26EC7238-14E7-4DFA-9A41-9A88A78A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1460" y="5478780"/>
            <a:ext cx="358140" cy="76200"/>
          </a:xfrm>
          <a:custGeom xmlns:a="http://schemas.openxmlformats.org/drawingml/2006/main">
            <a:pathLst>
              <a:path w="358140" h="76200">
                <a:moveTo>
                  <a:pt x="0" y="7620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7399C6"/>
            </a:solidFill>
          </a:ln>
        </p:spPr>
      </p:sp>
      <p:sp>
        <p:nvSpPr>
          <p:cNvPr id="389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B86425BE-E43D-4E0F-BB9D-FCB8A1AB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1460" y="5554980"/>
            <a:ext cx="358140" cy="160020"/>
          </a:xfrm>
          <a:custGeom xmlns:a="http://schemas.openxmlformats.org/drawingml/2006/main">
            <a:pathLst>
              <a:path w="358140" h="160020">
                <a:moveTo>
                  <a:pt x="0" y="0"/>
                </a:moveTo>
                <a:lnTo>
                  <a:pt x="358140" y="16002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7399C6"/>
            </a:solidFill>
          </a:ln>
        </p:spPr>
      </p:sp>
      <p:sp>
        <p:nvSpPr>
          <p:cNvPr id="390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F78D8FD7-9E94-462F-8BF4-25B59E1B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1460" y="5554980"/>
            <a:ext cx="358140" cy="373380"/>
          </a:xfrm>
          <a:custGeom xmlns:a="http://schemas.openxmlformats.org/drawingml/2006/main">
            <a:pathLst>
              <a:path w="358140" h="373380">
                <a:moveTo>
                  <a:pt x="0" y="0"/>
                </a:moveTo>
                <a:lnTo>
                  <a:pt x="358140" y="37338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7399C6"/>
            </a:solidFill>
          </a:ln>
        </p:spPr>
      </p:sp>
      <p:sp>
        <p:nvSpPr>
          <p:cNvPr id="391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488C9305-A3BC-41A7-B6B7-B3E71AD0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1460" y="5478780"/>
            <a:ext cx="358140" cy="350520"/>
          </a:xfrm>
          <a:custGeom xmlns:a="http://schemas.openxmlformats.org/drawingml/2006/main">
            <a:pathLst>
              <a:path w="358140" h="350520">
                <a:moveTo>
                  <a:pt x="0" y="35052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7399C6"/>
            </a:solidFill>
          </a:ln>
        </p:spPr>
      </p:sp>
      <p:sp>
        <p:nvSpPr>
          <p:cNvPr id="392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12DEFEBB-ADAA-4FEE-A280-A5523808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1460" y="5715000"/>
            <a:ext cx="358140" cy="114300"/>
          </a:xfrm>
          <a:custGeom xmlns:a="http://schemas.openxmlformats.org/drawingml/2006/main">
            <a:pathLst>
              <a:path w="358140" h="114300">
                <a:moveTo>
                  <a:pt x="0" y="11430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7399C6"/>
            </a:solidFill>
          </a:ln>
        </p:spPr>
      </p:sp>
      <p:sp>
        <p:nvSpPr>
          <p:cNvPr id="393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69AFAD99-9B27-4796-88A7-AF8515D9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1460" y="5829300"/>
            <a:ext cx="358140" cy="99060"/>
          </a:xfrm>
          <a:custGeom xmlns:a="http://schemas.openxmlformats.org/drawingml/2006/main">
            <a:pathLst>
              <a:path w="358140" h="99060">
                <a:moveTo>
                  <a:pt x="0" y="0"/>
                </a:moveTo>
                <a:lnTo>
                  <a:pt x="358140" y="9906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7399C6"/>
            </a:solidFill>
          </a:ln>
        </p:spPr>
      </p:sp>
      <p:sp>
        <p:nvSpPr>
          <p:cNvPr id="394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1875FE2C-53CD-4A1F-BD6E-931AC867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9600" y="5478780"/>
            <a:ext cx="335280" cy="220980"/>
          </a:xfrm>
          <a:custGeom xmlns:a="http://schemas.openxmlformats.org/drawingml/2006/main">
            <a:pathLst>
              <a:path w="335280" h="220980">
                <a:moveTo>
                  <a:pt x="0" y="0"/>
                </a:moveTo>
                <a:lnTo>
                  <a:pt x="335280" y="22098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7399C6"/>
            </a:solidFill>
          </a:ln>
        </p:spPr>
      </p:sp>
      <p:sp>
        <p:nvSpPr>
          <p:cNvPr id="395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D03C2268-0DB6-411A-9B79-908F3190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9600" y="5699760"/>
            <a:ext cx="335280" cy="15240"/>
          </a:xfrm>
          <a:custGeom xmlns:a="http://schemas.openxmlformats.org/drawingml/2006/main">
            <a:pathLst>
              <a:path w="335280" h="15240">
                <a:moveTo>
                  <a:pt x="0" y="15240"/>
                </a:moveTo>
                <a:lnTo>
                  <a:pt x="3352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7399C6"/>
            </a:solidFill>
          </a:ln>
        </p:spPr>
      </p:sp>
      <p:sp>
        <p:nvSpPr>
          <p:cNvPr id="396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387A20BE-F6F9-4D74-8F78-61D50E83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9600" y="5699760"/>
            <a:ext cx="335280" cy="228600"/>
          </a:xfrm>
          <a:custGeom xmlns:a="http://schemas.openxmlformats.org/drawingml/2006/main">
            <a:pathLst>
              <a:path w="335280" h="228600">
                <a:moveTo>
                  <a:pt x="0" y="228600"/>
                </a:moveTo>
                <a:lnTo>
                  <a:pt x="3352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7399C6"/>
            </a:solidFill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C589A8C9-B0F1-47B4-ABB4-E345775C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3360" y="551688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55F"/>
          </a:solidFill>
          <a:ln xmlns:a="http://schemas.openxmlformats.org/drawingml/2006/main" w="0">
            <a:noFill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0CF22149-E834-44AE-A1F0-B697663D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3360" y="5791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55F"/>
          </a:solidFill>
          <a:ln xmlns:a="http://schemas.openxmlformats.org/drawingml/2006/main" w="0">
            <a:noFill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50D7CE9B-D793-4E6E-980A-4AA04B27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544068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55F"/>
          </a:solidFill>
          <a:ln xmlns:a="http://schemas.openxmlformats.org/drawingml/2006/main" w="0">
            <a:noFill/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CC31269F-5181-4F8C-B590-34734DE5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5676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55F"/>
          </a:solidFill>
          <a:ln xmlns:a="http://schemas.openxmlformats.org/drawingml/2006/main" w="0">
            <a:noFill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64622356-2819-46A7-B852-6DD78C98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589026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55F"/>
          </a:solidFill>
          <a:ln xmlns:a="http://schemas.openxmlformats.org/drawingml/2006/main" w="0">
            <a:noFill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8C049EDC-3E54-4FA3-A01D-C0FFEB59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6780" y="566166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55F"/>
          </a:solidFill>
          <a:ln xmlns:a="http://schemas.openxmlformats.org/drawingml/2006/main" w="0">
            <a:noFill/>
          </a:ln>
        </p:spPr>
      </p:sp>
      <p:sp>
        <p:nvSpPr>
          <p:cNvPr id="403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DE9076FC-ED79-4A44-8B1C-086C0FF9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7780" y="5745480"/>
            <a:ext cx="213360" cy="762"/>
          </a:xfrm>
          <a:custGeom xmlns:a="http://schemas.openxmlformats.org/drawingml/2006/main">
            <a:pathLst>
              <a:path w="213360" h="762">
                <a:moveTo>
                  <a:pt x="0" y="0"/>
                </a:moveTo>
                <a:lnTo>
                  <a:pt x="2133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399C6"/>
            </a:solidFill>
          </a:ln>
        </p:spPr>
      </p:sp>
      <p:sp>
        <p:nvSpPr>
          <p:cNvPr id="404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FEEA52DB-B493-49AD-91F7-9AF2EC7D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2674" y="5709634"/>
            <a:ext cx="58466" cy="71692"/>
          </a:xfrm>
          <a:custGeom xmlns:a="http://schemas.openxmlformats.org/drawingml/2006/main">
            <a:pathLst>
              <a:path w="58466" h="71692">
                <a:moveTo>
                  <a:pt x="58466" y="35846"/>
                </a:moveTo>
                <a:lnTo>
                  <a:pt x="0" y="716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405" name="Next">
            <a:extLst xmlns:a="http://schemas.openxmlformats.org/drawingml/2006/main">
              <a:ext uri="{FF2B5EF4-FFF2-40B4-BE49-F238E27FC236}">
                <a16:creationId xmlns:a16="http://schemas.microsoft.com/office/drawing/2014/main" id="{B4AFFB9D-F2A4-4885-8BE0-7FB3019C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9240" y="545592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20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Next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DNA</a:t>
            </a:r>
          </a:p>
        </p:txBody>
      </p:sp>
      <p:sp>
        <p:nvSpPr>
          <p:cNvPr id="406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BC2EC9EA-941E-456B-9CB7-34E8325A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1640" y="5935980"/>
            <a:ext cx="175260" cy="6858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7399C6"/>
          </a:solidFill>
          <a:ln xmlns:a="http://schemas.openxmlformats.org/drawingml/2006/main" w="13716">
            <a:solidFill>
              <a:srgbClr val="00355F"/>
            </a:solidFill>
          </a:ln>
        </p:spPr>
      </p:sp>
      <p:sp>
        <p:nvSpPr>
          <p:cNvPr id="407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C8E024E5-31D3-4ED3-A078-1136E1E8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6004560"/>
            <a:ext cx="129540" cy="274320"/>
          </a:xfrm>
          <a:custGeom xmlns:a="http://schemas.openxmlformats.org/drawingml/2006/main">
            <a:pathLst>
              <a:path w="129540" h="274320">
                <a:moveTo>
                  <a:pt x="0" y="0"/>
                </a:moveTo>
                <a:lnTo>
                  <a:pt x="129540" y="0"/>
                </a:lnTo>
                <a:lnTo>
                  <a:pt x="129540" y="175260"/>
                </a:lnTo>
                <a:lnTo>
                  <a:pt x="68580" y="274320"/>
                </a:lnTo>
                <a:lnTo>
                  <a:pt x="0" y="17526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355F"/>
            </a:solidFill>
          </a:ln>
        </p:spPr>
      </p:sp>
      <p:sp>
        <p:nvSpPr>
          <p:cNvPr id="408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013AEC87-C2AD-424A-98FF-97A7CE3A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9740" y="6114288"/>
            <a:ext cx="99060" cy="134112"/>
          </a:xfrm>
          <a:custGeom xmlns:a="http://schemas.openxmlformats.org/drawingml/2006/main">
            <a:pathLst>
              <a:path w="99060" h="134112">
                <a:moveTo>
                  <a:pt x="0" y="0"/>
                </a:moveTo>
                <a:lnTo>
                  <a:pt x="99060" y="0"/>
                </a:lnTo>
                <a:lnTo>
                  <a:pt x="99060" y="57912"/>
                </a:lnTo>
                <a:lnTo>
                  <a:pt x="53340" y="134112"/>
                </a:lnTo>
                <a:lnTo>
                  <a:pt x="0" y="57912"/>
                </a:lnTo>
                <a:close/>
              </a:path>
            </a:pathLst>
          </a:custGeom>
          <a:solidFill xmlns:a="http://schemas.openxmlformats.org/drawingml/2006/main">
            <a:srgbClr val="ACD4F1"/>
          </a:solidFill>
          <a:ln xmlns:a="http://schemas.openxmlformats.org/drawingml/2006/main" w="0">
            <a:noFill/>
          </a:ln>
        </p:spPr>
      </p:sp>
      <p:sp>
        <p:nvSpPr>
          <p:cNvPr id="409" name="Model-guided design">
            <a:extLst xmlns:a="http://schemas.openxmlformats.org/drawingml/2006/main">
              <a:ext uri="{FF2B5EF4-FFF2-40B4-BE49-F238E27FC236}">
                <a16:creationId xmlns:a16="http://schemas.microsoft.com/office/drawing/2014/main" id="{BEFA2AE9-BA11-45E3-B5AB-5B7C2662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57120" y="6370320"/>
            <a:ext cx="1455420" cy="175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02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02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02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Model-guided design</a:t>
            </a:r>
          </a:p>
        </p:txBody>
      </p:sp>
      <p:sp>
        <p:nvSpPr>
          <p:cNvPr id="410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AA2B8A7C-4829-46D2-A1F5-DBCEBA6D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0" y="6758940"/>
            <a:ext cx="2362200" cy="37338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ACD4F1"/>
          </a:solidFill>
          <a:ln xmlns:a="http://schemas.openxmlformats.org/drawingml/2006/main" w="0">
            <a:noFill/>
          </a:ln>
        </p:spPr>
      </p:sp>
      <p:sp>
        <p:nvSpPr>
          <p:cNvPr id="411" name="Traceable training data">
            <a:extLst xmlns:a="http://schemas.openxmlformats.org/drawingml/2006/main">
              <a:ext uri="{FF2B5EF4-FFF2-40B4-BE49-F238E27FC236}">
                <a16:creationId xmlns:a16="http://schemas.microsoft.com/office/drawing/2014/main" id="{7FBDA2E9-A816-4706-94C7-8C23E06F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9980" y="6858000"/>
            <a:ext cx="2225040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20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Traceable training data</a:t>
            </a:r>
          </a:p>
        </p:txBody>
      </p:sp>
      <p:sp>
        <p:nvSpPr>
          <p:cNvPr id="412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0974848C-3D84-44F0-9CBF-671C406B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6640" y="7284720"/>
            <a:ext cx="2331720" cy="762"/>
          </a:xfrm>
          <a:custGeom xmlns:a="http://schemas.openxmlformats.org/drawingml/2006/main">
            <a:pathLst>
              <a:path w="2331720" h="762">
                <a:moveTo>
                  <a:pt x="0" y="0"/>
                </a:moveTo>
                <a:lnTo>
                  <a:pt x="23317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A5A5A5"/>
            </a:solidFill>
          </a:ln>
        </p:spPr>
      </p:sp>
      <p:sp>
        <p:nvSpPr>
          <p:cNvPr id="413" name="REPRESENTATIVE SUPPLIERS">
            <a:extLst xmlns:a="http://schemas.openxmlformats.org/drawingml/2006/main">
              <a:ext uri="{FF2B5EF4-FFF2-40B4-BE49-F238E27FC236}">
                <a16:creationId xmlns:a16="http://schemas.microsoft.com/office/drawing/2014/main" id="{1713F082-8D57-45DF-BA23-0D4F9BED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6640" y="7437120"/>
            <a:ext cx="233172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90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REPRESENTATIVE SUPPLIERS</a:t>
            </a:r>
          </a:p>
        </p:txBody>
      </p:sp>
      <p:sp>
        <p:nvSpPr>
          <p:cNvPr id="414" name="Automation">
            <a:extLst xmlns:a="http://schemas.openxmlformats.org/drawingml/2006/main">
              <a:ext uri="{FF2B5EF4-FFF2-40B4-BE49-F238E27FC236}">
                <a16:creationId xmlns:a16="http://schemas.microsoft.com/office/drawing/2014/main" id="{42999957-15EC-4A3C-ABB1-9D845E39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6640" y="7703820"/>
            <a:ext cx="2331720" cy="175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900" b="1">
                <a:solidFill>
                  <a:srgbClr val="7399C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7399C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399C6"/>
                </a:solidFill>
                <a:latin typeface="Arial"/>
                <a:ea typeface="Arial"/>
                <a:cs typeface="Arial"/>
              </a:rPr>
              <a:t>Automation</a:t>
            </a:r>
          </a:p>
        </p:txBody>
      </p:sp>
      <p:sp>
        <p:nvSpPr>
          <p:cNvPr id="415" name="Tecan · Hamilton">
            <a:extLst xmlns:a="http://schemas.openxmlformats.org/drawingml/2006/main">
              <a:ext uri="{FF2B5EF4-FFF2-40B4-BE49-F238E27FC236}">
                <a16:creationId xmlns:a16="http://schemas.microsoft.com/office/drawing/2014/main" id="{0DF82EEC-614F-453D-BDCF-4186EC8A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6640" y="7871460"/>
            <a:ext cx="23317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1020" b="0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20" b="0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020" b="0">
                <a:solidFill>
                  <a:srgbClr val="00355F"/>
                </a:solidFill>
                <a:latin typeface="Arial"/>
                <a:ea typeface="Arial"/>
                <a:cs typeface="Arial"/>
              </a:rPr>
              <a:t>Tecan · Hamilton</a:t>
            </a:r>
          </a:p>
        </p:txBody>
      </p:sp>
      <p:sp>
        <p:nvSpPr>
          <p:cNvPr id="416" name="ELN / LIMS / data">
            <a:extLst xmlns:a="http://schemas.openxmlformats.org/drawingml/2006/main">
              <a:ext uri="{FF2B5EF4-FFF2-40B4-BE49-F238E27FC236}">
                <a16:creationId xmlns:a16="http://schemas.microsoft.com/office/drawing/2014/main" id="{4D46AE95-6B11-486B-8F42-6BFF9C2C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6640" y="8122920"/>
            <a:ext cx="2331720" cy="175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900" b="1">
                <a:solidFill>
                  <a:srgbClr val="7399C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7399C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399C6"/>
                </a:solidFill>
                <a:latin typeface="Arial"/>
                <a:ea typeface="Arial"/>
                <a:cs typeface="Arial"/>
              </a:rPr>
              <a:t>ELN / LIMS / data</a:t>
            </a:r>
          </a:p>
        </p:txBody>
      </p:sp>
      <p:sp>
        <p:nvSpPr>
          <p:cNvPr id="417" name="Benchling · Genedata">
            <a:extLst xmlns:a="http://schemas.openxmlformats.org/drawingml/2006/main">
              <a:ext uri="{FF2B5EF4-FFF2-40B4-BE49-F238E27FC236}">
                <a16:creationId xmlns:a16="http://schemas.microsoft.com/office/drawing/2014/main" id="{FDA1CC7E-C1E1-4F53-980D-6D3812DD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6640" y="8290560"/>
            <a:ext cx="23317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1020" b="0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20" b="0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020" b="0">
                <a:solidFill>
                  <a:srgbClr val="00355F"/>
                </a:solidFill>
                <a:latin typeface="Arial"/>
                <a:ea typeface="Arial"/>
                <a:cs typeface="Arial"/>
              </a:rPr>
              <a:t>Benchling · Genedata</a:t>
            </a:r>
          </a:p>
        </p:txBody>
      </p:sp>
      <p:sp>
        <p:nvSpPr>
          <p:cNvPr id="418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7934FEB6-830B-4795-BD6E-412CA048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740" y="8724900"/>
            <a:ext cx="14081760" cy="175260"/>
          </a:xfrm>
          <a:custGeom xmlns:a="http://schemas.openxmlformats.org/drawingml/2006/main">
            <a:pathLst>
              <a:path w="14081760" h="175260">
                <a:moveTo>
                  <a:pt x="14081760" y="0"/>
                </a:moveTo>
                <a:lnTo>
                  <a:pt x="14081760" y="175260"/>
                </a:lnTo>
                <a:lnTo>
                  <a:pt x="0" y="1752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7399C6"/>
            </a:solidFill>
          </a:ln>
        </p:spPr>
      </p:sp>
      <p:sp>
        <p:nvSpPr>
          <p:cNvPr id="419" name="Diagram path">
            <a:extLst xmlns:a="http://schemas.openxmlformats.org/drawingml/2006/main">
              <a:ext uri="{FF2B5EF4-FFF2-40B4-BE49-F238E27FC236}">
                <a16:creationId xmlns:a16="http://schemas.microsoft.com/office/drawing/2014/main" id="{9ACD5311-897A-4F07-BB63-5FB0E8B2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020" y="8694420"/>
            <a:ext cx="91440" cy="76200"/>
          </a:xfrm>
          <a:custGeom xmlns:a="http://schemas.openxmlformats.org/drawingml/2006/main">
            <a:pathLst>
              <a:path w="91440" h="76200">
                <a:moveTo>
                  <a:pt x="45720" y="0"/>
                </a:moveTo>
                <a:lnTo>
                  <a:pt x="0" y="76200"/>
                </a:lnTo>
                <a:lnTo>
                  <a:pt x="91440" y="76200"/>
                </a:lnTo>
                <a:close/>
              </a:path>
            </a:pathLst>
          </a:custGeom>
          <a:solidFill xmlns:a="http://schemas.openxmlformats.org/drawingml/2006/main">
            <a:srgbClr val="7399C6"/>
          </a:solidFill>
          <a:ln xmlns:a="http://schemas.openxmlformats.org/drawingml/2006/main" w="0">
            <a:noFill/>
          </a:ln>
        </p:spPr>
      </p:sp>
      <p:sp>
        <p:nvSpPr>
          <p:cNvPr id="420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9FED8159-F14A-4F47-9AC8-12EFD705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320" y="8740140"/>
            <a:ext cx="547116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21" name="Linked results → next design → next experiment">
            <a:extLst xmlns:a="http://schemas.openxmlformats.org/drawingml/2006/main">
              <a:ext uri="{FF2B5EF4-FFF2-40B4-BE49-F238E27FC236}">
                <a16:creationId xmlns:a16="http://schemas.microsoft.com/office/drawing/2014/main" id="{AD25628F-9300-47DC-A910-C0E62DD2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8778240"/>
            <a:ext cx="53187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38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8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38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Linked results → next design → next experiment</a:t>
            </a:r>
          </a:p>
        </p:txBody>
      </p:sp>
      <p:sp>
        <p:nvSpPr>
          <p:cNvPr id="422" name="Flat experiment component">
            <a:extLst xmlns:a="http://schemas.openxmlformats.org/drawingml/2006/main">
              <a:ext uri="{FF2B5EF4-FFF2-40B4-BE49-F238E27FC236}">
                <a16:creationId xmlns:a16="http://schemas.microsoft.com/office/drawing/2014/main" id="{DE5AC5E9-39A1-456D-9705-1F0BDF63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82100"/>
            <a:ext cx="16764000" cy="44958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00355F"/>
          </a:solidFill>
          <a:ln xmlns:a="http://schemas.openxmlformats.org/drawingml/2006/main" w="0">
            <a:noFill/>
          </a:ln>
        </p:spPr>
      </p:sp>
      <p:sp>
        <p:nvSpPr>
          <p:cNvPr id="423" name="Automation + data orchestration span every step">
            <a:extLst xmlns:a="http://schemas.openxmlformats.org/drawingml/2006/main">
              <a:ext uri="{FF2B5EF4-FFF2-40B4-BE49-F238E27FC236}">
                <a16:creationId xmlns:a16="http://schemas.microsoft.com/office/drawing/2014/main" id="{9F438B76-BD4E-4A2D-A3D7-1FE67C36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" y="9273540"/>
            <a:ext cx="16337280" cy="281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86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6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6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Automation + data orchestration span every step</a:t>
            </a:r>
          </a:p>
        </p:txBody>
      </p:sp>
      <p:sp>
        <p:nvSpPr>
          <p:cNvPr id="424" name="Representative experiments, not a fixed protocol. Assays may run in parallel. LC-MS is shown for analytical QC.">
            <a:extLst xmlns:a="http://schemas.openxmlformats.org/drawingml/2006/main">
              <a:ext uri="{FF2B5EF4-FFF2-40B4-BE49-F238E27FC236}">
                <a16:creationId xmlns:a16="http://schemas.microsoft.com/office/drawing/2014/main" id="{EA5F0188-7D5D-4C29-AA99-1DA0887E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84080"/>
            <a:ext cx="1676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1200" b="0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355F"/>
                </a:solidFill>
                <a:latin typeface="Arial"/>
                <a:ea typeface="Arial"/>
                <a:cs typeface="Arial"/>
              </a:rPr>
              <a:t>Representative experiments, not a fixed protocol. Assays may run in parallel. LC-MS is shown for analytical QC.</a:t>
            </a:r>
          </a:p>
        </p:txBody>
      </p:sp>
      <p:sp>
        <p:nvSpPr>
          <p:cNvPr id="425" name="*Waters Biosciences is the former BD Biosciences portfolio. Flat schematics and text are editable; supplier examples and sources: workflow/SOURCES.md.">
            <a:extLst xmlns:a="http://schemas.openxmlformats.org/drawingml/2006/main">
              <a:ext uri="{FF2B5EF4-FFF2-40B4-BE49-F238E27FC236}">
                <a16:creationId xmlns:a16="http://schemas.microsoft.com/office/drawing/2014/main" id="{E02A2902-619E-4719-82A4-172F7706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27920"/>
            <a:ext cx="1676400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1020" b="0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20" b="0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020" b="0">
                <a:solidFill>
                  <a:srgbClr val="00355F"/>
                </a:solidFill>
                <a:latin typeface="Arial"/>
                <a:ea typeface="Arial"/>
                <a:cs typeface="Arial"/>
              </a:rPr>
              <a:t>*Waters Biosciences is the former BD Biosciences portfolio. Flat schematics and text are editable; supplier examples and sources: workflow/SOURCES.md.</a:t>
            </a:r>
          </a:p>
        </p:txBody>
      </p:sp>
    </p:spTree>
    <p:extLst>
      <p:ext uri="{BB962C8B-B14F-4D97-AF65-F5344CB8AC3E}">
        <p14:creationId xmlns:p14="http://schemas.microsoft.com/office/powerpoint/2010/main" val="13720521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2026-10-15T09:20:54.6110000Z</dcterms:created>
  <dcterms:modified xsi:type="dcterms:W3CDTF">2026-10-15T09:20:54.6110000Z</dcterms:modified>
</coreProperties>
</file>