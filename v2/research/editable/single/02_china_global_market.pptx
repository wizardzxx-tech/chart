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5be24d42bf4456" /><Relationship Type="http://schemas.openxmlformats.org/officeDocument/2006/relationships/extended-properties" Target="/docProps/app.xml" Id="R78132810d29649e1" /><Relationship Type="http://schemas.openxmlformats.org/officeDocument/2006/relationships/officeDocument" Target="/ppt/presentation.xml" Id="Reb98570890404a38" /></Relationships>
</file>

<file path=ppt/presentation.xml><?xml version="1.0" encoding="utf-8"?>
<p:presentation xmlns:p="http://schemas.openxmlformats.org/presentationml/2006/main">
  <p:sldMasterIdLst>
    <p:sldMasterId xmlns:r="http://schemas.openxmlformats.org/officeDocument/2006/relationships" id="2147483648" r:id="R3a28689f201b410d"/>
  </p:sldMasterIdLst>
  <p:notesMasterIdLst>
    <p:notesMasterId xmlns:r="http://schemas.openxmlformats.org/officeDocument/2006/relationships" r:id="R2f6d5c1b19a74b8f"/>
  </p:notesMasterIdLst>
  <p:sldIdLst>
    <p:sldId xmlns:r="http://schemas.openxmlformats.org/officeDocument/2006/relationships" id="256" r:id="Rb9a68426c79d4477"/>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1e3a87cdd44ab1" /><Relationship Type="http://schemas.openxmlformats.org/officeDocument/2006/relationships/slideMaster" Target="/ppt/slideMasters/slideMaster1.xml" Id="R3a28689f201b410d" /><Relationship Type="http://schemas.openxmlformats.org/officeDocument/2006/relationships/notesMaster" Target="/ppt/notesMasters/notesMaster1.xml" Id="R2f6d5c1b19a74b8f" /><Relationship Type="http://schemas.openxmlformats.org/officeDocument/2006/relationships/presProps" Target="/ppt/presProps.xml" Id="R8d3f182118a94ca4" /><Relationship Type="http://schemas.openxmlformats.org/officeDocument/2006/relationships/tableStyles" Target="/ppt/tableStyles.xml" Id="Re5d1bb995926437c" /><Relationship Type="http://schemas.openxmlformats.org/officeDocument/2006/relationships/slide" Target="/ppt/slides/slide1.xml" Id="Rb9a68426c79d44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e5f27ceaf74e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1f4608dfe745a1" /><Relationship Type="http://schemas.openxmlformats.org/officeDocument/2006/relationships/notesMaster" Target="/ppt/notesMasters/notesMaster1.xml" Id="Rff2904d1503347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2: 2025 LST under one F&amp;S definition</a:t>
            </a:r>
          </a:p>
          <a:p xmlns:a="http://schemas.openxmlformats.org/drawingml/2006/main">
            <a:r>
              <a:t>Evidence status: Historical estimate</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b66d48dd1244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a8e260c9f943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2a0da738f54c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959ca15e3bf441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ba13bd0a1a4bc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97ca09db1d445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FB759D-1B44-4F72-8920-248307E87C3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1BD9ED-08F1-434B-A3F0-AEFD432FE35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BCEEEA3-4F54-4720-869C-B399EB779CCA}"/>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02694E-3D17-4BFB-B7D4-AC273DD5096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57C04FC-973E-46AE-91AF-79868278FB4D}"/>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541FC5-6A13-490F-B490-16D3BDD937C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4B22CE-FBBB-47AF-B8D8-258FAEE14C9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18B9A27-E294-4E7C-A199-0C3CCC831EB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E1359C-83B4-4D27-80CA-1679B304CA9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B3945C-8176-45BA-9FB6-3896AAD0060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4f2e38daf24e36" /><Relationship Type="http://schemas.openxmlformats.org/officeDocument/2006/relationships/slideLayout" Target="/ppt/slideLayouts/slideLayout1.xml" Id="R5a4e67cf24e24b19" /><Relationship Type="http://schemas.openxmlformats.org/officeDocument/2006/relationships/slideLayout" Target="/ppt/slideLayouts/slideLayout2.xml" Id="Rdbbb0f5f5be24d47" /><Relationship Type="http://schemas.openxmlformats.org/officeDocument/2006/relationships/slideLayout" Target="/ppt/slideLayouts/slideLayout3.xml" Id="R8ee04579ef254723" /><Relationship Type="http://schemas.openxmlformats.org/officeDocument/2006/relationships/slideLayout" Target="/ppt/slideLayouts/slideLayout4.xml" Id="Ra80e94c61af3416c" /><Relationship Type="http://schemas.openxmlformats.org/officeDocument/2006/relationships/slideLayout" Target="/ppt/slideLayouts/slideLayout5.xml" Id="R41e2abd217e446fa" /><Relationship Type="http://schemas.openxmlformats.org/officeDocument/2006/relationships/slideLayout" Target="/ppt/slideLayouts/slideLayout6.xml" Id="R678fd442653e40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4e67cf24e24b19"/>
    <p:sldLayoutId xmlns:r="http://schemas.openxmlformats.org/officeDocument/2006/relationships" id="2147483650" r:id="Rdbbb0f5f5be24d47"/>
    <p:sldLayoutId xmlns:r="http://schemas.openxmlformats.org/officeDocument/2006/relationships" id="2147483651" r:id="R8ee04579ef254723"/>
    <p:sldLayoutId xmlns:r="http://schemas.openxmlformats.org/officeDocument/2006/relationships" id="2147483652" r:id="Ra80e94c61af3416c"/>
    <p:sldLayoutId xmlns:r="http://schemas.openxmlformats.org/officeDocument/2006/relationships" id="2147483653" r:id="R41e2abd217e446fa"/>
    <p:sldLayoutId xmlns:r="http://schemas.openxmlformats.org/officeDocument/2006/relationships" id="2147483654" r:id="R678fd442653e40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56ea129a38545ce" /><Relationship Type="http://schemas.openxmlformats.org/officeDocument/2006/relationships/image" Target="/ppt/media/image.png" Id="Rd07c59fa3eb64858" /><Relationship Type="http://schemas.openxmlformats.org/officeDocument/2006/relationships/notesSlide" Target="/ppt/notesSlides/notesSlide1.xml" Id="R5fa3165c1d1740f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A6531556-4AC9-446D-AFFD-6D0C43FCA364}"/>
              </a:ext>
            </a:extLst>
          </p:cNvPr>
          <p:cNvPicPr>
            <a:picLocks xmlns:a="http://schemas.openxmlformats.org/drawingml/2006/main" noChangeAspect="1"/>
          </p:cNvPicPr>
          <p:nvPr/>
        </p:nvPicPr>
        <p:blipFill>
          <a:blip xmlns:r="http://schemas.openxmlformats.org/officeDocument/2006/relationships" xmlns:a="http://schemas.openxmlformats.org/drawingml/2006/main" r:embed="Rd07c59fa3eb6485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2 label 1 line 1">
            <a:extLst xmlns:a="http://schemas.openxmlformats.org/drawingml/2006/main">
              <a:ext uri="{FF2B5EF4-FFF2-40B4-BE49-F238E27FC236}">
                <a16:creationId xmlns:a16="http://schemas.microsoft.com/office/drawing/2014/main" id="{6FC7EA70-5C91-4B43-AADE-AAA04D440D8B}"/>
              </a:ext>
            </a:extLst>
          </p:cNvPr>
          <p:cNvSpPr>
            <a:spLocks xmlns:a="http://schemas.openxmlformats.org/drawingml/2006/main" noGrp="1"/>
          </p:cNvSpPr>
          <p:nvPr/>
        </p:nvSpPr>
        <p:spPr>
          <a:xfrm xmlns:a="http://schemas.openxmlformats.org/drawingml/2006/main" rot="0">
            <a:off x="3894019" y="7907353"/>
            <a:ext cx="1256209"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0">
                <a:solidFill>
                  <a:srgbClr val="00355F"/>
                </a:solidFill>
                <a:latin typeface="Arial Unicode MS"/>
                <a:ea typeface="Arial Unicode MS"/>
                <a:cs typeface="Arial Unicode MS"/>
              </a:defRPr>
            </a:pPr>
            <a:r>
              <a:rPr sz="1750" b="0">
                <a:solidFill>
                  <a:srgbClr val="00355F"/>
                </a:solidFill>
                <a:latin typeface="Arial Unicode MS"/>
                <a:ea typeface="Arial Unicode MS"/>
                <a:cs typeface="Arial Unicode MS"/>
              </a:rPr>
              <a:t>Global LST</a:t>
            </a:r>
          </a:p>
        </p:txBody>
      </p:sp>
      <p:sp>
        <p:nvSpPr>
          <p:cNvPr id="3" name="Figure 2 label 2 line 1">
            <a:extLst xmlns:a="http://schemas.openxmlformats.org/drawingml/2006/main">
              <a:ext uri="{FF2B5EF4-FFF2-40B4-BE49-F238E27FC236}">
                <a16:creationId xmlns:a16="http://schemas.microsoft.com/office/drawing/2014/main" id="{C144B332-3179-4683-B055-7FD0C2DFE150}"/>
              </a:ext>
            </a:extLst>
          </p:cNvPr>
          <p:cNvSpPr>
            <a:spLocks xmlns:a="http://schemas.openxmlformats.org/drawingml/2006/main" noGrp="1"/>
          </p:cNvSpPr>
          <p:nvPr/>
        </p:nvSpPr>
        <p:spPr>
          <a:xfrm xmlns:a="http://schemas.openxmlformats.org/drawingml/2006/main" rot="0">
            <a:off x="8413774" y="7907353"/>
            <a:ext cx="1194445"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0">
                <a:solidFill>
                  <a:srgbClr val="00355F"/>
                </a:solidFill>
                <a:latin typeface="Arial Unicode MS"/>
                <a:ea typeface="Arial Unicode MS"/>
                <a:cs typeface="Arial Unicode MS"/>
              </a:defRPr>
            </a:pPr>
            <a:r>
              <a:rPr sz="1750" b="0">
                <a:solidFill>
                  <a:srgbClr val="00355F"/>
                </a:solidFill>
                <a:latin typeface="Arial Unicode MS"/>
                <a:ea typeface="Arial Unicode MS"/>
                <a:cs typeface="Arial Unicode MS"/>
              </a:rPr>
              <a:t>China LST</a:t>
            </a:r>
          </a:p>
        </p:txBody>
      </p:sp>
      <p:sp>
        <p:nvSpPr>
          <p:cNvPr id="4" name="Figure 2 label 3 line 1">
            <a:extLst xmlns:a="http://schemas.openxmlformats.org/drawingml/2006/main">
              <a:ext uri="{FF2B5EF4-FFF2-40B4-BE49-F238E27FC236}">
                <a16:creationId xmlns:a16="http://schemas.microsoft.com/office/drawing/2014/main" id="{BEB90B89-5DCB-48B6-B5A0-5A161A7A3B1D}"/>
              </a:ext>
            </a:extLst>
          </p:cNvPr>
          <p:cNvSpPr>
            <a:spLocks xmlns:a="http://schemas.openxmlformats.org/drawingml/2006/main" noGrp="1"/>
          </p:cNvSpPr>
          <p:nvPr/>
        </p:nvSpPr>
        <p:spPr>
          <a:xfrm xmlns:a="http://schemas.openxmlformats.org/drawingml/2006/main" rot="0">
            <a:off x="1440259" y="7697703"/>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5" name="Figure 2 label 4 line 1">
            <a:extLst xmlns:a="http://schemas.openxmlformats.org/drawingml/2006/main">
              <a:ext uri="{FF2B5EF4-FFF2-40B4-BE49-F238E27FC236}">
                <a16:creationId xmlns:a16="http://schemas.microsoft.com/office/drawing/2014/main" id="{949D85C4-7D96-4214-9955-92F02563F936}"/>
              </a:ext>
            </a:extLst>
          </p:cNvPr>
          <p:cNvSpPr>
            <a:spLocks xmlns:a="http://schemas.openxmlformats.org/drawingml/2006/main" noGrp="1"/>
          </p:cNvSpPr>
          <p:nvPr/>
        </p:nvSpPr>
        <p:spPr>
          <a:xfrm xmlns:a="http://schemas.openxmlformats.org/drawingml/2006/main" rot="0">
            <a:off x="1334294" y="652364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a:t>
            </a:r>
          </a:p>
        </p:txBody>
      </p:sp>
      <p:sp>
        <p:nvSpPr>
          <p:cNvPr id="6" name="Figure 2 label 5 line 1">
            <a:extLst xmlns:a="http://schemas.openxmlformats.org/drawingml/2006/main">
              <a:ext uri="{FF2B5EF4-FFF2-40B4-BE49-F238E27FC236}">
                <a16:creationId xmlns:a16="http://schemas.microsoft.com/office/drawing/2014/main" id="{C142AF81-BCBB-4607-B1AC-4FDFF2F5FB87}"/>
              </a:ext>
            </a:extLst>
          </p:cNvPr>
          <p:cNvSpPr>
            <a:spLocks xmlns:a="http://schemas.openxmlformats.org/drawingml/2006/main" noGrp="1"/>
          </p:cNvSpPr>
          <p:nvPr/>
        </p:nvSpPr>
        <p:spPr>
          <a:xfrm xmlns:a="http://schemas.openxmlformats.org/drawingml/2006/main" rot="0">
            <a:off x="1334294" y="534958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a:t>
            </a:r>
          </a:p>
        </p:txBody>
      </p:sp>
      <p:sp>
        <p:nvSpPr>
          <p:cNvPr id="7" name="Figure 2 label 6 line 1">
            <a:extLst xmlns:a="http://schemas.openxmlformats.org/drawingml/2006/main">
              <a:ext uri="{FF2B5EF4-FFF2-40B4-BE49-F238E27FC236}">
                <a16:creationId xmlns:a16="http://schemas.microsoft.com/office/drawing/2014/main" id="{A776D493-37CD-4AD7-836F-B4F946A651C2}"/>
              </a:ext>
            </a:extLst>
          </p:cNvPr>
          <p:cNvSpPr>
            <a:spLocks xmlns:a="http://schemas.openxmlformats.org/drawingml/2006/main" noGrp="1"/>
          </p:cNvSpPr>
          <p:nvPr/>
        </p:nvSpPr>
        <p:spPr>
          <a:xfrm xmlns:a="http://schemas.openxmlformats.org/drawingml/2006/main" rot="0">
            <a:off x="1334294" y="417552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30</a:t>
            </a:r>
          </a:p>
        </p:txBody>
      </p:sp>
      <p:sp>
        <p:nvSpPr>
          <p:cNvPr id="8" name="Figure 2 label 7 line 1">
            <a:extLst xmlns:a="http://schemas.openxmlformats.org/drawingml/2006/main">
              <a:ext uri="{FF2B5EF4-FFF2-40B4-BE49-F238E27FC236}">
                <a16:creationId xmlns:a16="http://schemas.microsoft.com/office/drawing/2014/main" id="{94E7724B-FE04-4AAF-A82B-58098A0B6F54}"/>
              </a:ext>
            </a:extLst>
          </p:cNvPr>
          <p:cNvSpPr>
            <a:spLocks xmlns:a="http://schemas.openxmlformats.org/drawingml/2006/main" noGrp="1"/>
          </p:cNvSpPr>
          <p:nvPr/>
        </p:nvSpPr>
        <p:spPr>
          <a:xfrm xmlns:a="http://schemas.openxmlformats.org/drawingml/2006/main" rot="0">
            <a:off x="1334294" y="300146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a:t>
            </a:r>
          </a:p>
        </p:txBody>
      </p:sp>
      <p:sp>
        <p:nvSpPr>
          <p:cNvPr id="9" name="Figure 2 label 8 line 1">
            <a:extLst xmlns:a="http://schemas.openxmlformats.org/drawingml/2006/main">
              <a:ext uri="{FF2B5EF4-FFF2-40B4-BE49-F238E27FC236}">
                <a16:creationId xmlns:a16="http://schemas.microsoft.com/office/drawing/2014/main" id="{D5809CF3-5A6C-4F4B-80BF-9D2D362F26CF}"/>
              </a:ext>
            </a:extLst>
          </p:cNvPr>
          <p:cNvSpPr>
            <a:spLocks xmlns:a="http://schemas.openxmlformats.org/drawingml/2006/main" noGrp="1"/>
          </p:cNvSpPr>
          <p:nvPr/>
        </p:nvSpPr>
        <p:spPr>
          <a:xfrm xmlns:a="http://schemas.openxmlformats.org/drawingml/2006/main" rot="16200000">
            <a:off x="962600" y="4970145"/>
            <a:ext cx="70633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US$bn</a:t>
            </a:r>
          </a:p>
        </p:txBody>
      </p:sp>
      <p:sp>
        <p:nvSpPr>
          <p:cNvPr id="10" name="Figure 2 label 9 line 1">
            <a:extLst xmlns:a="http://schemas.openxmlformats.org/drawingml/2006/main">
              <a:ext uri="{FF2B5EF4-FFF2-40B4-BE49-F238E27FC236}">
                <a16:creationId xmlns:a16="http://schemas.microsoft.com/office/drawing/2014/main" id="{63B5BDA2-BED4-44B0-ABD5-C4DA8F80AD09}"/>
              </a:ext>
            </a:extLst>
          </p:cNvPr>
          <p:cNvSpPr>
            <a:spLocks xmlns:a="http://schemas.openxmlformats.org/drawingml/2006/main" noGrp="1"/>
          </p:cNvSpPr>
          <p:nvPr/>
        </p:nvSpPr>
        <p:spPr>
          <a:xfrm xmlns:a="http://schemas.openxmlformats.org/drawingml/2006/main" rot="0">
            <a:off x="4171807" y="6049458"/>
            <a:ext cx="700633"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FFFFFF"/>
                </a:solidFill>
                <a:latin typeface="Arial Unicode MS"/>
                <a:ea typeface="Arial Unicode MS"/>
                <a:cs typeface="Arial Unicode MS"/>
              </a:defRPr>
            </a:defPPr>
          </a:lstStyle>
          <a:p xmlns:a="http://schemas.openxmlformats.org/drawingml/2006/main">
            <a:pPr algn="ctr">
              <a:lnSpc>
                <a:spcPct val="100000"/>
              </a:lnSpc>
              <a:buNone/>
              <a:defRPr sz="2125" b="1">
                <a:solidFill>
                  <a:srgbClr val="FFFFFF"/>
                </a:solidFill>
                <a:latin typeface="Arial Unicode MS"/>
                <a:ea typeface="Arial Unicode MS"/>
                <a:cs typeface="Arial Unicode MS"/>
              </a:defRPr>
            </a:pPr>
            <a:r>
              <a:rPr sz="2125" b="1">
                <a:solidFill>
                  <a:srgbClr val="FFFFFF"/>
                </a:solidFill>
                <a:latin typeface="Arial Unicode MS"/>
                <a:ea typeface="Arial Unicode MS"/>
                <a:cs typeface="Arial Unicode MS"/>
              </a:rPr>
              <a:t>26.4</a:t>
            </a:r>
          </a:p>
        </p:txBody>
      </p:sp>
      <p:sp>
        <p:nvSpPr>
          <p:cNvPr id="11" name="Figure 2 label 10 line 1">
            <a:extLst xmlns:a="http://schemas.openxmlformats.org/drawingml/2006/main">
              <a:ext uri="{FF2B5EF4-FFF2-40B4-BE49-F238E27FC236}">
                <a16:creationId xmlns:a16="http://schemas.microsoft.com/office/drawing/2014/main" id="{DF88A77C-E4FE-47C4-83A9-3F3A09964603}"/>
              </a:ext>
            </a:extLst>
          </p:cNvPr>
          <p:cNvSpPr>
            <a:spLocks xmlns:a="http://schemas.openxmlformats.org/drawingml/2006/main" noGrp="1"/>
          </p:cNvSpPr>
          <p:nvPr/>
        </p:nvSpPr>
        <p:spPr>
          <a:xfrm xmlns:a="http://schemas.openxmlformats.org/drawingml/2006/main" rot="0">
            <a:off x="4212933" y="3645088"/>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15.1</a:t>
            </a:r>
          </a:p>
        </p:txBody>
      </p:sp>
      <p:sp>
        <p:nvSpPr>
          <p:cNvPr id="12" name="Figure 2 label 11 line 1">
            <a:extLst xmlns:a="http://schemas.openxmlformats.org/drawingml/2006/main">
              <a:ext uri="{FF2B5EF4-FFF2-40B4-BE49-F238E27FC236}">
                <a16:creationId xmlns:a16="http://schemas.microsoft.com/office/drawing/2014/main" id="{2885808D-6695-436A-A493-ED13AA4F3E74}"/>
              </a:ext>
            </a:extLst>
          </p:cNvPr>
          <p:cNvSpPr>
            <a:spLocks xmlns:a="http://schemas.openxmlformats.org/drawingml/2006/main" noGrp="1"/>
          </p:cNvSpPr>
          <p:nvPr/>
        </p:nvSpPr>
        <p:spPr>
          <a:xfrm xmlns:a="http://schemas.openxmlformats.org/drawingml/2006/main" rot="0">
            <a:off x="4109969" y="2416499"/>
            <a:ext cx="824309" cy="39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0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500" b="1">
                <a:solidFill>
                  <a:srgbClr val="00355F"/>
                </a:solidFill>
                <a:latin typeface="Arial Unicode MS"/>
                <a:ea typeface="Arial Unicode MS"/>
                <a:cs typeface="Arial Unicode MS"/>
              </a:defRPr>
            </a:pPr>
            <a:r>
              <a:rPr sz="2500" b="1">
                <a:solidFill>
                  <a:srgbClr val="00355F"/>
                </a:solidFill>
                <a:latin typeface="Arial Unicode MS"/>
                <a:ea typeface="Arial Unicode MS"/>
                <a:cs typeface="Arial Unicode MS"/>
              </a:rPr>
              <a:t>41.5</a:t>
            </a:r>
          </a:p>
        </p:txBody>
      </p:sp>
      <p:sp>
        <p:nvSpPr>
          <p:cNvPr id="13" name="Figure 2 label 12 line 1">
            <a:extLst xmlns:a="http://schemas.openxmlformats.org/drawingml/2006/main">
              <a:ext uri="{FF2B5EF4-FFF2-40B4-BE49-F238E27FC236}">
                <a16:creationId xmlns:a16="http://schemas.microsoft.com/office/drawing/2014/main" id="{B4911373-6788-4AEE-BD51-3DD4BE05A3FF}"/>
              </a:ext>
            </a:extLst>
          </p:cNvPr>
          <p:cNvSpPr>
            <a:spLocks xmlns:a="http://schemas.openxmlformats.org/drawingml/2006/main" noGrp="1"/>
          </p:cNvSpPr>
          <p:nvPr/>
        </p:nvSpPr>
        <p:spPr>
          <a:xfrm xmlns:a="http://schemas.openxmlformats.org/drawingml/2006/main" rot="0">
            <a:off x="8735690" y="7329182"/>
            <a:ext cx="550614"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FFFFFF"/>
                </a:solidFill>
                <a:latin typeface="Arial Unicode MS"/>
                <a:ea typeface="Arial Unicode MS"/>
                <a:cs typeface="Arial Unicode MS"/>
              </a:defRPr>
            </a:defPPr>
          </a:lstStyle>
          <a:p xmlns:a="http://schemas.openxmlformats.org/drawingml/2006/main">
            <a:pPr algn="ctr">
              <a:lnSpc>
                <a:spcPct val="100000"/>
              </a:lnSpc>
              <a:buNone/>
              <a:defRPr sz="2125" b="1">
                <a:solidFill>
                  <a:srgbClr val="FFFFFF"/>
                </a:solidFill>
                <a:latin typeface="Arial Unicode MS"/>
                <a:ea typeface="Arial Unicode MS"/>
                <a:cs typeface="Arial Unicode MS"/>
              </a:defRPr>
            </a:pPr>
            <a:r>
              <a:rPr sz="2125" b="1">
                <a:solidFill>
                  <a:srgbClr val="FFFFFF"/>
                </a:solidFill>
                <a:latin typeface="Arial Unicode MS"/>
                <a:ea typeface="Arial Unicode MS"/>
                <a:cs typeface="Arial Unicode MS"/>
              </a:rPr>
              <a:t>4.6</a:t>
            </a:r>
          </a:p>
        </p:txBody>
      </p:sp>
      <p:sp>
        <p:nvSpPr>
          <p:cNvPr id="14" name="Figure 2 label 13 line 1">
            <a:extLst xmlns:a="http://schemas.openxmlformats.org/drawingml/2006/main">
              <a:ext uri="{FF2B5EF4-FFF2-40B4-BE49-F238E27FC236}">
                <a16:creationId xmlns:a16="http://schemas.microsoft.com/office/drawing/2014/main" id="{08B553CC-F092-4F31-9F6C-BAA72124F019}"/>
              </a:ext>
            </a:extLst>
          </p:cNvPr>
          <p:cNvSpPr>
            <a:spLocks xmlns:a="http://schemas.openxmlformats.org/drawingml/2006/main" noGrp="1"/>
          </p:cNvSpPr>
          <p:nvPr/>
        </p:nvSpPr>
        <p:spPr>
          <a:xfrm xmlns:a="http://schemas.openxmlformats.org/drawingml/2006/main" rot="0">
            <a:off x="8768035" y="6908974"/>
            <a:ext cx="485924"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3.1</a:t>
            </a:r>
          </a:p>
        </p:txBody>
      </p:sp>
      <p:sp>
        <p:nvSpPr>
          <p:cNvPr id="15" name="Figure 2 label 14 line 1">
            <a:extLst xmlns:a="http://schemas.openxmlformats.org/drawingml/2006/main">
              <a:ext uri="{FF2B5EF4-FFF2-40B4-BE49-F238E27FC236}">
                <a16:creationId xmlns:a16="http://schemas.microsoft.com/office/drawing/2014/main" id="{9A732F65-11F8-4641-9F93-55201BDC7C60}"/>
              </a:ext>
            </a:extLst>
          </p:cNvPr>
          <p:cNvSpPr>
            <a:spLocks xmlns:a="http://schemas.openxmlformats.org/drawingml/2006/main" noGrp="1"/>
          </p:cNvSpPr>
          <p:nvPr/>
        </p:nvSpPr>
        <p:spPr>
          <a:xfrm xmlns:a="http://schemas.openxmlformats.org/drawingml/2006/main" rot="0">
            <a:off x="8687098" y="6384822"/>
            <a:ext cx="647799" cy="39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0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500" b="1">
                <a:solidFill>
                  <a:srgbClr val="00355F"/>
                </a:solidFill>
                <a:latin typeface="Arial Unicode MS"/>
                <a:ea typeface="Arial Unicode MS"/>
                <a:cs typeface="Arial Unicode MS"/>
              </a:defRPr>
            </a:pPr>
            <a:r>
              <a:rPr sz="2500" b="1">
                <a:solidFill>
                  <a:srgbClr val="00355F"/>
                </a:solidFill>
                <a:latin typeface="Arial Unicode MS"/>
                <a:ea typeface="Arial Unicode MS"/>
                <a:cs typeface="Arial Unicode MS"/>
              </a:rPr>
              <a:t>7.7</a:t>
            </a:r>
          </a:p>
        </p:txBody>
      </p:sp>
      <p:sp>
        <p:nvSpPr>
          <p:cNvPr id="16" name="Figure 2 label 15 line 1">
            <a:extLst xmlns:a="http://schemas.openxmlformats.org/drawingml/2006/main">
              <a:ext uri="{FF2B5EF4-FFF2-40B4-BE49-F238E27FC236}">
                <a16:creationId xmlns:a16="http://schemas.microsoft.com/office/drawing/2014/main" id="{3DF6E803-ABCA-4CB4-96B5-F899CB51D985}"/>
              </a:ext>
            </a:extLst>
          </p:cNvPr>
          <p:cNvSpPr>
            <a:spLocks xmlns:a="http://schemas.openxmlformats.org/drawingml/2006/main" noGrp="1"/>
          </p:cNvSpPr>
          <p:nvPr/>
        </p:nvSpPr>
        <p:spPr>
          <a:xfrm xmlns:a="http://schemas.openxmlformats.org/drawingml/2006/main" rot="0">
            <a:off x="2438876" y="2096130"/>
            <a:ext cx="225816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Research biological reagents</a:t>
            </a:r>
          </a:p>
        </p:txBody>
      </p:sp>
      <p:sp>
        <p:nvSpPr>
          <p:cNvPr id="17" name="Figure 2 label 16 line 1">
            <a:extLst xmlns:a="http://schemas.openxmlformats.org/drawingml/2006/main">
              <a:ext uri="{FF2B5EF4-FFF2-40B4-BE49-F238E27FC236}">
                <a16:creationId xmlns:a16="http://schemas.microsoft.com/office/drawing/2014/main" id="{65270581-8955-457C-BCD8-E05E251FDE73}"/>
              </a:ext>
            </a:extLst>
          </p:cNvPr>
          <p:cNvSpPr>
            <a:spLocks xmlns:a="http://schemas.openxmlformats.org/drawingml/2006/main" noGrp="1"/>
          </p:cNvSpPr>
          <p:nvPr/>
        </p:nvSpPr>
        <p:spPr>
          <a:xfrm xmlns:a="http://schemas.openxmlformats.org/drawingml/2006/main" rot="0">
            <a:off x="5388516" y="2096130"/>
            <a:ext cx="304993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Other tools: instruments + consumables</a:t>
            </a:r>
          </a:p>
        </p:txBody>
      </p:sp>
      <p:sp>
        <p:nvSpPr>
          <p:cNvPr id="18" name="Figure 2 label 17 line 1">
            <a:extLst xmlns:a="http://schemas.openxmlformats.org/drawingml/2006/main">
              <a:ext uri="{FF2B5EF4-FFF2-40B4-BE49-F238E27FC236}">
                <a16:creationId xmlns:a16="http://schemas.microsoft.com/office/drawing/2014/main" id="{1525531A-2C2C-4EED-944B-7464DF63BD85}"/>
              </a:ext>
            </a:extLst>
          </p:cNvPr>
          <p:cNvSpPr>
            <a:spLocks xmlns:a="http://schemas.openxmlformats.org/drawingml/2006/main" noGrp="1"/>
          </p:cNvSpPr>
          <p:nvPr/>
        </p:nvSpPr>
        <p:spPr>
          <a:xfrm xmlns:a="http://schemas.openxmlformats.org/drawingml/2006/main" rot="0">
            <a:off x="991870" y="421675"/>
            <a:ext cx="6167338"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02  2025 LST under one F&amp;S definition</a:t>
            </a:r>
          </a:p>
        </p:txBody>
      </p:sp>
      <p:sp>
        <p:nvSpPr>
          <p:cNvPr id="19" name="Figure 2 label 18 line 1">
            <a:extLst xmlns:a="http://schemas.openxmlformats.org/drawingml/2006/main">
              <a:ext uri="{FF2B5EF4-FFF2-40B4-BE49-F238E27FC236}">
                <a16:creationId xmlns:a16="http://schemas.microsoft.com/office/drawing/2014/main" id="{A11493A4-F0A1-4E19-BB17-BE52E8E88719}"/>
              </a:ext>
            </a:extLst>
          </p:cNvPr>
          <p:cNvSpPr>
            <a:spLocks xmlns:a="http://schemas.openxmlformats.org/drawingml/2006/main" noGrp="1"/>
          </p:cNvSpPr>
          <p:nvPr/>
        </p:nvSpPr>
        <p:spPr>
          <a:xfrm xmlns:a="http://schemas.openxmlformats.org/drawingml/2006/main" rot="0">
            <a:off x="15729149" y="661601"/>
            <a:ext cx="1002903"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HISTORICAL</a:t>
            </a:r>
          </a:p>
        </p:txBody>
      </p:sp>
      <p:sp>
        <p:nvSpPr>
          <p:cNvPr id="20" name="Figure 2 label 19 line 1">
            <a:extLst xmlns:a="http://schemas.openxmlformats.org/drawingml/2006/main">
              <a:ext uri="{FF2B5EF4-FFF2-40B4-BE49-F238E27FC236}">
                <a16:creationId xmlns:a16="http://schemas.microsoft.com/office/drawing/2014/main" id="{F0548728-10E1-4EB3-AD81-EB9DD48FDE05}"/>
              </a:ext>
            </a:extLst>
          </p:cNvPr>
          <p:cNvSpPr>
            <a:spLocks xmlns:a="http://schemas.openxmlformats.org/drawingml/2006/main" noGrp="1"/>
          </p:cNvSpPr>
          <p:nvPr/>
        </p:nvSpPr>
        <p:spPr>
          <a:xfrm xmlns:a="http://schemas.openxmlformats.org/drawingml/2006/main" rot="0">
            <a:off x="998220" y="1249487"/>
            <a:ext cx="835074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2025 F&amp;S estimates commissioned for ACRO’s filing. A defined scope, not a broad-industry TAM.</a:t>
            </a:r>
          </a:p>
        </p:txBody>
      </p:sp>
      <p:sp>
        <p:nvSpPr>
          <p:cNvPr id="21" name="Figure 2 label 20 line 1">
            <a:extLst xmlns:a="http://schemas.openxmlformats.org/drawingml/2006/main">
              <a:ext uri="{FF2B5EF4-FFF2-40B4-BE49-F238E27FC236}">
                <a16:creationId xmlns:a16="http://schemas.microsoft.com/office/drawing/2014/main" id="{4866BE39-F020-4184-94BF-D318EC6C2CE3}"/>
              </a:ext>
            </a:extLst>
          </p:cNvPr>
          <p:cNvSpPr>
            <a:spLocks xmlns:a="http://schemas.openxmlformats.org/drawingml/2006/main" noGrp="1"/>
          </p:cNvSpPr>
          <p:nvPr/>
        </p:nvSpPr>
        <p:spPr>
          <a:xfrm xmlns:a="http://schemas.openxmlformats.org/drawingml/2006/main" rot="0">
            <a:off x="999173" y="9256035"/>
            <a:ext cx="789131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Other tools are the residual. Comparable instrument and consumable splits were not separately available.</a:t>
            </a:r>
          </a:p>
        </p:txBody>
      </p:sp>
      <p:sp>
        <p:nvSpPr>
          <p:cNvPr id="22" name="Figure 2 label 21 line 1">
            <a:extLst xmlns:a="http://schemas.openxmlformats.org/drawingml/2006/main">
              <a:ext uri="{FF2B5EF4-FFF2-40B4-BE49-F238E27FC236}">
                <a16:creationId xmlns:a16="http://schemas.microsoft.com/office/drawing/2014/main" id="{72EC350A-3E2D-4F40-B5B5-1BC9423B1B02}"/>
              </a:ext>
            </a:extLst>
          </p:cNvPr>
          <p:cNvSpPr>
            <a:spLocks xmlns:a="http://schemas.openxmlformats.org/drawingml/2006/main" noGrp="1"/>
          </p:cNvSpPr>
          <p:nvPr/>
        </p:nvSpPr>
        <p:spPr>
          <a:xfrm xmlns:a="http://schemas.openxmlformats.org/drawingml/2006/main" rot="0">
            <a:off x="1000316" y="9675546"/>
            <a:ext cx="6549212"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ACROBiosystems HKEX application, 30 Sep 2026, printed pp. 65 and 67; links in SOURCES.md.</a:t>
            </a:r>
          </a:p>
        </p:txBody>
      </p:sp>
      <p:sp>
        <p:nvSpPr>
          <p:cNvPr id="23" name="Figure 2 label 22 line 1">
            <a:extLst xmlns:a="http://schemas.openxmlformats.org/drawingml/2006/main">
              <a:ext uri="{FF2B5EF4-FFF2-40B4-BE49-F238E27FC236}">
                <a16:creationId xmlns:a16="http://schemas.microsoft.com/office/drawing/2014/main" id="{B1D55378-1A62-4C4A-88FA-56A37D009393}"/>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2026-10-13</a:t>
            </a:r>
          </a:p>
        </p:txBody>
      </p:sp>
      <p:sp>
        <p:nvSpPr>
          <p:cNvPr id="24" name="Figure 2 label 23 line 1">
            <a:extLst xmlns:a="http://schemas.openxmlformats.org/drawingml/2006/main">
              <a:ext uri="{FF2B5EF4-FFF2-40B4-BE49-F238E27FC236}">
                <a16:creationId xmlns:a16="http://schemas.microsoft.com/office/drawing/2014/main" id="{3B8D8DE4-CD7F-4D7C-8CCD-15E069A7687B}"/>
              </a:ext>
            </a:extLst>
          </p:cNvPr>
          <p:cNvSpPr>
            <a:spLocks xmlns:a="http://schemas.openxmlformats.org/drawingml/2006/main" noGrp="1"/>
          </p:cNvSpPr>
          <p:nvPr/>
        </p:nvSpPr>
        <p:spPr>
          <a:xfrm xmlns:a="http://schemas.openxmlformats.org/drawingml/2006/main" rot="0">
            <a:off x="13159106" y="3178951"/>
            <a:ext cx="2897882"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0">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China share within F&amp;S scope</a:t>
            </a:r>
          </a:p>
        </p:txBody>
      </p:sp>
      <p:sp>
        <p:nvSpPr>
          <p:cNvPr id="25" name="Figure 2 label 24 line 1">
            <a:extLst xmlns:a="http://schemas.openxmlformats.org/drawingml/2006/main">
              <a:ext uri="{FF2B5EF4-FFF2-40B4-BE49-F238E27FC236}">
                <a16:creationId xmlns:a16="http://schemas.microsoft.com/office/drawing/2014/main" id="{8D6BF348-0403-4AD1-A523-89F5019C9F96}"/>
              </a:ext>
            </a:extLst>
          </p:cNvPr>
          <p:cNvSpPr>
            <a:spLocks xmlns:a="http://schemas.openxmlformats.org/drawingml/2006/main" noGrp="1"/>
          </p:cNvSpPr>
          <p:nvPr/>
        </p:nvSpPr>
        <p:spPr>
          <a:xfrm xmlns:a="http://schemas.openxmlformats.org/drawingml/2006/main" rot="0">
            <a:off x="13143866" y="3660147"/>
            <a:ext cx="2047180" cy="734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4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4625" b="1">
                <a:solidFill>
                  <a:srgbClr val="00355F"/>
                </a:solidFill>
                <a:latin typeface="Arial Unicode MS"/>
                <a:ea typeface="Arial Unicode MS"/>
                <a:cs typeface="Arial Unicode MS"/>
              </a:defRPr>
            </a:pPr>
            <a:r>
              <a:rPr sz="4625" b="1">
                <a:solidFill>
                  <a:srgbClr val="00355F"/>
                </a:solidFill>
                <a:latin typeface="Arial Unicode MS"/>
                <a:ea typeface="Arial Unicode MS"/>
                <a:cs typeface="Arial Unicode MS"/>
              </a:rPr>
              <a:t>18.6%</a:t>
            </a:r>
          </a:p>
        </p:txBody>
      </p:sp>
      <p:sp>
        <p:nvSpPr>
          <p:cNvPr id="26" name="Figure 2 label 25 line 1">
            <a:extLst xmlns:a="http://schemas.openxmlformats.org/drawingml/2006/main">
              <a:ext uri="{FF2B5EF4-FFF2-40B4-BE49-F238E27FC236}">
                <a16:creationId xmlns:a16="http://schemas.microsoft.com/office/drawing/2014/main" id="{83F44E64-F908-4599-96E0-B156AF3BC1C0}"/>
              </a:ext>
            </a:extLst>
          </p:cNvPr>
          <p:cNvSpPr>
            <a:spLocks xmlns:a="http://schemas.openxmlformats.org/drawingml/2006/main" noGrp="1"/>
          </p:cNvSpPr>
          <p:nvPr/>
        </p:nvSpPr>
        <p:spPr>
          <a:xfrm xmlns:a="http://schemas.openxmlformats.org/drawingml/2006/main" rot="0">
            <a:off x="13159740" y="4882744"/>
            <a:ext cx="91827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7.7 / 41.5</a:t>
            </a:r>
          </a:p>
        </p:txBody>
      </p:sp>
      <p:sp>
        <p:nvSpPr>
          <p:cNvPr id="27" name="Figure 2 label 26 line 1">
            <a:extLst xmlns:a="http://schemas.openxmlformats.org/drawingml/2006/main">
              <a:ext uri="{FF2B5EF4-FFF2-40B4-BE49-F238E27FC236}">
                <a16:creationId xmlns:a16="http://schemas.microsoft.com/office/drawing/2014/main" id="{F013DC80-4F6B-4352-9F9C-329453845DE8}"/>
              </a:ext>
            </a:extLst>
          </p:cNvPr>
          <p:cNvSpPr>
            <a:spLocks xmlns:a="http://schemas.openxmlformats.org/drawingml/2006/main" noGrp="1"/>
          </p:cNvSpPr>
          <p:nvPr/>
        </p:nvSpPr>
        <p:spPr>
          <a:xfrm xmlns:a="http://schemas.openxmlformats.org/drawingml/2006/main" rot="0">
            <a:off x="13159740" y="5084323"/>
            <a:ext cx="263366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Not vendor revenue exposure</a:t>
            </a:r>
          </a:p>
        </p:txBody>
      </p:sp>
      <p:sp>
        <p:nvSpPr>
          <p:cNvPr id="28" name="Figure 2 label 27 line 1">
            <a:extLst xmlns:a="http://schemas.openxmlformats.org/drawingml/2006/main">
              <a:ext uri="{FF2B5EF4-FFF2-40B4-BE49-F238E27FC236}">
                <a16:creationId xmlns:a16="http://schemas.microsoft.com/office/drawing/2014/main" id="{48DB0190-F2A3-4E78-A611-4C9F36EFF03E}"/>
              </a:ext>
            </a:extLst>
          </p:cNvPr>
          <p:cNvSpPr>
            <a:spLocks xmlns:a="http://schemas.openxmlformats.org/drawingml/2006/main" noGrp="1"/>
          </p:cNvSpPr>
          <p:nvPr/>
        </p:nvSpPr>
        <p:spPr>
          <a:xfrm xmlns:a="http://schemas.openxmlformats.org/drawingml/2006/main" rot="0">
            <a:off x="12885420" y="6436769"/>
            <a:ext cx="274945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Issuer-commissioned estimate.</a:t>
            </a:r>
          </a:p>
        </p:txBody>
      </p:sp>
      <p:sp>
        <p:nvSpPr>
          <p:cNvPr id="29" name="Figure 2 label 28 line 1">
            <a:extLst xmlns:a="http://schemas.openxmlformats.org/drawingml/2006/main">
              <a:ext uri="{FF2B5EF4-FFF2-40B4-BE49-F238E27FC236}">
                <a16:creationId xmlns:a16="http://schemas.microsoft.com/office/drawing/2014/main" id="{DF36AA49-56D9-4815-8FBD-7ACD81041552}"/>
              </a:ext>
            </a:extLst>
          </p:cNvPr>
          <p:cNvSpPr>
            <a:spLocks xmlns:a="http://schemas.openxmlformats.org/drawingml/2006/main" noGrp="1"/>
          </p:cNvSpPr>
          <p:nvPr/>
        </p:nvSpPr>
        <p:spPr>
          <a:xfrm xmlns:a="http://schemas.openxmlformats.org/drawingml/2006/main" rot="0">
            <a:off x="12885420" y="6638348"/>
            <a:ext cx="253811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Broader markets and vendor</a:t>
            </a:r>
          </a:p>
        </p:txBody>
      </p:sp>
      <p:sp>
        <p:nvSpPr>
          <p:cNvPr id="30" name="Figure 2 label 29 line 1">
            <a:extLst xmlns:a="http://schemas.openxmlformats.org/drawingml/2006/main">
              <a:ext uri="{FF2B5EF4-FFF2-40B4-BE49-F238E27FC236}">
                <a16:creationId xmlns:a16="http://schemas.microsoft.com/office/drawing/2014/main" id="{E9C11A81-B502-441B-B675-DDF5111A5BBB}"/>
              </a:ext>
            </a:extLst>
          </p:cNvPr>
          <p:cNvSpPr>
            <a:spLocks xmlns:a="http://schemas.openxmlformats.org/drawingml/2006/main" noGrp="1"/>
          </p:cNvSpPr>
          <p:nvPr/>
        </p:nvSpPr>
        <p:spPr>
          <a:xfrm xmlns:a="http://schemas.openxmlformats.org/drawingml/2006/main" rot="0">
            <a:off x="12885420" y="6842713"/>
            <a:ext cx="301481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China revenues use other scopes.</a:t>
            </a:r>
          </a:p>
        </p:txBody>
      </p:sp>
    </p:spTree>
    <p:extLst>
      <p:ext uri="{BB962C8B-B14F-4D97-AF65-F5344CB8AC3E}">
        <p14:creationId xmlns:p14="http://schemas.microsoft.com/office/powerpoint/2010/main" val="12412656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2026-10-13T07:05:21.2760000Z</dcterms:created>
  <dcterms:modified xsi:type="dcterms:W3CDTF">2026-10-13T07:05:21.2760000Z</dcterms:modified>
</coreProperties>
</file>