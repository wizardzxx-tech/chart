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jpeg" ContentType="image/jpeg"/>
</Types>
</file>

<file path=_rels/.rels>&#65279;<?xml version="1.0" encoding="utf-8"?><Relationships xmlns="http://schemas.openxmlformats.org/package/2006/relationships"><Relationship Type="http://schemas.openxmlformats.org/package/2006/relationships/metadata/core-properties" Target="/docProps/core.xml" Id="Rc260ca7573724c79" /><Relationship Type="http://schemas.openxmlformats.org/officeDocument/2006/relationships/extended-properties" Target="/docProps/app.xml" Id="R8664a6f952c04df3" /><Relationship Type="http://schemas.openxmlformats.org/officeDocument/2006/relationships/officeDocument" Target="/ppt/presentation.xml" Id="R06d26619293f48c1" /></Relationships>
</file>

<file path=ppt/presentation.xml><?xml version="1.0" encoding="utf-8"?>
<p:presentation xmlns:p="http://schemas.openxmlformats.org/presentationml/2006/main">
  <p:sldMasterIdLst>
    <p:sldMasterId xmlns:r="http://schemas.openxmlformats.org/officeDocument/2006/relationships" id="2147483648" r:id="Rc991343ae46448ca"/>
  </p:sldMasterIdLst>
  <p:notesMasterIdLst>
    <p:notesMasterId xmlns:r="http://schemas.openxmlformats.org/officeDocument/2006/relationships" r:id="R186ea23afb8a4df0"/>
  </p:notesMasterIdLst>
  <p:sldIdLst>
    <p:sldId xmlns:r="http://schemas.openxmlformats.org/officeDocument/2006/relationships" id="256" r:id="R825a8185ed2f4da0"/>
    <p:sldId xmlns:r="http://schemas.openxmlformats.org/officeDocument/2006/relationships" id="257" r:id="Rfd13adb585e44202"/>
    <p:sldId xmlns:r="http://schemas.openxmlformats.org/officeDocument/2006/relationships" id="258" r:id="Rcf3eeb829e03498f"/>
    <p:sldId xmlns:r="http://schemas.openxmlformats.org/officeDocument/2006/relationships" id="259" r:id="Rf16f4452f5404dc3"/>
    <p:sldId xmlns:r="http://schemas.openxmlformats.org/officeDocument/2006/relationships" id="260" r:id="Rd82baf4fd26146f9"/>
    <p:sldId xmlns:r="http://schemas.openxmlformats.org/officeDocument/2006/relationships" id="261" r:id="R22eda5f473af4966"/>
    <p:sldId xmlns:r="http://schemas.openxmlformats.org/officeDocument/2006/relationships" id="262" r:id="Reb5e2c59e6434b49"/>
    <p:sldId xmlns:r="http://schemas.openxmlformats.org/officeDocument/2006/relationships" id="263" r:id="R9f693aac39cd4328"/>
    <p:sldId xmlns:r="http://schemas.openxmlformats.org/officeDocument/2006/relationships" id="264" r:id="R451dcf197cad4e2c"/>
    <p:sldId xmlns:r="http://schemas.openxmlformats.org/officeDocument/2006/relationships" id="265" r:id="Rf3baadbe367d40ec"/>
    <p:sldId xmlns:r="http://schemas.openxmlformats.org/officeDocument/2006/relationships" id="266" r:id="R96848e19be10495c"/>
    <p:sldId xmlns:r="http://schemas.openxmlformats.org/officeDocument/2006/relationships" id="267" r:id="R5122f58e27b04a8c"/>
    <p:sldId xmlns:r="http://schemas.openxmlformats.org/officeDocument/2006/relationships" id="268" r:id="Rdb7d18ac171c4788"/>
    <p:sldId xmlns:r="http://schemas.openxmlformats.org/officeDocument/2006/relationships" id="269" r:id="Rd1e30e63db144992"/>
    <p:sldId xmlns:r="http://schemas.openxmlformats.org/officeDocument/2006/relationships" id="270" r:id="R41263c04ccf04561"/>
    <p:sldId xmlns:r="http://schemas.openxmlformats.org/officeDocument/2006/relationships" id="271" r:id="R2626a237576e470a"/>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e374fa9081646ea" /><Relationship Type="http://schemas.openxmlformats.org/officeDocument/2006/relationships/slideMaster" Target="/ppt/slideMasters/slideMaster1.xml" Id="Rc991343ae46448ca" /><Relationship Type="http://schemas.openxmlformats.org/officeDocument/2006/relationships/notesMaster" Target="/ppt/notesMasters/notesMaster1.xml" Id="R186ea23afb8a4df0" /><Relationship Type="http://schemas.openxmlformats.org/officeDocument/2006/relationships/presProps" Target="/ppt/presProps.xml" Id="Rcb651e6ef25b4115" /><Relationship Type="http://schemas.openxmlformats.org/officeDocument/2006/relationships/tableStyles" Target="/ppt/tableStyles.xml" Id="R0a4698490b9b451c" /><Relationship Type="http://schemas.openxmlformats.org/officeDocument/2006/relationships/slide" Target="/ppt/slides/slide1.xml" Id="R825a8185ed2f4da0" /><Relationship Type="http://schemas.openxmlformats.org/officeDocument/2006/relationships/slide" Target="/ppt/slides/slide2.xml" Id="Rfd13adb585e44202" /><Relationship Type="http://schemas.openxmlformats.org/officeDocument/2006/relationships/slide" Target="/ppt/slides/slide3.xml" Id="Rcf3eeb829e03498f" /><Relationship Type="http://schemas.openxmlformats.org/officeDocument/2006/relationships/slide" Target="/ppt/slides/slide4.xml" Id="Rf16f4452f5404dc3" /><Relationship Type="http://schemas.openxmlformats.org/officeDocument/2006/relationships/slide" Target="/ppt/slides/slide5.xml" Id="Rd82baf4fd26146f9" /><Relationship Type="http://schemas.openxmlformats.org/officeDocument/2006/relationships/slide" Target="/ppt/slides/slide6.xml" Id="R22eda5f473af4966" /><Relationship Type="http://schemas.openxmlformats.org/officeDocument/2006/relationships/slide" Target="/ppt/slides/slide7.xml" Id="Reb5e2c59e6434b49" /><Relationship Type="http://schemas.openxmlformats.org/officeDocument/2006/relationships/slide" Target="/ppt/slides/slide8.xml" Id="R9f693aac39cd4328" /><Relationship Type="http://schemas.openxmlformats.org/officeDocument/2006/relationships/slide" Target="/ppt/slides/slide9.xml" Id="R451dcf197cad4e2c" /><Relationship Type="http://schemas.openxmlformats.org/officeDocument/2006/relationships/slide" Target="/ppt/slides/slide10.xml" Id="Rf3baadbe367d40ec" /><Relationship Type="http://schemas.openxmlformats.org/officeDocument/2006/relationships/slide" Target="/ppt/slides/slide11.xml" Id="R96848e19be10495c" /><Relationship Type="http://schemas.openxmlformats.org/officeDocument/2006/relationships/slide" Target="/ppt/slides/slide12.xml" Id="R5122f58e27b04a8c" /><Relationship Type="http://schemas.openxmlformats.org/officeDocument/2006/relationships/slide" Target="/ppt/slides/slide13.xml" Id="Rdb7d18ac171c4788" /><Relationship Type="http://schemas.openxmlformats.org/officeDocument/2006/relationships/slide" Target="/ppt/slides/slide14.xml" Id="Rd1e30e63db144992" /><Relationship Type="http://schemas.openxmlformats.org/officeDocument/2006/relationships/slide" Target="/ppt/slides/slide15.xml" Id="R41263c04ccf04561" /><Relationship Type="http://schemas.openxmlformats.org/officeDocument/2006/relationships/slide" Target="/ppt/slides/slide16.xml" Id="R2626a237576e47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1dc42ea1524a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94035b87d74d14" /><Relationship Type="http://schemas.openxmlformats.org/officeDocument/2006/relationships/notesMaster" Target="/ppt/notesMasters/notesMaster1.xml" Id="R1bb89108111544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d12343dd9a4b4c" /><Relationship Type="http://schemas.openxmlformats.org/officeDocument/2006/relationships/notesMaster" Target="/ppt/notesMasters/notesMaster1.xml" Id="R6d607ff4a3e74e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4139f818404d65" /><Relationship Type="http://schemas.openxmlformats.org/officeDocument/2006/relationships/notesMaster" Target="/ppt/notesMasters/notesMaster1.xml" Id="R182e50c64b5941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9a6839bcd1483c" /><Relationship Type="http://schemas.openxmlformats.org/officeDocument/2006/relationships/notesMaster" Target="/ppt/notesMasters/notesMaster1.xml" Id="Redacb553f56b41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2973cb626246f7" /><Relationship Type="http://schemas.openxmlformats.org/officeDocument/2006/relationships/notesMaster" Target="/ppt/notesMasters/notesMaster1.xml" Id="Rfb7618d9603541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592af01b354e93" /><Relationship Type="http://schemas.openxmlformats.org/officeDocument/2006/relationships/notesMaster" Target="/ppt/notesMasters/notesMaster1.xml" Id="R4c0144dd154e47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7f2473b069400e" /><Relationship Type="http://schemas.openxmlformats.org/officeDocument/2006/relationships/notesMaster" Target="/ppt/notesMasters/notesMaster1.xml" Id="R2e11dfbde10648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f9ddeb1a4b4fe3" /><Relationship Type="http://schemas.openxmlformats.org/officeDocument/2006/relationships/notesMaster" Target="/ppt/notesMasters/notesMaster1.xml" Id="R761932a1c87b4a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bec456b76d4215" /><Relationship Type="http://schemas.openxmlformats.org/officeDocument/2006/relationships/notesMaster" Target="/ppt/notesMasters/notesMaster1.xml" Id="R7ebab3c20b9d4c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1aad1d3c7240cd" /><Relationship Type="http://schemas.openxmlformats.org/officeDocument/2006/relationships/notesMaster" Target="/ppt/notesMasters/notesMaster1.xml" Id="R2446e2049d884a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765163000a48b8" /><Relationship Type="http://schemas.openxmlformats.org/officeDocument/2006/relationships/notesMaster" Target="/ppt/notesMasters/notesMaster1.xml" Id="Rdf2bc7be13044f9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ed88caefa85492b" /><Relationship Type="http://schemas.openxmlformats.org/officeDocument/2006/relationships/notesMaster" Target="/ppt/notesMasters/notesMaster1.xml" Id="R79add5da27f849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bf02a34c0de4989" /><Relationship Type="http://schemas.openxmlformats.org/officeDocument/2006/relationships/notesMaster" Target="/ppt/notesMasters/notesMaster1.xml" Id="R934bf92c3d74436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fc999ca81b4e9e" /><Relationship Type="http://schemas.openxmlformats.org/officeDocument/2006/relationships/notesMaster" Target="/ppt/notesMasters/notesMaster1.xml" Id="R479fb4958ef24e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4e4925dc1040c9" /><Relationship Type="http://schemas.openxmlformats.org/officeDocument/2006/relationships/notesMaster" Target="/ppt/notesMasters/notesMaster1.xml" Id="R22258055c74d448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5812a855fb4df8" /><Relationship Type="http://schemas.openxmlformats.org/officeDocument/2006/relationships/notesMaster" Target="/ppt/notesMasters/notesMaster1.xml" Id="R612c3e8ffd4f49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 The life science tools framework</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2: 2025 LST under one F&amp;S definition</a:t>
            </a:r>
          </a:p>
          <a:p xmlns:a="http://schemas.openxmlformats.org/drawingml/2006/main">
            <a:r>
              <a:t>Evidence status: Historical estimate</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3: Customer workflows across life science tools</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4: AI discovery and its LST touchpoints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5: Which tools have more demand elasticity?</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6: Quantities and prices in miniaturization</a:t>
            </a:r>
          </a:p>
          <a:p xmlns:a="http://schemas.openxmlformats.org/drawingml/2006/main">
            <a:r>
              <a:t>Evidence status: Illustrative scenario</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7: Funding-to-LST purchase sensitivity</a:t>
            </a:r>
          </a:p>
          <a:p xmlns:a="http://schemas.openxmlformats.org/drawingml/2006/main">
            <a:r>
              <a:t>Evidence status: Illustrative scenario</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8: Potential supply constraints over 12–24 months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9: Mapping Chinese listed LST suppliers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10: From AI funding to LST shareholder returns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11: Workflow comparison and clinical benchmarks</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12: Modality-aware AI discovery and LST ecosystem</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13: Fewer molecules. Deeper experimental data.</a:t>
            </a:r>
          </a:p>
          <a:p xmlns:a="http://schemas.openxmlformats.org/drawingml/2006/main">
            <a:r>
              <a:t>Evidence status: Illustrative scenario</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14: Experimental data density and the LST ecosystem</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Protein / antibody screening workflow</a:t>
            </a:r>
          </a:p>
          <a:p xmlns:a="http://schemas.openxmlformats.org/drawingml/2006/main">
            <a:r>
              <a:t/>
            </a:r>
          </a:p>
          <a:p xmlns:a="http://schemas.openxmlformats.org/drawingml/2006/main">
            <a:r>
              <a:t>Figure 15. English infographic. Flat experimental schematic revision, 15 October 2026.</a:t>
            </a:r>
          </a:p>
          <a:p xmlns:a="http://schemas.openxmlformats.org/drawingml/2006/main">
            <a:r>
              <a:t/>
            </a:r>
          </a:p>
          <a:p xmlns:a="http://schemas.openxmlformats.org/drawingml/2006/main">
            <a:r>
              <a:t>## Scope and interpretation</a:t>
            </a:r>
          </a:p>
          <a:p xmlns:a="http://schemas.openxmlformats.org/drawingml/2006/main">
            <a:r>
              <a:t/>
            </a:r>
          </a:p>
          <a:p xmlns:a="http://schemas.openxmlformats.org/drawingml/2006/main">
            <a:r>
              <a:t>The example follows sequence-defined antibody candidates against a protein target, from DNA constructs to physical samples, binding screens, characterization and cell function. It is a simplified logical workflow, not a mandatory six-step protocol. Target preparation and candidate expression can run in parallel; primary screens can use culture supernatant before full purification. Assays are chosen for the molecule, mechanism and program.</a:t>
            </a:r>
          </a:p>
          <a:p xmlns:a="http://schemas.openxmlformats.org/drawingml/2006/main">
            <a:r>
              <a:t/>
            </a:r>
          </a:p>
          <a:p xmlns:a="http://schemas.openxmlformats.org/drawingml/2006/main">
            <a:r>
              <a:t>Stages 4–5 are highlighted as potential constraints on generating comparable, reproducible multi-property data for AI. This is an analytical hypothesis, not evidence that every program has these bottlenecks or that AI raises realized supplier revenue.</a:t>
            </a:r>
          </a:p>
          <a:p xmlns:a="http://schemas.openxmlformats.org/drawingml/2006/main">
            <a:r>
              <a:t/>
            </a:r>
          </a:p>
          <a:p xmlns:a="http://schemas.openxmlformats.org/drawingml/2006/main">
            <a:r>
              <a:t>KD, kon and koff can come from the same binding experiment and appropriate kinetic model. Expression data originate during production. Epitope competition binning is not atomic-resolution epitope mapping. Stability, aggregation and polyreactivity require different assays; none is implied to be measured by SEC or LC-MS alone. Cell potency is assay-specific and does not establish clinical efficacy. The label panel is a linked record assembled across stages, not nine independent tests.</a:t>
            </a:r>
          </a:p>
          <a:p xmlns:a="http://schemas.openxmlformats.org/drawingml/2006/main">
            <a:r>
              <a:t/>
            </a:r>
          </a:p>
          <a:p xmlns:a="http://schemas.openxmlformats.org/drawingml/2006/main">
            <a:r>
              <a:t>Instrumentation is shown separately from recurring inputs. Chromatography columns may be reused. Culture bags and bioreactors are scale-dependent. Shared sample preparation and shared assay readouts should be counted once in a procurement model. LIMS/ELN and orchestration are software systems. Data infrastructure supports the whole workflow, even though integration is shown as the sixth stage.</a:t>
            </a:r>
          </a:p>
          <a:p xmlns:a="http://schemas.openxmlformats.org/drawingml/2006/main">
            <a:r>
              <a:t/>
            </a:r>
          </a:p>
          <a:p xmlns:a="http://schemas.openxmlformats.org/drawingml/2006/main">
            <a:r>
              <a:t>Supplier lists are selected examples spanning reagents, instruments, consumables or services. A supplier listed beneath a stage is not asserted to supply every item in that stage. This is not a market-share ranking, endorsement or statement about installed systems in one laboratory.</a:t>
            </a:r>
          </a:p>
          <a:p xmlns:a="http://schemas.openxmlformats.org/drawingml/2006/main">
            <a:r>
              <a:t/>
            </a:r>
          </a:p>
          <a:p xmlns:a="http://schemas.openxmlformats.org/drawingml/2006/main">
            <a:r>
              <a:t>## Primary sources supporting the mappings</a:t>
            </a:r>
          </a:p>
          <a:p xmlns:a="http://schemas.openxmlformats.org/drawingml/2006/main">
            <a:r>
              <a:t/>
            </a:r>
          </a:p>
          <a:p xmlns:a="http://schemas.openxmlformats.org/drawingml/2006/main">
            <a:r>
              <a:t>1. [GenScript — antibody production](https://www.genscript.com/custom-antibody-production-services.html?src=home): antibody production and purification services. [Gene-to-antibody workflow](https://www.genscript.com/high-throughput-antibody-purification.html): constructs, expression and purification.</a:t>
            </a:r>
          </a:p>
          <a:p xmlns:a="http://schemas.openxmlformats.org/drawingml/2006/main">
            <a:r>
              <a:t>2. [Twist — gene fragments](https://www.twistbioscience.com/products/genes/fragments): DNA fragments for construct generation. [Multiplexed gene fragments](https://investors.twistbioscience.com/news-releases/news-release-details/twist-bioscience-launches-multiplexed-gene-fragments-enable-high): applications include antibody discovery and protein engineering.</a:t>
            </a:r>
          </a:p>
          <a:p xmlns:a="http://schemas.openxmlformats.org/drawingml/2006/main">
            <a:r>
              <a:t>3. [ACROBiosystems — AIDD-Ready](https://www.acrobiosystems.com/aix/aidd-ready-solutions): target proteins; gene synthesis, CHO expression, expression quantification, binding screening, optional epitope and cell assays. [Services](https://www.acrobiosystems.com/services): protein and cellular services and characterization.</a:t>
            </a:r>
          </a:p>
          <a:p xmlns:a="http://schemas.openxmlformats.org/drawingml/2006/main">
            <a:r>
              <a:t>4. [Cytiva — antibody purification handbook](https://cdn.cytivalifesciences.com/api/public/content/digi-26798-pdf): antibody affinity purification and chromatography choices. [Handbooks](https://www.cytivalifesciences.com/en/us/support/handbooks): laboratory protein purification. ÄKTA is a Cytiva instrument family; FPLC denotes a chromatography technique.</a:t>
            </a:r>
          </a:p>
          <a:p xmlns:a="http://schemas.openxmlformats.org/drawingml/2006/main">
            <a:r>
              <a:t>5. [Sartorius — BLI](https://www.sartorius.com/en/products/biolayer-interferometry): binding kinetics, affinity, concentration, biosensors and epitope binning. [Epitope binning](https://www.sartorius.com/en/products/biolayer-interferometry/bli-resources/octet-cross-competition-epitope-binning-assays): cross-competition assays.</a:t>
            </a:r>
          </a:p>
          <a:p xmlns:a="http://schemas.openxmlformats.org/drawingml/2006/main">
            <a:r>
              <a:t>6. [NanoTemper — Prometheus Panta](https://nanotempertech.com/prometheus-panta/): nanoDSF and scattering measurements for stability and aggregation-related properties. [nanoDSF](https://nanotempertech.com/nanodsf/): thermal unfolding and the distinction between conformational and colloidal stability.</a:t>
            </a:r>
          </a:p>
          <a:p xmlns:a="http://schemas.openxmlformats.org/drawingml/2006/main">
            <a:r>
              <a:t>7. [NanoMicro — company business description](https://www.nanomicro.com/news/company/76): chromatography materials and analytical separation portfolio. [NanoChrom SEC catalog](https://www.nanochrom.com.cn/products_1/?ext_fenlimoshi=SEC&amp;show=selectproductlist): SEC products, previously inspected in the preceding research; not freshly accessible through the web reader on 13 October. NanoMicro exposure here is analytical separation and purification, not an assertion that research-scale assay growth immediately translates into manufacturing resin demand.</a:t>
            </a:r>
          </a:p>
          <a:p xmlns:a="http://schemas.openxmlformats.org/drawingml/2006/main">
            <a:r>
              <a:t>8. [Molecular Devices — cellular imaging](https://www.moleculardevices.com/products/cellular-imaging-systems): cell imaging platforms. [Antibody binding with high-content imaging](https://www.moleculardevices.com/en/assets/app-note/dd/img/homogeneous-antibody-binding-assays-with-high-content-imaging): cell-surface binding as an example distinct from a complete potency assay.</a:t>
            </a:r>
          </a:p>
          <a:p xmlns:a="http://schemas.openxmlformats.org/drawingml/2006/main">
            <a:r>
              <a:t>9. [Corning — life sciences](https://www.corning.com/worldwide/en/products/life-sciences.html): culture vessels and microplates.</a:t>
            </a:r>
          </a:p>
          <a:p xmlns:a="http://schemas.openxmlformats.org/drawingml/2006/main">
            <a:r>
              <a:t>10. [Waters Biosciences — flow cytometers](https://www.bdbiosciences.com/en-br/products/instruments/flow-cytometers): current portfolio naming. [Waters transaction disclosure](https://www.waters.com/nextgen/us/en/about-waters/corporate-governance/legal-and-privacy-notices/bdtransaction.html): combination with BD's Biosciences &amp; Diagnostic Solutions closed 9 February 2026. The slide therefore labels the former BD Biosciences portfolio as Waters Biosciences (ex-BD).</a:t>
            </a:r>
          </a:p>
          <a:p xmlns:a="http://schemas.openxmlformats.org/drawingml/2006/main">
            <a:r>
              <a:t>11. [Hamilton — applications](https://www.hamiltoncompany.com/applications): liquid handling and protein/cell workflow automation. [Tecan](https://www.tecan.com): liquid handling and laboratory automation.</a:t>
            </a:r>
          </a:p>
          <a:p xmlns:a="http://schemas.openxmlformats.org/drawingml/2006/main">
            <a:r>
              <a:t>12. [Benchling — biopharmaceutical R&amp;D](https://www.benchling.com/solutions/biopharmaceutical): ELN, LIMS and linked data. [Genedata Biologics](https://www.genedata.com/platform/biologics): molecule/sample tracking, screening records and characterization data.</a:t>
            </a:r>
          </a:p>
          <a:p xmlns:a="http://schemas.openxmlformats.org/drawingml/2006/main">
            <a:r>
              <a:t/>
            </a:r>
          </a:p>
          <a:p xmlns:a="http://schemas.openxmlformats.org/drawingml/2006/main">
            <a:r>
              <a:t>Additional suppliers from the user's requested representative set are included as company-name examples consistent with their established product families: Tsingke and Vazyme (construction reagents/services); Thermo Fisher and Gibco (instruments, reagents and media); Sino Biological and Bioss (proteins/antibodies); OPM and Duoning (culture/bioprocess inputs); Waters, Agilent and Sepax (analytical separation); Bio-Techne (proteins and cellular assay reagents); JET Biofil (labware). Individual stock-keeping units are not specified.</a:t>
            </a:r>
          </a:p>
          <a:p xmlns:a="http://schemas.openxmlformats.org/drawingml/2006/main">
            <a:r>
              <a:t/>
            </a:r>
          </a:p>
          <a:p xmlns:a="http://schemas.openxmlformats.org/drawingml/2006/main">
            <a:r>
              <a:t>## Original visual assets</a:t>
            </a:r>
          </a:p>
          <a:p xmlns:a="http://schemas.openxmlformats.org/drawingml/2006/main">
            <a:r>
              <a:t/>
            </a:r>
          </a:p>
          <a:p xmlns:a="http://schemas.openxmlformats.org/drawingml/2006/main">
            <a:r>
              <a:t>Original artwork is embedded without redrawing, with aspect ratios preserved. Whitespace-trimmed versions already exist in this project's asset library. Company-name text labels are editable native text; original logo artwork remains an image. Logos remain images in the PowerPoint; all diagram text, frames and arrows are native editable objects.</a:t>
            </a:r>
          </a:p>
          <a:p xmlns:a="http://schemas.openxmlformats.org/drawingml/2006/main">
            <a:r>
              <a:t/>
            </a:r>
          </a:p>
          <a:p xmlns:a="http://schemas.openxmlformats.org/drawingml/2006/main">
            <a:r>
              <a:t>- Twist: https://www.twistbioscience.com/content/dam/twist-aem-migration/twist-home-logo.svg</a:t>
            </a:r>
          </a:p>
          <a:p xmlns:a="http://schemas.openxmlformats.org/drawingml/2006/main">
            <a:r>
              <a:t>- GenScript: https://www.genscript.com/gsimages/logo.jpg</a:t>
            </a:r>
          </a:p>
          <a:p xmlns:a="http://schemas.openxmlformats.org/drawingml/2006/main">
            <a:r>
              <a:t>- ACROBiosystems: https://console.acrobiosystems.com/public/images/LOGO-download.png</a:t>
            </a:r>
          </a:p>
          <a:p xmlns:a="http://schemas.openxmlformats.org/drawingml/2006/main">
            <a:r>
              <a:t>- Cytiva: https://massbioportalimages.blob.core.windows.net/massbioportalimages/a28b10cf8e90ea11a811000d3a33b4ee/Cytiva%20-%20Copy.png (previously archived logo from MassBio).</a:t>
            </a:r>
          </a:p>
          <a:p xmlns:a="http://schemas.openxmlformats.org/drawingml/2006/main">
            <a:r>
              <a:t>- NanoMicro emblem: https://www.nanomicro.com/Public/Cn/images/com_logo.svg (original emblem with a separate editable English company name).</a:t>
            </a:r>
          </a:p>
          <a:p xmlns:a="http://schemas.openxmlformats.org/drawingml/2006/main">
            <a:r>
              <a:t>- Tecan: https://www.tecan.com/hubfs/page_images/logo.png</a:t>
            </a:r>
          </a:p>
          <a:p xmlns:a="http://schemas.openxmlformats.org/drawingml/2006/main">
            <a:r>
              <a:t>- JET Biofil: https://image.makewebeasy.net/makeweb/m_1920x0/EtyBgz2ZO/Product_Brand/Jet_01.png?v=202012190947 (English original from distributor; previously archived).</a:t>
            </a:r>
          </a:p>
          <a:p xmlns:a="http://schemas.openxmlformats.org/drawingml/2006/main">
            <a:r>
              <a:t>- Lucide icons: https://github.com/lucide-icons/lucide — ISC license. DNA, flask, test tubes, microscope, pipette, database and bot. Icons retain original paths; stroke color is teal for the slide.</a:t>
            </a:r>
          </a:p>
          <a:p xmlns:a="http://schemas.openxmlformats.org/drawingml/2006/main">
            <a:r>
              <a:t/>
            </a:r>
          </a:p>
          <a:p xmlns:a="http://schemas.openxmlformats.org/drawingml/2006/main">
            <a:r>
              <a:t>No market sizes, unit prices, empirical throughput values or company revenue forecasts are introduced in this figure.</a:t>
            </a:r>
          </a:p>
          <a:p xmlns:a="http://schemas.openxmlformats.org/drawingml/2006/main">
            <a:r>
              <a:t/>
            </a:r>
          </a:p>
          <a:p xmlns:a="http://schemas.openxmlformats.org/drawingml/2006/main">
            <a:r>
              <a:t/>
            </a:r>
          </a:p>
          <a:p xmlns:a="http://schemas.openxmlformats.org/drawingml/2006/main">
            <a:r>
              <a:t>Palette updated to the user's eight RGB colors on 13 October 2026. Original company marks retain their brand colors.</a:t>
            </a:r>
          </a:p>
          <a:p xmlns:a="http://schemas.openxmlformats.org/drawingml/2006/main">
            <a:r>
              <a:t/>
            </a:r>
          </a:p>
          <a:p xmlns:a="http://schemas.openxmlformats.org/drawingml/2006/main">
            <a:r>
              <a:t>## Flat experimental scenes (15 October 2026 revision)</a:t>
            </a:r>
          </a:p>
          <a:p xmlns:a="http://schemas.openxmlformats.org/drawingml/2006/main">
            <a:r>
              <a:t/>
            </a:r>
          </a:p>
          <a:p xmlns:a="http://schemas.openxmlformats.org/drawingml/2006/main">
            <a:r>
              <a:t>The six-card workflow is retained. Each card contains a small composition of editable flat vector shapes: a dispensing arm, multiwell plate and thermocycler; culture flask, medium, chromatography column and analytical MS; antibody, target, assay plate and binding platform; separation, thermal and kinetic readouts; cell dosing, flow and imaging; and linked records feeding the next design. These are generic scientific diagrams, not literal vendor models. No photorealistic or isometric artwork is used in the current Figure 15.</a:t>
            </a:r>
          </a:p>
          <a:p xmlns:a="http://schemas.openxmlformats.org/drawingml/2006/main">
            <a:r>
              <a:t/>
            </a:r>
          </a:p>
          <a:p xmlns:a="http://schemas.openxmlformats.org/drawingml/2006/main">
            <a:r>
              <a:t>PCR supports construct amplification/assembly after DNA purchase; it is not labeled as de novo gene synthesis. LC-MS is labeled analytical QC after chromatographic purification, not the preparative purification device. Binding curves, peaks, cell dots and model nodes are illustrative; they are not measured datasets. The flow supplier is Waters Biosciences (ex-BD). Supplier groupings identify selected relevant product families, not complete stage coverage. Full item explanations are in `workflow-data.json` and the public `wetlab/` page.</a:t>
            </a:r>
          </a:p>
          <a:p xmlns:a="http://schemas.openxmlformats.org/drawingml/2006/main">
            <a:r>
              <a:t/>
            </a:r>
          </a:p>
          <a:p xmlns:a="http://schemas.openxmlformats.org/drawingml/2006/main">
            <a:r>
              <a:t>All current diagram components, company labels, frames, arrows and text are native editable PowerPoint shapes/text. No company logos are redrawn. The current figure uses text supplier names to keep the six scenes legible. The generation recipe is `generate_workflow.mjs`.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16: RSI: AI design and biological validation</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088621e14f475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57a76ec36be457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8774e44206044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a54b41e9283427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530da3d3ec6435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b5692cbca2d4b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2E1A65-86A8-4688-91D8-D0D02702C8A5}"/>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B9D0205-028E-48B7-92C7-120C64FD06E0}"/>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4D6F17-617C-488A-90B1-8994D6CB2D78}"/>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A9F931-38BA-4362-B94C-90E8CE9ECDFA}"/>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D2106D2-C4F4-4FA0-B850-F4608E74074B}"/>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0DEFDA-E3D0-4AB8-A990-4F01B48EFDA6}"/>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B08ADF-9B5B-4A1F-B2A9-BFB0C6A86F8C}"/>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6C5C954-A3B8-4052-957D-9CCB2143334B}"/>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611EDA-85E7-4421-8D02-B52ED55C3A0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CC854A-12DD-483D-ACF2-0FD50751B250}"/>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8262eed4a14fc4" /><Relationship Type="http://schemas.openxmlformats.org/officeDocument/2006/relationships/slideLayout" Target="/ppt/slideLayouts/slideLayout1.xml" Id="Ra6450efd9b684105" /><Relationship Type="http://schemas.openxmlformats.org/officeDocument/2006/relationships/slideLayout" Target="/ppt/slideLayouts/slideLayout2.xml" Id="Red1c6977974644a4" /><Relationship Type="http://schemas.openxmlformats.org/officeDocument/2006/relationships/slideLayout" Target="/ppt/slideLayouts/slideLayout3.xml" Id="Rec78401918004075" /><Relationship Type="http://schemas.openxmlformats.org/officeDocument/2006/relationships/slideLayout" Target="/ppt/slideLayouts/slideLayout4.xml" Id="Ra91c3afc1a934e3f" /><Relationship Type="http://schemas.openxmlformats.org/officeDocument/2006/relationships/slideLayout" Target="/ppt/slideLayouts/slideLayout5.xml" Id="R603e6803ba1245be" /><Relationship Type="http://schemas.openxmlformats.org/officeDocument/2006/relationships/slideLayout" Target="/ppt/slideLayouts/slideLayout6.xml" Id="Rcff77472a8244e8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450efd9b684105"/>
    <p:sldLayoutId xmlns:r="http://schemas.openxmlformats.org/officeDocument/2006/relationships" id="2147483650" r:id="Red1c6977974644a4"/>
    <p:sldLayoutId xmlns:r="http://schemas.openxmlformats.org/officeDocument/2006/relationships" id="2147483651" r:id="Rec78401918004075"/>
    <p:sldLayoutId xmlns:r="http://schemas.openxmlformats.org/officeDocument/2006/relationships" id="2147483652" r:id="Ra91c3afc1a934e3f"/>
    <p:sldLayoutId xmlns:r="http://schemas.openxmlformats.org/officeDocument/2006/relationships" id="2147483653" r:id="R603e6803ba1245be"/>
    <p:sldLayoutId xmlns:r="http://schemas.openxmlformats.org/officeDocument/2006/relationships" id="2147483654" r:id="Rcff77472a8244e8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708ab467744f71" /><Relationship Type="http://schemas.openxmlformats.org/officeDocument/2006/relationships/image" Target="/ppt/media/image.png" Id="Rea3d83997d1e43fc" /><Relationship Type="http://schemas.openxmlformats.org/officeDocument/2006/relationships/notesSlide" Target="/ppt/notesSlides/notesSlide1.xml" Id="R5dd88443fcc044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39d8c875cf14983" /><Relationship Type="http://schemas.openxmlformats.org/officeDocument/2006/relationships/image" Target="/ppt/media/image2.png" Id="R03bb3027918c4931" /><Relationship Type="http://schemas.openxmlformats.org/officeDocument/2006/relationships/notesSlide" Target="/ppt/notesSlides/notesSlide2.xml" Id="R5c9f4b860a2a41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737b828031401a" /><Relationship Type="http://schemas.openxmlformats.org/officeDocument/2006/relationships/image" Target="/ppt/media/image3.png" Id="R22ae6b533ce24627" /><Relationship Type="http://schemas.openxmlformats.org/officeDocument/2006/relationships/notesSlide" Target="/ppt/notesSlides/notesSlide3.xml" Id="Rdc81802fe7a24d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b56108b01bd47c7" /><Relationship Type="http://schemas.openxmlformats.org/officeDocument/2006/relationships/image" Target="/ppt/media/image4.png" Id="Rc32047126a34427f" /><Relationship Type="http://schemas.openxmlformats.org/officeDocument/2006/relationships/notesSlide" Target="/ppt/notesSlides/notesSlide4.xml" Id="Rc062d3d0951641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01dfb7e22af402b" /><Relationship Type="http://schemas.openxmlformats.org/officeDocument/2006/relationships/image" Target="/ppt/media/image5.png" Id="R938d21289c1f4f18" /><Relationship Type="http://schemas.openxmlformats.org/officeDocument/2006/relationships/notesSlide" Target="/ppt/notesSlides/notesSlide5.xml" Id="R7aee8f1d3d1344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b35b34d1d04838" /><Relationship Type="http://schemas.openxmlformats.org/officeDocument/2006/relationships/image" Target="/ppt/media/image6.png" Id="Re9fe230639ad439a" /><Relationship Type="http://schemas.openxmlformats.org/officeDocument/2006/relationships/notesSlide" Target="/ppt/notesSlides/notesSlide6.xml" Id="Ra26a17752c104a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d707caa7c7d4344" /><Relationship Type="http://schemas.openxmlformats.org/officeDocument/2006/relationships/image" Target="/ppt/media/image7.png" Id="R9b9e7c677e8d4660" /><Relationship Type="http://schemas.openxmlformats.org/officeDocument/2006/relationships/notesSlide" Target="/ppt/notesSlides/notesSlide7.xml" Id="R004ef4f393ec45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8396e0b469a46ec" /><Relationship Type="http://schemas.openxmlformats.org/officeDocument/2006/relationships/image" Target="/ppt/media/image8.png" Id="R034262faf57d4efb" /><Relationship Type="http://schemas.openxmlformats.org/officeDocument/2006/relationships/notesSlide" Target="/ppt/notesSlides/notesSlide8.xml" Id="Rea46b6bc01004c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13df8c1c7444525" /><Relationship Type="http://schemas.openxmlformats.org/officeDocument/2006/relationships/image" Target="/ppt/media/image9.png" Id="Rba1f8e800a8a4607" /><Relationship Type="http://schemas.openxmlformats.org/officeDocument/2006/relationships/notesSlide" Target="/ppt/notesSlides/notesSlide9.xml" Id="R22d57721520d4c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143b622bbe94a68" /><Relationship Type="http://schemas.openxmlformats.org/officeDocument/2006/relationships/image" Target="/ppt/media/image10.png" Id="Rcc4b214c9abc4a2d" /><Relationship Type="http://schemas.openxmlformats.org/officeDocument/2006/relationships/notesSlide" Target="/ppt/notesSlides/notesSlide10.xml" Id="R0c82a1d3025440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5d76f95b9624f54" /><Relationship Type="http://schemas.openxmlformats.org/officeDocument/2006/relationships/image" Target="/ppt/media/image11.png" Id="R53cdebada31e4027" /><Relationship Type="http://schemas.openxmlformats.org/officeDocument/2006/relationships/notesSlide" Target="/ppt/notesSlides/notesSlide11.xml" Id="R52fa5c66127542f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09253d3dd9949e6" /><Relationship Type="http://schemas.openxmlformats.org/officeDocument/2006/relationships/image" Target="/ppt/media/image12.png" Id="Rde9ba6fd3ebf4d38" /><Relationship Type="http://schemas.openxmlformats.org/officeDocument/2006/relationships/notesSlide" Target="/ppt/notesSlides/notesSlide12.xml" Id="Ree54e2ced49f4b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597abf94cc04e85" /><Relationship Type="http://schemas.openxmlformats.org/officeDocument/2006/relationships/image" Target="/ppt/media/image13.png" Id="Rccd3555e85314e1f" /><Relationship Type="http://schemas.openxmlformats.org/officeDocument/2006/relationships/notesSlide" Target="/ppt/notesSlides/notesSlide13.xml" Id="R995e936bde5944d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e75bd8db67541bb" /><Relationship Type="http://schemas.openxmlformats.org/officeDocument/2006/relationships/image" Target="/ppt/media/image14.png" Id="Re2d3e40458b94a69" /><Relationship Type="http://schemas.openxmlformats.org/officeDocument/2006/relationships/notesSlide" Target="/ppt/notesSlides/notesSlide14.xml" Id="Rcd3175fa0a9242ce" /></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6.xml" Id="R3752424ebe50451d"/><Relationship Type="http://schemas.openxmlformats.org/officeDocument/2006/relationships/notesSlide" Target="/ppt/notesSlides/notesSlide15.xml" Id="Rfe71777ddd6444e2"/></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5ecbc9c1da44703" /><Relationship Type="http://schemas.openxmlformats.org/officeDocument/2006/relationships/image" Target="/ppt/media/image16.png" Id="R9be7e356ce32466e" /><Relationship Type="http://schemas.openxmlformats.org/officeDocument/2006/relationships/notesSlide" Target="/ppt/notesSlides/notesSlide16.xml" Id="Rda5d03d8842c452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5" name="">
            <a:extLst xmlns:a="http://schemas.openxmlformats.org/drawingml/2006/main">
              <a:ext uri="{FF2B5EF4-FFF2-40B4-BE49-F238E27FC236}">
                <a16:creationId xmlns:a16="http://schemas.microsoft.com/office/drawing/2014/main" id="{4F9D4FAE-D79B-4B61-A068-C20295930E94}"/>
              </a:ext>
            </a:extLst>
          </p:cNvPr>
          <p:cNvPicPr>
            <a:picLocks xmlns:a="http://schemas.openxmlformats.org/drawingml/2006/main" noChangeAspect="1"/>
          </p:cNvPicPr>
          <p:nvPr/>
        </p:nvPicPr>
        <p:blipFill>
          <a:blip xmlns:r="http://schemas.openxmlformats.org/officeDocument/2006/relationships" xmlns:a="http://schemas.openxmlformats.org/drawingml/2006/main" r:embed="Rea3d83997d1e43fc"/>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 label 1 line 1">
            <a:extLst xmlns:a="http://schemas.openxmlformats.org/drawingml/2006/main">
              <a:ext uri="{FF2B5EF4-FFF2-40B4-BE49-F238E27FC236}">
                <a16:creationId xmlns:a16="http://schemas.microsoft.com/office/drawing/2014/main" id="{194C6ABF-0BB5-4930-B983-8CB5A3240CC0}"/>
              </a:ext>
            </a:extLst>
          </p:cNvPr>
          <p:cNvSpPr>
            <a:spLocks xmlns:a="http://schemas.openxmlformats.org/drawingml/2006/main" noGrp="1"/>
          </p:cNvSpPr>
          <p:nvPr/>
        </p:nvSpPr>
        <p:spPr>
          <a:xfrm xmlns:a="http://schemas.openxmlformats.org/drawingml/2006/main" rot="0">
            <a:off x="991870" y="421675"/>
            <a:ext cx="570001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01  The life science tools framework</a:t>
            </a:r>
          </a:p>
        </p:txBody>
      </p:sp>
      <p:sp>
        <p:nvSpPr>
          <p:cNvPr id="3" name="Figure 1 label 2 line 1">
            <a:extLst xmlns:a="http://schemas.openxmlformats.org/drawingml/2006/main">
              <a:ext uri="{FF2B5EF4-FFF2-40B4-BE49-F238E27FC236}">
                <a16:creationId xmlns:a16="http://schemas.microsoft.com/office/drawing/2014/main" id="{86CB8AD4-1D1A-4350-88B2-E83EF8AFE2E5}"/>
              </a:ext>
            </a:extLst>
          </p:cNvPr>
          <p:cNvSpPr>
            <a:spLocks xmlns:a="http://schemas.openxmlformats.org/drawingml/2006/main" noGrp="1"/>
          </p:cNvSpPr>
          <p:nvPr/>
        </p:nvSpPr>
        <p:spPr>
          <a:xfrm xmlns:a="http://schemas.openxmlformats.org/drawingml/2006/main" rot="0">
            <a:off x="15683161" y="661601"/>
            <a:ext cx="109487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FRAMEWORK</a:t>
            </a:r>
          </a:p>
        </p:txBody>
      </p:sp>
      <p:sp>
        <p:nvSpPr>
          <p:cNvPr id="4" name="Figure 1 label 3 line 1">
            <a:extLst xmlns:a="http://schemas.openxmlformats.org/drawingml/2006/main">
              <a:ext uri="{FF2B5EF4-FFF2-40B4-BE49-F238E27FC236}">
                <a16:creationId xmlns:a16="http://schemas.microsoft.com/office/drawing/2014/main" id="{520D4EFC-16DE-4495-9672-B1E38285AAB2}"/>
              </a:ext>
            </a:extLst>
          </p:cNvPr>
          <p:cNvSpPr>
            <a:spLocks xmlns:a="http://schemas.openxmlformats.org/drawingml/2006/main" noGrp="1"/>
          </p:cNvSpPr>
          <p:nvPr/>
        </p:nvSpPr>
        <p:spPr>
          <a:xfrm xmlns:a="http://schemas.openxmlformats.org/drawingml/2006/main" rot="0">
            <a:off x="998220" y="1249487"/>
            <a:ext cx="844629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 product framework spanning academic research, biotech, pharma, CRDMOs and manufacturing.</a:t>
            </a:r>
          </a:p>
        </p:txBody>
      </p:sp>
      <p:sp>
        <p:nvSpPr>
          <p:cNvPr id="5" name="Figure 1 label 4 line 1">
            <a:extLst xmlns:a="http://schemas.openxmlformats.org/drawingml/2006/main">
              <a:ext uri="{FF2B5EF4-FFF2-40B4-BE49-F238E27FC236}">
                <a16:creationId xmlns:a16="http://schemas.microsoft.com/office/drawing/2014/main" id="{DE2B99D2-5EDC-4C07-8F2E-21A770578E6C}"/>
              </a:ext>
            </a:extLst>
          </p:cNvPr>
          <p:cNvSpPr>
            <a:spLocks xmlns:a="http://schemas.openxmlformats.org/drawingml/2006/main" noGrp="1"/>
          </p:cNvSpPr>
          <p:nvPr/>
        </p:nvSpPr>
        <p:spPr>
          <a:xfrm xmlns:a="http://schemas.openxmlformats.org/drawingml/2006/main" rot="0">
            <a:off x="999173" y="9256035"/>
            <a:ext cx="671408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Classify products separately from their use cases. Chromatography resins can be reused.</a:t>
            </a:r>
          </a:p>
        </p:txBody>
      </p:sp>
      <p:sp>
        <p:nvSpPr>
          <p:cNvPr id="6" name="Figure 1 label 5 line 1">
            <a:extLst xmlns:a="http://schemas.openxmlformats.org/drawingml/2006/main">
              <a:ext uri="{FF2B5EF4-FFF2-40B4-BE49-F238E27FC236}">
                <a16:creationId xmlns:a16="http://schemas.microsoft.com/office/drawing/2014/main" id="{1BC2DE0A-B738-484F-9D77-505F24669A9A}"/>
              </a:ext>
            </a:extLst>
          </p:cNvPr>
          <p:cNvSpPr>
            <a:spLocks xmlns:a="http://schemas.openxmlformats.org/drawingml/2006/main" noGrp="1"/>
          </p:cNvSpPr>
          <p:nvPr/>
        </p:nvSpPr>
        <p:spPr>
          <a:xfrm xmlns:a="http://schemas.openxmlformats.org/drawingml/2006/main" rot="0">
            <a:off x="1000316" y="9675546"/>
            <a:ext cx="6311087"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prior product research. Existing TAMs do not automatically reconcile.</a:t>
            </a:r>
          </a:p>
        </p:txBody>
      </p:sp>
      <p:sp>
        <p:nvSpPr>
          <p:cNvPr id="7" name="Figure 1 label 6 line 1">
            <a:extLst xmlns:a="http://schemas.openxmlformats.org/drawingml/2006/main">
              <a:ext uri="{FF2B5EF4-FFF2-40B4-BE49-F238E27FC236}">
                <a16:creationId xmlns:a16="http://schemas.microsoft.com/office/drawing/2014/main" id="{EDE6EF1F-9967-4D7B-BD83-BEE9AAB26821}"/>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8" name="Figure 1 label 7 line 1">
            <a:extLst xmlns:a="http://schemas.openxmlformats.org/drawingml/2006/main">
              <a:ext uri="{FF2B5EF4-FFF2-40B4-BE49-F238E27FC236}">
                <a16:creationId xmlns:a16="http://schemas.microsoft.com/office/drawing/2014/main" id="{8073DC07-73D8-4AF7-8416-5027F7352261}"/>
              </a:ext>
            </a:extLst>
          </p:cNvPr>
          <p:cNvSpPr>
            <a:spLocks xmlns:a="http://schemas.openxmlformats.org/drawingml/2006/main" noGrp="1"/>
          </p:cNvSpPr>
          <p:nvPr/>
        </p:nvSpPr>
        <p:spPr>
          <a:xfrm xmlns:a="http://schemas.openxmlformats.org/drawingml/2006/main" rot="0">
            <a:off x="1394206" y="2415470"/>
            <a:ext cx="1721842"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FFFFFF"/>
                </a:solidFill>
                <a:latin typeface="Arial Unicode MS"/>
                <a:ea typeface="Arial Unicode MS"/>
                <a:cs typeface="Arial Unicode MS"/>
              </a:defRPr>
            </a:defPPr>
          </a:lstStyle>
          <a:p xmlns:a="http://schemas.openxmlformats.org/drawingml/2006/main">
            <a:pPr algn="l">
              <a:lnSpc>
                <a:spcPct val="100000"/>
              </a:lnSpc>
              <a:buNone/>
              <a:defRPr sz="2750" b="1">
                <a:solidFill>
                  <a:srgbClr val="FFFFFF"/>
                </a:solidFill>
                <a:latin typeface="Arial Unicode MS"/>
                <a:ea typeface="Arial Unicode MS"/>
                <a:cs typeface="Arial Unicode MS"/>
              </a:defRPr>
            </a:pPr>
            <a:r>
              <a:rPr sz="2750" b="1">
                <a:solidFill>
                  <a:srgbClr val="FFFFFF"/>
                </a:solidFill>
                <a:latin typeface="Arial Unicode MS"/>
                <a:ea typeface="Arial Unicode MS"/>
                <a:cs typeface="Arial Unicode MS"/>
              </a:rPr>
              <a:t>Reagents</a:t>
            </a:r>
          </a:p>
        </p:txBody>
      </p:sp>
      <p:sp>
        <p:nvSpPr>
          <p:cNvPr id="9" name="Figure 1 label 8 line 1">
            <a:extLst xmlns:a="http://schemas.openxmlformats.org/drawingml/2006/main">
              <a:ext uri="{FF2B5EF4-FFF2-40B4-BE49-F238E27FC236}">
                <a16:creationId xmlns:a16="http://schemas.microsoft.com/office/drawing/2014/main" id="{2A1172BF-66E6-44F5-AEEB-3692F7A83D4C}"/>
              </a:ext>
            </a:extLst>
          </p:cNvPr>
          <p:cNvSpPr>
            <a:spLocks xmlns:a="http://schemas.openxmlformats.org/drawingml/2006/main" noGrp="1"/>
          </p:cNvSpPr>
          <p:nvPr/>
        </p:nvSpPr>
        <p:spPr>
          <a:xfrm xmlns:a="http://schemas.openxmlformats.org/drawingml/2006/main" rot="0">
            <a:off x="1401509"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01</a:t>
            </a:r>
          </a:p>
        </p:txBody>
      </p:sp>
      <p:sp>
        <p:nvSpPr>
          <p:cNvPr id="10" name="Figure 1 label 9 line 1">
            <a:extLst xmlns:a="http://schemas.openxmlformats.org/drawingml/2006/main">
              <a:ext uri="{FF2B5EF4-FFF2-40B4-BE49-F238E27FC236}">
                <a16:creationId xmlns:a16="http://schemas.microsoft.com/office/drawing/2014/main" id="{37971B67-CE07-464D-9408-09DC60BC1584}"/>
              </a:ext>
            </a:extLst>
          </p:cNvPr>
          <p:cNvSpPr>
            <a:spLocks xmlns:a="http://schemas.openxmlformats.org/drawingml/2006/main" noGrp="1"/>
          </p:cNvSpPr>
          <p:nvPr/>
        </p:nvSpPr>
        <p:spPr>
          <a:xfrm xmlns:a="http://schemas.openxmlformats.org/drawingml/2006/main" rot="0">
            <a:off x="2022348" y="3625649"/>
            <a:ext cx="300424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Recombinant proteins / antibodies</a:t>
            </a:r>
          </a:p>
        </p:txBody>
      </p:sp>
      <p:sp>
        <p:nvSpPr>
          <p:cNvPr id="11" name="Figure 1 label 10 line 1">
            <a:extLst xmlns:a="http://schemas.openxmlformats.org/drawingml/2006/main">
              <a:ext uri="{FF2B5EF4-FFF2-40B4-BE49-F238E27FC236}">
                <a16:creationId xmlns:a16="http://schemas.microsoft.com/office/drawing/2014/main" id="{033DA2BF-EA20-406A-BAA5-FA3ADFF50EE6}"/>
              </a:ext>
            </a:extLst>
          </p:cNvPr>
          <p:cNvSpPr>
            <a:spLocks xmlns:a="http://schemas.openxmlformats.org/drawingml/2006/main" noGrp="1"/>
          </p:cNvSpPr>
          <p:nvPr/>
        </p:nvSpPr>
        <p:spPr>
          <a:xfrm xmlns:a="http://schemas.openxmlformats.org/drawingml/2006/main" rot="0">
            <a:off x="1401509"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02</a:t>
            </a:r>
          </a:p>
        </p:txBody>
      </p:sp>
      <p:sp>
        <p:nvSpPr>
          <p:cNvPr id="12" name="Figure 1 label 11 line 1">
            <a:extLst xmlns:a="http://schemas.openxmlformats.org/drawingml/2006/main">
              <a:ext uri="{FF2B5EF4-FFF2-40B4-BE49-F238E27FC236}">
                <a16:creationId xmlns:a16="http://schemas.microsoft.com/office/drawing/2014/main" id="{198DA0AD-D9BA-43FB-AC74-FFB63512B5DE}"/>
              </a:ext>
            </a:extLst>
          </p:cNvPr>
          <p:cNvSpPr>
            <a:spLocks xmlns:a="http://schemas.openxmlformats.org/drawingml/2006/main" noGrp="1"/>
          </p:cNvSpPr>
          <p:nvPr/>
        </p:nvSpPr>
        <p:spPr>
          <a:xfrm xmlns:a="http://schemas.openxmlformats.org/drawingml/2006/main" rot="0">
            <a:off x="2022348" y="4345874"/>
            <a:ext cx="30990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Enzymes / PCR and NGS reagents</a:t>
            </a:r>
          </a:p>
        </p:txBody>
      </p:sp>
      <p:sp>
        <p:nvSpPr>
          <p:cNvPr id="13" name="Figure 1 label 12 line 1">
            <a:extLst xmlns:a="http://schemas.openxmlformats.org/drawingml/2006/main">
              <a:ext uri="{FF2B5EF4-FFF2-40B4-BE49-F238E27FC236}">
                <a16:creationId xmlns:a16="http://schemas.microsoft.com/office/drawing/2014/main" id="{CBF8DD96-B06E-4F6F-BA03-6D56E5F70793}"/>
              </a:ext>
            </a:extLst>
          </p:cNvPr>
          <p:cNvSpPr>
            <a:spLocks xmlns:a="http://schemas.openxmlformats.org/drawingml/2006/main" noGrp="1"/>
          </p:cNvSpPr>
          <p:nvPr/>
        </p:nvSpPr>
        <p:spPr>
          <a:xfrm xmlns:a="http://schemas.openxmlformats.org/drawingml/2006/main" rot="0">
            <a:off x="1401509"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03</a:t>
            </a:r>
          </a:p>
        </p:txBody>
      </p:sp>
      <p:sp>
        <p:nvSpPr>
          <p:cNvPr id="14" name="Figure 1 label 13 line 1">
            <a:extLst xmlns:a="http://schemas.openxmlformats.org/drawingml/2006/main">
              <a:ext uri="{FF2B5EF4-FFF2-40B4-BE49-F238E27FC236}">
                <a16:creationId xmlns:a16="http://schemas.microsoft.com/office/drawing/2014/main" id="{59001F34-5D7C-4952-97FB-CB0A35C59A52}"/>
              </a:ext>
            </a:extLst>
          </p:cNvPr>
          <p:cNvSpPr>
            <a:spLocks xmlns:a="http://schemas.openxmlformats.org/drawingml/2006/main" noGrp="1"/>
          </p:cNvSpPr>
          <p:nvPr/>
        </p:nvSpPr>
        <p:spPr>
          <a:xfrm xmlns:a="http://schemas.openxmlformats.org/drawingml/2006/main" rot="0">
            <a:off x="2022348" y="5064803"/>
            <a:ext cx="33001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DNA / RNA / chemical building blocks</a:t>
            </a:r>
          </a:p>
        </p:txBody>
      </p:sp>
      <p:sp>
        <p:nvSpPr>
          <p:cNvPr id="15" name="Figure 1 label 14 line 1">
            <a:extLst xmlns:a="http://schemas.openxmlformats.org/drawingml/2006/main">
              <a:ext uri="{FF2B5EF4-FFF2-40B4-BE49-F238E27FC236}">
                <a16:creationId xmlns:a16="http://schemas.microsoft.com/office/drawing/2014/main" id="{88EAA52A-4DC4-480D-BA82-8D1A834A465A}"/>
              </a:ext>
            </a:extLst>
          </p:cNvPr>
          <p:cNvSpPr>
            <a:spLocks xmlns:a="http://schemas.openxmlformats.org/drawingml/2006/main" noGrp="1"/>
          </p:cNvSpPr>
          <p:nvPr/>
        </p:nvSpPr>
        <p:spPr>
          <a:xfrm xmlns:a="http://schemas.openxmlformats.org/drawingml/2006/main" rot="0">
            <a:off x="1401509"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04</a:t>
            </a:r>
          </a:p>
        </p:txBody>
      </p:sp>
      <p:sp>
        <p:nvSpPr>
          <p:cNvPr id="16" name="Figure 1 label 15 line 1">
            <a:extLst xmlns:a="http://schemas.openxmlformats.org/drawingml/2006/main">
              <a:ext uri="{FF2B5EF4-FFF2-40B4-BE49-F238E27FC236}">
                <a16:creationId xmlns:a16="http://schemas.microsoft.com/office/drawing/2014/main" id="{80B3D6CC-7EC3-422C-A898-E642AEB1651B}"/>
              </a:ext>
            </a:extLst>
          </p:cNvPr>
          <p:cNvSpPr>
            <a:spLocks xmlns:a="http://schemas.openxmlformats.org/drawingml/2006/main" noGrp="1"/>
          </p:cNvSpPr>
          <p:nvPr/>
        </p:nvSpPr>
        <p:spPr>
          <a:xfrm xmlns:a="http://schemas.openxmlformats.org/drawingml/2006/main" rot="0">
            <a:off x="2022348" y="5785920"/>
            <a:ext cx="21990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Cell lines / culture media</a:t>
            </a:r>
          </a:p>
        </p:txBody>
      </p:sp>
      <p:sp>
        <p:nvSpPr>
          <p:cNvPr id="17" name="Figure 1 label 16 line 1">
            <a:extLst xmlns:a="http://schemas.openxmlformats.org/drawingml/2006/main">
              <a:ext uri="{FF2B5EF4-FFF2-40B4-BE49-F238E27FC236}">
                <a16:creationId xmlns:a16="http://schemas.microsoft.com/office/drawing/2014/main" id="{4C3C6E22-9219-41C7-BB6C-DE738D5619C8}"/>
              </a:ext>
            </a:extLst>
          </p:cNvPr>
          <p:cNvSpPr>
            <a:spLocks xmlns:a="http://schemas.openxmlformats.org/drawingml/2006/main" noGrp="1"/>
          </p:cNvSpPr>
          <p:nvPr/>
        </p:nvSpPr>
        <p:spPr>
          <a:xfrm xmlns:a="http://schemas.openxmlformats.org/drawingml/2006/main" rot="0">
            <a:off x="1401509"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05</a:t>
            </a:r>
          </a:p>
        </p:txBody>
      </p:sp>
      <p:sp>
        <p:nvSpPr>
          <p:cNvPr id="18" name="Figure 1 label 17 line 1">
            <a:extLst xmlns:a="http://schemas.openxmlformats.org/drawingml/2006/main">
              <a:ext uri="{FF2B5EF4-FFF2-40B4-BE49-F238E27FC236}">
                <a16:creationId xmlns:a16="http://schemas.microsoft.com/office/drawing/2014/main" id="{BDE95155-1A5F-4F70-8CCD-440EFCD6A3F6}"/>
              </a:ext>
            </a:extLst>
          </p:cNvPr>
          <p:cNvSpPr>
            <a:spLocks xmlns:a="http://schemas.openxmlformats.org/drawingml/2006/main" noGrp="1"/>
          </p:cNvSpPr>
          <p:nvPr/>
        </p:nvSpPr>
        <p:spPr>
          <a:xfrm xmlns:a="http://schemas.openxmlformats.org/drawingml/2006/main" rot="0">
            <a:off x="2022348" y="6506143"/>
            <a:ext cx="287669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Assay reagents for R&amp;D and QC</a:t>
            </a:r>
          </a:p>
        </p:txBody>
      </p:sp>
      <p:sp>
        <p:nvSpPr>
          <p:cNvPr id="19" name="Figure 1 label 18 line 1">
            <a:extLst xmlns:a="http://schemas.openxmlformats.org/drawingml/2006/main">
              <a:ext uri="{FF2B5EF4-FFF2-40B4-BE49-F238E27FC236}">
                <a16:creationId xmlns:a16="http://schemas.microsoft.com/office/drawing/2014/main" id="{5A0EA396-C4EB-4A78-9031-1F34BC77A899}"/>
              </a:ext>
            </a:extLst>
          </p:cNvPr>
          <p:cNvSpPr>
            <a:spLocks xmlns:a="http://schemas.openxmlformats.org/drawingml/2006/main" noGrp="1"/>
          </p:cNvSpPr>
          <p:nvPr/>
        </p:nvSpPr>
        <p:spPr>
          <a:xfrm xmlns:a="http://schemas.openxmlformats.org/drawingml/2006/main" rot="0">
            <a:off x="1401318" y="7440635"/>
            <a:ext cx="22843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Tests × dose per test × price</a:t>
            </a:r>
          </a:p>
        </p:txBody>
      </p:sp>
      <p:sp>
        <p:nvSpPr>
          <p:cNvPr id="20" name="Figure 1 label 19 line 1">
            <a:extLst xmlns:a="http://schemas.openxmlformats.org/drawingml/2006/main">
              <a:ext uri="{FF2B5EF4-FFF2-40B4-BE49-F238E27FC236}">
                <a16:creationId xmlns:a16="http://schemas.microsoft.com/office/drawing/2014/main" id="{7352A643-FCDC-4D4C-B9EA-AC324DFDED44}"/>
              </a:ext>
            </a:extLst>
          </p:cNvPr>
          <p:cNvSpPr>
            <a:spLocks xmlns:a="http://schemas.openxmlformats.org/drawingml/2006/main" noGrp="1"/>
          </p:cNvSpPr>
          <p:nvPr/>
        </p:nvSpPr>
        <p:spPr>
          <a:xfrm xmlns:a="http://schemas.openxmlformats.org/drawingml/2006/main" rot="0">
            <a:off x="6953758" y="2417353"/>
            <a:ext cx="236210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Consumables</a:t>
            </a:r>
          </a:p>
        </p:txBody>
      </p:sp>
      <p:sp>
        <p:nvSpPr>
          <p:cNvPr id="21" name="Figure 1 label 20 line 1">
            <a:extLst xmlns:a="http://schemas.openxmlformats.org/drawingml/2006/main">
              <a:ext uri="{FF2B5EF4-FFF2-40B4-BE49-F238E27FC236}">
                <a16:creationId xmlns:a16="http://schemas.microsoft.com/office/drawing/2014/main" id="{DCDF3BED-F726-47AC-B09E-C3464067B67C}"/>
              </a:ext>
            </a:extLst>
          </p:cNvPr>
          <p:cNvSpPr>
            <a:spLocks xmlns:a="http://schemas.openxmlformats.org/drawingml/2006/main" noGrp="1"/>
          </p:cNvSpPr>
          <p:nvPr/>
        </p:nvSpPr>
        <p:spPr>
          <a:xfrm xmlns:a="http://schemas.openxmlformats.org/drawingml/2006/main" rot="0">
            <a:off x="6961060"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01</a:t>
            </a:r>
          </a:p>
        </p:txBody>
      </p:sp>
      <p:sp>
        <p:nvSpPr>
          <p:cNvPr id="22" name="Figure 1 label 21 line 1">
            <a:extLst xmlns:a="http://schemas.openxmlformats.org/drawingml/2006/main">
              <a:ext uri="{FF2B5EF4-FFF2-40B4-BE49-F238E27FC236}">
                <a16:creationId xmlns:a16="http://schemas.microsoft.com/office/drawing/2014/main" id="{74696B8E-0C02-4FB8-8E73-C3C247BD9334}"/>
              </a:ext>
            </a:extLst>
          </p:cNvPr>
          <p:cNvSpPr>
            <a:spLocks xmlns:a="http://schemas.openxmlformats.org/drawingml/2006/main" noGrp="1"/>
          </p:cNvSpPr>
          <p:nvPr/>
        </p:nvSpPr>
        <p:spPr>
          <a:xfrm xmlns:a="http://schemas.openxmlformats.org/drawingml/2006/main" rot="0">
            <a:off x="7581900" y="3625649"/>
            <a:ext cx="161657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Tips / microplates</a:t>
            </a:r>
          </a:p>
        </p:txBody>
      </p:sp>
      <p:sp>
        <p:nvSpPr>
          <p:cNvPr id="23" name="Figure 1 label 22 line 1">
            <a:extLst xmlns:a="http://schemas.openxmlformats.org/drawingml/2006/main">
              <a:ext uri="{FF2B5EF4-FFF2-40B4-BE49-F238E27FC236}">
                <a16:creationId xmlns:a16="http://schemas.microsoft.com/office/drawing/2014/main" id="{EFC17286-EE6E-4C61-B2F6-541FA77CD1FD}"/>
              </a:ext>
            </a:extLst>
          </p:cNvPr>
          <p:cNvSpPr>
            <a:spLocks xmlns:a="http://schemas.openxmlformats.org/drawingml/2006/main" noGrp="1"/>
          </p:cNvSpPr>
          <p:nvPr/>
        </p:nvSpPr>
        <p:spPr>
          <a:xfrm xmlns:a="http://schemas.openxmlformats.org/drawingml/2006/main" rot="0">
            <a:off x="6961060"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02</a:t>
            </a:r>
          </a:p>
        </p:txBody>
      </p:sp>
      <p:sp>
        <p:nvSpPr>
          <p:cNvPr id="24" name="Figure 1 label 23 line 1">
            <a:extLst xmlns:a="http://schemas.openxmlformats.org/drawingml/2006/main">
              <a:ext uri="{FF2B5EF4-FFF2-40B4-BE49-F238E27FC236}">
                <a16:creationId xmlns:a16="http://schemas.microsoft.com/office/drawing/2014/main" id="{AFB8BC37-F3B7-4F11-B28B-90CC0967112A}"/>
              </a:ext>
            </a:extLst>
          </p:cNvPr>
          <p:cNvSpPr>
            <a:spLocks xmlns:a="http://schemas.openxmlformats.org/drawingml/2006/main" noGrp="1"/>
          </p:cNvSpPr>
          <p:nvPr/>
        </p:nvSpPr>
        <p:spPr>
          <a:xfrm xmlns:a="http://schemas.openxmlformats.org/drawingml/2006/main" rot="0">
            <a:off x="7581900" y="4345874"/>
            <a:ext cx="279216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Culture flasks / centrifuge tubes</a:t>
            </a:r>
          </a:p>
        </p:txBody>
      </p:sp>
      <p:sp>
        <p:nvSpPr>
          <p:cNvPr id="25" name="Figure 1 label 24 line 1">
            <a:extLst xmlns:a="http://schemas.openxmlformats.org/drawingml/2006/main">
              <a:ext uri="{FF2B5EF4-FFF2-40B4-BE49-F238E27FC236}">
                <a16:creationId xmlns:a16="http://schemas.microsoft.com/office/drawing/2014/main" id="{D7F8B789-5930-472F-B687-1262BB25AE87}"/>
              </a:ext>
            </a:extLst>
          </p:cNvPr>
          <p:cNvSpPr>
            <a:spLocks xmlns:a="http://schemas.openxmlformats.org/drawingml/2006/main" noGrp="1"/>
          </p:cNvSpPr>
          <p:nvPr/>
        </p:nvSpPr>
        <p:spPr>
          <a:xfrm xmlns:a="http://schemas.openxmlformats.org/drawingml/2006/main" rot="0">
            <a:off x="6961060"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03</a:t>
            </a:r>
          </a:p>
        </p:txBody>
      </p:sp>
      <p:sp>
        <p:nvSpPr>
          <p:cNvPr id="26" name="Figure 1 label 25 line 1">
            <a:extLst xmlns:a="http://schemas.openxmlformats.org/drawingml/2006/main">
              <a:ext uri="{FF2B5EF4-FFF2-40B4-BE49-F238E27FC236}">
                <a16:creationId xmlns:a16="http://schemas.microsoft.com/office/drawing/2014/main" id="{E31E46E9-C41E-475C-914B-03A11C7C307C}"/>
              </a:ext>
            </a:extLst>
          </p:cNvPr>
          <p:cNvSpPr>
            <a:spLocks xmlns:a="http://schemas.openxmlformats.org/drawingml/2006/main" noGrp="1"/>
          </p:cNvSpPr>
          <p:nvPr/>
        </p:nvSpPr>
        <p:spPr>
          <a:xfrm xmlns:a="http://schemas.openxmlformats.org/drawingml/2006/main" rot="0">
            <a:off x="7581900" y="5065830"/>
            <a:ext cx="267593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Membranes / functional beads</a:t>
            </a:r>
          </a:p>
        </p:txBody>
      </p:sp>
      <p:sp>
        <p:nvSpPr>
          <p:cNvPr id="27" name="Figure 1 label 26 line 1">
            <a:extLst xmlns:a="http://schemas.openxmlformats.org/drawingml/2006/main">
              <a:ext uri="{FF2B5EF4-FFF2-40B4-BE49-F238E27FC236}">
                <a16:creationId xmlns:a16="http://schemas.microsoft.com/office/drawing/2014/main" id="{16D97208-FCCF-47A2-8CF7-46D84B04B354}"/>
              </a:ext>
            </a:extLst>
          </p:cNvPr>
          <p:cNvSpPr>
            <a:spLocks xmlns:a="http://schemas.openxmlformats.org/drawingml/2006/main" noGrp="1"/>
          </p:cNvSpPr>
          <p:nvPr/>
        </p:nvSpPr>
        <p:spPr>
          <a:xfrm xmlns:a="http://schemas.openxmlformats.org/drawingml/2006/main" rot="0">
            <a:off x="6961060"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04</a:t>
            </a:r>
          </a:p>
        </p:txBody>
      </p:sp>
      <p:sp>
        <p:nvSpPr>
          <p:cNvPr id="28" name="Figure 1 label 27 line 1">
            <a:extLst xmlns:a="http://schemas.openxmlformats.org/drawingml/2006/main">
              <a:ext uri="{FF2B5EF4-FFF2-40B4-BE49-F238E27FC236}">
                <a16:creationId xmlns:a16="http://schemas.microsoft.com/office/drawing/2014/main" id="{ED0852A0-9A9E-4A77-A542-1302141E90CD}"/>
              </a:ext>
            </a:extLst>
          </p:cNvPr>
          <p:cNvSpPr>
            <a:spLocks xmlns:a="http://schemas.openxmlformats.org/drawingml/2006/main" noGrp="1"/>
          </p:cNvSpPr>
          <p:nvPr/>
        </p:nvSpPr>
        <p:spPr>
          <a:xfrm xmlns:a="http://schemas.openxmlformats.org/drawingml/2006/main" rot="0">
            <a:off x="7581900" y="5786054"/>
            <a:ext cx="29719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Columns / chromatography resins</a:t>
            </a:r>
          </a:p>
        </p:txBody>
      </p:sp>
      <p:sp>
        <p:nvSpPr>
          <p:cNvPr id="29" name="Figure 1 label 28 line 1">
            <a:extLst xmlns:a="http://schemas.openxmlformats.org/drawingml/2006/main">
              <a:ext uri="{FF2B5EF4-FFF2-40B4-BE49-F238E27FC236}">
                <a16:creationId xmlns:a16="http://schemas.microsoft.com/office/drawing/2014/main" id="{7793A31A-F159-42CE-9B5F-9AC06EABE203}"/>
              </a:ext>
            </a:extLst>
          </p:cNvPr>
          <p:cNvSpPr>
            <a:spLocks xmlns:a="http://schemas.openxmlformats.org/drawingml/2006/main" noGrp="1"/>
          </p:cNvSpPr>
          <p:nvPr/>
        </p:nvSpPr>
        <p:spPr>
          <a:xfrm xmlns:a="http://schemas.openxmlformats.org/drawingml/2006/main" rot="0">
            <a:off x="6961060"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05</a:t>
            </a:r>
          </a:p>
        </p:txBody>
      </p:sp>
      <p:sp>
        <p:nvSpPr>
          <p:cNvPr id="30" name="Figure 1 label 29 line 1">
            <a:extLst xmlns:a="http://schemas.openxmlformats.org/drawingml/2006/main">
              <a:ext uri="{FF2B5EF4-FFF2-40B4-BE49-F238E27FC236}">
                <a16:creationId xmlns:a16="http://schemas.microsoft.com/office/drawing/2014/main" id="{07DC9327-00FC-49E2-B355-683A88064671}"/>
              </a:ext>
            </a:extLst>
          </p:cNvPr>
          <p:cNvSpPr>
            <a:spLocks xmlns:a="http://schemas.openxmlformats.org/drawingml/2006/main" noGrp="1"/>
          </p:cNvSpPr>
          <p:nvPr/>
        </p:nvSpPr>
        <p:spPr>
          <a:xfrm xmlns:a="http://schemas.openxmlformats.org/drawingml/2006/main" rot="0">
            <a:off x="7581900" y="6507171"/>
            <a:ext cx="24321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Gels / process components</a:t>
            </a:r>
          </a:p>
        </p:txBody>
      </p:sp>
      <p:sp>
        <p:nvSpPr>
          <p:cNvPr id="31" name="Figure 1 label 30 line 1">
            <a:extLst xmlns:a="http://schemas.openxmlformats.org/drawingml/2006/main">
              <a:ext uri="{FF2B5EF4-FFF2-40B4-BE49-F238E27FC236}">
                <a16:creationId xmlns:a16="http://schemas.microsoft.com/office/drawing/2014/main" id="{BAE8E85A-19BD-4AC0-A285-21C7568F51D2}"/>
              </a:ext>
            </a:extLst>
          </p:cNvPr>
          <p:cNvSpPr>
            <a:spLocks xmlns:a="http://schemas.openxmlformats.org/drawingml/2006/main" noGrp="1"/>
          </p:cNvSpPr>
          <p:nvPr/>
        </p:nvSpPr>
        <p:spPr>
          <a:xfrm xmlns:a="http://schemas.openxmlformats.org/drawingml/2006/main" rot="0">
            <a:off x="6960870" y="7439711"/>
            <a:ext cx="277025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Tests or batches × intensity × price</a:t>
            </a:r>
          </a:p>
        </p:txBody>
      </p:sp>
      <p:sp>
        <p:nvSpPr>
          <p:cNvPr id="32" name="Figure 1 label 31 line 1">
            <a:extLst xmlns:a="http://schemas.openxmlformats.org/drawingml/2006/main">
              <a:ext uri="{FF2B5EF4-FFF2-40B4-BE49-F238E27FC236}">
                <a16:creationId xmlns:a16="http://schemas.microsoft.com/office/drawing/2014/main" id="{EC5CD266-483C-4A1D-BE70-51DF139BB740}"/>
              </a:ext>
            </a:extLst>
          </p:cNvPr>
          <p:cNvSpPr>
            <a:spLocks xmlns:a="http://schemas.openxmlformats.org/drawingml/2006/main" noGrp="1"/>
          </p:cNvSpPr>
          <p:nvPr/>
        </p:nvSpPr>
        <p:spPr>
          <a:xfrm xmlns:a="http://schemas.openxmlformats.org/drawingml/2006/main" rot="0">
            <a:off x="12513310" y="2417353"/>
            <a:ext cx="205134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Instruments</a:t>
            </a:r>
          </a:p>
        </p:txBody>
      </p:sp>
      <p:sp>
        <p:nvSpPr>
          <p:cNvPr id="33" name="Figure 1 label 32 line 1">
            <a:extLst xmlns:a="http://schemas.openxmlformats.org/drawingml/2006/main">
              <a:ext uri="{FF2B5EF4-FFF2-40B4-BE49-F238E27FC236}">
                <a16:creationId xmlns:a16="http://schemas.microsoft.com/office/drawing/2014/main" id="{32A7612F-EE9C-43F9-B75F-04BFDA22E514}"/>
              </a:ext>
            </a:extLst>
          </p:cNvPr>
          <p:cNvSpPr>
            <a:spLocks xmlns:a="http://schemas.openxmlformats.org/drawingml/2006/main" noGrp="1"/>
          </p:cNvSpPr>
          <p:nvPr/>
        </p:nvSpPr>
        <p:spPr>
          <a:xfrm xmlns:a="http://schemas.openxmlformats.org/drawingml/2006/main" rot="0">
            <a:off x="12520612"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01</a:t>
            </a:r>
          </a:p>
        </p:txBody>
      </p:sp>
      <p:sp>
        <p:nvSpPr>
          <p:cNvPr id="34" name="Figure 1 label 33 line 1">
            <a:extLst xmlns:a="http://schemas.openxmlformats.org/drawingml/2006/main">
              <a:ext uri="{FF2B5EF4-FFF2-40B4-BE49-F238E27FC236}">
                <a16:creationId xmlns:a16="http://schemas.microsoft.com/office/drawing/2014/main" id="{16EAD44B-72EA-4333-BAF0-67F692A04CAA}"/>
              </a:ext>
            </a:extLst>
          </p:cNvPr>
          <p:cNvSpPr>
            <a:spLocks xmlns:a="http://schemas.openxmlformats.org/drawingml/2006/main" noGrp="1"/>
          </p:cNvSpPr>
          <p:nvPr/>
        </p:nvSpPr>
        <p:spPr>
          <a:xfrm xmlns:a="http://schemas.openxmlformats.org/drawingml/2006/main" rot="0">
            <a:off x="13141452" y="3626811"/>
            <a:ext cx="25278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Sequencers / liquid handlers</a:t>
            </a:r>
          </a:p>
        </p:txBody>
      </p:sp>
      <p:sp>
        <p:nvSpPr>
          <p:cNvPr id="35" name="Figure 1 label 34 line 1">
            <a:extLst xmlns:a="http://schemas.openxmlformats.org/drawingml/2006/main">
              <a:ext uri="{FF2B5EF4-FFF2-40B4-BE49-F238E27FC236}">
                <a16:creationId xmlns:a16="http://schemas.microsoft.com/office/drawing/2014/main" id="{2FD964B2-B1B5-4CD0-B571-71454094A5C2}"/>
              </a:ext>
            </a:extLst>
          </p:cNvPr>
          <p:cNvSpPr>
            <a:spLocks xmlns:a="http://schemas.openxmlformats.org/drawingml/2006/main" noGrp="1"/>
          </p:cNvSpPr>
          <p:nvPr/>
        </p:nvSpPr>
        <p:spPr>
          <a:xfrm xmlns:a="http://schemas.openxmlformats.org/drawingml/2006/main" rot="0">
            <a:off x="12520612"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02</a:t>
            </a:r>
          </a:p>
        </p:txBody>
      </p:sp>
      <p:sp>
        <p:nvSpPr>
          <p:cNvPr id="36" name="Figure 1 label 35 line 1">
            <a:extLst xmlns:a="http://schemas.openxmlformats.org/drawingml/2006/main">
              <a:ext uri="{FF2B5EF4-FFF2-40B4-BE49-F238E27FC236}">
                <a16:creationId xmlns:a16="http://schemas.microsoft.com/office/drawing/2014/main" id="{2B3339B8-0352-4D4C-A41C-34207BF8E5DA}"/>
              </a:ext>
            </a:extLst>
          </p:cNvPr>
          <p:cNvSpPr>
            <a:spLocks xmlns:a="http://schemas.openxmlformats.org/drawingml/2006/main" noGrp="1"/>
          </p:cNvSpPr>
          <p:nvPr/>
        </p:nvSpPr>
        <p:spPr>
          <a:xfrm xmlns:a="http://schemas.openxmlformats.org/drawingml/2006/main" rot="0">
            <a:off x="13141452" y="4346900"/>
            <a:ext cx="29926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LC / LC-MS / mass spectrometers</a:t>
            </a:r>
          </a:p>
        </p:txBody>
      </p:sp>
      <p:sp>
        <p:nvSpPr>
          <p:cNvPr id="37" name="Figure 1 label 36 line 1">
            <a:extLst xmlns:a="http://schemas.openxmlformats.org/drawingml/2006/main">
              <a:ext uri="{FF2B5EF4-FFF2-40B4-BE49-F238E27FC236}">
                <a16:creationId xmlns:a16="http://schemas.microsoft.com/office/drawing/2014/main" id="{69A73A74-3C5B-4E78-98E7-DBF5604E94A5}"/>
              </a:ext>
            </a:extLst>
          </p:cNvPr>
          <p:cNvSpPr>
            <a:spLocks xmlns:a="http://schemas.openxmlformats.org/drawingml/2006/main" noGrp="1"/>
          </p:cNvSpPr>
          <p:nvPr/>
        </p:nvSpPr>
        <p:spPr>
          <a:xfrm xmlns:a="http://schemas.openxmlformats.org/drawingml/2006/main" rot="0">
            <a:off x="12520612"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03</a:t>
            </a:r>
          </a:p>
        </p:txBody>
      </p:sp>
      <p:sp>
        <p:nvSpPr>
          <p:cNvPr id="38" name="Figure 1 label 37 line 1">
            <a:extLst xmlns:a="http://schemas.openxmlformats.org/drawingml/2006/main">
              <a:ext uri="{FF2B5EF4-FFF2-40B4-BE49-F238E27FC236}">
                <a16:creationId xmlns:a16="http://schemas.microsoft.com/office/drawing/2014/main" id="{5B6E9C8D-B59A-484E-9F9A-82D5366FE330}"/>
              </a:ext>
            </a:extLst>
          </p:cNvPr>
          <p:cNvSpPr>
            <a:spLocks xmlns:a="http://schemas.openxmlformats.org/drawingml/2006/main" noGrp="1"/>
          </p:cNvSpPr>
          <p:nvPr/>
        </p:nvSpPr>
        <p:spPr>
          <a:xfrm xmlns:a="http://schemas.openxmlformats.org/drawingml/2006/main" rot="0">
            <a:off x="13141452" y="5064803"/>
            <a:ext cx="151060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Flow cytometers</a:t>
            </a:r>
          </a:p>
        </p:txBody>
      </p:sp>
      <p:sp>
        <p:nvSpPr>
          <p:cNvPr id="39" name="Figure 1 label 38 line 1">
            <a:extLst xmlns:a="http://schemas.openxmlformats.org/drawingml/2006/main">
              <a:ext uri="{FF2B5EF4-FFF2-40B4-BE49-F238E27FC236}">
                <a16:creationId xmlns:a16="http://schemas.microsoft.com/office/drawing/2014/main" id="{18DA2678-78A6-4F3E-8E4D-61818F25DBD2}"/>
              </a:ext>
            </a:extLst>
          </p:cNvPr>
          <p:cNvSpPr>
            <a:spLocks xmlns:a="http://schemas.openxmlformats.org/drawingml/2006/main" noGrp="1"/>
          </p:cNvSpPr>
          <p:nvPr/>
        </p:nvSpPr>
        <p:spPr>
          <a:xfrm xmlns:a="http://schemas.openxmlformats.org/drawingml/2006/main" rot="0">
            <a:off x="12520612"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04</a:t>
            </a:r>
          </a:p>
        </p:txBody>
      </p:sp>
      <p:sp>
        <p:nvSpPr>
          <p:cNvPr id="40" name="Figure 1 label 39 line 1">
            <a:extLst xmlns:a="http://schemas.openxmlformats.org/drawingml/2006/main">
              <a:ext uri="{FF2B5EF4-FFF2-40B4-BE49-F238E27FC236}">
                <a16:creationId xmlns:a16="http://schemas.microsoft.com/office/drawing/2014/main" id="{0FDD435D-4817-433E-856A-A586C0A59E08}"/>
              </a:ext>
            </a:extLst>
          </p:cNvPr>
          <p:cNvSpPr>
            <a:spLocks xmlns:a="http://schemas.openxmlformats.org/drawingml/2006/main" noGrp="1"/>
          </p:cNvSpPr>
          <p:nvPr/>
        </p:nvSpPr>
        <p:spPr>
          <a:xfrm xmlns:a="http://schemas.openxmlformats.org/drawingml/2006/main" rot="0">
            <a:off x="13141452" y="5784892"/>
            <a:ext cx="267548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High-content imaging systems</a:t>
            </a:r>
          </a:p>
        </p:txBody>
      </p:sp>
      <p:sp>
        <p:nvSpPr>
          <p:cNvPr id="41" name="Figure 1 label 40 line 1">
            <a:extLst xmlns:a="http://schemas.openxmlformats.org/drawingml/2006/main">
              <a:ext uri="{FF2B5EF4-FFF2-40B4-BE49-F238E27FC236}">
                <a16:creationId xmlns:a16="http://schemas.microsoft.com/office/drawing/2014/main" id="{E30ED8FC-01A7-4D7F-84A8-8C9B07349719}"/>
              </a:ext>
            </a:extLst>
          </p:cNvPr>
          <p:cNvSpPr>
            <a:spLocks xmlns:a="http://schemas.openxmlformats.org/drawingml/2006/main" noGrp="1"/>
          </p:cNvSpPr>
          <p:nvPr/>
        </p:nvSpPr>
        <p:spPr>
          <a:xfrm xmlns:a="http://schemas.openxmlformats.org/drawingml/2006/main" rot="0">
            <a:off x="12520612"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05</a:t>
            </a:r>
          </a:p>
        </p:txBody>
      </p:sp>
      <p:sp>
        <p:nvSpPr>
          <p:cNvPr id="42" name="Figure 1 label 41 line 1">
            <a:extLst xmlns:a="http://schemas.openxmlformats.org/drawingml/2006/main">
              <a:ext uri="{FF2B5EF4-FFF2-40B4-BE49-F238E27FC236}">
                <a16:creationId xmlns:a16="http://schemas.microsoft.com/office/drawing/2014/main" id="{82B3AB2C-C0A0-4C23-9539-C609B3366DF2}"/>
              </a:ext>
            </a:extLst>
          </p:cNvPr>
          <p:cNvSpPr>
            <a:spLocks xmlns:a="http://schemas.openxmlformats.org/drawingml/2006/main" noGrp="1"/>
          </p:cNvSpPr>
          <p:nvPr/>
        </p:nvSpPr>
        <p:spPr>
          <a:xfrm xmlns:a="http://schemas.openxmlformats.org/drawingml/2006/main" rot="0">
            <a:off x="13141452" y="6506010"/>
            <a:ext cx="21989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Cell-culture workstations</a:t>
            </a:r>
          </a:p>
        </p:txBody>
      </p:sp>
      <p:sp>
        <p:nvSpPr>
          <p:cNvPr id="43" name="Figure 1 label 42 line 1">
            <a:extLst xmlns:a="http://schemas.openxmlformats.org/drawingml/2006/main">
              <a:ext uri="{FF2B5EF4-FFF2-40B4-BE49-F238E27FC236}">
                <a16:creationId xmlns:a16="http://schemas.microsoft.com/office/drawing/2014/main" id="{5255D7CF-B21A-4C08-9015-11C6B0D22537}"/>
              </a:ext>
            </a:extLst>
          </p:cNvPr>
          <p:cNvSpPr>
            <a:spLocks xmlns:a="http://schemas.openxmlformats.org/drawingml/2006/main" noGrp="1"/>
          </p:cNvSpPr>
          <p:nvPr/>
        </p:nvSpPr>
        <p:spPr>
          <a:xfrm xmlns:a="http://schemas.openxmlformats.org/drawingml/2006/main" rot="0">
            <a:off x="12520422" y="7440635"/>
            <a:ext cx="327523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New installations + replacement + service</a:t>
            </a:r>
          </a:p>
        </p:txBody>
      </p:sp>
      <p:sp>
        <p:nvSpPr>
          <p:cNvPr id="44" name="Figure 1 label 43 line 1">
            <a:extLst xmlns:a="http://schemas.openxmlformats.org/drawingml/2006/main">
              <a:ext uri="{FF2B5EF4-FFF2-40B4-BE49-F238E27FC236}">
                <a16:creationId xmlns:a16="http://schemas.microsoft.com/office/drawing/2014/main" id="{E7CB2B47-0413-4657-AF65-DEBF573C4380}"/>
              </a:ext>
            </a:extLst>
          </p:cNvPr>
          <p:cNvSpPr>
            <a:spLocks xmlns:a="http://schemas.openxmlformats.org/drawingml/2006/main" noGrp="1"/>
          </p:cNvSpPr>
          <p:nvPr/>
        </p:nvSpPr>
        <p:spPr>
          <a:xfrm xmlns:a="http://schemas.openxmlformats.org/drawingml/2006/main" rot="0">
            <a:off x="5393531" y="8413000"/>
            <a:ext cx="750093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Use one product taxonomy; retain the scope of each market estimate.</a:t>
            </a:r>
          </a:p>
        </p:txBody>
      </p:sp>
    </p:spTree>
    <p:extLst>
      <p:ext uri="{BB962C8B-B14F-4D97-AF65-F5344CB8AC3E}">
        <p14:creationId xmlns:p14="http://schemas.microsoft.com/office/powerpoint/2010/main" val="5361927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1" name="">
            <a:extLst xmlns:a="http://schemas.openxmlformats.org/drawingml/2006/main">
              <a:ext uri="{FF2B5EF4-FFF2-40B4-BE49-F238E27FC236}">
                <a16:creationId xmlns:a16="http://schemas.microsoft.com/office/drawing/2014/main" id="{F0A9685B-EB92-4069-AFDB-E1D263019FF6}"/>
              </a:ext>
            </a:extLst>
          </p:cNvPr>
          <p:cNvPicPr>
            <a:picLocks xmlns:a="http://schemas.openxmlformats.org/drawingml/2006/main" noChangeAspect="1"/>
          </p:cNvPicPr>
          <p:nvPr/>
        </p:nvPicPr>
        <p:blipFill>
          <a:blip xmlns:r="http://schemas.openxmlformats.org/officeDocument/2006/relationships" xmlns:a="http://schemas.openxmlformats.org/drawingml/2006/main" r:embed="R03bb3027918c4931"/>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2 label 1 line 1">
            <a:extLst xmlns:a="http://schemas.openxmlformats.org/drawingml/2006/main">
              <a:ext uri="{FF2B5EF4-FFF2-40B4-BE49-F238E27FC236}">
                <a16:creationId xmlns:a16="http://schemas.microsoft.com/office/drawing/2014/main" id="{62E26964-D0C3-4CFE-8596-441A3CD0F669}"/>
              </a:ext>
            </a:extLst>
          </p:cNvPr>
          <p:cNvSpPr>
            <a:spLocks xmlns:a="http://schemas.openxmlformats.org/drawingml/2006/main" noGrp="1"/>
          </p:cNvSpPr>
          <p:nvPr/>
        </p:nvSpPr>
        <p:spPr>
          <a:xfrm xmlns:a="http://schemas.openxmlformats.org/drawingml/2006/main" rot="0">
            <a:off x="3894019" y="7907353"/>
            <a:ext cx="1256209"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0">
                <a:solidFill>
                  <a:srgbClr val="00355F"/>
                </a:solidFill>
                <a:latin typeface="Arial Unicode MS"/>
                <a:ea typeface="Arial Unicode MS"/>
                <a:cs typeface="Arial Unicode MS"/>
              </a:defRPr>
            </a:pPr>
            <a:r>
              <a:rPr sz="1750" b="0">
                <a:solidFill>
                  <a:srgbClr val="00355F"/>
                </a:solidFill>
                <a:latin typeface="Arial Unicode MS"/>
                <a:ea typeface="Arial Unicode MS"/>
                <a:cs typeface="Arial Unicode MS"/>
              </a:rPr>
              <a:t>Global LST</a:t>
            </a:r>
          </a:p>
        </p:txBody>
      </p:sp>
      <p:sp>
        <p:nvSpPr>
          <p:cNvPr id="3" name="Figure 2 label 2 line 1">
            <a:extLst xmlns:a="http://schemas.openxmlformats.org/drawingml/2006/main">
              <a:ext uri="{FF2B5EF4-FFF2-40B4-BE49-F238E27FC236}">
                <a16:creationId xmlns:a16="http://schemas.microsoft.com/office/drawing/2014/main" id="{2E998E7F-6EE5-4578-910E-F795F5D366E0}"/>
              </a:ext>
            </a:extLst>
          </p:cNvPr>
          <p:cNvSpPr>
            <a:spLocks xmlns:a="http://schemas.openxmlformats.org/drawingml/2006/main" noGrp="1"/>
          </p:cNvSpPr>
          <p:nvPr/>
        </p:nvSpPr>
        <p:spPr>
          <a:xfrm xmlns:a="http://schemas.openxmlformats.org/drawingml/2006/main" rot="0">
            <a:off x="8413774" y="7907353"/>
            <a:ext cx="1194445"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0">
                <a:solidFill>
                  <a:srgbClr val="00355F"/>
                </a:solidFill>
                <a:latin typeface="Arial Unicode MS"/>
                <a:ea typeface="Arial Unicode MS"/>
                <a:cs typeface="Arial Unicode MS"/>
              </a:defRPr>
            </a:pPr>
            <a:r>
              <a:rPr sz="1750" b="0">
                <a:solidFill>
                  <a:srgbClr val="00355F"/>
                </a:solidFill>
                <a:latin typeface="Arial Unicode MS"/>
                <a:ea typeface="Arial Unicode MS"/>
                <a:cs typeface="Arial Unicode MS"/>
              </a:rPr>
              <a:t>China LST</a:t>
            </a:r>
          </a:p>
        </p:txBody>
      </p:sp>
      <p:sp>
        <p:nvSpPr>
          <p:cNvPr id="4" name="Figure 2 label 3 line 1">
            <a:extLst xmlns:a="http://schemas.openxmlformats.org/drawingml/2006/main">
              <a:ext uri="{FF2B5EF4-FFF2-40B4-BE49-F238E27FC236}">
                <a16:creationId xmlns:a16="http://schemas.microsoft.com/office/drawing/2014/main" id="{A34CE007-7DA7-4835-A757-B2ACDF84803E}"/>
              </a:ext>
            </a:extLst>
          </p:cNvPr>
          <p:cNvSpPr>
            <a:spLocks xmlns:a="http://schemas.openxmlformats.org/drawingml/2006/main" noGrp="1"/>
          </p:cNvSpPr>
          <p:nvPr/>
        </p:nvSpPr>
        <p:spPr>
          <a:xfrm xmlns:a="http://schemas.openxmlformats.org/drawingml/2006/main" rot="0">
            <a:off x="1440259" y="7697703"/>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5" name="Figure 2 label 4 line 1">
            <a:extLst xmlns:a="http://schemas.openxmlformats.org/drawingml/2006/main">
              <a:ext uri="{FF2B5EF4-FFF2-40B4-BE49-F238E27FC236}">
                <a16:creationId xmlns:a16="http://schemas.microsoft.com/office/drawing/2014/main" id="{D3A73CE0-3720-4A97-993E-5098B9DDB78F}"/>
              </a:ext>
            </a:extLst>
          </p:cNvPr>
          <p:cNvSpPr>
            <a:spLocks xmlns:a="http://schemas.openxmlformats.org/drawingml/2006/main" noGrp="1"/>
          </p:cNvSpPr>
          <p:nvPr/>
        </p:nvSpPr>
        <p:spPr>
          <a:xfrm xmlns:a="http://schemas.openxmlformats.org/drawingml/2006/main" rot="0">
            <a:off x="1334294" y="652364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a:t>
            </a:r>
          </a:p>
        </p:txBody>
      </p:sp>
      <p:sp>
        <p:nvSpPr>
          <p:cNvPr id="6" name="Figure 2 label 5 line 1">
            <a:extLst xmlns:a="http://schemas.openxmlformats.org/drawingml/2006/main">
              <a:ext uri="{FF2B5EF4-FFF2-40B4-BE49-F238E27FC236}">
                <a16:creationId xmlns:a16="http://schemas.microsoft.com/office/drawing/2014/main" id="{16A8C618-CDDD-4EBF-9EFE-3D97A503920A}"/>
              </a:ext>
            </a:extLst>
          </p:cNvPr>
          <p:cNvSpPr>
            <a:spLocks xmlns:a="http://schemas.openxmlformats.org/drawingml/2006/main" noGrp="1"/>
          </p:cNvSpPr>
          <p:nvPr/>
        </p:nvSpPr>
        <p:spPr>
          <a:xfrm xmlns:a="http://schemas.openxmlformats.org/drawingml/2006/main" rot="0">
            <a:off x="1334294" y="534958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a:t>
            </a:r>
          </a:p>
        </p:txBody>
      </p:sp>
      <p:sp>
        <p:nvSpPr>
          <p:cNvPr id="7" name="Figure 2 label 6 line 1">
            <a:extLst xmlns:a="http://schemas.openxmlformats.org/drawingml/2006/main">
              <a:ext uri="{FF2B5EF4-FFF2-40B4-BE49-F238E27FC236}">
                <a16:creationId xmlns:a16="http://schemas.microsoft.com/office/drawing/2014/main" id="{2B49DD2B-FBC5-4A87-A9C2-55288B635E67}"/>
              </a:ext>
            </a:extLst>
          </p:cNvPr>
          <p:cNvSpPr>
            <a:spLocks xmlns:a="http://schemas.openxmlformats.org/drawingml/2006/main" noGrp="1"/>
          </p:cNvSpPr>
          <p:nvPr/>
        </p:nvSpPr>
        <p:spPr>
          <a:xfrm xmlns:a="http://schemas.openxmlformats.org/drawingml/2006/main" rot="0">
            <a:off x="1334294" y="417552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30</a:t>
            </a:r>
          </a:p>
        </p:txBody>
      </p:sp>
      <p:sp>
        <p:nvSpPr>
          <p:cNvPr id="8" name="Figure 2 label 7 line 1">
            <a:extLst xmlns:a="http://schemas.openxmlformats.org/drawingml/2006/main">
              <a:ext uri="{FF2B5EF4-FFF2-40B4-BE49-F238E27FC236}">
                <a16:creationId xmlns:a16="http://schemas.microsoft.com/office/drawing/2014/main" id="{5CA7B9B9-99C9-4396-B9A4-28A174FC4FF8}"/>
              </a:ext>
            </a:extLst>
          </p:cNvPr>
          <p:cNvSpPr>
            <a:spLocks xmlns:a="http://schemas.openxmlformats.org/drawingml/2006/main" noGrp="1"/>
          </p:cNvSpPr>
          <p:nvPr/>
        </p:nvSpPr>
        <p:spPr>
          <a:xfrm xmlns:a="http://schemas.openxmlformats.org/drawingml/2006/main" rot="0">
            <a:off x="1334294" y="300146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40</a:t>
            </a:r>
          </a:p>
        </p:txBody>
      </p:sp>
      <p:sp>
        <p:nvSpPr>
          <p:cNvPr id="9" name="Figure 2 label 8 line 1">
            <a:extLst xmlns:a="http://schemas.openxmlformats.org/drawingml/2006/main">
              <a:ext uri="{FF2B5EF4-FFF2-40B4-BE49-F238E27FC236}">
                <a16:creationId xmlns:a16="http://schemas.microsoft.com/office/drawing/2014/main" id="{77B49DBC-B4FB-48F8-817F-9874B5DDD0CA}"/>
              </a:ext>
            </a:extLst>
          </p:cNvPr>
          <p:cNvSpPr>
            <a:spLocks xmlns:a="http://schemas.openxmlformats.org/drawingml/2006/main" noGrp="1"/>
          </p:cNvSpPr>
          <p:nvPr/>
        </p:nvSpPr>
        <p:spPr>
          <a:xfrm xmlns:a="http://schemas.openxmlformats.org/drawingml/2006/main" rot="16200000">
            <a:off x="962600" y="4970145"/>
            <a:ext cx="70633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US$bn</a:t>
            </a:r>
          </a:p>
        </p:txBody>
      </p:sp>
      <p:sp>
        <p:nvSpPr>
          <p:cNvPr id="10" name="Figure 2 label 9 line 1">
            <a:extLst xmlns:a="http://schemas.openxmlformats.org/drawingml/2006/main">
              <a:ext uri="{FF2B5EF4-FFF2-40B4-BE49-F238E27FC236}">
                <a16:creationId xmlns:a16="http://schemas.microsoft.com/office/drawing/2014/main" id="{B68EAB71-CCDB-4023-A0A3-8158A3839363}"/>
              </a:ext>
            </a:extLst>
          </p:cNvPr>
          <p:cNvSpPr>
            <a:spLocks xmlns:a="http://schemas.openxmlformats.org/drawingml/2006/main" noGrp="1"/>
          </p:cNvSpPr>
          <p:nvPr/>
        </p:nvSpPr>
        <p:spPr>
          <a:xfrm xmlns:a="http://schemas.openxmlformats.org/drawingml/2006/main" rot="0">
            <a:off x="4171807" y="6049458"/>
            <a:ext cx="70063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FFFFFF"/>
                </a:solidFill>
                <a:latin typeface="Arial Unicode MS"/>
                <a:ea typeface="Arial Unicode MS"/>
                <a:cs typeface="Arial Unicode MS"/>
              </a:defRPr>
            </a:defPPr>
          </a:lstStyle>
          <a:p xmlns:a="http://schemas.openxmlformats.org/drawingml/2006/main">
            <a:pPr algn="ctr">
              <a:lnSpc>
                <a:spcPct val="100000"/>
              </a:lnSpc>
              <a:buNone/>
              <a:defRPr sz="2125" b="1">
                <a:solidFill>
                  <a:srgbClr val="FFFFFF"/>
                </a:solidFill>
                <a:latin typeface="Arial Unicode MS"/>
                <a:ea typeface="Arial Unicode MS"/>
                <a:cs typeface="Arial Unicode MS"/>
              </a:defRPr>
            </a:pPr>
            <a:r>
              <a:rPr sz="2125" b="1">
                <a:solidFill>
                  <a:srgbClr val="FFFFFF"/>
                </a:solidFill>
                <a:latin typeface="Arial Unicode MS"/>
                <a:ea typeface="Arial Unicode MS"/>
                <a:cs typeface="Arial Unicode MS"/>
              </a:rPr>
              <a:t>26.4</a:t>
            </a:r>
          </a:p>
        </p:txBody>
      </p:sp>
      <p:sp>
        <p:nvSpPr>
          <p:cNvPr id="11" name="Figure 2 label 10 line 1">
            <a:extLst xmlns:a="http://schemas.openxmlformats.org/drawingml/2006/main">
              <a:ext uri="{FF2B5EF4-FFF2-40B4-BE49-F238E27FC236}">
                <a16:creationId xmlns:a16="http://schemas.microsoft.com/office/drawing/2014/main" id="{0F579165-B472-4E8A-BAF6-886BE89FCC18}"/>
              </a:ext>
            </a:extLst>
          </p:cNvPr>
          <p:cNvSpPr>
            <a:spLocks xmlns:a="http://schemas.openxmlformats.org/drawingml/2006/main" noGrp="1"/>
          </p:cNvSpPr>
          <p:nvPr/>
        </p:nvSpPr>
        <p:spPr>
          <a:xfrm xmlns:a="http://schemas.openxmlformats.org/drawingml/2006/main" rot="0">
            <a:off x="4212933" y="3645088"/>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15.1</a:t>
            </a:r>
          </a:p>
        </p:txBody>
      </p:sp>
      <p:sp>
        <p:nvSpPr>
          <p:cNvPr id="12" name="Figure 2 label 11 line 1">
            <a:extLst xmlns:a="http://schemas.openxmlformats.org/drawingml/2006/main">
              <a:ext uri="{FF2B5EF4-FFF2-40B4-BE49-F238E27FC236}">
                <a16:creationId xmlns:a16="http://schemas.microsoft.com/office/drawing/2014/main" id="{7E3CAB94-502D-4E72-8FED-0CD8F8E9140B}"/>
              </a:ext>
            </a:extLst>
          </p:cNvPr>
          <p:cNvSpPr>
            <a:spLocks xmlns:a="http://schemas.openxmlformats.org/drawingml/2006/main" noGrp="1"/>
          </p:cNvSpPr>
          <p:nvPr/>
        </p:nvSpPr>
        <p:spPr>
          <a:xfrm xmlns:a="http://schemas.openxmlformats.org/drawingml/2006/main" rot="0">
            <a:off x="4109969" y="2416499"/>
            <a:ext cx="824309" cy="39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0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500" b="1">
                <a:solidFill>
                  <a:srgbClr val="00355F"/>
                </a:solidFill>
                <a:latin typeface="Arial Unicode MS"/>
                <a:ea typeface="Arial Unicode MS"/>
                <a:cs typeface="Arial Unicode MS"/>
              </a:defRPr>
            </a:pPr>
            <a:r>
              <a:rPr sz="2500" b="1">
                <a:solidFill>
                  <a:srgbClr val="00355F"/>
                </a:solidFill>
                <a:latin typeface="Arial Unicode MS"/>
                <a:ea typeface="Arial Unicode MS"/>
                <a:cs typeface="Arial Unicode MS"/>
              </a:rPr>
              <a:t>41.5</a:t>
            </a:r>
          </a:p>
        </p:txBody>
      </p:sp>
      <p:sp>
        <p:nvSpPr>
          <p:cNvPr id="13" name="Figure 2 label 12 line 1">
            <a:extLst xmlns:a="http://schemas.openxmlformats.org/drawingml/2006/main">
              <a:ext uri="{FF2B5EF4-FFF2-40B4-BE49-F238E27FC236}">
                <a16:creationId xmlns:a16="http://schemas.microsoft.com/office/drawing/2014/main" id="{57A9B226-876D-49A7-904C-07E89BF14742}"/>
              </a:ext>
            </a:extLst>
          </p:cNvPr>
          <p:cNvSpPr>
            <a:spLocks xmlns:a="http://schemas.openxmlformats.org/drawingml/2006/main" noGrp="1"/>
          </p:cNvSpPr>
          <p:nvPr/>
        </p:nvSpPr>
        <p:spPr>
          <a:xfrm xmlns:a="http://schemas.openxmlformats.org/drawingml/2006/main" rot="0">
            <a:off x="8735690" y="7329182"/>
            <a:ext cx="550614"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FFFFFF"/>
                </a:solidFill>
                <a:latin typeface="Arial Unicode MS"/>
                <a:ea typeface="Arial Unicode MS"/>
                <a:cs typeface="Arial Unicode MS"/>
              </a:defRPr>
            </a:defPPr>
          </a:lstStyle>
          <a:p xmlns:a="http://schemas.openxmlformats.org/drawingml/2006/main">
            <a:pPr algn="ctr">
              <a:lnSpc>
                <a:spcPct val="100000"/>
              </a:lnSpc>
              <a:buNone/>
              <a:defRPr sz="2125" b="1">
                <a:solidFill>
                  <a:srgbClr val="FFFFFF"/>
                </a:solidFill>
                <a:latin typeface="Arial Unicode MS"/>
                <a:ea typeface="Arial Unicode MS"/>
                <a:cs typeface="Arial Unicode MS"/>
              </a:defRPr>
            </a:pPr>
            <a:r>
              <a:rPr sz="2125" b="1">
                <a:solidFill>
                  <a:srgbClr val="FFFFFF"/>
                </a:solidFill>
                <a:latin typeface="Arial Unicode MS"/>
                <a:ea typeface="Arial Unicode MS"/>
                <a:cs typeface="Arial Unicode MS"/>
              </a:rPr>
              <a:t>4.6</a:t>
            </a:r>
          </a:p>
        </p:txBody>
      </p:sp>
      <p:sp>
        <p:nvSpPr>
          <p:cNvPr id="14" name="Figure 2 label 13 line 1">
            <a:extLst xmlns:a="http://schemas.openxmlformats.org/drawingml/2006/main">
              <a:ext uri="{FF2B5EF4-FFF2-40B4-BE49-F238E27FC236}">
                <a16:creationId xmlns:a16="http://schemas.microsoft.com/office/drawing/2014/main" id="{97665B5D-F25C-4B97-9C6E-6C59E3028463}"/>
              </a:ext>
            </a:extLst>
          </p:cNvPr>
          <p:cNvSpPr>
            <a:spLocks xmlns:a="http://schemas.openxmlformats.org/drawingml/2006/main" noGrp="1"/>
          </p:cNvSpPr>
          <p:nvPr/>
        </p:nvSpPr>
        <p:spPr>
          <a:xfrm xmlns:a="http://schemas.openxmlformats.org/drawingml/2006/main" rot="0">
            <a:off x="8768035" y="6908974"/>
            <a:ext cx="485924"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3.1</a:t>
            </a:r>
          </a:p>
        </p:txBody>
      </p:sp>
      <p:sp>
        <p:nvSpPr>
          <p:cNvPr id="15" name="Figure 2 label 14 line 1">
            <a:extLst xmlns:a="http://schemas.openxmlformats.org/drawingml/2006/main">
              <a:ext uri="{FF2B5EF4-FFF2-40B4-BE49-F238E27FC236}">
                <a16:creationId xmlns:a16="http://schemas.microsoft.com/office/drawing/2014/main" id="{937176E5-F91B-4E79-8D03-FF09B73E8F1D}"/>
              </a:ext>
            </a:extLst>
          </p:cNvPr>
          <p:cNvSpPr>
            <a:spLocks xmlns:a="http://schemas.openxmlformats.org/drawingml/2006/main" noGrp="1"/>
          </p:cNvSpPr>
          <p:nvPr/>
        </p:nvSpPr>
        <p:spPr>
          <a:xfrm xmlns:a="http://schemas.openxmlformats.org/drawingml/2006/main" rot="0">
            <a:off x="8687098" y="6384822"/>
            <a:ext cx="647799" cy="39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0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500" b="1">
                <a:solidFill>
                  <a:srgbClr val="00355F"/>
                </a:solidFill>
                <a:latin typeface="Arial Unicode MS"/>
                <a:ea typeface="Arial Unicode MS"/>
                <a:cs typeface="Arial Unicode MS"/>
              </a:defRPr>
            </a:pPr>
            <a:r>
              <a:rPr sz="2500" b="1">
                <a:solidFill>
                  <a:srgbClr val="00355F"/>
                </a:solidFill>
                <a:latin typeface="Arial Unicode MS"/>
                <a:ea typeface="Arial Unicode MS"/>
                <a:cs typeface="Arial Unicode MS"/>
              </a:rPr>
              <a:t>7.7</a:t>
            </a:r>
          </a:p>
        </p:txBody>
      </p:sp>
      <p:sp>
        <p:nvSpPr>
          <p:cNvPr id="16" name="Figure 2 label 15 line 1">
            <a:extLst xmlns:a="http://schemas.openxmlformats.org/drawingml/2006/main">
              <a:ext uri="{FF2B5EF4-FFF2-40B4-BE49-F238E27FC236}">
                <a16:creationId xmlns:a16="http://schemas.microsoft.com/office/drawing/2014/main" id="{429FE002-9D8F-45FA-8A5E-6F9CE3D363E0}"/>
              </a:ext>
            </a:extLst>
          </p:cNvPr>
          <p:cNvSpPr>
            <a:spLocks xmlns:a="http://schemas.openxmlformats.org/drawingml/2006/main" noGrp="1"/>
          </p:cNvSpPr>
          <p:nvPr/>
        </p:nvSpPr>
        <p:spPr>
          <a:xfrm xmlns:a="http://schemas.openxmlformats.org/drawingml/2006/main" rot="0">
            <a:off x="2438876" y="2096130"/>
            <a:ext cx="225816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Research biological reagents</a:t>
            </a:r>
          </a:p>
        </p:txBody>
      </p:sp>
      <p:sp>
        <p:nvSpPr>
          <p:cNvPr id="17" name="Figure 2 label 16 line 1">
            <a:extLst xmlns:a="http://schemas.openxmlformats.org/drawingml/2006/main">
              <a:ext uri="{FF2B5EF4-FFF2-40B4-BE49-F238E27FC236}">
                <a16:creationId xmlns:a16="http://schemas.microsoft.com/office/drawing/2014/main" id="{61988831-81DA-4CD0-BC35-7085C191A7EA}"/>
              </a:ext>
            </a:extLst>
          </p:cNvPr>
          <p:cNvSpPr>
            <a:spLocks xmlns:a="http://schemas.openxmlformats.org/drawingml/2006/main" noGrp="1"/>
          </p:cNvSpPr>
          <p:nvPr/>
        </p:nvSpPr>
        <p:spPr>
          <a:xfrm xmlns:a="http://schemas.openxmlformats.org/drawingml/2006/main" rot="0">
            <a:off x="5388516" y="2096130"/>
            <a:ext cx="304993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Other tools: instruments + consumables</a:t>
            </a:r>
          </a:p>
        </p:txBody>
      </p:sp>
      <p:sp>
        <p:nvSpPr>
          <p:cNvPr id="18" name="Figure 2 label 17 line 1">
            <a:extLst xmlns:a="http://schemas.openxmlformats.org/drawingml/2006/main">
              <a:ext uri="{FF2B5EF4-FFF2-40B4-BE49-F238E27FC236}">
                <a16:creationId xmlns:a16="http://schemas.microsoft.com/office/drawing/2014/main" id="{C63CE155-E6DD-4C3F-9BF5-072AA54851C2}"/>
              </a:ext>
            </a:extLst>
          </p:cNvPr>
          <p:cNvSpPr>
            <a:spLocks xmlns:a="http://schemas.openxmlformats.org/drawingml/2006/main" noGrp="1"/>
          </p:cNvSpPr>
          <p:nvPr/>
        </p:nvSpPr>
        <p:spPr>
          <a:xfrm xmlns:a="http://schemas.openxmlformats.org/drawingml/2006/main" rot="0">
            <a:off x="991870" y="421675"/>
            <a:ext cx="616733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02  2025 LST under one F&amp;S definition</a:t>
            </a:r>
          </a:p>
        </p:txBody>
      </p:sp>
      <p:sp>
        <p:nvSpPr>
          <p:cNvPr id="19" name="Figure 2 label 18 line 1">
            <a:extLst xmlns:a="http://schemas.openxmlformats.org/drawingml/2006/main">
              <a:ext uri="{FF2B5EF4-FFF2-40B4-BE49-F238E27FC236}">
                <a16:creationId xmlns:a16="http://schemas.microsoft.com/office/drawing/2014/main" id="{62DB92C9-BE29-4B7D-B429-DF773C88B07E}"/>
              </a:ext>
            </a:extLst>
          </p:cNvPr>
          <p:cNvSpPr>
            <a:spLocks xmlns:a="http://schemas.openxmlformats.org/drawingml/2006/main" noGrp="1"/>
          </p:cNvSpPr>
          <p:nvPr/>
        </p:nvSpPr>
        <p:spPr>
          <a:xfrm xmlns:a="http://schemas.openxmlformats.org/drawingml/2006/main" rot="0">
            <a:off x="15729149" y="661601"/>
            <a:ext cx="100290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HISTORICAL</a:t>
            </a:r>
          </a:p>
        </p:txBody>
      </p:sp>
      <p:sp>
        <p:nvSpPr>
          <p:cNvPr id="20" name="Figure 2 label 19 line 1">
            <a:extLst xmlns:a="http://schemas.openxmlformats.org/drawingml/2006/main">
              <a:ext uri="{FF2B5EF4-FFF2-40B4-BE49-F238E27FC236}">
                <a16:creationId xmlns:a16="http://schemas.microsoft.com/office/drawing/2014/main" id="{14DFE54C-5C08-4EBC-841E-B518616B9567}"/>
              </a:ext>
            </a:extLst>
          </p:cNvPr>
          <p:cNvSpPr>
            <a:spLocks xmlns:a="http://schemas.openxmlformats.org/drawingml/2006/main" noGrp="1"/>
          </p:cNvSpPr>
          <p:nvPr/>
        </p:nvSpPr>
        <p:spPr>
          <a:xfrm xmlns:a="http://schemas.openxmlformats.org/drawingml/2006/main" rot="0">
            <a:off x="998220" y="1249487"/>
            <a:ext cx="83507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2025 F&amp;S estimates commissioned for ACRO’s filing. A defined scope, not a broad-industry TAM.</a:t>
            </a:r>
          </a:p>
        </p:txBody>
      </p:sp>
      <p:sp>
        <p:nvSpPr>
          <p:cNvPr id="21" name="Figure 2 label 20 line 1">
            <a:extLst xmlns:a="http://schemas.openxmlformats.org/drawingml/2006/main">
              <a:ext uri="{FF2B5EF4-FFF2-40B4-BE49-F238E27FC236}">
                <a16:creationId xmlns:a16="http://schemas.microsoft.com/office/drawing/2014/main" id="{F169A2AA-CC41-4904-852D-35C069642714}"/>
              </a:ext>
            </a:extLst>
          </p:cNvPr>
          <p:cNvSpPr>
            <a:spLocks xmlns:a="http://schemas.openxmlformats.org/drawingml/2006/main" noGrp="1"/>
          </p:cNvSpPr>
          <p:nvPr/>
        </p:nvSpPr>
        <p:spPr>
          <a:xfrm xmlns:a="http://schemas.openxmlformats.org/drawingml/2006/main" rot="0">
            <a:off x="999173" y="9256035"/>
            <a:ext cx="789131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Other tools are the residual. Comparable instrument and consumable splits were not separately available.</a:t>
            </a:r>
          </a:p>
        </p:txBody>
      </p:sp>
      <p:sp>
        <p:nvSpPr>
          <p:cNvPr id="22" name="Figure 2 label 21 line 1">
            <a:extLst xmlns:a="http://schemas.openxmlformats.org/drawingml/2006/main">
              <a:ext uri="{FF2B5EF4-FFF2-40B4-BE49-F238E27FC236}">
                <a16:creationId xmlns:a16="http://schemas.microsoft.com/office/drawing/2014/main" id="{59C0B74B-3173-4CA9-AABD-486A4CC151EF}"/>
              </a:ext>
            </a:extLst>
          </p:cNvPr>
          <p:cNvSpPr>
            <a:spLocks xmlns:a="http://schemas.openxmlformats.org/drawingml/2006/main" noGrp="1"/>
          </p:cNvSpPr>
          <p:nvPr/>
        </p:nvSpPr>
        <p:spPr>
          <a:xfrm xmlns:a="http://schemas.openxmlformats.org/drawingml/2006/main" rot="0">
            <a:off x="1000316" y="9675546"/>
            <a:ext cx="6549212"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ACROBiosystems HKEX application, 30 Sep 2026, printed pp. 65 and 67; links in SOURCES.md.</a:t>
            </a:r>
          </a:p>
        </p:txBody>
      </p:sp>
      <p:sp>
        <p:nvSpPr>
          <p:cNvPr id="23" name="Figure 2 label 22 line 1">
            <a:extLst xmlns:a="http://schemas.openxmlformats.org/drawingml/2006/main">
              <a:ext uri="{FF2B5EF4-FFF2-40B4-BE49-F238E27FC236}">
                <a16:creationId xmlns:a16="http://schemas.microsoft.com/office/drawing/2014/main" id="{F6B9CFA7-D85F-4C67-848E-0C4BA1AD239E}"/>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24" name="Figure 2 label 23 line 1">
            <a:extLst xmlns:a="http://schemas.openxmlformats.org/drawingml/2006/main">
              <a:ext uri="{FF2B5EF4-FFF2-40B4-BE49-F238E27FC236}">
                <a16:creationId xmlns:a16="http://schemas.microsoft.com/office/drawing/2014/main" id="{C80497CE-44CC-4505-A978-7E37D22EABB1}"/>
              </a:ext>
            </a:extLst>
          </p:cNvPr>
          <p:cNvSpPr>
            <a:spLocks xmlns:a="http://schemas.openxmlformats.org/drawingml/2006/main" noGrp="1"/>
          </p:cNvSpPr>
          <p:nvPr/>
        </p:nvSpPr>
        <p:spPr>
          <a:xfrm xmlns:a="http://schemas.openxmlformats.org/drawingml/2006/main" rot="0">
            <a:off x="13159106" y="3178951"/>
            <a:ext cx="2897882"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0">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China share within F&amp;S scope</a:t>
            </a:r>
          </a:p>
        </p:txBody>
      </p:sp>
      <p:sp>
        <p:nvSpPr>
          <p:cNvPr id="25" name="Figure 2 label 24 line 1">
            <a:extLst xmlns:a="http://schemas.openxmlformats.org/drawingml/2006/main">
              <a:ext uri="{FF2B5EF4-FFF2-40B4-BE49-F238E27FC236}">
                <a16:creationId xmlns:a16="http://schemas.microsoft.com/office/drawing/2014/main" id="{5729EF95-C0FF-494D-BF77-891B3C22C95D}"/>
              </a:ext>
            </a:extLst>
          </p:cNvPr>
          <p:cNvSpPr>
            <a:spLocks xmlns:a="http://schemas.openxmlformats.org/drawingml/2006/main" noGrp="1"/>
          </p:cNvSpPr>
          <p:nvPr/>
        </p:nvSpPr>
        <p:spPr>
          <a:xfrm xmlns:a="http://schemas.openxmlformats.org/drawingml/2006/main" rot="0">
            <a:off x="13143866" y="3660147"/>
            <a:ext cx="2047180" cy="734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4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4625" b="1">
                <a:solidFill>
                  <a:srgbClr val="00355F"/>
                </a:solidFill>
                <a:latin typeface="Arial Unicode MS"/>
                <a:ea typeface="Arial Unicode MS"/>
                <a:cs typeface="Arial Unicode MS"/>
              </a:defRPr>
            </a:pPr>
            <a:r>
              <a:rPr sz="4625" b="1">
                <a:solidFill>
                  <a:srgbClr val="00355F"/>
                </a:solidFill>
                <a:latin typeface="Arial Unicode MS"/>
                <a:ea typeface="Arial Unicode MS"/>
                <a:cs typeface="Arial Unicode MS"/>
              </a:rPr>
              <a:t>18.6%</a:t>
            </a:r>
          </a:p>
        </p:txBody>
      </p:sp>
      <p:sp>
        <p:nvSpPr>
          <p:cNvPr id="26" name="Figure 2 label 25 line 1">
            <a:extLst xmlns:a="http://schemas.openxmlformats.org/drawingml/2006/main">
              <a:ext uri="{FF2B5EF4-FFF2-40B4-BE49-F238E27FC236}">
                <a16:creationId xmlns:a16="http://schemas.microsoft.com/office/drawing/2014/main" id="{F33AE224-BEE2-4B6E-8262-1991C99051AC}"/>
              </a:ext>
            </a:extLst>
          </p:cNvPr>
          <p:cNvSpPr>
            <a:spLocks xmlns:a="http://schemas.openxmlformats.org/drawingml/2006/main" noGrp="1"/>
          </p:cNvSpPr>
          <p:nvPr/>
        </p:nvSpPr>
        <p:spPr>
          <a:xfrm xmlns:a="http://schemas.openxmlformats.org/drawingml/2006/main" rot="0">
            <a:off x="13159740" y="4882744"/>
            <a:ext cx="91827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7.7 / 41.5</a:t>
            </a:r>
          </a:p>
        </p:txBody>
      </p:sp>
      <p:sp>
        <p:nvSpPr>
          <p:cNvPr id="27" name="Figure 2 label 26 line 1">
            <a:extLst xmlns:a="http://schemas.openxmlformats.org/drawingml/2006/main">
              <a:ext uri="{FF2B5EF4-FFF2-40B4-BE49-F238E27FC236}">
                <a16:creationId xmlns:a16="http://schemas.microsoft.com/office/drawing/2014/main" id="{E3A6B18D-E0D3-40BB-A642-A52A3DE1E72B}"/>
              </a:ext>
            </a:extLst>
          </p:cNvPr>
          <p:cNvSpPr>
            <a:spLocks xmlns:a="http://schemas.openxmlformats.org/drawingml/2006/main" noGrp="1"/>
          </p:cNvSpPr>
          <p:nvPr/>
        </p:nvSpPr>
        <p:spPr>
          <a:xfrm xmlns:a="http://schemas.openxmlformats.org/drawingml/2006/main" rot="0">
            <a:off x="13159740" y="5084323"/>
            <a:ext cx="263366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Not vendor revenue exposure</a:t>
            </a:r>
          </a:p>
        </p:txBody>
      </p:sp>
      <p:sp>
        <p:nvSpPr>
          <p:cNvPr id="28" name="Figure 2 label 27 line 1">
            <a:extLst xmlns:a="http://schemas.openxmlformats.org/drawingml/2006/main">
              <a:ext uri="{FF2B5EF4-FFF2-40B4-BE49-F238E27FC236}">
                <a16:creationId xmlns:a16="http://schemas.microsoft.com/office/drawing/2014/main" id="{DAAB13B3-826F-44EC-A711-C7727F578597}"/>
              </a:ext>
            </a:extLst>
          </p:cNvPr>
          <p:cNvSpPr>
            <a:spLocks xmlns:a="http://schemas.openxmlformats.org/drawingml/2006/main" noGrp="1"/>
          </p:cNvSpPr>
          <p:nvPr/>
        </p:nvSpPr>
        <p:spPr>
          <a:xfrm xmlns:a="http://schemas.openxmlformats.org/drawingml/2006/main" rot="0">
            <a:off x="12885420" y="6436769"/>
            <a:ext cx="274945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Issuer-commissioned estimate.</a:t>
            </a:r>
          </a:p>
        </p:txBody>
      </p:sp>
      <p:sp>
        <p:nvSpPr>
          <p:cNvPr id="29" name="Figure 2 label 28 line 1">
            <a:extLst xmlns:a="http://schemas.openxmlformats.org/drawingml/2006/main">
              <a:ext uri="{FF2B5EF4-FFF2-40B4-BE49-F238E27FC236}">
                <a16:creationId xmlns:a16="http://schemas.microsoft.com/office/drawing/2014/main" id="{80A734C8-B15A-4177-8CA2-F9E063130715}"/>
              </a:ext>
            </a:extLst>
          </p:cNvPr>
          <p:cNvSpPr>
            <a:spLocks xmlns:a="http://schemas.openxmlformats.org/drawingml/2006/main" noGrp="1"/>
          </p:cNvSpPr>
          <p:nvPr/>
        </p:nvSpPr>
        <p:spPr>
          <a:xfrm xmlns:a="http://schemas.openxmlformats.org/drawingml/2006/main" rot="0">
            <a:off x="12885420" y="6638348"/>
            <a:ext cx="25381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Broader markets and vendor</a:t>
            </a:r>
          </a:p>
        </p:txBody>
      </p:sp>
      <p:sp>
        <p:nvSpPr>
          <p:cNvPr id="30" name="Figure 2 label 29 line 1">
            <a:extLst xmlns:a="http://schemas.openxmlformats.org/drawingml/2006/main">
              <a:ext uri="{FF2B5EF4-FFF2-40B4-BE49-F238E27FC236}">
                <a16:creationId xmlns:a16="http://schemas.microsoft.com/office/drawing/2014/main" id="{49B6C9A6-B075-4DFF-A583-B4FCE373AC74}"/>
              </a:ext>
            </a:extLst>
          </p:cNvPr>
          <p:cNvSpPr>
            <a:spLocks xmlns:a="http://schemas.openxmlformats.org/drawingml/2006/main" noGrp="1"/>
          </p:cNvSpPr>
          <p:nvPr/>
        </p:nvSpPr>
        <p:spPr>
          <a:xfrm xmlns:a="http://schemas.openxmlformats.org/drawingml/2006/main" rot="0">
            <a:off x="12885420" y="6842713"/>
            <a:ext cx="30148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China revenues use other scopes.</a:t>
            </a:r>
          </a:p>
        </p:txBody>
      </p:sp>
    </p:spTree>
    <p:extLst>
      <p:ext uri="{BB962C8B-B14F-4D97-AF65-F5344CB8AC3E}">
        <p14:creationId xmlns:p14="http://schemas.microsoft.com/office/powerpoint/2010/main" val="9847526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8" name="">
            <a:extLst xmlns:a="http://schemas.openxmlformats.org/drawingml/2006/main">
              <a:ext uri="{FF2B5EF4-FFF2-40B4-BE49-F238E27FC236}">
                <a16:creationId xmlns:a16="http://schemas.microsoft.com/office/drawing/2014/main" id="{9F1C91A3-D18B-4DD4-84CB-02E61DE863BC}"/>
              </a:ext>
            </a:extLst>
          </p:cNvPr>
          <p:cNvPicPr>
            <a:picLocks xmlns:a="http://schemas.openxmlformats.org/drawingml/2006/main" noChangeAspect="1"/>
          </p:cNvPicPr>
          <p:nvPr/>
        </p:nvPicPr>
        <p:blipFill>
          <a:blip xmlns:r="http://schemas.openxmlformats.org/officeDocument/2006/relationships" xmlns:a="http://schemas.openxmlformats.org/drawingml/2006/main" r:embed="R22ae6b533ce2462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3 label 1 line 1">
            <a:extLst xmlns:a="http://schemas.openxmlformats.org/drawingml/2006/main">
              <a:ext uri="{FF2B5EF4-FFF2-40B4-BE49-F238E27FC236}">
                <a16:creationId xmlns:a16="http://schemas.microsoft.com/office/drawing/2014/main" id="{E116C924-FFF1-4AE2-840D-A552BBE587E8}"/>
              </a:ext>
            </a:extLst>
          </p:cNvPr>
          <p:cNvSpPr>
            <a:spLocks xmlns:a="http://schemas.openxmlformats.org/drawingml/2006/main" noGrp="1"/>
          </p:cNvSpPr>
          <p:nvPr/>
        </p:nvSpPr>
        <p:spPr>
          <a:xfrm xmlns:a="http://schemas.openxmlformats.org/drawingml/2006/main" rot="0">
            <a:off x="991870" y="421675"/>
            <a:ext cx="764029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03  Customer workflows across life science tools</a:t>
            </a:r>
          </a:p>
        </p:txBody>
      </p:sp>
      <p:sp>
        <p:nvSpPr>
          <p:cNvPr id="3" name="Figure 3 label 2 line 1">
            <a:extLst xmlns:a="http://schemas.openxmlformats.org/drawingml/2006/main">
              <a:ext uri="{FF2B5EF4-FFF2-40B4-BE49-F238E27FC236}">
                <a16:creationId xmlns:a16="http://schemas.microsoft.com/office/drawing/2014/main" id="{5F063855-827D-49B2-B71F-EA42B54331EE}"/>
              </a:ext>
            </a:extLst>
          </p:cNvPr>
          <p:cNvSpPr>
            <a:spLocks xmlns:a="http://schemas.openxmlformats.org/drawingml/2006/main" noGrp="1"/>
          </p:cNvSpPr>
          <p:nvPr/>
        </p:nvSpPr>
        <p:spPr>
          <a:xfrm xmlns:a="http://schemas.openxmlformats.org/drawingml/2006/main" rot="0">
            <a:off x="15842184" y="661601"/>
            <a:ext cx="77683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USE MAP</a:t>
            </a:r>
          </a:p>
        </p:txBody>
      </p:sp>
      <p:sp>
        <p:nvSpPr>
          <p:cNvPr id="4" name="Figure 3 label 3 line 1">
            <a:extLst xmlns:a="http://schemas.openxmlformats.org/drawingml/2006/main">
              <a:ext uri="{FF2B5EF4-FFF2-40B4-BE49-F238E27FC236}">
                <a16:creationId xmlns:a16="http://schemas.microsoft.com/office/drawing/2014/main" id="{2567D29B-267B-4761-9737-780819972CF3}"/>
              </a:ext>
            </a:extLst>
          </p:cNvPr>
          <p:cNvSpPr>
            <a:spLocks xmlns:a="http://schemas.openxmlformats.org/drawingml/2006/main" noGrp="1"/>
          </p:cNvSpPr>
          <p:nvPr/>
        </p:nvSpPr>
        <p:spPr>
          <a:xfrm xmlns:a="http://schemas.openxmlformats.org/drawingml/2006/main" rot="0">
            <a:off x="998220" y="1249487"/>
            <a:ext cx="72503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 qualitative workflow map. Customer purchasing shares have not been established.</a:t>
            </a:r>
          </a:p>
        </p:txBody>
      </p:sp>
      <p:sp>
        <p:nvSpPr>
          <p:cNvPr id="5" name="Figure 3 label 4 line 1">
            <a:extLst xmlns:a="http://schemas.openxmlformats.org/drawingml/2006/main">
              <a:ext uri="{FF2B5EF4-FFF2-40B4-BE49-F238E27FC236}">
                <a16:creationId xmlns:a16="http://schemas.microsoft.com/office/drawing/2014/main" id="{68DEBB3B-2BBF-482B-82E8-06369881B6BE}"/>
              </a:ext>
            </a:extLst>
          </p:cNvPr>
          <p:cNvSpPr>
            <a:spLocks xmlns:a="http://schemas.openxmlformats.org/drawingml/2006/main" noGrp="1"/>
          </p:cNvSpPr>
          <p:nvPr/>
        </p:nvSpPr>
        <p:spPr>
          <a:xfrm xmlns:a="http://schemas.openxmlformats.org/drawingml/2006/main" rot="0">
            <a:off x="999173" y="9255019"/>
            <a:ext cx="843751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Food, environmental and chemical-analysis uses excluded. Research instruments exclude clinical IVD analyzers.</a:t>
            </a:r>
          </a:p>
        </p:txBody>
      </p:sp>
      <p:sp>
        <p:nvSpPr>
          <p:cNvPr id="6" name="Figure 3 label 5 line 1">
            <a:extLst xmlns:a="http://schemas.openxmlformats.org/drawingml/2006/main">
              <a:ext uri="{FF2B5EF4-FFF2-40B4-BE49-F238E27FC236}">
                <a16:creationId xmlns:a16="http://schemas.microsoft.com/office/drawing/2014/main" id="{1C0A2FD1-2E7D-4215-B484-1DCE4E696C30}"/>
              </a:ext>
            </a:extLst>
          </p:cNvPr>
          <p:cNvSpPr>
            <a:spLocks xmlns:a="http://schemas.openxmlformats.org/drawingml/2006/main" noGrp="1"/>
          </p:cNvSpPr>
          <p:nvPr/>
        </p:nvSpPr>
        <p:spPr>
          <a:xfrm xmlns:a="http://schemas.openxmlformats.org/drawingml/2006/main" rot="0">
            <a:off x="1000316" y="9676290"/>
            <a:ext cx="6088886"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representative supplier product uses; a role map, not an estimated customer revenue mix.</a:t>
            </a:r>
          </a:p>
        </p:txBody>
      </p:sp>
      <p:sp>
        <p:nvSpPr>
          <p:cNvPr id="7" name="Figure 3 label 6 line 1">
            <a:extLst xmlns:a="http://schemas.openxmlformats.org/drawingml/2006/main">
              <a:ext uri="{FF2B5EF4-FFF2-40B4-BE49-F238E27FC236}">
                <a16:creationId xmlns:a16="http://schemas.microsoft.com/office/drawing/2014/main" id="{76362181-E1D4-4673-ACA1-23B2F65547A5}"/>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8" name="Figure 3 label 7 line 1">
            <a:extLst xmlns:a="http://schemas.openxmlformats.org/drawingml/2006/main">
              <a:ext uri="{FF2B5EF4-FFF2-40B4-BE49-F238E27FC236}">
                <a16:creationId xmlns:a16="http://schemas.microsoft.com/office/drawing/2014/main" id="{3699F541-FC62-45A4-92EA-A507409476E7}"/>
              </a:ext>
            </a:extLst>
          </p:cNvPr>
          <p:cNvSpPr>
            <a:spLocks xmlns:a="http://schemas.openxmlformats.org/drawingml/2006/main" noGrp="1"/>
          </p:cNvSpPr>
          <p:nvPr/>
        </p:nvSpPr>
        <p:spPr>
          <a:xfrm xmlns:a="http://schemas.openxmlformats.org/drawingml/2006/main" rot="0">
            <a:off x="1253617" y="2714778"/>
            <a:ext cx="131479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CUSTOMER</a:t>
            </a:r>
          </a:p>
        </p:txBody>
      </p:sp>
      <p:sp>
        <p:nvSpPr>
          <p:cNvPr id="9" name="Figure 3 label 8 line 1">
            <a:extLst xmlns:a="http://schemas.openxmlformats.org/drawingml/2006/main">
              <a:ext uri="{FF2B5EF4-FFF2-40B4-BE49-F238E27FC236}">
                <a16:creationId xmlns:a16="http://schemas.microsoft.com/office/drawing/2014/main" id="{3B7E4863-0C99-4102-9DDD-246586A50017}"/>
              </a:ext>
            </a:extLst>
          </p:cNvPr>
          <p:cNvSpPr>
            <a:spLocks xmlns:a="http://schemas.openxmlformats.org/drawingml/2006/main" noGrp="1"/>
          </p:cNvSpPr>
          <p:nvPr/>
        </p:nvSpPr>
        <p:spPr>
          <a:xfrm xmlns:a="http://schemas.openxmlformats.org/drawingml/2006/main" rot="0">
            <a:off x="5130674" y="2714778"/>
            <a:ext cx="126910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REAGENTS</a:t>
            </a:r>
          </a:p>
        </p:txBody>
      </p:sp>
      <p:sp>
        <p:nvSpPr>
          <p:cNvPr id="10" name="Figure 3 label 9 line 1">
            <a:extLst xmlns:a="http://schemas.openxmlformats.org/drawingml/2006/main">
              <a:ext uri="{FF2B5EF4-FFF2-40B4-BE49-F238E27FC236}">
                <a16:creationId xmlns:a16="http://schemas.microsoft.com/office/drawing/2014/main" id="{A5CBE299-08E0-47E7-9116-CC4A32C56761}"/>
              </a:ext>
            </a:extLst>
          </p:cNvPr>
          <p:cNvSpPr>
            <a:spLocks xmlns:a="http://schemas.openxmlformats.org/drawingml/2006/main" noGrp="1"/>
          </p:cNvSpPr>
          <p:nvPr/>
        </p:nvSpPr>
        <p:spPr>
          <a:xfrm xmlns:a="http://schemas.openxmlformats.org/drawingml/2006/main" rot="0">
            <a:off x="9117457" y="2714778"/>
            <a:ext cx="1716336"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CONSUMABLES</a:t>
            </a:r>
          </a:p>
        </p:txBody>
      </p:sp>
      <p:sp>
        <p:nvSpPr>
          <p:cNvPr id="11" name="Figure 3 label 10 line 1">
            <a:extLst xmlns:a="http://schemas.openxmlformats.org/drawingml/2006/main">
              <a:ext uri="{FF2B5EF4-FFF2-40B4-BE49-F238E27FC236}">
                <a16:creationId xmlns:a16="http://schemas.microsoft.com/office/drawing/2014/main" id="{E82FE114-2DDB-4F85-A3F0-72CAE3A98450}"/>
              </a:ext>
            </a:extLst>
          </p:cNvPr>
          <p:cNvSpPr>
            <a:spLocks xmlns:a="http://schemas.openxmlformats.org/drawingml/2006/main" noGrp="1"/>
          </p:cNvSpPr>
          <p:nvPr/>
        </p:nvSpPr>
        <p:spPr>
          <a:xfrm xmlns:a="http://schemas.openxmlformats.org/drawingml/2006/main" rot="0">
            <a:off x="13104242" y="2714778"/>
            <a:ext cx="162421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INSTRUMENTS</a:t>
            </a:r>
          </a:p>
        </p:txBody>
      </p:sp>
      <p:sp>
        <p:nvSpPr>
          <p:cNvPr id="12" name="Figure 3 label 11 line 1">
            <a:extLst xmlns:a="http://schemas.openxmlformats.org/drawingml/2006/main">
              <a:ext uri="{FF2B5EF4-FFF2-40B4-BE49-F238E27FC236}">
                <a16:creationId xmlns:a16="http://schemas.microsoft.com/office/drawing/2014/main" id="{400455D5-334F-4F18-B713-40F7EB86A5C1}"/>
              </a:ext>
            </a:extLst>
          </p:cNvPr>
          <p:cNvSpPr>
            <a:spLocks xmlns:a="http://schemas.openxmlformats.org/drawingml/2006/main" noGrp="1"/>
          </p:cNvSpPr>
          <p:nvPr/>
        </p:nvSpPr>
        <p:spPr>
          <a:xfrm xmlns:a="http://schemas.openxmlformats.org/drawingml/2006/main" rot="0">
            <a:off x="1253934" y="3627985"/>
            <a:ext cx="2786757"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Academia / research hospitals</a:t>
            </a:r>
          </a:p>
        </p:txBody>
      </p:sp>
      <p:sp>
        <p:nvSpPr>
          <p:cNvPr id="13" name="Figure 3 label 12 line 1">
            <a:extLst xmlns:a="http://schemas.openxmlformats.org/drawingml/2006/main">
              <a:ext uri="{FF2B5EF4-FFF2-40B4-BE49-F238E27FC236}">
                <a16:creationId xmlns:a16="http://schemas.microsoft.com/office/drawing/2014/main" id="{2CA767AA-D1D0-4E46-8964-6A38278FE47D}"/>
              </a:ext>
            </a:extLst>
          </p:cNvPr>
          <p:cNvSpPr>
            <a:spLocks xmlns:a="http://schemas.openxmlformats.org/drawingml/2006/main" noGrp="1"/>
          </p:cNvSpPr>
          <p:nvPr/>
        </p:nvSpPr>
        <p:spPr>
          <a:xfrm xmlns:a="http://schemas.openxmlformats.org/drawingml/2006/main" rot="0">
            <a:off x="5131308" y="3523894"/>
            <a:ext cx="16908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Targets, enzymes,</a:t>
            </a:r>
          </a:p>
        </p:txBody>
      </p:sp>
      <p:sp>
        <p:nvSpPr>
          <p:cNvPr id="14" name="Figure 3 label 13 line 1">
            <a:extLst xmlns:a="http://schemas.openxmlformats.org/drawingml/2006/main">
              <a:ext uri="{FF2B5EF4-FFF2-40B4-BE49-F238E27FC236}">
                <a16:creationId xmlns:a16="http://schemas.microsoft.com/office/drawing/2014/main" id="{88C8608F-1BB5-442D-B1B0-7A3E21C0D0EC}"/>
              </a:ext>
            </a:extLst>
          </p:cNvPr>
          <p:cNvSpPr>
            <a:spLocks xmlns:a="http://schemas.openxmlformats.org/drawingml/2006/main" noGrp="1"/>
          </p:cNvSpPr>
          <p:nvPr/>
        </p:nvSpPr>
        <p:spPr>
          <a:xfrm xmlns:a="http://schemas.openxmlformats.org/drawingml/2006/main" rot="0">
            <a:off x="5131308" y="3747979"/>
            <a:ext cx="9815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cell media</a:t>
            </a:r>
          </a:p>
        </p:txBody>
      </p:sp>
      <p:sp>
        <p:nvSpPr>
          <p:cNvPr id="15" name="Figure 3 label 14 line 1">
            <a:extLst xmlns:a="http://schemas.openxmlformats.org/drawingml/2006/main">
              <a:ext uri="{FF2B5EF4-FFF2-40B4-BE49-F238E27FC236}">
                <a16:creationId xmlns:a16="http://schemas.microsoft.com/office/drawing/2014/main" id="{BF0CF27A-476F-46A8-8027-0374C4302602}"/>
              </a:ext>
            </a:extLst>
          </p:cNvPr>
          <p:cNvSpPr>
            <a:spLocks xmlns:a="http://schemas.openxmlformats.org/drawingml/2006/main" noGrp="1"/>
          </p:cNvSpPr>
          <p:nvPr/>
        </p:nvSpPr>
        <p:spPr>
          <a:xfrm xmlns:a="http://schemas.openxmlformats.org/drawingml/2006/main" rot="0">
            <a:off x="9118092" y="3524920"/>
            <a:ext cx="1108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Plates, tips,</a:t>
            </a:r>
          </a:p>
        </p:txBody>
      </p:sp>
      <p:sp>
        <p:nvSpPr>
          <p:cNvPr id="16" name="Figure 3 label 15 line 1">
            <a:extLst xmlns:a="http://schemas.openxmlformats.org/drawingml/2006/main">
              <a:ext uri="{FF2B5EF4-FFF2-40B4-BE49-F238E27FC236}">
                <a16:creationId xmlns:a16="http://schemas.microsoft.com/office/drawing/2014/main" id="{BDD5A2F5-5BC2-43C8-A192-C1D32C6DFA9C}"/>
              </a:ext>
            </a:extLst>
          </p:cNvPr>
          <p:cNvSpPr>
            <a:spLocks xmlns:a="http://schemas.openxmlformats.org/drawingml/2006/main" noGrp="1"/>
          </p:cNvSpPr>
          <p:nvPr/>
        </p:nvSpPr>
        <p:spPr>
          <a:xfrm xmlns:a="http://schemas.openxmlformats.org/drawingml/2006/main" rot="0">
            <a:off x="9118092" y="3746953"/>
            <a:ext cx="1108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cultureware</a:t>
            </a:r>
          </a:p>
        </p:txBody>
      </p:sp>
      <p:sp>
        <p:nvSpPr>
          <p:cNvPr id="17" name="Figure 3 label 16 line 1">
            <a:extLst xmlns:a="http://schemas.openxmlformats.org/drawingml/2006/main">
              <a:ext uri="{FF2B5EF4-FFF2-40B4-BE49-F238E27FC236}">
                <a16:creationId xmlns:a16="http://schemas.microsoft.com/office/drawing/2014/main" id="{A8C6657F-3DF5-4DC8-8314-9CEE6D4035F8}"/>
              </a:ext>
            </a:extLst>
          </p:cNvPr>
          <p:cNvSpPr>
            <a:spLocks xmlns:a="http://schemas.openxmlformats.org/drawingml/2006/main" noGrp="1"/>
          </p:cNvSpPr>
          <p:nvPr/>
        </p:nvSpPr>
        <p:spPr>
          <a:xfrm xmlns:a="http://schemas.openxmlformats.org/drawingml/2006/main" rot="0">
            <a:off x="13104876" y="3525054"/>
            <a:ext cx="19560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Sequencing, imaging,</a:t>
            </a:r>
          </a:p>
        </p:txBody>
      </p:sp>
      <p:sp>
        <p:nvSpPr>
          <p:cNvPr id="18" name="Figure 3 label 17 line 1">
            <a:extLst xmlns:a="http://schemas.openxmlformats.org/drawingml/2006/main">
              <a:ext uri="{FF2B5EF4-FFF2-40B4-BE49-F238E27FC236}">
                <a16:creationId xmlns:a16="http://schemas.microsoft.com/office/drawing/2014/main" id="{0CA1A207-C34D-4C21-8D31-3B472373BDD7}"/>
              </a:ext>
            </a:extLst>
          </p:cNvPr>
          <p:cNvSpPr>
            <a:spLocks xmlns:a="http://schemas.openxmlformats.org/drawingml/2006/main" noGrp="1"/>
          </p:cNvSpPr>
          <p:nvPr/>
        </p:nvSpPr>
        <p:spPr>
          <a:xfrm xmlns:a="http://schemas.openxmlformats.org/drawingml/2006/main" rot="0">
            <a:off x="13104876" y="3749141"/>
            <a:ext cx="71660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LC-MS</a:t>
            </a:r>
          </a:p>
        </p:txBody>
      </p:sp>
      <p:sp>
        <p:nvSpPr>
          <p:cNvPr id="19" name="Figure 3 label 18 line 1">
            <a:extLst xmlns:a="http://schemas.openxmlformats.org/drawingml/2006/main">
              <a:ext uri="{FF2B5EF4-FFF2-40B4-BE49-F238E27FC236}">
                <a16:creationId xmlns:a16="http://schemas.microsoft.com/office/drawing/2014/main" id="{B79B93BD-8FA4-49ED-A32D-1F2E30175F0B}"/>
              </a:ext>
            </a:extLst>
          </p:cNvPr>
          <p:cNvSpPr>
            <a:spLocks xmlns:a="http://schemas.openxmlformats.org/drawingml/2006/main" noGrp="1"/>
          </p:cNvSpPr>
          <p:nvPr/>
        </p:nvSpPr>
        <p:spPr>
          <a:xfrm xmlns:a="http://schemas.openxmlformats.org/drawingml/2006/main" rot="0">
            <a:off x="1253934" y="4534450"/>
            <a:ext cx="2102892"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Biotech / pharma R&amp;D</a:t>
            </a:r>
          </a:p>
        </p:txBody>
      </p:sp>
      <p:sp>
        <p:nvSpPr>
          <p:cNvPr id="20" name="Figure 3 label 19 line 1">
            <a:extLst xmlns:a="http://schemas.openxmlformats.org/drawingml/2006/main">
              <a:ext uri="{FF2B5EF4-FFF2-40B4-BE49-F238E27FC236}">
                <a16:creationId xmlns:a16="http://schemas.microsoft.com/office/drawing/2014/main" id="{A513C17E-CE7E-479F-8B38-7C2C0618B077}"/>
              </a:ext>
            </a:extLst>
          </p:cNvPr>
          <p:cNvSpPr>
            <a:spLocks xmlns:a="http://schemas.openxmlformats.org/drawingml/2006/main" noGrp="1"/>
          </p:cNvSpPr>
          <p:nvPr/>
        </p:nvSpPr>
        <p:spPr>
          <a:xfrm xmlns:a="http://schemas.openxmlformats.org/drawingml/2006/main" rot="0">
            <a:off x="5131308" y="4428123"/>
            <a:ext cx="209341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Proteins, assay panels,</a:t>
            </a:r>
          </a:p>
        </p:txBody>
      </p:sp>
      <p:sp>
        <p:nvSpPr>
          <p:cNvPr id="21" name="Figure 3 label 20 line 1">
            <a:extLst xmlns:a="http://schemas.openxmlformats.org/drawingml/2006/main">
              <a:ext uri="{FF2B5EF4-FFF2-40B4-BE49-F238E27FC236}">
                <a16:creationId xmlns:a16="http://schemas.microsoft.com/office/drawing/2014/main" id="{3E70DEB9-2EF6-402F-BDF2-40AA6F195E15}"/>
              </a:ext>
            </a:extLst>
          </p:cNvPr>
          <p:cNvSpPr>
            <a:spLocks xmlns:a="http://schemas.openxmlformats.org/drawingml/2006/main" noGrp="1"/>
          </p:cNvSpPr>
          <p:nvPr/>
        </p:nvSpPr>
        <p:spPr>
          <a:xfrm xmlns:a="http://schemas.openxmlformats.org/drawingml/2006/main" rot="0">
            <a:off x="5131308" y="4652209"/>
            <a:ext cx="183936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expression reagents</a:t>
            </a:r>
          </a:p>
        </p:txBody>
      </p:sp>
      <p:sp>
        <p:nvSpPr>
          <p:cNvPr id="22" name="Figure 3 label 21 line 1">
            <a:extLst xmlns:a="http://schemas.openxmlformats.org/drawingml/2006/main">
              <a:ext uri="{FF2B5EF4-FFF2-40B4-BE49-F238E27FC236}">
                <a16:creationId xmlns:a16="http://schemas.microsoft.com/office/drawing/2014/main" id="{9C1AA06A-8740-426E-9521-4D0546641CC1}"/>
              </a:ext>
            </a:extLst>
          </p:cNvPr>
          <p:cNvSpPr>
            <a:spLocks xmlns:a="http://schemas.openxmlformats.org/drawingml/2006/main" noGrp="1"/>
          </p:cNvSpPr>
          <p:nvPr/>
        </p:nvSpPr>
        <p:spPr>
          <a:xfrm xmlns:a="http://schemas.openxmlformats.org/drawingml/2006/main" rot="0">
            <a:off x="9118092" y="4430177"/>
            <a:ext cx="16908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Sensors, columns,</a:t>
            </a:r>
          </a:p>
        </p:txBody>
      </p:sp>
      <p:sp>
        <p:nvSpPr>
          <p:cNvPr id="23" name="Figure 3 label 22 line 1">
            <a:extLst xmlns:a="http://schemas.openxmlformats.org/drawingml/2006/main">
              <a:ext uri="{FF2B5EF4-FFF2-40B4-BE49-F238E27FC236}">
                <a16:creationId xmlns:a16="http://schemas.microsoft.com/office/drawing/2014/main" id="{DF8E3E66-3557-4C3F-9D3F-DF7EB13C6EA5}"/>
              </a:ext>
            </a:extLst>
          </p:cNvPr>
          <p:cNvSpPr>
            <a:spLocks xmlns:a="http://schemas.openxmlformats.org/drawingml/2006/main" noGrp="1"/>
          </p:cNvSpPr>
          <p:nvPr/>
        </p:nvSpPr>
        <p:spPr>
          <a:xfrm xmlns:a="http://schemas.openxmlformats.org/drawingml/2006/main" rot="0">
            <a:off x="9118092" y="4652209"/>
            <a:ext cx="79087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filtration</a:t>
            </a:r>
          </a:p>
        </p:txBody>
      </p:sp>
      <p:sp>
        <p:nvSpPr>
          <p:cNvPr id="24" name="Figure 3 label 23 line 1">
            <a:extLst xmlns:a="http://schemas.openxmlformats.org/drawingml/2006/main">
              <a:ext uri="{FF2B5EF4-FFF2-40B4-BE49-F238E27FC236}">
                <a16:creationId xmlns:a16="http://schemas.microsoft.com/office/drawing/2014/main" id="{0E6D00F7-CC63-4C45-9FB4-2CC844FD8531}"/>
              </a:ext>
            </a:extLst>
          </p:cNvPr>
          <p:cNvSpPr>
            <a:spLocks xmlns:a="http://schemas.openxmlformats.org/drawingml/2006/main" noGrp="1"/>
          </p:cNvSpPr>
          <p:nvPr/>
        </p:nvSpPr>
        <p:spPr>
          <a:xfrm xmlns:a="http://schemas.openxmlformats.org/drawingml/2006/main" rot="0">
            <a:off x="13104876" y="4427582"/>
            <a:ext cx="206156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BLI / SPR, automation,</a:t>
            </a:r>
          </a:p>
        </p:txBody>
      </p:sp>
      <p:sp>
        <p:nvSpPr>
          <p:cNvPr id="25" name="Figure 3 label 24 line 1">
            <a:extLst xmlns:a="http://schemas.openxmlformats.org/drawingml/2006/main">
              <a:ext uri="{FF2B5EF4-FFF2-40B4-BE49-F238E27FC236}">
                <a16:creationId xmlns:a16="http://schemas.microsoft.com/office/drawing/2014/main" id="{13C1EDDD-A253-4887-9DC3-63901CCFA457}"/>
              </a:ext>
            </a:extLst>
          </p:cNvPr>
          <p:cNvSpPr>
            <a:spLocks xmlns:a="http://schemas.openxmlformats.org/drawingml/2006/main" noGrp="1"/>
          </p:cNvSpPr>
          <p:nvPr/>
        </p:nvSpPr>
        <p:spPr>
          <a:xfrm xmlns:a="http://schemas.openxmlformats.org/drawingml/2006/main" rot="0">
            <a:off x="13104876" y="4652749"/>
            <a:ext cx="13412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flow cytometry</a:t>
            </a:r>
          </a:p>
        </p:txBody>
      </p:sp>
      <p:sp>
        <p:nvSpPr>
          <p:cNvPr id="26" name="Figure 3 label 25 line 1">
            <a:extLst xmlns:a="http://schemas.openxmlformats.org/drawingml/2006/main">
              <a:ext uri="{FF2B5EF4-FFF2-40B4-BE49-F238E27FC236}">
                <a16:creationId xmlns:a16="http://schemas.microsoft.com/office/drawing/2014/main" id="{302698D1-62CD-4ECE-80C1-C1B79CD7E6D6}"/>
              </a:ext>
            </a:extLst>
          </p:cNvPr>
          <p:cNvSpPr>
            <a:spLocks xmlns:a="http://schemas.openxmlformats.org/drawingml/2006/main" noGrp="1"/>
          </p:cNvSpPr>
          <p:nvPr/>
        </p:nvSpPr>
        <p:spPr>
          <a:xfrm xmlns:a="http://schemas.openxmlformats.org/drawingml/2006/main" rot="0">
            <a:off x="1253934" y="5438497"/>
            <a:ext cx="1341487"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CRO / CDMO</a:t>
            </a:r>
          </a:p>
        </p:txBody>
      </p:sp>
      <p:sp>
        <p:nvSpPr>
          <p:cNvPr id="27" name="Figure 3 label 26 line 1">
            <a:extLst xmlns:a="http://schemas.openxmlformats.org/drawingml/2006/main">
              <a:ext uri="{FF2B5EF4-FFF2-40B4-BE49-F238E27FC236}">
                <a16:creationId xmlns:a16="http://schemas.microsoft.com/office/drawing/2014/main" id="{490F4260-FFDA-492B-892F-B5B7D35774C0}"/>
              </a:ext>
            </a:extLst>
          </p:cNvPr>
          <p:cNvSpPr>
            <a:spLocks xmlns:a="http://schemas.openxmlformats.org/drawingml/2006/main" noGrp="1"/>
          </p:cNvSpPr>
          <p:nvPr/>
        </p:nvSpPr>
        <p:spPr>
          <a:xfrm xmlns:a="http://schemas.openxmlformats.org/drawingml/2006/main" rot="0">
            <a:off x="5131308" y="5333379"/>
            <a:ext cx="13308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Discovery and</a:t>
            </a:r>
          </a:p>
        </p:txBody>
      </p:sp>
      <p:sp>
        <p:nvSpPr>
          <p:cNvPr id="28" name="Figure 3 label 27 line 1">
            <a:extLst xmlns:a="http://schemas.openxmlformats.org/drawingml/2006/main">
              <a:ext uri="{FF2B5EF4-FFF2-40B4-BE49-F238E27FC236}">
                <a16:creationId xmlns:a16="http://schemas.microsoft.com/office/drawing/2014/main" id="{3B848FE9-BBDA-421A-9902-CBBA06C3538B}"/>
              </a:ext>
            </a:extLst>
          </p:cNvPr>
          <p:cNvSpPr>
            <a:spLocks xmlns:a="http://schemas.openxmlformats.org/drawingml/2006/main" noGrp="1"/>
          </p:cNvSpPr>
          <p:nvPr/>
        </p:nvSpPr>
        <p:spPr>
          <a:xfrm xmlns:a="http://schemas.openxmlformats.org/drawingml/2006/main" rot="0">
            <a:off x="5131308" y="5557464"/>
            <a:ext cx="158516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process reagents</a:t>
            </a:r>
          </a:p>
        </p:txBody>
      </p:sp>
      <p:sp>
        <p:nvSpPr>
          <p:cNvPr id="29" name="Figure 3 label 28 line 1">
            <a:extLst xmlns:a="http://schemas.openxmlformats.org/drawingml/2006/main">
              <a:ext uri="{FF2B5EF4-FFF2-40B4-BE49-F238E27FC236}">
                <a16:creationId xmlns:a16="http://schemas.microsoft.com/office/drawing/2014/main" id="{31795862-5258-4373-A746-DCF3F0A50513}"/>
              </a:ext>
            </a:extLst>
          </p:cNvPr>
          <p:cNvSpPr>
            <a:spLocks xmlns:a="http://schemas.openxmlformats.org/drawingml/2006/main" noGrp="1"/>
          </p:cNvSpPr>
          <p:nvPr/>
        </p:nvSpPr>
        <p:spPr>
          <a:xfrm xmlns:a="http://schemas.openxmlformats.org/drawingml/2006/main" rot="0">
            <a:off x="9118092" y="5333865"/>
            <a:ext cx="15216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Labware, resins,</a:t>
            </a:r>
          </a:p>
        </p:txBody>
      </p:sp>
      <p:sp>
        <p:nvSpPr>
          <p:cNvPr id="30" name="Figure 3 label 29 line 1">
            <a:extLst xmlns:a="http://schemas.openxmlformats.org/drawingml/2006/main">
              <a:ext uri="{FF2B5EF4-FFF2-40B4-BE49-F238E27FC236}">
                <a16:creationId xmlns:a16="http://schemas.microsoft.com/office/drawing/2014/main" id="{2C5D1470-7AC7-4F22-9CEB-1110ECCFF7EF}"/>
              </a:ext>
            </a:extLst>
          </p:cNvPr>
          <p:cNvSpPr>
            <a:spLocks xmlns:a="http://schemas.openxmlformats.org/drawingml/2006/main" noGrp="1"/>
          </p:cNvSpPr>
          <p:nvPr/>
        </p:nvSpPr>
        <p:spPr>
          <a:xfrm xmlns:a="http://schemas.openxmlformats.org/drawingml/2006/main" rot="0">
            <a:off x="9118092" y="5559032"/>
            <a:ext cx="182850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scale-specific inputs</a:t>
            </a:r>
          </a:p>
        </p:txBody>
      </p:sp>
      <p:sp>
        <p:nvSpPr>
          <p:cNvPr id="31" name="Figure 3 label 30 line 1">
            <a:extLst xmlns:a="http://schemas.openxmlformats.org/drawingml/2006/main">
              <a:ext uri="{FF2B5EF4-FFF2-40B4-BE49-F238E27FC236}">
                <a16:creationId xmlns:a16="http://schemas.microsoft.com/office/drawing/2014/main" id="{B756C171-2B4A-46D1-AE17-C3D71DE2D96A}"/>
              </a:ext>
            </a:extLst>
          </p:cNvPr>
          <p:cNvSpPr>
            <a:spLocks xmlns:a="http://schemas.openxmlformats.org/drawingml/2006/main" noGrp="1"/>
          </p:cNvSpPr>
          <p:nvPr/>
        </p:nvSpPr>
        <p:spPr>
          <a:xfrm xmlns:a="http://schemas.openxmlformats.org/drawingml/2006/main" rot="0">
            <a:off x="13104876" y="5332838"/>
            <a:ext cx="17862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Assay, process and</a:t>
            </a:r>
          </a:p>
        </p:txBody>
      </p:sp>
      <p:sp>
        <p:nvSpPr>
          <p:cNvPr id="32" name="Figure 3 label 31 line 1">
            <a:extLst xmlns:a="http://schemas.openxmlformats.org/drawingml/2006/main">
              <a:ext uri="{FF2B5EF4-FFF2-40B4-BE49-F238E27FC236}">
                <a16:creationId xmlns:a16="http://schemas.microsoft.com/office/drawing/2014/main" id="{B22B21BF-3E2C-4C85-B1D5-B99017A7FB8A}"/>
              </a:ext>
            </a:extLst>
          </p:cNvPr>
          <p:cNvSpPr>
            <a:spLocks xmlns:a="http://schemas.openxmlformats.org/drawingml/2006/main" noGrp="1"/>
          </p:cNvSpPr>
          <p:nvPr/>
        </p:nvSpPr>
        <p:spPr>
          <a:xfrm xmlns:a="http://schemas.openxmlformats.org/drawingml/2006/main" rot="0">
            <a:off x="13104876" y="5560059"/>
            <a:ext cx="12459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QC platforms</a:t>
            </a:r>
          </a:p>
        </p:txBody>
      </p:sp>
      <p:sp>
        <p:nvSpPr>
          <p:cNvPr id="33" name="Figure 3 label 32 line 1">
            <a:extLst xmlns:a="http://schemas.openxmlformats.org/drawingml/2006/main">
              <a:ext uri="{FF2B5EF4-FFF2-40B4-BE49-F238E27FC236}">
                <a16:creationId xmlns:a16="http://schemas.microsoft.com/office/drawing/2014/main" id="{D871494A-D6FF-47C8-8267-7C8EBE4849E7}"/>
              </a:ext>
            </a:extLst>
          </p:cNvPr>
          <p:cNvSpPr>
            <a:spLocks xmlns:a="http://schemas.openxmlformats.org/drawingml/2006/main" noGrp="1"/>
          </p:cNvSpPr>
          <p:nvPr/>
        </p:nvSpPr>
        <p:spPr>
          <a:xfrm xmlns:a="http://schemas.openxmlformats.org/drawingml/2006/main" rot="0">
            <a:off x="1253934" y="6343893"/>
            <a:ext cx="1673076"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Biomanufacturing</a:t>
            </a:r>
          </a:p>
        </p:txBody>
      </p:sp>
      <p:sp>
        <p:nvSpPr>
          <p:cNvPr id="34" name="Figure 3 label 33 line 1">
            <a:extLst xmlns:a="http://schemas.openxmlformats.org/drawingml/2006/main">
              <a:ext uri="{FF2B5EF4-FFF2-40B4-BE49-F238E27FC236}">
                <a16:creationId xmlns:a16="http://schemas.microsoft.com/office/drawing/2014/main" id="{1E4581E1-4351-4098-8BDD-24944BA66769}"/>
              </a:ext>
            </a:extLst>
          </p:cNvPr>
          <p:cNvSpPr>
            <a:spLocks xmlns:a="http://schemas.openxmlformats.org/drawingml/2006/main" noGrp="1"/>
          </p:cNvSpPr>
          <p:nvPr/>
        </p:nvSpPr>
        <p:spPr>
          <a:xfrm xmlns:a="http://schemas.openxmlformats.org/drawingml/2006/main" rot="0">
            <a:off x="5131308" y="6238094"/>
            <a:ext cx="165928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Production media,</a:t>
            </a:r>
          </a:p>
        </p:txBody>
      </p:sp>
      <p:sp>
        <p:nvSpPr>
          <p:cNvPr id="35" name="Figure 3 label 34 line 1">
            <a:extLst xmlns:a="http://schemas.openxmlformats.org/drawingml/2006/main">
              <a:ext uri="{FF2B5EF4-FFF2-40B4-BE49-F238E27FC236}">
                <a16:creationId xmlns:a16="http://schemas.microsoft.com/office/drawing/2014/main" id="{C9DEABC8-C92B-4B5A-89A2-DBE9909C81FC}"/>
              </a:ext>
            </a:extLst>
          </p:cNvPr>
          <p:cNvSpPr>
            <a:spLocks xmlns:a="http://schemas.openxmlformats.org/drawingml/2006/main" noGrp="1"/>
          </p:cNvSpPr>
          <p:nvPr/>
        </p:nvSpPr>
        <p:spPr>
          <a:xfrm xmlns:a="http://schemas.openxmlformats.org/drawingml/2006/main" rot="0">
            <a:off x="5131308" y="6463261"/>
            <a:ext cx="177581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feeds and enzymes</a:t>
            </a:r>
          </a:p>
        </p:txBody>
      </p:sp>
      <p:sp>
        <p:nvSpPr>
          <p:cNvPr id="36" name="Figure 3 label 35 line 1">
            <a:extLst xmlns:a="http://schemas.openxmlformats.org/drawingml/2006/main">
              <a:ext uri="{FF2B5EF4-FFF2-40B4-BE49-F238E27FC236}">
                <a16:creationId xmlns:a16="http://schemas.microsoft.com/office/drawing/2014/main" id="{2F14399C-D2F2-44C8-A6CB-FAE4B76D234C}"/>
              </a:ext>
            </a:extLst>
          </p:cNvPr>
          <p:cNvSpPr>
            <a:spLocks xmlns:a="http://schemas.openxmlformats.org/drawingml/2006/main" noGrp="1"/>
          </p:cNvSpPr>
          <p:nvPr/>
        </p:nvSpPr>
        <p:spPr>
          <a:xfrm xmlns:a="http://schemas.openxmlformats.org/drawingml/2006/main" rot="0">
            <a:off x="9118092" y="6239662"/>
            <a:ext cx="132010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Resins, filters,</a:t>
            </a:r>
          </a:p>
        </p:txBody>
      </p:sp>
      <p:sp>
        <p:nvSpPr>
          <p:cNvPr id="37" name="Figure 3 label 36 line 1">
            <a:extLst xmlns:a="http://schemas.openxmlformats.org/drawingml/2006/main">
              <a:ext uri="{FF2B5EF4-FFF2-40B4-BE49-F238E27FC236}">
                <a16:creationId xmlns:a16="http://schemas.microsoft.com/office/drawing/2014/main" id="{500CAA10-14DA-4989-AD29-2A183FB5E1DF}"/>
              </a:ext>
            </a:extLst>
          </p:cNvPr>
          <p:cNvSpPr>
            <a:spLocks xmlns:a="http://schemas.openxmlformats.org/drawingml/2006/main" noGrp="1"/>
          </p:cNvSpPr>
          <p:nvPr/>
        </p:nvSpPr>
        <p:spPr>
          <a:xfrm xmlns:a="http://schemas.openxmlformats.org/drawingml/2006/main" rot="0">
            <a:off x="9118092" y="6461694"/>
            <a:ext cx="199801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single-use assemblies</a:t>
            </a:r>
          </a:p>
        </p:txBody>
      </p:sp>
      <p:sp>
        <p:nvSpPr>
          <p:cNvPr id="38" name="Figure 3 label 37 line 1">
            <a:extLst xmlns:a="http://schemas.openxmlformats.org/drawingml/2006/main">
              <a:ext uri="{FF2B5EF4-FFF2-40B4-BE49-F238E27FC236}">
                <a16:creationId xmlns:a16="http://schemas.microsoft.com/office/drawing/2014/main" id="{ECEF3A8F-260A-4691-BA39-A5A9200C8960}"/>
              </a:ext>
            </a:extLst>
          </p:cNvPr>
          <p:cNvSpPr>
            <a:spLocks xmlns:a="http://schemas.openxmlformats.org/drawingml/2006/main" noGrp="1"/>
          </p:cNvSpPr>
          <p:nvPr/>
        </p:nvSpPr>
        <p:spPr>
          <a:xfrm xmlns:a="http://schemas.openxmlformats.org/drawingml/2006/main" rot="0">
            <a:off x="13104876" y="6239662"/>
            <a:ext cx="26226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Bioreactors, chromatography,</a:t>
            </a:r>
          </a:p>
        </p:txBody>
      </p:sp>
      <p:sp>
        <p:nvSpPr>
          <p:cNvPr id="39" name="Figure 3 label 38 line 1">
            <a:extLst xmlns:a="http://schemas.openxmlformats.org/drawingml/2006/main">
              <a:ext uri="{FF2B5EF4-FFF2-40B4-BE49-F238E27FC236}">
                <a16:creationId xmlns:a16="http://schemas.microsoft.com/office/drawing/2014/main" id="{FA3CB8E8-514C-42F4-91CC-5ADF360C3492}"/>
              </a:ext>
            </a:extLst>
          </p:cNvPr>
          <p:cNvSpPr>
            <a:spLocks xmlns:a="http://schemas.openxmlformats.org/drawingml/2006/main" noGrp="1"/>
          </p:cNvSpPr>
          <p:nvPr/>
        </p:nvSpPr>
        <p:spPr>
          <a:xfrm xmlns:a="http://schemas.openxmlformats.org/drawingml/2006/main" rot="0">
            <a:off x="13104876" y="6463748"/>
            <a:ext cx="14472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QC instruments</a:t>
            </a:r>
          </a:p>
        </p:txBody>
      </p:sp>
      <p:sp>
        <p:nvSpPr>
          <p:cNvPr id="40" name="Figure 3 label 39 line 1">
            <a:extLst xmlns:a="http://schemas.openxmlformats.org/drawingml/2006/main">
              <a:ext uri="{FF2B5EF4-FFF2-40B4-BE49-F238E27FC236}">
                <a16:creationId xmlns:a16="http://schemas.microsoft.com/office/drawing/2014/main" id="{3AFD90CE-809A-44BD-B348-F6E77C72823D}"/>
              </a:ext>
            </a:extLst>
          </p:cNvPr>
          <p:cNvSpPr>
            <a:spLocks xmlns:a="http://schemas.openxmlformats.org/drawingml/2006/main" noGrp="1"/>
          </p:cNvSpPr>
          <p:nvPr/>
        </p:nvSpPr>
        <p:spPr>
          <a:xfrm xmlns:a="http://schemas.openxmlformats.org/drawingml/2006/main" rot="0">
            <a:off x="1253934" y="7249010"/>
            <a:ext cx="1651050"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IVD development</a:t>
            </a:r>
          </a:p>
        </p:txBody>
      </p:sp>
      <p:sp>
        <p:nvSpPr>
          <p:cNvPr id="41" name="Figure 3 label 40 line 1">
            <a:extLst xmlns:a="http://schemas.openxmlformats.org/drawingml/2006/main">
              <a:ext uri="{FF2B5EF4-FFF2-40B4-BE49-F238E27FC236}">
                <a16:creationId xmlns:a16="http://schemas.microsoft.com/office/drawing/2014/main" id="{F92D45B8-9EF7-4214-9959-3CFD2BEE59D9}"/>
              </a:ext>
            </a:extLst>
          </p:cNvPr>
          <p:cNvSpPr>
            <a:spLocks xmlns:a="http://schemas.openxmlformats.org/drawingml/2006/main" noGrp="1"/>
          </p:cNvSpPr>
          <p:nvPr/>
        </p:nvSpPr>
        <p:spPr>
          <a:xfrm xmlns:a="http://schemas.openxmlformats.org/drawingml/2006/main" rot="0">
            <a:off x="5131308" y="7143890"/>
            <a:ext cx="189249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Antigens, antibodies,</a:t>
            </a:r>
          </a:p>
        </p:txBody>
      </p:sp>
      <p:sp>
        <p:nvSpPr>
          <p:cNvPr id="42" name="Figure 3 label 41 line 1">
            <a:extLst xmlns:a="http://schemas.openxmlformats.org/drawingml/2006/main">
              <a:ext uri="{FF2B5EF4-FFF2-40B4-BE49-F238E27FC236}">
                <a16:creationId xmlns:a16="http://schemas.microsoft.com/office/drawing/2014/main" id="{421ED99A-31FD-4822-B326-B3C1F99219DB}"/>
              </a:ext>
            </a:extLst>
          </p:cNvPr>
          <p:cNvSpPr>
            <a:spLocks xmlns:a="http://schemas.openxmlformats.org/drawingml/2006/main" noGrp="1"/>
          </p:cNvSpPr>
          <p:nvPr/>
        </p:nvSpPr>
        <p:spPr>
          <a:xfrm xmlns:a="http://schemas.openxmlformats.org/drawingml/2006/main" rot="0">
            <a:off x="5131308" y="7367977"/>
            <a:ext cx="124628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tool enzymes</a:t>
            </a:r>
          </a:p>
        </p:txBody>
      </p:sp>
      <p:sp>
        <p:nvSpPr>
          <p:cNvPr id="43" name="Figure 3 label 42 line 1">
            <a:extLst xmlns:a="http://schemas.openxmlformats.org/drawingml/2006/main">
              <a:ext uri="{FF2B5EF4-FFF2-40B4-BE49-F238E27FC236}">
                <a16:creationId xmlns:a16="http://schemas.microsoft.com/office/drawing/2014/main" id="{0A8D18B7-B199-4F3D-9ABF-191DE58010D4}"/>
              </a:ext>
            </a:extLst>
          </p:cNvPr>
          <p:cNvSpPr>
            <a:spLocks xmlns:a="http://schemas.openxmlformats.org/drawingml/2006/main" noGrp="1"/>
          </p:cNvSpPr>
          <p:nvPr/>
        </p:nvSpPr>
        <p:spPr>
          <a:xfrm xmlns:a="http://schemas.openxmlformats.org/drawingml/2006/main" rot="0">
            <a:off x="9118092" y="7143890"/>
            <a:ext cx="125685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Assay plates,</a:t>
            </a:r>
          </a:p>
        </p:txBody>
      </p:sp>
      <p:sp>
        <p:nvSpPr>
          <p:cNvPr id="44" name="Figure 3 label 43 line 1">
            <a:extLst xmlns:a="http://schemas.openxmlformats.org/drawingml/2006/main">
              <a:ext uri="{FF2B5EF4-FFF2-40B4-BE49-F238E27FC236}">
                <a16:creationId xmlns:a16="http://schemas.microsoft.com/office/drawing/2014/main" id="{9EC6A424-2DE2-4344-B057-6CF9B29D2066}"/>
              </a:ext>
            </a:extLst>
          </p:cNvPr>
          <p:cNvSpPr>
            <a:spLocks xmlns:a="http://schemas.openxmlformats.org/drawingml/2006/main" noGrp="1"/>
          </p:cNvSpPr>
          <p:nvPr/>
        </p:nvSpPr>
        <p:spPr>
          <a:xfrm xmlns:a="http://schemas.openxmlformats.org/drawingml/2006/main" rot="0">
            <a:off x="9118092" y="7367977"/>
            <a:ext cx="146878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magnetic beads</a:t>
            </a:r>
          </a:p>
        </p:txBody>
      </p:sp>
      <p:sp>
        <p:nvSpPr>
          <p:cNvPr id="45" name="Figure 3 label 44 line 1">
            <a:extLst xmlns:a="http://schemas.openxmlformats.org/drawingml/2006/main">
              <a:ext uri="{FF2B5EF4-FFF2-40B4-BE49-F238E27FC236}">
                <a16:creationId xmlns:a16="http://schemas.microsoft.com/office/drawing/2014/main" id="{7CF21C5B-15FA-42C6-ABBE-C4156297B637}"/>
              </a:ext>
            </a:extLst>
          </p:cNvPr>
          <p:cNvSpPr>
            <a:spLocks xmlns:a="http://schemas.openxmlformats.org/drawingml/2006/main" noGrp="1"/>
          </p:cNvSpPr>
          <p:nvPr/>
        </p:nvSpPr>
        <p:spPr>
          <a:xfrm xmlns:a="http://schemas.openxmlformats.org/drawingml/2006/main" rot="0">
            <a:off x="13104876" y="7145945"/>
            <a:ext cx="130998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Research and</a:t>
            </a:r>
          </a:p>
        </p:txBody>
      </p:sp>
      <p:sp>
        <p:nvSpPr>
          <p:cNvPr id="46" name="Figure 3 label 45 line 1">
            <a:extLst xmlns:a="http://schemas.openxmlformats.org/drawingml/2006/main">
              <a:ext uri="{FF2B5EF4-FFF2-40B4-BE49-F238E27FC236}">
                <a16:creationId xmlns:a16="http://schemas.microsoft.com/office/drawing/2014/main" id="{FBB9FF86-F567-43B1-A2C9-0369CFA3C5E1}"/>
              </a:ext>
            </a:extLst>
          </p:cNvPr>
          <p:cNvSpPr>
            <a:spLocks xmlns:a="http://schemas.openxmlformats.org/drawingml/2006/main" noGrp="1"/>
          </p:cNvSpPr>
          <p:nvPr/>
        </p:nvSpPr>
        <p:spPr>
          <a:xfrm xmlns:a="http://schemas.openxmlformats.org/drawingml/2006/main" rot="0">
            <a:off x="13104876" y="7367977"/>
            <a:ext cx="14472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QC instruments</a:t>
            </a:r>
          </a:p>
        </p:txBody>
      </p:sp>
      <p:sp>
        <p:nvSpPr>
          <p:cNvPr id="47" name="Figure 3 label 46 line 1">
            <a:extLst xmlns:a="http://schemas.openxmlformats.org/drawingml/2006/main">
              <a:ext uri="{FF2B5EF4-FFF2-40B4-BE49-F238E27FC236}">
                <a16:creationId xmlns:a16="http://schemas.microsoft.com/office/drawing/2014/main" id="{FDDD823D-98FC-42EF-8DA4-63DA94E1781B}"/>
              </a:ext>
            </a:extLst>
          </p:cNvPr>
          <p:cNvSpPr>
            <a:spLocks xmlns:a="http://schemas.openxmlformats.org/drawingml/2006/main" noGrp="1"/>
          </p:cNvSpPr>
          <p:nvPr/>
        </p:nvSpPr>
        <p:spPr>
          <a:xfrm xmlns:a="http://schemas.openxmlformats.org/drawingml/2006/main" rot="0">
            <a:off x="4735388" y="8326469"/>
            <a:ext cx="8817223"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00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000" b="1">
                <a:solidFill>
                  <a:srgbClr val="00355F"/>
                </a:solidFill>
                <a:latin typeface="Arial Unicode MS"/>
                <a:ea typeface="Arial Unicode MS"/>
                <a:cs typeface="Arial Unicode MS"/>
              </a:defRPr>
            </a:pPr>
            <a:r>
              <a:rPr sz="2000" b="1">
                <a:solidFill>
                  <a:srgbClr val="00355F"/>
                </a:solidFill>
                <a:latin typeface="Arial Unicode MS"/>
                <a:ea typeface="Arial Unicode MS"/>
                <a:cs typeface="Arial Unicode MS"/>
              </a:rPr>
              <a:t>An instrument supplier’s total China sales are not its China life-science sales.</a:t>
            </a:r>
          </a:p>
        </p:txBody>
      </p:sp>
    </p:spTree>
    <p:extLst>
      <p:ext uri="{BB962C8B-B14F-4D97-AF65-F5344CB8AC3E}">
        <p14:creationId xmlns:p14="http://schemas.microsoft.com/office/powerpoint/2010/main" val="35573641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7" name="">
            <a:extLst xmlns:a="http://schemas.openxmlformats.org/drawingml/2006/main">
              <a:ext uri="{FF2B5EF4-FFF2-40B4-BE49-F238E27FC236}">
                <a16:creationId xmlns:a16="http://schemas.microsoft.com/office/drawing/2014/main" id="{4327453F-46AF-4CC3-909E-918D5EB25524}"/>
              </a:ext>
            </a:extLst>
          </p:cNvPr>
          <p:cNvPicPr>
            <a:picLocks xmlns:a="http://schemas.openxmlformats.org/drawingml/2006/main" noChangeAspect="1"/>
          </p:cNvPicPr>
          <p:nvPr/>
        </p:nvPicPr>
        <p:blipFill>
          <a:blip xmlns:r="http://schemas.openxmlformats.org/officeDocument/2006/relationships" xmlns:a="http://schemas.openxmlformats.org/drawingml/2006/main" r:embed="Rc32047126a34427f"/>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4 label 1 line 1">
            <a:extLst xmlns:a="http://schemas.openxmlformats.org/drawingml/2006/main">
              <a:ext uri="{FF2B5EF4-FFF2-40B4-BE49-F238E27FC236}">
                <a16:creationId xmlns:a16="http://schemas.microsoft.com/office/drawing/2014/main" id="{C927FACB-4EAD-40BF-A63D-515992F5C16A}"/>
              </a:ext>
            </a:extLst>
          </p:cNvPr>
          <p:cNvSpPr>
            <a:spLocks xmlns:a="http://schemas.openxmlformats.org/drawingml/2006/main" noGrp="1"/>
          </p:cNvSpPr>
          <p:nvPr/>
        </p:nvSpPr>
        <p:spPr>
          <a:xfrm xmlns:a="http://schemas.openxmlformats.org/drawingml/2006/main" rot="0">
            <a:off x="991870" y="421920"/>
            <a:ext cx="6360517"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04  AI discovery and its LST touchpoints</a:t>
            </a:r>
          </a:p>
        </p:txBody>
      </p:sp>
      <p:sp>
        <p:nvSpPr>
          <p:cNvPr id="3" name="Figure 4 label 2 line 1">
            <a:extLst xmlns:a="http://schemas.openxmlformats.org/drawingml/2006/main">
              <a:ext uri="{FF2B5EF4-FFF2-40B4-BE49-F238E27FC236}">
                <a16:creationId xmlns:a16="http://schemas.microsoft.com/office/drawing/2014/main" id="{064048E6-82A2-44E2-8E3F-FAF0CB181EAD}"/>
              </a:ext>
            </a:extLst>
          </p:cNvPr>
          <p:cNvSpPr>
            <a:spLocks xmlns:a="http://schemas.openxmlformats.org/drawingml/2006/main" noGrp="1"/>
          </p:cNvSpPr>
          <p:nvPr/>
        </p:nvSpPr>
        <p:spPr>
          <a:xfrm xmlns:a="http://schemas.openxmlformats.org/drawingml/2006/main" rot="0">
            <a:off x="15720815" y="661601"/>
            <a:ext cx="1019572"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MECHANISM</a:t>
            </a:r>
          </a:p>
        </p:txBody>
      </p:sp>
      <p:sp>
        <p:nvSpPr>
          <p:cNvPr id="4" name="Figure 4 label 3 line 1">
            <a:extLst xmlns:a="http://schemas.openxmlformats.org/drawingml/2006/main">
              <a:ext uri="{FF2B5EF4-FFF2-40B4-BE49-F238E27FC236}">
                <a16:creationId xmlns:a16="http://schemas.microsoft.com/office/drawing/2014/main" id="{AB58178B-CA78-4958-B3E9-131958E56C1E}"/>
              </a:ext>
            </a:extLst>
          </p:cNvPr>
          <p:cNvSpPr>
            <a:spLocks xmlns:a="http://schemas.openxmlformats.org/drawingml/2006/main" noGrp="1"/>
          </p:cNvSpPr>
          <p:nvPr/>
        </p:nvSpPr>
        <p:spPr>
          <a:xfrm xmlns:a="http://schemas.openxmlformats.org/drawingml/2006/main" rot="0">
            <a:off x="998220" y="1249487"/>
            <a:ext cx="89664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AI candidates need physical construction and experimental feedback. Orders depend on funded projects.</a:t>
            </a:r>
          </a:p>
        </p:txBody>
      </p:sp>
      <p:sp>
        <p:nvSpPr>
          <p:cNvPr id="5" name="Figure 4 label 4 line 1">
            <a:extLst xmlns:a="http://schemas.openxmlformats.org/drawingml/2006/main">
              <a:ext uri="{FF2B5EF4-FFF2-40B4-BE49-F238E27FC236}">
                <a16:creationId xmlns:a16="http://schemas.microsoft.com/office/drawing/2014/main" id="{9D0481EA-D100-4A01-8F6D-30CED58D31C2}"/>
              </a:ext>
            </a:extLst>
          </p:cNvPr>
          <p:cNvSpPr>
            <a:spLocks xmlns:a="http://schemas.openxmlformats.org/drawingml/2006/main" noGrp="1"/>
          </p:cNvSpPr>
          <p:nvPr/>
        </p:nvSpPr>
        <p:spPr>
          <a:xfrm xmlns:a="http://schemas.openxmlformats.org/drawingml/2006/main" rot="0">
            <a:off x="999173" y="9256035"/>
            <a:ext cx="770617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Stages 2–3 have more direct exposure. Clinical and manufacturing demand face attrition and time lags.</a:t>
            </a:r>
          </a:p>
        </p:txBody>
      </p:sp>
      <p:sp>
        <p:nvSpPr>
          <p:cNvPr id="6" name="Figure 4 label 5 line 1">
            <a:extLst xmlns:a="http://schemas.openxmlformats.org/drawingml/2006/main">
              <a:ext uri="{FF2B5EF4-FFF2-40B4-BE49-F238E27FC236}">
                <a16:creationId xmlns:a16="http://schemas.microsoft.com/office/drawing/2014/main" id="{4A4EE31A-77D6-4B4E-B360-5F8326CB413F}"/>
              </a:ext>
            </a:extLst>
          </p:cNvPr>
          <p:cNvSpPr>
            <a:spLocks xmlns:a="http://schemas.openxmlformats.org/drawingml/2006/main" noGrp="1"/>
          </p:cNvSpPr>
          <p:nvPr/>
        </p:nvSpPr>
        <p:spPr>
          <a:xfrm xmlns:a="http://schemas.openxmlformats.org/drawingml/2006/main" rot="0">
            <a:off x="1000316" y="9676290"/>
            <a:ext cx="6595050"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product-use research. Arrows describe a mechanism, not realized orders.</a:t>
            </a:r>
          </a:p>
        </p:txBody>
      </p:sp>
      <p:sp>
        <p:nvSpPr>
          <p:cNvPr id="7" name="Figure 4 label 6 line 1">
            <a:extLst xmlns:a="http://schemas.openxmlformats.org/drawingml/2006/main">
              <a:ext uri="{FF2B5EF4-FFF2-40B4-BE49-F238E27FC236}">
                <a16:creationId xmlns:a16="http://schemas.microsoft.com/office/drawing/2014/main" id="{4329BA06-4C1D-474A-A0B8-E1E7310D06EA}"/>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8" name="Figure 4 label 7 line 1">
            <a:extLst xmlns:a="http://schemas.openxmlformats.org/drawingml/2006/main">
              <a:ext uri="{FF2B5EF4-FFF2-40B4-BE49-F238E27FC236}">
                <a16:creationId xmlns:a16="http://schemas.microsoft.com/office/drawing/2014/main" id="{92B4E161-E2F4-4743-94ED-4388CA103988}"/>
              </a:ext>
            </a:extLst>
          </p:cNvPr>
          <p:cNvSpPr>
            <a:spLocks xmlns:a="http://schemas.openxmlformats.org/drawingml/2006/main" noGrp="1"/>
          </p:cNvSpPr>
          <p:nvPr/>
        </p:nvSpPr>
        <p:spPr>
          <a:xfrm xmlns:a="http://schemas.openxmlformats.org/drawingml/2006/main" rot="0">
            <a:off x="1054227"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0</a:t>
            </a:r>
          </a:p>
        </p:txBody>
      </p:sp>
      <p:sp>
        <p:nvSpPr>
          <p:cNvPr id="9" name="Figure 4 label 8 line 1">
            <a:extLst xmlns:a="http://schemas.openxmlformats.org/drawingml/2006/main">
              <a:ext uri="{FF2B5EF4-FFF2-40B4-BE49-F238E27FC236}">
                <a16:creationId xmlns:a16="http://schemas.microsoft.com/office/drawing/2014/main" id="{29AD1958-ABD6-4569-9609-A122F1AD10FF}"/>
              </a:ext>
            </a:extLst>
          </p:cNvPr>
          <p:cNvSpPr>
            <a:spLocks xmlns:a="http://schemas.openxmlformats.org/drawingml/2006/main" noGrp="1"/>
          </p:cNvSpPr>
          <p:nvPr/>
        </p:nvSpPr>
        <p:spPr>
          <a:xfrm xmlns:a="http://schemas.openxmlformats.org/drawingml/2006/main" rot="0">
            <a:off x="1372985" y="3438342"/>
            <a:ext cx="1478558"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Data / targets</a:t>
            </a:r>
          </a:p>
        </p:txBody>
      </p:sp>
      <p:sp>
        <p:nvSpPr>
          <p:cNvPr id="10" name="Figure 4 label 9 line 1">
            <a:extLst xmlns:a="http://schemas.openxmlformats.org/drawingml/2006/main">
              <a:ext uri="{FF2B5EF4-FFF2-40B4-BE49-F238E27FC236}">
                <a16:creationId xmlns:a16="http://schemas.microsoft.com/office/drawing/2014/main" id="{EFB745BD-D362-4593-8CD0-862E4C0E215A}"/>
              </a:ext>
            </a:extLst>
          </p:cNvPr>
          <p:cNvSpPr>
            <a:spLocks xmlns:a="http://schemas.openxmlformats.org/drawingml/2006/main" noGrp="1"/>
          </p:cNvSpPr>
          <p:nvPr/>
        </p:nvSpPr>
        <p:spPr>
          <a:xfrm xmlns:a="http://schemas.openxmlformats.org/drawingml/2006/main" rot="0">
            <a:off x="998982" y="5252960"/>
            <a:ext cx="199858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Sequencing / proteomics</a:t>
            </a:r>
          </a:p>
        </p:txBody>
      </p:sp>
      <p:sp>
        <p:nvSpPr>
          <p:cNvPr id="11" name="Figure 4 label 10 line 1">
            <a:extLst xmlns:a="http://schemas.openxmlformats.org/drawingml/2006/main">
              <a:ext uri="{FF2B5EF4-FFF2-40B4-BE49-F238E27FC236}">
                <a16:creationId xmlns:a16="http://schemas.microsoft.com/office/drawing/2014/main" id="{5D52BE4C-6141-4060-A286-5C11F8285748}"/>
              </a:ext>
            </a:extLst>
          </p:cNvPr>
          <p:cNvSpPr>
            <a:spLocks xmlns:a="http://schemas.openxmlformats.org/drawingml/2006/main" noGrp="1"/>
          </p:cNvSpPr>
          <p:nvPr/>
        </p:nvSpPr>
        <p:spPr>
          <a:xfrm xmlns:a="http://schemas.openxmlformats.org/drawingml/2006/main" rot="0">
            <a:off x="998982" y="5551066"/>
            <a:ext cx="155031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CRISPR screening</a:t>
            </a:r>
          </a:p>
        </p:txBody>
      </p:sp>
      <p:sp>
        <p:nvSpPr>
          <p:cNvPr id="12" name="Figure 4 label 11 line 1">
            <a:extLst xmlns:a="http://schemas.openxmlformats.org/drawingml/2006/main">
              <a:ext uri="{FF2B5EF4-FFF2-40B4-BE49-F238E27FC236}">
                <a16:creationId xmlns:a16="http://schemas.microsoft.com/office/drawing/2014/main" id="{B62DF07E-8B37-45D6-8BF2-90207D1AB694}"/>
              </a:ext>
            </a:extLst>
          </p:cNvPr>
          <p:cNvSpPr>
            <a:spLocks xmlns:a="http://schemas.openxmlformats.org/drawingml/2006/main" noGrp="1"/>
          </p:cNvSpPr>
          <p:nvPr/>
        </p:nvSpPr>
        <p:spPr>
          <a:xfrm xmlns:a="http://schemas.openxmlformats.org/drawingml/2006/main" rot="0">
            <a:off x="998982" y="5844784"/>
            <a:ext cx="202700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Research data resources</a:t>
            </a:r>
          </a:p>
        </p:txBody>
      </p:sp>
      <p:sp>
        <p:nvSpPr>
          <p:cNvPr id="13" name="Figure 4 label 12 line 1">
            <a:extLst xmlns:a="http://schemas.openxmlformats.org/drawingml/2006/main">
              <a:ext uri="{FF2B5EF4-FFF2-40B4-BE49-F238E27FC236}">
                <a16:creationId xmlns:a16="http://schemas.microsoft.com/office/drawing/2014/main" id="{0DA94588-DBE0-445B-AABB-D6E6B52F675C}"/>
              </a:ext>
            </a:extLst>
          </p:cNvPr>
          <p:cNvSpPr>
            <a:spLocks xmlns:a="http://schemas.openxmlformats.org/drawingml/2006/main" noGrp="1"/>
          </p:cNvSpPr>
          <p:nvPr/>
        </p:nvSpPr>
        <p:spPr>
          <a:xfrm xmlns:a="http://schemas.openxmlformats.org/drawingml/2006/main" rot="0">
            <a:off x="1581196" y="6998393"/>
            <a:ext cx="1062137"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Generate data</a:t>
            </a:r>
          </a:p>
        </p:txBody>
      </p:sp>
      <p:sp>
        <p:nvSpPr>
          <p:cNvPr id="14" name="Figure 4 label 13 line 1">
            <a:extLst xmlns:a="http://schemas.openxmlformats.org/drawingml/2006/main">
              <a:ext uri="{FF2B5EF4-FFF2-40B4-BE49-F238E27FC236}">
                <a16:creationId xmlns:a16="http://schemas.microsoft.com/office/drawing/2014/main" id="{7D06DB46-EC0A-4558-B484-600021872377}"/>
              </a:ext>
            </a:extLst>
          </p:cNvPr>
          <p:cNvSpPr>
            <a:spLocks xmlns:a="http://schemas.openxmlformats.org/drawingml/2006/main" noGrp="1"/>
          </p:cNvSpPr>
          <p:nvPr/>
        </p:nvSpPr>
        <p:spPr>
          <a:xfrm xmlns:a="http://schemas.openxmlformats.org/drawingml/2006/main" rot="0">
            <a:off x="3870579"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1</a:t>
            </a:r>
          </a:p>
        </p:txBody>
      </p:sp>
      <p:sp>
        <p:nvSpPr>
          <p:cNvPr id="15" name="Figure 4 label 14 line 1">
            <a:extLst xmlns:a="http://schemas.openxmlformats.org/drawingml/2006/main">
              <a:ext uri="{FF2B5EF4-FFF2-40B4-BE49-F238E27FC236}">
                <a16:creationId xmlns:a16="http://schemas.microsoft.com/office/drawing/2014/main" id="{AFF0C172-2919-4DA4-BC67-E31C79046371}"/>
              </a:ext>
            </a:extLst>
          </p:cNvPr>
          <p:cNvSpPr>
            <a:spLocks xmlns:a="http://schemas.openxmlformats.org/drawingml/2006/main" noGrp="1"/>
          </p:cNvSpPr>
          <p:nvPr/>
        </p:nvSpPr>
        <p:spPr>
          <a:xfrm xmlns:a="http://schemas.openxmlformats.org/drawingml/2006/main" rot="0">
            <a:off x="4183160" y="3438342"/>
            <a:ext cx="1490911"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Virtual design</a:t>
            </a:r>
          </a:p>
        </p:txBody>
      </p:sp>
      <p:sp>
        <p:nvSpPr>
          <p:cNvPr id="16" name="Figure 4 label 15 line 1">
            <a:extLst xmlns:a="http://schemas.openxmlformats.org/drawingml/2006/main">
              <a:ext uri="{FF2B5EF4-FFF2-40B4-BE49-F238E27FC236}">
                <a16:creationId xmlns:a16="http://schemas.microsoft.com/office/drawing/2014/main" id="{0F9D3564-6279-4603-90DC-BC203382941B}"/>
              </a:ext>
            </a:extLst>
          </p:cNvPr>
          <p:cNvSpPr>
            <a:spLocks xmlns:a="http://schemas.openxmlformats.org/drawingml/2006/main" noGrp="1"/>
          </p:cNvSpPr>
          <p:nvPr/>
        </p:nvSpPr>
        <p:spPr>
          <a:xfrm xmlns:a="http://schemas.openxmlformats.org/drawingml/2006/main" rot="0">
            <a:off x="3815334" y="5251915"/>
            <a:ext cx="216988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Models / compute / ranking</a:t>
            </a:r>
          </a:p>
        </p:txBody>
      </p:sp>
      <p:sp>
        <p:nvSpPr>
          <p:cNvPr id="17" name="Figure 4 label 16 line 1">
            <a:extLst xmlns:a="http://schemas.openxmlformats.org/drawingml/2006/main">
              <a:ext uri="{FF2B5EF4-FFF2-40B4-BE49-F238E27FC236}">
                <a16:creationId xmlns:a16="http://schemas.microsoft.com/office/drawing/2014/main" id="{432EFE43-A704-4213-A894-17C7CD0E9BDD}"/>
              </a:ext>
            </a:extLst>
          </p:cNvPr>
          <p:cNvSpPr>
            <a:spLocks xmlns:a="http://schemas.openxmlformats.org/drawingml/2006/main" noGrp="1"/>
          </p:cNvSpPr>
          <p:nvPr/>
        </p:nvSpPr>
        <p:spPr>
          <a:xfrm xmlns:a="http://schemas.openxmlformats.org/drawingml/2006/main" rot="0">
            <a:off x="3815334" y="5545633"/>
            <a:ext cx="196985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Less direct LST demand</a:t>
            </a:r>
          </a:p>
        </p:txBody>
      </p:sp>
      <p:sp>
        <p:nvSpPr>
          <p:cNvPr id="18" name="Figure 4 label 17 line 1">
            <a:extLst xmlns:a="http://schemas.openxmlformats.org/drawingml/2006/main">
              <a:ext uri="{FF2B5EF4-FFF2-40B4-BE49-F238E27FC236}">
                <a16:creationId xmlns:a16="http://schemas.microsoft.com/office/drawing/2014/main" id="{C8A2CE83-00CD-4D38-8649-52CE4B8DC3F0}"/>
              </a:ext>
            </a:extLst>
          </p:cNvPr>
          <p:cNvSpPr>
            <a:spLocks xmlns:a="http://schemas.openxmlformats.org/drawingml/2006/main" noGrp="1"/>
          </p:cNvSpPr>
          <p:nvPr/>
        </p:nvSpPr>
        <p:spPr>
          <a:xfrm xmlns:a="http://schemas.openxmlformats.org/drawingml/2006/main" rot="0">
            <a:off x="3815334" y="5841891"/>
            <a:ext cx="136963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Candidate triage</a:t>
            </a:r>
          </a:p>
        </p:txBody>
      </p:sp>
      <p:sp>
        <p:nvSpPr>
          <p:cNvPr id="19" name="Figure 4 label 18 line 1">
            <a:extLst xmlns:a="http://schemas.openxmlformats.org/drawingml/2006/main">
              <a:ext uri="{FF2B5EF4-FFF2-40B4-BE49-F238E27FC236}">
                <a16:creationId xmlns:a16="http://schemas.microsoft.com/office/drawing/2014/main" id="{0242DB53-6560-4FD2-A535-BA4EAB8CD5DD}"/>
              </a:ext>
            </a:extLst>
          </p:cNvPr>
          <p:cNvSpPr>
            <a:spLocks xmlns:a="http://schemas.openxmlformats.org/drawingml/2006/main" noGrp="1"/>
          </p:cNvSpPr>
          <p:nvPr/>
        </p:nvSpPr>
        <p:spPr>
          <a:xfrm xmlns:a="http://schemas.openxmlformats.org/drawingml/2006/main" rot="0">
            <a:off x="4259286" y="6997580"/>
            <a:ext cx="133865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Design candidates</a:t>
            </a:r>
          </a:p>
        </p:txBody>
      </p:sp>
      <p:sp>
        <p:nvSpPr>
          <p:cNvPr id="20" name="Figure 4 label 19 line 1">
            <a:extLst xmlns:a="http://schemas.openxmlformats.org/drawingml/2006/main">
              <a:ext uri="{FF2B5EF4-FFF2-40B4-BE49-F238E27FC236}">
                <a16:creationId xmlns:a16="http://schemas.microsoft.com/office/drawing/2014/main" id="{42C8AD88-1B5B-46BE-987E-8401B2AFAECA}"/>
              </a:ext>
            </a:extLst>
          </p:cNvPr>
          <p:cNvSpPr>
            <a:spLocks xmlns:a="http://schemas.openxmlformats.org/drawingml/2006/main" noGrp="1"/>
          </p:cNvSpPr>
          <p:nvPr/>
        </p:nvSpPr>
        <p:spPr>
          <a:xfrm xmlns:a="http://schemas.openxmlformats.org/drawingml/2006/main" rot="0">
            <a:off x="6686931"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2</a:t>
            </a:r>
          </a:p>
        </p:txBody>
      </p:sp>
      <p:sp>
        <p:nvSpPr>
          <p:cNvPr id="21" name="Figure 4 label 20 line 1">
            <a:extLst xmlns:a="http://schemas.openxmlformats.org/drawingml/2006/main">
              <a:ext uri="{FF2B5EF4-FFF2-40B4-BE49-F238E27FC236}">
                <a16:creationId xmlns:a16="http://schemas.microsoft.com/office/drawing/2014/main" id="{5C6D415F-E5F0-4A4E-95B2-43211B9EE85D}"/>
              </a:ext>
            </a:extLst>
          </p:cNvPr>
          <p:cNvSpPr>
            <a:spLocks xmlns:a="http://schemas.openxmlformats.org/drawingml/2006/main" noGrp="1"/>
          </p:cNvSpPr>
          <p:nvPr/>
        </p:nvSpPr>
        <p:spPr>
          <a:xfrm xmlns:a="http://schemas.openxmlformats.org/drawingml/2006/main" rot="0">
            <a:off x="6993337" y="3438342"/>
            <a:ext cx="1503263"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Physical build</a:t>
            </a:r>
          </a:p>
        </p:txBody>
      </p:sp>
      <p:sp>
        <p:nvSpPr>
          <p:cNvPr id="22" name="Figure 4 label 21 line 1">
            <a:extLst xmlns:a="http://schemas.openxmlformats.org/drawingml/2006/main">
              <a:ext uri="{FF2B5EF4-FFF2-40B4-BE49-F238E27FC236}">
                <a16:creationId xmlns:a16="http://schemas.microsoft.com/office/drawing/2014/main" id="{1434A54C-16F2-4DCA-8854-6DAF45AF1A18}"/>
              </a:ext>
            </a:extLst>
          </p:cNvPr>
          <p:cNvSpPr>
            <a:spLocks xmlns:a="http://schemas.openxmlformats.org/drawingml/2006/main" noGrp="1"/>
          </p:cNvSpPr>
          <p:nvPr/>
        </p:nvSpPr>
        <p:spPr>
          <a:xfrm xmlns:a="http://schemas.openxmlformats.org/drawingml/2006/main" rot="0">
            <a:off x="6631686" y="5253185"/>
            <a:ext cx="17600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Building blocks / DNA</a:t>
            </a:r>
          </a:p>
        </p:txBody>
      </p:sp>
      <p:sp>
        <p:nvSpPr>
          <p:cNvPr id="23" name="Figure 4 label 22 line 1">
            <a:extLst xmlns:a="http://schemas.openxmlformats.org/drawingml/2006/main">
              <a:ext uri="{FF2B5EF4-FFF2-40B4-BE49-F238E27FC236}">
                <a16:creationId xmlns:a16="http://schemas.microsoft.com/office/drawing/2014/main" id="{67D5BD9B-D30E-4D19-A579-3947322001AE}"/>
              </a:ext>
            </a:extLst>
          </p:cNvPr>
          <p:cNvSpPr>
            <a:spLocks xmlns:a="http://schemas.openxmlformats.org/drawingml/2006/main" noGrp="1"/>
          </p:cNvSpPr>
          <p:nvPr/>
        </p:nvSpPr>
        <p:spPr>
          <a:xfrm xmlns:a="http://schemas.openxmlformats.org/drawingml/2006/main" rot="0">
            <a:off x="6631686" y="5546903"/>
            <a:ext cx="156936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Enzymes / proteins</a:t>
            </a:r>
          </a:p>
        </p:txBody>
      </p:sp>
      <p:sp>
        <p:nvSpPr>
          <p:cNvPr id="24" name="Figure 4 label 23 line 1">
            <a:extLst xmlns:a="http://schemas.openxmlformats.org/drawingml/2006/main">
              <a:ext uri="{FF2B5EF4-FFF2-40B4-BE49-F238E27FC236}">
                <a16:creationId xmlns:a16="http://schemas.microsoft.com/office/drawing/2014/main" id="{D3267365-E16A-4B5F-9F07-4B8F1CDAAF98}"/>
              </a:ext>
            </a:extLst>
          </p:cNvPr>
          <p:cNvSpPr>
            <a:spLocks xmlns:a="http://schemas.openxmlformats.org/drawingml/2006/main" noGrp="1"/>
          </p:cNvSpPr>
          <p:nvPr/>
        </p:nvSpPr>
        <p:spPr>
          <a:xfrm xmlns:a="http://schemas.openxmlformats.org/drawingml/2006/main" rot="0">
            <a:off x="6631686" y="5840621"/>
            <a:ext cx="213178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Analytical chromatography</a:t>
            </a:r>
          </a:p>
        </p:txBody>
      </p:sp>
      <p:sp>
        <p:nvSpPr>
          <p:cNvPr id="25" name="Figure 4 label 24 line 1">
            <a:extLst xmlns:a="http://schemas.openxmlformats.org/drawingml/2006/main">
              <a:ext uri="{FF2B5EF4-FFF2-40B4-BE49-F238E27FC236}">
                <a16:creationId xmlns:a16="http://schemas.microsoft.com/office/drawing/2014/main" id="{BB55453A-6C24-4C95-9253-B6B67F42191C}"/>
              </a:ext>
            </a:extLst>
          </p:cNvPr>
          <p:cNvSpPr>
            <a:spLocks xmlns:a="http://schemas.openxmlformats.org/drawingml/2006/main" noGrp="1"/>
          </p:cNvSpPr>
          <p:nvPr/>
        </p:nvSpPr>
        <p:spPr>
          <a:xfrm xmlns:a="http://schemas.openxmlformats.org/drawingml/2006/main" rot="0">
            <a:off x="7142686" y="6998393"/>
            <a:ext cx="120456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Build candidates</a:t>
            </a:r>
          </a:p>
        </p:txBody>
      </p:sp>
      <p:sp>
        <p:nvSpPr>
          <p:cNvPr id="26" name="Figure 4 label 25 line 1">
            <a:extLst xmlns:a="http://schemas.openxmlformats.org/drawingml/2006/main">
              <a:ext uri="{FF2B5EF4-FFF2-40B4-BE49-F238E27FC236}">
                <a16:creationId xmlns:a16="http://schemas.microsoft.com/office/drawing/2014/main" id="{04D8C061-268A-4C37-8F40-CC3E63F2220A}"/>
              </a:ext>
            </a:extLst>
          </p:cNvPr>
          <p:cNvSpPr>
            <a:spLocks xmlns:a="http://schemas.openxmlformats.org/drawingml/2006/main" noGrp="1"/>
          </p:cNvSpPr>
          <p:nvPr/>
        </p:nvSpPr>
        <p:spPr>
          <a:xfrm xmlns:a="http://schemas.openxmlformats.org/drawingml/2006/main" rot="0">
            <a:off x="9503283"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3</a:t>
            </a:r>
          </a:p>
        </p:txBody>
      </p:sp>
      <p:sp>
        <p:nvSpPr>
          <p:cNvPr id="27" name="Figure 4 label 26 line 1">
            <a:extLst xmlns:a="http://schemas.openxmlformats.org/drawingml/2006/main">
              <a:ext uri="{FF2B5EF4-FFF2-40B4-BE49-F238E27FC236}">
                <a16:creationId xmlns:a16="http://schemas.microsoft.com/office/drawing/2014/main" id="{4C5BA493-53E5-4B38-B2DD-60C5B0677CE1}"/>
              </a:ext>
            </a:extLst>
          </p:cNvPr>
          <p:cNvSpPr>
            <a:spLocks xmlns:a="http://schemas.openxmlformats.org/drawingml/2006/main" noGrp="1"/>
          </p:cNvSpPr>
          <p:nvPr/>
        </p:nvSpPr>
        <p:spPr>
          <a:xfrm xmlns:a="http://schemas.openxmlformats.org/drawingml/2006/main" rot="0">
            <a:off x="9840720" y="3439540"/>
            <a:ext cx="1441202"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Wet-lab tests</a:t>
            </a:r>
          </a:p>
        </p:txBody>
      </p:sp>
      <p:sp>
        <p:nvSpPr>
          <p:cNvPr id="28" name="Figure 4 label 27 line 1">
            <a:extLst xmlns:a="http://schemas.openxmlformats.org/drawingml/2006/main">
              <a:ext uri="{FF2B5EF4-FFF2-40B4-BE49-F238E27FC236}">
                <a16:creationId xmlns:a16="http://schemas.microsoft.com/office/drawing/2014/main" id="{AAB5912A-C40F-47E2-A11E-EF21F81846D6}"/>
              </a:ext>
            </a:extLst>
          </p:cNvPr>
          <p:cNvSpPr>
            <a:spLocks xmlns:a="http://schemas.openxmlformats.org/drawingml/2006/main" noGrp="1"/>
          </p:cNvSpPr>
          <p:nvPr/>
        </p:nvSpPr>
        <p:spPr>
          <a:xfrm xmlns:a="http://schemas.openxmlformats.org/drawingml/2006/main" rot="0">
            <a:off x="9448038" y="5254230"/>
            <a:ext cx="177891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Cells / media / assays</a:t>
            </a:r>
          </a:p>
        </p:txBody>
      </p:sp>
      <p:sp>
        <p:nvSpPr>
          <p:cNvPr id="29" name="Figure 4 label 28 line 1">
            <a:extLst xmlns:a="http://schemas.openxmlformats.org/drawingml/2006/main">
              <a:ext uri="{FF2B5EF4-FFF2-40B4-BE49-F238E27FC236}">
                <a16:creationId xmlns:a16="http://schemas.microsoft.com/office/drawing/2014/main" id="{A57AB434-1F0D-4F65-87ED-0464F93ED851}"/>
              </a:ext>
            </a:extLst>
          </p:cNvPr>
          <p:cNvSpPr>
            <a:spLocks xmlns:a="http://schemas.openxmlformats.org/drawingml/2006/main" noGrp="1"/>
          </p:cNvSpPr>
          <p:nvPr/>
        </p:nvSpPr>
        <p:spPr>
          <a:xfrm xmlns:a="http://schemas.openxmlformats.org/drawingml/2006/main" rot="0">
            <a:off x="9448038" y="5547948"/>
            <a:ext cx="18271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Plates / liquid handling</a:t>
            </a:r>
          </a:p>
        </p:txBody>
      </p:sp>
      <p:sp>
        <p:nvSpPr>
          <p:cNvPr id="30" name="Figure 4 label 29 line 1">
            <a:extLst xmlns:a="http://schemas.openxmlformats.org/drawingml/2006/main">
              <a:ext uri="{FF2B5EF4-FFF2-40B4-BE49-F238E27FC236}">
                <a16:creationId xmlns:a16="http://schemas.microsoft.com/office/drawing/2014/main" id="{39488D9A-9356-4E6D-97BB-78C7FC4613D3}"/>
              </a:ext>
            </a:extLst>
          </p:cNvPr>
          <p:cNvSpPr>
            <a:spLocks xmlns:a="http://schemas.openxmlformats.org/drawingml/2006/main" noGrp="1"/>
          </p:cNvSpPr>
          <p:nvPr/>
        </p:nvSpPr>
        <p:spPr>
          <a:xfrm xmlns:a="http://schemas.openxmlformats.org/drawingml/2006/main" rot="0">
            <a:off x="9448038" y="5841666"/>
            <a:ext cx="198905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High-throughput imaging</a:t>
            </a:r>
          </a:p>
        </p:txBody>
      </p:sp>
      <p:sp>
        <p:nvSpPr>
          <p:cNvPr id="31" name="Figure 4 label 30 line 1">
            <a:extLst xmlns:a="http://schemas.openxmlformats.org/drawingml/2006/main">
              <a:ext uri="{FF2B5EF4-FFF2-40B4-BE49-F238E27FC236}">
                <a16:creationId xmlns:a16="http://schemas.microsoft.com/office/drawing/2014/main" id="{D217E6BC-9D3E-44D1-9098-3036211FAAA4}"/>
              </a:ext>
            </a:extLst>
          </p:cNvPr>
          <p:cNvSpPr>
            <a:spLocks xmlns:a="http://schemas.openxmlformats.org/drawingml/2006/main" noGrp="1"/>
          </p:cNvSpPr>
          <p:nvPr/>
        </p:nvSpPr>
        <p:spPr>
          <a:xfrm xmlns:a="http://schemas.openxmlformats.org/drawingml/2006/main" rot="0">
            <a:off x="9959038" y="6998393"/>
            <a:ext cx="120456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Create feedback</a:t>
            </a:r>
          </a:p>
        </p:txBody>
      </p:sp>
      <p:sp>
        <p:nvSpPr>
          <p:cNvPr id="32" name="Figure 4 label 31 line 1">
            <a:extLst xmlns:a="http://schemas.openxmlformats.org/drawingml/2006/main">
              <a:ext uri="{FF2B5EF4-FFF2-40B4-BE49-F238E27FC236}">
                <a16:creationId xmlns:a16="http://schemas.microsoft.com/office/drawing/2014/main" id="{AD087CEF-76AC-4129-BD25-16DC0ABCFE8F}"/>
              </a:ext>
            </a:extLst>
          </p:cNvPr>
          <p:cNvSpPr>
            <a:spLocks xmlns:a="http://schemas.openxmlformats.org/drawingml/2006/main" noGrp="1"/>
          </p:cNvSpPr>
          <p:nvPr/>
        </p:nvSpPr>
        <p:spPr>
          <a:xfrm xmlns:a="http://schemas.openxmlformats.org/drawingml/2006/main" rot="0">
            <a:off x="12319635"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4</a:t>
            </a:r>
          </a:p>
        </p:txBody>
      </p:sp>
      <p:sp>
        <p:nvSpPr>
          <p:cNvPr id="33" name="Figure 4 label 32 line 1">
            <a:extLst xmlns:a="http://schemas.openxmlformats.org/drawingml/2006/main">
              <a:ext uri="{FF2B5EF4-FFF2-40B4-BE49-F238E27FC236}">
                <a16:creationId xmlns:a16="http://schemas.microsoft.com/office/drawing/2014/main" id="{D2EB8C8A-677B-4C91-A6E1-9D86D44FC1CC}"/>
              </a:ext>
            </a:extLst>
          </p:cNvPr>
          <p:cNvSpPr>
            <a:spLocks xmlns:a="http://schemas.openxmlformats.org/drawingml/2006/main" noGrp="1"/>
          </p:cNvSpPr>
          <p:nvPr/>
        </p:nvSpPr>
        <p:spPr>
          <a:xfrm xmlns:a="http://schemas.openxmlformats.org/drawingml/2006/main" rot="0">
            <a:off x="12447001" y="3439540"/>
            <a:ext cx="186134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Clinical validation</a:t>
            </a:r>
          </a:p>
        </p:txBody>
      </p:sp>
      <p:sp>
        <p:nvSpPr>
          <p:cNvPr id="34" name="Figure 4 label 33 line 1">
            <a:extLst xmlns:a="http://schemas.openxmlformats.org/drawingml/2006/main">
              <a:ext uri="{FF2B5EF4-FFF2-40B4-BE49-F238E27FC236}">
                <a16:creationId xmlns:a16="http://schemas.microsoft.com/office/drawing/2014/main" id="{80B490B9-99DF-4A1C-B9E4-968695201E72}"/>
              </a:ext>
            </a:extLst>
          </p:cNvPr>
          <p:cNvSpPr>
            <a:spLocks xmlns:a="http://schemas.openxmlformats.org/drawingml/2006/main" noGrp="1"/>
          </p:cNvSpPr>
          <p:nvPr/>
        </p:nvSpPr>
        <p:spPr>
          <a:xfrm xmlns:a="http://schemas.openxmlformats.org/drawingml/2006/main" rot="0">
            <a:off x="12264390" y="5252036"/>
            <a:ext cx="185541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Sequencing / IVD R&amp;D</a:t>
            </a:r>
          </a:p>
        </p:txBody>
      </p:sp>
      <p:sp>
        <p:nvSpPr>
          <p:cNvPr id="35" name="Figure 4 label 34 line 1">
            <a:extLst xmlns:a="http://schemas.openxmlformats.org/drawingml/2006/main">
              <a:ext uri="{FF2B5EF4-FFF2-40B4-BE49-F238E27FC236}">
                <a16:creationId xmlns:a16="http://schemas.microsoft.com/office/drawing/2014/main" id="{CC5DB725-0669-4D39-B601-02513B6C1C8F}"/>
              </a:ext>
            </a:extLst>
          </p:cNvPr>
          <p:cNvSpPr>
            <a:spLocks xmlns:a="http://schemas.openxmlformats.org/drawingml/2006/main" noGrp="1"/>
          </p:cNvSpPr>
          <p:nvPr/>
        </p:nvSpPr>
        <p:spPr>
          <a:xfrm xmlns:a="http://schemas.openxmlformats.org/drawingml/2006/main" rot="0">
            <a:off x="12264390" y="5550142"/>
            <a:ext cx="196033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Clinical sample handling</a:t>
            </a:r>
          </a:p>
        </p:txBody>
      </p:sp>
      <p:sp>
        <p:nvSpPr>
          <p:cNvPr id="36" name="Figure 4 label 35 line 1">
            <a:extLst xmlns:a="http://schemas.openxmlformats.org/drawingml/2006/main">
              <a:ext uri="{FF2B5EF4-FFF2-40B4-BE49-F238E27FC236}">
                <a16:creationId xmlns:a16="http://schemas.microsoft.com/office/drawing/2014/main" id="{B818C816-CC40-4ACC-A5E8-23DD54549EF4}"/>
              </a:ext>
            </a:extLst>
          </p:cNvPr>
          <p:cNvSpPr>
            <a:spLocks xmlns:a="http://schemas.openxmlformats.org/drawingml/2006/main" noGrp="1"/>
          </p:cNvSpPr>
          <p:nvPr/>
        </p:nvSpPr>
        <p:spPr>
          <a:xfrm xmlns:a="http://schemas.openxmlformats.org/drawingml/2006/main" rot="0">
            <a:off x="12264390" y="5843860"/>
            <a:ext cx="149346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Automated testing</a:t>
            </a:r>
          </a:p>
        </p:txBody>
      </p:sp>
      <p:sp>
        <p:nvSpPr>
          <p:cNvPr id="37" name="Figure 4 label 36 line 1">
            <a:extLst xmlns:a="http://schemas.openxmlformats.org/drawingml/2006/main">
              <a:ext uri="{FF2B5EF4-FFF2-40B4-BE49-F238E27FC236}">
                <a16:creationId xmlns:a16="http://schemas.microsoft.com/office/drawing/2014/main" id="{08BF9077-5CE6-4813-B3D6-E8F23F8438DD}"/>
              </a:ext>
            </a:extLst>
          </p:cNvPr>
          <p:cNvSpPr>
            <a:spLocks xmlns:a="http://schemas.openxmlformats.org/drawingml/2006/main" noGrp="1"/>
          </p:cNvSpPr>
          <p:nvPr/>
        </p:nvSpPr>
        <p:spPr>
          <a:xfrm xmlns:a="http://schemas.openxmlformats.org/drawingml/2006/main" rot="0">
            <a:off x="12863496" y="6997580"/>
            <a:ext cx="102835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Validate utility</a:t>
            </a:r>
          </a:p>
        </p:txBody>
      </p:sp>
      <p:sp>
        <p:nvSpPr>
          <p:cNvPr id="38" name="Figure 4 label 37 line 1">
            <a:extLst xmlns:a="http://schemas.openxmlformats.org/drawingml/2006/main">
              <a:ext uri="{FF2B5EF4-FFF2-40B4-BE49-F238E27FC236}">
                <a16:creationId xmlns:a16="http://schemas.microsoft.com/office/drawing/2014/main" id="{8F1512CA-4BAD-4BFB-86DE-01A84D452C75}"/>
              </a:ext>
            </a:extLst>
          </p:cNvPr>
          <p:cNvSpPr>
            <a:spLocks xmlns:a="http://schemas.openxmlformats.org/drawingml/2006/main" noGrp="1"/>
          </p:cNvSpPr>
          <p:nvPr/>
        </p:nvSpPr>
        <p:spPr>
          <a:xfrm xmlns:a="http://schemas.openxmlformats.org/drawingml/2006/main" rot="0">
            <a:off x="15135987"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5</a:t>
            </a:r>
          </a:p>
        </p:txBody>
      </p:sp>
      <p:sp>
        <p:nvSpPr>
          <p:cNvPr id="39" name="Figure 4 label 38 line 1">
            <a:extLst xmlns:a="http://schemas.openxmlformats.org/drawingml/2006/main">
              <a:ext uri="{FF2B5EF4-FFF2-40B4-BE49-F238E27FC236}">
                <a16:creationId xmlns:a16="http://schemas.microsoft.com/office/drawing/2014/main" id="{A67CD62E-0F24-405F-951C-B5C5EEEE3EA5}"/>
              </a:ext>
            </a:extLst>
          </p:cNvPr>
          <p:cNvSpPr>
            <a:spLocks xmlns:a="http://schemas.openxmlformats.org/drawingml/2006/main" noGrp="1"/>
          </p:cNvSpPr>
          <p:nvPr/>
        </p:nvSpPr>
        <p:spPr>
          <a:xfrm xmlns:a="http://schemas.openxmlformats.org/drawingml/2006/main" rot="0">
            <a:off x="15481001" y="3319286"/>
            <a:ext cx="155267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Manufacturing</a:t>
            </a:r>
          </a:p>
        </p:txBody>
      </p:sp>
      <p:sp>
        <p:nvSpPr>
          <p:cNvPr id="40" name="Figure 4 label 39 line 1">
            <a:extLst xmlns:a="http://schemas.openxmlformats.org/drawingml/2006/main">
              <a:ext uri="{FF2B5EF4-FFF2-40B4-BE49-F238E27FC236}">
                <a16:creationId xmlns:a16="http://schemas.microsoft.com/office/drawing/2014/main" id="{115F6F85-6772-435E-9F44-65F2679D99E6}"/>
              </a:ext>
            </a:extLst>
          </p:cNvPr>
          <p:cNvSpPr>
            <a:spLocks xmlns:a="http://schemas.openxmlformats.org/drawingml/2006/main" noGrp="1"/>
          </p:cNvSpPr>
          <p:nvPr/>
        </p:nvSpPr>
        <p:spPr>
          <a:xfrm xmlns:a="http://schemas.openxmlformats.org/drawingml/2006/main" rot="0">
            <a:off x="15505934" y="3560107"/>
            <a:ext cx="1502817"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(if successful)</a:t>
            </a:r>
          </a:p>
        </p:txBody>
      </p:sp>
      <p:sp>
        <p:nvSpPr>
          <p:cNvPr id="41" name="Figure 4 label 40 line 1">
            <a:extLst xmlns:a="http://schemas.openxmlformats.org/drawingml/2006/main">
              <a:ext uri="{FF2B5EF4-FFF2-40B4-BE49-F238E27FC236}">
                <a16:creationId xmlns:a16="http://schemas.microsoft.com/office/drawing/2014/main" id="{07353467-0AB9-4E47-9162-A3217FEA9A52}"/>
              </a:ext>
            </a:extLst>
          </p:cNvPr>
          <p:cNvSpPr>
            <a:spLocks xmlns:a="http://schemas.openxmlformats.org/drawingml/2006/main" noGrp="1"/>
          </p:cNvSpPr>
          <p:nvPr/>
        </p:nvSpPr>
        <p:spPr>
          <a:xfrm xmlns:a="http://schemas.openxmlformats.org/drawingml/2006/main" rot="0">
            <a:off x="15080742" y="5252840"/>
            <a:ext cx="117868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Media / resins</a:t>
            </a:r>
          </a:p>
        </p:txBody>
      </p:sp>
      <p:sp>
        <p:nvSpPr>
          <p:cNvPr id="42" name="Figure 4 label 41 line 1">
            <a:extLst xmlns:a="http://schemas.openxmlformats.org/drawingml/2006/main">
              <a:ext uri="{FF2B5EF4-FFF2-40B4-BE49-F238E27FC236}">
                <a16:creationId xmlns:a16="http://schemas.microsoft.com/office/drawing/2014/main" id="{105AD047-FA88-4B21-A64F-DDBDB2B9626C}"/>
              </a:ext>
            </a:extLst>
          </p:cNvPr>
          <p:cNvSpPr>
            <a:spLocks xmlns:a="http://schemas.openxmlformats.org/drawingml/2006/main" noGrp="1"/>
          </p:cNvSpPr>
          <p:nvPr/>
        </p:nvSpPr>
        <p:spPr>
          <a:xfrm xmlns:a="http://schemas.openxmlformats.org/drawingml/2006/main" rot="0">
            <a:off x="15080742" y="5544709"/>
            <a:ext cx="216021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Filtration / process labware</a:t>
            </a:r>
          </a:p>
        </p:txBody>
      </p:sp>
      <p:sp>
        <p:nvSpPr>
          <p:cNvPr id="43" name="Figure 4 label 42 line 1">
            <a:extLst xmlns:a="http://schemas.openxmlformats.org/drawingml/2006/main">
              <a:ext uri="{FF2B5EF4-FFF2-40B4-BE49-F238E27FC236}">
                <a16:creationId xmlns:a16="http://schemas.microsoft.com/office/drawing/2014/main" id="{7E338235-B3C2-4100-81DD-330EDDE650DA}"/>
              </a:ext>
            </a:extLst>
          </p:cNvPr>
          <p:cNvSpPr>
            <a:spLocks xmlns:a="http://schemas.openxmlformats.org/drawingml/2006/main" noGrp="1"/>
          </p:cNvSpPr>
          <p:nvPr/>
        </p:nvSpPr>
        <p:spPr>
          <a:xfrm xmlns:a="http://schemas.openxmlformats.org/drawingml/2006/main" rot="0">
            <a:off x="15080742" y="5840967"/>
            <a:ext cx="22081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Single-use bioprocess tools</a:t>
            </a:r>
          </a:p>
        </p:txBody>
      </p:sp>
      <p:sp>
        <p:nvSpPr>
          <p:cNvPr id="44" name="Figure 4 label 43 line 1">
            <a:extLst xmlns:a="http://schemas.openxmlformats.org/drawingml/2006/main">
              <a:ext uri="{FF2B5EF4-FFF2-40B4-BE49-F238E27FC236}">
                <a16:creationId xmlns:a16="http://schemas.microsoft.com/office/drawing/2014/main" id="{BDAE9A7F-6E9C-4D33-955B-955E4C44344B}"/>
              </a:ext>
            </a:extLst>
          </p:cNvPr>
          <p:cNvSpPr>
            <a:spLocks xmlns:a="http://schemas.openxmlformats.org/drawingml/2006/main" noGrp="1"/>
          </p:cNvSpPr>
          <p:nvPr/>
        </p:nvSpPr>
        <p:spPr>
          <a:xfrm xmlns:a="http://schemas.openxmlformats.org/drawingml/2006/main" rot="0">
            <a:off x="15654622" y="6997580"/>
            <a:ext cx="107880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Produce drugs</a:t>
            </a:r>
          </a:p>
        </p:txBody>
      </p:sp>
      <p:sp>
        <p:nvSpPr>
          <p:cNvPr id="45" name="Figure 4 label 44 line 1">
            <a:extLst xmlns:a="http://schemas.openxmlformats.org/drawingml/2006/main">
              <a:ext uri="{FF2B5EF4-FFF2-40B4-BE49-F238E27FC236}">
                <a16:creationId xmlns:a16="http://schemas.microsoft.com/office/drawing/2014/main" id="{EF60E9B1-E6E2-44A4-916E-E95B724D49A6}"/>
              </a:ext>
            </a:extLst>
          </p:cNvPr>
          <p:cNvSpPr>
            <a:spLocks xmlns:a="http://schemas.openxmlformats.org/drawingml/2006/main" noGrp="1"/>
          </p:cNvSpPr>
          <p:nvPr/>
        </p:nvSpPr>
        <p:spPr>
          <a:xfrm xmlns:a="http://schemas.openxmlformats.org/drawingml/2006/main" rot="0">
            <a:off x="5851000" y="2044848"/>
            <a:ext cx="329416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13"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Experimental feedback → next design cycle</a:t>
            </a:r>
          </a:p>
        </p:txBody>
      </p:sp>
      <p:sp>
        <p:nvSpPr>
          <p:cNvPr id="46" name="Figure 4 label 45 line 1">
            <a:extLst xmlns:a="http://schemas.openxmlformats.org/drawingml/2006/main">
              <a:ext uri="{FF2B5EF4-FFF2-40B4-BE49-F238E27FC236}">
                <a16:creationId xmlns:a16="http://schemas.microsoft.com/office/drawing/2014/main" id="{712538E2-3146-483A-A708-E5EC1FE0EC12}"/>
              </a:ext>
            </a:extLst>
          </p:cNvPr>
          <p:cNvSpPr>
            <a:spLocks xmlns:a="http://schemas.openxmlformats.org/drawingml/2006/main" noGrp="1"/>
          </p:cNvSpPr>
          <p:nvPr/>
        </p:nvSpPr>
        <p:spPr>
          <a:xfrm xmlns:a="http://schemas.openxmlformats.org/drawingml/2006/main" rot="0">
            <a:off x="5122143" y="8227834"/>
            <a:ext cx="8043714"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The most direct potential uplift comes from building and testing candidates.</a:t>
            </a:r>
          </a:p>
        </p:txBody>
      </p:sp>
    </p:spTree>
    <p:extLst>
      <p:ext uri="{BB962C8B-B14F-4D97-AF65-F5344CB8AC3E}">
        <p14:creationId xmlns:p14="http://schemas.microsoft.com/office/powerpoint/2010/main" val="12250649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4" name="">
            <a:extLst xmlns:a="http://schemas.openxmlformats.org/drawingml/2006/main">
              <a:ext uri="{FF2B5EF4-FFF2-40B4-BE49-F238E27FC236}">
                <a16:creationId xmlns:a16="http://schemas.microsoft.com/office/drawing/2014/main" id="{930ED1D5-FA37-4F1F-97F4-EF316CF7A7AF}"/>
              </a:ext>
            </a:extLst>
          </p:cNvPr>
          <p:cNvPicPr>
            <a:picLocks xmlns:a="http://schemas.openxmlformats.org/drawingml/2006/main" noChangeAspect="1"/>
          </p:cNvPicPr>
          <p:nvPr/>
        </p:nvPicPr>
        <p:blipFill>
          <a:blip xmlns:r="http://schemas.openxmlformats.org/officeDocument/2006/relationships" xmlns:a="http://schemas.openxmlformats.org/drawingml/2006/main" r:embed="R938d21289c1f4f1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5 label 1 line 1">
            <a:extLst xmlns:a="http://schemas.openxmlformats.org/drawingml/2006/main">
              <a:ext uri="{FF2B5EF4-FFF2-40B4-BE49-F238E27FC236}">
                <a16:creationId xmlns:a16="http://schemas.microsoft.com/office/drawing/2014/main" id="{4AD5A792-9803-4289-9FC4-6013C0E6A5A6}"/>
              </a:ext>
            </a:extLst>
          </p:cNvPr>
          <p:cNvSpPr>
            <a:spLocks xmlns:a="http://schemas.openxmlformats.org/drawingml/2006/main" noGrp="1"/>
          </p:cNvSpPr>
          <p:nvPr/>
        </p:nvSpPr>
        <p:spPr>
          <a:xfrm xmlns:a="http://schemas.openxmlformats.org/drawingml/2006/main" rot="0">
            <a:off x="26162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3" name="Figure 5 label 2 line 1">
            <a:extLst xmlns:a="http://schemas.openxmlformats.org/drawingml/2006/main">
              <a:ext uri="{FF2B5EF4-FFF2-40B4-BE49-F238E27FC236}">
                <a16:creationId xmlns:a16="http://schemas.microsoft.com/office/drawing/2014/main" id="{17F2697F-4B15-469B-885F-AF7F6411D72E}"/>
              </a:ext>
            </a:extLst>
          </p:cNvPr>
          <p:cNvSpPr>
            <a:spLocks xmlns:a="http://schemas.openxmlformats.org/drawingml/2006/main" noGrp="1"/>
          </p:cNvSpPr>
          <p:nvPr/>
        </p:nvSpPr>
        <p:spPr>
          <a:xfrm xmlns:a="http://schemas.openxmlformats.org/drawingml/2006/main" rot="0">
            <a:off x="801176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4" name="Figure 5 label 3 line 1">
            <a:extLst xmlns:a="http://schemas.openxmlformats.org/drawingml/2006/main">
              <a:ext uri="{FF2B5EF4-FFF2-40B4-BE49-F238E27FC236}">
                <a16:creationId xmlns:a16="http://schemas.microsoft.com/office/drawing/2014/main" id="{FAFAA15F-DBF1-4CE4-9092-712067F1C446}"/>
              </a:ext>
            </a:extLst>
          </p:cNvPr>
          <p:cNvSpPr>
            <a:spLocks xmlns:a="http://schemas.openxmlformats.org/drawingml/2006/main" noGrp="1"/>
          </p:cNvSpPr>
          <p:nvPr/>
        </p:nvSpPr>
        <p:spPr>
          <a:xfrm xmlns:a="http://schemas.openxmlformats.org/drawingml/2006/main" rot="0">
            <a:off x="1371418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5" name="Figure 5 label 4 line 1">
            <a:extLst xmlns:a="http://schemas.openxmlformats.org/drawingml/2006/main">
              <a:ext uri="{FF2B5EF4-FFF2-40B4-BE49-F238E27FC236}">
                <a16:creationId xmlns:a16="http://schemas.microsoft.com/office/drawing/2014/main" id="{F7AB72B0-A647-45CB-A1BE-0A36BD9D97E7}"/>
              </a:ext>
            </a:extLst>
          </p:cNvPr>
          <p:cNvSpPr>
            <a:spLocks xmlns:a="http://schemas.openxmlformats.org/drawingml/2006/main" noGrp="1"/>
          </p:cNvSpPr>
          <p:nvPr/>
        </p:nvSpPr>
        <p:spPr>
          <a:xfrm xmlns:a="http://schemas.openxmlformats.org/drawingml/2006/main" rot="0">
            <a:off x="7276772" y="8291493"/>
            <a:ext cx="22714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Experimental necessity →</a:t>
            </a:r>
          </a:p>
        </p:txBody>
      </p:sp>
      <p:sp>
        <p:nvSpPr>
          <p:cNvPr id="6" name="Figure 5 label 5 line 1">
            <a:extLst xmlns:a="http://schemas.openxmlformats.org/drawingml/2006/main">
              <a:ext uri="{FF2B5EF4-FFF2-40B4-BE49-F238E27FC236}">
                <a16:creationId xmlns:a16="http://schemas.microsoft.com/office/drawing/2014/main" id="{88C0F8CD-5737-41BA-9844-C7D5FFFFE204}"/>
              </a:ext>
            </a:extLst>
          </p:cNvPr>
          <p:cNvSpPr>
            <a:spLocks xmlns:a="http://schemas.openxmlformats.org/drawingml/2006/main" noGrp="1"/>
          </p:cNvSpPr>
          <p:nvPr/>
        </p:nvSpPr>
        <p:spPr>
          <a:xfrm xmlns:a="http://schemas.openxmlformats.org/drawingml/2006/main" rot="0">
            <a:off x="83086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7" name="Figure 5 label 6 line 1">
            <a:extLst xmlns:a="http://schemas.openxmlformats.org/drawingml/2006/main">
              <a:ext uri="{FF2B5EF4-FFF2-40B4-BE49-F238E27FC236}">
                <a16:creationId xmlns:a16="http://schemas.microsoft.com/office/drawing/2014/main" id="{54D710C5-A61C-4C09-B58A-E326E45AD189}"/>
              </a:ext>
            </a:extLst>
          </p:cNvPr>
          <p:cNvSpPr>
            <a:spLocks xmlns:a="http://schemas.openxmlformats.org/drawingml/2006/main" noGrp="1"/>
          </p:cNvSpPr>
          <p:nvPr/>
        </p:nvSpPr>
        <p:spPr>
          <a:xfrm xmlns:a="http://schemas.openxmlformats.org/drawingml/2006/main" rot="0">
            <a:off x="50285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8" name="Figure 5 label 7 line 1">
            <a:extLst xmlns:a="http://schemas.openxmlformats.org/drawingml/2006/main">
              <a:ext uri="{FF2B5EF4-FFF2-40B4-BE49-F238E27FC236}">
                <a16:creationId xmlns:a16="http://schemas.microsoft.com/office/drawing/2014/main" id="{B3977702-F0DA-4923-834D-95C901684175}"/>
              </a:ext>
            </a:extLst>
          </p:cNvPr>
          <p:cNvSpPr>
            <a:spLocks xmlns:a="http://schemas.openxmlformats.org/drawingml/2006/main" noGrp="1"/>
          </p:cNvSpPr>
          <p:nvPr/>
        </p:nvSpPr>
        <p:spPr>
          <a:xfrm xmlns:a="http://schemas.openxmlformats.org/drawingml/2006/main" rot="0">
            <a:off x="78860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9" name="Figure 5 label 8 line 1">
            <a:extLst xmlns:a="http://schemas.openxmlformats.org/drawingml/2006/main">
              <a:ext uri="{FF2B5EF4-FFF2-40B4-BE49-F238E27FC236}">
                <a16:creationId xmlns:a16="http://schemas.microsoft.com/office/drawing/2014/main" id="{6055770A-D2F6-4924-A9E3-46E8365F23CA}"/>
              </a:ext>
            </a:extLst>
          </p:cNvPr>
          <p:cNvSpPr>
            <a:spLocks xmlns:a="http://schemas.openxmlformats.org/drawingml/2006/main" noGrp="1"/>
          </p:cNvSpPr>
          <p:nvPr/>
        </p:nvSpPr>
        <p:spPr>
          <a:xfrm xmlns:a="http://schemas.openxmlformats.org/drawingml/2006/main" rot="16200000">
            <a:off x="-1479297" y="4918710"/>
            <a:ext cx="373275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Revenue elasticity to experiment volume →</a:t>
            </a:r>
          </a:p>
        </p:txBody>
      </p:sp>
      <p:sp>
        <p:nvSpPr>
          <p:cNvPr id="10" name="Figure 5 label 9 line 1">
            <a:extLst xmlns:a="http://schemas.openxmlformats.org/drawingml/2006/main">
              <a:ext uri="{FF2B5EF4-FFF2-40B4-BE49-F238E27FC236}">
                <a16:creationId xmlns:a16="http://schemas.microsoft.com/office/drawing/2014/main" id="{3564890C-D1DB-49EE-B8C9-151A95B25520}"/>
              </a:ext>
            </a:extLst>
          </p:cNvPr>
          <p:cNvSpPr>
            <a:spLocks xmlns:a="http://schemas.openxmlformats.org/drawingml/2006/main" noGrp="1"/>
          </p:cNvSpPr>
          <p:nvPr/>
        </p:nvSpPr>
        <p:spPr>
          <a:xfrm xmlns:a="http://schemas.openxmlformats.org/drawingml/2006/main" rot="0">
            <a:off x="2012455" y="2407644"/>
            <a:ext cx="3468162"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Project expansion and substitution both matter</a:t>
            </a:r>
          </a:p>
        </p:txBody>
      </p:sp>
      <p:sp>
        <p:nvSpPr>
          <p:cNvPr id="11" name="Figure 5 label 10 line 1">
            <a:extLst xmlns:a="http://schemas.openxmlformats.org/drawingml/2006/main">
              <a:ext uri="{FF2B5EF4-FFF2-40B4-BE49-F238E27FC236}">
                <a16:creationId xmlns:a16="http://schemas.microsoft.com/office/drawing/2014/main" id="{EC37FC2A-9316-444F-ACBE-98FC941EA743}"/>
              </a:ext>
            </a:extLst>
          </p:cNvPr>
          <p:cNvSpPr>
            <a:spLocks xmlns:a="http://schemas.openxmlformats.org/drawingml/2006/main" noGrp="1"/>
          </p:cNvSpPr>
          <p:nvPr/>
        </p:nvSpPr>
        <p:spPr>
          <a:xfrm xmlns:a="http://schemas.openxmlformats.org/drawingml/2006/main" rot="0">
            <a:off x="11880532" y="2274154"/>
            <a:ext cx="130373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High-throughput</a:t>
            </a:r>
          </a:p>
        </p:txBody>
      </p:sp>
      <p:sp>
        <p:nvSpPr>
          <p:cNvPr id="12" name="Figure 5 label 11 line 1">
            <a:extLst xmlns:a="http://schemas.openxmlformats.org/drawingml/2006/main">
              <a:ext uri="{FF2B5EF4-FFF2-40B4-BE49-F238E27FC236}">
                <a16:creationId xmlns:a16="http://schemas.microsoft.com/office/drawing/2014/main" id="{4111434B-3D57-4D37-A515-2427593B0DD1}"/>
              </a:ext>
            </a:extLst>
          </p:cNvPr>
          <p:cNvSpPr>
            <a:spLocks xmlns:a="http://schemas.openxmlformats.org/drawingml/2006/main" noGrp="1"/>
          </p:cNvSpPr>
          <p:nvPr/>
        </p:nvSpPr>
        <p:spPr>
          <a:xfrm xmlns:a="http://schemas.openxmlformats.org/drawingml/2006/main" rot="0">
            <a:off x="11880532" y="2452333"/>
            <a:ext cx="62716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assays</a:t>
            </a:r>
          </a:p>
        </p:txBody>
      </p:sp>
      <p:sp>
        <p:nvSpPr>
          <p:cNvPr id="13" name="Figure 5 label 12 line 1">
            <a:extLst xmlns:a="http://schemas.openxmlformats.org/drawingml/2006/main">
              <a:ext uri="{FF2B5EF4-FFF2-40B4-BE49-F238E27FC236}">
                <a16:creationId xmlns:a16="http://schemas.microsoft.com/office/drawing/2014/main" id="{82A219B6-0B48-4806-BC84-0E8EF303F52A}"/>
              </a:ext>
            </a:extLst>
          </p:cNvPr>
          <p:cNvSpPr>
            <a:spLocks xmlns:a="http://schemas.openxmlformats.org/drawingml/2006/main" noGrp="1"/>
          </p:cNvSpPr>
          <p:nvPr/>
        </p:nvSpPr>
        <p:spPr>
          <a:xfrm xmlns:a="http://schemas.openxmlformats.org/drawingml/2006/main" rot="0">
            <a:off x="13752695" y="4146375"/>
            <a:ext cx="129406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Enzymes / NGS</a:t>
            </a:r>
          </a:p>
        </p:txBody>
      </p:sp>
      <p:sp>
        <p:nvSpPr>
          <p:cNvPr id="14" name="Figure 5 label 13 line 1">
            <a:extLst xmlns:a="http://schemas.openxmlformats.org/drawingml/2006/main">
              <a:ext uri="{FF2B5EF4-FFF2-40B4-BE49-F238E27FC236}">
                <a16:creationId xmlns:a16="http://schemas.microsoft.com/office/drawing/2014/main" id="{D7BF6059-CC4B-4CA1-AD0A-32C275FDA2C5}"/>
              </a:ext>
            </a:extLst>
          </p:cNvPr>
          <p:cNvSpPr>
            <a:spLocks xmlns:a="http://schemas.openxmlformats.org/drawingml/2006/main" noGrp="1"/>
          </p:cNvSpPr>
          <p:nvPr/>
        </p:nvSpPr>
        <p:spPr>
          <a:xfrm xmlns:a="http://schemas.openxmlformats.org/drawingml/2006/main" rot="0">
            <a:off x="14104588" y="4324554"/>
            <a:ext cx="94223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library prep</a:t>
            </a:r>
          </a:p>
        </p:txBody>
      </p:sp>
      <p:sp>
        <p:nvSpPr>
          <p:cNvPr id="15" name="Figure 5 label 14 line 1">
            <a:extLst xmlns:a="http://schemas.openxmlformats.org/drawingml/2006/main">
              <a:ext uri="{FF2B5EF4-FFF2-40B4-BE49-F238E27FC236}">
                <a16:creationId xmlns:a16="http://schemas.microsoft.com/office/drawing/2014/main" id="{D2395C05-E8CF-4901-928B-CC76BDB73F85}"/>
              </a:ext>
            </a:extLst>
          </p:cNvPr>
          <p:cNvSpPr>
            <a:spLocks xmlns:a="http://schemas.openxmlformats.org/drawingml/2006/main" noGrp="1"/>
          </p:cNvSpPr>
          <p:nvPr/>
        </p:nvSpPr>
        <p:spPr>
          <a:xfrm xmlns:a="http://schemas.openxmlformats.org/drawingml/2006/main" rot="0">
            <a:off x="10351656" y="3156519"/>
            <a:ext cx="109061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Recombinant</a:t>
            </a:r>
          </a:p>
        </p:txBody>
      </p:sp>
      <p:sp>
        <p:nvSpPr>
          <p:cNvPr id="16" name="Figure 5 label 15 line 1">
            <a:extLst xmlns:a="http://schemas.openxmlformats.org/drawingml/2006/main">
              <a:ext uri="{FF2B5EF4-FFF2-40B4-BE49-F238E27FC236}">
                <a16:creationId xmlns:a16="http://schemas.microsoft.com/office/drawing/2014/main" id="{9B86C916-73E6-4903-B1C2-93190AF01B3E}"/>
              </a:ext>
            </a:extLst>
          </p:cNvPr>
          <p:cNvSpPr>
            <a:spLocks xmlns:a="http://schemas.openxmlformats.org/drawingml/2006/main" noGrp="1"/>
          </p:cNvSpPr>
          <p:nvPr/>
        </p:nvSpPr>
        <p:spPr>
          <a:xfrm xmlns:a="http://schemas.openxmlformats.org/drawingml/2006/main" rot="0">
            <a:off x="10351656" y="3332900"/>
            <a:ext cx="70142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proteins</a:t>
            </a:r>
          </a:p>
        </p:txBody>
      </p:sp>
      <p:sp>
        <p:nvSpPr>
          <p:cNvPr id="17" name="Figure 5 label 16 line 1">
            <a:extLst xmlns:a="http://schemas.openxmlformats.org/drawingml/2006/main">
              <a:ext uri="{FF2B5EF4-FFF2-40B4-BE49-F238E27FC236}">
                <a16:creationId xmlns:a16="http://schemas.microsoft.com/office/drawing/2014/main" id="{E63BEA2E-F27A-4274-82D6-3496CD0EAA58}"/>
              </a:ext>
            </a:extLst>
          </p:cNvPr>
          <p:cNvSpPr>
            <a:spLocks xmlns:a="http://schemas.openxmlformats.org/drawingml/2006/main" noGrp="1"/>
          </p:cNvSpPr>
          <p:nvPr/>
        </p:nvSpPr>
        <p:spPr>
          <a:xfrm xmlns:a="http://schemas.openxmlformats.org/drawingml/2006/main" rot="0">
            <a:off x="8822779" y="2577748"/>
            <a:ext cx="80322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Chemical</a:t>
            </a:r>
          </a:p>
        </p:txBody>
      </p:sp>
      <p:sp>
        <p:nvSpPr>
          <p:cNvPr id="18" name="Figure 5 label 17 line 1">
            <a:extLst xmlns:a="http://schemas.openxmlformats.org/drawingml/2006/main">
              <a:ext uri="{FF2B5EF4-FFF2-40B4-BE49-F238E27FC236}">
                <a16:creationId xmlns:a16="http://schemas.microsoft.com/office/drawing/2014/main" id="{7B56CBE8-1079-4939-A08E-8D3BF156AFE3}"/>
              </a:ext>
            </a:extLst>
          </p:cNvPr>
          <p:cNvSpPr>
            <a:spLocks xmlns:a="http://schemas.openxmlformats.org/drawingml/2006/main" noGrp="1"/>
          </p:cNvSpPr>
          <p:nvPr/>
        </p:nvSpPr>
        <p:spPr>
          <a:xfrm xmlns:a="http://schemas.openxmlformats.org/drawingml/2006/main" rot="0">
            <a:off x="8822779" y="2754130"/>
            <a:ext cx="1201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building blocks</a:t>
            </a:r>
          </a:p>
        </p:txBody>
      </p:sp>
      <p:sp>
        <p:nvSpPr>
          <p:cNvPr id="19" name="Figure 5 label 18 line 1">
            <a:extLst xmlns:a="http://schemas.openxmlformats.org/drawingml/2006/main">
              <a:ext uri="{FF2B5EF4-FFF2-40B4-BE49-F238E27FC236}">
                <a16:creationId xmlns:a16="http://schemas.microsoft.com/office/drawing/2014/main" id="{FF66FBBC-9B88-41BA-A6AB-244CB7FA213A}"/>
              </a:ext>
            </a:extLst>
          </p:cNvPr>
          <p:cNvSpPr>
            <a:spLocks xmlns:a="http://schemas.openxmlformats.org/drawingml/2006/main" noGrp="1"/>
          </p:cNvSpPr>
          <p:nvPr/>
        </p:nvSpPr>
        <p:spPr>
          <a:xfrm xmlns:a="http://schemas.openxmlformats.org/drawingml/2006/main" rot="0">
            <a:off x="12366993" y="3431696"/>
            <a:ext cx="95160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Automation</a:t>
            </a:r>
          </a:p>
        </p:txBody>
      </p:sp>
      <p:sp>
        <p:nvSpPr>
          <p:cNvPr id="20" name="Figure 5 label 19 line 1">
            <a:extLst xmlns:a="http://schemas.openxmlformats.org/drawingml/2006/main">
              <a:ext uri="{FF2B5EF4-FFF2-40B4-BE49-F238E27FC236}">
                <a16:creationId xmlns:a16="http://schemas.microsoft.com/office/drawing/2014/main" id="{7295C85B-85B8-41D5-83C8-F660E9231A67}"/>
              </a:ext>
            </a:extLst>
          </p:cNvPr>
          <p:cNvSpPr>
            <a:spLocks xmlns:a="http://schemas.openxmlformats.org/drawingml/2006/main" noGrp="1"/>
          </p:cNvSpPr>
          <p:nvPr/>
        </p:nvSpPr>
        <p:spPr>
          <a:xfrm xmlns:a="http://schemas.openxmlformats.org/drawingml/2006/main" rot="0">
            <a:off x="12366993" y="3608077"/>
            <a:ext cx="95160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plates / tips</a:t>
            </a:r>
          </a:p>
        </p:txBody>
      </p:sp>
      <p:sp>
        <p:nvSpPr>
          <p:cNvPr id="21" name="Figure 5 label 20 line 1">
            <a:extLst xmlns:a="http://schemas.openxmlformats.org/drawingml/2006/main">
              <a:ext uri="{FF2B5EF4-FFF2-40B4-BE49-F238E27FC236}">
                <a16:creationId xmlns:a16="http://schemas.microsoft.com/office/drawing/2014/main" id="{6FEF5A26-30AC-485F-9BAE-152D64677B54}"/>
              </a:ext>
            </a:extLst>
          </p:cNvPr>
          <p:cNvSpPr>
            <a:spLocks xmlns:a="http://schemas.openxmlformats.org/drawingml/2006/main" noGrp="1"/>
          </p:cNvSpPr>
          <p:nvPr/>
        </p:nvSpPr>
        <p:spPr>
          <a:xfrm xmlns:a="http://schemas.openxmlformats.org/drawingml/2006/main" rot="0">
            <a:off x="6043003" y="6073398"/>
            <a:ext cx="69205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Generic</a:t>
            </a:r>
          </a:p>
        </p:txBody>
      </p:sp>
      <p:sp>
        <p:nvSpPr>
          <p:cNvPr id="22" name="Figure 5 label 21 line 1">
            <a:extLst xmlns:a="http://schemas.openxmlformats.org/drawingml/2006/main">
              <a:ext uri="{FF2B5EF4-FFF2-40B4-BE49-F238E27FC236}">
                <a16:creationId xmlns:a16="http://schemas.microsoft.com/office/drawing/2014/main" id="{3B114201-C813-4818-A7F1-8391EBFE596E}"/>
              </a:ext>
            </a:extLst>
          </p:cNvPr>
          <p:cNvSpPr>
            <a:spLocks xmlns:a="http://schemas.openxmlformats.org/drawingml/2006/main" noGrp="1"/>
          </p:cNvSpPr>
          <p:nvPr/>
        </p:nvSpPr>
        <p:spPr>
          <a:xfrm xmlns:a="http://schemas.openxmlformats.org/drawingml/2006/main" rot="0">
            <a:off x="6043003" y="6249779"/>
            <a:ext cx="121086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plastic labware</a:t>
            </a:r>
          </a:p>
        </p:txBody>
      </p:sp>
      <p:sp>
        <p:nvSpPr>
          <p:cNvPr id="23" name="Figure 5 label 22 line 1">
            <a:extLst xmlns:a="http://schemas.openxmlformats.org/drawingml/2006/main">
              <a:ext uri="{FF2B5EF4-FFF2-40B4-BE49-F238E27FC236}">
                <a16:creationId xmlns:a16="http://schemas.microsoft.com/office/drawing/2014/main" id="{63747BB5-C6A6-4511-85B2-04DB984AC331}"/>
              </a:ext>
            </a:extLst>
          </p:cNvPr>
          <p:cNvSpPr>
            <a:spLocks xmlns:a="http://schemas.openxmlformats.org/drawingml/2006/main" noGrp="1"/>
          </p:cNvSpPr>
          <p:nvPr/>
        </p:nvSpPr>
        <p:spPr>
          <a:xfrm xmlns:a="http://schemas.openxmlformats.org/drawingml/2006/main" rot="0">
            <a:off x="9517723" y="4724130"/>
            <a:ext cx="82182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Analytical</a:t>
            </a:r>
          </a:p>
        </p:txBody>
      </p:sp>
      <p:sp>
        <p:nvSpPr>
          <p:cNvPr id="24" name="Figure 5 label 23 line 1">
            <a:extLst xmlns:a="http://schemas.openxmlformats.org/drawingml/2006/main">
              <a:ext uri="{FF2B5EF4-FFF2-40B4-BE49-F238E27FC236}">
                <a16:creationId xmlns:a16="http://schemas.microsoft.com/office/drawing/2014/main" id="{B80BB4AA-5982-430B-9367-9E159EDC854B}"/>
              </a:ext>
            </a:extLst>
          </p:cNvPr>
          <p:cNvSpPr>
            <a:spLocks xmlns:a="http://schemas.openxmlformats.org/drawingml/2006/main" noGrp="1"/>
          </p:cNvSpPr>
          <p:nvPr/>
        </p:nvSpPr>
        <p:spPr>
          <a:xfrm xmlns:a="http://schemas.openxmlformats.org/drawingml/2006/main" rot="0">
            <a:off x="9517723" y="4902309"/>
            <a:ext cx="72910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columns</a:t>
            </a:r>
          </a:p>
        </p:txBody>
      </p:sp>
      <p:sp>
        <p:nvSpPr>
          <p:cNvPr id="25" name="Figure 5 label 24 line 1">
            <a:extLst xmlns:a="http://schemas.openxmlformats.org/drawingml/2006/main">
              <a:ext uri="{FF2B5EF4-FFF2-40B4-BE49-F238E27FC236}">
                <a16:creationId xmlns:a16="http://schemas.microsoft.com/office/drawing/2014/main" id="{0960B984-9DEB-4823-B6D3-92EB1FB20161}"/>
              </a:ext>
            </a:extLst>
          </p:cNvPr>
          <p:cNvSpPr>
            <a:spLocks xmlns:a="http://schemas.openxmlformats.org/drawingml/2006/main" noGrp="1"/>
          </p:cNvSpPr>
          <p:nvPr/>
        </p:nvSpPr>
        <p:spPr>
          <a:xfrm xmlns:a="http://schemas.openxmlformats.org/drawingml/2006/main" rot="0">
            <a:off x="11741544" y="5963444"/>
            <a:ext cx="116472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Manufacturing</a:t>
            </a:r>
          </a:p>
        </p:txBody>
      </p:sp>
      <p:sp>
        <p:nvSpPr>
          <p:cNvPr id="26" name="Figure 5 label 25 line 1">
            <a:extLst xmlns:a="http://schemas.openxmlformats.org/drawingml/2006/main">
              <a:ext uri="{FF2B5EF4-FFF2-40B4-BE49-F238E27FC236}">
                <a16:creationId xmlns:a16="http://schemas.microsoft.com/office/drawing/2014/main" id="{0D1CDA02-A97F-45DA-B802-3C7097E85BB7}"/>
              </a:ext>
            </a:extLst>
          </p:cNvPr>
          <p:cNvSpPr>
            <a:spLocks xmlns:a="http://schemas.openxmlformats.org/drawingml/2006/main" noGrp="1"/>
          </p:cNvSpPr>
          <p:nvPr/>
        </p:nvSpPr>
        <p:spPr>
          <a:xfrm xmlns:a="http://schemas.openxmlformats.org/drawingml/2006/main" rot="0">
            <a:off x="11741544" y="6141622"/>
            <a:ext cx="55304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resins</a:t>
            </a:r>
          </a:p>
        </p:txBody>
      </p:sp>
      <p:sp>
        <p:nvSpPr>
          <p:cNvPr id="27" name="Figure 5 label 26 line 1">
            <a:extLst xmlns:a="http://schemas.openxmlformats.org/drawingml/2006/main">
              <a:ext uri="{FF2B5EF4-FFF2-40B4-BE49-F238E27FC236}">
                <a16:creationId xmlns:a16="http://schemas.microsoft.com/office/drawing/2014/main" id="{71711A6F-06AA-47E3-AAD6-28DE10C2230E}"/>
              </a:ext>
            </a:extLst>
          </p:cNvPr>
          <p:cNvSpPr>
            <a:spLocks xmlns:a="http://schemas.openxmlformats.org/drawingml/2006/main" noGrp="1"/>
          </p:cNvSpPr>
          <p:nvPr/>
        </p:nvSpPr>
        <p:spPr>
          <a:xfrm xmlns:a="http://schemas.openxmlformats.org/drawingml/2006/main" rot="0">
            <a:off x="6529464" y="3982168"/>
            <a:ext cx="98896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Sequencing</a:t>
            </a:r>
          </a:p>
        </p:txBody>
      </p:sp>
      <p:sp>
        <p:nvSpPr>
          <p:cNvPr id="28" name="Figure 5 label 27 line 1">
            <a:extLst xmlns:a="http://schemas.openxmlformats.org/drawingml/2006/main">
              <a:ext uri="{FF2B5EF4-FFF2-40B4-BE49-F238E27FC236}">
                <a16:creationId xmlns:a16="http://schemas.microsoft.com/office/drawing/2014/main" id="{4713767B-D502-476A-9EA0-05C2D49D1495}"/>
              </a:ext>
            </a:extLst>
          </p:cNvPr>
          <p:cNvSpPr>
            <a:spLocks xmlns:a="http://schemas.openxmlformats.org/drawingml/2006/main" noGrp="1"/>
          </p:cNvSpPr>
          <p:nvPr/>
        </p:nvSpPr>
        <p:spPr>
          <a:xfrm xmlns:a="http://schemas.openxmlformats.org/drawingml/2006/main" rot="0">
            <a:off x="6529464" y="4160347"/>
            <a:ext cx="46047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tools</a:t>
            </a:r>
          </a:p>
        </p:txBody>
      </p:sp>
      <p:sp>
        <p:nvSpPr>
          <p:cNvPr id="29" name="Figure 5 label 28 line 1">
            <a:extLst xmlns:a="http://schemas.openxmlformats.org/drawingml/2006/main">
              <a:ext uri="{FF2B5EF4-FFF2-40B4-BE49-F238E27FC236}">
                <a16:creationId xmlns:a16="http://schemas.microsoft.com/office/drawing/2014/main" id="{F3B6B565-B935-4FEA-87D4-F12FA0CA0FDA}"/>
              </a:ext>
            </a:extLst>
          </p:cNvPr>
          <p:cNvSpPr>
            <a:spLocks xmlns:a="http://schemas.openxmlformats.org/drawingml/2006/main" noGrp="1"/>
          </p:cNvSpPr>
          <p:nvPr/>
        </p:nvSpPr>
        <p:spPr>
          <a:xfrm xmlns:a="http://schemas.openxmlformats.org/drawingml/2006/main" rot="0">
            <a:off x="5973509" y="3376661"/>
            <a:ext cx="55334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Liquid</a:t>
            </a:r>
          </a:p>
        </p:txBody>
      </p:sp>
      <p:sp>
        <p:nvSpPr>
          <p:cNvPr id="30" name="Figure 5 label 29 line 1">
            <a:extLst xmlns:a="http://schemas.openxmlformats.org/drawingml/2006/main">
              <a:ext uri="{FF2B5EF4-FFF2-40B4-BE49-F238E27FC236}">
                <a16:creationId xmlns:a16="http://schemas.microsoft.com/office/drawing/2014/main" id="{129BCEFC-2E79-456A-87DE-5BC1979ED14A}"/>
              </a:ext>
            </a:extLst>
          </p:cNvPr>
          <p:cNvSpPr>
            <a:spLocks xmlns:a="http://schemas.openxmlformats.org/drawingml/2006/main" noGrp="1"/>
          </p:cNvSpPr>
          <p:nvPr/>
        </p:nvSpPr>
        <p:spPr>
          <a:xfrm xmlns:a="http://schemas.openxmlformats.org/drawingml/2006/main" rot="0">
            <a:off x="5973509" y="3553042"/>
            <a:ext cx="74786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handlers</a:t>
            </a:r>
          </a:p>
        </p:txBody>
      </p:sp>
      <p:sp>
        <p:nvSpPr>
          <p:cNvPr id="31" name="Figure 5 label 30 line 1">
            <a:extLst xmlns:a="http://schemas.openxmlformats.org/drawingml/2006/main">
              <a:ext uri="{FF2B5EF4-FFF2-40B4-BE49-F238E27FC236}">
                <a16:creationId xmlns:a16="http://schemas.microsoft.com/office/drawing/2014/main" id="{E743A705-BDD7-4A16-84F9-22AB82277779}"/>
              </a:ext>
            </a:extLst>
          </p:cNvPr>
          <p:cNvSpPr>
            <a:spLocks xmlns:a="http://schemas.openxmlformats.org/drawingml/2006/main" noGrp="1"/>
          </p:cNvSpPr>
          <p:nvPr/>
        </p:nvSpPr>
        <p:spPr>
          <a:xfrm xmlns:a="http://schemas.openxmlformats.org/drawingml/2006/main" rot="0">
            <a:off x="991870" y="421920"/>
            <a:ext cx="7253040"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05  Which tools have more demand elasticity?</a:t>
            </a:r>
          </a:p>
        </p:txBody>
      </p:sp>
      <p:sp>
        <p:nvSpPr>
          <p:cNvPr id="32" name="Figure 5 label 31 line 1">
            <a:extLst xmlns:a="http://schemas.openxmlformats.org/drawingml/2006/main">
              <a:ext uri="{FF2B5EF4-FFF2-40B4-BE49-F238E27FC236}">
                <a16:creationId xmlns:a16="http://schemas.microsoft.com/office/drawing/2014/main" id="{1F9E3C1D-B48F-4A70-ACA7-1E47D6C54B23}"/>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HYPOTHESIS</a:t>
            </a:r>
          </a:p>
        </p:txBody>
      </p:sp>
      <p:sp>
        <p:nvSpPr>
          <p:cNvPr id="33" name="Figure 5 label 32 line 1">
            <a:extLst xmlns:a="http://schemas.openxmlformats.org/drawingml/2006/main">
              <a:ext uri="{FF2B5EF4-FFF2-40B4-BE49-F238E27FC236}">
                <a16:creationId xmlns:a16="http://schemas.microsoft.com/office/drawing/2014/main" id="{959E21AE-FAC9-4763-A56F-35CE43D257E9}"/>
              </a:ext>
            </a:extLst>
          </p:cNvPr>
          <p:cNvSpPr>
            <a:spLocks xmlns:a="http://schemas.openxmlformats.org/drawingml/2006/main" noGrp="1"/>
          </p:cNvSpPr>
          <p:nvPr/>
        </p:nvSpPr>
        <p:spPr>
          <a:xfrm xmlns:a="http://schemas.openxmlformats.org/drawingml/2006/main" rot="0">
            <a:off x="998220" y="1248326"/>
            <a:ext cx="880675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Positions and bubble areas are qualitative research judgments, not measured scores or additive TAMs.</a:t>
            </a:r>
          </a:p>
        </p:txBody>
      </p:sp>
      <p:sp>
        <p:nvSpPr>
          <p:cNvPr id="34" name="Figure 5 label 33 line 1">
            <a:extLst xmlns:a="http://schemas.openxmlformats.org/drawingml/2006/main">
              <a:ext uri="{FF2B5EF4-FFF2-40B4-BE49-F238E27FC236}">
                <a16:creationId xmlns:a16="http://schemas.microsoft.com/office/drawing/2014/main" id="{1DC8D052-67D2-46BE-8829-0EAD325E51BC}"/>
              </a:ext>
            </a:extLst>
          </p:cNvPr>
          <p:cNvSpPr>
            <a:spLocks xmlns:a="http://schemas.openxmlformats.org/drawingml/2006/main" noGrp="1"/>
          </p:cNvSpPr>
          <p:nvPr/>
        </p:nvSpPr>
        <p:spPr>
          <a:xfrm xmlns:a="http://schemas.openxmlformats.org/drawingml/2006/main" rot="0">
            <a:off x="999173" y="9256035"/>
            <a:ext cx="864170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Small-molecule synthesis can fall per project. Modality, assay depth, unit use and funded projects determine orders.</a:t>
            </a:r>
          </a:p>
        </p:txBody>
      </p:sp>
      <p:sp>
        <p:nvSpPr>
          <p:cNvPr id="35" name="Figure 5 label 34 line 1">
            <a:extLst xmlns:a="http://schemas.openxmlformats.org/drawingml/2006/main">
              <a:ext uri="{FF2B5EF4-FFF2-40B4-BE49-F238E27FC236}">
                <a16:creationId xmlns:a16="http://schemas.microsoft.com/office/drawing/2014/main" id="{83A936AC-625E-4D25-AB16-5F90B2C476D1}"/>
              </a:ext>
            </a:extLst>
          </p:cNvPr>
          <p:cNvSpPr>
            <a:spLocks xmlns:a="http://schemas.openxmlformats.org/drawingml/2006/main" noGrp="1"/>
          </p:cNvSpPr>
          <p:nvPr/>
        </p:nvSpPr>
        <p:spPr>
          <a:xfrm xmlns:a="http://schemas.openxmlformats.org/drawingml/2006/main" rot="0">
            <a:off x="1000316" y="9675546"/>
            <a:ext cx="6173569"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analyst assumptions. Edit positions and relative areas in data.json.</a:t>
            </a:r>
          </a:p>
        </p:txBody>
      </p:sp>
      <p:sp>
        <p:nvSpPr>
          <p:cNvPr id="36" name="Figure 5 label 35 line 1">
            <a:extLst xmlns:a="http://schemas.openxmlformats.org/drawingml/2006/main">
              <a:ext uri="{FF2B5EF4-FFF2-40B4-BE49-F238E27FC236}">
                <a16:creationId xmlns:a16="http://schemas.microsoft.com/office/drawing/2014/main" id="{8CB8D52A-EB5D-40E8-8956-6EF3DAAFC2CD}"/>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37" name="Figure 5 label 36 line 1">
            <a:extLst xmlns:a="http://schemas.openxmlformats.org/drawingml/2006/main">
              <a:ext uri="{FF2B5EF4-FFF2-40B4-BE49-F238E27FC236}">
                <a16:creationId xmlns:a16="http://schemas.microsoft.com/office/drawing/2014/main" id="{0D753AB3-DF99-481E-AAB9-C5047E61D40A}"/>
              </a:ext>
            </a:extLst>
          </p:cNvPr>
          <p:cNvSpPr>
            <a:spLocks xmlns:a="http://schemas.openxmlformats.org/drawingml/2006/main" noGrp="1"/>
          </p:cNvSpPr>
          <p:nvPr/>
        </p:nvSpPr>
        <p:spPr>
          <a:xfrm xmlns:a="http://schemas.openxmlformats.org/drawingml/2006/main" rot="0">
            <a:off x="15812135" y="3271220"/>
            <a:ext cx="1055142"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Bubble area</a:t>
            </a:r>
          </a:p>
        </p:txBody>
      </p:sp>
      <p:sp>
        <p:nvSpPr>
          <p:cNvPr id="38" name="Figure 5 label 37 line 1">
            <a:extLst xmlns:a="http://schemas.openxmlformats.org/drawingml/2006/main">
              <a:ext uri="{FF2B5EF4-FFF2-40B4-BE49-F238E27FC236}">
                <a16:creationId xmlns:a16="http://schemas.microsoft.com/office/drawing/2014/main" id="{21C4F41B-42A4-4506-8F9B-1AE3A54EE642}"/>
              </a:ext>
            </a:extLst>
          </p:cNvPr>
          <p:cNvSpPr>
            <a:spLocks xmlns:a="http://schemas.openxmlformats.org/drawingml/2006/main" noGrp="1"/>
          </p:cNvSpPr>
          <p:nvPr/>
        </p:nvSpPr>
        <p:spPr>
          <a:xfrm xmlns:a="http://schemas.openxmlformats.org/drawingml/2006/main" rot="0">
            <a:off x="15812325" y="3764919"/>
            <a:ext cx="1611491"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Relative opportunity</a:t>
            </a:r>
          </a:p>
        </p:txBody>
      </p:sp>
      <p:sp>
        <p:nvSpPr>
          <p:cNvPr id="39" name="Figure 5 label 38 line 1">
            <a:extLst xmlns:a="http://schemas.openxmlformats.org/drawingml/2006/main">
              <a:ext uri="{FF2B5EF4-FFF2-40B4-BE49-F238E27FC236}">
                <a16:creationId xmlns:a16="http://schemas.microsoft.com/office/drawing/2014/main" id="{8048FA6A-97F5-46BD-BED2-B388A4DE7238}"/>
              </a:ext>
            </a:extLst>
          </p:cNvPr>
          <p:cNvSpPr>
            <a:spLocks xmlns:a="http://schemas.openxmlformats.org/drawingml/2006/main" noGrp="1"/>
          </p:cNvSpPr>
          <p:nvPr/>
        </p:nvSpPr>
        <p:spPr>
          <a:xfrm xmlns:a="http://schemas.openxmlformats.org/drawingml/2006/main" rot="0">
            <a:off x="15812325" y="4007283"/>
            <a:ext cx="1205488"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illustration; not</a:t>
            </a:r>
          </a:p>
        </p:txBody>
      </p:sp>
      <p:sp>
        <p:nvSpPr>
          <p:cNvPr id="40" name="Figure 5 label 39 line 1">
            <a:extLst xmlns:a="http://schemas.openxmlformats.org/drawingml/2006/main">
              <a:ext uri="{FF2B5EF4-FFF2-40B4-BE49-F238E27FC236}">
                <a16:creationId xmlns:a16="http://schemas.microsoft.com/office/drawing/2014/main" id="{88AE3BEB-58FD-42B5-95DC-ECB1E15B998D}"/>
              </a:ext>
            </a:extLst>
          </p:cNvPr>
          <p:cNvSpPr>
            <a:spLocks xmlns:a="http://schemas.openxmlformats.org/drawingml/2006/main" noGrp="1"/>
          </p:cNvSpPr>
          <p:nvPr/>
        </p:nvSpPr>
        <p:spPr>
          <a:xfrm xmlns:a="http://schemas.openxmlformats.org/drawingml/2006/main" rot="0">
            <a:off x="15812325" y="4247817"/>
            <a:ext cx="1271419"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measured TAM</a:t>
            </a:r>
          </a:p>
        </p:txBody>
      </p:sp>
      <p:sp>
        <p:nvSpPr>
          <p:cNvPr id="41" name="Figure 5 label 40 line 1">
            <a:extLst xmlns:a="http://schemas.openxmlformats.org/drawingml/2006/main">
              <a:ext uri="{FF2B5EF4-FFF2-40B4-BE49-F238E27FC236}">
                <a16:creationId xmlns:a16="http://schemas.microsoft.com/office/drawing/2014/main" id="{DCF44DA8-9277-4091-AEBC-4B5D731305AB}"/>
              </a:ext>
            </a:extLst>
          </p:cNvPr>
          <p:cNvSpPr>
            <a:spLocks xmlns:a="http://schemas.openxmlformats.org/drawingml/2006/main" noGrp="1"/>
          </p:cNvSpPr>
          <p:nvPr/>
        </p:nvSpPr>
        <p:spPr>
          <a:xfrm xmlns:a="http://schemas.openxmlformats.org/drawingml/2006/main" rot="0">
            <a:off x="15812325" y="6254373"/>
            <a:ext cx="1469807"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Potential elasticity</a:t>
            </a:r>
          </a:p>
        </p:txBody>
      </p:sp>
      <p:sp>
        <p:nvSpPr>
          <p:cNvPr id="42" name="Figure 5 label 41 line 1">
            <a:extLst xmlns:a="http://schemas.openxmlformats.org/drawingml/2006/main">
              <a:ext uri="{FF2B5EF4-FFF2-40B4-BE49-F238E27FC236}">
                <a16:creationId xmlns:a16="http://schemas.microsoft.com/office/drawing/2014/main" id="{9A2437A2-40A3-44D6-B8D6-C5ECE5B6E111}"/>
              </a:ext>
            </a:extLst>
          </p:cNvPr>
          <p:cNvSpPr>
            <a:spLocks xmlns:a="http://schemas.openxmlformats.org/drawingml/2006/main" noGrp="1"/>
          </p:cNvSpPr>
          <p:nvPr/>
        </p:nvSpPr>
        <p:spPr>
          <a:xfrm xmlns:a="http://schemas.openxmlformats.org/drawingml/2006/main" rot="0">
            <a:off x="15812325" y="6496737"/>
            <a:ext cx="1602413"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needs paid demand</a:t>
            </a:r>
          </a:p>
        </p:txBody>
      </p:sp>
      <p:sp>
        <p:nvSpPr>
          <p:cNvPr id="43" name="Figure 5 label 42 line 1">
            <a:extLst xmlns:a="http://schemas.openxmlformats.org/drawingml/2006/main">
              <a:ext uri="{FF2B5EF4-FFF2-40B4-BE49-F238E27FC236}">
                <a16:creationId xmlns:a16="http://schemas.microsoft.com/office/drawing/2014/main" id="{28D41FFE-E9D1-4814-9EB7-BD536C0BF678}"/>
              </a:ext>
            </a:extLst>
          </p:cNvPr>
          <p:cNvSpPr>
            <a:spLocks xmlns:a="http://schemas.openxmlformats.org/drawingml/2006/main" noGrp="1"/>
          </p:cNvSpPr>
          <p:nvPr/>
        </p:nvSpPr>
        <p:spPr>
          <a:xfrm xmlns:a="http://schemas.openxmlformats.org/drawingml/2006/main" rot="0">
            <a:off x="15812325" y="6737270"/>
            <a:ext cx="1451203"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and repeat orders</a:t>
            </a:r>
          </a:p>
        </p:txBody>
      </p:sp>
    </p:spTree>
    <p:extLst>
      <p:ext uri="{BB962C8B-B14F-4D97-AF65-F5344CB8AC3E}">
        <p14:creationId xmlns:p14="http://schemas.microsoft.com/office/powerpoint/2010/main" val="7339537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2" name="">
            <a:extLst xmlns:a="http://schemas.openxmlformats.org/drawingml/2006/main">
              <a:ext uri="{FF2B5EF4-FFF2-40B4-BE49-F238E27FC236}">
                <a16:creationId xmlns:a16="http://schemas.microsoft.com/office/drawing/2014/main" id="{5C0AA266-6C24-4143-B515-FDF88DD5191C}"/>
              </a:ext>
            </a:extLst>
          </p:cNvPr>
          <p:cNvPicPr>
            <a:picLocks xmlns:a="http://schemas.openxmlformats.org/drawingml/2006/main" noChangeAspect="1"/>
          </p:cNvPicPr>
          <p:nvPr/>
        </p:nvPicPr>
        <p:blipFill>
          <a:blip xmlns:r="http://schemas.openxmlformats.org/officeDocument/2006/relationships" xmlns:a="http://schemas.openxmlformats.org/drawingml/2006/main" r:embed="Re9fe230639ad439a"/>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6 label 1 line 1">
            <a:extLst xmlns:a="http://schemas.openxmlformats.org/drawingml/2006/main">
              <a:ext uri="{FF2B5EF4-FFF2-40B4-BE49-F238E27FC236}">
                <a16:creationId xmlns:a16="http://schemas.microsoft.com/office/drawing/2014/main" id="{533C06AA-E81B-453A-89CC-8D7DC049E5B4}"/>
              </a:ext>
            </a:extLst>
          </p:cNvPr>
          <p:cNvSpPr>
            <a:spLocks xmlns:a="http://schemas.openxmlformats.org/drawingml/2006/main" noGrp="1"/>
          </p:cNvSpPr>
          <p:nvPr/>
        </p:nvSpPr>
        <p:spPr>
          <a:xfrm xmlns:a="http://schemas.openxmlformats.org/drawingml/2006/main" rot="0">
            <a:off x="1961036" y="7564586"/>
            <a:ext cx="151120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Reagent volume</a:t>
            </a:r>
          </a:p>
        </p:txBody>
      </p:sp>
      <p:sp>
        <p:nvSpPr>
          <p:cNvPr id="3" name="Figure 6 label 2 line 1">
            <a:extLst xmlns:a="http://schemas.openxmlformats.org/drawingml/2006/main">
              <a:ext uri="{FF2B5EF4-FFF2-40B4-BE49-F238E27FC236}">
                <a16:creationId xmlns:a16="http://schemas.microsoft.com/office/drawing/2014/main" id="{C444DDCA-91BB-467A-9C55-31DFF829C422}"/>
              </a:ext>
            </a:extLst>
          </p:cNvPr>
          <p:cNvSpPr>
            <a:spLocks xmlns:a="http://schemas.openxmlformats.org/drawingml/2006/main" noGrp="1"/>
          </p:cNvSpPr>
          <p:nvPr/>
        </p:nvSpPr>
        <p:spPr>
          <a:xfrm xmlns:a="http://schemas.openxmlformats.org/drawingml/2006/main" rot="0">
            <a:off x="4490665" y="7564586"/>
            <a:ext cx="107706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Plate count</a:t>
            </a:r>
          </a:p>
        </p:txBody>
      </p:sp>
      <p:sp>
        <p:nvSpPr>
          <p:cNvPr id="4" name="Figure 6 label 3 line 1">
            <a:extLst xmlns:a="http://schemas.openxmlformats.org/drawingml/2006/main">
              <a:ext uri="{FF2B5EF4-FFF2-40B4-BE49-F238E27FC236}">
                <a16:creationId xmlns:a16="http://schemas.microsoft.com/office/drawing/2014/main" id="{124170BB-894B-4722-BD3B-CBB77835BDF6}"/>
              </a:ext>
            </a:extLst>
          </p:cNvPr>
          <p:cNvSpPr>
            <a:spLocks xmlns:a="http://schemas.openxmlformats.org/drawingml/2006/main" noGrp="1"/>
          </p:cNvSpPr>
          <p:nvPr/>
        </p:nvSpPr>
        <p:spPr>
          <a:xfrm xmlns:a="http://schemas.openxmlformats.org/drawingml/2006/main" rot="0">
            <a:off x="6888061" y="7564586"/>
            <a:ext cx="9074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Tip count</a:t>
            </a:r>
          </a:p>
        </p:txBody>
      </p:sp>
      <p:sp>
        <p:nvSpPr>
          <p:cNvPr id="5" name="Figure 6 label 4 line 1">
            <a:extLst xmlns:a="http://schemas.openxmlformats.org/drawingml/2006/main">
              <a:ext uri="{FF2B5EF4-FFF2-40B4-BE49-F238E27FC236}">
                <a16:creationId xmlns:a16="http://schemas.microsoft.com/office/drawing/2014/main" id="{F049AC47-BAD4-491D-84DF-4AC554056694}"/>
              </a:ext>
            </a:extLst>
          </p:cNvPr>
          <p:cNvSpPr>
            <a:spLocks xmlns:a="http://schemas.openxmlformats.org/drawingml/2006/main" noGrp="1"/>
          </p:cNvSpPr>
          <p:nvPr/>
        </p:nvSpPr>
        <p:spPr>
          <a:xfrm xmlns:a="http://schemas.openxmlformats.org/drawingml/2006/main" rot="0">
            <a:off x="1257379" y="7337658"/>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6" name="Figure 6 label 5 line 1">
            <a:extLst xmlns:a="http://schemas.openxmlformats.org/drawingml/2006/main">
              <a:ext uri="{FF2B5EF4-FFF2-40B4-BE49-F238E27FC236}">
                <a16:creationId xmlns:a16="http://schemas.microsoft.com/office/drawing/2014/main" id="{C4C51BAA-048E-4FFB-8482-36A98E2E627F}"/>
              </a:ext>
            </a:extLst>
          </p:cNvPr>
          <p:cNvSpPr>
            <a:spLocks xmlns:a="http://schemas.openxmlformats.org/drawingml/2006/main" noGrp="1"/>
          </p:cNvSpPr>
          <p:nvPr/>
        </p:nvSpPr>
        <p:spPr>
          <a:xfrm xmlns:a="http://schemas.openxmlformats.org/drawingml/2006/main" rot="0">
            <a:off x="1151414" y="680273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a:t>
            </a:r>
          </a:p>
        </p:txBody>
      </p:sp>
      <p:sp>
        <p:nvSpPr>
          <p:cNvPr id="7" name="Figure 6 label 6 line 1">
            <a:extLst xmlns:a="http://schemas.openxmlformats.org/drawingml/2006/main">
              <a:ext uri="{FF2B5EF4-FFF2-40B4-BE49-F238E27FC236}">
                <a16:creationId xmlns:a16="http://schemas.microsoft.com/office/drawing/2014/main" id="{06FF4F93-E16A-4DE1-9DC1-4527B00342C9}"/>
              </a:ext>
            </a:extLst>
          </p:cNvPr>
          <p:cNvSpPr>
            <a:spLocks xmlns:a="http://schemas.openxmlformats.org/drawingml/2006/main" noGrp="1"/>
          </p:cNvSpPr>
          <p:nvPr/>
        </p:nvSpPr>
        <p:spPr>
          <a:xfrm xmlns:a="http://schemas.openxmlformats.org/drawingml/2006/main" rot="0">
            <a:off x="1151414" y="6267810"/>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40</a:t>
            </a:r>
          </a:p>
        </p:txBody>
      </p:sp>
      <p:sp>
        <p:nvSpPr>
          <p:cNvPr id="8" name="Figure 6 label 7 line 1">
            <a:extLst xmlns:a="http://schemas.openxmlformats.org/drawingml/2006/main">
              <a:ext uri="{FF2B5EF4-FFF2-40B4-BE49-F238E27FC236}">
                <a16:creationId xmlns:a16="http://schemas.microsoft.com/office/drawing/2014/main" id="{32E3CA25-EC92-40DF-B22C-D9186BD29BE0}"/>
              </a:ext>
            </a:extLst>
          </p:cNvPr>
          <p:cNvSpPr>
            <a:spLocks xmlns:a="http://schemas.openxmlformats.org/drawingml/2006/main" noGrp="1"/>
          </p:cNvSpPr>
          <p:nvPr/>
        </p:nvSpPr>
        <p:spPr>
          <a:xfrm xmlns:a="http://schemas.openxmlformats.org/drawingml/2006/main" rot="0">
            <a:off x="1151414" y="5732886"/>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60</a:t>
            </a:r>
          </a:p>
        </p:txBody>
      </p:sp>
      <p:sp>
        <p:nvSpPr>
          <p:cNvPr id="9" name="Figure 6 label 8 line 1">
            <a:extLst xmlns:a="http://schemas.openxmlformats.org/drawingml/2006/main">
              <a:ext uri="{FF2B5EF4-FFF2-40B4-BE49-F238E27FC236}">
                <a16:creationId xmlns:a16="http://schemas.microsoft.com/office/drawing/2014/main" id="{840FA642-A7EB-4A9A-BF4A-FD84669D9B30}"/>
              </a:ext>
            </a:extLst>
          </p:cNvPr>
          <p:cNvSpPr>
            <a:spLocks xmlns:a="http://schemas.openxmlformats.org/drawingml/2006/main" noGrp="1"/>
          </p:cNvSpPr>
          <p:nvPr/>
        </p:nvSpPr>
        <p:spPr>
          <a:xfrm xmlns:a="http://schemas.openxmlformats.org/drawingml/2006/main" rot="0">
            <a:off x="1151414" y="5197962"/>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80</a:t>
            </a:r>
          </a:p>
        </p:txBody>
      </p:sp>
      <p:sp>
        <p:nvSpPr>
          <p:cNvPr id="10" name="Figure 6 label 9 line 1">
            <a:extLst xmlns:a="http://schemas.openxmlformats.org/drawingml/2006/main">
              <a:ext uri="{FF2B5EF4-FFF2-40B4-BE49-F238E27FC236}">
                <a16:creationId xmlns:a16="http://schemas.microsoft.com/office/drawing/2014/main" id="{00799E87-901A-45D9-84A7-15317E29F90A}"/>
              </a:ext>
            </a:extLst>
          </p:cNvPr>
          <p:cNvSpPr>
            <a:spLocks xmlns:a="http://schemas.openxmlformats.org/drawingml/2006/main" noGrp="1"/>
          </p:cNvSpPr>
          <p:nvPr/>
        </p:nvSpPr>
        <p:spPr>
          <a:xfrm xmlns:a="http://schemas.openxmlformats.org/drawingml/2006/main" rot="0">
            <a:off x="1045448" y="4663038"/>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100</a:t>
            </a:r>
          </a:p>
        </p:txBody>
      </p:sp>
      <p:sp>
        <p:nvSpPr>
          <p:cNvPr id="11" name="Figure 6 label 10 line 1">
            <a:extLst xmlns:a="http://schemas.openxmlformats.org/drawingml/2006/main">
              <a:ext uri="{FF2B5EF4-FFF2-40B4-BE49-F238E27FC236}">
                <a16:creationId xmlns:a16="http://schemas.microsoft.com/office/drawing/2014/main" id="{9545ED9D-FD93-4306-96E1-2B69BCB599A9}"/>
              </a:ext>
            </a:extLst>
          </p:cNvPr>
          <p:cNvSpPr>
            <a:spLocks xmlns:a="http://schemas.openxmlformats.org/drawingml/2006/main" noGrp="1"/>
          </p:cNvSpPr>
          <p:nvPr/>
        </p:nvSpPr>
        <p:spPr>
          <a:xfrm xmlns:a="http://schemas.openxmlformats.org/drawingml/2006/main" rot="0">
            <a:off x="1045448" y="4128114"/>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120</a:t>
            </a:r>
          </a:p>
        </p:txBody>
      </p:sp>
      <p:sp>
        <p:nvSpPr>
          <p:cNvPr id="12" name="Figure 6 label 11 line 1">
            <a:extLst xmlns:a="http://schemas.openxmlformats.org/drawingml/2006/main">
              <a:ext uri="{FF2B5EF4-FFF2-40B4-BE49-F238E27FC236}">
                <a16:creationId xmlns:a16="http://schemas.microsoft.com/office/drawing/2014/main" id="{D50C1C17-89FA-47A4-88EB-0F73E4B5ED61}"/>
              </a:ext>
            </a:extLst>
          </p:cNvPr>
          <p:cNvSpPr>
            <a:spLocks xmlns:a="http://schemas.openxmlformats.org/drawingml/2006/main" noGrp="1"/>
          </p:cNvSpPr>
          <p:nvPr/>
        </p:nvSpPr>
        <p:spPr>
          <a:xfrm xmlns:a="http://schemas.openxmlformats.org/drawingml/2006/main" rot="0">
            <a:off x="1045448" y="3593190"/>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140</a:t>
            </a:r>
          </a:p>
        </p:txBody>
      </p:sp>
      <p:sp>
        <p:nvSpPr>
          <p:cNvPr id="13" name="Figure 6 label 12 line 1">
            <a:extLst xmlns:a="http://schemas.openxmlformats.org/drawingml/2006/main">
              <a:ext uri="{FF2B5EF4-FFF2-40B4-BE49-F238E27FC236}">
                <a16:creationId xmlns:a16="http://schemas.microsoft.com/office/drawing/2014/main" id="{9B1AB241-9019-4347-917F-9973E9E45C4D}"/>
              </a:ext>
            </a:extLst>
          </p:cNvPr>
          <p:cNvSpPr>
            <a:spLocks xmlns:a="http://schemas.openxmlformats.org/drawingml/2006/main" noGrp="1"/>
          </p:cNvSpPr>
          <p:nvPr/>
        </p:nvSpPr>
        <p:spPr>
          <a:xfrm xmlns:a="http://schemas.openxmlformats.org/drawingml/2006/main" rot="16200000">
            <a:off x="354057" y="5304472"/>
            <a:ext cx="134168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Quantity index</a:t>
            </a:r>
          </a:p>
        </p:txBody>
      </p:sp>
      <p:sp>
        <p:nvSpPr>
          <p:cNvPr id="14" name="Figure 6 label 13 line 1">
            <a:extLst xmlns:a="http://schemas.openxmlformats.org/drawingml/2006/main">
              <a:ext uri="{FF2B5EF4-FFF2-40B4-BE49-F238E27FC236}">
                <a16:creationId xmlns:a16="http://schemas.microsoft.com/office/drawing/2014/main" id="{2A74F4FB-3012-4D70-8A86-213204C8CDEC}"/>
              </a:ext>
            </a:extLst>
          </p:cNvPr>
          <p:cNvSpPr>
            <a:spLocks xmlns:a="http://schemas.openxmlformats.org/drawingml/2006/main" noGrp="1"/>
          </p:cNvSpPr>
          <p:nvPr/>
        </p:nvSpPr>
        <p:spPr>
          <a:xfrm xmlns:a="http://schemas.openxmlformats.org/drawingml/2006/main" rot="0">
            <a:off x="2800582" y="5765178"/>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50.0</a:t>
            </a:r>
          </a:p>
        </p:txBody>
      </p:sp>
      <p:sp>
        <p:nvSpPr>
          <p:cNvPr id="15" name="Figure 6 label 14 line 1">
            <a:extLst xmlns:a="http://schemas.openxmlformats.org/drawingml/2006/main">
              <a:ext uri="{FF2B5EF4-FFF2-40B4-BE49-F238E27FC236}">
                <a16:creationId xmlns:a16="http://schemas.microsoft.com/office/drawing/2014/main" id="{249E058E-BA47-4667-A061-5BC076AD0865}"/>
              </a:ext>
            </a:extLst>
          </p:cNvPr>
          <p:cNvSpPr>
            <a:spLocks xmlns:a="http://schemas.openxmlformats.org/drawingml/2006/main" noGrp="1"/>
          </p:cNvSpPr>
          <p:nvPr/>
        </p:nvSpPr>
        <p:spPr>
          <a:xfrm xmlns:a="http://schemas.openxmlformats.org/drawingml/2006/main" rot="0">
            <a:off x="5113145" y="5428925"/>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62.6</a:t>
            </a:r>
          </a:p>
        </p:txBody>
      </p:sp>
      <p:sp>
        <p:nvSpPr>
          <p:cNvPr id="16" name="Figure 6 label 15 line 1">
            <a:extLst xmlns:a="http://schemas.openxmlformats.org/drawingml/2006/main">
              <a:ext uri="{FF2B5EF4-FFF2-40B4-BE49-F238E27FC236}">
                <a16:creationId xmlns:a16="http://schemas.microsoft.com/office/drawing/2014/main" id="{FE747CFF-B9B5-422E-ACFC-EBE868011462}"/>
              </a:ext>
            </a:extLst>
          </p:cNvPr>
          <p:cNvSpPr>
            <a:spLocks xmlns:a="http://schemas.openxmlformats.org/drawingml/2006/main" noGrp="1"/>
          </p:cNvSpPr>
          <p:nvPr/>
        </p:nvSpPr>
        <p:spPr>
          <a:xfrm xmlns:a="http://schemas.openxmlformats.org/drawingml/2006/main" rot="0">
            <a:off x="7359555" y="4427868"/>
            <a:ext cx="750689"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100.0</a:t>
            </a:r>
          </a:p>
        </p:txBody>
      </p:sp>
      <p:sp>
        <p:nvSpPr>
          <p:cNvPr id="17" name="Figure 6 label 16 line 1">
            <a:extLst xmlns:a="http://schemas.openxmlformats.org/drawingml/2006/main">
              <a:ext uri="{FF2B5EF4-FFF2-40B4-BE49-F238E27FC236}">
                <a16:creationId xmlns:a16="http://schemas.microsoft.com/office/drawing/2014/main" id="{B96D8483-5DDC-4E1C-A3D9-6A06B5C1EE05}"/>
              </a:ext>
            </a:extLst>
          </p:cNvPr>
          <p:cNvSpPr>
            <a:spLocks xmlns:a="http://schemas.openxmlformats.org/drawingml/2006/main" noGrp="1"/>
          </p:cNvSpPr>
          <p:nvPr/>
        </p:nvSpPr>
        <p:spPr>
          <a:xfrm xmlns:a="http://schemas.openxmlformats.org/drawingml/2006/main" rot="0">
            <a:off x="4041526" y="2935288"/>
            <a:ext cx="1975346"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0">
                <a:solidFill>
                  <a:srgbClr val="00355F"/>
                </a:solidFill>
                <a:latin typeface="Arial Unicode MS"/>
                <a:ea typeface="Arial Unicode MS"/>
                <a:cs typeface="Arial Unicode MS"/>
              </a:defRPr>
            </a:pPr>
            <a:r>
              <a:rPr sz="2125" b="0">
                <a:solidFill>
                  <a:srgbClr val="00355F"/>
                </a:solidFill>
                <a:latin typeface="Arial Unicode MS"/>
                <a:ea typeface="Arial Unicode MS"/>
                <a:cs typeface="Arial Unicode MS"/>
              </a:rPr>
              <a:t>Physical inputs</a:t>
            </a:r>
          </a:p>
        </p:txBody>
      </p:sp>
      <p:sp>
        <p:nvSpPr>
          <p:cNvPr id="18" name="Figure 6 label 17 line 1">
            <a:extLst xmlns:a="http://schemas.openxmlformats.org/drawingml/2006/main">
              <a:ext uri="{FF2B5EF4-FFF2-40B4-BE49-F238E27FC236}">
                <a16:creationId xmlns:a16="http://schemas.microsoft.com/office/drawing/2014/main" id="{F68927C4-86AC-4E07-9505-6773F2F17101}"/>
              </a:ext>
            </a:extLst>
          </p:cNvPr>
          <p:cNvSpPr>
            <a:spLocks xmlns:a="http://schemas.openxmlformats.org/drawingml/2006/main" noGrp="1"/>
          </p:cNvSpPr>
          <p:nvPr/>
        </p:nvSpPr>
        <p:spPr>
          <a:xfrm xmlns:a="http://schemas.openxmlformats.org/drawingml/2006/main" rot="0">
            <a:off x="7208560" y="3554060"/>
            <a:ext cx="1157635" cy="1984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250" b="0">
                <a:solidFill>
                  <a:srgbClr val="00355F"/>
                </a:solidFill>
                <a:latin typeface="Arial Unicode MS"/>
                <a:ea typeface="Arial Unicode MS"/>
                <a:cs typeface="Arial Unicode MS"/>
              </a:defRPr>
            </a:pPr>
            <a:r>
              <a:rPr sz="1250" b="0">
                <a:solidFill>
                  <a:srgbClr val="00355F"/>
                </a:solidFill>
                <a:latin typeface="Arial Unicode MS"/>
                <a:ea typeface="Arial Unicode MS"/>
                <a:cs typeface="Arial Unicode MS"/>
              </a:rPr>
              <a:t>Baseline = 100</a:t>
            </a:r>
          </a:p>
        </p:txBody>
      </p:sp>
      <p:sp>
        <p:nvSpPr>
          <p:cNvPr id="19" name="Figure 6 label 18 line 1">
            <a:extLst xmlns:a="http://schemas.openxmlformats.org/drawingml/2006/main">
              <a:ext uri="{FF2B5EF4-FFF2-40B4-BE49-F238E27FC236}">
                <a16:creationId xmlns:a16="http://schemas.microsoft.com/office/drawing/2014/main" id="{D8EC9582-ED11-419B-8D3F-13F35A94EB84}"/>
              </a:ext>
            </a:extLst>
          </p:cNvPr>
          <p:cNvSpPr>
            <a:spLocks xmlns:a="http://schemas.openxmlformats.org/drawingml/2006/main" noGrp="1"/>
          </p:cNvSpPr>
          <p:nvPr/>
        </p:nvSpPr>
        <p:spPr>
          <a:xfrm xmlns:a="http://schemas.openxmlformats.org/drawingml/2006/main" rot="0">
            <a:off x="7208560" y="3778692"/>
            <a:ext cx="751632" cy="1984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250" b="0">
                <a:solidFill>
                  <a:srgbClr val="00355F"/>
                </a:solidFill>
                <a:latin typeface="Arial Unicode MS"/>
                <a:ea typeface="Arial Unicode MS"/>
                <a:cs typeface="Arial Unicode MS"/>
              </a:defRPr>
            </a:pPr>
            <a:r>
              <a:rPr sz="1250" b="0">
                <a:solidFill>
                  <a:srgbClr val="00355F"/>
                </a:solidFill>
                <a:latin typeface="Arial Unicode MS"/>
                <a:ea typeface="Arial Unicode MS"/>
                <a:cs typeface="Arial Unicode MS"/>
              </a:rPr>
              <a:t>10× tests</a:t>
            </a:r>
          </a:p>
        </p:txBody>
      </p:sp>
      <p:sp>
        <p:nvSpPr>
          <p:cNvPr id="20" name="Figure 6 label 19 line 1">
            <a:extLst xmlns:a="http://schemas.openxmlformats.org/drawingml/2006/main">
              <a:ext uri="{FF2B5EF4-FFF2-40B4-BE49-F238E27FC236}">
                <a16:creationId xmlns:a16="http://schemas.microsoft.com/office/drawing/2014/main" id="{F199CA87-6DD0-4214-B3DD-FF2EE838DEDE}"/>
              </a:ext>
            </a:extLst>
          </p:cNvPr>
          <p:cNvSpPr>
            <a:spLocks xmlns:a="http://schemas.openxmlformats.org/drawingml/2006/main" noGrp="1"/>
          </p:cNvSpPr>
          <p:nvPr/>
        </p:nvSpPr>
        <p:spPr>
          <a:xfrm xmlns:a="http://schemas.openxmlformats.org/drawingml/2006/main" rot="0">
            <a:off x="10651444" y="7566908"/>
            <a:ext cx="12412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 plate ASP</a:t>
            </a:r>
          </a:p>
        </p:txBody>
      </p:sp>
      <p:sp>
        <p:nvSpPr>
          <p:cNvPr id="21" name="Figure 6 label 20 line 1">
            <a:extLst xmlns:a="http://schemas.openxmlformats.org/drawingml/2006/main">
              <a:ext uri="{FF2B5EF4-FFF2-40B4-BE49-F238E27FC236}">
                <a16:creationId xmlns:a16="http://schemas.microsoft.com/office/drawing/2014/main" id="{123C54A0-9FDE-442A-A1C7-904C3A7C5E9A}"/>
              </a:ext>
            </a:extLst>
          </p:cNvPr>
          <p:cNvSpPr>
            <a:spLocks xmlns:a="http://schemas.openxmlformats.org/drawingml/2006/main" noGrp="1"/>
          </p:cNvSpPr>
          <p:nvPr/>
        </p:nvSpPr>
        <p:spPr>
          <a:xfrm xmlns:a="http://schemas.openxmlformats.org/drawingml/2006/main" rot="0">
            <a:off x="12912507" y="7566908"/>
            <a:ext cx="12412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 plate ASP</a:t>
            </a:r>
          </a:p>
        </p:txBody>
      </p:sp>
      <p:sp>
        <p:nvSpPr>
          <p:cNvPr id="22" name="Figure 6 label 21 line 1">
            <a:extLst xmlns:a="http://schemas.openxmlformats.org/drawingml/2006/main">
              <a:ext uri="{FF2B5EF4-FFF2-40B4-BE49-F238E27FC236}">
                <a16:creationId xmlns:a16="http://schemas.microsoft.com/office/drawing/2014/main" id="{D1FF2AE9-70B8-431E-92E6-150F756F75DE}"/>
              </a:ext>
            </a:extLst>
          </p:cNvPr>
          <p:cNvSpPr>
            <a:spLocks xmlns:a="http://schemas.openxmlformats.org/drawingml/2006/main" noGrp="1"/>
          </p:cNvSpPr>
          <p:nvPr/>
        </p:nvSpPr>
        <p:spPr>
          <a:xfrm xmlns:a="http://schemas.openxmlformats.org/drawingml/2006/main" rot="0">
            <a:off x="15173569" y="7566908"/>
            <a:ext cx="12412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 plate ASP</a:t>
            </a:r>
          </a:p>
        </p:txBody>
      </p:sp>
      <p:sp>
        <p:nvSpPr>
          <p:cNvPr id="23" name="Figure 6 label 22 line 1">
            <a:extLst xmlns:a="http://schemas.openxmlformats.org/drawingml/2006/main">
              <a:ext uri="{FF2B5EF4-FFF2-40B4-BE49-F238E27FC236}">
                <a16:creationId xmlns:a16="http://schemas.microsoft.com/office/drawing/2014/main" id="{E617C682-80FF-4006-A665-BE7540742DCC}"/>
              </a:ext>
            </a:extLst>
          </p:cNvPr>
          <p:cNvSpPr>
            <a:spLocks xmlns:a="http://schemas.openxmlformats.org/drawingml/2006/main" noGrp="1"/>
          </p:cNvSpPr>
          <p:nvPr/>
        </p:nvSpPr>
        <p:spPr>
          <a:xfrm xmlns:a="http://schemas.openxmlformats.org/drawingml/2006/main" rot="0">
            <a:off x="10035619" y="7337658"/>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24" name="Figure 6 label 23 line 1">
            <a:extLst xmlns:a="http://schemas.openxmlformats.org/drawingml/2006/main">
              <a:ext uri="{FF2B5EF4-FFF2-40B4-BE49-F238E27FC236}">
                <a16:creationId xmlns:a16="http://schemas.microsoft.com/office/drawing/2014/main" id="{CF007D2A-58CE-44F1-972C-0E1DB923EF5D}"/>
              </a:ext>
            </a:extLst>
          </p:cNvPr>
          <p:cNvSpPr>
            <a:spLocks xmlns:a="http://schemas.openxmlformats.org/drawingml/2006/main" noGrp="1"/>
          </p:cNvSpPr>
          <p:nvPr/>
        </p:nvSpPr>
        <p:spPr>
          <a:xfrm xmlns:a="http://schemas.openxmlformats.org/drawingml/2006/main" rot="0">
            <a:off x="9929653" y="6645946"/>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50</a:t>
            </a:r>
          </a:p>
        </p:txBody>
      </p:sp>
      <p:sp>
        <p:nvSpPr>
          <p:cNvPr id="25" name="Figure 6 label 24 line 1">
            <a:extLst xmlns:a="http://schemas.openxmlformats.org/drawingml/2006/main">
              <a:ext uri="{FF2B5EF4-FFF2-40B4-BE49-F238E27FC236}">
                <a16:creationId xmlns:a16="http://schemas.microsoft.com/office/drawing/2014/main" id="{6642BB07-923D-4372-AF07-31F4CBA8CE94}"/>
              </a:ext>
            </a:extLst>
          </p:cNvPr>
          <p:cNvSpPr>
            <a:spLocks xmlns:a="http://schemas.openxmlformats.org/drawingml/2006/main" noGrp="1"/>
          </p:cNvSpPr>
          <p:nvPr/>
        </p:nvSpPr>
        <p:spPr>
          <a:xfrm xmlns:a="http://schemas.openxmlformats.org/drawingml/2006/main" rot="0">
            <a:off x="9823688" y="5954234"/>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100</a:t>
            </a:r>
          </a:p>
        </p:txBody>
      </p:sp>
      <p:sp>
        <p:nvSpPr>
          <p:cNvPr id="26" name="Figure 6 label 25 line 1">
            <a:extLst xmlns:a="http://schemas.openxmlformats.org/drawingml/2006/main">
              <a:ext uri="{FF2B5EF4-FFF2-40B4-BE49-F238E27FC236}">
                <a16:creationId xmlns:a16="http://schemas.microsoft.com/office/drawing/2014/main" id="{604B2026-8F25-4418-8B46-EFCA1ED97761}"/>
              </a:ext>
            </a:extLst>
          </p:cNvPr>
          <p:cNvSpPr>
            <a:spLocks xmlns:a="http://schemas.openxmlformats.org/drawingml/2006/main" noGrp="1"/>
          </p:cNvSpPr>
          <p:nvPr/>
        </p:nvSpPr>
        <p:spPr>
          <a:xfrm xmlns:a="http://schemas.openxmlformats.org/drawingml/2006/main" rot="0">
            <a:off x="9823688" y="5262522"/>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150</a:t>
            </a:r>
          </a:p>
        </p:txBody>
      </p:sp>
      <p:sp>
        <p:nvSpPr>
          <p:cNvPr id="27" name="Figure 6 label 26 line 1">
            <a:extLst xmlns:a="http://schemas.openxmlformats.org/drawingml/2006/main">
              <a:ext uri="{FF2B5EF4-FFF2-40B4-BE49-F238E27FC236}">
                <a16:creationId xmlns:a16="http://schemas.microsoft.com/office/drawing/2014/main" id="{4D8DE3F6-C496-4F8C-A577-83988DCA60D6}"/>
              </a:ext>
            </a:extLst>
          </p:cNvPr>
          <p:cNvSpPr>
            <a:spLocks xmlns:a="http://schemas.openxmlformats.org/drawingml/2006/main" noGrp="1"/>
          </p:cNvSpPr>
          <p:nvPr/>
        </p:nvSpPr>
        <p:spPr>
          <a:xfrm xmlns:a="http://schemas.openxmlformats.org/drawingml/2006/main" rot="0">
            <a:off x="9823688" y="4570810"/>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200</a:t>
            </a:r>
          </a:p>
        </p:txBody>
      </p:sp>
      <p:sp>
        <p:nvSpPr>
          <p:cNvPr id="28" name="Figure 6 label 27 line 1">
            <a:extLst xmlns:a="http://schemas.openxmlformats.org/drawingml/2006/main">
              <a:ext uri="{FF2B5EF4-FFF2-40B4-BE49-F238E27FC236}">
                <a16:creationId xmlns:a16="http://schemas.microsoft.com/office/drawing/2014/main" id="{BF6D3764-9F5A-4CBE-AFE0-F3BDC8F50FC6}"/>
              </a:ext>
            </a:extLst>
          </p:cNvPr>
          <p:cNvSpPr>
            <a:spLocks xmlns:a="http://schemas.openxmlformats.org/drawingml/2006/main" noGrp="1"/>
          </p:cNvSpPr>
          <p:nvPr/>
        </p:nvSpPr>
        <p:spPr>
          <a:xfrm xmlns:a="http://schemas.openxmlformats.org/drawingml/2006/main" rot="0">
            <a:off x="9823688" y="3879098"/>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250</a:t>
            </a:r>
          </a:p>
        </p:txBody>
      </p:sp>
      <p:sp>
        <p:nvSpPr>
          <p:cNvPr id="29" name="Figure 6 label 28 line 1">
            <a:extLst xmlns:a="http://schemas.openxmlformats.org/drawingml/2006/main">
              <a:ext uri="{FF2B5EF4-FFF2-40B4-BE49-F238E27FC236}">
                <a16:creationId xmlns:a16="http://schemas.microsoft.com/office/drawing/2014/main" id="{8508030A-C35A-4026-8314-2A4A9D919464}"/>
              </a:ext>
            </a:extLst>
          </p:cNvPr>
          <p:cNvSpPr>
            <a:spLocks xmlns:a="http://schemas.openxmlformats.org/drawingml/2006/main" noGrp="1"/>
          </p:cNvSpPr>
          <p:nvPr/>
        </p:nvSpPr>
        <p:spPr>
          <a:xfrm xmlns:a="http://schemas.openxmlformats.org/drawingml/2006/main" rot="16200000">
            <a:off x="8985969" y="5304473"/>
            <a:ext cx="16384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Plate spend index</a:t>
            </a:r>
          </a:p>
        </p:txBody>
      </p:sp>
      <p:sp>
        <p:nvSpPr>
          <p:cNvPr id="30" name="Figure 6 label 29 line 1">
            <a:extLst xmlns:a="http://schemas.openxmlformats.org/drawingml/2006/main">
              <a:ext uri="{FF2B5EF4-FFF2-40B4-BE49-F238E27FC236}">
                <a16:creationId xmlns:a16="http://schemas.microsoft.com/office/drawing/2014/main" id="{52E458CB-931C-45DE-98A0-5610B513F110}"/>
              </a:ext>
            </a:extLst>
          </p:cNvPr>
          <p:cNvSpPr>
            <a:spLocks xmlns:a="http://schemas.openxmlformats.org/drawingml/2006/main" noGrp="1"/>
          </p:cNvSpPr>
          <p:nvPr/>
        </p:nvSpPr>
        <p:spPr>
          <a:xfrm xmlns:a="http://schemas.openxmlformats.org/drawingml/2006/main" rot="0">
            <a:off x="10921741" y="6220826"/>
            <a:ext cx="70063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62.6</a:t>
            </a:r>
          </a:p>
        </p:txBody>
      </p:sp>
      <p:sp>
        <p:nvSpPr>
          <p:cNvPr id="31" name="Figure 6 label 30 line 1">
            <a:extLst xmlns:a="http://schemas.openxmlformats.org/drawingml/2006/main">
              <a:ext uri="{FF2B5EF4-FFF2-40B4-BE49-F238E27FC236}">
                <a16:creationId xmlns:a16="http://schemas.microsoft.com/office/drawing/2014/main" id="{5C4A7D36-B6AB-4A67-A621-657CCEE07AEA}"/>
              </a:ext>
            </a:extLst>
          </p:cNvPr>
          <p:cNvSpPr>
            <a:spLocks xmlns:a="http://schemas.openxmlformats.org/drawingml/2006/main" noGrp="1"/>
          </p:cNvSpPr>
          <p:nvPr/>
        </p:nvSpPr>
        <p:spPr>
          <a:xfrm xmlns:a="http://schemas.openxmlformats.org/drawingml/2006/main" rot="0">
            <a:off x="13107720" y="5355190"/>
            <a:ext cx="850801"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125.1</a:t>
            </a:r>
          </a:p>
        </p:txBody>
      </p:sp>
      <p:sp>
        <p:nvSpPr>
          <p:cNvPr id="32" name="Figure 6 label 31 line 1">
            <a:extLst xmlns:a="http://schemas.openxmlformats.org/drawingml/2006/main">
              <a:ext uri="{FF2B5EF4-FFF2-40B4-BE49-F238E27FC236}">
                <a16:creationId xmlns:a16="http://schemas.microsoft.com/office/drawing/2014/main" id="{2BF94DA0-ABF4-407A-9D24-0573F6DEB11A}"/>
              </a:ext>
            </a:extLst>
          </p:cNvPr>
          <p:cNvSpPr>
            <a:spLocks xmlns:a="http://schemas.openxmlformats.org/drawingml/2006/main" noGrp="1"/>
          </p:cNvSpPr>
          <p:nvPr/>
        </p:nvSpPr>
        <p:spPr>
          <a:xfrm xmlns:a="http://schemas.openxmlformats.org/drawingml/2006/main" rot="0">
            <a:off x="15368782" y="3623919"/>
            <a:ext cx="850801"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250.3</a:t>
            </a:r>
          </a:p>
        </p:txBody>
      </p:sp>
      <p:sp>
        <p:nvSpPr>
          <p:cNvPr id="33" name="Figure 6 label 32 line 1">
            <a:extLst xmlns:a="http://schemas.openxmlformats.org/drawingml/2006/main">
              <a:ext uri="{FF2B5EF4-FFF2-40B4-BE49-F238E27FC236}">
                <a16:creationId xmlns:a16="http://schemas.microsoft.com/office/drawing/2014/main" id="{91F89966-A918-4AE0-8DE2-1EF5FE2F0122}"/>
              </a:ext>
            </a:extLst>
          </p:cNvPr>
          <p:cNvSpPr>
            <a:spLocks xmlns:a="http://schemas.openxmlformats.org/drawingml/2006/main" noGrp="1"/>
          </p:cNvSpPr>
          <p:nvPr/>
        </p:nvSpPr>
        <p:spPr>
          <a:xfrm xmlns:a="http://schemas.openxmlformats.org/drawingml/2006/main" rot="0">
            <a:off x="11788135" y="2935288"/>
            <a:ext cx="3489970"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0">
                <a:solidFill>
                  <a:srgbClr val="00355F"/>
                </a:solidFill>
                <a:latin typeface="Arial Unicode MS"/>
                <a:ea typeface="Arial Unicode MS"/>
                <a:cs typeface="Arial Unicode MS"/>
              </a:defRPr>
            </a:pPr>
            <a:r>
              <a:rPr sz="2125" b="0">
                <a:solidFill>
                  <a:srgbClr val="00355F"/>
                </a:solidFill>
                <a:latin typeface="Arial Unicode MS"/>
                <a:ea typeface="Arial Unicode MS"/>
                <a:cs typeface="Arial Unicode MS"/>
              </a:rPr>
              <a:t>Fewer plates can cost more</a:t>
            </a:r>
          </a:p>
        </p:txBody>
      </p:sp>
      <p:sp>
        <p:nvSpPr>
          <p:cNvPr id="34" name="Figure 6 label 33 line 1">
            <a:extLst xmlns:a="http://schemas.openxmlformats.org/drawingml/2006/main">
              <a:ext uri="{FF2B5EF4-FFF2-40B4-BE49-F238E27FC236}">
                <a16:creationId xmlns:a16="http://schemas.microsoft.com/office/drawing/2014/main" id="{3985FD5F-4779-4A44-95CA-77C2EF277053}"/>
              </a:ext>
            </a:extLst>
          </p:cNvPr>
          <p:cNvSpPr>
            <a:spLocks xmlns:a="http://schemas.openxmlformats.org/drawingml/2006/main" noGrp="1"/>
          </p:cNvSpPr>
          <p:nvPr/>
        </p:nvSpPr>
        <p:spPr>
          <a:xfrm xmlns:a="http://schemas.openxmlformats.org/drawingml/2006/main" rot="0">
            <a:off x="991870" y="423803"/>
            <a:ext cx="6709817"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06  Quantities and prices in miniaturization</a:t>
            </a:r>
          </a:p>
        </p:txBody>
      </p:sp>
      <p:sp>
        <p:nvSpPr>
          <p:cNvPr id="35" name="Figure 6 label 34 line 1">
            <a:extLst xmlns:a="http://schemas.openxmlformats.org/drawingml/2006/main">
              <a:ext uri="{FF2B5EF4-FFF2-40B4-BE49-F238E27FC236}">
                <a16:creationId xmlns:a16="http://schemas.microsoft.com/office/drawing/2014/main" id="{8222D3FC-900A-42DD-814A-BB0D498888B2}"/>
              </a:ext>
            </a:extLst>
          </p:cNvPr>
          <p:cNvSpPr>
            <a:spLocks xmlns:a="http://schemas.openxmlformats.org/drawingml/2006/main" noGrp="1"/>
          </p:cNvSpPr>
          <p:nvPr/>
        </p:nvSpPr>
        <p:spPr>
          <a:xfrm xmlns:a="http://schemas.openxmlformats.org/drawingml/2006/main" rot="0">
            <a:off x="15720740" y="661601"/>
            <a:ext cx="1019721"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SENSITIVITY</a:t>
            </a:r>
          </a:p>
        </p:txBody>
      </p:sp>
      <p:sp>
        <p:nvSpPr>
          <p:cNvPr id="36" name="Figure 6 label 35 line 1">
            <a:extLst xmlns:a="http://schemas.openxmlformats.org/drawingml/2006/main">
              <a:ext uri="{FF2B5EF4-FFF2-40B4-BE49-F238E27FC236}">
                <a16:creationId xmlns:a16="http://schemas.microsoft.com/office/drawing/2014/main" id="{DFECD49A-7C29-4CE3-9E52-4115A5FA51F6}"/>
              </a:ext>
            </a:extLst>
          </p:cNvPr>
          <p:cNvSpPr>
            <a:spLocks xmlns:a="http://schemas.openxmlformats.org/drawingml/2006/main" noGrp="1"/>
          </p:cNvSpPr>
          <p:nvPr/>
        </p:nvSpPr>
        <p:spPr>
          <a:xfrm xmlns:a="http://schemas.openxmlformats.org/drawingml/2006/main" rot="0">
            <a:off x="998220" y="1248653"/>
            <a:ext cx="74521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 tests: 10 L → 5 L reagent; 1,042 → 652 plates; 100k → 100k tips. Full usable plates.</a:t>
            </a:r>
          </a:p>
        </p:txBody>
      </p:sp>
      <p:sp>
        <p:nvSpPr>
          <p:cNvPr id="37" name="Figure 6 label 36 line 1">
            <a:extLst xmlns:a="http://schemas.openxmlformats.org/drawingml/2006/main">
              <a:ext uri="{FF2B5EF4-FFF2-40B4-BE49-F238E27FC236}">
                <a16:creationId xmlns:a16="http://schemas.microsoft.com/office/drawing/2014/main" id="{3998A6AD-6264-4BA6-8932-0839F5075089}"/>
              </a:ext>
            </a:extLst>
          </p:cNvPr>
          <p:cNvSpPr>
            <a:spLocks xmlns:a="http://schemas.openxmlformats.org/drawingml/2006/main" noGrp="1"/>
          </p:cNvSpPr>
          <p:nvPr/>
        </p:nvSpPr>
        <p:spPr>
          <a:xfrm xmlns:a="http://schemas.openxmlformats.org/drawingml/2006/main" rot="0">
            <a:off x="999173" y="9256035"/>
            <a:ext cx="911468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Price ratios are analyst inputs, not quoted ASPs. Dead volume, controls, usable wells and retesting can change quantities.</a:t>
            </a:r>
          </a:p>
        </p:txBody>
      </p:sp>
      <p:sp>
        <p:nvSpPr>
          <p:cNvPr id="38" name="Figure 6 label 37 line 1">
            <a:extLst xmlns:a="http://schemas.openxmlformats.org/drawingml/2006/main">
              <a:ext uri="{FF2B5EF4-FFF2-40B4-BE49-F238E27FC236}">
                <a16:creationId xmlns:a16="http://schemas.microsoft.com/office/drawing/2014/main" id="{CE314C02-5689-4775-B565-C9B239AE941B}"/>
              </a:ext>
            </a:extLst>
          </p:cNvPr>
          <p:cNvSpPr>
            <a:spLocks xmlns:a="http://schemas.openxmlformats.org/drawingml/2006/main" noGrp="1"/>
          </p:cNvSpPr>
          <p:nvPr/>
        </p:nvSpPr>
        <p:spPr>
          <a:xfrm xmlns:a="http://schemas.openxmlformats.org/drawingml/2006/main" rot="0">
            <a:off x="1000316" y="9676290"/>
            <a:ext cx="7147054"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transparent arithmetic from supplied test volumes and well counts. Units and sensitivities in SOURCES.md.</a:t>
            </a:r>
          </a:p>
        </p:txBody>
      </p:sp>
      <p:sp>
        <p:nvSpPr>
          <p:cNvPr id="39" name="Figure 6 label 38 line 1">
            <a:extLst xmlns:a="http://schemas.openxmlformats.org/drawingml/2006/main">
              <a:ext uri="{FF2B5EF4-FFF2-40B4-BE49-F238E27FC236}">
                <a16:creationId xmlns:a16="http://schemas.microsoft.com/office/drawing/2014/main" id="{A77B81F1-A087-48BC-BA9F-24FA300218D3}"/>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40" name="Figure 6 label 39 line 1">
            <a:extLst xmlns:a="http://schemas.openxmlformats.org/drawingml/2006/main">
              <a:ext uri="{FF2B5EF4-FFF2-40B4-BE49-F238E27FC236}">
                <a16:creationId xmlns:a16="http://schemas.microsoft.com/office/drawing/2014/main" id="{1C511B06-B7CF-43A0-85EE-57983EBC85DE}"/>
              </a:ext>
            </a:extLst>
          </p:cNvPr>
          <p:cNvSpPr>
            <a:spLocks xmlns:a="http://schemas.openxmlformats.org/drawingml/2006/main" noGrp="1"/>
          </p:cNvSpPr>
          <p:nvPr/>
        </p:nvSpPr>
        <p:spPr>
          <a:xfrm xmlns:a="http://schemas.openxmlformats.org/drawingml/2006/main" rot="0">
            <a:off x="6060803" y="2357719"/>
            <a:ext cx="6166396"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250" b="1">
                <a:solidFill>
                  <a:srgbClr val="00355F"/>
                </a:solidFill>
                <a:latin typeface="Arial Unicode MS"/>
                <a:ea typeface="Arial Unicode MS"/>
                <a:cs typeface="Arial Unicode MS"/>
              </a:defRPr>
            </a:pPr>
            <a:r>
              <a:rPr sz="2250" b="1">
                <a:solidFill>
                  <a:srgbClr val="00355F"/>
                </a:solidFill>
                <a:latin typeface="Arial Unicode MS"/>
                <a:ea typeface="Arial Unicode MS"/>
                <a:cs typeface="Arial Unicode MS"/>
              </a:rPr>
              <a:t>Quantities × net unit prices determine spending</a:t>
            </a:r>
          </a:p>
        </p:txBody>
      </p:sp>
      <p:sp>
        <p:nvSpPr>
          <p:cNvPr id="41" name="Figure 6 label 40 line 1">
            <a:extLst xmlns:a="http://schemas.openxmlformats.org/drawingml/2006/main">
              <a:ext uri="{FF2B5EF4-FFF2-40B4-BE49-F238E27FC236}">
                <a16:creationId xmlns:a16="http://schemas.microsoft.com/office/drawing/2014/main" id="{7A7B0330-FAD6-414B-9A98-34B7FD78C286}"/>
              </a:ext>
            </a:extLst>
          </p:cNvPr>
          <p:cNvSpPr>
            <a:spLocks xmlns:a="http://schemas.openxmlformats.org/drawingml/2006/main" noGrp="1"/>
          </p:cNvSpPr>
          <p:nvPr/>
        </p:nvSpPr>
        <p:spPr>
          <a:xfrm xmlns:a="http://schemas.openxmlformats.org/drawingml/2006/main" rot="0">
            <a:off x="4859635" y="8329783"/>
            <a:ext cx="8568730"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Plate spending exceeds baseline if the plate ASP ratio is above 1.60×.</a:t>
            </a:r>
          </a:p>
        </p:txBody>
      </p:sp>
    </p:spTree>
    <p:extLst>
      <p:ext uri="{BB962C8B-B14F-4D97-AF65-F5344CB8AC3E}">
        <p14:creationId xmlns:p14="http://schemas.microsoft.com/office/powerpoint/2010/main" val="19763983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7" name="">
            <a:extLst xmlns:a="http://schemas.openxmlformats.org/drawingml/2006/main">
              <a:ext uri="{FF2B5EF4-FFF2-40B4-BE49-F238E27FC236}">
                <a16:creationId xmlns:a16="http://schemas.microsoft.com/office/drawing/2014/main" id="{6BA8A9E7-3DE5-4DEA-AE95-60BD92F1471B}"/>
              </a:ext>
            </a:extLst>
          </p:cNvPr>
          <p:cNvPicPr>
            <a:picLocks xmlns:a="http://schemas.openxmlformats.org/drawingml/2006/main" noChangeAspect="1"/>
          </p:cNvPicPr>
          <p:nvPr/>
        </p:nvPicPr>
        <p:blipFill>
          <a:blip xmlns:r="http://schemas.openxmlformats.org/officeDocument/2006/relationships" xmlns:a="http://schemas.openxmlformats.org/drawingml/2006/main" r:embed="R9b9e7c677e8d466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7 label 1 line 1">
            <a:extLst xmlns:a="http://schemas.openxmlformats.org/drawingml/2006/main">
              <a:ext uri="{FF2B5EF4-FFF2-40B4-BE49-F238E27FC236}">
                <a16:creationId xmlns:a16="http://schemas.microsoft.com/office/drawing/2014/main" id="{A704ECC0-7CCD-4478-841E-220491F83A3B}"/>
              </a:ext>
            </a:extLst>
          </p:cNvPr>
          <p:cNvSpPr>
            <a:spLocks xmlns:a="http://schemas.openxmlformats.org/drawingml/2006/main" noGrp="1"/>
          </p:cNvSpPr>
          <p:nvPr/>
        </p:nvSpPr>
        <p:spPr>
          <a:xfrm xmlns:a="http://schemas.openxmlformats.org/drawingml/2006/main" rot="0">
            <a:off x="2388045" y="7790563"/>
            <a:ext cx="1841401"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US$50bn total funding</a:t>
            </a:r>
          </a:p>
        </p:txBody>
      </p:sp>
      <p:sp>
        <p:nvSpPr>
          <p:cNvPr id="3" name="Figure 7 label 2 line 1">
            <a:extLst xmlns:a="http://schemas.openxmlformats.org/drawingml/2006/main">
              <a:ext uri="{FF2B5EF4-FFF2-40B4-BE49-F238E27FC236}">
                <a16:creationId xmlns:a16="http://schemas.microsoft.com/office/drawing/2014/main" id="{B6E107E2-74B2-4D19-A268-09AFA84FB1B0}"/>
              </a:ext>
            </a:extLst>
          </p:cNvPr>
          <p:cNvSpPr>
            <a:spLocks xmlns:a="http://schemas.openxmlformats.org/drawingml/2006/main" noGrp="1"/>
          </p:cNvSpPr>
          <p:nvPr/>
        </p:nvSpPr>
        <p:spPr>
          <a:xfrm xmlns:a="http://schemas.openxmlformats.org/drawingml/2006/main" rot="0">
            <a:off x="5888708" y="7790563"/>
            <a:ext cx="193858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US$100bn total funding</a:t>
            </a:r>
          </a:p>
        </p:txBody>
      </p:sp>
      <p:sp>
        <p:nvSpPr>
          <p:cNvPr id="4" name="Figure 7 label 3 line 1">
            <a:extLst xmlns:a="http://schemas.openxmlformats.org/drawingml/2006/main">
              <a:ext uri="{FF2B5EF4-FFF2-40B4-BE49-F238E27FC236}">
                <a16:creationId xmlns:a16="http://schemas.microsoft.com/office/drawing/2014/main" id="{207D6783-3CC5-4428-BC7B-F1F376370B65}"/>
              </a:ext>
            </a:extLst>
          </p:cNvPr>
          <p:cNvSpPr>
            <a:spLocks xmlns:a="http://schemas.openxmlformats.org/drawingml/2006/main" noGrp="1"/>
          </p:cNvSpPr>
          <p:nvPr/>
        </p:nvSpPr>
        <p:spPr>
          <a:xfrm xmlns:a="http://schemas.openxmlformats.org/drawingml/2006/main" rot="0">
            <a:off x="9437962" y="7790563"/>
            <a:ext cx="193858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US$200bn total funding</a:t>
            </a:r>
          </a:p>
        </p:txBody>
      </p:sp>
      <p:sp>
        <p:nvSpPr>
          <p:cNvPr id="5" name="Figure 7 label 4 line 1">
            <a:extLst xmlns:a="http://schemas.openxmlformats.org/drawingml/2006/main">
              <a:ext uri="{FF2B5EF4-FFF2-40B4-BE49-F238E27FC236}">
                <a16:creationId xmlns:a16="http://schemas.microsoft.com/office/drawing/2014/main" id="{145310B2-EFD1-45A1-848D-041FEFB952AB}"/>
              </a:ext>
            </a:extLst>
          </p:cNvPr>
          <p:cNvSpPr>
            <a:spLocks xmlns:a="http://schemas.openxmlformats.org/drawingml/2006/main" noGrp="1"/>
          </p:cNvSpPr>
          <p:nvPr/>
        </p:nvSpPr>
        <p:spPr>
          <a:xfrm xmlns:a="http://schemas.openxmlformats.org/drawingml/2006/main" rot="0">
            <a:off x="1257379" y="7543398"/>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6" name="Figure 7 label 5 line 1">
            <a:extLst xmlns:a="http://schemas.openxmlformats.org/drawingml/2006/main">
              <a:ext uri="{FF2B5EF4-FFF2-40B4-BE49-F238E27FC236}">
                <a16:creationId xmlns:a16="http://schemas.microsoft.com/office/drawing/2014/main" id="{AE87CC62-AF60-445F-BE2D-F49137355722}"/>
              </a:ext>
            </a:extLst>
          </p:cNvPr>
          <p:cNvSpPr>
            <a:spLocks xmlns:a="http://schemas.openxmlformats.org/drawingml/2006/main" noGrp="1"/>
          </p:cNvSpPr>
          <p:nvPr/>
        </p:nvSpPr>
        <p:spPr>
          <a:xfrm xmlns:a="http://schemas.openxmlformats.org/drawingml/2006/main" rot="0">
            <a:off x="1151414" y="6447609"/>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a:t>
            </a:r>
          </a:p>
        </p:txBody>
      </p:sp>
      <p:sp>
        <p:nvSpPr>
          <p:cNvPr id="7" name="Figure 7 label 6 line 1">
            <a:extLst xmlns:a="http://schemas.openxmlformats.org/drawingml/2006/main">
              <a:ext uri="{FF2B5EF4-FFF2-40B4-BE49-F238E27FC236}">
                <a16:creationId xmlns:a16="http://schemas.microsoft.com/office/drawing/2014/main" id="{211C4B43-E41C-4FCF-9867-E87A95728B5C}"/>
              </a:ext>
            </a:extLst>
          </p:cNvPr>
          <p:cNvSpPr>
            <a:spLocks xmlns:a="http://schemas.openxmlformats.org/drawingml/2006/main" noGrp="1"/>
          </p:cNvSpPr>
          <p:nvPr/>
        </p:nvSpPr>
        <p:spPr>
          <a:xfrm xmlns:a="http://schemas.openxmlformats.org/drawingml/2006/main" rot="0">
            <a:off x="1151414" y="5351820"/>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a:t>
            </a:r>
          </a:p>
        </p:txBody>
      </p:sp>
      <p:sp>
        <p:nvSpPr>
          <p:cNvPr id="8" name="Figure 7 label 7 line 1">
            <a:extLst xmlns:a="http://schemas.openxmlformats.org/drawingml/2006/main">
              <a:ext uri="{FF2B5EF4-FFF2-40B4-BE49-F238E27FC236}">
                <a16:creationId xmlns:a16="http://schemas.microsoft.com/office/drawing/2014/main" id="{8E3A4B72-E8B5-45CD-A48B-1079E66F8F9A}"/>
              </a:ext>
            </a:extLst>
          </p:cNvPr>
          <p:cNvSpPr>
            <a:spLocks xmlns:a="http://schemas.openxmlformats.org/drawingml/2006/main" noGrp="1"/>
          </p:cNvSpPr>
          <p:nvPr/>
        </p:nvSpPr>
        <p:spPr>
          <a:xfrm xmlns:a="http://schemas.openxmlformats.org/drawingml/2006/main" rot="0">
            <a:off x="1151414" y="4256031"/>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30</a:t>
            </a:r>
          </a:p>
        </p:txBody>
      </p:sp>
      <p:sp>
        <p:nvSpPr>
          <p:cNvPr id="9" name="Figure 7 label 8 line 1">
            <a:extLst xmlns:a="http://schemas.openxmlformats.org/drawingml/2006/main">
              <a:ext uri="{FF2B5EF4-FFF2-40B4-BE49-F238E27FC236}">
                <a16:creationId xmlns:a16="http://schemas.microsoft.com/office/drawing/2014/main" id="{095FC706-9604-48EA-948B-0678CC6DC7EC}"/>
              </a:ext>
            </a:extLst>
          </p:cNvPr>
          <p:cNvSpPr>
            <a:spLocks xmlns:a="http://schemas.openxmlformats.org/drawingml/2006/main" noGrp="1"/>
          </p:cNvSpPr>
          <p:nvPr/>
        </p:nvSpPr>
        <p:spPr>
          <a:xfrm xmlns:a="http://schemas.openxmlformats.org/drawingml/2006/main" rot="0">
            <a:off x="1151414" y="3160242"/>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40</a:t>
            </a:r>
          </a:p>
        </p:txBody>
      </p:sp>
      <p:sp>
        <p:nvSpPr>
          <p:cNvPr id="10" name="Figure 7 label 9 line 1">
            <a:extLst xmlns:a="http://schemas.openxmlformats.org/drawingml/2006/main">
              <a:ext uri="{FF2B5EF4-FFF2-40B4-BE49-F238E27FC236}">
                <a16:creationId xmlns:a16="http://schemas.microsoft.com/office/drawing/2014/main" id="{BBFA2D50-B0B1-4C98-8AB2-61CA59A84966}"/>
              </a:ext>
            </a:extLst>
          </p:cNvPr>
          <p:cNvSpPr>
            <a:spLocks xmlns:a="http://schemas.openxmlformats.org/drawingml/2006/main" noGrp="1"/>
          </p:cNvSpPr>
          <p:nvPr/>
        </p:nvSpPr>
        <p:spPr>
          <a:xfrm xmlns:a="http://schemas.openxmlformats.org/drawingml/2006/main" rot="16200000">
            <a:off x="-455746" y="4995862"/>
            <a:ext cx="317316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Cumulative LST purchases (US$bn)</a:t>
            </a:r>
          </a:p>
        </p:txBody>
      </p:sp>
      <p:sp>
        <p:nvSpPr>
          <p:cNvPr id="11" name="Figure 7 label 10 line 1">
            <a:extLst xmlns:a="http://schemas.openxmlformats.org/drawingml/2006/main">
              <a:ext uri="{FF2B5EF4-FFF2-40B4-BE49-F238E27FC236}">
                <a16:creationId xmlns:a16="http://schemas.microsoft.com/office/drawing/2014/main" id="{8A6C1F7A-4B58-4A3A-8074-0CF81E604FA8}"/>
              </a:ext>
            </a:extLst>
          </p:cNvPr>
          <p:cNvSpPr>
            <a:spLocks xmlns:a="http://schemas.openxmlformats.org/drawingml/2006/main" noGrp="1"/>
          </p:cNvSpPr>
          <p:nvPr/>
        </p:nvSpPr>
        <p:spPr>
          <a:xfrm xmlns:a="http://schemas.openxmlformats.org/drawingml/2006/main" rot="0">
            <a:off x="2281875" y="7115523"/>
            <a:ext cx="421084"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2.5</a:t>
            </a:r>
          </a:p>
        </p:txBody>
      </p:sp>
      <p:sp>
        <p:nvSpPr>
          <p:cNvPr id="12" name="Figure 7 label 11 line 1">
            <a:extLst xmlns:a="http://schemas.openxmlformats.org/drawingml/2006/main">
              <a:ext uri="{FF2B5EF4-FFF2-40B4-BE49-F238E27FC236}">
                <a16:creationId xmlns:a16="http://schemas.microsoft.com/office/drawing/2014/main" id="{CA8FB795-B8D9-4645-BBB2-0974930FC4C1}"/>
              </a:ext>
            </a:extLst>
          </p:cNvPr>
          <p:cNvSpPr>
            <a:spLocks xmlns:a="http://schemas.openxmlformats.org/drawingml/2006/main" noGrp="1"/>
          </p:cNvSpPr>
          <p:nvPr/>
        </p:nvSpPr>
        <p:spPr>
          <a:xfrm xmlns:a="http://schemas.openxmlformats.org/drawingml/2006/main" rot="0">
            <a:off x="5917227" y="6841576"/>
            <a:ext cx="248890"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5</a:t>
            </a:r>
          </a:p>
        </p:txBody>
      </p:sp>
      <p:sp>
        <p:nvSpPr>
          <p:cNvPr id="13" name="Figure 7 label 12 line 1">
            <a:extLst xmlns:a="http://schemas.openxmlformats.org/drawingml/2006/main">
              <a:ext uri="{FF2B5EF4-FFF2-40B4-BE49-F238E27FC236}">
                <a16:creationId xmlns:a16="http://schemas.microsoft.com/office/drawing/2014/main" id="{03262B7D-055D-4398-9746-A7C8A280AE9E}"/>
              </a:ext>
            </a:extLst>
          </p:cNvPr>
          <p:cNvSpPr>
            <a:spLocks xmlns:a="http://schemas.openxmlformats.org/drawingml/2006/main" noGrp="1"/>
          </p:cNvSpPr>
          <p:nvPr/>
        </p:nvSpPr>
        <p:spPr>
          <a:xfrm xmlns:a="http://schemas.openxmlformats.org/drawingml/2006/main" rot="0">
            <a:off x="9409108" y="629368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10</a:t>
            </a:r>
          </a:p>
        </p:txBody>
      </p:sp>
      <p:sp>
        <p:nvSpPr>
          <p:cNvPr id="14" name="Figure 7 label 13 line 1">
            <a:extLst xmlns:a="http://schemas.openxmlformats.org/drawingml/2006/main">
              <a:ext uri="{FF2B5EF4-FFF2-40B4-BE49-F238E27FC236}">
                <a16:creationId xmlns:a16="http://schemas.microsoft.com/office/drawing/2014/main" id="{551F6FEA-4B4A-452B-B5EE-DCF1963B0541}"/>
              </a:ext>
            </a:extLst>
          </p:cNvPr>
          <p:cNvSpPr>
            <a:spLocks xmlns:a="http://schemas.openxmlformats.org/drawingml/2006/main" noGrp="1"/>
          </p:cNvSpPr>
          <p:nvPr/>
        </p:nvSpPr>
        <p:spPr>
          <a:xfrm xmlns:a="http://schemas.openxmlformats.org/drawingml/2006/main" rot="0">
            <a:off x="3184301" y="6841576"/>
            <a:ext cx="248890"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5</a:t>
            </a:r>
          </a:p>
        </p:txBody>
      </p:sp>
      <p:sp>
        <p:nvSpPr>
          <p:cNvPr id="15" name="Figure 7 label 14 line 1">
            <a:extLst xmlns:a="http://schemas.openxmlformats.org/drawingml/2006/main">
              <a:ext uri="{FF2B5EF4-FFF2-40B4-BE49-F238E27FC236}">
                <a16:creationId xmlns:a16="http://schemas.microsoft.com/office/drawing/2014/main" id="{02FB9D47-4E61-480D-AA8D-F7785AF5A7CB}"/>
              </a:ext>
            </a:extLst>
          </p:cNvPr>
          <p:cNvSpPr>
            <a:spLocks xmlns:a="http://schemas.openxmlformats.org/drawingml/2006/main" noGrp="1"/>
          </p:cNvSpPr>
          <p:nvPr/>
        </p:nvSpPr>
        <p:spPr>
          <a:xfrm xmlns:a="http://schemas.openxmlformats.org/drawingml/2006/main" rot="0">
            <a:off x="6676182" y="629368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10</a:t>
            </a:r>
          </a:p>
        </p:txBody>
      </p:sp>
      <p:sp>
        <p:nvSpPr>
          <p:cNvPr id="16" name="Figure 7 label 15 line 1">
            <a:extLst xmlns:a="http://schemas.openxmlformats.org/drawingml/2006/main">
              <a:ext uri="{FF2B5EF4-FFF2-40B4-BE49-F238E27FC236}">
                <a16:creationId xmlns:a16="http://schemas.microsoft.com/office/drawing/2014/main" id="{01B1B999-26A3-4D80-A9BC-ABF57E92486C}"/>
              </a:ext>
            </a:extLst>
          </p:cNvPr>
          <p:cNvSpPr>
            <a:spLocks xmlns:a="http://schemas.openxmlformats.org/drawingml/2006/main" noGrp="1"/>
          </p:cNvSpPr>
          <p:nvPr/>
        </p:nvSpPr>
        <p:spPr>
          <a:xfrm xmlns:a="http://schemas.openxmlformats.org/drawingml/2006/main" rot="0">
            <a:off x="10225437" y="5197892"/>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20</a:t>
            </a:r>
          </a:p>
        </p:txBody>
      </p:sp>
      <p:sp>
        <p:nvSpPr>
          <p:cNvPr id="17" name="Figure 7 label 16 line 1">
            <a:extLst xmlns:a="http://schemas.openxmlformats.org/drawingml/2006/main">
              <a:ext uri="{FF2B5EF4-FFF2-40B4-BE49-F238E27FC236}">
                <a16:creationId xmlns:a16="http://schemas.microsoft.com/office/drawing/2014/main" id="{40BD82F6-3BA4-4EAF-AB2A-05449E9B2CA3}"/>
              </a:ext>
            </a:extLst>
          </p:cNvPr>
          <p:cNvSpPr>
            <a:spLocks xmlns:a="http://schemas.openxmlformats.org/drawingml/2006/main" noGrp="1"/>
          </p:cNvSpPr>
          <p:nvPr/>
        </p:nvSpPr>
        <p:spPr>
          <a:xfrm xmlns:a="http://schemas.openxmlformats.org/drawingml/2006/main" rot="0">
            <a:off x="3943256" y="629368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10</a:t>
            </a:r>
          </a:p>
        </p:txBody>
      </p:sp>
      <p:sp>
        <p:nvSpPr>
          <p:cNvPr id="18" name="Figure 7 label 17 line 1">
            <a:extLst xmlns:a="http://schemas.openxmlformats.org/drawingml/2006/main">
              <a:ext uri="{FF2B5EF4-FFF2-40B4-BE49-F238E27FC236}">
                <a16:creationId xmlns:a16="http://schemas.microsoft.com/office/drawing/2014/main" id="{24A803AA-7ABC-465F-AC5C-0976A1A93F24}"/>
              </a:ext>
            </a:extLst>
          </p:cNvPr>
          <p:cNvSpPr>
            <a:spLocks xmlns:a="http://schemas.openxmlformats.org/drawingml/2006/main" noGrp="1"/>
          </p:cNvSpPr>
          <p:nvPr/>
        </p:nvSpPr>
        <p:spPr>
          <a:xfrm xmlns:a="http://schemas.openxmlformats.org/drawingml/2006/main" rot="0">
            <a:off x="7492511" y="5197892"/>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20</a:t>
            </a:r>
          </a:p>
        </p:txBody>
      </p:sp>
      <p:sp>
        <p:nvSpPr>
          <p:cNvPr id="19" name="Figure 7 label 18 line 1">
            <a:extLst xmlns:a="http://schemas.openxmlformats.org/drawingml/2006/main">
              <a:ext uri="{FF2B5EF4-FFF2-40B4-BE49-F238E27FC236}">
                <a16:creationId xmlns:a16="http://schemas.microsoft.com/office/drawing/2014/main" id="{BCB9BD98-4399-4C0A-B8D0-A706E6EF7A1D}"/>
              </a:ext>
            </a:extLst>
          </p:cNvPr>
          <p:cNvSpPr>
            <a:spLocks xmlns:a="http://schemas.openxmlformats.org/drawingml/2006/main" noGrp="1"/>
          </p:cNvSpPr>
          <p:nvPr/>
        </p:nvSpPr>
        <p:spPr>
          <a:xfrm xmlns:a="http://schemas.openxmlformats.org/drawingml/2006/main" rot="0">
            <a:off x="11041765" y="3006314"/>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40</a:t>
            </a:r>
          </a:p>
        </p:txBody>
      </p:sp>
      <p:sp>
        <p:nvSpPr>
          <p:cNvPr id="20" name="Figure 7 label 19 line 1">
            <a:extLst xmlns:a="http://schemas.openxmlformats.org/drawingml/2006/main">
              <a:ext uri="{FF2B5EF4-FFF2-40B4-BE49-F238E27FC236}">
                <a16:creationId xmlns:a16="http://schemas.microsoft.com/office/drawing/2014/main" id="{28971FB2-9497-4200-9B4C-6C7A77F76866}"/>
              </a:ext>
            </a:extLst>
          </p:cNvPr>
          <p:cNvSpPr>
            <a:spLocks xmlns:a="http://schemas.openxmlformats.org/drawingml/2006/main" noGrp="1"/>
          </p:cNvSpPr>
          <p:nvPr/>
        </p:nvSpPr>
        <p:spPr>
          <a:xfrm xmlns:a="http://schemas.openxmlformats.org/drawingml/2006/main" rot="0">
            <a:off x="2244376" y="2734787"/>
            <a:ext cx="1996103"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5% LST purchase capture</a:t>
            </a:r>
          </a:p>
        </p:txBody>
      </p:sp>
      <p:sp>
        <p:nvSpPr>
          <p:cNvPr id="21" name="Figure 7 label 20 line 1">
            <a:extLst xmlns:a="http://schemas.openxmlformats.org/drawingml/2006/main">
              <a:ext uri="{FF2B5EF4-FFF2-40B4-BE49-F238E27FC236}">
                <a16:creationId xmlns:a16="http://schemas.microsoft.com/office/drawing/2014/main" id="{BFDC4E56-AB70-4679-9935-B12EAFF1B6FF}"/>
              </a:ext>
            </a:extLst>
          </p:cNvPr>
          <p:cNvSpPr>
            <a:spLocks xmlns:a="http://schemas.openxmlformats.org/drawingml/2006/main" noGrp="1"/>
          </p:cNvSpPr>
          <p:nvPr/>
        </p:nvSpPr>
        <p:spPr>
          <a:xfrm xmlns:a="http://schemas.openxmlformats.org/drawingml/2006/main" rot="0">
            <a:off x="2244376" y="2968150"/>
            <a:ext cx="2087037"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10% LST purchase capture</a:t>
            </a:r>
          </a:p>
        </p:txBody>
      </p:sp>
      <p:sp>
        <p:nvSpPr>
          <p:cNvPr id="22" name="Figure 7 label 21 line 1">
            <a:extLst xmlns:a="http://schemas.openxmlformats.org/drawingml/2006/main">
              <a:ext uri="{FF2B5EF4-FFF2-40B4-BE49-F238E27FC236}">
                <a16:creationId xmlns:a16="http://schemas.microsoft.com/office/drawing/2014/main" id="{F63833FA-EC89-4019-9526-A39E722D526B}"/>
              </a:ext>
            </a:extLst>
          </p:cNvPr>
          <p:cNvSpPr>
            <a:spLocks xmlns:a="http://schemas.openxmlformats.org/drawingml/2006/main" noGrp="1"/>
          </p:cNvSpPr>
          <p:nvPr/>
        </p:nvSpPr>
        <p:spPr>
          <a:xfrm xmlns:a="http://schemas.openxmlformats.org/drawingml/2006/main" rot="0">
            <a:off x="2244376" y="3201514"/>
            <a:ext cx="2087037"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20% LST purchase capture</a:t>
            </a:r>
          </a:p>
        </p:txBody>
      </p:sp>
      <p:sp>
        <p:nvSpPr>
          <p:cNvPr id="23" name="Figure 7 label 22 line 1">
            <a:extLst xmlns:a="http://schemas.openxmlformats.org/drawingml/2006/main">
              <a:ext uri="{FF2B5EF4-FFF2-40B4-BE49-F238E27FC236}">
                <a16:creationId xmlns:a16="http://schemas.microsoft.com/office/drawing/2014/main" id="{70B3B675-46DE-4D75-8308-A3CDE1943BE8}"/>
              </a:ext>
            </a:extLst>
          </p:cNvPr>
          <p:cNvSpPr>
            <a:spLocks xmlns:a="http://schemas.openxmlformats.org/drawingml/2006/main" noGrp="1"/>
          </p:cNvSpPr>
          <p:nvPr/>
        </p:nvSpPr>
        <p:spPr>
          <a:xfrm xmlns:a="http://schemas.openxmlformats.org/drawingml/2006/main" rot="0">
            <a:off x="991870" y="421920"/>
            <a:ext cx="628253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07  Funding-to-LST purchase sensitivity</a:t>
            </a:r>
          </a:p>
        </p:txBody>
      </p:sp>
      <p:sp>
        <p:nvSpPr>
          <p:cNvPr id="24" name="Figure 7 label 23 line 1">
            <a:extLst xmlns:a="http://schemas.openxmlformats.org/drawingml/2006/main">
              <a:ext uri="{FF2B5EF4-FFF2-40B4-BE49-F238E27FC236}">
                <a16:creationId xmlns:a16="http://schemas.microsoft.com/office/drawing/2014/main" id="{04F6A083-FFE3-4648-86AF-DBD0BDA67457}"/>
              </a:ext>
            </a:extLst>
          </p:cNvPr>
          <p:cNvSpPr>
            <a:spLocks xmlns:a="http://schemas.openxmlformats.org/drawingml/2006/main" noGrp="1"/>
          </p:cNvSpPr>
          <p:nvPr/>
        </p:nvSpPr>
        <p:spPr>
          <a:xfrm xmlns:a="http://schemas.openxmlformats.org/drawingml/2006/main" rot="0">
            <a:off x="15720740" y="661601"/>
            <a:ext cx="1019721"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SENSITIVITY</a:t>
            </a:r>
          </a:p>
        </p:txBody>
      </p:sp>
      <p:sp>
        <p:nvSpPr>
          <p:cNvPr id="25" name="Figure 7 label 24 line 1">
            <a:extLst xmlns:a="http://schemas.openxmlformats.org/drawingml/2006/main">
              <a:ext uri="{FF2B5EF4-FFF2-40B4-BE49-F238E27FC236}">
                <a16:creationId xmlns:a16="http://schemas.microsoft.com/office/drawing/2014/main" id="{FF1A7F78-4DD9-4C35-9965-C1073F90208E}"/>
              </a:ext>
            </a:extLst>
          </p:cNvPr>
          <p:cNvSpPr>
            <a:spLocks xmlns:a="http://schemas.openxmlformats.org/drawingml/2006/main" noGrp="1"/>
          </p:cNvSpPr>
          <p:nvPr/>
        </p:nvSpPr>
        <p:spPr>
          <a:xfrm xmlns:a="http://schemas.openxmlformats.org/drawingml/2006/main" rot="0">
            <a:off x="998220" y="1249487"/>
            <a:ext cx="756776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Hypothetical total funding pools. Only a fraction becomes purchases from LST suppliers.</a:t>
            </a:r>
          </a:p>
        </p:txBody>
      </p:sp>
      <p:sp>
        <p:nvSpPr>
          <p:cNvPr id="26" name="Figure 7 label 25 line 1">
            <a:extLst xmlns:a="http://schemas.openxmlformats.org/drawingml/2006/main">
              <a:ext uri="{FF2B5EF4-FFF2-40B4-BE49-F238E27FC236}">
                <a16:creationId xmlns:a16="http://schemas.microsoft.com/office/drawing/2014/main" id="{0F2CFD2E-0FBA-4F00-B948-BBD2B6E259A9}"/>
              </a:ext>
            </a:extLst>
          </p:cNvPr>
          <p:cNvSpPr>
            <a:spLocks xmlns:a="http://schemas.openxmlformats.org/drawingml/2006/main" noGrp="1"/>
          </p:cNvSpPr>
          <p:nvPr/>
        </p:nvSpPr>
        <p:spPr>
          <a:xfrm xmlns:a="http://schemas.openxmlformats.org/drawingml/2006/main" rot="0">
            <a:off x="999173" y="9256035"/>
            <a:ext cx="938316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5% / 10% / 20% capture rates are model inputs. Cumulative scenarios, no fixed horizon; not observed funding or annual TAM.</a:t>
            </a:r>
          </a:p>
        </p:txBody>
      </p:sp>
      <p:sp>
        <p:nvSpPr>
          <p:cNvPr id="27" name="Figure 7 label 26 line 1">
            <a:extLst xmlns:a="http://schemas.openxmlformats.org/drawingml/2006/main">
              <a:ext uri="{FF2B5EF4-FFF2-40B4-BE49-F238E27FC236}">
                <a16:creationId xmlns:a16="http://schemas.microsoft.com/office/drawing/2014/main" id="{B7540034-AD24-4D44-A0D8-C07E7B3E0B14}"/>
              </a:ext>
            </a:extLst>
          </p:cNvPr>
          <p:cNvSpPr>
            <a:spLocks xmlns:a="http://schemas.openxmlformats.org/drawingml/2006/main" noGrp="1"/>
          </p:cNvSpPr>
          <p:nvPr/>
        </p:nvSpPr>
        <p:spPr>
          <a:xfrm xmlns:a="http://schemas.openxmlformats.org/drawingml/2006/main" rot="0">
            <a:off x="1000316" y="9675546"/>
            <a:ext cx="7078593"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analyst funding-to-purchase sensitivity. No empirical budget shares or equipment/reagent split is asserted.</a:t>
            </a:r>
          </a:p>
        </p:txBody>
      </p:sp>
      <p:sp>
        <p:nvSpPr>
          <p:cNvPr id="28" name="Figure 7 label 27 line 1">
            <a:extLst xmlns:a="http://schemas.openxmlformats.org/drawingml/2006/main">
              <a:ext uri="{FF2B5EF4-FFF2-40B4-BE49-F238E27FC236}">
                <a16:creationId xmlns:a16="http://schemas.microsoft.com/office/drawing/2014/main" id="{C6109314-18FD-4FD7-AA1D-AC8976D1897E}"/>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29" name="Figure 7 label 28 line 1">
            <a:extLst xmlns:a="http://schemas.openxmlformats.org/drawingml/2006/main">
              <a:ext uri="{FF2B5EF4-FFF2-40B4-BE49-F238E27FC236}">
                <a16:creationId xmlns:a16="http://schemas.microsoft.com/office/drawing/2014/main" id="{11E5D0A9-3E7D-4C53-A56C-9CD73AE27130}"/>
              </a:ext>
            </a:extLst>
          </p:cNvPr>
          <p:cNvSpPr>
            <a:spLocks xmlns:a="http://schemas.openxmlformats.org/drawingml/2006/main" noGrp="1"/>
          </p:cNvSpPr>
          <p:nvPr/>
        </p:nvSpPr>
        <p:spPr>
          <a:xfrm xmlns:a="http://schemas.openxmlformats.org/drawingml/2006/main" rot="0">
            <a:off x="13194411" y="3062309"/>
            <a:ext cx="2866132"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Unicode MS"/>
                <a:ea typeface="Arial Unicode MS"/>
                <a:cs typeface="Arial Unicode MS"/>
              </a:defRPr>
            </a:defPPr>
          </a:lstStyle>
          <a:p xmlns:a="http://schemas.openxmlformats.org/drawingml/2006/main">
            <a:pPr algn="l">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Funding → tool purchases</a:t>
            </a:r>
          </a:p>
        </p:txBody>
      </p:sp>
      <p:sp>
        <p:nvSpPr>
          <p:cNvPr id="30" name="Figure 7 label 29 line 1">
            <a:extLst xmlns:a="http://schemas.openxmlformats.org/drawingml/2006/main">
              <a:ext uri="{FF2B5EF4-FFF2-40B4-BE49-F238E27FC236}">
                <a16:creationId xmlns:a16="http://schemas.microsoft.com/office/drawing/2014/main" id="{5A6E7DE6-F08F-4B7A-B88B-EAC7A495C936}"/>
              </a:ext>
            </a:extLst>
          </p:cNvPr>
          <p:cNvSpPr>
            <a:spLocks xmlns:a="http://schemas.openxmlformats.org/drawingml/2006/main" noGrp="1"/>
          </p:cNvSpPr>
          <p:nvPr/>
        </p:nvSpPr>
        <p:spPr>
          <a:xfrm xmlns:a="http://schemas.openxmlformats.org/drawingml/2006/main" rot="0">
            <a:off x="13196316" y="3659198"/>
            <a:ext cx="257026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R&amp;D and production budgets</a:t>
            </a:r>
          </a:p>
        </p:txBody>
      </p:sp>
      <p:sp>
        <p:nvSpPr>
          <p:cNvPr id="31" name="Figure 7 label 30 line 1">
            <a:extLst xmlns:a="http://schemas.openxmlformats.org/drawingml/2006/main">
              <a:ext uri="{FF2B5EF4-FFF2-40B4-BE49-F238E27FC236}">
                <a16:creationId xmlns:a16="http://schemas.microsoft.com/office/drawing/2014/main" id="{F5421352-05AB-4AC7-AEC1-8D1F9CA152A8}"/>
              </a:ext>
            </a:extLst>
          </p:cNvPr>
          <p:cNvSpPr>
            <a:spLocks xmlns:a="http://schemas.openxmlformats.org/drawingml/2006/main" noGrp="1"/>
          </p:cNvSpPr>
          <p:nvPr/>
        </p:nvSpPr>
        <p:spPr>
          <a:xfrm xmlns:a="http://schemas.openxmlformats.org/drawingml/2006/main" rot="0">
            <a:off x="13196316" y="3944645"/>
            <a:ext cx="196646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exclude people, trials,</a:t>
            </a:r>
          </a:p>
        </p:txBody>
      </p:sp>
      <p:sp>
        <p:nvSpPr>
          <p:cNvPr id="32" name="Figure 7 label 31 line 1">
            <a:extLst xmlns:a="http://schemas.openxmlformats.org/drawingml/2006/main">
              <a:ext uri="{FF2B5EF4-FFF2-40B4-BE49-F238E27FC236}">
                <a16:creationId xmlns:a16="http://schemas.microsoft.com/office/drawing/2014/main" id="{2191274A-F930-4E31-A7B0-75F76A1AF3E5}"/>
              </a:ext>
            </a:extLst>
          </p:cNvPr>
          <p:cNvSpPr>
            <a:spLocks xmlns:a="http://schemas.openxmlformats.org/drawingml/2006/main" noGrp="1"/>
          </p:cNvSpPr>
          <p:nvPr/>
        </p:nvSpPr>
        <p:spPr>
          <a:xfrm xmlns:a="http://schemas.openxmlformats.org/drawingml/2006/main" rot="0">
            <a:off x="13196316" y="4232216"/>
            <a:ext cx="245372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software and unspent cash.</a:t>
            </a:r>
          </a:p>
        </p:txBody>
      </p:sp>
      <p:sp>
        <p:nvSpPr>
          <p:cNvPr id="33" name="Figure 7 label 32 line 1">
            <a:extLst xmlns:a="http://schemas.openxmlformats.org/drawingml/2006/main">
              <a:ext uri="{FF2B5EF4-FFF2-40B4-BE49-F238E27FC236}">
                <a16:creationId xmlns:a16="http://schemas.microsoft.com/office/drawing/2014/main" id="{1D497958-D162-4DC6-8E38-D6998218444D}"/>
              </a:ext>
            </a:extLst>
          </p:cNvPr>
          <p:cNvSpPr>
            <a:spLocks xmlns:a="http://schemas.openxmlformats.org/drawingml/2006/main" noGrp="1"/>
          </p:cNvSpPr>
          <p:nvPr/>
        </p:nvSpPr>
        <p:spPr>
          <a:xfrm xmlns:a="http://schemas.openxmlformats.org/drawingml/2006/main" rot="0">
            <a:off x="13196634" y="5106929"/>
            <a:ext cx="2725986" cy="2282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438" b="0">
                <a:solidFill>
                  <a:srgbClr val="00355F"/>
                </a:solidFill>
                <a:latin typeface="Arial Unicode MS"/>
                <a:ea typeface="Arial Unicode MS"/>
                <a:cs typeface="Arial Unicode MS"/>
              </a:defRPr>
            </a:pPr>
            <a:r>
              <a:rPr sz="1438" b="0">
                <a:solidFill>
                  <a:srgbClr val="00355F"/>
                </a:solidFill>
                <a:latin typeface="Arial Unicode MS"/>
                <a:ea typeface="Arial Unicode MS"/>
                <a:cs typeface="Arial Unicode MS"/>
              </a:rPr>
              <a:t>Capture includes tool purchases</a:t>
            </a:r>
          </a:p>
        </p:txBody>
      </p:sp>
      <p:sp>
        <p:nvSpPr>
          <p:cNvPr id="34" name="Figure 7 label 33 line 1">
            <a:extLst xmlns:a="http://schemas.openxmlformats.org/drawingml/2006/main">
              <a:ext uri="{FF2B5EF4-FFF2-40B4-BE49-F238E27FC236}">
                <a16:creationId xmlns:a16="http://schemas.microsoft.com/office/drawing/2014/main" id="{1C825F5F-A4A5-4B1E-8292-439A6DE649CB}"/>
              </a:ext>
            </a:extLst>
          </p:cNvPr>
          <p:cNvSpPr>
            <a:spLocks xmlns:a="http://schemas.openxmlformats.org/drawingml/2006/main" noGrp="1"/>
          </p:cNvSpPr>
          <p:nvPr/>
        </p:nvSpPr>
        <p:spPr>
          <a:xfrm xmlns:a="http://schemas.openxmlformats.org/drawingml/2006/main" rot="0">
            <a:off x="13196634" y="5382519"/>
            <a:ext cx="2644130" cy="2282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438" b="0">
                <a:solidFill>
                  <a:srgbClr val="00355F"/>
                </a:solidFill>
                <a:latin typeface="Arial Unicode MS"/>
                <a:ea typeface="Arial Unicode MS"/>
                <a:cs typeface="Arial Unicode MS"/>
              </a:defRPr>
            </a:pPr>
            <a:r>
              <a:rPr sz="1438" b="0">
                <a:solidFill>
                  <a:srgbClr val="00355F"/>
                </a:solidFill>
                <a:latin typeface="Arial Unicode MS"/>
                <a:ea typeface="Arial Unicode MS"/>
                <a:cs typeface="Arial Unicode MS"/>
              </a:rPr>
              <a:t>only. Count CRO/CDMO inputs</a:t>
            </a:r>
          </a:p>
        </p:txBody>
      </p:sp>
      <p:sp>
        <p:nvSpPr>
          <p:cNvPr id="35" name="Figure 7 label 34 line 1">
            <a:extLst xmlns:a="http://schemas.openxmlformats.org/drawingml/2006/main">
              <a:ext uri="{FF2B5EF4-FFF2-40B4-BE49-F238E27FC236}">
                <a16:creationId xmlns:a16="http://schemas.microsoft.com/office/drawing/2014/main" id="{4CF436B5-5C08-4635-9F51-BFD9236FE862}"/>
              </a:ext>
            </a:extLst>
          </p:cNvPr>
          <p:cNvSpPr>
            <a:spLocks xmlns:a="http://schemas.openxmlformats.org/drawingml/2006/main" noGrp="1"/>
          </p:cNvSpPr>
          <p:nvPr/>
        </p:nvSpPr>
        <p:spPr>
          <a:xfrm xmlns:a="http://schemas.openxmlformats.org/drawingml/2006/main" rot="0">
            <a:off x="13196634" y="5660077"/>
            <a:ext cx="2816920" cy="2282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438" b="0">
                <a:solidFill>
                  <a:srgbClr val="00355F"/>
                </a:solidFill>
                <a:latin typeface="Arial Unicode MS"/>
                <a:ea typeface="Arial Unicode MS"/>
                <a:cs typeface="Arial Unicode MS"/>
              </a:defRPr>
            </a:pPr>
            <a:r>
              <a:rPr sz="1438" b="0">
                <a:solidFill>
                  <a:srgbClr val="00355F"/>
                </a:solidFill>
                <a:latin typeface="Arial Unicode MS"/>
                <a:ea typeface="Arial Unicode MS"/>
                <a:cs typeface="Arial Unicode MS"/>
              </a:rPr>
              <a:t>once, separate from service fees.</a:t>
            </a:r>
          </a:p>
        </p:txBody>
      </p:sp>
      <p:sp>
        <p:nvSpPr>
          <p:cNvPr id="36" name="Figure 7 label 35 line 1">
            <a:extLst xmlns:a="http://schemas.openxmlformats.org/drawingml/2006/main">
              <a:ext uri="{FF2B5EF4-FFF2-40B4-BE49-F238E27FC236}">
                <a16:creationId xmlns:a16="http://schemas.microsoft.com/office/drawing/2014/main" id="{8AA3900B-26EC-49F5-8C1E-569F579C1EEC}"/>
              </a:ext>
            </a:extLst>
          </p:cNvPr>
          <p:cNvSpPr>
            <a:spLocks xmlns:a="http://schemas.openxmlformats.org/drawingml/2006/main" noGrp="1"/>
          </p:cNvSpPr>
          <p:nvPr/>
        </p:nvSpPr>
        <p:spPr>
          <a:xfrm xmlns:a="http://schemas.openxmlformats.org/drawingml/2006/main" rot="0">
            <a:off x="5667896" y="8282830"/>
            <a:ext cx="6952208"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250" b="1">
                <a:solidFill>
                  <a:srgbClr val="00355F"/>
                </a:solidFill>
                <a:latin typeface="Arial Unicode MS"/>
                <a:ea typeface="Arial Unicode MS"/>
                <a:cs typeface="Arial Unicode MS"/>
              </a:defRPr>
            </a:pPr>
            <a:r>
              <a:rPr sz="2250" b="1">
                <a:solidFill>
                  <a:srgbClr val="00355F"/>
                </a:solidFill>
                <a:latin typeface="Arial Unicode MS"/>
                <a:ea typeface="Arial Unicode MS"/>
                <a:cs typeface="Arial Unicode MS"/>
              </a:rPr>
              <a:t>Total capital raised is not an addressable tool market.</a:t>
            </a:r>
          </a:p>
        </p:txBody>
      </p:sp>
    </p:spTree>
    <p:extLst>
      <p:ext uri="{BB962C8B-B14F-4D97-AF65-F5344CB8AC3E}">
        <p14:creationId xmlns:p14="http://schemas.microsoft.com/office/powerpoint/2010/main" val="8358386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4" name="">
            <a:extLst xmlns:a="http://schemas.openxmlformats.org/drawingml/2006/main">
              <a:ext uri="{FF2B5EF4-FFF2-40B4-BE49-F238E27FC236}">
                <a16:creationId xmlns:a16="http://schemas.microsoft.com/office/drawing/2014/main" id="{8031B11A-CEF0-4C29-A36F-3824C508E2D6}"/>
              </a:ext>
            </a:extLst>
          </p:cNvPr>
          <p:cNvPicPr>
            <a:picLocks xmlns:a="http://schemas.openxmlformats.org/drawingml/2006/main" noChangeAspect="1"/>
          </p:cNvPicPr>
          <p:nvPr/>
        </p:nvPicPr>
        <p:blipFill>
          <a:blip xmlns:r="http://schemas.openxmlformats.org/officeDocument/2006/relationships" xmlns:a="http://schemas.openxmlformats.org/drawingml/2006/main" r:embed="R034262faf57d4efb"/>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8 label 1 line 1">
            <a:extLst xmlns:a="http://schemas.openxmlformats.org/drawingml/2006/main">
              <a:ext uri="{FF2B5EF4-FFF2-40B4-BE49-F238E27FC236}">
                <a16:creationId xmlns:a16="http://schemas.microsoft.com/office/drawing/2014/main" id="{C855AEF4-B0AF-4D32-899B-075CA2EBEE8A}"/>
              </a:ext>
            </a:extLst>
          </p:cNvPr>
          <p:cNvSpPr>
            <a:spLocks xmlns:a="http://schemas.openxmlformats.org/drawingml/2006/main" noGrp="1"/>
          </p:cNvSpPr>
          <p:nvPr/>
        </p:nvSpPr>
        <p:spPr>
          <a:xfrm xmlns:a="http://schemas.openxmlformats.org/drawingml/2006/main" rot="0">
            <a:off x="26162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3" name="Figure 8 label 2 line 1">
            <a:extLst xmlns:a="http://schemas.openxmlformats.org/drawingml/2006/main">
              <a:ext uri="{FF2B5EF4-FFF2-40B4-BE49-F238E27FC236}">
                <a16:creationId xmlns:a16="http://schemas.microsoft.com/office/drawing/2014/main" id="{59CCE66E-C8AD-428B-8017-3198DCF4788D}"/>
              </a:ext>
            </a:extLst>
          </p:cNvPr>
          <p:cNvSpPr>
            <a:spLocks xmlns:a="http://schemas.openxmlformats.org/drawingml/2006/main" noGrp="1"/>
          </p:cNvSpPr>
          <p:nvPr/>
        </p:nvSpPr>
        <p:spPr>
          <a:xfrm xmlns:a="http://schemas.openxmlformats.org/drawingml/2006/main" rot="0">
            <a:off x="801176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4" name="Figure 8 label 3 line 1">
            <a:extLst xmlns:a="http://schemas.openxmlformats.org/drawingml/2006/main">
              <a:ext uri="{FF2B5EF4-FFF2-40B4-BE49-F238E27FC236}">
                <a16:creationId xmlns:a16="http://schemas.microsoft.com/office/drawing/2014/main" id="{CE39E001-9EDA-4435-9FD1-748AA6FAEBF9}"/>
              </a:ext>
            </a:extLst>
          </p:cNvPr>
          <p:cNvSpPr>
            <a:spLocks xmlns:a="http://schemas.openxmlformats.org/drawingml/2006/main" noGrp="1"/>
          </p:cNvSpPr>
          <p:nvPr/>
        </p:nvSpPr>
        <p:spPr>
          <a:xfrm xmlns:a="http://schemas.openxmlformats.org/drawingml/2006/main" rot="0">
            <a:off x="1371418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5" name="Figure 8 label 4 line 1">
            <a:extLst xmlns:a="http://schemas.openxmlformats.org/drawingml/2006/main">
              <a:ext uri="{FF2B5EF4-FFF2-40B4-BE49-F238E27FC236}">
                <a16:creationId xmlns:a16="http://schemas.microsoft.com/office/drawing/2014/main" id="{A0059818-AFE1-475F-932D-79F4436A77AD}"/>
              </a:ext>
            </a:extLst>
          </p:cNvPr>
          <p:cNvSpPr>
            <a:spLocks xmlns:a="http://schemas.openxmlformats.org/drawingml/2006/main" noGrp="1"/>
          </p:cNvSpPr>
          <p:nvPr/>
        </p:nvSpPr>
        <p:spPr>
          <a:xfrm xmlns:a="http://schemas.openxmlformats.org/drawingml/2006/main" rot="0">
            <a:off x="6651992" y="8293814"/>
            <a:ext cx="352097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Expansion difficulty / qualification time →</a:t>
            </a:r>
          </a:p>
        </p:txBody>
      </p:sp>
      <p:sp>
        <p:nvSpPr>
          <p:cNvPr id="6" name="Figure 8 label 5 line 1">
            <a:extLst xmlns:a="http://schemas.openxmlformats.org/drawingml/2006/main">
              <a:ext uri="{FF2B5EF4-FFF2-40B4-BE49-F238E27FC236}">
                <a16:creationId xmlns:a16="http://schemas.microsoft.com/office/drawing/2014/main" id="{9F8F68E7-0F0A-4D0C-8302-7430B5D754FC}"/>
              </a:ext>
            </a:extLst>
          </p:cNvPr>
          <p:cNvSpPr>
            <a:spLocks xmlns:a="http://schemas.openxmlformats.org/drawingml/2006/main" noGrp="1"/>
          </p:cNvSpPr>
          <p:nvPr/>
        </p:nvSpPr>
        <p:spPr>
          <a:xfrm xmlns:a="http://schemas.openxmlformats.org/drawingml/2006/main" rot="0">
            <a:off x="83086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7" name="Figure 8 label 6 line 1">
            <a:extLst xmlns:a="http://schemas.openxmlformats.org/drawingml/2006/main">
              <a:ext uri="{FF2B5EF4-FFF2-40B4-BE49-F238E27FC236}">
                <a16:creationId xmlns:a16="http://schemas.microsoft.com/office/drawing/2014/main" id="{4F0D41BE-C4D2-4965-B9FE-0F536243EE60}"/>
              </a:ext>
            </a:extLst>
          </p:cNvPr>
          <p:cNvSpPr>
            <a:spLocks xmlns:a="http://schemas.openxmlformats.org/drawingml/2006/main" noGrp="1"/>
          </p:cNvSpPr>
          <p:nvPr/>
        </p:nvSpPr>
        <p:spPr>
          <a:xfrm xmlns:a="http://schemas.openxmlformats.org/drawingml/2006/main" rot="0">
            <a:off x="50285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8" name="Figure 8 label 7 line 1">
            <a:extLst xmlns:a="http://schemas.openxmlformats.org/drawingml/2006/main">
              <a:ext uri="{FF2B5EF4-FFF2-40B4-BE49-F238E27FC236}">
                <a16:creationId xmlns:a16="http://schemas.microsoft.com/office/drawing/2014/main" id="{4A8D44C1-EB95-4AB1-89D0-DF1D89F051A9}"/>
              </a:ext>
            </a:extLst>
          </p:cNvPr>
          <p:cNvSpPr>
            <a:spLocks xmlns:a="http://schemas.openxmlformats.org/drawingml/2006/main" noGrp="1"/>
          </p:cNvSpPr>
          <p:nvPr/>
        </p:nvSpPr>
        <p:spPr>
          <a:xfrm xmlns:a="http://schemas.openxmlformats.org/drawingml/2006/main" rot="0">
            <a:off x="78860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9" name="Figure 8 label 8 line 1">
            <a:extLst xmlns:a="http://schemas.openxmlformats.org/drawingml/2006/main">
              <a:ext uri="{FF2B5EF4-FFF2-40B4-BE49-F238E27FC236}">
                <a16:creationId xmlns:a16="http://schemas.microsoft.com/office/drawing/2014/main" id="{1EEE48DD-EE2B-4702-8D6A-7F71821AA663}"/>
              </a:ext>
            </a:extLst>
          </p:cNvPr>
          <p:cNvSpPr>
            <a:spLocks xmlns:a="http://schemas.openxmlformats.org/drawingml/2006/main" noGrp="1"/>
          </p:cNvSpPr>
          <p:nvPr/>
        </p:nvSpPr>
        <p:spPr>
          <a:xfrm xmlns:a="http://schemas.openxmlformats.org/drawingml/2006/main" rot="16200000">
            <a:off x="-1498674" y="4918710"/>
            <a:ext cx="3775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Potential benefit from demand expansion →</a:t>
            </a:r>
          </a:p>
        </p:txBody>
      </p:sp>
      <p:sp>
        <p:nvSpPr>
          <p:cNvPr id="10" name="Figure 8 label 9 line 1">
            <a:extLst xmlns:a="http://schemas.openxmlformats.org/drawingml/2006/main">
              <a:ext uri="{FF2B5EF4-FFF2-40B4-BE49-F238E27FC236}">
                <a16:creationId xmlns:a16="http://schemas.microsoft.com/office/drawing/2014/main" id="{57B3018F-BFC8-4526-A1A6-897B85859681}"/>
              </a:ext>
            </a:extLst>
          </p:cNvPr>
          <p:cNvSpPr>
            <a:spLocks xmlns:a="http://schemas.openxmlformats.org/drawingml/2006/main" noGrp="1"/>
          </p:cNvSpPr>
          <p:nvPr/>
        </p:nvSpPr>
        <p:spPr>
          <a:xfrm xmlns:a="http://schemas.openxmlformats.org/drawingml/2006/main" rot="0">
            <a:off x="2012455" y="2407644"/>
            <a:ext cx="3477240"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Verify demand and supply constraints together</a:t>
            </a:r>
          </a:p>
        </p:txBody>
      </p:sp>
      <p:sp>
        <p:nvSpPr>
          <p:cNvPr id="11" name="Figure 8 label 10 line 1">
            <a:extLst xmlns:a="http://schemas.openxmlformats.org/drawingml/2006/main">
              <a:ext uri="{FF2B5EF4-FFF2-40B4-BE49-F238E27FC236}">
                <a16:creationId xmlns:a16="http://schemas.microsoft.com/office/drawing/2014/main" id="{E22EDCE3-DE4A-42D7-BB6E-26BBDCF171DD}"/>
              </a:ext>
            </a:extLst>
          </p:cNvPr>
          <p:cNvSpPr>
            <a:spLocks xmlns:a="http://schemas.openxmlformats.org/drawingml/2006/main" noGrp="1"/>
          </p:cNvSpPr>
          <p:nvPr/>
        </p:nvSpPr>
        <p:spPr>
          <a:xfrm xmlns:a="http://schemas.openxmlformats.org/drawingml/2006/main" rot="0">
            <a:off x="11185779" y="2671608"/>
            <a:ext cx="1221462"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Automation tips</a:t>
            </a:r>
          </a:p>
        </p:txBody>
      </p:sp>
      <p:sp>
        <p:nvSpPr>
          <p:cNvPr id="12" name="Figure 8 label 11 line 1">
            <a:extLst xmlns:a="http://schemas.openxmlformats.org/drawingml/2006/main">
              <a:ext uri="{FF2B5EF4-FFF2-40B4-BE49-F238E27FC236}">
                <a16:creationId xmlns:a16="http://schemas.microsoft.com/office/drawing/2014/main" id="{0FFF95B6-BF52-4BC4-82F5-F31060FA0085}"/>
              </a:ext>
            </a:extLst>
          </p:cNvPr>
          <p:cNvSpPr>
            <a:spLocks xmlns:a="http://schemas.openxmlformats.org/drawingml/2006/main" noGrp="1"/>
          </p:cNvSpPr>
          <p:nvPr/>
        </p:nvSpPr>
        <p:spPr>
          <a:xfrm xmlns:a="http://schemas.openxmlformats.org/drawingml/2006/main" rot="0">
            <a:off x="8128026" y="3359665"/>
            <a:ext cx="123947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Specialty plates</a:t>
            </a:r>
          </a:p>
        </p:txBody>
      </p:sp>
      <p:sp>
        <p:nvSpPr>
          <p:cNvPr id="13" name="Figure 8 label 12 line 1">
            <a:extLst xmlns:a="http://schemas.openxmlformats.org/drawingml/2006/main">
              <a:ext uri="{FF2B5EF4-FFF2-40B4-BE49-F238E27FC236}">
                <a16:creationId xmlns:a16="http://schemas.microsoft.com/office/drawing/2014/main" id="{2D312C17-088E-4108-A2E5-F5D2871266EF}"/>
              </a:ext>
            </a:extLst>
          </p:cNvPr>
          <p:cNvSpPr>
            <a:spLocks xmlns:a="http://schemas.openxmlformats.org/drawingml/2006/main" noGrp="1"/>
          </p:cNvSpPr>
          <p:nvPr/>
        </p:nvSpPr>
        <p:spPr>
          <a:xfrm xmlns:a="http://schemas.openxmlformats.org/drawingml/2006/main" rot="0">
            <a:off x="11741734" y="3965928"/>
            <a:ext cx="159025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Custom components</a:t>
            </a:r>
          </a:p>
        </p:txBody>
      </p:sp>
      <p:sp>
        <p:nvSpPr>
          <p:cNvPr id="14" name="Figure 8 label 13 line 1">
            <a:extLst xmlns:a="http://schemas.openxmlformats.org/drawingml/2006/main">
              <a:ext uri="{FF2B5EF4-FFF2-40B4-BE49-F238E27FC236}">
                <a16:creationId xmlns:a16="http://schemas.microsoft.com/office/drawing/2014/main" id="{61294960-CC0C-4AEA-AE1C-96C14391B638}"/>
              </a:ext>
            </a:extLst>
          </p:cNvPr>
          <p:cNvSpPr>
            <a:spLocks xmlns:a="http://schemas.openxmlformats.org/drawingml/2006/main" noGrp="1"/>
          </p:cNvSpPr>
          <p:nvPr/>
        </p:nvSpPr>
        <p:spPr>
          <a:xfrm xmlns:a="http://schemas.openxmlformats.org/drawingml/2006/main" rot="0">
            <a:off x="9517914" y="4515295"/>
            <a:ext cx="133859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Functional beads</a:t>
            </a:r>
          </a:p>
        </p:txBody>
      </p:sp>
      <p:sp>
        <p:nvSpPr>
          <p:cNvPr id="15" name="Figure 8 label 14 line 1">
            <a:extLst xmlns:a="http://schemas.openxmlformats.org/drawingml/2006/main">
              <a:ext uri="{FF2B5EF4-FFF2-40B4-BE49-F238E27FC236}">
                <a16:creationId xmlns:a16="http://schemas.microsoft.com/office/drawing/2014/main" id="{6CECD00D-B93C-4AB3-B850-17F096E66C61}"/>
              </a:ext>
            </a:extLst>
          </p:cNvPr>
          <p:cNvSpPr>
            <a:spLocks xmlns:a="http://schemas.openxmlformats.org/drawingml/2006/main" noGrp="1"/>
          </p:cNvSpPr>
          <p:nvPr/>
        </p:nvSpPr>
        <p:spPr>
          <a:xfrm xmlns:a="http://schemas.openxmlformats.org/drawingml/2006/main" rot="0">
            <a:off x="7850048" y="2670735"/>
            <a:ext cx="181543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High-throughput assays</a:t>
            </a:r>
          </a:p>
        </p:txBody>
      </p:sp>
      <p:sp>
        <p:nvSpPr>
          <p:cNvPr id="16" name="Figure 8 label 15 line 1">
            <a:extLst xmlns:a="http://schemas.openxmlformats.org/drawingml/2006/main">
              <a:ext uri="{FF2B5EF4-FFF2-40B4-BE49-F238E27FC236}">
                <a16:creationId xmlns:a16="http://schemas.microsoft.com/office/drawing/2014/main" id="{33908B1C-8A61-45F1-9664-87C3F6BCD369}"/>
              </a:ext>
            </a:extLst>
          </p:cNvPr>
          <p:cNvSpPr>
            <a:spLocks xmlns:a="http://schemas.openxmlformats.org/drawingml/2006/main" noGrp="1"/>
          </p:cNvSpPr>
          <p:nvPr/>
        </p:nvSpPr>
        <p:spPr>
          <a:xfrm xmlns:a="http://schemas.openxmlformats.org/drawingml/2006/main" rot="0">
            <a:off x="6251677" y="4157679"/>
            <a:ext cx="186946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Specialty building blocks</a:t>
            </a:r>
          </a:p>
        </p:txBody>
      </p:sp>
      <p:sp>
        <p:nvSpPr>
          <p:cNvPr id="17" name="Figure 8 label 16 line 1">
            <a:extLst xmlns:a="http://schemas.openxmlformats.org/drawingml/2006/main">
              <a:ext uri="{FF2B5EF4-FFF2-40B4-BE49-F238E27FC236}">
                <a16:creationId xmlns:a16="http://schemas.microsoft.com/office/drawing/2014/main" id="{6418652A-90FA-423F-8005-1DE470513C5A}"/>
              </a:ext>
            </a:extLst>
          </p:cNvPr>
          <p:cNvSpPr>
            <a:spLocks xmlns:a="http://schemas.openxmlformats.org/drawingml/2006/main" noGrp="1"/>
          </p:cNvSpPr>
          <p:nvPr/>
        </p:nvSpPr>
        <p:spPr>
          <a:xfrm xmlns:a="http://schemas.openxmlformats.org/drawingml/2006/main" rot="0">
            <a:off x="3124429" y="6193877"/>
            <a:ext cx="128426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Generic labware</a:t>
            </a:r>
          </a:p>
        </p:txBody>
      </p:sp>
      <p:sp>
        <p:nvSpPr>
          <p:cNvPr id="18" name="Figure 8 label 17 line 1">
            <a:extLst xmlns:a="http://schemas.openxmlformats.org/drawingml/2006/main">
              <a:ext uri="{FF2B5EF4-FFF2-40B4-BE49-F238E27FC236}">
                <a16:creationId xmlns:a16="http://schemas.microsoft.com/office/drawing/2014/main" id="{957207DB-306D-4D64-929E-54D80B60DEEF}"/>
              </a:ext>
            </a:extLst>
          </p:cNvPr>
          <p:cNvSpPr>
            <a:spLocks xmlns:a="http://schemas.openxmlformats.org/drawingml/2006/main" noGrp="1"/>
          </p:cNvSpPr>
          <p:nvPr/>
        </p:nvSpPr>
        <p:spPr>
          <a:xfrm xmlns:a="http://schemas.openxmlformats.org/drawingml/2006/main" rot="0">
            <a:off x="12575667" y="5203353"/>
            <a:ext cx="163580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Sequencing reagents</a:t>
            </a:r>
          </a:p>
        </p:txBody>
      </p:sp>
      <p:sp>
        <p:nvSpPr>
          <p:cNvPr id="19" name="Figure 8 label 18 line 1">
            <a:extLst xmlns:a="http://schemas.openxmlformats.org/drawingml/2006/main">
              <a:ext uri="{FF2B5EF4-FFF2-40B4-BE49-F238E27FC236}">
                <a16:creationId xmlns:a16="http://schemas.microsoft.com/office/drawing/2014/main" id="{90F7D97E-BC64-447A-8A1A-0851756ECF5B}"/>
              </a:ext>
            </a:extLst>
          </p:cNvPr>
          <p:cNvSpPr>
            <a:spLocks xmlns:a="http://schemas.openxmlformats.org/drawingml/2006/main" noGrp="1"/>
          </p:cNvSpPr>
          <p:nvPr/>
        </p:nvSpPr>
        <p:spPr>
          <a:xfrm xmlns:a="http://schemas.openxmlformats.org/drawingml/2006/main" rot="0">
            <a:off x="12089206" y="6056402"/>
            <a:ext cx="160841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Manufacturing resins</a:t>
            </a:r>
          </a:p>
        </p:txBody>
      </p:sp>
      <p:sp>
        <p:nvSpPr>
          <p:cNvPr id="20" name="Figure 8 label 19 line 1">
            <a:extLst xmlns:a="http://schemas.openxmlformats.org/drawingml/2006/main">
              <a:ext uri="{FF2B5EF4-FFF2-40B4-BE49-F238E27FC236}">
                <a16:creationId xmlns:a16="http://schemas.microsoft.com/office/drawing/2014/main" id="{DD6C7954-EBAF-4E90-8ACC-DF149532806F}"/>
              </a:ext>
            </a:extLst>
          </p:cNvPr>
          <p:cNvSpPr>
            <a:spLocks xmlns:a="http://schemas.openxmlformats.org/drawingml/2006/main" noGrp="1"/>
          </p:cNvSpPr>
          <p:nvPr/>
        </p:nvSpPr>
        <p:spPr>
          <a:xfrm xmlns:a="http://schemas.openxmlformats.org/drawingml/2006/main" rot="0">
            <a:off x="991870" y="420392"/>
            <a:ext cx="803007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08  Potential supply constraints over 12–24 months</a:t>
            </a:r>
          </a:p>
        </p:txBody>
      </p:sp>
      <p:sp>
        <p:nvSpPr>
          <p:cNvPr id="21" name="Figure 8 label 20 line 1">
            <a:extLst xmlns:a="http://schemas.openxmlformats.org/drawingml/2006/main">
              <a:ext uri="{FF2B5EF4-FFF2-40B4-BE49-F238E27FC236}">
                <a16:creationId xmlns:a16="http://schemas.microsoft.com/office/drawing/2014/main" id="{767E5A3E-2069-4443-945D-B5F01AC0D9F0}"/>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HYPOTHESIS</a:t>
            </a:r>
          </a:p>
        </p:txBody>
      </p:sp>
      <p:sp>
        <p:nvSpPr>
          <p:cNvPr id="22" name="Figure 8 label 21 line 1">
            <a:extLst xmlns:a="http://schemas.openxmlformats.org/drawingml/2006/main">
              <a:ext uri="{FF2B5EF4-FFF2-40B4-BE49-F238E27FC236}">
                <a16:creationId xmlns:a16="http://schemas.microsoft.com/office/drawing/2014/main" id="{60A4A541-BFDE-4677-B5A2-8074A72EE8C6}"/>
              </a:ext>
            </a:extLst>
          </p:cNvPr>
          <p:cNvSpPr>
            <a:spLocks xmlns:a="http://schemas.openxmlformats.org/drawingml/2006/main" noGrp="1"/>
          </p:cNvSpPr>
          <p:nvPr/>
        </p:nvSpPr>
        <p:spPr>
          <a:xfrm xmlns:a="http://schemas.openxmlformats.org/drawingml/2006/main" rot="0">
            <a:off x="998220" y="1249487"/>
            <a:ext cx="91143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Relative expansion and qualification constraints over 12–24 months; current shortages are not established.</a:t>
            </a:r>
          </a:p>
        </p:txBody>
      </p:sp>
      <p:sp>
        <p:nvSpPr>
          <p:cNvPr id="23" name="Figure 8 label 22 line 1">
            <a:extLst xmlns:a="http://schemas.openxmlformats.org/drawingml/2006/main">
              <a:ext uri="{FF2B5EF4-FFF2-40B4-BE49-F238E27FC236}">
                <a16:creationId xmlns:a16="http://schemas.microsoft.com/office/drawing/2014/main" id="{D23C9BEF-235D-4C6A-9A9B-62CD14B744DE}"/>
              </a:ext>
            </a:extLst>
          </p:cNvPr>
          <p:cNvSpPr>
            <a:spLocks xmlns:a="http://schemas.openxmlformats.org/drawingml/2006/main" noGrp="1"/>
          </p:cNvSpPr>
          <p:nvPr/>
        </p:nvSpPr>
        <p:spPr>
          <a:xfrm xmlns:a="http://schemas.openxmlformats.org/drawingml/2006/main" rot="0">
            <a:off x="999173" y="9256035"/>
            <a:ext cx="809505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Track lead times, stockouts, qualification, yields and prices. Manufacturing resins have a longer demand lag.</a:t>
            </a:r>
          </a:p>
        </p:txBody>
      </p:sp>
      <p:sp>
        <p:nvSpPr>
          <p:cNvPr id="24" name="Figure 8 label 23 line 1">
            <a:extLst xmlns:a="http://schemas.openxmlformats.org/drawingml/2006/main">
              <a:ext uri="{FF2B5EF4-FFF2-40B4-BE49-F238E27FC236}">
                <a16:creationId xmlns:a16="http://schemas.microsoft.com/office/drawing/2014/main" id="{22B28AD2-29EC-4E3F-9F8C-E88035EC5EED}"/>
              </a:ext>
            </a:extLst>
          </p:cNvPr>
          <p:cNvSpPr>
            <a:spLocks xmlns:a="http://schemas.openxmlformats.org/drawingml/2006/main" noGrp="1"/>
          </p:cNvSpPr>
          <p:nvPr/>
        </p:nvSpPr>
        <p:spPr>
          <a:xfrm xmlns:a="http://schemas.openxmlformats.org/drawingml/2006/main" rot="0">
            <a:off x="1000316" y="9675546"/>
            <a:ext cx="6633895"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analyst hypotheses. Technical barriers do not prove a capacity bottleneck.</a:t>
            </a:r>
          </a:p>
        </p:txBody>
      </p:sp>
      <p:sp>
        <p:nvSpPr>
          <p:cNvPr id="25" name="Figure 8 label 24 line 1">
            <a:extLst xmlns:a="http://schemas.openxmlformats.org/drawingml/2006/main">
              <a:ext uri="{FF2B5EF4-FFF2-40B4-BE49-F238E27FC236}">
                <a16:creationId xmlns:a16="http://schemas.microsoft.com/office/drawing/2014/main" id="{0C269D72-1A3A-475F-8780-0FE72B348BE7}"/>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26" name="Figure 8 label 25 line 1">
            <a:extLst xmlns:a="http://schemas.openxmlformats.org/drawingml/2006/main">
              <a:ext uri="{FF2B5EF4-FFF2-40B4-BE49-F238E27FC236}">
                <a16:creationId xmlns:a16="http://schemas.microsoft.com/office/drawing/2014/main" id="{FC0ADF4E-4965-4F2B-B8AE-FBFB1CA7075D}"/>
              </a:ext>
            </a:extLst>
          </p:cNvPr>
          <p:cNvSpPr>
            <a:spLocks xmlns:a="http://schemas.openxmlformats.org/drawingml/2006/main" noGrp="1"/>
          </p:cNvSpPr>
          <p:nvPr/>
        </p:nvSpPr>
        <p:spPr>
          <a:xfrm xmlns:a="http://schemas.openxmlformats.org/drawingml/2006/main" rot="0">
            <a:off x="15811500" y="3274865"/>
            <a:ext cx="18606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1">
                <a:solidFill>
                  <a:srgbClr val="00355F"/>
                </a:solidFill>
                <a:latin typeface="Arial Unicode MS"/>
                <a:ea typeface="Arial Unicode MS"/>
                <a:cs typeface="Arial Unicode MS"/>
              </a:defRPr>
            </a:pPr>
            <a:r>
              <a:rPr sz="1500" b="1">
                <a:solidFill>
                  <a:srgbClr val="00355F"/>
                </a:solidFill>
                <a:latin typeface="Arial Unicode MS"/>
                <a:ea typeface="Arial Unicode MS"/>
                <a:cs typeface="Arial Unicode MS"/>
              </a:rPr>
              <a:t>Potential opportunity</a:t>
            </a:r>
          </a:p>
        </p:txBody>
      </p:sp>
      <p:sp>
        <p:nvSpPr>
          <p:cNvPr id="27" name="Figure 8 label 26 line 1">
            <a:extLst xmlns:a="http://schemas.openxmlformats.org/drawingml/2006/main">
              <a:ext uri="{FF2B5EF4-FFF2-40B4-BE49-F238E27FC236}">
                <a16:creationId xmlns:a16="http://schemas.microsoft.com/office/drawing/2014/main" id="{FEF13909-D896-475A-8FD9-F56264B4456A}"/>
              </a:ext>
            </a:extLst>
          </p:cNvPr>
          <p:cNvSpPr>
            <a:spLocks xmlns:a="http://schemas.openxmlformats.org/drawingml/2006/main" noGrp="1"/>
          </p:cNvSpPr>
          <p:nvPr/>
        </p:nvSpPr>
        <p:spPr>
          <a:xfrm xmlns:a="http://schemas.openxmlformats.org/drawingml/2006/main" rot="0">
            <a:off x="15812135" y="4388424"/>
            <a:ext cx="130740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Strong demand</a:t>
            </a:r>
          </a:p>
        </p:txBody>
      </p:sp>
      <p:sp>
        <p:nvSpPr>
          <p:cNvPr id="28" name="Figure 8 label 27 line 1">
            <a:extLst xmlns:a="http://schemas.openxmlformats.org/drawingml/2006/main">
              <a:ext uri="{FF2B5EF4-FFF2-40B4-BE49-F238E27FC236}">
                <a16:creationId xmlns:a16="http://schemas.microsoft.com/office/drawing/2014/main" id="{E5531E4D-B378-43FC-BECC-2F6138556E0E}"/>
              </a:ext>
            </a:extLst>
          </p:cNvPr>
          <p:cNvSpPr>
            <a:spLocks xmlns:a="http://schemas.openxmlformats.org/drawingml/2006/main" noGrp="1"/>
          </p:cNvSpPr>
          <p:nvPr/>
        </p:nvSpPr>
        <p:spPr>
          <a:xfrm xmlns:a="http://schemas.openxmlformats.org/drawingml/2006/main" rot="0">
            <a:off x="15812135" y="4641202"/>
            <a:ext cx="1336427"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Slow expansion</a:t>
            </a:r>
          </a:p>
        </p:txBody>
      </p:sp>
      <p:sp>
        <p:nvSpPr>
          <p:cNvPr id="29" name="Figure 8 label 28 line 1">
            <a:extLst xmlns:a="http://schemas.openxmlformats.org/drawingml/2006/main">
              <a:ext uri="{FF2B5EF4-FFF2-40B4-BE49-F238E27FC236}">
                <a16:creationId xmlns:a16="http://schemas.microsoft.com/office/drawing/2014/main" id="{71E8341F-BDB6-4B46-B884-0240325A349E}"/>
              </a:ext>
            </a:extLst>
          </p:cNvPr>
          <p:cNvSpPr>
            <a:spLocks xmlns:a="http://schemas.openxmlformats.org/drawingml/2006/main" noGrp="1"/>
          </p:cNvSpPr>
          <p:nvPr/>
        </p:nvSpPr>
        <p:spPr>
          <a:xfrm xmlns:a="http://schemas.openxmlformats.org/drawingml/2006/main" rot="0">
            <a:off x="15812135" y="4892097"/>
            <a:ext cx="1462633"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Slow qualification</a:t>
            </a:r>
          </a:p>
        </p:txBody>
      </p:sp>
      <p:sp>
        <p:nvSpPr>
          <p:cNvPr id="30" name="Figure 8 label 29 line 1">
            <a:extLst xmlns:a="http://schemas.openxmlformats.org/drawingml/2006/main">
              <a:ext uri="{FF2B5EF4-FFF2-40B4-BE49-F238E27FC236}">
                <a16:creationId xmlns:a16="http://schemas.microsoft.com/office/drawing/2014/main" id="{49FE2D25-E5FE-4C86-8CD9-D0AA9F523CAC}"/>
              </a:ext>
            </a:extLst>
          </p:cNvPr>
          <p:cNvSpPr>
            <a:spLocks xmlns:a="http://schemas.openxmlformats.org/drawingml/2006/main" noGrp="1"/>
          </p:cNvSpPr>
          <p:nvPr/>
        </p:nvSpPr>
        <p:spPr>
          <a:xfrm xmlns:a="http://schemas.openxmlformats.org/drawingml/2006/main" rot="0">
            <a:off x="15812135" y="5139374"/>
            <a:ext cx="1491952"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All need evidence</a:t>
            </a:r>
          </a:p>
        </p:txBody>
      </p:sp>
      <p:sp>
        <p:nvSpPr>
          <p:cNvPr id="31" name="Figure 8 label 30 line 1">
            <a:extLst xmlns:a="http://schemas.openxmlformats.org/drawingml/2006/main">
              <a:ext uri="{FF2B5EF4-FFF2-40B4-BE49-F238E27FC236}">
                <a16:creationId xmlns:a16="http://schemas.microsoft.com/office/drawing/2014/main" id="{93CCBC8E-9123-46A5-839D-C05B09DCA9C5}"/>
              </a:ext>
            </a:extLst>
          </p:cNvPr>
          <p:cNvSpPr>
            <a:spLocks xmlns:a="http://schemas.openxmlformats.org/drawingml/2006/main" noGrp="1"/>
          </p:cNvSpPr>
          <p:nvPr/>
        </p:nvSpPr>
        <p:spPr>
          <a:xfrm xmlns:a="http://schemas.openxmlformats.org/drawingml/2006/main" rot="0">
            <a:off x="15812262" y="6652643"/>
            <a:ext cx="15218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Check inventories,</a:t>
            </a:r>
          </a:p>
        </p:txBody>
      </p:sp>
      <p:sp>
        <p:nvSpPr>
          <p:cNvPr id="32" name="Figure 8 label 31 line 1">
            <a:extLst xmlns:a="http://schemas.openxmlformats.org/drawingml/2006/main">
              <a:ext uri="{FF2B5EF4-FFF2-40B4-BE49-F238E27FC236}">
                <a16:creationId xmlns:a16="http://schemas.microsoft.com/office/drawing/2014/main" id="{DCFE0165-74E8-48CE-B150-FBD2DD24BDEE}"/>
              </a:ext>
            </a:extLst>
          </p:cNvPr>
          <p:cNvSpPr>
            <a:spLocks xmlns:a="http://schemas.openxmlformats.org/drawingml/2006/main" noGrp="1"/>
          </p:cNvSpPr>
          <p:nvPr/>
        </p:nvSpPr>
        <p:spPr>
          <a:xfrm xmlns:a="http://schemas.openxmlformats.org/drawingml/2006/main" rot="0">
            <a:off x="15812262" y="6895424"/>
            <a:ext cx="93118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orders and</a:t>
            </a:r>
          </a:p>
        </p:txBody>
      </p:sp>
      <p:sp>
        <p:nvSpPr>
          <p:cNvPr id="33" name="Figure 8 label 32 line 1">
            <a:extLst xmlns:a="http://schemas.openxmlformats.org/drawingml/2006/main">
              <a:ext uri="{FF2B5EF4-FFF2-40B4-BE49-F238E27FC236}">
                <a16:creationId xmlns:a16="http://schemas.microsoft.com/office/drawing/2014/main" id="{18125421-7C16-4826-A70A-191867BB7055}"/>
              </a:ext>
            </a:extLst>
          </p:cNvPr>
          <p:cNvSpPr>
            <a:spLocks xmlns:a="http://schemas.openxmlformats.org/drawingml/2006/main" noGrp="1"/>
          </p:cNvSpPr>
          <p:nvPr/>
        </p:nvSpPr>
        <p:spPr>
          <a:xfrm xmlns:a="http://schemas.openxmlformats.org/drawingml/2006/main" rot="0">
            <a:off x="15812262" y="7138206"/>
            <a:ext cx="8929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lead times</a:t>
            </a:r>
          </a:p>
        </p:txBody>
      </p:sp>
    </p:spTree>
    <p:extLst>
      <p:ext uri="{BB962C8B-B14F-4D97-AF65-F5344CB8AC3E}">
        <p14:creationId xmlns:p14="http://schemas.microsoft.com/office/powerpoint/2010/main" val="13463918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7" name="">
            <a:extLst xmlns:a="http://schemas.openxmlformats.org/drawingml/2006/main">
              <a:ext uri="{FF2B5EF4-FFF2-40B4-BE49-F238E27FC236}">
                <a16:creationId xmlns:a16="http://schemas.microsoft.com/office/drawing/2014/main" id="{DFED05C8-9613-42A0-B66B-B7F9B8EBEDAD}"/>
              </a:ext>
            </a:extLst>
          </p:cNvPr>
          <p:cNvPicPr>
            <a:picLocks xmlns:a="http://schemas.openxmlformats.org/drawingml/2006/main" noChangeAspect="1"/>
          </p:cNvPicPr>
          <p:nvPr/>
        </p:nvPicPr>
        <p:blipFill>
          <a:blip xmlns:r="http://schemas.openxmlformats.org/officeDocument/2006/relationships" xmlns:a="http://schemas.openxmlformats.org/drawingml/2006/main" r:embed="Rba1f8e800a8a460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9 label 1 line 1">
            <a:extLst xmlns:a="http://schemas.openxmlformats.org/drawingml/2006/main">
              <a:ext uri="{FF2B5EF4-FFF2-40B4-BE49-F238E27FC236}">
                <a16:creationId xmlns:a16="http://schemas.microsoft.com/office/drawing/2014/main" id="{2D9C2BF4-E421-4B55-B512-4FB0609E441E}"/>
              </a:ext>
            </a:extLst>
          </p:cNvPr>
          <p:cNvSpPr>
            <a:spLocks xmlns:a="http://schemas.openxmlformats.org/drawingml/2006/main" noGrp="1"/>
          </p:cNvSpPr>
          <p:nvPr/>
        </p:nvSpPr>
        <p:spPr>
          <a:xfrm xmlns:a="http://schemas.openxmlformats.org/drawingml/2006/main" rot="0">
            <a:off x="23876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3" name="Figure 9 label 2 line 1">
            <a:extLst xmlns:a="http://schemas.openxmlformats.org/drawingml/2006/main">
              <a:ext uri="{FF2B5EF4-FFF2-40B4-BE49-F238E27FC236}">
                <a16:creationId xmlns:a16="http://schemas.microsoft.com/office/drawing/2014/main" id="{D295369B-6273-4EA4-8FE9-967790D8325A}"/>
              </a:ext>
            </a:extLst>
          </p:cNvPr>
          <p:cNvSpPr>
            <a:spLocks xmlns:a="http://schemas.openxmlformats.org/drawingml/2006/main" noGrp="1"/>
          </p:cNvSpPr>
          <p:nvPr/>
        </p:nvSpPr>
        <p:spPr>
          <a:xfrm xmlns:a="http://schemas.openxmlformats.org/drawingml/2006/main" rot="0">
            <a:off x="650300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4" name="Figure 9 label 3 line 1">
            <a:extLst xmlns:a="http://schemas.openxmlformats.org/drawingml/2006/main">
              <a:ext uri="{FF2B5EF4-FFF2-40B4-BE49-F238E27FC236}">
                <a16:creationId xmlns:a16="http://schemas.microsoft.com/office/drawing/2014/main" id="{DD66AFED-CAF4-44A7-9F28-C9460B0031F8}"/>
              </a:ext>
            </a:extLst>
          </p:cNvPr>
          <p:cNvSpPr>
            <a:spLocks xmlns:a="http://schemas.openxmlformats.org/drawingml/2006/main" noGrp="1"/>
          </p:cNvSpPr>
          <p:nvPr/>
        </p:nvSpPr>
        <p:spPr>
          <a:xfrm xmlns:a="http://schemas.openxmlformats.org/drawingml/2006/main" rot="0">
            <a:off x="1092526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5" name="Figure 9 label 4 line 1">
            <a:extLst xmlns:a="http://schemas.openxmlformats.org/drawingml/2006/main">
              <a:ext uri="{FF2B5EF4-FFF2-40B4-BE49-F238E27FC236}">
                <a16:creationId xmlns:a16="http://schemas.microsoft.com/office/drawing/2014/main" id="{39F39841-4481-4F34-9257-F0003A10FF8C}"/>
              </a:ext>
            </a:extLst>
          </p:cNvPr>
          <p:cNvSpPr>
            <a:spLocks xmlns:a="http://schemas.openxmlformats.org/drawingml/2006/main" noGrp="1"/>
          </p:cNvSpPr>
          <p:nvPr/>
        </p:nvSpPr>
        <p:spPr>
          <a:xfrm xmlns:a="http://schemas.openxmlformats.org/drawingml/2006/main" rot="0">
            <a:off x="4883750" y="8291493"/>
            <a:ext cx="403994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Direct exposure to AI build-and-test demand →</a:t>
            </a:r>
          </a:p>
        </p:txBody>
      </p:sp>
      <p:sp>
        <p:nvSpPr>
          <p:cNvPr id="6" name="Figure 9 label 5 line 1">
            <a:extLst xmlns:a="http://schemas.openxmlformats.org/drawingml/2006/main">
              <a:ext uri="{FF2B5EF4-FFF2-40B4-BE49-F238E27FC236}">
                <a16:creationId xmlns:a16="http://schemas.microsoft.com/office/drawing/2014/main" id="{36C6CF8C-4BB2-4954-99EE-036E7B1433AE}"/>
              </a:ext>
            </a:extLst>
          </p:cNvPr>
          <p:cNvSpPr>
            <a:spLocks xmlns:a="http://schemas.openxmlformats.org/drawingml/2006/main" noGrp="1"/>
          </p:cNvSpPr>
          <p:nvPr/>
        </p:nvSpPr>
        <p:spPr>
          <a:xfrm xmlns:a="http://schemas.openxmlformats.org/drawingml/2006/main" rot="0">
            <a:off x="92230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7" name="Figure 9 label 6 line 1">
            <a:extLst xmlns:a="http://schemas.openxmlformats.org/drawingml/2006/main">
              <a:ext uri="{FF2B5EF4-FFF2-40B4-BE49-F238E27FC236}">
                <a16:creationId xmlns:a16="http://schemas.microsoft.com/office/drawing/2014/main" id="{1906DF89-DDF8-4644-B7F4-940FF87A8DA8}"/>
              </a:ext>
            </a:extLst>
          </p:cNvPr>
          <p:cNvSpPr>
            <a:spLocks xmlns:a="http://schemas.openxmlformats.org/drawingml/2006/main" noGrp="1"/>
          </p:cNvSpPr>
          <p:nvPr/>
        </p:nvSpPr>
        <p:spPr>
          <a:xfrm xmlns:a="http://schemas.openxmlformats.org/drawingml/2006/main" rot="0">
            <a:off x="59429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8" name="Figure 9 label 7 line 1">
            <a:extLst xmlns:a="http://schemas.openxmlformats.org/drawingml/2006/main">
              <a:ext uri="{FF2B5EF4-FFF2-40B4-BE49-F238E27FC236}">
                <a16:creationId xmlns:a16="http://schemas.microsoft.com/office/drawing/2014/main" id="{418B3720-3E1C-4AD6-B069-E3D2199B5110}"/>
              </a:ext>
            </a:extLst>
          </p:cNvPr>
          <p:cNvSpPr>
            <a:spLocks xmlns:a="http://schemas.openxmlformats.org/drawingml/2006/main" noGrp="1"/>
          </p:cNvSpPr>
          <p:nvPr/>
        </p:nvSpPr>
        <p:spPr>
          <a:xfrm xmlns:a="http://schemas.openxmlformats.org/drawingml/2006/main" rot="0">
            <a:off x="88004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9" name="Figure 9 label 8 line 1">
            <a:extLst xmlns:a="http://schemas.openxmlformats.org/drawingml/2006/main">
              <a:ext uri="{FF2B5EF4-FFF2-40B4-BE49-F238E27FC236}">
                <a16:creationId xmlns:a16="http://schemas.microsoft.com/office/drawing/2014/main" id="{1488CB10-00C1-45E8-9C1E-2B74DE495562}"/>
              </a:ext>
            </a:extLst>
          </p:cNvPr>
          <p:cNvSpPr>
            <a:spLocks xmlns:a="http://schemas.openxmlformats.org/drawingml/2006/main" noGrp="1"/>
          </p:cNvSpPr>
          <p:nvPr/>
        </p:nvSpPr>
        <p:spPr>
          <a:xfrm xmlns:a="http://schemas.openxmlformats.org/drawingml/2006/main" rot="16200000">
            <a:off x="-1393066" y="4918710"/>
            <a:ext cx="374317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Supply barriers / global customer access →</a:t>
            </a:r>
          </a:p>
        </p:txBody>
      </p:sp>
      <p:sp>
        <p:nvSpPr>
          <p:cNvPr id="10" name="Figure 9 label 9 line 1">
            <a:extLst xmlns:a="http://schemas.openxmlformats.org/drawingml/2006/main">
              <a:ext uri="{FF2B5EF4-FFF2-40B4-BE49-F238E27FC236}">
                <a16:creationId xmlns:a16="http://schemas.microsoft.com/office/drawing/2014/main" id="{10677C39-47AE-4270-8EDD-9A246EA135C0}"/>
              </a:ext>
            </a:extLst>
          </p:cNvPr>
          <p:cNvSpPr>
            <a:spLocks xmlns:a="http://schemas.openxmlformats.org/drawingml/2006/main" noGrp="1"/>
          </p:cNvSpPr>
          <p:nvPr/>
        </p:nvSpPr>
        <p:spPr>
          <a:xfrm xmlns:a="http://schemas.openxmlformats.org/drawingml/2006/main" rot="0">
            <a:off x="9366521" y="2832061"/>
            <a:ext cx="144214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00355F"/>
                </a:solidFill>
                <a:latin typeface="Arial Unicode MS"/>
                <a:ea typeface="Arial Unicode MS"/>
                <a:cs typeface="Arial Unicode MS"/>
              </a:defRPr>
            </a:defPPr>
          </a:lstStyle>
          <a:p xmlns:a="http://schemas.openxmlformats.org/drawingml/2006/main">
            <a:pPr algn="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ACROBiosystems</a:t>
            </a:r>
          </a:p>
        </p:txBody>
      </p:sp>
      <p:sp>
        <p:nvSpPr>
          <p:cNvPr id="11" name="Figure 9 label 10 line 1">
            <a:extLst xmlns:a="http://schemas.openxmlformats.org/drawingml/2006/main">
              <a:ext uri="{FF2B5EF4-FFF2-40B4-BE49-F238E27FC236}">
                <a16:creationId xmlns:a16="http://schemas.microsoft.com/office/drawing/2014/main" id="{4D0C39A6-C50E-41D0-A402-7A922912E75E}"/>
              </a:ext>
            </a:extLst>
          </p:cNvPr>
          <p:cNvSpPr>
            <a:spLocks xmlns:a="http://schemas.openxmlformats.org/drawingml/2006/main" noGrp="1"/>
          </p:cNvSpPr>
          <p:nvPr/>
        </p:nvSpPr>
        <p:spPr>
          <a:xfrm xmlns:a="http://schemas.openxmlformats.org/drawingml/2006/main" rot="0">
            <a:off x="11007531" y="3656577"/>
            <a:ext cx="71050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00355F"/>
                </a:solidFill>
                <a:latin typeface="Arial Unicode MS"/>
                <a:ea typeface="Arial Unicode MS"/>
                <a:cs typeface="Arial Unicode MS"/>
              </a:defRPr>
            </a:defPPr>
          </a:lstStyle>
          <a:p xmlns:a="http://schemas.openxmlformats.org/drawingml/2006/main">
            <a:pPr algn="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Vazyme</a:t>
            </a:r>
          </a:p>
        </p:txBody>
      </p:sp>
      <p:sp>
        <p:nvSpPr>
          <p:cNvPr id="12" name="Figure 9 label 11 line 1">
            <a:extLst xmlns:a="http://schemas.openxmlformats.org/drawingml/2006/main">
              <a:ext uri="{FF2B5EF4-FFF2-40B4-BE49-F238E27FC236}">
                <a16:creationId xmlns:a16="http://schemas.microsoft.com/office/drawing/2014/main" id="{338D6C23-3CFE-4A90-B49E-D1D705671274}"/>
              </a:ext>
            </a:extLst>
          </p:cNvPr>
          <p:cNvSpPr>
            <a:spLocks xmlns:a="http://schemas.openxmlformats.org/drawingml/2006/main" noGrp="1"/>
          </p:cNvSpPr>
          <p:nvPr/>
        </p:nvSpPr>
        <p:spPr>
          <a:xfrm xmlns:a="http://schemas.openxmlformats.org/drawingml/2006/main" rot="0">
            <a:off x="8394840" y="3492487"/>
            <a:ext cx="1201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Sino Biological</a:t>
            </a:r>
          </a:p>
        </p:txBody>
      </p:sp>
      <p:sp>
        <p:nvSpPr>
          <p:cNvPr id="13" name="Figure 9 label 12 line 1">
            <a:extLst xmlns:a="http://schemas.openxmlformats.org/drawingml/2006/main">
              <a:ext uri="{FF2B5EF4-FFF2-40B4-BE49-F238E27FC236}">
                <a16:creationId xmlns:a16="http://schemas.microsoft.com/office/drawing/2014/main" id="{DDDD1860-D6D2-4A94-833A-413FFCBF5713}"/>
              </a:ext>
            </a:extLst>
          </p:cNvPr>
          <p:cNvSpPr>
            <a:spLocks xmlns:a="http://schemas.openxmlformats.org/drawingml/2006/main" noGrp="1"/>
          </p:cNvSpPr>
          <p:nvPr/>
        </p:nvSpPr>
        <p:spPr>
          <a:xfrm xmlns:a="http://schemas.openxmlformats.org/drawingml/2006/main" rot="0">
            <a:off x="8180871" y="4400454"/>
            <a:ext cx="100726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Novoprotein</a:t>
            </a:r>
          </a:p>
        </p:txBody>
      </p:sp>
      <p:sp>
        <p:nvSpPr>
          <p:cNvPr id="14" name="Figure 9 label 13 line 1">
            <a:extLst xmlns:a="http://schemas.openxmlformats.org/drawingml/2006/main">
              <a:ext uri="{FF2B5EF4-FFF2-40B4-BE49-F238E27FC236}">
                <a16:creationId xmlns:a16="http://schemas.microsoft.com/office/drawing/2014/main" id="{D2BD2FED-D42E-48F3-B47B-7200D628F3E0}"/>
              </a:ext>
            </a:extLst>
          </p:cNvPr>
          <p:cNvSpPr>
            <a:spLocks xmlns:a="http://schemas.openxmlformats.org/drawingml/2006/main" noGrp="1"/>
          </p:cNvSpPr>
          <p:nvPr/>
        </p:nvSpPr>
        <p:spPr>
          <a:xfrm xmlns:a="http://schemas.openxmlformats.org/drawingml/2006/main" rot="0">
            <a:off x="5238788" y="3409816"/>
            <a:ext cx="914400"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NanoMicro</a:t>
            </a:r>
          </a:p>
        </p:txBody>
      </p:sp>
      <p:sp>
        <p:nvSpPr>
          <p:cNvPr id="15" name="Figure 9 label 14 line 1">
            <a:extLst xmlns:a="http://schemas.openxmlformats.org/drawingml/2006/main">
              <a:ext uri="{FF2B5EF4-FFF2-40B4-BE49-F238E27FC236}">
                <a16:creationId xmlns:a16="http://schemas.microsoft.com/office/drawing/2014/main" id="{F28BFDA6-190F-4478-A517-F5621B8C70CE}"/>
              </a:ext>
            </a:extLst>
          </p:cNvPr>
          <p:cNvSpPr>
            <a:spLocks xmlns:a="http://schemas.openxmlformats.org/drawingml/2006/main" noGrp="1"/>
          </p:cNvSpPr>
          <p:nvPr/>
        </p:nvSpPr>
        <p:spPr>
          <a:xfrm xmlns:a="http://schemas.openxmlformats.org/drawingml/2006/main" rot="0">
            <a:off x="5773712" y="4153810"/>
            <a:ext cx="58102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Sepax</a:t>
            </a:r>
          </a:p>
        </p:txBody>
      </p:sp>
      <p:sp>
        <p:nvSpPr>
          <p:cNvPr id="16" name="Figure 9 label 15 line 1">
            <a:extLst xmlns:a="http://schemas.openxmlformats.org/drawingml/2006/main">
              <a:ext uri="{FF2B5EF4-FFF2-40B4-BE49-F238E27FC236}">
                <a16:creationId xmlns:a16="http://schemas.microsoft.com/office/drawing/2014/main" id="{22DCCA95-4A71-4099-A697-E3A617F6CFEB}"/>
              </a:ext>
            </a:extLst>
          </p:cNvPr>
          <p:cNvSpPr>
            <a:spLocks xmlns:a="http://schemas.openxmlformats.org/drawingml/2006/main" noGrp="1"/>
          </p:cNvSpPr>
          <p:nvPr/>
        </p:nvSpPr>
        <p:spPr>
          <a:xfrm xmlns:a="http://schemas.openxmlformats.org/drawingml/2006/main" rot="0">
            <a:off x="8662301" y="5336057"/>
            <a:ext cx="81230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JET Biofil</a:t>
            </a:r>
          </a:p>
        </p:txBody>
      </p:sp>
      <p:sp>
        <p:nvSpPr>
          <p:cNvPr id="17" name="Figure 9 label 16 line 1">
            <a:extLst xmlns:a="http://schemas.openxmlformats.org/drawingml/2006/main">
              <a:ext uri="{FF2B5EF4-FFF2-40B4-BE49-F238E27FC236}">
                <a16:creationId xmlns:a16="http://schemas.microsoft.com/office/drawing/2014/main" id="{47DAD412-19CA-487D-8205-29F5A38140A4}"/>
              </a:ext>
            </a:extLst>
          </p:cNvPr>
          <p:cNvSpPr>
            <a:spLocks xmlns:a="http://schemas.openxmlformats.org/drawingml/2006/main" noGrp="1"/>
          </p:cNvSpPr>
          <p:nvPr/>
        </p:nvSpPr>
        <p:spPr>
          <a:xfrm xmlns:a="http://schemas.openxmlformats.org/drawingml/2006/main" rot="0">
            <a:off x="7271500" y="3795182"/>
            <a:ext cx="97035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Changhong</a:t>
            </a:r>
          </a:p>
        </p:txBody>
      </p:sp>
      <p:sp>
        <p:nvSpPr>
          <p:cNvPr id="18" name="Figure 9 label 17 line 1">
            <a:extLst xmlns:a="http://schemas.openxmlformats.org/drawingml/2006/main">
              <a:ext uri="{FF2B5EF4-FFF2-40B4-BE49-F238E27FC236}">
                <a16:creationId xmlns:a16="http://schemas.microsoft.com/office/drawing/2014/main" id="{A42FF9A8-0174-4230-BC33-1536472D22A2}"/>
              </a:ext>
            </a:extLst>
          </p:cNvPr>
          <p:cNvSpPr>
            <a:spLocks xmlns:a="http://schemas.openxmlformats.org/drawingml/2006/main" noGrp="1"/>
          </p:cNvSpPr>
          <p:nvPr/>
        </p:nvSpPr>
        <p:spPr>
          <a:xfrm xmlns:a="http://schemas.openxmlformats.org/drawingml/2006/main" rot="0">
            <a:off x="9732150" y="4593078"/>
            <a:ext cx="1387078"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Bide Pharmatech</a:t>
            </a:r>
          </a:p>
        </p:txBody>
      </p:sp>
      <p:sp>
        <p:nvSpPr>
          <p:cNvPr id="19" name="Figure 9 label 18 line 1">
            <a:extLst xmlns:a="http://schemas.openxmlformats.org/drawingml/2006/main">
              <a:ext uri="{FF2B5EF4-FFF2-40B4-BE49-F238E27FC236}">
                <a16:creationId xmlns:a16="http://schemas.microsoft.com/office/drawing/2014/main" id="{5C169BDF-F546-4A33-8D13-84F46A6A6C1C}"/>
              </a:ext>
            </a:extLst>
          </p:cNvPr>
          <p:cNvSpPr>
            <a:spLocks xmlns:a="http://schemas.openxmlformats.org/drawingml/2006/main" noGrp="1"/>
          </p:cNvSpPr>
          <p:nvPr/>
        </p:nvSpPr>
        <p:spPr>
          <a:xfrm xmlns:a="http://schemas.openxmlformats.org/drawingml/2006/main" rot="0">
            <a:off x="10669817" y="5337072"/>
            <a:ext cx="115520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00355F"/>
                </a:solidFill>
                <a:latin typeface="Arial Unicode MS"/>
                <a:ea typeface="Arial Unicode MS"/>
                <a:cs typeface="Arial Unicode MS"/>
              </a:defRPr>
            </a:defPPr>
          </a:lstStyle>
          <a:p xmlns:a="http://schemas.openxmlformats.org/drawingml/2006/main">
            <a:pPr algn="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ChemExpress</a:t>
            </a:r>
          </a:p>
        </p:txBody>
      </p:sp>
      <p:sp>
        <p:nvSpPr>
          <p:cNvPr id="20" name="Figure 9 label 19 line 1">
            <a:extLst xmlns:a="http://schemas.openxmlformats.org/drawingml/2006/main">
              <a:ext uri="{FF2B5EF4-FFF2-40B4-BE49-F238E27FC236}">
                <a16:creationId xmlns:a16="http://schemas.microsoft.com/office/drawing/2014/main" id="{A0F55331-4194-4C80-9D10-429AF3E43247}"/>
              </a:ext>
            </a:extLst>
          </p:cNvPr>
          <p:cNvSpPr>
            <a:spLocks xmlns:a="http://schemas.openxmlformats.org/drawingml/2006/main" noGrp="1"/>
          </p:cNvSpPr>
          <p:nvPr/>
        </p:nvSpPr>
        <p:spPr>
          <a:xfrm xmlns:a="http://schemas.openxmlformats.org/drawingml/2006/main" rot="0">
            <a:off x="6041174" y="2721873"/>
            <a:ext cx="42326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MGI</a:t>
            </a:r>
          </a:p>
        </p:txBody>
      </p:sp>
      <p:sp>
        <p:nvSpPr>
          <p:cNvPr id="21" name="Figure 9 label 20 line 1">
            <a:extLst xmlns:a="http://schemas.openxmlformats.org/drawingml/2006/main">
              <a:ext uri="{FF2B5EF4-FFF2-40B4-BE49-F238E27FC236}">
                <a16:creationId xmlns:a16="http://schemas.microsoft.com/office/drawing/2014/main" id="{1FE9B638-6D44-4953-A6D4-48519D8129DB}"/>
              </a:ext>
            </a:extLst>
          </p:cNvPr>
          <p:cNvSpPr>
            <a:spLocks xmlns:a="http://schemas.openxmlformats.org/drawingml/2006/main" noGrp="1"/>
          </p:cNvSpPr>
          <p:nvPr/>
        </p:nvSpPr>
        <p:spPr>
          <a:xfrm xmlns:a="http://schemas.openxmlformats.org/drawingml/2006/main" rot="0">
            <a:off x="4757357" y="4868255"/>
            <a:ext cx="142383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OPM Biosciences</a:t>
            </a:r>
          </a:p>
        </p:txBody>
      </p:sp>
      <p:sp>
        <p:nvSpPr>
          <p:cNvPr id="22" name="Figure 9 label 21 line 1">
            <a:extLst xmlns:a="http://schemas.openxmlformats.org/drawingml/2006/main">
              <a:ext uri="{FF2B5EF4-FFF2-40B4-BE49-F238E27FC236}">
                <a16:creationId xmlns:a16="http://schemas.microsoft.com/office/drawing/2014/main" id="{27C0A093-9918-4FD6-B762-307AA8C5F8D2}"/>
              </a:ext>
            </a:extLst>
          </p:cNvPr>
          <p:cNvSpPr>
            <a:spLocks xmlns:a="http://schemas.openxmlformats.org/drawingml/2006/main" noGrp="1"/>
          </p:cNvSpPr>
          <p:nvPr/>
        </p:nvSpPr>
        <p:spPr>
          <a:xfrm xmlns:a="http://schemas.openxmlformats.org/drawingml/2006/main" rot="0">
            <a:off x="991870" y="421920"/>
            <a:ext cx="6574235"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09  Mapping Chinese listed LST suppliers</a:t>
            </a:r>
          </a:p>
        </p:txBody>
      </p:sp>
      <p:sp>
        <p:nvSpPr>
          <p:cNvPr id="23" name="Figure 9 label 22 line 1">
            <a:extLst xmlns:a="http://schemas.openxmlformats.org/drawingml/2006/main">
              <a:ext uri="{FF2B5EF4-FFF2-40B4-BE49-F238E27FC236}">
                <a16:creationId xmlns:a16="http://schemas.microsoft.com/office/drawing/2014/main" id="{CF431B8D-8B89-41D0-AFCF-ADFA132571BE}"/>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HYPOTHESIS</a:t>
            </a:r>
          </a:p>
        </p:txBody>
      </p:sp>
      <p:sp>
        <p:nvSpPr>
          <p:cNvPr id="24" name="Figure 9 label 23 line 1">
            <a:extLst xmlns:a="http://schemas.openxmlformats.org/drawingml/2006/main">
              <a:ext uri="{FF2B5EF4-FFF2-40B4-BE49-F238E27FC236}">
                <a16:creationId xmlns:a16="http://schemas.microsoft.com/office/drawing/2014/main" id="{9203F4E3-26BC-4B31-B375-2725A588B62A}"/>
              </a:ext>
            </a:extLst>
          </p:cNvPr>
          <p:cNvSpPr>
            <a:spLocks xmlns:a="http://schemas.openxmlformats.org/drawingml/2006/main" noGrp="1"/>
          </p:cNvSpPr>
          <p:nvPr/>
        </p:nvSpPr>
        <p:spPr>
          <a:xfrm xmlns:a="http://schemas.openxmlformats.org/drawingml/2006/main" rot="0">
            <a:off x="998220" y="1248326"/>
            <a:ext cx="92940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Product exposure to AI build-and-test stages; positions do not measure AI revenue share or investment rank.</a:t>
            </a:r>
          </a:p>
        </p:txBody>
      </p:sp>
      <p:sp>
        <p:nvSpPr>
          <p:cNvPr id="25" name="Figure 9 label 24 line 1">
            <a:extLst xmlns:a="http://schemas.openxmlformats.org/drawingml/2006/main">
              <a:ext uri="{FF2B5EF4-FFF2-40B4-BE49-F238E27FC236}">
                <a16:creationId xmlns:a16="http://schemas.microsoft.com/office/drawing/2014/main" id="{427915D9-CDAA-46BC-8D0C-BD56D275325E}"/>
              </a:ext>
            </a:extLst>
          </p:cNvPr>
          <p:cNvSpPr>
            <a:spLocks xmlns:a="http://schemas.openxmlformats.org/drawingml/2006/main" noGrp="1"/>
          </p:cNvSpPr>
          <p:nvPr/>
        </p:nvSpPr>
        <p:spPr>
          <a:xfrm xmlns:a="http://schemas.openxmlformats.org/drawingml/2006/main" rot="0">
            <a:off x="999173" y="9256035"/>
            <a:ext cx="803954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Axes are qualitative judgments. Qualification, global customer access and paid orders still require evidence.</a:t>
            </a:r>
          </a:p>
        </p:txBody>
      </p:sp>
      <p:sp>
        <p:nvSpPr>
          <p:cNvPr id="26" name="Figure 9 label 25 line 1">
            <a:extLst xmlns:a="http://schemas.openxmlformats.org/drawingml/2006/main">
              <a:ext uri="{FF2B5EF4-FFF2-40B4-BE49-F238E27FC236}">
                <a16:creationId xmlns:a16="http://schemas.microsoft.com/office/drawing/2014/main" id="{F9EF40C1-EAAE-4312-960F-77044B65EB14}"/>
              </a:ext>
            </a:extLst>
          </p:cNvPr>
          <p:cNvSpPr>
            <a:spLocks xmlns:a="http://schemas.openxmlformats.org/drawingml/2006/main" noGrp="1"/>
          </p:cNvSpPr>
          <p:nvPr/>
        </p:nvSpPr>
        <p:spPr>
          <a:xfrm xmlns:a="http://schemas.openxmlformats.org/drawingml/2006/main" rot="0">
            <a:off x="1000316" y="9675546"/>
            <a:ext cx="6595646"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Sources: company filings and official product catalogs. Product rationale and assumptions are in data.json.</a:t>
            </a:r>
          </a:p>
        </p:txBody>
      </p:sp>
      <p:sp>
        <p:nvSpPr>
          <p:cNvPr id="27" name="Figure 9 label 26 line 1">
            <a:extLst xmlns:a="http://schemas.openxmlformats.org/drawingml/2006/main">
              <a:ext uri="{FF2B5EF4-FFF2-40B4-BE49-F238E27FC236}">
                <a16:creationId xmlns:a16="http://schemas.microsoft.com/office/drawing/2014/main" id="{B8352218-EF7A-4AFD-9237-42A5B32BDF0E}"/>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28" name="Figure 9 label 27 line 1">
            <a:extLst xmlns:a="http://schemas.openxmlformats.org/drawingml/2006/main">
              <a:ext uri="{FF2B5EF4-FFF2-40B4-BE49-F238E27FC236}">
                <a16:creationId xmlns:a16="http://schemas.microsoft.com/office/drawing/2014/main" id="{ED5FADBA-9C67-4B91-AD98-4AA4852D763D}"/>
              </a:ext>
            </a:extLst>
          </p:cNvPr>
          <p:cNvSpPr>
            <a:spLocks xmlns:a="http://schemas.openxmlformats.org/drawingml/2006/main" noGrp="1"/>
          </p:cNvSpPr>
          <p:nvPr/>
        </p:nvSpPr>
        <p:spPr>
          <a:xfrm xmlns:a="http://schemas.openxmlformats.org/drawingml/2006/main" rot="0">
            <a:off x="13250545" y="2538787"/>
            <a:ext cx="1017439"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1">
                <a:solidFill>
                  <a:srgbClr val="00355F"/>
                </a:solidFill>
                <a:latin typeface="Arial Unicode MS"/>
                <a:ea typeface="Arial Unicode MS"/>
                <a:cs typeface="Arial Unicode MS"/>
              </a:defRPr>
            </a:pPr>
            <a:r>
              <a:rPr sz="1625" b="1">
                <a:solidFill>
                  <a:srgbClr val="00355F"/>
                </a:solidFill>
                <a:latin typeface="Arial Unicode MS"/>
                <a:ea typeface="Arial Unicode MS"/>
                <a:cs typeface="Arial Unicode MS"/>
              </a:rPr>
              <a:t>Reagents</a:t>
            </a:r>
          </a:p>
        </p:txBody>
      </p:sp>
      <p:sp>
        <p:nvSpPr>
          <p:cNvPr id="29" name="Figure 9 label 28 line 1">
            <a:extLst xmlns:a="http://schemas.openxmlformats.org/drawingml/2006/main">
              <a:ext uri="{FF2B5EF4-FFF2-40B4-BE49-F238E27FC236}">
                <a16:creationId xmlns:a16="http://schemas.microsoft.com/office/drawing/2014/main" id="{F6E69FC5-E47C-4886-A45F-610D762B1BF8}"/>
              </a:ext>
            </a:extLst>
          </p:cNvPr>
          <p:cNvSpPr>
            <a:spLocks xmlns:a="http://schemas.openxmlformats.org/drawingml/2006/main" noGrp="1"/>
          </p:cNvSpPr>
          <p:nvPr/>
        </p:nvSpPr>
        <p:spPr>
          <a:xfrm xmlns:a="http://schemas.openxmlformats.org/drawingml/2006/main" rot="0">
            <a:off x="13252133" y="3010811"/>
            <a:ext cx="259124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Proteins, enzymes, blocks, media</a:t>
            </a:r>
          </a:p>
        </p:txBody>
      </p:sp>
      <p:sp>
        <p:nvSpPr>
          <p:cNvPr id="30" name="Figure 9 label 29 line 1">
            <a:extLst xmlns:a="http://schemas.openxmlformats.org/drawingml/2006/main">
              <a:ext uri="{FF2B5EF4-FFF2-40B4-BE49-F238E27FC236}">
                <a16:creationId xmlns:a16="http://schemas.microsoft.com/office/drawing/2014/main" id="{E75F61AA-2616-4B27-B451-A2D2AA87CD3C}"/>
              </a:ext>
            </a:extLst>
          </p:cNvPr>
          <p:cNvSpPr>
            <a:spLocks xmlns:a="http://schemas.openxmlformats.org/drawingml/2006/main" noGrp="1"/>
          </p:cNvSpPr>
          <p:nvPr/>
        </p:nvSpPr>
        <p:spPr>
          <a:xfrm xmlns:a="http://schemas.openxmlformats.org/drawingml/2006/main" rot="0">
            <a:off x="13250545" y="3620034"/>
            <a:ext cx="139561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1">
                <a:solidFill>
                  <a:srgbClr val="00355F"/>
                </a:solidFill>
                <a:latin typeface="Arial Unicode MS"/>
                <a:ea typeface="Arial Unicode MS"/>
                <a:cs typeface="Arial Unicode MS"/>
              </a:defRPr>
            </a:pPr>
            <a:r>
              <a:rPr sz="1625" b="1">
                <a:solidFill>
                  <a:srgbClr val="00355F"/>
                </a:solidFill>
                <a:latin typeface="Arial Unicode MS"/>
                <a:ea typeface="Arial Unicode MS"/>
                <a:cs typeface="Arial Unicode MS"/>
              </a:rPr>
              <a:t>Consumables</a:t>
            </a:r>
          </a:p>
        </p:txBody>
      </p:sp>
      <p:sp>
        <p:nvSpPr>
          <p:cNvPr id="31" name="Figure 9 label 30 line 1">
            <a:extLst xmlns:a="http://schemas.openxmlformats.org/drawingml/2006/main">
              <a:ext uri="{FF2B5EF4-FFF2-40B4-BE49-F238E27FC236}">
                <a16:creationId xmlns:a16="http://schemas.microsoft.com/office/drawing/2014/main" id="{B3AF8006-70B7-4499-B409-A50E89484B73}"/>
              </a:ext>
            </a:extLst>
          </p:cNvPr>
          <p:cNvSpPr>
            <a:spLocks xmlns:a="http://schemas.openxmlformats.org/drawingml/2006/main" noGrp="1"/>
          </p:cNvSpPr>
          <p:nvPr/>
        </p:nvSpPr>
        <p:spPr>
          <a:xfrm xmlns:a="http://schemas.openxmlformats.org/drawingml/2006/main" rot="0">
            <a:off x="13252133" y="4091844"/>
            <a:ext cx="199831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Labware, columns, resins</a:t>
            </a:r>
          </a:p>
        </p:txBody>
      </p:sp>
      <p:sp>
        <p:nvSpPr>
          <p:cNvPr id="32" name="Figure 9 label 31 line 1">
            <a:extLst xmlns:a="http://schemas.openxmlformats.org/drawingml/2006/main">
              <a:ext uri="{FF2B5EF4-FFF2-40B4-BE49-F238E27FC236}">
                <a16:creationId xmlns:a16="http://schemas.microsoft.com/office/drawing/2014/main" id="{FEE41338-886A-4183-AF0F-17D1BD66DB0D}"/>
              </a:ext>
            </a:extLst>
          </p:cNvPr>
          <p:cNvSpPr>
            <a:spLocks xmlns:a="http://schemas.openxmlformats.org/drawingml/2006/main" noGrp="1"/>
          </p:cNvSpPr>
          <p:nvPr/>
        </p:nvSpPr>
        <p:spPr>
          <a:xfrm xmlns:a="http://schemas.openxmlformats.org/drawingml/2006/main" rot="0">
            <a:off x="13250545" y="4701427"/>
            <a:ext cx="2232323"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1">
                <a:solidFill>
                  <a:srgbClr val="00355F"/>
                </a:solidFill>
                <a:latin typeface="Arial Unicode MS"/>
                <a:ea typeface="Arial Unicode MS"/>
                <a:cs typeface="Arial Unicode MS"/>
              </a:defRPr>
            </a:pPr>
            <a:r>
              <a:rPr sz="1625" b="1">
                <a:solidFill>
                  <a:srgbClr val="00355F"/>
                </a:solidFill>
                <a:latin typeface="Arial Unicode MS"/>
                <a:ea typeface="Arial Unicode MS"/>
                <a:cs typeface="Arial Unicode MS"/>
              </a:rPr>
              <a:t>Instruments / platforms</a:t>
            </a:r>
          </a:p>
        </p:txBody>
      </p:sp>
      <p:sp>
        <p:nvSpPr>
          <p:cNvPr id="33" name="Figure 9 label 32 line 1">
            <a:extLst xmlns:a="http://schemas.openxmlformats.org/drawingml/2006/main">
              <a:ext uri="{FF2B5EF4-FFF2-40B4-BE49-F238E27FC236}">
                <a16:creationId xmlns:a16="http://schemas.microsoft.com/office/drawing/2014/main" id="{9575E91D-B272-43E0-B43B-C49C0D40257A}"/>
              </a:ext>
            </a:extLst>
          </p:cNvPr>
          <p:cNvSpPr>
            <a:spLocks xmlns:a="http://schemas.openxmlformats.org/drawingml/2006/main" noGrp="1"/>
          </p:cNvSpPr>
          <p:nvPr/>
        </p:nvSpPr>
        <p:spPr>
          <a:xfrm xmlns:a="http://schemas.openxmlformats.org/drawingml/2006/main" rot="0">
            <a:off x="13252133" y="5172097"/>
            <a:ext cx="2184350"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Sequencing and automation</a:t>
            </a:r>
          </a:p>
        </p:txBody>
      </p:sp>
      <p:sp>
        <p:nvSpPr>
          <p:cNvPr id="34" name="Figure 9 label 33 line 1">
            <a:extLst xmlns:a="http://schemas.openxmlformats.org/drawingml/2006/main">
              <a:ext uri="{FF2B5EF4-FFF2-40B4-BE49-F238E27FC236}">
                <a16:creationId xmlns:a16="http://schemas.microsoft.com/office/drawing/2014/main" id="{9B1B1044-CC46-41A5-8B5F-AC6302065108}"/>
              </a:ext>
            </a:extLst>
          </p:cNvPr>
          <p:cNvSpPr>
            <a:spLocks xmlns:a="http://schemas.openxmlformats.org/drawingml/2006/main" noGrp="1"/>
          </p:cNvSpPr>
          <p:nvPr/>
        </p:nvSpPr>
        <p:spPr>
          <a:xfrm xmlns:a="http://schemas.openxmlformats.org/drawingml/2006/main" rot="0">
            <a:off x="13342620" y="6238682"/>
            <a:ext cx="282416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1">
                <a:solidFill>
                  <a:srgbClr val="00355F"/>
                </a:solidFill>
                <a:latin typeface="Arial Unicode MS"/>
                <a:ea typeface="Arial Unicode MS"/>
                <a:cs typeface="Arial Unicode MS"/>
              </a:defRPr>
            </a:pPr>
            <a:r>
              <a:rPr sz="1500" b="1">
                <a:solidFill>
                  <a:srgbClr val="00355F"/>
                </a:solidFill>
                <a:latin typeface="Arial Unicode MS"/>
                <a:ea typeface="Arial Unicode MS"/>
                <a:cs typeface="Arial Unicode MS"/>
              </a:rPr>
              <a:t>Two different demand pathways</a:t>
            </a:r>
          </a:p>
        </p:txBody>
      </p:sp>
      <p:sp>
        <p:nvSpPr>
          <p:cNvPr id="35" name="Figure 9 label 34 line 1">
            <a:extLst xmlns:a="http://schemas.openxmlformats.org/drawingml/2006/main">
              <a:ext uri="{FF2B5EF4-FFF2-40B4-BE49-F238E27FC236}">
                <a16:creationId xmlns:a16="http://schemas.microsoft.com/office/drawing/2014/main" id="{F3B2E0AC-266C-41F8-847C-0514FCD811F9}"/>
              </a:ext>
            </a:extLst>
          </p:cNvPr>
          <p:cNvSpPr>
            <a:spLocks xmlns:a="http://schemas.openxmlformats.org/drawingml/2006/main" noGrp="1"/>
          </p:cNvSpPr>
          <p:nvPr/>
        </p:nvSpPr>
        <p:spPr>
          <a:xfrm xmlns:a="http://schemas.openxmlformats.org/drawingml/2006/main" rot="0">
            <a:off x="13343446" y="6645481"/>
            <a:ext cx="2961065"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ACRO: expression / functional assays</a:t>
            </a:r>
          </a:p>
        </p:txBody>
      </p:sp>
      <p:sp>
        <p:nvSpPr>
          <p:cNvPr id="36" name="Figure 9 label 35 line 1">
            <a:extLst xmlns:a="http://schemas.openxmlformats.org/drawingml/2006/main">
              <a:ext uri="{FF2B5EF4-FFF2-40B4-BE49-F238E27FC236}">
                <a16:creationId xmlns:a16="http://schemas.microsoft.com/office/drawing/2014/main" id="{B4834C4A-ACD0-4D7B-9834-24DA8D503DC1}"/>
              </a:ext>
            </a:extLst>
          </p:cNvPr>
          <p:cNvSpPr>
            <a:spLocks xmlns:a="http://schemas.openxmlformats.org/drawingml/2006/main" noGrp="1"/>
          </p:cNvSpPr>
          <p:nvPr/>
        </p:nvSpPr>
        <p:spPr>
          <a:xfrm xmlns:a="http://schemas.openxmlformats.org/drawingml/2006/main" rot="0">
            <a:off x="13343446" y="6903730"/>
            <a:ext cx="2682756"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NanoMicro: purification + scale-up</a:t>
            </a:r>
          </a:p>
        </p:txBody>
      </p:sp>
    </p:spTree>
    <p:extLst>
      <p:ext uri="{BB962C8B-B14F-4D97-AF65-F5344CB8AC3E}">
        <p14:creationId xmlns:p14="http://schemas.microsoft.com/office/powerpoint/2010/main" val="3083394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9" name="">
            <a:extLst xmlns:a="http://schemas.openxmlformats.org/drawingml/2006/main">
              <a:ext uri="{FF2B5EF4-FFF2-40B4-BE49-F238E27FC236}">
                <a16:creationId xmlns:a16="http://schemas.microsoft.com/office/drawing/2014/main" id="{2919A834-A8CC-4D84-9BB9-C5D6C5629A1B}"/>
              </a:ext>
            </a:extLst>
          </p:cNvPr>
          <p:cNvPicPr>
            <a:picLocks xmlns:a="http://schemas.openxmlformats.org/drawingml/2006/main" noChangeAspect="1"/>
          </p:cNvPicPr>
          <p:nvPr/>
        </p:nvPicPr>
        <p:blipFill>
          <a:blip xmlns:r="http://schemas.openxmlformats.org/officeDocument/2006/relationships" xmlns:a="http://schemas.openxmlformats.org/drawingml/2006/main" r:embed="Rcc4b214c9abc4a2d"/>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0 label 1 line 1">
            <a:extLst xmlns:a="http://schemas.openxmlformats.org/drawingml/2006/main">
              <a:ext uri="{FF2B5EF4-FFF2-40B4-BE49-F238E27FC236}">
                <a16:creationId xmlns:a16="http://schemas.microsoft.com/office/drawing/2014/main" id="{ED4E626A-DB29-4A88-A001-BAD627DF3677}"/>
              </a:ext>
            </a:extLst>
          </p:cNvPr>
          <p:cNvSpPr>
            <a:spLocks xmlns:a="http://schemas.openxmlformats.org/drawingml/2006/main" noGrp="1"/>
          </p:cNvSpPr>
          <p:nvPr/>
        </p:nvSpPr>
        <p:spPr>
          <a:xfrm xmlns:a="http://schemas.openxmlformats.org/drawingml/2006/main" rot="0">
            <a:off x="991870" y="421920"/>
            <a:ext cx="7447260"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10  From AI funding to LST shareholder returns</a:t>
            </a:r>
          </a:p>
        </p:txBody>
      </p:sp>
      <p:sp>
        <p:nvSpPr>
          <p:cNvPr id="3" name="Figure 10 label 2 line 1">
            <a:extLst xmlns:a="http://schemas.openxmlformats.org/drawingml/2006/main">
              <a:ext uri="{FF2B5EF4-FFF2-40B4-BE49-F238E27FC236}">
                <a16:creationId xmlns:a16="http://schemas.microsoft.com/office/drawing/2014/main" id="{50AB017E-2E12-42B1-8AC8-67AA2132CBC9}"/>
              </a:ext>
            </a:extLst>
          </p:cNvPr>
          <p:cNvSpPr>
            <a:spLocks xmlns:a="http://schemas.openxmlformats.org/drawingml/2006/main" noGrp="1"/>
          </p:cNvSpPr>
          <p:nvPr/>
        </p:nvSpPr>
        <p:spPr>
          <a:xfrm xmlns:a="http://schemas.openxmlformats.org/drawingml/2006/main" rot="0">
            <a:off x="15909231" y="661601"/>
            <a:ext cx="64273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THESIS</a:t>
            </a:r>
          </a:p>
        </p:txBody>
      </p:sp>
      <p:sp>
        <p:nvSpPr>
          <p:cNvPr id="4" name="Figure 10 label 3 line 1">
            <a:extLst xmlns:a="http://schemas.openxmlformats.org/drawingml/2006/main">
              <a:ext uri="{FF2B5EF4-FFF2-40B4-BE49-F238E27FC236}">
                <a16:creationId xmlns:a16="http://schemas.microsoft.com/office/drawing/2014/main" id="{68FD6FDE-3EAA-4B7F-8027-C53BB05A7B60}"/>
              </a:ext>
            </a:extLst>
          </p:cNvPr>
          <p:cNvSpPr>
            <a:spLocks xmlns:a="http://schemas.openxmlformats.org/drawingml/2006/main" noGrp="1"/>
          </p:cNvSpPr>
          <p:nvPr/>
        </p:nvSpPr>
        <p:spPr>
          <a:xfrm xmlns:a="http://schemas.openxmlformats.org/drawingml/2006/main" rot="0">
            <a:off x="998220" y="1248326"/>
            <a:ext cx="953720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Funding starts the chain. Projects, consumption, supply, market share and cash returns determine the outcome.</a:t>
            </a:r>
          </a:p>
        </p:txBody>
      </p:sp>
      <p:sp>
        <p:nvSpPr>
          <p:cNvPr id="5" name="Figure 10 label 4 line 1">
            <a:extLst xmlns:a="http://schemas.openxmlformats.org/drawingml/2006/main">
              <a:ext uri="{FF2B5EF4-FFF2-40B4-BE49-F238E27FC236}">
                <a16:creationId xmlns:a16="http://schemas.microsoft.com/office/drawing/2014/main" id="{B33CFBD5-0A6A-4D70-96CF-AA1B3F063261}"/>
              </a:ext>
            </a:extLst>
          </p:cNvPr>
          <p:cNvSpPr>
            <a:spLocks xmlns:a="http://schemas.openxmlformats.org/drawingml/2006/main" noGrp="1"/>
          </p:cNvSpPr>
          <p:nvPr/>
        </p:nvSpPr>
        <p:spPr>
          <a:xfrm xmlns:a="http://schemas.openxmlformats.org/drawingml/2006/main" rot="0">
            <a:off x="999173" y="9256035"/>
            <a:ext cx="778058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Seek experimental relevance, evidenced supply constraints and global access; test the valuation hurdle.</a:t>
            </a:r>
          </a:p>
        </p:txBody>
      </p:sp>
      <p:sp>
        <p:nvSpPr>
          <p:cNvPr id="6" name="Figure 10 label 5 line 1">
            <a:extLst xmlns:a="http://schemas.openxmlformats.org/drawingml/2006/main">
              <a:ext uri="{FF2B5EF4-FFF2-40B4-BE49-F238E27FC236}">
                <a16:creationId xmlns:a16="http://schemas.microsoft.com/office/drawing/2014/main" id="{3A9A046D-FBD2-4590-BFA4-EE3D7AC0F35E}"/>
              </a:ext>
            </a:extLst>
          </p:cNvPr>
          <p:cNvSpPr>
            <a:spLocks xmlns:a="http://schemas.openxmlformats.org/drawingml/2006/main" noGrp="1"/>
          </p:cNvSpPr>
          <p:nvPr/>
        </p:nvSpPr>
        <p:spPr>
          <a:xfrm xmlns:a="http://schemas.openxmlformats.org/drawingml/2006/main" rot="0">
            <a:off x="1000316" y="9675546"/>
            <a:ext cx="6311533"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prior company research. Capital announcements are not LST orders.</a:t>
            </a:r>
          </a:p>
        </p:txBody>
      </p:sp>
      <p:sp>
        <p:nvSpPr>
          <p:cNvPr id="7" name="Figure 10 label 6 line 1">
            <a:extLst xmlns:a="http://schemas.openxmlformats.org/drawingml/2006/main">
              <a:ext uri="{FF2B5EF4-FFF2-40B4-BE49-F238E27FC236}">
                <a16:creationId xmlns:a16="http://schemas.microsoft.com/office/drawing/2014/main" id="{FAFB06A2-4F82-47F2-83A9-D0EDF831EEB6}"/>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8" name="Figure 10 label 7 line 1">
            <a:extLst xmlns:a="http://schemas.openxmlformats.org/drawingml/2006/main">
              <a:ext uri="{FF2B5EF4-FFF2-40B4-BE49-F238E27FC236}">
                <a16:creationId xmlns:a16="http://schemas.microsoft.com/office/drawing/2014/main" id="{FF6AC798-E89C-4A95-A0A1-A80351983D58}"/>
              </a:ext>
            </a:extLst>
          </p:cNvPr>
          <p:cNvSpPr>
            <a:spLocks xmlns:a="http://schemas.openxmlformats.org/drawingml/2006/main" noGrp="1"/>
          </p:cNvSpPr>
          <p:nvPr/>
        </p:nvSpPr>
        <p:spPr>
          <a:xfrm xmlns:a="http://schemas.openxmlformats.org/drawingml/2006/main" rot="0">
            <a:off x="1372389" y="2964153"/>
            <a:ext cx="1735782"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688" b="1">
                <a:solidFill>
                  <a:srgbClr val="00355F"/>
                </a:solidFill>
                <a:latin typeface="Arial Unicode MS"/>
                <a:ea typeface="Arial Unicode MS"/>
                <a:cs typeface="Arial Unicode MS"/>
              </a:defRPr>
            </a:pPr>
            <a:r>
              <a:rPr sz="1688" b="1">
                <a:solidFill>
                  <a:srgbClr val="00355F"/>
                </a:solidFill>
                <a:latin typeface="Arial Unicode MS"/>
                <a:ea typeface="Arial Unicode MS"/>
                <a:cs typeface="Arial Unicode MS"/>
              </a:rPr>
              <a:t>AI funding grows</a:t>
            </a:r>
          </a:p>
        </p:txBody>
      </p:sp>
      <p:sp>
        <p:nvSpPr>
          <p:cNvPr id="9" name="Figure 10 label 8 line 1">
            <a:extLst xmlns:a="http://schemas.openxmlformats.org/drawingml/2006/main">
              <a:ext uri="{FF2B5EF4-FFF2-40B4-BE49-F238E27FC236}">
                <a16:creationId xmlns:a16="http://schemas.microsoft.com/office/drawing/2014/main" id="{E61D4E25-6B70-456A-A5B3-3B1AF06C20D7}"/>
              </a:ext>
            </a:extLst>
          </p:cNvPr>
          <p:cNvSpPr>
            <a:spLocks xmlns:a="http://schemas.openxmlformats.org/drawingml/2006/main" noGrp="1"/>
          </p:cNvSpPr>
          <p:nvPr/>
        </p:nvSpPr>
        <p:spPr>
          <a:xfrm xmlns:a="http://schemas.openxmlformats.org/drawingml/2006/main" rot="0">
            <a:off x="1255340" y="3750783"/>
            <a:ext cx="1969879"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25" b="0">
                <a:solidFill>
                  <a:srgbClr val="00355F"/>
                </a:solidFill>
                <a:latin typeface="Arial Unicode MS"/>
                <a:ea typeface="Arial Unicode MS"/>
                <a:cs typeface="Arial Unicode MS"/>
              </a:defRPr>
            </a:pPr>
            <a:r>
              <a:rPr sz="1325" b="0">
                <a:solidFill>
                  <a:srgbClr val="00355F"/>
                </a:solidFill>
                <a:latin typeface="Arial Unicode MS"/>
                <a:ea typeface="Arial Unicode MS"/>
                <a:cs typeface="Arial Unicode MS"/>
              </a:rPr>
              <a:t>Cash reaches customers</a:t>
            </a:r>
          </a:p>
        </p:txBody>
      </p:sp>
      <p:sp>
        <p:nvSpPr>
          <p:cNvPr id="10" name="Figure 10 label 9 line 1">
            <a:extLst xmlns:a="http://schemas.openxmlformats.org/drawingml/2006/main">
              <a:ext uri="{FF2B5EF4-FFF2-40B4-BE49-F238E27FC236}">
                <a16:creationId xmlns:a16="http://schemas.microsoft.com/office/drawing/2014/main" id="{D11548B4-4BC7-405B-9C87-E8D2C7F7DFE6}"/>
              </a:ext>
            </a:extLst>
          </p:cNvPr>
          <p:cNvSpPr>
            <a:spLocks xmlns:a="http://schemas.openxmlformats.org/drawingml/2006/main" noGrp="1"/>
          </p:cNvSpPr>
          <p:nvPr/>
        </p:nvSpPr>
        <p:spPr>
          <a:xfrm xmlns:a="http://schemas.openxmlformats.org/drawingml/2006/main" rot="0">
            <a:off x="4485941" y="2964002"/>
            <a:ext cx="1616869"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688" b="1">
                <a:solidFill>
                  <a:srgbClr val="00355F"/>
                </a:solidFill>
                <a:latin typeface="Arial Unicode MS"/>
                <a:ea typeface="Arial Unicode MS"/>
                <a:cs typeface="Arial Unicode MS"/>
              </a:defRPr>
            </a:pPr>
            <a:r>
              <a:rPr sz="1688" b="1">
                <a:solidFill>
                  <a:srgbClr val="00355F"/>
                </a:solidFill>
                <a:latin typeface="Arial Unicode MS"/>
                <a:ea typeface="Arial Unicode MS"/>
                <a:cs typeface="Arial Unicode MS"/>
              </a:rPr>
              <a:t>Lab automation</a:t>
            </a:r>
          </a:p>
        </p:txBody>
      </p:sp>
      <p:sp>
        <p:nvSpPr>
          <p:cNvPr id="11" name="Figure 10 label 10 line 1">
            <a:extLst xmlns:a="http://schemas.openxmlformats.org/drawingml/2006/main">
              <a:ext uri="{FF2B5EF4-FFF2-40B4-BE49-F238E27FC236}">
                <a16:creationId xmlns:a16="http://schemas.microsoft.com/office/drawing/2014/main" id="{4F4F3A08-A2DD-4600-BDA7-154534201522}"/>
              </a:ext>
            </a:extLst>
          </p:cNvPr>
          <p:cNvSpPr>
            <a:spLocks xmlns:a="http://schemas.openxmlformats.org/drawingml/2006/main" noGrp="1"/>
          </p:cNvSpPr>
          <p:nvPr/>
        </p:nvSpPr>
        <p:spPr>
          <a:xfrm xmlns:a="http://schemas.openxmlformats.org/drawingml/2006/main" rot="0">
            <a:off x="4505592" y="3750783"/>
            <a:ext cx="1577568"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25" b="0">
                <a:solidFill>
                  <a:srgbClr val="00355F"/>
                </a:solidFill>
                <a:latin typeface="Arial Unicode MS"/>
                <a:ea typeface="Arial Unicode MS"/>
                <a:cs typeface="Arial Unicode MS"/>
              </a:defRPr>
            </a:pPr>
            <a:r>
              <a:rPr sz="1325" b="0">
                <a:solidFill>
                  <a:srgbClr val="00355F"/>
                </a:solidFill>
                <a:latin typeface="Arial Unicode MS"/>
                <a:ea typeface="Arial Unicode MS"/>
                <a:cs typeface="Arial Unicode MS"/>
              </a:rPr>
              <a:t>Equipment installed</a:t>
            </a:r>
          </a:p>
        </p:txBody>
      </p:sp>
      <p:sp>
        <p:nvSpPr>
          <p:cNvPr id="12" name="Figure 10 label 11 line 1">
            <a:extLst xmlns:a="http://schemas.openxmlformats.org/drawingml/2006/main">
              <a:ext uri="{FF2B5EF4-FFF2-40B4-BE49-F238E27FC236}">
                <a16:creationId xmlns:a16="http://schemas.microsoft.com/office/drawing/2014/main" id="{59622E96-DB4B-486C-9255-87085FF5BC3B}"/>
              </a:ext>
            </a:extLst>
          </p:cNvPr>
          <p:cNvSpPr>
            <a:spLocks xmlns:a="http://schemas.openxmlformats.org/drawingml/2006/main" noGrp="1"/>
          </p:cNvSpPr>
          <p:nvPr/>
        </p:nvSpPr>
        <p:spPr>
          <a:xfrm xmlns:a="http://schemas.openxmlformats.org/drawingml/2006/main" rot="0">
            <a:off x="7242456" y="2964002"/>
            <a:ext cx="2212032"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688" b="1">
                <a:solidFill>
                  <a:srgbClr val="00355F"/>
                </a:solidFill>
                <a:latin typeface="Arial Unicode MS"/>
                <a:ea typeface="Arial Unicode MS"/>
                <a:cs typeface="Arial Unicode MS"/>
              </a:defRPr>
            </a:pPr>
            <a:r>
              <a:rPr sz="1688" b="1">
                <a:solidFill>
                  <a:srgbClr val="00355F"/>
                </a:solidFill>
                <a:latin typeface="Arial Unicode MS"/>
                <a:ea typeface="Arial Unicode MS"/>
                <a:cs typeface="Arial Unicode MS"/>
              </a:rPr>
              <a:t>Build-and-test volume</a:t>
            </a:r>
          </a:p>
        </p:txBody>
      </p:sp>
      <p:sp>
        <p:nvSpPr>
          <p:cNvPr id="13" name="Figure 10 label 12 line 1">
            <a:extLst xmlns:a="http://schemas.openxmlformats.org/drawingml/2006/main">
              <a:ext uri="{FF2B5EF4-FFF2-40B4-BE49-F238E27FC236}">
                <a16:creationId xmlns:a16="http://schemas.microsoft.com/office/drawing/2014/main" id="{72DF7693-1DE2-4314-809D-2DB616757D11}"/>
              </a:ext>
            </a:extLst>
          </p:cNvPr>
          <p:cNvSpPr>
            <a:spLocks xmlns:a="http://schemas.openxmlformats.org/drawingml/2006/main" noGrp="1"/>
          </p:cNvSpPr>
          <p:nvPr/>
        </p:nvSpPr>
        <p:spPr>
          <a:xfrm xmlns:a="http://schemas.openxmlformats.org/drawingml/2006/main" rot="0">
            <a:off x="7503654" y="3750980"/>
            <a:ext cx="1689636"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25" b="0">
                <a:solidFill>
                  <a:srgbClr val="00355F"/>
                </a:solidFill>
                <a:latin typeface="Arial Unicode MS"/>
                <a:ea typeface="Arial Unicode MS"/>
                <a:cs typeface="Arial Unicode MS"/>
              </a:defRPr>
            </a:pPr>
            <a:r>
              <a:rPr sz="1325" b="0">
                <a:solidFill>
                  <a:srgbClr val="00355F"/>
                </a:solidFill>
                <a:latin typeface="Arial Unicode MS"/>
                <a:ea typeface="Arial Unicode MS"/>
                <a:cs typeface="Arial Unicode MS"/>
              </a:rPr>
              <a:t>More funded projects</a:t>
            </a:r>
          </a:p>
        </p:txBody>
      </p:sp>
      <p:sp>
        <p:nvSpPr>
          <p:cNvPr id="14" name="Figure 10 label 13 line 1">
            <a:extLst xmlns:a="http://schemas.openxmlformats.org/drawingml/2006/main">
              <a:ext uri="{FF2B5EF4-FFF2-40B4-BE49-F238E27FC236}">
                <a16:creationId xmlns:a16="http://schemas.microsoft.com/office/drawing/2014/main" id="{F753C719-6730-4D43-9508-3D2E5223B615}"/>
              </a:ext>
            </a:extLst>
          </p:cNvPr>
          <p:cNvSpPr>
            <a:spLocks xmlns:a="http://schemas.openxmlformats.org/drawingml/2006/main" noGrp="1"/>
          </p:cNvSpPr>
          <p:nvPr/>
        </p:nvSpPr>
        <p:spPr>
          <a:xfrm xmlns:a="http://schemas.openxmlformats.org/drawingml/2006/main" rot="0">
            <a:off x="10522844" y="2964002"/>
            <a:ext cx="1759446"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FFFFFF"/>
                </a:solidFill>
                <a:latin typeface="Arial Unicode MS"/>
                <a:ea typeface="Arial Unicode MS"/>
                <a:cs typeface="Arial Unicode MS"/>
              </a:defRPr>
            </a:defPPr>
          </a:lstStyle>
          <a:p xmlns:a="http://schemas.openxmlformats.org/drawingml/2006/main">
            <a:pPr algn="ctr">
              <a:lnSpc>
                <a:spcPct val="100000"/>
              </a:lnSpc>
              <a:buNone/>
              <a:defRPr sz="1688" b="1">
                <a:solidFill>
                  <a:srgbClr val="FFFFFF"/>
                </a:solidFill>
                <a:latin typeface="Arial Unicode MS"/>
                <a:ea typeface="Arial Unicode MS"/>
                <a:cs typeface="Arial Unicode MS"/>
              </a:defRPr>
            </a:pPr>
            <a:r>
              <a:rPr sz="1688" b="1">
                <a:solidFill>
                  <a:srgbClr val="FFFFFF"/>
                </a:solidFill>
                <a:latin typeface="Arial Unicode MS"/>
                <a:ea typeface="Arial Unicode MS"/>
                <a:cs typeface="Arial Unicode MS"/>
              </a:rPr>
              <a:t>Net LST demand</a:t>
            </a:r>
          </a:p>
        </p:txBody>
      </p:sp>
      <p:sp>
        <p:nvSpPr>
          <p:cNvPr id="15" name="Figure 10 label 14 line 1">
            <a:extLst xmlns:a="http://schemas.openxmlformats.org/drawingml/2006/main">
              <a:ext uri="{FF2B5EF4-FFF2-40B4-BE49-F238E27FC236}">
                <a16:creationId xmlns:a16="http://schemas.microsoft.com/office/drawing/2014/main" id="{02F0C3C2-7DCD-4727-A078-4BD6194915C3}"/>
              </a:ext>
            </a:extLst>
          </p:cNvPr>
          <p:cNvSpPr>
            <a:spLocks xmlns:a="http://schemas.openxmlformats.org/drawingml/2006/main" noGrp="1"/>
          </p:cNvSpPr>
          <p:nvPr/>
        </p:nvSpPr>
        <p:spPr>
          <a:xfrm xmlns:a="http://schemas.openxmlformats.org/drawingml/2006/main" rot="0">
            <a:off x="10429162" y="3750901"/>
            <a:ext cx="1946811"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FFFFFF"/>
                </a:solidFill>
                <a:latin typeface="Arial Unicode MS"/>
                <a:ea typeface="Arial Unicode MS"/>
                <a:cs typeface="Arial Unicode MS"/>
              </a:defRPr>
            </a:defPPr>
          </a:lstStyle>
          <a:p xmlns:a="http://schemas.openxmlformats.org/drawingml/2006/main">
            <a:pPr algn="ctr">
              <a:lnSpc>
                <a:spcPct val="100000"/>
              </a:lnSpc>
              <a:buNone/>
              <a:defRPr sz="1325" b="0">
                <a:solidFill>
                  <a:srgbClr val="FFFFFF"/>
                </a:solidFill>
                <a:latin typeface="Arial Unicode MS"/>
                <a:ea typeface="Arial Unicode MS"/>
                <a:cs typeface="Arial Unicode MS"/>
              </a:defRPr>
            </a:pPr>
            <a:r>
              <a:rPr sz="1325" b="0">
                <a:solidFill>
                  <a:srgbClr val="FFFFFF"/>
                </a:solidFill>
                <a:latin typeface="Arial Unicode MS"/>
                <a:ea typeface="Arial Unicode MS"/>
                <a:cs typeface="Arial Unicode MS"/>
              </a:rPr>
              <a:t>Intensity + ASP adjusted</a:t>
            </a:r>
          </a:p>
        </p:txBody>
      </p:sp>
      <p:sp>
        <p:nvSpPr>
          <p:cNvPr id="16" name="Figure 10 label 15 line 1">
            <a:extLst xmlns:a="http://schemas.openxmlformats.org/drawingml/2006/main">
              <a:ext uri="{FF2B5EF4-FFF2-40B4-BE49-F238E27FC236}">
                <a16:creationId xmlns:a16="http://schemas.microsoft.com/office/drawing/2014/main" id="{2D4EBA57-A487-47DD-A791-4B79868F4ED0}"/>
              </a:ext>
            </a:extLst>
          </p:cNvPr>
          <p:cNvSpPr>
            <a:spLocks xmlns:a="http://schemas.openxmlformats.org/drawingml/2006/main" noGrp="1"/>
          </p:cNvSpPr>
          <p:nvPr/>
        </p:nvSpPr>
        <p:spPr>
          <a:xfrm xmlns:a="http://schemas.openxmlformats.org/drawingml/2006/main" rot="0">
            <a:off x="13926566" y="2359405"/>
            <a:ext cx="158958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Direct demand</a:t>
            </a:r>
          </a:p>
        </p:txBody>
      </p:sp>
      <p:sp>
        <p:nvSpPr>
          <p:cNvPr id="17" name="Figure 10 label 16 line 1">
            <a:extLst xmlns:a="http://schemas.openxmlformats.org/drawingml/2006/main">
              <a:ext uri="{FF2B5EF4-FFF2-40B4-BE49-F238E27FC236}">
                <a16:creationId xmlns:a16="http://schemas.microsoft.com/office/drawing/2014/main" id="{1C94E865-8097-4595-B7EF-D0530D3F29E2}"/>
              </a:ext>
            </a:extLst>
          </p:cNvPr>
          <p:cNvSpPr>
            <a:spLocks xmlns:a="http://schemas.openxmlformats.org/drawingml/2006/main" noGrp="1"/>
          </p:cNvSpPr>
          <p:nvPr/>
        </p:nvSpPr>
        <p:spPr>
          <a:xfrm xmlns:a="http://schemas.openxmlformats.org/drawingml/2006/main" rot="0">
            <a:off x="13928598" y="2863125"/>
            <a:ext cx="225575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Assays, automation labware</a:t>
            </a:r>
          </a:p>
        </p:txBody>
      </p:sp>
      <p:sp>
        <p:nvSpPr>
          <p:cNvPr id="18" name="Figure 10 label 17 line 1">
            <a:extLst xmlns:a="http://schemas.openxmlformats.org/drawingml/2006/main">
              <a:ext uri="{FF2B5EF4-FFF2-40B4-BE49-F238E27FC236}">
                <a16:creationId xmlns:a16="http://schemas.microsoft.com/office/drawing/2014/main" id="{F5D2E83A-9F7B-475C-987F-55B501B9898B}"/>
              </a:ext>
            </a:extLst>
          </p:cNvPr>
          <p:cNvSpPr>
            <a:spLocks xmlns:a="http://schemas.openxmlformats.org/drawingml/2006/main" noGrp="1"/>
          </p:cNvSpPr>
          <p:nvPr/>
        </p:nvSpPr>
        <p:spPr>
          <a:xfrm xmlns:a="http://schemas.openxmlformats.org/drawingml/2006/main" rot="0">
            <a:off x="13928598" y="3107755"/>
            <a:ext cx="229400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and chemical building blocks</a:t>
            </a:r>
          </a:p>
        </p:txBody>
      </p:sp>
      <p:sp>
        <p:nvSpPr>
          <p:cNvPr id="19" name="Figure 10 label 18 line 1">
            <a:extLst xmlns:a="http://schemas.openxmlformats.org/drawingml/2006/main">
              <a:ext uri="{FF2B5EF4-FFF2-40B4-BE49-F238E27FC236}">
                <a16:creationId xmlns:a16="http://schemas.microsoft.com/office/drawing/2014/main" id="{9B8C5F0E-9214-4494-8709-A1D4D449F8F9}"/>
              </a:ext>
            </a:extLst>
          </p:cNvPr>
          <p:cNvSpPr>
            <a:spLocks xmlns:a="http://schemas.openxmlformats.org/drawingml/2006/main" noGrp="1"/>
          </p:cNvSpPr>
          <p:nvPr/>
        </p:nvSpPr>
        <p:spPr>
          <a:xfrm xmlns:a="http://schemas.openxmlformats.org/drawingml/2006/main" rot="0">
            <a:off x="13926566" y="4416961"/>
            <a:ext cx="196031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Supply constraints</a:t>
            </a:r>
          </a:p>
        </p:txBody>
      </p:sp>
      <p:sp>
        <p:nvSpPr>
          <p:cNvPr id="20" name="Figure 10 label 19 line 1">
            <a:extLst xmlns:a="http://schemas.openxmlformats.org/drawingml/2006/main">
              <a:ext uri="{FF2B5EF4-FFF2-40B4-BE49-F238E27FC236}">
                <a16:creationId xmlns:a16="http://schemas.microsoft.com/office/drawing/2014/main" id="{E498E79B-649D-4FC4-A1B7-4662505A5819}"/>
              </a:ext>
            </a:extLst>
          </p:cNvPr>
          <p:cNvSpPr>
            <a:spLocks xmlns:a="http://schemas.openxmlformats.org/drawingml/2006/main" noGrp="1"/>
          </p:cNvSpPr>
          <p:nvPr/>
        </p:nvSpPr>
        <p:spPr>
          <a:xfrm xmlns:a="http://schemas.openxmlformats.org/drawingml/2006/main" rot="0">
            <a:off x="13928598" y="4922494"/>
            <a:ext cx="238925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Specialty plates / components</a:t>
            </a:r>
          </a:p>
        </p:txBody>
      </p:sp>
      <p:sp>
        <p:nvSpPr>
          <p:cNvPr id="21" name="Figure 10 label 20 line 1">
            <a:extLst xmlns:a="http://schemas.openxmlformats.org/drawingml/2006/main">
              <a:ext uri="{FF2B5EF4-FFF2-40B4-BE49-F238E27FC236}">
                <a16:creationId xmlns:a16="http://schemas.microsoft.com/office/drawing/2014/main" id="{A4CB685F-03B7-4D34-8BF8-09B04D75D859}"/>
              </a:ext>
            </a:extLst>
          </p:cNvPr>
          <p:cNvSpPr>
            <a:spLocks xmlns:a="http://schemas.openxmlformats.org/drawingml/2006/main" noGrp="1"/>
          </p:cNvSpPr>
          <p:nvPr/>
        </p:nvSpPr>
        <p:spPr>
          <a:xfrm xmlns:a="http://schemas.openxmlformats.org/drawingml/2006/main" rot="0">
            <a:off x="13928598" y="5167124"/>
            <a:ext cx="251323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Expansion limits need evidence</a:t>
            </a:r>
          </a:p>
        </p:txBody>
      </p:sp>
      <p:sp>
        <p:nvSpPr>
          <p:cNvPr id="22" name="Figure 10 label 21 line 1">
            <a:extLst xmlns:a="http://schemas.openxmlformats.org/drawingml/2006/main">
              <a:ext uri="{FF2B5EF4-FFF2-40B4-BE49-F238E27FC236}">
                <a16:creationId xmlns:a16="http://schemas.microsoft.com/office/drawing/2014/main" id="{04731405-2564-4E15-98BC-4BFD68CDF26F}"/>
              </a:ext>
            </a:extLst>
          </p:cNvPr>
          <p:cNvSpPr>
            <a:spLocks xmlns:a="http://schemas.openxmlformats.org/drawingml/2006/main" noGrp="1"/>
          </p:cNvSpPr>
          <p:nvPr/>
        </p:nvSpPr>
        <p:spPr>
          <a:xfrm xmlns:a="http://schemas.openxmlformats.org/drawingml/2006/main" rot="0">
            <a:off x="13926566" y="6474205"/>
            <a:ext cx="1874143"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Listed candidates</a:t>
            </a:r>
          </a:p>
        </p:txBody>
      </p:sp>
      <p:sp>
        <p:nvSpPr>
          <p:cNvPr id="23" name="Figure 10 label 22 line 1">
            <a:extLst xmlns:a="http://schemas.openxmlformats.org/drawingml/2006/main">
              <a:ext uri="{FF2B5EF4-FFF2-40B4-BE49-F238E27FC236}">
                <a16:creationId xmlns:a16="http://schemas.microsoft.com/office/drawing/2014/main" id="{228CB96B-2D5D-4901-940C-B800FA0C7D1E}"/>
              </a:ext>
            </a:extLst>
          </p:cNvPr>
          <p:cNvSpPr>
            <a:spLocks xmlns:a="http://schemas.openxmlformats.org/drawingml/2006/main" noGrp="1"/>
          </p:cNvSpPr>
          <p:nvPr/>
        </p:nvSpPr>
        <p:spPr>
          <a:xfrm xmlns:a="http://schemas.openxmlformats.org/drawingml/2006/main" rot="0">
            <a:off x="13928598" y="6977194"/>
            <a:ext cx="268408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ACRO, Vazyme, Sino, NanoMicro</a:t>
            </a:r>
          </a:p>
        </p:txBody>
      </p:sp>
      <p:sp>
        <p:nvSpPr>
          <p:cNvPr id="24" name="Figure 10 label 23 line 1">
            <a:extLst xmlns:a="http://schemas.openxmlformats.org/drawingml/2006/main">
              <a:ext uri="{FF2B5EF4-FFF2-40B4-BE49-F238E27FC236}">
                <a16:creationId xmlns:a16="http://schemas.microsoft.com/office/drawing/2014/main" id="{383FD136-9F24-4FD0-8143-D5EC16786F2B}"/>
              </a:ext>
            </a:extLst>
          </p:cNvPr>
          <p:cNvSpPr>
            <a:spLocks xmlns:a="http://schemas.openxmlformats.org/drawingml/2006/main" noGrp="1"/>
          </p:cNvSpPr>
          <p:nvPr/>
        </p:nvSpPr>
        <p:spPr>
          <a:xfrm xmlns:a="http://schemas.openxmlformats.org/drawingml/2006/main" rot="0">
            <a:off x="13928598" y="7225376"/>
            <a:ext cx="22560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JET, Changhong and others</a:t>
            </a:r>
          </a:p>
        </p:txBody>
      </p:sp>
      <p:sp>
        <p:nvSpPr>
          <p:cNvPr id="25" name="Figure 10 label 24 line 1">
            <a:extLst xmlns:a="http://schemas.openxmlformats.org/drawingml/2006/main">
              <a:ext uri="{FF2B5EF4-FFF2-40B4-BE49-F238E27FC236}">
                <a16:creationId xmlns:a16="http://schemas.microsoft.com/office/drawing/2014/main" id="{BDD31ABF-6482-404F-BBFE-689D64717815}"/>
              </a:ext>
            </a:extLst>
          </p:cNvPr>
          <p:cNvSpPr>
            <a:spLocks xmlns:a="http://schemas.openxmlformats.org/drawingml/2006/main" noGrp="1"/>
          </p:cNvSpPr>
          <p:nvPr/>
        </p:nvSpPr>
        <p:spPr>
          <a:xfrm xmlns:a="http://schemas.openxmlformats.org/drawingml/2006/main" rot="0">
            <a:off x="1326134" y="5682106"/>
            <a:ext cx="3356620"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Evidence is needed at each step</a:t>
            </a:r>
          </a:p>
        </p:txBody>
      </p:sp>
      <p:sp>
        <p:nvSpPr>
          <p:cNvPr id="26" name="Figure 10 label 25 line 1">
            <a:extLst xmlns:a="http://schemas.openxmlformats.org/drawingml/2006/main">
              <a:ext uri="{FF2B5EF4-FFF2-40B4-BE49-F238E27FC236}">
                <a16:creationId xmlns:a16="http://schemas.microsoft.com/office/drawing/2014/main" id="{9E8B169F-D660-4B3E-AF4C-E4573BDC5C05}"/>
              </a:ext>
            </a:extLst>
          </p:cNvPr>
          <p:cNvSpPr>
            <a:spLocks xmlns:a="http://schemas.openxmlformats.org/drawingml/2006/main" noGrp="1"/>
          </p:cNvSpPr>
          <p:nvPr/>
        </p:nvSpPr>
        <p:spPr>
          <a:xfrm xmlns:a="http://schemas.openxmlformats.org/drawingml/2006/main" rot="0">
            <a:off x="1327404" y="6158944"/>
            <a:ext cx="676825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Customer budgets → orders / repeat purchases → net consumption → utilization</a:t>
            </a:r>
          </a:p>
        </p:txBody>
      </p:sp>
      <p:sp>
        <p:nvSpPr>
          <p:cNvPr id="27" name="Figure 10 label 26 line 1">
            <a:extLst xmlns:a="http://schemas.openxmlformats.org/drawingml/2006/main">
              <a:ext uri="{FF2B5EF4-FFF2-40B4-BE49-F238E27FC236}">
                <a16:creationId xmlns:a16="http://schemas.microsoft.com/office/drawing/2014/main" id="{92AD6217-BE8F-4EB8-A29C-31A20B3B8779}"/>
              </a:ext>
            </a:extLst>
          </p:cNvPr>
          <p:cNvSpPr>
            <a:spLocks xmlns:a="http://schemas.openxmlformats.org/drawingml/2006/main" noGrp="1"/>
          </p:cNvSpPr>
          <p:nvPr/>
        </p:nvSpPr>
        <p:spPr>
          <a:xfrm xmlns:a="http://schemas.openxmlformats.org/drawingml/2006/main" rot="0">
            <a:off x="1327404" y="6462437"/>
            <a:ext cx="697944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 company share → recurring profit / free cash flow → growth priced into the stock</a:t>
            </a:r>
          </a:p>
        </p:txBody>
      </p:sp>
      <p:sp>
        <p:nvSpPr>
          <p:cNvPr id="28" name="Figure 10 label 27 line 1">
            <a:extLst xmlns:a="http://schemas.openxmlformats.org/drawingml/2006/main">
              <a:ext uri="{FF2B5EF4-FFF2-40B4-BE49-F238E27FC236}">
                <a16:creationId xmlns:a16="http://schemas.microsoft.com/office/drawing/2014/main" id="{22900315-BC2A-4A64-9225-EB03952AD085}"/>
              </a:ext>
            </a:extLst>
          </p:cNvPr>
          <p:cNvSpPr>
            <a:spLocks xmlns:a="http://schemas.openxmlformats.org/drawingml/2006/main" noGrp="1"/>
          </p:cNvSpPr>
          <p:nvPr/>
        </p:nvSpPr>
        <p:spPr>
          <a:xfrm xmlns:a="http://schemas.openxmlformats.org/drawingml/2006/main" rot="0">
            <a:off x="4743896" y="8371852"/>
            <a:ext cx="8800207"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Experimental relevance  ∩  Evidenced supply constraints  ∩  Global customer access</a:t>
            </a:r>
          </a:p>
        </p:txBody>
      </p:sp>
    </p:spTree>
    <p:extLst>
      <p:ext uri="{BB962C8B-B14F-4D97-AF65-F5344CB8AC3E}">
        <p14:creationId xmlns:p14="http://schemas.microsoft.com/office/powerpoint/2010/main" val="20600515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4" name="">
            <a:extLst xmlns:a="http://schemas.openxmlformats.org/drawingml/2006/main">
              <a:ext uri="{FF2B5EF4-FFF2-40B4-BE49-F238E27FC236}">
                <a16:creationId xmlns:a16="http://schemas.microsoft.com/office/drawing/2014/main" id="{AAC74C59-AFCF-4624-86D6-324F257E0563}"/>
              </a:ext>
            </a:extLst>
          </p:cNvPr>
          <p:cNvPicPr>
            <a:picLocks xmlns:a="http://schemas.openxmlformats.org/drawingml/2006/main" noChangeAspect="1"/>
          </p:cNvPicPr>
          <p:nvPr/>
        </p:nvPicPr>
        <p:blipFill>
          <a:blip xmlns:r="http://schemas.openxmlformats.org/officeDocument/2006/relationships" xmlns:a="http://schemas.openxmlformats.org/drawingml/2006/main" r:embed="R53cdebada31e402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1 label 1 line 1">
            <a:extLst xmlns:a="http://schemas.openxmlformats.org/drawingml/2006/main">
              <a:ext uri="{FF2B5EF4-FFF2-40B4-BE49-F238E27FC236}">
                <a16:creationId xmlns:a16="http://schemas.microsoft.com/office/drawing/2014/main" id="{2474E789-FFE4-4280-9E23-E115EC6E5ACE}"/>
              </a:ext>
            </a:extLst>
          </p:cNvPr>
          <p:cNvSpPr>
            <a:spLocks xmlns:a="http://schemas.openxmlformats.org/drawingml/2006/main" noGrp="1"/>
          </p:cNvSpPr>
          <p:nvPr/>
        </p:nvSpPr>
        <p:spPr>
          <a:xfrm xmlns:a="http://schemas.openxmlformats.org/drawingml/2006/main" rot="0">
            <a:off x="982599" y="311277"/>
            <a:ext cx="10950416"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AI discovery: workflows, evidence and sensitivities</a:t>
            </a:r>
          </a:p>
        </p:txBody>
      </p:sp>
      <p:sp>
        <p:nvSpPr>
          <p:cNvPr id="3" name="Figure 11 label 2 line 1">
            <a:extLst xmlns:a="http://schemas.openxmlformats.org/drawingml/2006/main">
              <a:ext uri="{FF2B5EF4-FFF2-40B4-BE49-F238E27FC236}">
                <a16:creationId xmlns:a16="http://schemas.microsoft.com/office/drawing/2014/main" id="{DC4BF1DA-28F1-4AF1-AA48-26A60FEF3365}"/>
              </a:ext>
            </a:extLst>
          </p:cNvPr>
          <p:cNvSpPr>
            <a:spLocks xmlns:a="http://schemas.openxmlformats.org/drawingml/2006/main" noGrp="1"/>
          </p:cNvSpPr>
          <p:nvPr/>
        </p:nvSpPr>
        <p:spPr>
          <a:xfrm xmlns:a="http://schemas.openxmlformats.org/drawingml/2006/main" rot="0">
            <a:off x="1000887" y="1050989"/>
            <a:ext cx="10650855"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0">
                <a:solidFill>
                  <a:srgbClr val="00355F"/>
                </a:solidFill>
                <a:latin typeface="Arial"/>
                <a:ea typeface="Arial"/>
                <a:cs typeface="Arial"/>
              </a:defRPr>
            </a:defPPr>
          </a:lstStyle>
          <a:p xmlns:a="http://schemas.openxmlformats.org/drawingml/2006/main">
            <a:pPr algn="l">
              <a:lnSpc>
                <a:spcPct val="100000"/>
              </a:lnSpc>
              <a:buNone/>
              <a:defRPr sz="1725" b="0">
                <a:solidFill>
                  <a:srgbClr val="00355F"/>
                </a:solidFill>
                <a:latin typeface="Arial"/>
                <a:ea typeface="Arial"/>
                <a:cs typeface="Arial"/>
              </a:defRPr>
            </a:pPr>
            <a:r>
              <a:rPr sz="1725" b="0">
                <a:solidFill>
                  <a:srgbClr val="00355F"/>
                </a:solidFill>
                <a:latin typeface="Arial"/>
                <a:ea typeface="Arial"/>
                <a:cs typeface="Arial"/>
              </a:rPr>
              <a:t>Modalities use different units. Workload sensitivities and historical clinical benchmarks are shown separately.</a:t>
            </a:r>
          </a:p>
        </p:txBody>
      </p:sp>
      <p:sp>
        <p:nvSpPr>
          <p:cNvPr id="4" name="Figure 11 label 3 line 1">
            <a:extLst xmlns:a="http://schemas.openxmlformats.org/drawingml/2006/main">
              <a:ext uri="{FF2B5EF4-FFF2-40B4-BE49-F238E27FC236}">
                <a16:creationId xmlns:a16="http://schemas.microsoft.com/office/drawing/2014/main" id="{EC419AEB-F8DC-4C7D-A5A7-C59EA0192489}"/>
              </a:ext>
            </a:extLst>
          </p:cNvPr>
          <p:cNvSpPr>
            <a:spLocks xmlns:a="http://schemas.openxmlformats.org/drawingml/2006/main" noGrp="1"/>
          </p:cNvSpPr>
          <p:nvPr/>
        </p:nvSpPr>
        <p:spPr>
          <a:xfrm xmlns:a="http://schemas.openxmlformats.org/drawingml/2006/main" rot="0">
            <a:off x="888492" y="2372392"/>
            <a:ext cx="68934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1">
                <a:solidFill>
                  <a:srgbClr val="FFFFFF"/>
                </a:solidFill>
                <a:latin typeface="Arial"/>
                <a:ea typeface="Arial"/>
                <a:cs typeface="Arial"/>
              </a:defRPr>
            </a:defPPr>
          </a:lstStyle>
          <a:p xmlns:a="http://schemas.openxmlformats.org/drawingml/2006/main">
            <a:pPr algn="l">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STAGE</a:t>
            </a:r>
          </a:p>
        </p:txBody>
      </p:sp>
      <p:sp>
        <p:nvSpPr>
          <p:cNvPr id="5" name="Figure 11 label 4 line 1">
            <a:extLst xmlns:a="http://schemas.openxmlformats.org/drawingml/2006/main">
              <a:ext uri="{FF2B5EF4-FFF2-40B4-BE49-F238E27FC236}">
                <a16:creationId xmlns:a16="http://schemas.microsoft.com/office/drawing/2014/main" id="{C5807BFE-898F-4A10-B423-0635127E66D5}"/>
              </a:ext>
            </a:extLst>
          </p:cNvPr>
          <p:cNvSpPr>
            <a:spLocks xmlns:a="http://schemas.openxmlformats.org/drawingml/2006/main" noGrp="1"/>
          </p:cNvSpPr>
          <p:nvPr/>
        </p:nvSpPr>
        <p:spPr>
          <a:xfrm xmlns:a="http://schemas.openxmlformats.org/drawingml/2006/main" rot="0">
            <a:off x="5568717" y="2372392"/>
            <a:ext cx="147366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BEFORE GEN-AI</a:t>
            </a:r>
          </a:p>
        </p:txBody>
      </p:sp>
      <p:sp>
        <p:nvSpPr>
          <p:cNvPr id="6" name="Figure 11 label 5 line 1">
            <a:extLst xmlns:a="http://schemas.openxmlformats.org/drawingml/2006/main">
              <a:ext uri="{FF2B5EF4-FFF2-40B4-BE49-F238E27FC236}">
                <a16:creationId xmlns:a16="http://schemas.microsoft.com/office/drawing/2014/main" id="{345F646F-58F0-4E7C-863F-C058C8AEBB1F}"/>
              </a:ext>
            </a:extLst>
          </p:cNvPr>
          <p:cNvSpPr>
            <a:spLocks xmlns:a="http://schemas.openxmlformats.org/drawingml/2006/main" noGrp="1"/>
          </p:cNvSpPr>
          <p:nvPr/>
        </p:nvSpPr>
        <p:spPr>
          <a:xfrm xmlns:a="http://schemas.openxmlformats.org/drawingml/2006/main" rot="0">
            <a:off x="8602429" y="2372392"/>
            <a:ext cx="150224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AI MECHANISMS</a:t>
            </a:r>
          </a:p>
        </p:txBody>
      </p:sp>
      <p:sp>
        <p:nvSpPr>
          <p:cNvPr id="7" name="Figure 11 label 6 line 1">
            <a:extLst xmlns:a="http://schemas.openxmlformats.org/drawingml/2006/main">
              <a:ext uri="{FF2B5EF4-FFF2-40B4-BE49-F238E27FC236}">
                <a16:creationId xmlns:a16="http://schemas.microsoft.com/office/drawing/2014/main" id="{C4769B46-0804-4BE0-9EF7-1BB7107A6C3B}"/>
              </a:ext>
            </a:extLst>
          </p:cNvPr>
          <p:cNvSpPr>
            <a:spLocks xmlns:a="http://schemas.openxmlformats.org/drawingml/2006/main" noGrp="1"/>
          </p:cNvSpPr>
          <p:nvPr/>
        </p:nvSpPr>
        <p:spPr>
          <a:xfrm xmlns:a="http://schemas.openxmlformats.org/drawingml/2006/main" rot="0">
            <a:off x="11127867" y="2372392"/>
            <a:ext cx="151786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1">
                <a:solidFill>
                  <a:srgbClr val="FFFFFF"/>
                </a:solidFill>
                <a:latin typeface="Arial"/>
                <a:ea typeface="Arial"/>
                <a:cs typeface="Arial"/>
              </a:defRPr>
            </a:defPPr>
          </a:lstStyle>
          <a:p xmlns:a="http://schemas.openxmlformats.org/drawingml/2006/main">
            <a:pPr algn="l">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WHAT CHANGES</a:t>
            </a:r>
          </a:p>
        </p:txBody>
      </p:sp>
      <p:sp>
        <p:nvSpPr>
          <p:cNvPr id="8" name="Figure 11 label 7 line 1">
            <a:extLst xmlns:a="http://schemas.openxmlformats.org/drawingml/2006/main">
              <a:ext uri="{FF2B5EF4-FFF2-40B4-BE49-F238E27FC236}">
                <a16:creationId xmlns:a16="http://schemas.microsoft.com/office/drawing/2014/main" id="{70F42F30-8EB4-42C8-823B-0CFC48B0E9B7}"/>
              </a:ext>
            </a:extLst>
          </p:cNvPr>
          <p:cNvSpPr>
            <a:spLocks xmlns:a="http://schemas.openxmlformats.org/drawingml/2006/main" noGrp="1"/>
          </p:cNvSpPr>
          <p:nvPr/>
        </p:nvSpPr>
        <p:spPr>
          <a:xfrm xmlns:a="http://schemas.openxmlformats.org/drawingml/2006/main" rot="0">
            <a:off x="886968" y="3224498"/>
            <a:ext cx="2205811"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Virtual search / design</a:t>
            </a:r>
          </a:p>
        </p:txBody>
      </p:sp>
      <p:sp>
        <p:nvSpPr>
          <p:cNvPr id="9" name="Figure 11 label 8 line 1">
            <a:extLst xmlns:a="http://schemas.openxmlformats.org/drawingml/2006/main">
              <a:ext uri="{FF2B5EF4-FFF2-40B4-BE49-F238E27FC236}">
                <a16:creationId xmlns:a16="http://schemas.microsoft.com/office/drawing/2014/main" id="{7019BB2D-6D50-45FC-8143-792DC593713C}"/>
              </a:ext>
            </a:extLst>
          </p:cNvPr>
          <p:cNvSpPr>
            <a:spLocks xmlns:a="http://schemas.openxmlformats.org/drawingml/2006/main" noGrp="1"/>
          </p:cNvSpPr>
          <p:nvPr/>
        </p:nvSpPr>
        <p:spPr>
          <a:xfrm xmlns:a="http://schemas.openxmlformats.org/drawingml/2006/main" rot="0">
            <a:off x="5602233" y="3064764"/>
            <a:ext cx="14066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Large virtual</a:t>
            </a:r>
          </a:p>
        </p:txBody>
      </p:sp>
      <p:sp>
        <p:nvSpPr>
          <p:cNvPr id="10" name="Figure 11 label 8 line 2">
            <a:extLst xmlns:a="http://schemas.openxmlformats.org/drawingml/2006/main">
              <a:ext uri="{FF2B5EF4-FFF2-40B4-BE49-F238E27FC236}">
                <a16:creationId xmlns:a16="http://schemas.microsoft.com/office/drawing/2014/main" id="{5544EE38-8739-42B1-8628-A0A567E11B46}"/>
              </a:ext>
            </a:extLst>
          </p:cNvPr>
          <p:cNvSpPr>
            <a:spLocks xmlns:a="http://schemas.openxmlformats.org/drawingml/2006/main" noGrp="1"/>
          </p:cNvSpPr>
          <p:nvPr/>
        </p:nvSpPr>
        <p:spPr>
          <a:xfrm xmlns:a="http://schemas.openxmlformats.org/drawingml/2006/main" rot="0">
            <a:off x="5602233" y="3350514"/>
            <a:ext cx="14066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libraries</a:t>
            </a:r>
          </a:p>
        </p:txBody>
      </p:sp>
      <p:sp>
        <p:nvSpPr>
          <p:cNvPr id="11" name="Figure 11 label 9 line 1">
            <a:extLst xmlns:a="http://schemas.openxmlformats.org/drawingml/2006/main">
              <a:ext uri="{FF2B5EF4-FFF2-40B4-BE49-F238E27FC236}">
                <a16:creationId xmlns:a16="http://schemas.microsoft.com/office/drawing/2014/main" id="{1DC43D82-E1D8-4FDD-BE79-0F89134884BC}"/>
              </a:ext>
            </a:extLst>
          </p:cNvPr>
          <p:cNvSpPr>
            <a:spLocks xmlns:a="http://schemas.openxmlformats.org/drawingml/2006/main" noGrp="1"/>
          </p:cNvSpPr>
          <p:nvPr/>
        </p:nvSpPr>
        <p:spPr>
          <a:xfrm xmlns:a="http://schemas.openxmlformats.org/drawingml/2006/main" rot="0">
            <a:off x="8824957" y="3064764"/>
            <a:ext cx="10571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Quality +</a:t>
            </a:r>
          </a:p>
        </p:txBody>
      </p:sp>
      <p:sp>
        <p:nvSpPr>
          <p:cNvPr id="12" name="Figure 11 label 9 line 2">
            <a:extLst xmlns:a="http://schemas.openxmlformats.org/drawingml/2006/main">
              <a:ext uri="{FF2B5EF4-FFF2-40B4-BE49-F238E27FC236}">
                <a16:creationId xmlns:a16="http://schemas.microsoft.com/office/drawing/2014/main" id="{4ED9D365-CEB8-4CFB-9301-2A6516F729B2}"/>
              </a:ext>
            </a:extLst>
          </p:cNvPr>
          <p:cNvSpPr>
            <a:spLocks xmlns:a="http://schemas.openxmlformats.org/drawingml/2006/main" noGrp="1"/>
          </p:cNvSpPr>
          <p:nvPr/>
        </p:nvSpPr>
        <p:spPr>
          <a:xfrm xmlns:a="http://schemas.openxmlformats.org/drawingml/2006/main" rot="0">
            <a:off x="8824957" y="3350514"/>
            <a:ext cx="10571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selection</a:t>
            </a:r>
          </a:p>
        </p:txBody>
      </p:sp>
      <p:sp>
        <p:nvSpPr>
          <p:cNvPr id="13" name="Figure 11 label 10 line 1">
            <a:extLst xmlns:a="http://schemas.openxmlformats.org/drawingml/2006/main">
              <a:ext uri="{FF2B5EF4-FFF2-40B4-BE49-F238E27FC236}">
                <a16:creationId xmlns:a16="http://schemas.microsoft.com/office/drawing/2014/main" id="{0F45E6BA-700F-4C2E-9A45-21F7760BA8B7}"/>
              </a:ext>
            </a:extLst>
          </p:cNvPr>
          <p:cNvSpPr>
            <a:spLocks xmlns:a="http://schemas.openxmlformats.org/drawingml/2006/main" noGrp="1"/>
          </p:cNvSpPr>
          <p:nvPr/>
        </p:nvSpPr>
        <p:spPr>
          <a:xfrm xmlns:a="http://schemas.openxmlformats.org/drawingml/2006/main" rot="0">
            <a:off x="11126343" y="3093529"/>
            <a:ext cx="5657284"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Large libraries predate generative AI.</a:t>
            </a:r>
          </a:p>
        </p:txBody>
      </p:sp>
      <p:sp>
        <p:nvSpPr>
          <p:cNvPr id="14" name="Figure 11 label 10 line 2">
            <a:extLst xmlns:a="http://schemas.openxmlformats.org/drawingml/2006/main">
              <a:ext uri="{FF2B5EF4-FFF2-40B4-BE49-F238E27FC236}">
                <a16:creationId xmlns:a16="http://schemas.microsoft.com/office/drawing/2014/main" id="{3E78EA65-2507-40EC-9CA6-7B9DE06589FD}"/>
              </a:ext>
            </a:extLst>
          </p:cNvPr>
          <p:cNvSpPr>
            <a:spLocks xmlns:a="http://schemas.openxmlformats.org/drawingml/2006/main" noGrp="1"/>
          </p:cNvSpPr>
          <p:nvPr/>
        </p:nvSpPr>
        <p:spPr>
          <a:xfrm xmlns:a="http://schemas.openxmlformats.org/drawingml/2006/main" rot="0">
            <a:off x="11126343" y="3355467"/>
            <a:ext cx="5657284"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The investment mechanism is better selection and learning.</a:t>
            </a:r>
          </a:p>
        </p:txBody>
      </p:sp>
      <p:sp>
        <p:nvSpPr>
          <p:cNvPr id="15" name="Figure 11 label 11 line 1">
            <a:extLst xmlns:a="http://schemas.openxmlformats.org/drawingml/2006/main">
              <a:ext uri="{FF2B5EF4-FFF2-40B4-BE49-F238E27FC236}">
                <a16:creationId xmlns:a16="http://schemas.microsoft.com/office/drawing/2014/main" id="{180B9549-324B-42DB-9FFF-8FFACD26F3F2}"/>
              </a:ext>
            </a:extLst>
          </p:cNvPr>
          <p:cNvSpPr>
            <a:spLocks xmlns:a="http://schemas.openxmlformats.org/drawingml/2006/main" noGrp="1"/>
          </p:cNvSpPr>
          <p:nvPr/>
        </p:nvSpPr>
        <p:spPr>
          <a:xfrm xmlns:a="http://schemas.openxmlformats.org/drawingml/2006/main" rot="0">
            <a:off x="886968" y="4277011"/>
            <a:ext cx="1755011"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Physical samples</a:t>
            </a:r>
          </a:p>
        </p:txBody>
      </p:sp>
      <p:sp>
        <p:nvSpPr>
          <p:cNvPr id="16" name="Figure 11 label 12 line 1">
            <a:extLst xmlns:a="http://schemas.openxmlformats.org/drawingml/2006/main">
              <a:ext uri="{FF2B5EF4-FFF2-40B4-BE49-F238E27FC236}">
                <a16:creationId xmlns:a16="http://schemas.microsoft.com/office/drawing/2014/main" id="{0461E631-FA28-47F6-824B-04098E35A796}"/>
              </a:ext>
            </a:extLst>
          </p:cNvPr>
          <p:cNvSpPr>
            <a:spLocks xmlns:a="http://schemas.openxmlformats.org/drawingml/2006/main" noGrp="1"/>
          </p:cNvSpPr>
          <p:nvPr/>
        </p:nvSpPr>
        <p:spPr>
          <a:xfrm xmlns:a="http://schemas.openxmlformats.org/drawingml/2006/main" rot="0">
            <a:off x="5754856" y="4117277"/>
            <a:ext cx="1101388"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Program-</a:t>
            </a:r>
          </a:p>
        </p:txBody>
      </p:sp>
      <p:sp>
        <p:nvSpPr>
          <p:cNvPr id="17" name="Figure 11 label 12 line 2">
            <a:extLst xmlns:a="http://schemas.openxmlformats.org/drawingml/2006/main">
              <a:ext uri="{FF2B5EF4-FFF2-40B4-BE49-F238E27FC236}">
                <a16:creationId xmlns:a16="http://schemas.microsoft.com/office/drawing/2014/main" id="{2D39DF5E-C0B2-4EF0-98E5-CA7D37CC3214}"/>
              </a:ext>
            </a:extLst>
          </p:cNvPr>
          <p:cNvSpPr>
            <a:spLocks xmlns:a="http://schemas.openxmlformats.org/drawingml/2006/main" noGrp="1"/>
          </p:cNvSpPr>
          <p:nvPr/>
        </p:nvSpPr>
        <p:spPr>
          <a:xfrm xmlns:a="http://schemas.openxmlformats.org/drawingml/2006/main" rot="0">
            <a:off x="5754856" y="4403027"/>
            <a:ext cx="1101388"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specific</a:t>
            </a:r>
          </a:p>
        </p:txBody>
      </p:sp>
      <p:sp>
        <p:nvSpPr>
          <p:cNvPr id="18" name="Figure 11 label 13 line 1">
            <a:extLst xmlns:a="http://schemas.openxmlformats.org/drawingml/2006/main">
              <a:ext uri="{FF2B5EF4-FFF2-40B4-BE49-F238E27FC236}">
                <a16:creationId xmlns:a16="http://schemas.microsoft.com/office/drawing/2014/main" id="{402AE0DE-D18E-459B-82EC-BBF9B455D67F}"/>
              </a:ext>
            </a:extLst>
          </p:cNvPr>
          <p:cNvSpPr>
            <a:spLocks xmlns:a="http://schemas.openxmlformats.org/drawingml/2006/main" noGrp="1"/>
          </p:cNvSpPr>
          <p:nvPr/>
        </p:nvSpPr>
        <p:spPr>
          <a:xfrm xmlns:a="http://schemas.openxmlformats.org/drawingml/2006/main" rot="0">
            <a:off x="8738934" y="4117277"/>
            <a:ext cx="12292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Modality-</a:t>
            </a:r>
          </a:p>
        </p:txBody>
      </p:sp>
      <p:sp>
        <p:nvSpPr>
          <p:cNvPr id="19" name="Figure 11 label 13 line 2">
            <a:extLst xmlns:a="http://schemas.openxmlformats.org/drawingml/2006/main">
              <a:ext uri="{FF2B5EF4-FFF2-40B4-BE49-F238E27FC236}">
                <a16:creationId xmlns:a16="http://schemas.microsoft.com/office/drawing/2014/main" id="{CEF20323-60C8-43F7-821B-036216EFABA5}"/>
              </a:ext>
            </a:extLst>
          </p:cNvPr>
          <p:cNvSpPr>
            <a:spLocks xmlns:a="http://schemas.openxmlformats.org/drawingml/2006/main" noGrp="1"/>
          </p:cNvSpPr>
          <p:nvPr/>
        </p:nvSpPr>
        <p:spPr>
          <a:xfrm xmlns:a="http://schemas.openxmlformats.org/drawingml/2006/main" rot="0">
            <a:off x="8738934" y="4403027"/>
            <a:ext cx="12292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dependent</a:t>
            </a:r>
          </a:p>
        </p:txBody>
      </p:sp>
      <p:sp>
        <p:nvSpPr>
          <p:cNvPr id="20" name="Figure 11 label 14 line 1">
            <a:extLst xmlns:a="http://schemas.openxmlformats.org/drawingml/2006/main">
              <a:ext uri="{FF2B5EF4-FFF2-40B4-BE49-F238E27FC236}">
                <a16:creationId xmlns:a16="http://schemas.microsoft.com/office/drawing/2014/main" id="{E87DDCD9-48DE-4E80-BAC4-FDD2264AEE2C}"/>
              </a:ext>
            </a:extLst>
          </p:cNvPr>
          <p:cNvSpPr>
            <a:spLocks xmlns:a="http://schemas.openxmlformats.org/drawingml/2006/main" noGrp="1"/>
          </p:cNvSpPr>
          <p:nvPr/>
        </p:nvSpPr>
        <p:spPr>
          <a:xfrm xmlns:a="http://schemas.openxmlformats.org/drawingml/2006/main" rot="0">
            <a:off x="11126343" y="4146042"/>
            <a:ext cx="545562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Small molecules can need fewer syntheses per program.</a:t>
            </a:r>
          </a:p>
        </p:txBody>
      </p:sp>
      <p:sp>
        <p:nvSpPr>
          <p:cNvPr id="21" name="Figure 11 label 14 line 2">
            <a:extLst xmlns:a="http://schemas.openxmlformats.org/drawingml/2006/main">
              <a:ext uri="{FF2B5EF4-FFF2-40B4-BE49-F238E27FC236}">
                <a16:creationId xmlns:a16="http://schemas.microsoft.com/office/drawing/2014/main" id="{1268CB67-2326-48A2-8078-683A6733768D}"/>
              </a:ext>
            </a:extLst>
          </p:cNvPr>
          <p:cNvSpPr>
            <a:spLocks xmlns:a="http://schemas.openxmlformats.org/drawingml/2006/main" noGrp="1"/>
          </p:cNvSpPr>
          <p:nvPr/>
        </p:nvSpPr>
        <p:spPr>
          <a:xfrm xmlns:a="http://schemas.openxmlformats.org/drawingml/2006/main" rot="0">
            <a:off x="11126343" y="4407980"/>
            <a:ext cx="545562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Protein libraries and individual profiling are different units.</a:t>
            </a:r>
          </a:p>
        </p:txBody>
      </p:sp>
      <p:sp>
        <p:nvSpPr>
          <p:cNvPr id="22" name="Figure 11 label 15 line 1">
            <a:extLst xmlns:a="http://schemas.openxmlformats.org/drawingml/2006/main">
              <a:ext uri="{FF2B5EF4-FFF2-40B4-BE49-F238E27FC236}">
                <a16:creationId xmlns:a16="http://schemas.microsoft.com/office/drawing/2014/main" id="{5938BE47-F00F-4D74-9077-CA4DACCEC944}"/>
              </a:ext>
            </a:extLst>
          </p:cNvPr>
          <p:cNvSpPr>
            <a:spLocks xmlns:a="http://schemas.openxmlformats.org/drawingml/2006/main" noGrp="1"/>
          </p:cNvSpPr>
          <p:nvPr/>
        </p:nvSpPr>
        <p:spPr>
          <a:xfrm xmlns:a="http://schemas.openxmlformats.org/drawingml/2006/main" rot="0">
            <a:off x="886968" y="5277136"/>
            <a:ext cx="1731794"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Assay workload</a:t>
            </a:r>
          </a:p>
        </p:txBody>
      </p:sp>
      <p:sp>
        <p:nvSpPr>
          <p:cNvPr id="23" name="Figure 11 label 16 line 1">
            <a:extLst xmlns:a="http://schemas.openxmlformats.org/drawingml/2006/main">
              <a:ext uri="{FF2B5EF4-FFF2-40B4-BE49-F238E27FC236}">
                <a16:creationId xmlns:a16="http://schemas.microsoft.com/office/drawing/2014/main" id="{77A21E59-EC1A-4F2C-995C-1F93A61D4409}"/>
              </a:ext>
            </a:extLst>
          </p:cNvPr>
          <p:cNvSpPr>
            <a:spLocks xmlns:a="http://schemas.openxmlformats.org/drawingml/2006/main" noGrp="1"/>
          </p:cNvSpPr>
          <p:nvPr/>
        </p:nvSpPr>
        <p:spPr>
          <a:xfrm xmlns:a="http://schemas.openxmlformats.org/drawingml/2006/main" rot="0">
            <a:off x="5611758" y="5260277"/>
            <a:ext cx="138758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1">
                <a:solidFill>
                  <a:srgbClr val="00355F"/>
                </a:solidFill>
                <a:latin typeface="Arial"/>
                <a:ea typeface="Arial"/>
                <a:cs typeface="Arial"/>
              </a:defRPr>
            </a:defPPr>
          </a:lstStyle>
          <a:p xmlns:a="http://schemas.openxmlformats.org/drawingml/2006/main">
            <a:pPr algn="ctr">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1× baseline</a:t>
            </a:r>
          </a:p>
        </p:txBody>
      </p:sp>
      <p:sp>
        <p:nvSpPr>
          <p:cNvPr id="24" name="Figure 11 label 17 line 1">
            <a:extLst xmlns:a="http://schemas.openxmlformats.org/drawingml/2006/main">
              <a:ext uri="{FF2B5EF4-FFF2-40B4-BE49-F238E27FC236}">
                <a16:creationId xmlns:a16="http://schemas.microsoft.com/office/drawing/2014/main" id="{86D6A609-BDF7-4BC8-99E0-9C2526D4FD58}"/>
              </a:ext>
            </a:extLst>
          </p:cNvPr>
          <p:cNvSpPr>
            <a:spLocks xmlns:a="http://schemas.openxmlformats.org/drawingml/2006/main" noGrp="1"/>
          </p:cNvSpPr>
          <p:nvPr/>
        </p:nvSpPr>
        <p:spPr>
          <a:xfrm xmlns:a="http://schemas.openxmlformats.org/drawingml/2006/main" rot="0">
            <a:off x="8859783" y="5117402"/>
            <a:ext cx="9875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1">
                <a:solidFill>
                  <a:srgbClr val="00355F"/>
                </a:solidFill>
                <a:latin typeface="Arial"/>
                <a:ea typeface="Arial"/>
                <a:cs typeface="Arial"/>
              </a:defRPr>
            </a:defPPr>
          </a:lstStyle>
          <a:p xmlns:a="http://schemas.openxmlformats.org/drawingml/2006/main">
            <a:pPr algn="ctr">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1× / 2× /</a:t>
            </a:r>
          </a:p>
        </p:txBody>
      </p:sp>
      <p:sp>
        <p:nvSpPr>
          <p:cNvPr id="25" name="Figure 11 label 17 line 2">
            <a:extLst xmlns:a="http://schemas.openxmlformats.org/drawingml/2006/main">
              <a:ext uri="{FF2B5EF4-FFF2-40B4-BE49-F238E27FC236}">
                <a16:creationId xmlns:a16="http://schemas.microsoft.com/office/drawing/2014/main" id="{8C7EB13A-F82A-460E-8120-70650F49F69D}"/>
              </a:ext>
            </a:extLst>
          </p:cNvPr>
          <p:cNvSpPr>
            <a:spLocks xmlns:a="http://schemas.openxmlformats.org/drawingml/2006/main" noGrp="1"/>
          </p:cNvSpPr>
          <p:nvPr/>
        </p:nvSpPr>
        <p:spPr>
          <a:xfrm xmlns:a="http://schemas.openxmlformats.org/drawingml/2006/main" rot="0">
            <a:off x="8859783" y="5403152"/>
            <a:ext cx="9875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1">
                <a:solidFill>
                  <a:srgbClr val="00355F"/>
                </a:solidFill>
                <a:latin typeface="Arial"/>
                <a:ea typeface="Arial"/>
                <a:cs typeface="Arial"/>
              </a:defRPr>
            </a:defPPr>
          </a:lstStyle>
          <a:p xmlns:a="http://schemas.openxmlformats.org/drawingml/2006/main">
            <a:pPr algn="ctr">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5× / 10×</a:t>
            </a:r>
          </a:p>
        </p:txBody>
      </p:sp>
      <p:sp>
        <p:nvSpPr>
          <p:cNvPr id="26" name="Figure 11 label 18 line 1">
            <a:extLst xmlns:a="http://schemas.openxmlformats.org/drawingml/2006/main">
              <a:ext uri="{FF2B5EF4-FFF2-40B4-BE49-F238E27FC236}">
                <a16:creationId xmlns:a16="http://schemas.microsoft.com/office/drawing/2014/main" id="{2E88396E-E6E3-4023-811D-E1EB582EEB25}"/>
              </a:ext>
            </a:extLst>
          </p:cNvPr>
          <p:cNvSpPr>
            <a:spLocks xmlns:a="http://schemas.openxmlformats.org/drawingml/2006/main" noGrp="1"/>
          </p:cNvSpPr>
          <p:nvPr/>
        </p:nvSpPr>
        <p:spPr>
          <a:xfrm xmlns:a="http://schemas.openxmlformats.org/drawingml/2006/main" rot="0">
            <a:off x="11126343" y="5146167"/>
            <a:ext cx="5888415"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Analyst workload sensitivities, not predicted fully profiled</a:t>
            </a:r>
          </a:p>
        </p:txBody>
      </p:sp>
      <p:sp>
        <p:nvSpPr>
          <p:cNvPr id="27" name="Figure 11 label 18 line 2">
            <a:extLst xmlns:a="http://schemas.openxmlformats.org/drawingml/2006/main">
              <a:ext uri="{FF2B5EF4-FFF2-40B4-BE49-F238E27FC236}">
                <a16:creationId xmlns:a16="http://schemas.microsoft.com/office/drawing/2014/main" id="{76B6AE36-C767-4F60-A38F-B7263EB6FB95}"/>
              </a:ext>
            </a:extLst>
          </p:cNvPr>
          <p:cNvSpPr>
            <a:spLocks xmlns:a="http://schemas.openxmlformats.org/drawingml/2006/main" noGrp="1"/>
          </p:cNvSpPr>
          <p:nvPr/>
        </p:nvSpPr>
        <p:spPr>
          <a:xfrm xmlns:a="http://schemas.openxmlformats.org/drawingml/2006/main" rot="0">
            <a:off x="11126343" y="5408105"/>
            <a:ext cx="5888415"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candidate counts. Include an efficiency/no-growth case.</a:t>
            </a:r>
          </a:p>
        </p:txBody>
      </p:sp>
      <p:sp>
        <p:nvSpPr>
          <p:cNvPr id="28" name="Figure 11 label 19 line 1">
            <a:extLst xmlns:a="http://schemas.openxmlformats.org/drawingml/2006/main">
              <a:ext uri="{FF2B5EF4-FFF2-40B4-BE49-F238E27FC236}">
                <a16:creationId xmlns:a16="http://schemas.microsoft.com/office/drawing/2014/main" id="{820C0B27-F643-4CE3-849B-9403A812A904}"/>
              </a:ext>
            </a:extLst>
          </p:cNvPr>
          <p:cNvSpPr>
            <a:spLocks xmlns:a="http://schemas.openxmlformats.org/drawingml/2006/main" noGrp="1"/>
          </p:cNvSpPr>
          <p:nvPr/>
        </p:nvSpPr>
        <p:spPr>
          <a:xfrm xmlns:a="http://schemas.openxmlformats.org/drawingml/2006/main" rot="0">
            <a:off x="886968" y="6277261"/>
            <a:ext cx="2069783"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Clinical development</a:t>
            </a:r>
          </a:p>
        </p:txBody>
      </p:sp>
      <p:sp>
        <p:nvSpPr>
          <p:cNvPr id="29" name="Figure 11 label 20 line 1">
            <a:extLst xmlns:a="http://schemas.openxmlformats.org/drawingml/2006/main">
              <a:ext uri="{FF2B5EF4-FFF2-40B4-BE49-F238E27FC236}">
                <a16:creationId xmlns:a16="http://schemas.microsoft.com/office/drawing/2014/main" id="{B3C95171-0CA5-45F2-9E79-4B6C99A981CE}"/>
              </a:ext>
            </a:extLst>
          </p:cNvPr>
          <p:cNvSpPr>
            <a:spLocks xmlns:a="http://schemas.openxmlformats.org/drawingml/2006/main" noGrp="1"/>
          </p:cNvSpPr>
          <p:nvPr/>
        </p:nvSpPr>
        <p:spPr>
          <a:xfrm xmlns:a="http://schemas.openxmlformats.org/drawingml/2006/main" rot="0">
            <a:off x="5748457" y="6117527"/>
            <a:ext cx="1114187"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Phase I</a:t>
            </a:r>
          </a:p>
        </p:txBody>
      </p:sp>
      <p:sp>
        <p:nvSpPr>
          <p:cNvPr id="30" name="Figure 11 label 20 line 2">
            <a:extLst xmlns:a="http://schemas.openxmlformats.org/drawingml/2006/main">
              <a:ext uri="{FF2B5EF4-FFF2-40B4-BE49-F238E27FC236}">
                <a16:creationId xmlns:a16="http://schemas.microsoft.com/office/drawing/2014/main" id="{8DD45379-A778-4BAB-8309-16293EF280A5}"/>
              </a:ext>
            </a:extLst>
          </p:cNvPr>
          <p:cNvSpPr>
            <a:spLocks xmlns:a="http://schemas.openxmlformats.org/drawingml/2006/main" noGrp="1"/>
          </p:cNvSpPr>
          <p:nvPr/>
        </p:nvSpPr>
        <p:spPr>
          <a:xfrm xmlns:a="http://schemas.openxmlformats.org/drawingml/2006/main" rot="0">
            <a:off x="5748457" y="6403277"/>
            <a:ext cx="1114187"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programs</a:t>
            </a:r>
          </a:p>
        </p:txBody>
      </p:sp>
      <p:sp>
        <p:nvSpPr>
          <p:cNvPr id="31" name="Figure 11 label 21 line 1">
            <a:extLst xmlns:a="http://schemas.openxmlformats.org/drawingml/2006/main">
              <a:ext uri="{FF2B5EF4-FFF2-40B4-BE49-F238E27FC236}">
                <a16:creationId xmlns:a16="http://schemas.microsoft.com/office/drawing/2014/main" id="{AD938D88-DAF3-4B35-B581-1C144BB7CCEC}"/>
              </a:ext>
            </a:extLst>
          </p:cNvPr>
          <p:cNvSpPr>
            <a:spLocks xmlns:a="http://schemas.openxmlformats.org/drawingml/2006/main" noGrp="1"/>
          </p:cNvSpPr>
          <p:nvPr/>
        </p:nvSpPr>
        <p:spPr>
          <a:xfrm xmlns:a="http://schemas.openxmlformats.org/drawingml/2006/main" rot="0">
            <a:off x="8516809" y="6117527"/>
            <a:ext cx="1673483"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Funded clinical</a:t>
            </a:r>
          </a:p>
        </p:txBody>
      </p:sp>
      <p:sp>
        <p:nvSpPr>
          <p:cNvPr id="32" name="Figure 11 label 21 line 2">
            <a:extLst xmlns:a="http://schemas.openxmlformats.org/drawingml/2006/main">
              <a:ext uri="{FF2B5EF4-FFF2-40B4-BE49-F238E27FC236}">
                <a16:creationId xmlns:a16="http://schemas.microsoft.com/office/drawing/2014/main" id="{70D2AF70-32E9-453C-9EAA-63E777F0B45C}"/>
              </a:ext>
            </a:extLst>
          </p:cNvPr>
          <p:cNvSpPr>
            <a:spLocks xmlns:a="http://schemas.openxmlformats.org/drawingml/2006/main" noGrp="1"/>
          </p:cNvSpPr>
          <p:nvPr/>
        </p:nvSpPr>
        <p:spPr>
          <a:xfrm xmlns:a="http://schemas.openxmlformats.org/drawingml/2006/main" rot="0">
            <a:off x="8516809" y="6403277"/>
            <a:ext cx="1673483"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programs</a:t>
            </a:r>
          </a:p>
        </p:txBody>
      </p:sp>
      <p:sp>
        <p:nvSpPr>
          <p:cNvPr id="33" name="Figure 11 label 22 line 1">
            <a:extLst xmlns:a="http://schemas.openxmlformats.org/drawingml/2006/main">
              <a:ext uri="{FF2B5EF4-FFF2-40B4-BE49-F238E27FC236}">
                <a16:creationId xmlns:a16="http://schemas.microsoft.com/office/drawing/2014/main" id="{2532C008-90A9-4E44-9994-92827E891538}"/>
              </a:ext>
            </a:extLst>
          </p:cNvPr>
          <p:cNvSpPr>
            <a:spLocks xmlns:a="http://schemas.openxmlformats.org/drawingml/2006/main" noGrp="1"/>
          </p:cNvSpPr>
          <p:nvPr/>
        </p:nvSpPr>
        <p:spPr>
          <a:xfrm xmlns:a="http://schemas.openxmlformats.org/drawingml/2006/main" rot="0">
            <a:off x="11126343" y="6146292"/>
            <a:ext cx="554075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Clinical biology, patients, capital and time remain</a:t>
            </a:r>
          </a:p>
        </p:txBody>
      </p:sp>
      <p:sp>
        <p:nvSpPr>
          <p:cNvPr id="34" name="Figure 11 label 22 line 2">
            <a:extLst xmlns:a="http://schemas.openxmlformats.org/drawingml/2006/main">
              <a:ext uri="{FF2B5EF4-FFF2-40B4-BE49-F238E27FC236}">
                <a16:creationId xmlns:a16="http://schemas.microsoft.com/office/drawing/2014/main" id="{347AD41C-CE97-483D-9EC9-78D800717084}"/>
              </a:ext>
            </a:extLst>
          </p:cNvPr>
          <p:cNvSpPr>
            <a:spLocks xmlns:a="http://schemas.openxmlformats.org/drawingml/2006/main" noGrp="1"/>
          </p:cNvSpPr>
          <p:nvPr/>
        </p:nvSpPr>
        <p:spPr>
          <a:xfrm xmlns:a="http://schemas.openxmlformats.org/drawingml/2006/main" rot="0">
            <a:off x="11126343" y="6408230"/>
            <a:ext cx="554075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constraints; discovery gains do not establish clinical gains.</a:t>
            </a:r>
          </a:p>
        </p:txBody>
      </p:sp>
      <p:sp>
        <p:nvSpPr>
          <p:cNvPr id="35" name="Figure 11 label 23 line 1">
            <a:extLst xmlns:a="http://schemas.openxmlformats.org/drawingml/2006/main">
              <a:ext uri="{FF2B5EF4-FFF2-40B4-BE49-F238E27FC236}">
                <a16:creationId xmlns:a16="http://schemas.microsoft.com/office/drawing/2014/main" id="{AD8FCA7F-E345-4087-B150-1EAF66F4CB5A}"/>
              </a:ext>
            </a:extLst>
          </p:cNvPr>
          <p:cNvSpPr>
            <a:spLocks xmlns:a="http://schemas.openxmlformats.org/drawingml/2006/main" noGrp="1"/>
          </p:cNvSpPr>
          <p:nvPr/>
        </p:nvSpPr>
        <p:spPr>
          <a:xfrm xmlns:a="http://schemas.openxmlformats.org/drawingml/2006/main" rot="0">
            <a:off x="886968" y="7277386"/>
            <a:ext cx="1941939"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Phase I to approval</a:t>
            </a:r>
          </a:p>
        </p:txBody>
      </p:sp>
      <p:sp>
        <p:nvSpPr>
          <p:cNvPr id="36" name="Figure 11 label 24 line 1">
            <a:extLst xmlns:a="http://schemas.openxmlformats.org/drawingml/2006/main">
              <a:ext uri="{FF2B5EF4-FFF2-40B4-BE49-F238E27FC236}">
                <a16:creationId xmlns:a16="http://schemas.microsoft.com/office/drawing/2014/main" id="{3D6AB567-0295-4E2F-AAD5-46079999FBF9}"/>
              </a:ext>
            </a:extLst>
          </p:cNvPr>
          <p:cNvSpPr>
            <a:spLocks xmlns:a="http://schemas.openxmlformats.org/drawingml/2006/main" noGrp="1"/>
          </p:cNvSpPr>
          <p:nvPr/>
        </p:nvSpPr>
        <p:spPr>
          <a:xfrm xmlns:a="http://schemas.openxmlformats.org/drawingml/2006/main" rot="0">
            <a:off x="5361057" y="7117652"/>
            <a:ext cx="18889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7.9% / 13.8%</a:t>
            </a:r>
          </a:p>
        </p:txBody>
      </p:sp>
      <p:sp>
        <p:nvSpPr>
          <p:cNvPr id="37" name="Figure 11 label 24 line 2">
            <a:extLst xmlns:a="http://schemas.openxmlformats.org/drawingml/2006/main">
              <a:ext uri="{FF2B5EF4-FFF2-40B4-BE49-F238E27FC236}">
                <a16:creationId xmlns:a16="http://schemas.microsoft.com/office/drawing/2014/main" id="{6F29B061-2EE0-4F7C-9A8B-5A32DC9E8E0A}"/>
              </a:ext>
            </a:extLst>
          </p:cNvPr>
          <p:cNvSpPr>
            <a:spLocks xmlns:a="http://schemas.openxmlformats.org/drawingml/2006/main" noGrp="1"/>
          </p:cNvSpPr>
          <p:nvPr/>
        </p:nvSpPr>
        <p:spPr>
          <a:xfrm xmlns:a="http://schemas.openxmlformats.org/drawingml/2006/main" rot="0">
            <a:off x="5361057" y="7403402"/>
            <a:ext cx="18889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(study estimates)</a:t>
            </a:r>
          </a:p>
        </p:txBody>
      </p:sp>
      <p:sp>
        <p:nvSpPr>
          <p:cNvPr id="38" name="Figure 11 label 25 line 1">
            <a:extLst xmlns:a="http://schemas.openxmlformats.org/drawingml/2006/main">
              <a:ext uri="{FF2B5EF4-FFF2-40B4-BE49-F238E27FC236}">
                <a16:creationId xmlns:a16="http://schemas.microsoft.com/office/drawing/2014/main" id="{05F17E02-EF7E-4962-89CB-40DAC51854A8}"/>
              </a:ext>
            </a:extLst>
          </p:cNvPr>
          <p:cNvSpPr>
            <a:spLocks xmlns:a="http://schemas.openxmlformats.org/drawingml/2006/main" noGrp="1"/>
          </p:cNvSpPr>
          <p:nvPr/>
        </p:nvSpPr>
        <p:spPr>
          <a:xfrm xmlns:a="http://schemas.openxmlformats.org/drawingml/2006/main" rot="0">
            <a:off x="8605584" y="7117652"/>
            <a:ext cx="14959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AI advantage</a:t>
            </a:r>
          </a:p>
        </p:txBody>
      </p:sp>
      <p:sp>
        <p:nvSpPr>
          <p:cNvPr id="39" name="Figure 11 label 25 line 2">
            <a:extLst xmlns:a="http://schemas.openxmlformats.org/drawingml/2006/main">
              <a:ext uri="{FF2B5EF4-FFF2-40B4-BE49-F238E27FC236}">
                <a16:creationId xmlns:a16="http://schemas.microsoft.com/office/drawing/2014/main" id="{4D5600C9-AD5A-43C6-BB3A-F840663FFB14}"/>
              </a:ext>
            </a:extLst>
          </p:cNvPr>
          <p:cNvSpPr>
            <a:spLocks xmlns:a="http://schemas.openxmlformats.org/drawingml/2006/main" noGrp="1"/>
          </p:cNvSpPr>
          <p:nvPr/>
        </p:nvSpPr>
        <p:spPr>
          <a:xfrm xmlns:a="http://schemas.openxmlformats.org/drawingml/2006/main" rot="0">
            <a:off x="8605584" y="7403402"/>
            <a:ext cx="14959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unproven</a:t>
            </a:r>
          </a:p>
        </p:txBody>
      </p:sp>
      <p:sp>
        <p:nvSpPr>
          <p:cNvPr id="40" name="Figure 11 label 26 line 1">
            <a:extLst xmlns:a="http://schemas.openxmlformats.org/drawingml/2006/main">
              <a:ext uri="{FF2B5EF4-FFF2-40B4-BE49-F238E27FC236}">
                <a16:creationId xmlns:a16="http://schemas.microsoft.com/office/drawing/2014/main" id="{A9848E46-8A1C-449A-8089-B225ED23EFCA}"/>
              </a:ext>
            </a:extLst>
          </p:cNvPr>
          <p:cNvSpPr>
            <a:spLocks xmlns:a="http://schemas.openxmlformats.org/drawingml/2006/main" noGrp="1"/>
          </p:cNvSpPr>
          <p:nvPr/>
        </p:nvSpPr>
        <p:spPr>
          <a:xfrm xmlns:a="http://schemas.openxmlformats.org/drawingml/2006/main" rot="0">
            <a:off x="11126343" y="7146417"/>
            <a:ext cx="4878318"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BIO 2011–2020 and Wong 2000–2015 are different</a:t>
            </a:r>
          </a:p>
        </p:txBody>
      </p:sp>
      <p:sp>
        <p:nvSpPr>
          <p:cNvPr id="41" name="Figure 11 label 26 line 2">
            <a:extLst xmlns:a="http://schemas.openxmlformats.org/drawingml/2006/main">
              <a:ext uri="{FF2B5EF4-FFF2-40B4-BE49-F238E27FC236}">
                <a16:creationId xmlns:a16="http://schemas.microsoft.com/office/drawing/2014/main" id="{557DE386-6D4D-4B3A-9775-75D6EC1BDD20}"/>
              </a:ext>
            </a:extLst>
          </p:cNvPr>
          <p:cNvSpPr>
            <a:spLocks xmlns:a="http://schemas.openxmlformats.org/drawingml/2006/main" noGrp="1"/>
          </p:cNvSpPr>
          <p:nvPr/>
        </p:nvSpPr>
        <p:spPr>
          <a:xfrm xmlns:a="http://schemas.openxmlformats.org/drawingml/2006/main" rot="0">
            <a:off x="11126343" y="7408355"/>
            <a:ext cx="4878318"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cohorts and methods, not an AI comparison.</a:t>
            </a:r>
          </a:p>
        </p:txBody>
      </p:sp>
      <p:sp>
        <p:nvSpPr>
          <p:cNvPr id="42" name="Figure 11 label 27 line 1">
            <a:extLst xmlns:a="http://schemas.openxmlformats.org/drawingml/2006/main">
              <a:ext uri="{FF2B5EF4-FFF2-40B4-BE49-F238E27FC236}">
                <a16:creationId xmlns:a16="http://schemas.microsoft.com/office/drawing/2014/main" id="{DBF2CD8C-EF24-426D-A171-38A8EFCBB634}"/>
              </a:ext>
            </a:extLst>
          </p:cNvPr>
          <p:cNvSpPr>
            <a:spLocks xmlns:a="http://schemas.openxmlformats.org/drawingml/2006/main" noGrp="1"/>
          </p:cNvSpPr>
          <p:nvPr/>
        </p:nvSpPr>
        <p:spPr>
          <a:xfrm xmlns:a="http://schemas.openxmlformats.org/drawingml/2006/main" rot="0">
            <a:off x="1618107" y="8450961"/>
            <a:ext cx="10245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FFFFFF"/>
                </a:solidFill>
                <a:latin typeface="Arial"/>
                <a:ea typeface="Arial"/>
                <a:cs typeface="Arial"/>
              </a:defRPr>
            </a:defPPr>
          </a:lstStyle>
          <a:p xmlns:a="http://schemas.openxmlformats.org/drawingml/2006/main">
            <a:pPr algn="l">
              <a:lnSpc>
                <a:spcPct val="100000"/>
              </a:lnSpc>
              <a:buNone/>
              <a:defRPr sz="2100" b="1">
                <a:solidFill>
                  <a:srgbClr val="FFFFFF"/>
                </a:solidFill>
                <a:latin typeface="Arial"/>
                <a:ea typeface="Arial"/>
                <a:cs typeface="Arial"/>
              </a:defRPr>
            </a:pPr>
            <a:r>
              <a:rPr sz="2100" b="1">
                <a:solidFill>
                  <a:srgbClr val="FFFFFF"/>
                </a:solidFill>
                <a:latin typeface="Arial"/>
                <a:ea typeface="Arial"/>
                <a:cs typeface="Arial"/>
              </a:rPr>
              <a:t>Tool demand depends on funded programs, assay depth, net inputs and prices.</a:t>
            </a:r>
          </a:p>
        </p:txBody>
      </p:sp>
      <p:sp>
        <p:nvSpPr>
          <p:cNvPr id="43" name="Figure 11 label 28 line 1">
            <a:extLst xmlns:a="http://schemas.openxmlformats.org/drawingml/2006/main">
              <a:ext uri="{FF2B5EF4-FFF2-40B4-BE49-F238E27FC236}">
                <a16:creationId xmlns:a16="http://schemas.microsoft.com/office/drawing/2014/main" id="{8F983D2B-604D-41AC-9335-4B187867289C}"/>
              </a:ext>
            </a:extLst>
          </p:cNvPr>
          <p:cNvSpPr>
            <a:spLocks xmlns:a="http://schemas.openxmlformats.org/drawingml/2006/main" noGrp="1"/>
          </p:cNvSpPr>
          <p:nvPr/>
        </p:nvSpPr>
        <p:spPr>
          <a:xfrm xmlns:a="http://schemas.openxmlformats.org/drawingml/2006/main" rot="0">
            <a:off x="679323" y="9533192"/>
            <a:ext cx="9442281"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Sources: Lyu 2019; Sumitomo 2021; BIO 2011–2020; Wong 2000–2015. Workloads are analyst sensitivities, not empirical cohorts.</a:t>
            </a:r>
          </a:p>
        </p:txBody>
      </p:sp>
    </p:spTree>
    <p:extLst>
      <p:ext uri="{BB962C8B-B14F-4D97-AF65-F5344CB8AC3E}">
        <p14:creationId xmlns:p14="http://schemas.microsoft.com/office/powerpoint/2010/main" val="190553656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8" name="">
            <a:extLst xmlns:a="http://schemas.openxmlformats.org/drawingml/2006/main">
              <a:ext uri="{FF2B5EF4-FFF2-40B4-BE49-F238E27FC236}">
                <a16:creationId xmlns:a16="http://schemas.microsoft.com/office/drawing/2014/main" id="{A9040829-C07A-4199-BE73-AACE3CCD5B0F}"/>
              </a:ext>
            </a:extLst>
          </p:cNvPr>
          <p:cNvPicPr>
            <a:picLocks xmlns:a="http://schemas.openxmlformats.org/drawingml/2006/main" noChangeAspect="1"/>
          </p:cNvPicPr>
          <p:nvPr/>
        </p:nvPicPr>
        <p:blipFill>
          <a:blip xmlns:r="http://schemas.openxmlformats.org/officeDocument/2006/relationships" xmlns:a="http://schemas.openxmlformats.org/drawingml/2006/main" r:embed="Rde9ba6fd3ebf4d3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2 label 1 line 1">
            <a:extLst xmlns:a="http://schemas.openxmlformats.org/drawingml/2006/main">
              <a:ext uri="{FF2B5EF4-FFF2-40B4-BE49-F238E27FC236}">
                <a16:creationId xmlns:a16="http://schemas.microsoft.com/office/drawing/2014/main" id="{6627EBD4-DB71-4E73-98C9-03971FE2EFF7}"/>
              </a:ext>
            </a:extLst>
          </p:cNvPr>
          <p:cNvSpPr>
            <a:spLocks xmlns:a="http://schemas.openxmlformats.org/drawingml/2006/main" noGrp="1"/>
          </p:cNvSpPr>
          <p:nvPr/>
        </p:nvSpPr>
        <p:spPr>
          <a:xfrm xmlns:a="http://schemas.openxmlformats.org/drawingml/2006/main" rot="0">
            <a:off x="1057351" y="255118"/>
            <a:ext cx="11611821"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AI selection and biological evidence shape tool demand</a:t>
            </a:r>
          </a:p>
        </p:txBody>
      </p:sp>
      <p:sp>
        <p:nvSpPr>
          <p:cNvPr id="3" name="Figure 12 label 2 line 1">
            <a:extLst xmlns:a="http://schemas.openxmlformats.org/drawingml/2006/main">
              <a:ext uri="{FF2B5EF4-FFF2-40B4-BE49-F238E27FC236}">
                <a16:creationId xmlns:a16="http://schemas.microsoft.com/office/drawing/2014/main" id="{2E255C8E-FE53-4722-ADF8-77845A7A84AB}"/>
              </a:ext>
            </a:extLst>
          </p:cNvPr>
          <p:cNvSpPr>
            <a:spLocks xmlns:a="http://schemas.openxmlformats.org/drawingml/2006/main" noGrp="1"/>
          </p:cNvSpPr>
          <p:nvPr/>
        </p:nvSpPr>
        <p:spPr>
          <a:xfrm xmlns:a="http://schemas.openxmlformats.org/drawingml/2006/main" rot="0">
            <a:off x="1065581" y="951128"/>
            <a:ext cx="9819251"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Workflows vary by modality; paid demand depends on funded assays, depth, net inputs and prices.</a:t>
            </a:r>
          </a:p>
        </p:txBody>
      </p:sp>
      <p:sp>
        <p:nvSpPr>
          <p:cNvPr id="4" name="Figure 12 label 3 line 1">
            <a:extLst xmlns:a="http://schemas.openxmlformats.org/drawingml/2006/main">
              <a:ext uri="{FF2B5EF4-FFF2-40B4-BE49-F238E27FC236}">
                <a16:creationId xmlns:a16="http://schemas.microsoft.com/office/drawing/2014/main" id="{F68EC345-4A8A-4240-800C-B2178F9B64F9}"/>
              </a:ext>
            </a:extLst>
          </p:cNvPr>
          <p:cNvSpPr>
            <a:spLocks xmlns:a="http://schemas.openxmlformats.org/drawingml/2006/main" noGrp="1"/>
          </p:cNvSpPr>
          <p:nvPr/>
        </p:nvSpPr>
        <p:spPr>
          <a:xfrm xmlns:a="http://schemas.openxmlformats.org/drawingml/2006/main" rot="0">
            <a:off x="753466" y="2013509"/>
            <a:ext cx="4761583"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MODALITY-AWARE DISCOVERY WORKFLOW</a:t>
            </a:r>
          </a:p>
        </p:txBody>
      </p:sp>
      <p:sp>
        <p:nvSpPr>
          <p:cNvPr id="5" name="Figure 12 label 4 line 1">
            <a:extLst xmlns:a="http://schemas.openxmlformats.org/drawingml/2006/main">
              <a:ext uri="{FF2B5EF4-FFF2-40B4-BE49-F238E27FC236}">
                <a16:creationId xmlns:a16="http://schemas.microsoft.com/office/drawing/2014/main" id="{110491CF-77B8-48E9-8E90-497545DC7DDE}"/>
              </a:ext>
            </a:extLst>
          </p:cNvPr>
          <p:cNvSpPr>
            <a:spLocks xmlns:a="http://schemas.openxmlformats.org/drawingml/2006/main" noGrp="1"/>
          </p:cNvSpPr>
          <p:nvPr/>
        </p:nvSpPr>
        <p:spPr>
          <a:xfrm xmlns:a="http://schemas.openxmlformats.org/drawingml/2006/main" rot="0">
            <a:off x="755294" y="2390852"/>
            <a:ext cx="417108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0">
                <a:solidFill>
                  <a:srgbClr val="00355F"/>
                </a:solidFill>
                <a:latin typeface="Arial"/>
                <a:ea typeface="Arial"/>
                <a:cs typeface="Arial"/>
              </a:defRPr>
            </a:defPPr>
          </a:lstStyle>
          <a:p xmlns:a="http://schemas.openxmlformats.org/drawingml/2006/main">
            <a:pPr algn="l">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Schematic widths; workload multipliers are sensitivities</a:t>
            </a:r>
          </a:p>
        </p:txBody>
      </p:sp>
      <p:sp>
        <p:nvSpPr>
          <p:cNvPr id="6" name="Figure 12 label 5 line 1">
            <a:extLst xmlns:a="http://schemas.openxmlformats.org/drawingml/2006/main">
              <a:ext uri="{FF2B5EF4-FFF2-40B4-BE49-F238E27FC236}">
                <a16:creationId xmlns:a16="http://schemas.microsoft.com/office/drawing/2014/main" id="{3C58DF83-31D7-4DAC-BBC8-AACE1B270E10}"/>
              </a:ext>
            </a:extLst>
          </p:cNvPr>
          <p:cNvSpPr>
            <a:spLocks xmlns:a="http://schemas.openxmlformats.org/drawingml/2006/main" noGrp="1"/>
          </p:cNvSpPr>
          <p:nvPr/>
        </p:nvSpPr>
        <p:spPr>
          <a:xfrm xmlns:a="http://schemas.openxmlformats.org/drawingml/2006/main" rot="0">
            <a:off x="2103974" y="3039008"/>
            <a:ext cx="2497651"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40" b="1">
                <a:solidFill>
                  <a:srgbClr val="00355F"/>
                </a:solidFill>
                <a:latin typeface="Arial"/>
                <a:ea typeface="Arial"/>
                <a:cs typeface="Arial"/>
              </a:defRPr>
            </a:defPPr>
          </a:lstStyle>
          <a:p xmlns:a="http://schemas.openxmlformats.org/drawingml/2006/main">
            <a:pPr algn="ctr">
              <a:lnSpc>
                <a:spcPct val="100000"/>
              </a:lnSpc>
              <a:buNone/>
              <a:defRPr sz="1740" b="1">
                <a:solidFill>
                  <a:srgbClr val="00355F"/>
                </a:solidFill>
                <a:latin typeface="Arial"/>
                <a:ea typeface="Arial"/>
                <a:cs typeface="Arial"/>
              </a:defRPr>
            </a:pPr>
            <a:r>
              <a:rPr sz="1740" b="1">
                <a:solidFill>
                  <a:srgbClr val="00355F"/>
                </a:solidFill>
                <a:latin typeface="Arial"/>
                <a:ea typeface="Arial"/>
                <a:cs typeface="Arial"/>
              </a:rPr>
              <a:t>Virtual search / design</a:t>
            </a:r>
          </a:p>
        </p:txBody>
      </p:sp>
      <p:sp>
        <p:nvSpPr>
          <p:cNvPr id="7" name="Figure 12 label 6 line 1">
            <a:extLst xmlns:a="http://schemas.openxmlformats.org/drawingml/2006/main">
              <a:ext uri="{FF2B5EF4-FFF2-40B4-BE49-F238E27FC236}">
                <a16:creationId xmlns:a16="http://schemas.microsoft.com/office/drawing/2014/main" id="{B83D2401-7CF4-4333-B713-0A12A6798383}"/>
              </a:ext>
            </a:extLst>
          </p:cNvPr>
          <p:cNvSpPr>
            <a:spLocks xmlns:a="http://schemas.openxmlformats.org/drawingml/2006/main" noGrp="1"/>
          </p:cNvSpPr>
          <p:nvPr/>
        </p:nvSpPr>
        <p:spPr>
          <a:xfrm xmlns:a="http://schemas.openxmlformats.org/drawingml/2006/main" rot="0">
            <a:off x="2337804" y="3400349"/>
            <a:ext cx="2029992"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0" b="1">
                <a:solidFill>
                  <a:srgbClr val="00355F"/>
                </a:solidFill>
                <a:latin typeface="Arial"/>
                <a:ea typeface="Arial"/>
                <a:cs typeface="Arial"/>
              </a:defRPr>
            </a:defPPr>
          </a:lstStyle>
          <a:p xmlns:a="http://schemas.openxmlformats.org/drawingml/2006/main">
            <a:pPr algn="ctr">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Quality + selection</a:t>
            </a:r>
          </a:p>
        </p:txBody>
      </p:sp>
      <p:sp>
        <p:nvSpPr>
          <p:cNvPr id="8" name="Figure 12 label 7 line 1">
            <a:extLst xmlns:a="http://schemas.openxmlformats.org/drawingml/2006/main">
              <a:ext uri="{FF2B5EF4-FFF2-40B4-BE49-F238E27FC236}">
                <a16:creationId xmlns:a16="http://schemas.microsoft.com/office/drawing/2014/main" id="{2ECACDB6-8DE9-43B2-9F44-134FDD3294C0}"/>
              </a:ext>
            </a:extLst>
          </p:cNvPr>
          <p:cNvSpPr>
            <a:spLocks xmlns:a="http://schemas.openxmlformats.org/drawingml/2006/main" noGrp="1"/>
          </p:cNvSpPr>
          <p:nvPr/>
        </p:nvSpPr>
        <p:spPr>
          <a:xfrm xmlns:a="http://schemas.openxmlformats.org/drawingml/2006/main" rot="0">
            <a:off x="2359661" y="4242968"/>
            <a:ext cx="1986278"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40" b="1">
                <a:solidFill>
                  <a:srgbClr val="00355F"/>
                </a:solidFill>
                <a:latin typeface="Arial"/>
                <a:ea typeface="Arial"/>
                <a:cs typeface="Arial"/>
              </a:defRPr>
            </a:defPPr>
          </a:lstStyle>
          <a:p xmlns:a="http://schemas.openxmlformats.org/drawingml/2006/main">
            <a:pPr algn="ctr">
              <a:lnSpc>
                <a:spcPct val="100000"/>
              </a:lnSpc>
              <a:buNone/>
              <a:defRPr sz="1740" b="1">
                <a:solidFill>
                  <a:srgbClr val="00355F"/>
                </a:solidFill>
                <a:latin typeface="Arial"/>
                <a:ea typeface="Arial"/>
                <a:cs typeface="Arial"/>
              </a:defRPr>
            </a:pPr>
            <a:r>
              <a:rPr sz="1740" b="1">
                <a:solidFill>
                  <a:srgbClr val="00355F"/>
                </a:solidFill>
                <a:latin typeface="Arial"/>
                <a:ea typeface="Arial"/>
                <a:cs typeface="Arial"/>
              </a:rPr>
              <a:t>Physical samples</a:t>
            </a:r>
          </a:p>
        </p:txBody>
      </p:sp>
      <p:sp>
        <p:nvSpPr>
          <p:cNvPr id="9" name="Figure 12 label 8 line 1">
            <a:extLst xmlns:a="http://schemas.openxmlformats.org/drawingml/2006/main">
              <a:ext uri="{FF2B5EF4-FFF2-40B4-BE49-F238E27FC236}">
                <a16:creationId xmlns:a16="http://schemas.microsoft.com/office/drawing/2014/main" id="{BC0AB471-62AD-44D0-BBF5-BC6A4632715D}"/>
              </a:ext>
            </a:extLst>
          </p:cNvPr>
          <p:cNvSpPr>
            <a:spLocks xmlns:a="http://schemas.openxmlformats.org/drawingml/2006/main" noGrp="1"/>
          </p:cNvSpPr>
          <p:nvPr/>
        </p:nvSpPr>
        <p:spPr>
          <a:xfrm xmlns:a="http://schemas.openxmlformats.org/drawingml/2006/main" rot="0">
            <a:off x="2352803" y="4610710"/>
            <a:ext cx="1999994"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60" b="1">
                <a:solidFill>
                  <a:srgbClr val="00355F"/>
                </a:solidFill>
                <a:latin typeface="Arial"/>
                <a:ea typeface="Arial"/>
                <a:cs typeface="Arial"/>
              </a:defRPr>
            </a:defPPr>
          </a:lstStyle>
          <a:p xmlns:a="http://schemas.openxmlformats.org/drawingml/2006/main">
            <a:pPr algn="ctr">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Modality-dependent</a:t>
            </a:r>
          </a:p>
        </p:txBody>
      </p:sp>
      <p:sp>
        <p:nvSpPr>
          <p:cNvPr id="10" name="Figure 12 label 9 line 1">
            <a:extLst xmlns:a="http://schemas.openxmlformats.org/drawingml/2006/main">
              <a:ext uri="{FF2B5EF4-FFF2-40B4-BE49-F238E27FC236}">
                <a16:creationId xmlns:a16="http://schemas.microsoft.com/office/drawing/2014/main" id="{F5F1F931-1F4B-49D5-A4FE-441B66D003D0}"/>
              </a:ext>
            </a:extLst>
          </p:cNvPr>
          <p:cNvSpPr>
            <a:spLocks xmlns:a="http://schemas.openxmlformats.org/drawingml/2006/main" noGrp="1"/>
          </p:cNvSpPr>
          <p:nvPr/>
        </p:nvSpPr>
        <p:spPr>
          <a:xfrm xmlns:a="http://schemas.openxmlformats.org/drawingml/2006/main" rot="0">
            <a:off x="2439656" y="5340248"/>
            <a:ext cx="1826288"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40" b="1">
                <a:solidFill>
                  <a:srgbClr val="FFFFFF"/>
                </a:solidFill>
                <a:latin typeface="Arial"/>
                <a:ea typeface="Arial"/>
                <a:cs typeface="Arial"/>
              </a:defRPr>
            </a:defPPr>
          </a:lstStyle>
          <a:p xmlns:a="http://schemas.openxmlformats.org/drawingml/2006/main">
            <a:pPr algn="ctr">
              <a:lnSpc>
                <a:spcPct val="100000"/>
              </a:lnSpc>
              <a:buNone/>
              <a:defRPr sz="1740" b="1">
                <a:solidFill>
                  <a:srgbClr val="FFFFFF"/>
                </a:solidFill>
                <a:latin typeface="Arial"/>
                <a:ea typeface="Arial"/>
                <a:cs typeface="Arial"/>
              </a:defRPr>
            </a:pPr>
            <a:r>
              <a:rPr sz="1740" b="1">
                <a:solidFill>
                  <a:srgbClr val="FFFFFF"/>
                </a:solidFill>
                <a:latin typeface="Arial"/>
                <a:ea typeface="Arial"/>
                <a:cs typeface="Arial"/>
              </a:rPr>
              <a:t>Assay workload</a:t>
            </a:r>
          </a:p>
        </p:txBody>
      </p:sp>
      <p:sp>
        <p:nvSpPr>
          <p:cNvPr id="11" name="Figure 12 label 10 line 1">
            <a:extLst xmlns:a="http://schemas.openxmlformats.org/drawingml/2006/main">
              <a:ext uri="{FF2B5EF4-FFF2-40B4-BE49-F238E27FC236}">
                <a16:creationId xmlns:a16="http://schemas.microsoft.com/office/drawing/2014/main" id="{749D5529-5C7A-4383-BBC5-3B8D2CC17F6F}"/>
              </a:ext>
            </a:extLst>
          </p:cNvPr>
          <p:cNvSpPr>
            <a:spLocks xmlns:a="http://schemas.openxmlformats.org/drawingml/2006/main" noGrp="1"/>
          </p:cNvSpPr>
          <p:nvPr/>
        </p:nvSpPr>
        <p:spPr>
          <a:xfrm xmlns:a="http://schemas.openxmlformats.org/drawingml/2006/main" rot="0">
            <a:off x="2596848" y="5714390"/>
            <a:ext cx="1511903"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40" b="1">
                <a:solidFill>
                  <a:srgbClr val="FFFFFF"/>
                </a:solidFill>
                <a:latin typeface="Arial"/>
                <a:ea typeface="Arial"/>
                <a:cs typeface="Arial"/>
              </a:defRPr>
            </a:defPPr>
          </a:lstStyle>
          <a:p xmlns:a="http://schemas.openxmlformats.org/drawingml/2006/main">
            <a:pPr algn="ctr">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1× / 2× / 5× / 10×</a:t>
            </a:r>
          </a:p>
        </p:txBody>
      </p:sp>
      <p:sp>
        <p:nvSpPr>
          <p:cNvPr id="12" name="Figure 12 label 11 line 1">
            <a:extLst xmlns:a="http://schemas.openxmlformats.org/drawingml/2006/main">
              <a:ext uri="{FF2B5EF4-FFF2-40B4-BE49-F238E27FC236}">
                <a16:creationId xmlns:a16="http://schemas.microsoft.com/office/drawing/2014/main" id="{C44CA765-206D-4B7E-847E-1E42902A2A4C}"/>
              </a:ext>
            </a:extLst>
          </p:cNvPr>
          <p:cNvSpPr>
            <a:spLocks xmlns:a="http://schemas.openxmlformats.org/drawingml/2006/main" noGrp="1"/>
          </p:cNvSpPr>
          <p:nvPr/>
        </p:nvSpPr>
        <p:spPr>
          <a:xfrm xmlns:a="http://schemas.openxmlformats.org/drawingml/2006/main" rot="0">
            <a:off x="2745474" y="6487211"/>
            <a:ext cx="1214652"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80" b="1">
                <a:solidFill>
                  <a:srgbClr val="00355F"/>
                </a:solidFill>
                <a:latin typeface="Arial"/>
                <a:ea typeface="Arial"/>
                <a:cs typeface="Arial"/>
              </a:defRPr>
            </a:defPPr>
          </a:lstStyle>
          <a:p xmlns:a="http://schemas.openxmlformats.org/drawingml/2006/main">
            <a:pPr algn="ctr">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Clinical entry</a:t>
            </a:r>
          </a:p>
        </p:txBody>
      </p:sp>
      <p:sp>
        <p:nvSpPr>
          <p:cNvPr id="13" name="Figure 12 label 12 line 1">
            <a:extLst xmlns:a="http://schemas.openxmlformats.org/drawingml/2006/main">
              <a:ext uri="{FF2B5EF4-FFF2-40B4-BE49-F238E27FC236}">
                <a16:creationId xmlns:a16="http://schemas.microsoft.com/office/drawing/2014/main" id="{6A903164-570A-472C-8A06-82F55D0CE796}"/>
              </a:ext>
            </a:extLst>
          </p:cNvPr>
          <p:cNvSpPr>
            <a:spLocks xmlns:a="http://schemas.openxmlformats.org/drawingml/2006/main" noGrp="1"/>
          </p:cNvSpPr>
          <p:nvPr/>
        </p:nvSpPr>
        <p:spPr>
          <a:xfrm xmlns:a="http://schemas.openxmlformats.org/drawingml/2006/main" rot="0">
            <a:off x="2655496" y="6854952"/>
            <a:ext cx="1394609"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Funded programs</a:t>
            </a:r>
          </a:p>
        </p:txBody>
      </p:sp>
      <p:sp>
        <p:nvSpPr>
          <p:cNvPr id="14" name="Figure 12 label 13 line 1">
            <a:extLst xmlns:a="http://schemas.openxmlformats.org/drawingml/2006/main">
              <a:ext uri="{FF2B5EF4-FFF2-40B4-BE49-F238E27FC236}">
                <a16:creationId xmlns:a16="http://schemas.microsoft.com/office/drawing/2014/main" id="{F6B322F6-39B5-4BF1-9D2E-872A8D4FF286}"/>
              </a:ext>
            </a:extLst>
          </p:cNvPr>
          <p:cNvSpPr>
            <a:spLocks xmlns:a="http://schemas.openxmlformats.org/drawingml/2006/main" noGrp="1"/>
          </p:cNvSpPr>
          <p:nvPr/>
        </p:nvSpPr>
        <p:spPr>
          <a:xfrm xmlns:a="http://schemas.openxmlformats.org/drawingml/2006/main" rot="0">
            <a:off x="2662800" y="7424471"/>
            <a:ext cx="1380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80" b="1">
                <a:solidFill>
                  <a:srgbClr val="00355F"/>
                </a:solidFill>
                <a:latin typeface="Arial"/>
                <a:ea typeface="Arial"/>
                <a:cs typeface="Arial"/>
              </a:defRPr>
            </a:defPPr>
          </a:lstStyle>
          <a:p xmlns:a="http://schemas.openxmlformats.org/drawingml/2006/main">
            <a:pPr algn="ctr">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Approval gains</a:t>
            </a:r>
          </a:p>
        </p:txBody>
      </p:sp>
      <p:sp>
        <p:nvSpPr>
          <p:cNvPr id="15" name="Figure 12 label 14 line 1">
            <a:extLst xmlns:a="http://schemas.openxmlformats.org/drawingml/2006/main">
              <a:ext uri="{FF2B5EF4-FFF2-40B4-BE49-F238E27FC236}">
                <a16:creationId xmlns:a16="http://schemas.microsoft.com/office/drawing/2014/main" id="{2783D4FF-2C14-413F-9C97-5ACB840257F2}"/>
              </a:ext>
            </a:extLst>
          </p:cNvPr>
          <p:cNvSpPr>
            <a:spLocks xmlns:a="http://schemas.openxmlformats.org/drawingml/2006/main" noGrp="1"/>
          </p:cNvSpPr>
          <p:nvPr/>
        </p:nvSpPr>
        <p:spPr>
          <a:xfrm xmlns:a="http://schemas.openxmlformats.org/drawingml/2006/main" rot="0">
            <a:off x="2846338" y="7776210"/>
            <a:ext cx="101292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1">
                <a:solidFill>
                  <a:srgbClr val="00355F"/>
                </a:solidFill>
                <a:latin typeface="Arial"/>
                <a:ea typeface="Arial"/>
                <a:cs typeface="Arial"/>
              </a:defRPr>
            </a:defPPr>
          </a:lstStyle>
          <a:p xmlns:a="http://schemas.openxmlformats.org/drawingml/2006/main">
            <a:pPr algn="ctr">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Unproven</a:t>
            </a:r>
          </a:p>
        </p:txBody>
      </p:sp>
      <p:sp>
        <p:nvSpPr>
          <p:cNvPr id="16" name="Figure 12 label 15 line 1">
            <a:extLst xmlns:a="http://schemas.openxmlformats.org/drawingml/2006/main">
              <a:ext uri="{FF2B5EF4-FFF2-40B4-BE49-F238E27FC236}">
                <a16:creationId xmlns:a16="http://schemas.microsoft.com/office/drawing/2014/main" id="{36C8100B-A0B3-4E4E-AD93-D4BCDC26D2EF}"/>
              </a:ext>
            </a:extLst>
          </p:cNvPr>
          <p:cNvSpPr>
            <a:spLocks xmlns:a="http://schemas.openxmlformats.org/drawingml/2006/main" noGrp="1"/>
          </p:cNvSpPr>
          <p:nvPr/>
        </p:nvSpPr>
        <p:spPr>
          <a:xfrm xmlns:a="http://schemas.openxmlformats.org/drawingml/2006/main" rot="0">
            <a:off x="877824" y="8409432"/>
            <a:ext cx="162023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SMALL MOLECULES</a:t>
            </a:r>
          </a:p>
        </p:txBody>
      </p:sp>
      <p:sp>
        <p:nvSpPr>
          <p:cNvPr id="17" name="Figure 12 label 16 line 1">
            <a:extLst xmlns:a="http://schemas.openxmlformats.org/drawingml/2006/main">
              <a:ext uri="{FF2B5EF4-FFF2-40B4-BE49-F238E27FC236}">
                <a16:creationId xmlns:a16="http://schemas.microsoft.com/office/drawing/2014/main" id="{95B46473-04F3-44B4-B042-002BDE19ADEA}"/>
              </a:ext>
            </a:extLst>
          </p:cNvPr>
          <p:cNvSpPr>
            <a:spLocks xmlns:a="http://schemas.openxmlformats.org/drawingml/2006/main" noGrp="1"/>
          </p:cNvSpPr>
          <p:nvPr/>
        </p:nvSpPr>
        <p:spPr>
          <a:xfrm xmlns:a="http://schemas.openxmlformats.org/drawingml/2006/main" rot="0">
            <a:off x="878129" y="8702192"/>
            <a:ext cx="1494431"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Fewer syntheses per</a:t>
            </a:r>
          </a:p>
        </p:txBody>
      </p:sp>
      <p:sp>
        <p:nvSpPr>
          <p:cNvPr id="18" name="Figure 12 label 16 line 2">
            <a:extLst xmlns:a="http://schemas.openxmlformats.org/drawingml/2006/main">
              <a:ext uri="{FF2B5EF4-FFF2-40B4-BE49-F238E27FC236}">
                <a16:creationId xmlns:a16="http://schemas.microsoft.com/office/drawing/2014/main" id="{8A399454-C52A-49BA-9111-1F92B9251241}"/>
              </a:ext>
            </a:extLst>
          </p:cNvPr>
          <p:cNvSpPr>
            <a:spLocks xmlns:a="http://schemas.openxmlformats.org/drawingml/2006/main" noGrp="1"/>
          </p:cNvSpPr>
          <p:nvPr/>
        </p:nvSpPr>
        <p:spPr>
          <a:xfrm xmlns:a="http://schemas.openxmlformats.org/drawingml/2006/main" rot="0">
            <a:off x="878129" y="8883167"/>
            <a:ext cx="1494431"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program are possible.</a:t>
            </a:r>
          </a:p>
        </p:txBody>
      </p:sp>
      <p:sp>
        <p:nvSpPr>
          <p:cNvPr id="19" name="Figure 12 label 17 line 1">
            <a:extLst xmlns:a="http://schemas.openxmlformats.org/drawingml/2006/main">
              <a:ext uri="{FF2B5EF4-FFF2-40B4-BE49-F238E27FC236}">
                <a16:creationId xmlns:a16="http://schemas.microsoft.com/office/drawing/2014/main" id="{DA1C3B67-A815-43EC-B0AA-14C5FB32F661}"/>
              </a:ext>
            </a:extLst>
          </p:cNvPr>
          <p:cNvSpPr>
            <a:spLocks xmlns:a="http://schemas.openxmlformats.org/drawingml/2006/main" noGrp="1"/>
          </p:cNvSpPr>
          <p:nvPr/>
        </p:nvSpPr>
        <p:spPr>
          <a:xfrm xmlns:a="http://schemas.openxmlformats.org/drawingml/2006/main" rot="0">
            <a:off x="3491941" y="8414233"/>
            <a:ext cx="1793927"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PROTEINS / ANTIBODIES</a:t>
            </a:r>
          </a:p>
        </p:txBody>
      </p:sp>
      <p:sp>
        <p:nvSpPr>
          <p:cNvPr id="20" name="Figure 12 label 18 line 1">
            <a:extLst xmlns:a="http://schemas.openxmlformats.org/drawingml/2006/main">
              <a:ext uri="{FF2B5EF4-FFF2-40B4-BE49-F238E27FC236}">
                <a16:creationId xmlns:a16="http://schemas.microsoft.com/office/drawing/2014/main" id="{50339543-6EB5-4D21-80CE-DC8001E00AFE}"/>
              </a:ext>
            </a:extLst>
          </p:cNvPr>
          <p:cNvSpPr>
            <a:spLocks xmlns:a="http://schemas.openxmlformats.org/drawingml/2006/main" noGrp="1"/>
          </p:cNvSpPr>
          <p:nvPr/>
        </p:nvSpPr>
        <p:spPr>
          <a:xfrm xmlns:a="http://schemas.openxmlformats.org/drawingml/2006/main" rot="0">
            <a:off x="3491789" y="8702192"/>
            <a:ext cx="1717227"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Pooled screens scale;</a:t>
            </a:r>
          </a:p>
        </p:txBody>
      </p:sp>
      <p:sp>
        <p:nvSpPr>
          <p:cNvPr id="21" name="Figure 12 label 18 line 2">
            <a:extLst xmlns:a="http://schemas.openxmlformats.org/drawingml/2006/main">
              <a:ext uri="{FF2B5EF4-FFF2-40B4-BE49-F238E27FC236}">
                <a16:creationId xmlns:a16="http://schemas.microsoft.com/office/drawing/2014/main" id="{26A24407-A5DF-4DD2-8F22-4851A2D2476D}"/>
              </a:ext>
            </a:extLst>
          </p:cNvPr>
          <p:cNvSpPr>
            <a:spLocks xmlns:a="http://schemas.openxmlformats.org/drawingml/2006/main" noGrp="1"/>
          </p:cNvSpPr>
          <p:nvPr/>
        </p:nvSpPr>
        <p:spPr>
          <a:xfrm xmlns:a="http://schemas.openxmlformats.org/drawingml/2006/main" rot="0">
            <a:off x="3491789" y="8883167"/>
            <a:ext cx="1717227"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individual profiling differs.</a:t>
            </a:r>
          </a:p>
        </p:txBody>
      </p:sp>
      <p:sp>
        <p:nvSpPr>
          <p:cNvPr id="22" name="Figure 12 label 19 line 1">
            <a:extLst xmlns:a="http://schemas.openxmlformats.org/drawingml/2006/main">
              <a:ext uri="{FF2B5EF4-FFF2-40B4-BE49-F238E27FC236}">
                <a16:creationId xmlns:a16="http://schemas.microsoft.com/office/drawing/2014/main" id="{F8AFEF08-55A5-49E1-A2B4-7A3B1BC93EC5}"/>
              </a:ext>
            </a:extLst>
          </p:cNvPr>
          <p:cNvSpPr>
            <a:spLocks xmlns:a="http://schemas.openxmlformats.org/drawingml/2006/main" noGrp="1"/>
          </p:cNvSpPr>
          <p:nvPr/>
        </p:nvSpPr>
        <p:spPr>
          <a:xfrm xmlns:a="http://schemas.openxmlformats.org/drawingml/2006/main" rot="0">
            <a:off x="755599" y="9305392"/>
            <a:ext cx="294157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WET LAB = BUILD + TEST</a:t>
            </a:r>
          </a:p>
        </p:txBody>
      </p:sp>
      <p:sp>
        <p:nvSpPr>
          <p:cNvPr id="23" name="Figure 12 label 19 line 2">
            <a:extLst xmlns:a="http://schemas.openxmlformats.org/drawingml/2006/main">
              <a:ext uri="{FF2B5EF4-FFF2-40B4-BE49-F238E27FC236}">
                <a16:creationId xmlns:a16="http://schemas.microsoft.com/office/drawing/2014/main" id="{59D5647A-768E-43FB-8088-DB797C9D7440}"/>
              </a:ext>
            </a:extLst>
          </p:cNvPr>
          <p:cNvSpPr>
            <a:spLocks xmlns:a="http://schemas.openxmlformats.org/drawingml/2006/main" noGrp="1"/>
          </p:cNvSpPr>
          <p:nvPr/>
        </p:nvSpPr>
        <p:spPr>
          <a:xfrm xmlns:a="http://schemas.openxmlformats.org/drawingml/2006/main" rot="0">
            <a:off x="755599" y="9505417"/>
            <a:ext cx="294157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No universal molecule-count funnel.</a:t>
            </a:r>
          </a:p>
        </p:txBody>
      </p:sp>
      <p:sp>
        <p:nvSpPr>
          <p:cNvPr id="24" name="Figure 12 label 19 line 3">
            <a:extLst xmlns:a="http://schemas.openxmlformats.org/drawingml/2006/main">
              <a:ext uri="{FF2B5EF4-FFF2-40B4-BE49-F238E27FC236}">
                <a16:creationId xmlns:a16="http://schemas.microsoft.com/office/drawing/2014/main" id="{2061BBC9-945E-482B-8F47-B9AB591773B6}"/>
              </a:ext>
            </a:extLst>
          </p:cNvPr>
          <p:cNvSpPr>
            <a:spLocks xmlns:a="http://schemas.openxmlformats.org/drawingml/2006/main" noGrp="1"/>
          </p:cNvSpPr>
          <p:nvPr/>
        </p:nvSpPr>
        <p:spPr>
          <a:xfrm xmlns:a="http://schemas.openxmlformats.org/drawingml/2006/main" rot="0">
            <a:off x="755599" y="9705442"/>
            <a:ext cx="294157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AI clinical advantage remains unproven.</a:t>
            </a:r>
          </a:p>
        </p:txBody>
      </p:sp>
      <p:sp>
        <p:nvSpPr>
          <p:cNvPr id="25" name="Figure 12 label 20 line 1">
            <a:extLst xmlns:a="http://schemas.openxmlformats.org/drawingml/2006/main">
              <a:ext uri="{FF2B5EF4-FFF2-40B4-BE49-F238E27FC236}">
                <a16:creationId xmlns:a16="http://schemas.microsoft.com/office/drawing/2014/main" id="{ADEBC476-8EC2-47A2-B965-DF4AFD848835}"/>
              </a:ext>
            </a:extLst>
          </p:cNvPr>
          <p:cNvSpPr>
            <a:spLocks xmlns:a="http://schemas.openxmlformats.org/drawingml/2006/main" noGrp="1"/>
          </p:cNvSpPr>
          <p:nvPr/>
        </p:nvSpPr>
        <p:spPr>
          <a:xfrm xmlns:a="http://schemas.openxmlformats.org/drawingml/2006/main" rot="0">
            <a:off x="6976568" y="1987906"/>
            <a:ext cx="603216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60" b="1">
                <a:solidFill>
                  <a:srgbClr val="00355F"/>
                </a:solidFill>
                <a:latin typeface="Arial"/>
                <a:ea typeface="Arial"/>
                <a:cs typeface="Arial"/>
              </a:defRPr>
            </a:defPPr>
          </a:lstStyle>
          <a:p xmlns:a="http://schemas.openxmlformats.org/drawingml/2006/main">
            <a:pPr algn="l">
              <a:lnSpc>
                <a:spcPct val="100000"/>
              </a:lnSpc>
              <a:buNone/>
              <a:defRPr sz="2160" b="1">
                <a:solidFill>
                  <a:srgbClr val="00355F"/>
                </a:solidFill>
                <a:latin typeface="Arial"/>
                <a:ea typeface="Arial"/>
                <a:cs typeface="Arial"/>
              </a:defRPr>
            </a:pPr>
            <a:r>
              <a:rPr sz="2160" b="1">
                <a:solidFill>
                  <a:srgbClr val="00355F"/>
                </a:solidFill>
                <a:latin typeface="Arial"/>
                <a:ea typeface="Arial"/>
                <a:cs typeface="Arial"/>
              </a:rPr>
              <a:t>The LST ecosystem behind the capacity gate</a:t>
            </a:r>
          </a:p>
        </p:txBody>
      </p:sp>
      <p:sp>
        <p:nvSpPr>
          <p:cNvPr id="26" name="Figure 12 label 21 line 1">
            <a:extLst xmlns:a="http://schemas.openxmlformats.org/drawingml/2006/main">
              <a:ext uri="{FF2B5EF4-FFF2-40B4-BE49-F238E27FC236}">
                <a16:creationId xmlns:a16="http://schemas.microsoft.com/office/drawing/2014/main" id="{6659D3CD-8C70-42B6-BB47-920E7C9D43A9}"/>
              </a:ext>
            </a:extLst>
          </p:cNvPr>
          <p:cNvSpPr>
            <a:spLocks xmlns:a="http://schemas.openxmlformats.org/drawingml/2006/main" noGrp="1"/>
          </p:cNvSpPr>
          <p:nvPr/>
        </p:nvSpPr>
        <p:spPr>
          <a:xfrm xmlns:a="http://schemas.openxmlformats.org/drawingml/2006/main" rot="0">
            <a:off x="6981445" y="2450592"/>
            <a:ext cx="608477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Issuer-cited subset estimates · different scopes / years · source conflicts disclosed below</a:t>
            </a:r>
          </a:p>
        </p:txBody>
      </p:sp>
      <p:sp>
        <p:nvSpPr>
          <p:cNvPr id="27" name="Figure 12 label 22 line 1">
            <a:extLst xmlns:a="http://schemas.openxmlformats.org/drawingml/2006/main">
              <a:ext uri="{FF2B5EF4-FFF2-40B4-BE49-F238E27FC236}">
                <a16:creationId xmlns:a16="http://schemas.microsoft.com/office/drawing/2014/main" id="{85DC0C8F-9560-40B4-9640-633C8E332485}"/>
              </a:ext>
            </a:extLst>
          </p:cNvPr>
          <p:cNvSpPr>
            <a:spLocks xmlns:a="http://schemas.openxmlformats.org/drawingml/2006/main" noGrp="1"/>
          </p:cNvSpPr>
          <p:nvPr/>
        </p:nvSpPr>
        <p:spPr>
          <a:xfrm xmlns:a="http://schemas.openxmlformats.org/drawingml/2006/main" rot="0">
            <a:off x="7543495" y="2934310"/>
            <a:ext cx="230851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Molecular construction</a:t>
            </a:r>
          </a:p>
        </p:txBody>
      </p:sp>
      <p:sp>
        <p:nvSpPr>
          <p:cNvPr id="28" name="Figure 12 label 23 line 1">
            <a:extLst xmlns:a="http://schemas.openxmlformats.org/drawingml/2006/main">
              <a:ext uri="{FF2B5EF4-FFF2-40B4-BE49-F238E27FC236}">
                <a16:creationId xmlns:a16="http://schemas.microsoft.com/office/drawing/2014/main" id="{B63638E0-05B1-4E51-B886-BE9A0F9A8A93}"/>
              </a:ext>
            </a:extLst>
          </p:cNvPr>
          <p:cNvSpPr>
            <a:spLocks xmlns:a="http://schemas.openxmlformats.org/drawingml/2006/main" noGrp="1"/>
          </p:cNvSpPr>
          <p:nvPr/>
        </p:nvSpPr>
        <p:spPr>
          <a:xfrm xmlns:a="http://schemas.openxmlformats.org/drawingml/2006/main" rot="0">
            <a:off x="7133540" y="3323692"/>
            <a:ext cx="2336286"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DNA / RNA synthesis, enzymes</a:t>
            </a:r>
          </a:p>
        </p:txBody>
      </p:sp>
      <p:sp>
        <p:nvSpPr>
          <p:cNvPr id="29" name="Figure 12 label 23 line 2">
            <a:extLst xmlns:a="http://schemas.openxmlformats.org/drawingml/2006/main">
              <a:ext uri="{FF2B5EF4-FFF2-40B4-BE49-F238E27FC236}">
                <a16:creationId xmlns:a16="http://schemas.microsoft.com/office/drawing/2014/main" id="{8D6E97F2-B797-46F6-A351-754C51A01AD8}"/>
              </a:ext>
            </a:extLst>
          </p:cNvPr>
          <p:cNvSpPr>
            <a:spLocks xmlns:a="http://schemas.openxmlformats.org/drawingml/2006/main" noGrp="1"/>
          </p:cNvSpPr>
          <p:nvPr/>
        </p:nvSpPr>
        <p:spPr>
          <a:xfrm xmlns:a="http://schemas.openxmlformats.org/drawingml/2006/main" rot="0">
            <a:off x="7133540" y="3523717"/>
            <a:ext cx="2336286"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Chemical building blocks</a:t>
            </a:r>
          </a:p>
        </p:txBody>
      </p:sp>
      <p:sp>
        <p:nvSpPr>
          <p:cNvPr id="30" name="Figure 12 label 24 line 1">
            <a:extLst xmlns:a="http://schemas.openxmlformats.org/drawingml/2006/main">
              <a:ext uri="{FF2B5EF4-FFF2-40B4-BE49-F238E27FC236}">
                <a16:creationId xmlns:a16="http://schemas.microsoft.com/office/drawing/2014/main" id="{1DBCAFEF-43D1-458A-9D26-981DE2D29EDF}"/>
              </a:ext>
            </a:extLst>
          </p:cNvPr>
          <p:cNvSpPr>
            <a:spLocks xmlns:a="http://schemas.openxmlformats.org/drawingml/2006/main" noGrp="1"/>
          </p:cNvSpPr>
          <p:nvPr/>
        </p:nvSpPr>
        <p:spPr>
          <a:xfrm xmlns:a="http://schemas.openxmlformats.org/drawingml/2006/main" rot="0">
            <a:off x="7128663" y="3752545"/>
            <a:ext cx="1796856"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RMB 1.33bn</a:t>
            </a:r>
          </a:p>
        </p:txBody>
      </p:sp>
      <p:sp>
        <p:nvSpPr>
          <p:cNvPr id="31" name="Figure 12 label 25 line 1">
            <a:extLst xmlns:a="http://schemas.openxmlformats.org/drawingml/2006/main">
              <a:ext uri="{FF2B5EF4-FFF2-40B4-BE49-F238E27FC236}">
                <a16:creationId xmlns:a16="http://schemas.microsoft.com/office/drawing/2014/main" id="{D1D436E2-6581-4903-ABA1-E957A10B5607}"/>
              </a:ext>
            </a:extLst>
          </p:cNvPr>
          <p:cNvSpPr>
            <a:spLocks xmlns:a="http://schemas.openxmlformats.org/drawingml/2006/main" noGrp="1"/>
          </p:cNvSpPr>
          <p:nvPr/>
        </p:nvSpPr>
        <p:spPr>
          <a:xfrm xmlns:a="http://schemas.openxmlformats.org/drawingml/2006/main" rot="0">
            <a:off x="7134607" y="4195953"/>
            <a:ext cx="2551867"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2025 • DNA synthesis services [1]</a:t>
            </a:r>
          </a:p>
        </p:txBody>
      </p:sp>
      <p:sp>
        <p:nvSpPr>
          <p:cNvPr id="32" name="Figure 12 label 26 line 1">
            <a:extLst xmlns:a="http://schemas.openxmlformats.org/drawingml/2006/main">
              <a:ext uri="{FF2B5EF4-FFF2-40B4-BE49-F238E27FC236}">
                <a16:creationId xmlns:a16="http://schemas.microsoft.com/office/drawing/2014/main" id="{0DF54057-03D9-4DB2-98CC-088D143C7955}"/>
              </a:ext>
            </a:extLst>
          </p:cNvPr>
          <p:cNvSpPr>
            <a:spLocks xmlns:a="http://schemas.openxmlformats.org/drawingml/2006/main" noGrp="1"/>
          </p:cNvSpPr>
          <p:nvPr/>
        </p:nvSpPr>
        <p:spPr>
          <a:xfrm xmlns:a="http://schemas.openxmlformats.org/drawingml/2006/main" rot="0">
            <a:off x="7134911" y="4420133"/>
            <a:ext cx="1678650"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Oligos + long fragments only</a:t>
            </a:r>
          </a:p>
        </p:txBody>
      </p:sp>
      <p:sp>
        <p:nvSpPr>
          <p:cNvPr id="33" name="Figure 12 label 27 line 1">
            <a:extLst xmlns:a="http://schemas.openxmlformats.org/drawingml/2006/main">
              <a:ext uri="{FF2B5EF4-FFF2-40B4-BE49-F238E27FC236}">
                <a16:creationId xmlns:a16="http://schemas.microsoft.com/office/drawing/2014/main" id="{BB0EF963-804D-41D0-B773-3F846B6A0448}"/>
              </a:ext>
            </a:extLst>
          </p:cNvPr>
          <p:cNvSpPr>
            <a:spLocks xmlns:a="http://schemas.openxmlformats.org/drawingml/2006/main" noGrp="1"/>
          </p:cNvSpPr>
          <p:nvPr/>
        </p:nvSpPr>
        <p:spPr>
          <a:xfrm xmlns:a="http://schemas.openxmlformats.org/drawingml/2006/main" rot="0">
            <a:off x="7135521" y="5066614"/>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34" name="Figure 12 label 28 line 1">
            <a:extLst xmlns:a="http://schemas.openxmlformats.org/drawingml/2006/main">
              <a:ext uri="{FF2B5EF4-FFF2-40B4-BE49-F238E27FC236}">
                <a16:creationId xmlns:a16="http://schemas.microsoft.com/office/drawing/2014/main" id="{BB9242F4-28C7-45B3-B7AE-3FC0564D4266}"/>
              </a:ext>
            </a:extLst>
          </p:cNvPr>
          <p:cNvSpPr>
            <a:spLocks xmlns:a="http://schemas.openxmlformats.org/drawingml/2006/main" noGrp="1"/>
          </p:cNvSpPr>
          <p:nvPr/>
        </p:nvSpPr>
        <p:spPr>
          <a:xfrm xmlns:a="http://schemas.openxmlformats.org/drawingml/2006/main" rot="0">
            <a:off x="8773973" y="506821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35" name="Figure 12 label 29 line 1">
            <a:extLst xmlns:a="http://schemas.openxmlformats.org/drawingml/2006/main">
              <a:ext uri="{FF2B5EF4-FFF2-40B4-BE49-F238E27FC236}">
                <a16:creationId xmlns:a16="http://schemas.microsoft.com/office/drawing/2014/main" id="{AFB5EC1E-71EB-4C11-A83A-A5EA696D659D}"/>
              </a:ext>
            </a:extLst>
          </p:cNvPr>
          <p:cNvSpPr>
            <a:spLocks xmlns:a="http://schemas.openxmlformats.org/drawingml/2006/main" noGrp="1"/>
          </p:cNvSpPr>
          <p:nvPr/>
        </p:nvSpPr>
        <p:spPr>
          <a:xfrm xmlns:a="http://schemas.openxmlformats.org/drawingml/2006/main" rot="0">
            <a:off x="7134759" y="527959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GenScript · 1548.HK</a:t>
            </a:r>
          </a:p>
        </p:txBody>
      </p:sp>
      <p:sp>
        <p:nvSpPr>
          <p:cNvPr id="36" name="Figure 12 label 29 line 2">
            <a:extLst xmlns:a="http://schemas.openxmlformats.org/drawingml/2006/main">
              <a:ext uri="{FF2B5EF4-FFF2-40B4-BE49-F238E27FC236}">
                <a16:creationId xmlns:a16="http://schemas.microsoft.com/office/drawing/2014/main" id="{F286A002-B56F-4F2E-A1D2-72AB6BAB2C6E}"/>
              </a:ext>
            </a:extLst>
          </p:cNvPr>
          <p:cNvSpPr>
            <a:spLocks xmlns:a="http://schemas.openxmlformats.org/drawingml/2006/main" noGrp="1"/>
          </p:cNvSpPr>
          <p:nvPr/>
        </p:nvSpPr>
        <p:spPr>
          <a:xfrm xmlns:a="http://schemas.openxmlformats.org/drawingml/2006/main" rot="0">
            <a:off x="7134759" y="5441519"/>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Vazyme · 688105.SH</a:t>
            </a:r>
          </a:p>
        </p:txBody>
      </p:sp>
      <p:sp>
        <p:nvSpPr>
          <p:cNvPr id="37" name="Figure 12 label 29 line 3">
            <a:extLst xmlns:a="http://schemas.openxmlformats.org/drawingml/2006/main">
              <a:ext uri="{FF2B5EF4-FFF2-40B4-BE49-F238E27FC236}">
                <a16:creationId xmlns:a16="http://schemas.microsoft.com/office/drawing/2014/main" id="{FF22AB4C-91E4-47A2-AFCE-03544A51310A}"/>
              </a:ext>
            </a:extLst>
          </p:cNvPr>
          <p:cNvSpPr>
            <a:spLocks xmlns:a="http://schemas.openxmlformats.org/drawingml/2006/main" noGrp="1"/>
          </p:cNvSpPr>
          <p:nvPr/>
        </p:nvSpPr>
        <p:spPr>
          <a:xfrm xmlns:a="http://schemas.openxmlformats.org/drawingml/2006/main" rot="0">
            <a:off x="7134759" y="560344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Tsingke · NEEQ:874813</a:t>
            </a:r>
          </a:p>
        </p:txBody>
      </p:sp>
      <p:sp>
        <p:nvSpPr>
          <p:cNvPr id="38" name="Figure 12 label 30 line 1">
            <a:extLst xmlns:a="http://schemas.openxmlformats.org/drawingml/2006/main">
              <a:ext uri="{FF2B5EF4-FFF2-40B4-BE49-F238E27FC236}">
                <a16:creationId xmlns:a16="http://schemas.microsoft.com/office/drawing/2014/main" id="{601F8882-92A0-4FA0-B530-DFED8B15E167}"/>
              </a:ext>
            </a:extLst>
          </p:cNvPr>
          <p:cNvSpPr>
            <a:spLocks xmlns:a="http://schemas.openxmlformats.org/drawingml/2006/main" noGrp="1"/>
          </p:cNvSpPr>
          <p:nvPr/>
        </p:nvSpPr>
        <p:spPr>
          <a:xfrm xmlns:a="http://schemas.openxmlformats.org/drawingml/2006/main" rot="0">
            <a:off x="8773302" y="5282154"/>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Twist · TWST</a:t>
            </a:r>
          </a:p>
        </p:txBody>
      </p:sp>
      <p:sp>
        <p:nvSpPr>
          <p:cNvPr id="39" name="Figure 12 label 30 line 2">
            <a:extLst xmlns:a="http://schemas.openxmlformats.org/drawingml/2006/main">
              <a:ext uri="{FF2B5EF4-FFF2-40B4-BE49-F238E27FC236}">
                <a16:creationId xmlns:a16="http://schemas.microsoft.com/office/drawing/2014/main" id="{08F5456B-028E-4401-91D8-C4898DEE4BC0}"/>
              </a:ext>
            </a:extLst>
          </p:cNvPr>
          <p:cNvSpPr>
            <a:spLocks xmlns:a="http://schemas.openxmlformats.org/drawingml/2006/main" noGrp="1"/>
          </p:cNvSpPr>
          <p:nvPr/>
        </p:nvSpPr>
        <p:spPr>
          <a:xfrm xmlns:a="http://schemas.openxmlformats.org/drawingml/2006/main" rot="0">
            <a:off x="8773302" y="5436459"/>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Thermo Fisher · TMO</a:t>
            </a:r>
          </a:p>
        </p:txBody>
      </p:sp>
      <p:sp>
        <p:nvSpPr>
          <p:cNvPr id="40" name="Figure 12 label 31 line 1">
            <a:extLst xmlns:a="http://schemas.openxmlformats.org/drawingml/2006/main">
              <a:ext uri="{FF2B5EF4-FFF2-40B4-BE49-F238E27FC236}">
                <a16:creationId xmlns:a16="http://schemas.microsoft.com/office/drawing/2014/main" id="{AF1A17E6-D538-4E6D-8508-0CC64D27B6FD}"/>
              </a:ext>
            </a:extLst>
          </p:cNvPr>
          <p:cNvSpPr>
            <a:spLocks xmlns:a="http://schemas.openxmlformats.org/drawingml/2006/main" noGrp="1"/>
          </p:cNvSpPr>
          <p:nvPr/>
        </p:nvSpPr>
        <p:spPr>
          <a:xfrm xmlns:a="http://schemas.openxmlformats.org/drawingml/2006/main" rot="0">
            <a:off x="11071556" y="2934310"/>
            <a:ext cx="2727168"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Protein &amp; functional assays</a:t>
            </a:r>
          </a:p>
        </p:txBody>
      </p:sp>
      <p:sp>
        <p:nvSpPr>
          <p:cNvPr id="41" name="Figure 12 label 32 line 1">
            <a:extLst xmlns:a="http://schemas.openxmlformats.org/drawingml/2006/main">
              <a:ext uri="{FF2B5EF4-FFF2-40B4-BE49-F238E27FC236}">
                <a16:creationId xmlns:a16="http://schemas.microsoft.com/office/drawing/2014/main" id="{460950EA-928E-4896-B04E-EB4DAD4D2AF0}"/>
              </a:ext>
            </a:extLst>
          </p:cNvPr>
          <p:cNvSpPr>
            <a:spLocks xmlns:a="http://schemas.openxmlformats.org/drawingml/2006/main" noGrp="1"/>
          </p:cNvSpPr>
          <p:nvPr/>
        </p:nvSpPr>
        <p:spPr>
          <a:xfrm xmlns:a="http://schemas.openxmlformats.org/drawingml/2006/main" rot="0">
            <a:off x="10661599" y="3323692"/>
            <a:ext cx="247916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Recombinant proteins, antibodies</a:t>
            </a:r>
          </a:p>
        </p:txBody>
      </p:sp>
      <p:sp>
        <p:nvSpPr>
          <p:cNvPr id="42" name="Figure 12 label 32 line 2">
            <a:extLst xmlns:a="http://schemas.openxmlformats.org/drawingml/2006/main">
              <a:ext uri="{FF2B5EF4-FFF2-40B4-BE49-F238E27FC236}">
                <a16:creationId xmlns:a16="http://schemas.microsoft.com/office/drawing/2014/main" id="{E0C1C0DF-D895-4FCD-B2DC-B9AF07136145}"/>
              </a:ext>
            </a:extLst>
          </p:cNvPr>
          <p:cNvSpPr>
            <a:spLocks xmlns:a="http://schemas.openxmlformats.org/drawingml/2006/main" noGrp="1"/>
          </p:cNvSpPr>
          <p:nvPr/>
        </p:nvSpPr>
        <p:spPr>
          <a:xfrm xmlns:a="http://schemas.openxmlformats.org/drawingml/2006/main" rot="0">
            <a:off x="10661599" y="3523717"/>
            <a:ext cx="247916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Binding and activity assays</a:t>
            </a:r>
          </a:p>
        </p:txBody>
      </p:sp>
      <p:sp>
        <p:nvSpPr>
          <p:cNvPr id="43" name="Figure 12 label 33 line 1">
            <a:extLst xmlns:a="http://schemas.openxmlformats.org/drawingml/2006/main">
              <a:ext uri="{FF2B5EF4-FFF2-40B4-BE49-F238E27FC236}">
                <a16:creationId xmlns:a16="http://schemas.microsoft.com/office/drawing/2014/main" id="{CB5E450B-BD93-4DB4-9495-B036E3F6C1F8}"/>
              </a:ext>
            </a:extLst>
          </p:cNvPr>
          <p:cNvSpPr>
            <a:spLocks xmlns:a="http://schemas.openxmlformats.org/drawingml/2006/main" noGrp="1"/>
          </p:cNvSpPr>
          <p:nvPr/>
        </p:nvSpPr>
        <p:spPr>
          <a:xfrm xmlns:a="http://schemas.openxmlformats.org/drawingml/2006/main" rot="0">
            <a:off x="10656723" y="3752545"/>
            <a:ext cx="1468243"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US$3.5bn</a:t>
            </a:r>
          </a:p>
        </p:txBody>
      </p:sp>
      <p:sp>
        <p:nvSpPr>
          <p:cNvPr id="44" name="Figure 12 label 34 line 1">
            <a:extLst xmlns:a="http://schemas.openxmlformats.org/drawingml/2006/main">
              <a:ext uri="{FF2B5EF4-FFF2-40B4-BE49-F238E27FC236}">
                <a16:creationId xmlns:a16="http://schemas.microsoft.com/office/drawing/2014/main" id="{716268EB-BDA3-4EAE-91A4-1BC2FC1FE4F2}"/>
              </a:ext>
            </a:extLst>
          </p:cNvPr>
          <p:cNvSpPr>
            <a:spLocks xmlns:a="http://schemas.openxmlformats.org/drawingml/2006/main" noGrp="1"/>
          </p:cNvSpPr>
          <p:nvPr/>
        </p:nvSpPr>
        <p:spPr>
          <a:xfrm xmlns:a="http://schemas.openxmlformats.org/drawingml/2006/main" rot="0">
            <a:off x="10662666" y="4195953"/>
            <a:ext cx="2295287"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Global · 2025 · F&amp;S RUO proteins [2]</a:t>
            </a:r>
          </a:p>
        </p:txBody>
      </p:sp>
      <p:sp>
        <p:nvSpPr>
          <p:cNvPr id="45" name="Figure 12 label 35 line 1">
            <a:extLst xmlns:a="http://schemas.openxmlformats.org/drawingml/2006/main">
              <a:ext uri="{FF2B5EF4-FFF2-40B4-BE49-F238E27FC236}">
                <a16:creationId xmlns:a16="http://schemas.microsoft.com/office/drawing/2014/main" id="{6D4BEBCA-53E5-4C4E-9F6E-19F5E8DED25A}"/>
              </a:ext>
            </a:extLst>
          </p:cNvPr>
          <p:cNvSpPr>
            <a:spLocks xmlns:a="http://schemas.openxmlformats.org/drawingml/2006/main" noGrp="1"/>
          </p:cNvSpPr>
          <p:nvPr/>
        </p:nvSpPr>
        <p:spPr>
          <a:xfrm xmlns:a="http://schemas.openxmlformats.org/drawingml/2006/main" rot="0">
            <a:off x="10662971" y="4420133"/>
            <a:ext cx="2324862"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Issuer-commissioned; estimate disputed</a:t>
            </a:r>
          </a:p>
        </p:txBody>
      </p:sp>
      <p:sp>
        <p:nvSpPr>
          <p:cNvPr id="46" name="Figure 12 label 36 line 1">
            <a:extLst xmlns:a="http://schemas.openxmlformats.org/drawingml/2006/main">
              <a:ext uri="{FF2B5EF4-FFF2-40B4-BE49-F238E27FC236}">
                <a16:creationId xmlns:a16="http://schemas.microsoft.com/office/drawing/2014/main" id="{0F18656B-F255-4602-816E-4A74C02EA635}"/>
              </a:ext>
            </a:extLst>
          </p:cNvPr>
          <p:cNvSpPr>
            <a:spLocks xmlns:a="http://schemas.openxmlformats.org/drawingml/2006/main" noGrp="1"/>
          </p:cNvSpPr>
          <p:nvPr/>
        </p:nvSpPr>
        <p:spPr>
          <a:xfrm xmlns:a="http://schemas.openxmlformats.org/drawingml/2006/main" rot="0">
            <a:off x="10663581" y="5066614"/>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47" name="Figure 12 label 37 line 1">
            <a:extLst xmlns:a="http://schemas.openxmlformats.org/drawingml/2006/main">
              <a:ext uri="{FF2B5EF4-FFF2-40B4-BE49-F238E27FC236}">
                <a16:creationId xmlns:a16="http://schemas.microsoft.com/office/drawing/2014/main" id="{2F11C656-07EA-447B-998B-84B04B5DA12A}"/>
              </a:ext>
            </a:extLst>
          </p:cNvPr>
          <p:cNvSpPr>
            <a:spLocks xmlns:a="http://schemas.openxmlformats.org/drawingml/2006/main" noGrp="1"/>
          </p:cNvSpPr>
          <p:nvPr/>
        </p:nvSpPr>
        <p:spPr>
          <a:xfrm xmlns:a="http://schemas.openxmlformats.org/drawingml/2006/main" rot="0">
            <a:off x="12302033" y="506821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48" name="Figure 12 label 38 line 1">
            <a:extLst xmlns:a="http://schemas.openxmlformats.org/drawingml/2006/main">
              <a:ext uri="{FF2B5EF4-FFF2-40B4-BE49-F238E27FC236}">
                <a16:creationId xmlns:a16="http://schemas.microsoft.com/office/drawing/2014/main" id="{443E0215-26FF-4AD5-8540-0F5BB39F4A7B}"/>
              </a:ext>
            </a:extLst>
          </p:cNvPr>
          <p:cNvSpPr>
            <a:spLocks xmlns:a="http://schemas.openxmlformats.org/drawingml/2006/main" noGrp="1"/>
          </p:cNvSpPr>
          <p:nvPr/>
        </p:nvSpPr>
        <p:spPr>
          <a:xfrm xmlns:a="http://schemas.openxmlformats.org/drawingml/2006/main" rot="0">
            <a:off x="10662819" y="5279594"/>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ACRO · 301080.SZ</a:t>
            </a:r>
          </a:p>
        </p:txBody>
      </p:sp>
      <p:sp>
        <p:nvSpPr>
          <p:cNvPr id="49" name="Figure 12 label 38 line 2">
            <a:extLst xmlns:a="http://schemas.openxmlformats.org/drawingml/2006/main">
              <a:ext uri="{FF2B5EF4-FFF2-40B4-BE49-F238E27FC236}">
                <a16:creationId xmlns:a16="http://schemas.microsoft.com/office/drawing/2014/main" id="{1F30CCB0-B22C-48D0-BDDE-44B563FB9E7F}"/>
              </a:ext>
            </a:extLst>
          </p:cNvPr>
          <p:cNvSpPr>
            <a:spLocks xmlns:a="http://schemas.openxmlformats.org/drawingml/2006/main" noGrp="1"/>
          </p:cNvSpPr>
          <p:nvPr/>
        </p:nvSpPr>
        <p:spPr>
          <a:xfrm xmlns:a="http://schemas.openxmlformats.org/drawingml/2006/main" rot="0">
            <a:off x="10662819" y="5441519"/>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Sino · 301047.SZ</a:t>
            </a:r>
          </a:p>
        </p:txBody>
      </p:sp>
      <p:sp>
        <p:nvSpPr>
          <p:cNvPr id="50" name="Figure 12 label 39 line 1">
            <a:extLst xmlns:a="http://schemas.openxmlformats.org/drawingml/2006/main">
              <a:ext uri="{FF2B5EF4-FFF2-40B4-BE49-F238E27FC236}">
                <a16:creationId xmlns:a16="http://schemas.microsoft.com/office/drawing/2014/main" id="{D176C146-09CC-44AC-A7BF-838152FC9D6A}"/>
              </a:ext>
            </a:extLst>
          </p:cNvPr>
          <p:cNvSpPr>
            <a:spLocks xmlns:a="http://schemas.openxmlformats.org/drawingml/2006/main" noGrp="1"/>
          </p:cNvSpPr>
          <p:nvPr/>
        </p:nvSpPr>
        <p:spPr>
          <a:xfrm xmlns:a="http://schemas.openxmlformats.org/drawingml/2006/main" rot="0">
            <a:off x="12301362" y="5282154"/>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Bio-Techne · TECH</a:t>
            </a:r>
          </a:p>
        </p:txBody>
      </p:sp>
      <p:sp>
        <p:nvSpPr>
          <p:cNvPr id="51" name="Figure 12 label 39 line 2">
            <a:extLst xmlns:a="http://schemas.openxmlformats.org/drawingml/2006/main">
              <a:ext uri="{FF2B5EF4-FFF2-40B4-BE49-F238E27FC236}">
                <a16:creationId xmlns:a16="http://schemas.microsoft.com/office/drawing/2014/main" id="{63D95494-BCE0-427E-80E7-671C6FAD5D42}"/>
              </a:ext>
            </a:extLst>
          </p:cNvPr>
          <p:cNvSpPr>
            <a:spLocks xmlns:a="http://schemas.openxmlformats.org/drawingml/2006/main" noGrp="1"/>
          </p:cNvSpPr>
          <p:nvPr/>
        </p:nvSpPr>
        <p:spPr>
          <a:xfrm xmlns:a="http://schemas.openxmlformats.org/drawingml/2006/main" rot="0">
            <a:off x="12301362" y="5436459"/>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Thermo Fisher · TMO</a:t>
            </a:r>
          </a:p>
        </p:txBody>
      </p:sp>
      <p:sp>
        <p:nvSpPr>
          <p:cNvPr id="52" name="Figure 12 label 40 line 1">
            <a:extLst xmlns:a="http://schemas.openxmlformats.org/drawingml/2006/main">
              <a:ext uri="{FF2B5EF4-FFF2-40B4-BE49-F238E27FC236}">
                <a16:creationId xmlns:a16="http://schemas.microsoft.com/office/drawing/2014/main" id="{45D48A00-376E-455C-8A77-52FC5F95FB4F}"/>
              </a:ext>
            </a:extLst>
          </p:cNvPr>
          <p:cNvSpPr>
            <a:spLocks xmlns:a="http://schemas.openxmlformats.org/drawingml/2006/main" noGrp="1"/>
          </p:cNvSpPr>
          <p:nvPr/>
        </p:nvSpPr>
        <p:spPr>
          <a:xfrm xmlns:a="http://schemas.openxmlformats.org/drawingml/2006/main" rot="0">
            <a:off x="14599615" y="2934310"/>
            <a:ext cx="2364176"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Cells &amp; culture systems</a:t>
            </a:r>
          </a:p>
        </p:txBody>
      </p:sp>
      <p:sp>
        <p:nvSpPr>
          <p:cNvPr id="53" name="Figure 12 label 41 line 1">
            <a:extLst xmlns:a="http://schemas.openxmlformats.org/drawingml/2006/main">
              <a:ext uri="{FF2B5EF4-FFF2-40B4-BE49-F238E27FC236}">
                <a16:creationId xmlns:a16="http://schemas.microsoft.com/office/drawing/2014/main" id="{AD6F04C0-9F2C-4C27-96D7-38D4D471C7CC}"/>
              </a:ext>
            </a:extLst>
          </p:cNvPr>
          <p:cNvSpPr>
            <a:spLocks xmlns:a="http://schemas.openxmlformats.org/drawingml/2006/main" noGrp="1"/>
          </p:cNvSpPr>
          <p:nvPr/>
        </p:nvSpPr>
        <p:spPr>
          <a:xfrm xmlns:a="http://schemas.openxmlformats.org/drawingml/2006/main" rot="0">
            <a:off x="14189659" y="3323692"/>
            <a:ext cx="2283452"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Cell models, media, feeds</a:t>
            </a:r>
          </a:p>
        </p:txBody>
      </p:sp>
      <p:sp>
        <p:nvSpPr>
          <p:cNvPr id="54" name="Figure 12 label 41 line 2">
            <a:extLst xmlns:a="http://schemas.openxmlformats.org/drawingml/2006/main">
              <a:ext uri="{FF2B5EF4-FFF2-40B4-BE49-F238E27FC236}">
                <a16:creationId xmlns:a16="http://schemas.microsoft.com/office/drawing/2014/main" id="{B0712A48-8BB0-445B-9165-E94B9646DE97}"/>
              </a:ext>
            </a:extLst>
          </p:cNvPr>
          <p:cNvSpPr>
            <a:spLocks xmlns:a="http://schemas.openxmlformats.org/drawingml/2006/main" noGrp="1"/>
          </p:cNvSpPr>
          <p:nvPr/>
        </p:nvSpPr>
        <p:spPr>
          <a:xfrm xmlns:a="http://schemas.openxmlformats.org/drawingml/2006/main" rot="0">
            <a:off x="14189659" y="3523717"/>
            <a:ext cx="2283452"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Bioreactors and cell expansion</a:t>
            </a:r>
          </a:p>
        </p:txBody>
      </p:sp>
      <p:sp>
        <p:nvSpPr>
          <p:cNvPr id="55" name="Figure 12 label 42 line 1">
            <a:extLst xmlns:a="http://schemas.openxmlformats.org/drawingml/2006/main">
              <a:ext uri="{FF2B5EF4-FFF2-40B4-BE49-F238E27FC236}">
                <a16:creationId xmlns:a16="http://schemas.microsoft.com/office/drawing/2014/main" id="{A9CE56D2-EF36-4B76-AFE0-9FA85E078C4F}"/>
              </a:ext>
            </a:extLst>
          </p:cNvPr>
          <p:cNvSpPr>
            <a:spLocks xmlns:a="http://schemas.openxmlformats.org/drawingml/2006/main" noGrp="1"/>
          </p:cNvSpPr>
          <p:nvPr/>
        </p:nvSpPr>
        <p:spPr>
          <a:xfrm xmlns:a="http://schemas.openxmlformats.org/drawingml/2006/main" rot="0">
            <a:off x="14186611" y="3771747"/>
            <a:ext cx="193858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Source pending</a:t>
            </a:r>
          </a:p>
        </p:txBody>
      </p:sp>
      <p:sp>
        <p:nvSpPr>
          <p:cNvPr id="56" name="Figure 12 label 43 line 1">
            <a:extLst xmlns:a="http://schemas.openxmlformats.org/drawingml/2006/main">
              <a:ext uri="{FF2B5EF4-FFF2-40B4-BE49-F238E27FC236}">
                <a16:creationId xmlns:a16="http://schemas.microsoft.com/office/drawing/2014/main" id="{FEFB7E50-9E15-4093-A05B-7944C59110FB}"/>
              </a:ext>
            </a:extLst>
          </p:cNvPr>
          <p:cNvSpPr>
            <a:spLocks xmlns:a="http://schemas.openxmlformats.org/drawingml/2006/main" noGrp="1"/>
          </p:cNvSpPr>
          <p:nvPr/>
        </p:nvSpPr>
        <p:spPr>
          <a:xfrm xmlns:a="http://schemas.openxmlformats.org/drawingml/2006/main" rot="0">
            <a:off x="14190726" y="4195953"/>
            <a:ext cx="220375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bioprocess media [3]</a:t>
            </a:r>
          </a:p>
        </p:txBody>
      </p:sp>
      <p:sp>
        <p:nvSpPr>
          <p:cNvPr id="57" name="Figure 12 label 44 line 1">
            <a:extLst xmlns:a="http://schemas.openxmlformats.org/drawingml/2006/main">
              <a:ext uri="{FF2B5EF4-FFF2-40B4-BE49-F238E27FC236}">
                <a16:creationId xmlns:a16="http://schemas.microsoft.com/office/drawing/2014/main" id="{2530B1DA-DB86-4047-9433-460ED8347408}"/>
              </a:ext>
            </a:extLst>
          </p:cNvPr>
          <p:cNvSpPr>
            <a:spLocks xmlns:a="http://schemas.openxmlformats.org/drawingml/2006/main" noGrp="1"/>
          </p:cNvSpPr>
          <p:nvPr/>
        </p:nvSpPr>
        <p:spPr>
          <a:xfrm xmlns:a="http://schemas.openxmlformats.org/drawingml/2006/main" rot="0">
            <a:off x="14191031" y="4420133"/>
            <a:ext cx="2299561"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Original filing unavailable; TAM withheld</a:t>
            </a:r>
          </a:p>
        </p:txBody>
      </p:sp>
      <p:sp>
        <p:nvSpPr>
          <p:cNvPr id="58" name="Figure 12 label 45 line 1">
            <a:extLst xmlns:a="http://schemas.openxmlformats.org/drawingml/2006/main">
              <a:ext uri="{FF2B5EF4-FFF2-40B4-BE49-F238E27FC236}">
                <a16:creationId xmlns:a16="http://schemas.microsoft.com/office/drawing/2014/main" id="{EE15EBAE-2157-410C-B0FD-BC1C53684281}"/>
              </a:ext>
            </a:extLst>
          </p:cNvPr>
          <p:cNvSpPr>
            <a:spLocks xmlns:a="http://schemas.openxmlformats.org/drawingml/2006/main" noGrp="1"/>
          </p:cNvSpPr>
          <p:nvPr/>
        </p:nvSpPr>
        <p:spPr>
          <a:xfrm xmlns:a="http://schemas.openxmlformats.org/drawingml/2006/main" rot="0">
            <a:off x="14188440" y="4705350"/>
            <a:ext cx="159514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Gibco / HyClone</a:t>
            </a:r>
          </a:p>
        </p:txBody>
      </p:sp>
      <p:sp>
        <p:nvSpPr>
          <p:cNvPr id="59" name="Figure 12 label 46 line 1">
            <a:extLst xmlns:a="http://schemas.openxmlformats.org/drawingml/2006/main">
              <a:ext uri="{FF2B5EF4-FFF2-40B4-BE49-F238E27FC236}">
                <a16:creationId xmlns:a16="http://schemas.microsoft.com/office/drawing/2014/main" id="{61E6ACA5-5B0B-4B81-8FA0-240864B90675}"/>
              </a:ext>
            </a:extLst>
          </p:cNvPr>
          <p:cNvSpPr>
            <a:spLocks xmlns:a="http://schemas.openxmlformats.org/drawingml/2006/main" noGrp="1"/>
          </p:cNvSpPr>
          <p:nvPr/>
        </p:nvSpPr>
        <p:spPr>
          <a:xfrm xmlns:a="http://schemas.openxmlformats.org/drawingml/2006/main" rot="0">
            <a:off x="14191641" y="5066614"/>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60" name="Figure 12 label 47 line 1">
            <a:extLst xmlns:a="http://schemas.openxmlformats.org/drawingml/2006/main">
              <a:ext uri="{FF2B5EF4-FFF2-40B4-BE49-F238E27FC236}">
                <a16:creationId xmlns:a16="http://schemas.microsoft.com/office/drawing/2014/main" id="{DD27B6E4-E46C-4229-8464-3B560BD68CD1}"/>
              </a:ext>
            </a:extLst>
          </p:cNvPr>
          <p:cNvSpPr>
            <a:spLocks xmlns:a="http://schemas.openxmlformats.org/drawingml/2006/main" noGrp="1"/>
          </p:cNvSpPr>
          <p:nvPr/>
        </p:nvSpPr>
        <p:spPr>
          <a:xfrm xmlns:a="http://schemas.openxmlformats.org/drawingml/2006/main" rot="0">
            <a:off x="15830093" y="506821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61" name="Figure 12 label 48 line 1">
            <a:extLst xmlns:a="http://schemas.openxmlformats.org/drawingml/2006/main">
              <a:ext uri="{FF2B5EF4-FFF2-40B4-BE49-F238E27FC236}">
                <a16:creationId xmlns:a16="http://schemas.microsoft.com/office/drawing/2014/main" id="{EB0928F0-5E8A-487E-9E1D-F7802C32BA67}"/>
              </a:ext>
            </a:extLst>
          </p:cNvPr>
          <p:cNvSpPr>
            <a:spLocks xmlns:a="http://schemas.openxmlformats.org/drawingml/2006/main" noGrp="1"/>
          </p:cNvSpPr>
          <p:nvPr/>
        </p:nvSpPr>
        <p:spPr>
          <a:xfrm xmlns:a="http://schemas.openxmlformats.org/drawingml/2006/main" rot="0">
            <a:off x="14190879" y="5279594"/>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OPM · 688293.SH</a:t>
            </a:r>
          </a:p>
        </p:txBody>
      </p:sp>
      <p:sp>
        <p:nvSpPr>
          <p:cNvPr id="62" name="Figure 12 label 48 line 2">
            <a:extLst xmlns:a="http://schemas.openxmlformats.org/drawingml/2006/main">
              <a:ext uri="{FF2B5EF4-FFF2-40B4-BE49-F238E27FC236}">
                <a16:creationId xmlns:a16="http://schemas.microsoft.com/office/drawing/2014/main" id="{454BBE36-F1FA-47C7-92E8-CE78FBEB6BDE}"/>
              </a:ext>
            </a:extLst>
          </p:cNvPr>
          <p:cNvSpPr>
            <a:spLocks xmlns:a="http://schemas.openxmlformats.org/drawingml/2006/main" noGrp="1"/>
          </p:cNvSpPr>
          <p:nvPr/>
        </p:nvSpPr>
        <p:spPr>
          <a:xfrm xmlns:a="http://schemas.openxmlformats.org/drawingml/2006/main" rot="0">
            <a:off x="14190879" y="5441519"/>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ACRO · 301080.SZ</a:t>
            </a:r>
          </a:p>
        </p:txBody>
      </p:sp>
      <p:sp>
        <p:nvSpPr>
          <p:cNvPr id="63" name="Figure 12 label 49 line 1">
            <a:extLst xmlns:a="http://schemas.openxmlformats.org/drawingml/2006/main">
              <a:ext uri="{FF2B5EF4-FFF2-40B4-BE49-F238E27FC236}">
                <a16:creationId xmlns:a16="http://schemas.microsoft.com/office/drawing/2014/main" id="{AE29CAAF-9F45-40EE-83F1-2BDE7507CACF}"/>
              </a:ext>
            </a:extLst>
          </p:cNvPr>
          <p:cNvSpPr>
            <a:spLocks xmlns:a="http://schemas.openxmlformats.org/drawingml/2006/main" noGrp="1"/>
          </p:cNvSpPr>
          <p:nvPr/>
        </p:nvSpPr>
        <p:spPr>
          <a:xfrm xmlns:a="http://schemas.openxmlformats.org/drawingml/2006/main" rot="0">
            <a:off x="15829422" y="5282154"/>
            <a:ext cx="1376680"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Gibco / Thermo · TMO</a:t>
            </a:r>
          </a:p>
        </p:txBody>
      </p:sp>
      <p:sp>
        <p:nvSpPr>
          <p:cNvPr id="64" name="Figure 12 label 49 line 2">
            <a:extLst xmlns:a="http://schemas.openxmlformats.org/drawingml/2006/main">
              <a:ext uri="{FF2B5EF4-FFF2-40B4-BE49-F238E27FC236}">
                <a16:creationId xmlns:a16="http://schemas.microsoft.com/office/drawing/2014/main" id="{006CC87F-FBD9-4257-B53E-E17676A71731}"/>
              </a:ext>
            </a:extLst>
          </p:cNvPr>
          <p:cNvSpPr>
            <a:spLocks xmlns:a="http://schemas.openxmlformats.org/drawingml/2006/main" noGrp="1"/>
          </p:cNvSpPr>
          <p:nvPr/>
        </p:nvSpPr>
        <p:spPr>
          <a:xfrm xmlns:a="http://schemas.openxmlformats.org/drawingml/2006/main" rot="0">
            <a:off x="15829422" y="5436459"/>
            <a:ext cx="1376680"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Cytiva / HyClone · DHR</a:t>
            </a:r>
          </a:p>
        </p:txBody>
      </p:sp>
      <p:sp>
        <p:nvSpPr>
          <p:cNvPr id="65" name="Figure 12 label 50 line 1">
            <a:extLst xmlns:a="http://schemas.openxmlformats.org/drawingml/2006/main">
              <a:ext uri="{FF2B5EF4-FFF2-40B4-BE49-F238E27FC236}">
                <a16:creationId xmlns:a16="http://schemas.microsoft.com/office/drawing/2014/main" id="{968432CE-3330-4730-9E8C-7DC4D6EA286B}"/>
              </a:ext>
            </a:extLst>
          </p:cNvPr>
          <p:cNvSpPr>
            <a:spLocks xmlns:a="http://schemas.openxmlformats.org/drawingml/2006/main" noGrp="1"/>
          </p:cNvSpPr>
          <p:nvPr/>
        </p:nvSpPr>
        <p:spPr>
          <a:xfrm xmlns:a="http://schemas.openxmlformats.org/drawingml/2006/main" rot="0">
            <a:off x="7543495" y="6111850"/>
            <a:ext cx="2749046"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Labware &amp; sample handling</a:t>
            </a:r>
          </a:p>
        </p:txBody>
      </p:sp>
      <p:sp>
        <p:nvSpPr>
          <p:cNvPr id="66" name="Figure 12 label 51 line 1">
            <a:extLst xmlns:a="http://schemas.openxmlformats.org/drawingml/2006/main">
              <a:ext uri="{FF2B5EF4-FFF2-40B4-BE49-F238E27FC236}">
                <a16:creationId xmlns:a16="http://schemas.microsoft.com/office/drawing/2014/main" id="{842C80FB-191E-443B-A8DA-E7E3D62EF33C}"/>
              </a:ext>
            </a:extLst>
          </p:cNvPr>
          <p:cNvSpPr>
            <a:spLocks xmlns:a="http://schemas.openxmlformats.org/drawingml/2006/main" noGrp="1"/>
          </p:cNvSpPr>
          <p:nvPr/>
        </p:nvSpPr>
        <p:spPr>
          <a:xfrm xmlns:a="http://schemas.openxmlformats.org/drawingml/2006/main" rot="0">
            <a:off x="7133540" y="6501232"/>
            <a:ext cx="234551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Tips, plates, tubes, filtration</a:t>
            </a:r>
          </a:p>
        </p:txBody>
      </p:sp>
      <p:sp>
        <p:nvSpPr>
          <p:cNvPr id="67" name="Figure 12 label 51 line 2">
            <a:extLst xmlns:a="http://schemas.openxmlformats.org/drawingml/2006/main">
              <a:ext uri="{FF2B5EF4-FFF2-40B4-BE49-F238E27FC236}">
                <a16:creationId xmlns:a16="http://schemas.microsoft.com/office/drawing/2014/main" id="{FDEB08C6-1DAC-4901-8E91-0A80EFA40CD6}"/>
              </a:ext>
            </a:extLst>
          </p:cNvPr>
          <p:cNvSpPr>
            <a:spLocks xmlns:a="http://schemas.openxmlformats.org/drawingml/2006/main" noGrp="1"/>
          </p:cNvSpPr>
          <p:nvPr/>
        </p:nvSpPr>
        <p:spPr>
          <a:xfrm xmlns:a="http://schemas.openxmlformats.org/drawingml/2006/main" rot="0">
            <a:off x="7133540" y="6701257"/>
            <a:ext cx="234551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Automation-compatible labware</a:t>
            </a:r>
          </a:p>
        </p:txBody>
      </p:sp>
      <p:sp>
        <p:nvSpPr>
          <p:cNvPr id="68" name="Figure 12 label 52 line 1">
            <a:extLst xmlns:a="http://schemas.openxmlformats.org/drawingml/2006/main">
              <a:ext uri="{FF2B5EF4-FFF2-40B4-BE49-F238E27FC236}">
                <a16:creationId xmlns:a16="http://schemas.microsoft.com/office/drawing/2014/main" id="{1EED7EBC-47A1-49A7-BE7E-A240D5F79516}"/>
              </a:ext>
            </a:extLst>
          </p:cNvPr>
          <p:cNvSpPr>
            <a:spLocks xmlns:a="http://schemas.openxmlformats.org/drawingml/2006/main" noGrp="1"/>
          </p:cNvSpPr>
          <p:nvPr/>
        </p:nvSpPr>
        <p:spPr>
          <a:xfrm xmlns:a="http://schemas.openxmlformats.org/drawingml/2006/main" rot="0">
            <a:off x="7128663" y="6930085"/>
            <a:ext cx="172646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~RMB 23bn</a:t>
            </a:r>
          </a:p>
        </p:txBody>
      </p:sp>
      <p:sp>
        <p:nvSpPr>
          <p:cNvPr id="69" name="Figure 12 label 53 line 1">
            <a:extLst xmlns:a="http://schemas.openxmlformats.org/drawingml/2006/main">
              <a:ext uri="{FF2B5EF4-FFF2-40B4-BE49-F238E27FC236}">
                <a16:creationId xmlns:a16="http://schemas.microsoft.com/office/drawing/2014/main" id="{279A2CB5-1497-41BD-AEB4-2D3BBB7D8701}"/>
              </a:ext>
            </a:extLst>
          </p:cNvPr>
          <p:cNvSpPr>
            <a:spLocks xmlns:a="http://schemas.openxmlformats.org/drawingml/2006/main" noGrp="1"/>
          </p:cNvSpPr>
          <p:nvPr/>
        </p:nvSpPr>
        <p:spPr>
          <a:xfrm xmlns:a="http://schemas.openxmlformats.org/drawingml/2006/main" rot="0">
            <a:off x="7134607" y="7373493"/>
            <a:ext cx="204064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plastic labware [4]</a:t>
            </a:r>
          </a:p>
        </p:txBody>
      </p:sp>
      <p:sp>
        <p:nvSpPr>
          <p:cNvPr id="70" name="Figure 12 label 54 line 1">
            <a:extLst xmlns:a="http://schemas.openxmlformats.org/drawingml/2006/main">
              <a:ext uri="{FF2B5EF4-FFF2-40B4-BE49-F238E27FC236}">
                <a16:creationId xmlns:a16="http://schemas.microsoft.com/office/drawing/2014/main" id="{98994EF0-F498-4A4B-BF06-E3F4E840E544}"/>
              </a:ext>
            </a:extLst>
          </p:cNvPr>
          <p:cNvSpPr>
            <a:spLocks xmlns:a="http://schemas.openxmlformats.org/drawingml/2006/main" noGrp="1"/>
          </p:cNvSpPr>
          <p:nvPr/>
        </p:nvSpPr>
        <p:spPr>
          <a:xfrm xmlns:a="http://schemas.openxmlformats.org/drawingml/2006/main" rot="0">
            <a:off x="7134911" y="7597674"/>
            <a:ext cx="2045660"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Includes clinical and industrial uses</a:t>
            </a:r>
          </a:p>
        </p:txBody>
      </p:sp>
      <p:sp>
        <p:nvSpPr>
          <p:cNvPr id="71" name="Figure 12 label 55 line 1">
            <a:extLst xmlns:a="http://schemas.openxmlformats.org/drawingml/2006/main">
              <a:ext uri="{FF2B5EF4-FFF2-40B4-BE49-F238E27FC236}">
                <a16:creationId xmlns:a16="http://schemas.microsoft.com/office/drawing/2014/main" id="{84D4BAED-CAD4-45A7-9FB3-EA78686D6C77}"/>
              </a:ext>
            </a:extLst>
          </p:cNvPr>
          <p:cNvSpPr>
            <a:spLocks xmlns:a="http://schemas.openxmlformats.org/drawingml/2006/main" noGrp="1"/>
          </p:cNvSpPr>
          <p:nvPr/>
        </p:nvSpPr>
        <p:spPr>
          <a:xfrm xmlns:a="http://schemas.openxmlformats.org/drawingml/2006/main" rot="0">
            <a:off x="7135521" y="8244155"/>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72" name="Figure 12 label 56 line 1">
            <a:extLst xmlns:a="http://schemas.openxmlformats.org/drawingml/2006/main">
              <a:ext uri="{FF2B5EF4-FFF2-40B4-BE49-F238E27FC236}">
                <a16:creationId xmlns:a16="http://schemas.microsoft.com/office/drawing/2014/main" id="{D8146DD8-9C72-49D8-A33D-5AD716B3D6ED}"/>
              </a:ext>
            </a:extLst>
          </p:cNvPr>
          <p:cNvSpPr>
            <a:spLocks xmlns:a="http://schemas.openxmlformats.org/drawingml/2006/main" noGrp="1"/>
          </p:cNvSpPr>
          <p:nvPr/>
        </p:nvSpPr>
        <p:spPr>
          <a:xfrm xmlns:a="http://schemas.openxmlformats.org/drawingml/2006/main" rot="0">
            <a:off x="8773973" y="824575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73" name="Figure 12 label 57 line 1">
            <a:extLst xmlns:a="http://schemas.openxmlformats.org/drawingml/2006/main">
              <a:ext uri="{FF2B5EF4-FFF2-40B4-BE49-F238E27FC236}">
                <a16:creationId xmlns:a16="http://schemas.microsoft.com/office/drawing/2014/main" id="{0C2B9C43-181B-438A-95A8-5A0C83CBD805}"/>
              </a:ext>
            </a:extLst>
          </p:cNvPr>
          <p:cNvSpPr>
            <a:spLocks xmlns:a="http://schemas.openxmlformats.org/drawingml/2006/main" noGrp="1"/>
          </p:cNvSpPr>
          <p:nvPr/>
        </p:nvSpPr>
        <p:spPr>
          <a:xfrm xmlns:a="http://schemas.openxmlformats.org/drawingml/2006/main" rot="0">
            <a:off x="7134759" y="8457134"/>
            <a:ext cx="150312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JET Biofil · 688026.SH</a:t>
            </a:r>
          </a:p>
        </p:txBody>
      </p:sp>
      <p:sp>
        <p:nvSpPr>
          <p:cNvPr id="74" name="Figure 12 label 57 line 2">
            <a:extLst xmlns:a="http://schemas.openxmlformats.org/drawingml/2006/main">
              <a:ext uri="{FF2B5EF4-FFF2-40B4-BE49-F238E27FC236}">
                <a16:creationId xmlns:a16="http://schemas.microsoft.com/office/drawing/2014/main" id="{EB86B3AA-255E-424F-B453-B42A6539EF5B}"/>
              </a:ext>
            </a:extLst>
          </p:cNvPr>
          <p:cNvSpPr>
            <a:spLocks xmlns:a="http://schemas.openxmlformats.org/drawingml/2006/main" noGrp="1"/>
          </p:cNvSpPr>
          <p:nvPr/>
        </p:nvSpPr>
        <p:spPr>
          <a:xfrm xmlns:a="http://schemas.openxmlformats.org/drawingml/2006/main" rot="0">
            <a:off x="7134759" y="8619059"/>
            <a:ext cx="150312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Changhong · 300151.SZ</a:t>
            </a:r>
          </a:p>
        </p:txBody>
      </p:sp>
      <p:sp>
        <p:nvSpPr>
          <p:cNvPr id="75" name="Figure 12 label 58 line 1">
            <a:extLst xmlns:a="http://schemas.openxmlformats.org/drawingml/2006/main">
              <a:ext uri="{FF2B5EF4-FFF2-40B4-BE49-F238E27FC236}">
                <a16:creationId xmlns:a16="http://schemas.microsoft.com/office/drawing/2014/main" id="{FB729C5F-0F68-426B-AA35-F57423F67812}"/>
              </a:ext>
            </a:extLst>
          </p:cNvPr>
          <p:cNvSpPr>
            <a:spLocks xmlns:a="http://schemas.openxmlformats.org/drawingml/2006/main" noGrp="1"/>
          </p:cNvSpPr>
          <p:nvPr/>
        </p:nvSpPr>
        <p:spPr>
          <a:xfrm xmlns:a="http://schemas.openxmlformats.org/drawingml/2006/main" rot="0">
            <a:off x="8773302" y="8459694"/>
            <a:ext cx="894328"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Corning · GLW</a:t>
            </a:r>
          </a:p>
        </p:txBody>
      </p:sp>
      <p:sp>
        <p:nvSpPr>
          <p:cNvPr id="76" name="Figure 12 label 58 line 2">
            <a:extLst xmlns:a="http://schemas.openxmlformats.org/drawingml/2006/main">
              <a:ext uri="{FF2B5EF4-FFF2-40B4-BE49-F238E27FC236}">
                <a16:creationId xmlns:a16="http://schemas.microsoft.com/office/drawing/2014/main" id="{C2DB10E3-A7E0-45D3-8213-31E3A04C977C}"/>
              </a:ext>
            </a:extLst>
          </p:cNvPr>
          <p:cNvSpPr>
            <a:spLocks xmlns:a="http://schemas.openxmlformats.org/drawingml/2006/main" noGrp="1"/>
          </p:cNvSpPr>
          <p:nvPr/>
        </p:nvSpPr>
        <p:spPr>
          <a:xfrm xmlns:a="http://schemas.openxmlformats.org/drawingml/2006/main" rot="0">
            <a:off x="8773302" y="8613999"/>
            <a:ext cx="894328"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BD · BDX</a:t>
            </a:r>
          </a:p>
        </p:txBody>
      </p:sp>
      <p:sp>
        <p:nvSpPr>
          <p:cNvPr id="77" name="Figure 12 label 59 line 1">
            <a:extLst xmlns:a="http://schemas.openxmlformats.org/drawingml/2006/main">
              <a:ext uri="{FF2B5EF4-FFF2-40B4-BE49-F238E27FC236}">
                <a16:creationId xmlns:a16="http://schemas.microsoft.com/office/drawing/2014/main" id="{D0E1717A-D65D-4AC0-A5DD-5A1CF3B6CFEF}"/>
              </a:ext>
            </a:extLst>
          </p:cNvPr>
          <p:cNvSpPr>
            <a:spLocks xmlns:a="http://schemas.openxmlformats.org/drawingml/2006/main" noGrp="1"/>
          </p:cNvSpPr>
          <p:nvPr/>
        </p:nvSpPr>
        <p:spPr>
          <a:xfrm xmlns:a="http://schemas.openxmlformats.org/drawingml/2006/main" rot="0">
            <a:off x="11071556" y="6111850"/>
            <a:ext cx="250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Measurement &amp; analytics</a:t>
            </a:r>
          </a:p>
        </p:txBody>
      </p:sp>
      <p:sp>
        <p:nvSpPr>
          <p:cNvPr id="78" name="Figure 12 label 60 line 1">
            <a:extLst xmlns:a="http://schemas.openxmlformats.org/drawingml/2006/main">
              <a:ext uri="{FF2B5EF4-FFF2-40B4-BE49-F238E27FC236}">
                <a16:creationId xmlns:a16="http://schemas.microsoft.com/office/drawing/2014/main" id="{A9ABA819-0C0C-4517-B88D-79DCAF721BD4}"/>
              </a:ext>
            </a:extLst>
          </p:cNvPr>
          <p:cNvSpPr>
            <a:spLocks xmlns:a="http://schemas.openxmlformats.org/drawingml/2006/main" noGrp="1"/>
          </p:cNvSpPr>
          <p:nvPr/>
        </p:nvSpPr>
        <p:spPr>
          <a:xfrm xmlns:a="http://schemas.openxmlformats.org/drawingml/2006/main" rot="0">
            <a:off x="10661599" y="6501232"/>
            <a:ext cx="224758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Sequencing, LC / LC-MS, flow</a:t>
            </a:r>
          </a:p>
        </p:txBody>
      </p:sp>
      <p:sp>
        <p:nvSpPr>
          <p:cNvPr id="79" name="Figure 12 label 60 line 2">
            <a:extLst xmlns:a="http://schemas.openxmlformats.org/drawingml/2006/main">
              <a:ext uri="{FF2B5EF4-FFF2-40B4-BE49-F238E27FC236}">
                <a16:creationId xmlns:a16="http://schemas.microsoft.com/office/drawing/2014/main" id="{BF603D75-1FE0-4927-B52B-B7A567D12C0B}"/>
              </a:ext>
            </a:extLst>
          </p:cNvPr>
          <p:cNvSpPr>
            <a:spLocks xmlns:a="http://schemas.openxmlformats.org/drawingml/2006/main" noGrp="1"/>
          </p:cNvSpPr>
          <p:nvPr/>
        </p:nvSpPr>
        <p:spPr>
          <a:xfrm xmlns:a="http://schemas.openxmlformats.org/drawingml/2006/main" rot="0">
            <a:off x="10661599" y="6701257"/>
            <a:ext cx="224758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Imaging and quality control</a:t>
            </a:r>
          </a:p>
        </p:txBody>
      </p:sp>
      <p:sp>
        <p:nvSpPr>
          <p:cNvPr id="80" name="Figure 12 label 61 line 1">
            <a:extLst xmlns:a="http://schemas.openxmlformats.org/drawingml/2006/main">
              <a:ext uri="{FF2B5EF4-FFF2-40B4-BE49-F238E27FC236}">
                <a16:creationId xmlns:a16="http://schemas.microsoft.com/office/drawing/2014/main" id="{56EDF9DB-2801-4604-B767-9B322C39918F}"/>
              </a:ext>
            </a:extLst>
          </p:cNvPr>
          <p:cNvSpPr>
            <a:spLocks xmlns:a="http://schemas.openxmlformats.org/drawingml/2006/main" noGrp="1"/>
          </p:cNvSpPr>
          <p:nvPr/>
        </p:nvSpPr>
        <p:spPr>
          <a:xfrm xmlns:a="http://schemas.openxmlformats.org/drawingml/2006/main" rot="0">
            <a:off x="10656723" y="6930085"/>
            <a:ext cx="164014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RMB 4.3bn</a:t>
            </a:r>
          </a:p>
        </p:txBody>
      </p:sp>
      <p:sp>
        <p:nvSpPr>
          <p:cNvPr id="81" name="Figure 12 label 62 line 1">
            <a:extLst xmlns:a="http://schemas.openxmlformats.org/drawingml/2006/main">
              <a:ext uri="{FF2B5EF4-FFF2-40B4-BE49-F238E27FC236}">
                <a16:creationId xmlns:a16="http://schemas.microsoft.com/office/drawing/2014/main" id="{4A50D883-FE22-42CB-A61D-8DB0D470418F}"/>
              </a:ext>
            </a:extLst>
          </p:cNvPr>
          <p:cNvSpPr>
            <a:spLocks xmlns:a="http://schemas.openxmlformats.org/drawingml/2006/main" noGrp="1"/>
          </p:cNvSpPr>
          <p:nvPr/>
        </p:nvSpPr>
        <p:spPr>
          <a:xfrm xmlns:a="http://schemas.openxmlformats.org/drawingml/2006/main" rot="0">
            <a:off x="10662666" y="7373493"/>
            <a:ext cx="2159556"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sequencing tools [5]</a:t>
            </a:r>
          </a:p>
        </p:txBody>
      </p:sp>
      <p:sp>
        <p:nvSpPr>
          <p:cNvPr id="82" name="Figure 12 label 63 line 1">
            <a:extLst xmlns:a="http://schemas.openxmlformats.org/drawingml/2006/main">
              <a:ext uri="{FF2B5EF4-FFF2-40B4-BE49-F238E27FC236}">
                <a16:creationId xmlns:a16="http://schemas.microsoft.com/office/drawing/2014/main" id="{6176DE49-1A65-4064-A8B7-7E5801C9F499}"/>
              </a:ext>
            </a:extLst>
          </p:cNvPr>
          <p:cNvSpPr>
            <a:spLocks xmlns:a="http://schemas.openxmlformats.org/drawingml/2006/main" noGrp="1"/>
          </p:cNvSpPr>
          <p:nvPr/>
        </p:nvSpPr>
        <p:spPr>
          <a:xfrm xmlns:a="http://schemas.openxmlformats.org/drawingml/2006/main" rot="0">
            <a:off x="10662971" y="7597674"/>
            <a:ext cx="2360581"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Sequencing subset; 2024 policy baseline</a:t>
            </a:r>
          </a:p>
        </p:txBody>
      </p:sp>
      <p:sp>
        <p:nvSpPr>
          <p:cNvPr id="83" name="Figure 12 label 64 line 1">
            <a:extLst xmlns:a="http://schemas.openxmlformats.org/drawingml/2006/main">
              <a:ext uri="{FF2B5EF4-FFF2-40B4-BE49-F238E27FC236}">
                <a16:creationId xmlns:a16="http://schemas.microsoft.com/office/drawing/2014/main" id="{C8D0B3A8-9842-471F-BC48-EEF643A4EC10}"/>
              </a:ext>
            </a:extLst>
          </p:cNvPr>
          <p:cNvSpPr>
            <a:spLocks xmlns:a="http://schemas.openxmlformats.org/drawingml/2006/main" noGrp="1"/>
          </p:cNvSpPr>
          <p:nvPr/>
        </p:nvSpPr>
        <p:spPr>
          <a:xfrm xmlns:a="http://schemas.openxmlformats.org/drawingml/2006/main" rot="0">
            <a:off x="11758271" y="7912151"/>
            <a:ext cx="151275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BD flow → WAT†</a:t>
            </a:r>
          </a:p>
        </p:txBody>
      </p:sp>
      <p:sp>
        <p:nvSpPr>
          <p:cNvPr id="84" name="Figure 12 label 65 line 1">
            <a:extLst xmlns:a="http://schemas.openxmlformats.org/drawingml/2006/main">
              <a:ext uri="{FF2B5EF4-FFF2-40B4-BE49-F238E27FC236}">
                <a16:creationId xmlns:a16="http://schemas.microsoft.com/office/drawing/2014/main" id="{AFC2EB32-A13C-437D-B737-C2C3FC7BFD78}"/>
              </a:ext>
            </a:extLst>
          </p:cNvPr>
          <p:cNvSpPr>
            <a:spLocks xmlns:a="http://schemas.openxmlformats.org/drawingml/2006/main" noGrp="1"/>
          </p:cNvSpPr>
          <p:nvPr/>
        </p:nvSpPr>
        <p:spPr>
          <a:xfrm xmlns:a="http://schemas.openxmlformats.org/drawingml/2006/main" rot="0">
            <a:off x="10663581" y="8244155"/>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85" name="Figure 12 label 66 line 1">
            <a:extLst xmlns:a="http://schemas.openxmlformats.org/drawingml/2006/main">
              <a:ext uri="{FF2B5EF4-FFF2-40B4-BE49-F238E27FC236}">
                <a16:creationId xmlns:a16="http://schemas.microsoft.com/office/drawing/2014/main" id="{0002B904-86DA-4D30-96C1-A0D3B6EE27ED}"/>
              </a:ext>
            </a:extLst>
          </p:cNvPr>
          <p:cNvSpPr>
            <a:spLocks xmlns:a="http://schemas.openxmlformats.org/drawingml/2006/main" noGrp="1"/>
          </p:cNvSpPr>
          <p:nvPr/>
        </p:nvSpPr>
        <p:spPr>
          <a:xfrm xmlns:a="http://schemas.openxmlformats.org/drawingml/2006/main" rot="0">
            <a:off x="12302033" y="824575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86" name="Figure 12 label 67 line 1">
            <a:extLst xmlns:a="http://schemas.openxmlformats.org/drawingml/2006/main">
              <a:ext uri="{FF2B5EF4-FFF2-40B4-BE49-F238E27FC236}">
                <a16:creationId xmlns:a16="http://schemas.microsoft.com/office/drawing/2014/main" id="{ED5E262D-43E1-4ACE-B589-056645A53C9D}"/>
              </a:ext>
            </a:extLst>
          </p:cNvPr>
          <p:cNvSpPr>
            <a:spLocks xmlns:a="http://schemas.openxmlformats.org/drawingml/2006/main" noGrp="1"/>
          </p:cNvSpPr>
          <p:nvPr/>
        </p:nvSpPr>
        <p:spPr>
          <a:xfrm xmlns:a="http://schemas.openxmlformats.org/drawingml/2006/main" rot="0">
            <a:off x="10662819" y="845713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MGI · 688114.SH</a:t>
            </a:r>
          </a:p>
        </p:txBody>
      </p:sp>
      <p:sp>
        <p:nvSpPr>
          <p:cNvPr id="87" name="Figure 12 label 67 line 2">
            <a:extLst xmlns:a="http://schemas.openxmlformats.org/drawingml/2006/main">
              <a:ext uri="{FF2B5EF4-FFF2-40B4-BE49-F238E27FC236}">
                <a16:creationId xmlns:a16="http://schemas.microsoft.com/office/drawing/2014/main" id="{6ED6C6DB-CA86-4A8C-BB6E-599F9E7DE50A}"/>
              </a:ext>
            </a:extLst>
          </p:cNvPr>
          <p:cNvSpPr>
            <a:spLocks xmlns:a="http://schemas.openxmlformats.org/drawingml/2006/main" noGrp="1"/>
          </p:cNvSpPr>
          <p:nvPr/>
        </p:nvSpPr>
        <p:spPr>
          <a:xfrm xmlns:a="http://schemas.openxmlformats.org/drawingml/2006/main" rot="0">
            <a:off x="10662819" y="8619059"/>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NanoMicro · 688690.SH</a:t>
            </a:r>
          </a:p>
        </p:txBody>
      </p:sp>
      <p:sp>
        <p:nvSpPr>
          <p:cNvPr id="88" name="Figure 12 label 68 line 1">
            <a:extLst xmlns:a="http://schemas.openxmlformats.org/drawingml/2006/main">
              <a:ext uri="{FF2B5EF4-FFF2-40B4-BE49-F238E27FC236}">
                <a16:creationId xmlns:a16="http://schemas.microsoft.com/office/drawing/2014/main" id="{74AB48D5-6361-4F73-8CD2-702E95A1064D}"/>
              </a:ext>
            </a:extLst>
          </p:cNvPr>
          <p:cNvSpPr>
            <a:spLocks xmlns:a="http://schemas.openxmlformats.org/drawingml/2006/main" noGrp="1"/>
          </p:cNvSpPr>
          <p:nvPr/>
        </p:nvSpPr>
        <p:spPr>
          <a:xfrm xmlns:a="http://schemas.openxmlformats.org/drawingml/2006/main" rot="0">
            <a:off x="12301362" y="8459694"/>
            <a:ext cx="91025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Illumina · ILMN</a:t>
            </a:r>
          </a:p>
        </p:txBody>
      </p:sp>
      <p:sp>
        <p:nvSpPr>
          <p:cNvPr id="89" name="Figure 12 label 68 line 2">
            <a:extLst xmlns:a="http://schemas.openxmlformats.org/drawingml/2006/main">
              <a:ext uri="{FF2B5EF4-FFF2-40B4-BE49-F238E27FC236}">
                <a16:creationId xmlns:a16="http://schemas.microsoft.com/office/drawing/2014/main" id="{A430C2F2-9844-4B73-8B95-31FED1AA92CF}"/>
              </a:ext>
            </a:extLst>
          </p:cNvPr>
          <p:cNvSpPr>
            <a:spLocks xmlns:a="http://schemas.openxmlformats.org/drawingml/2006/main" noGrp="1"/>
          </p:cNvSpPr>
          <p:nvPr/>
        </p:nvSpPr>
        <p:spPr>
          <a:xfrm xmlns:a="http://schemas.openxmlformats.org/drawingml/2006/main" rot="0">
            <a:off x="12301362" y="8613999"/>
            <a:ext cx="91025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Agilent · A</a:t>
            </a:r>
          </a:p>
        </p:txBody>
      </p:sp>
      <p:sp>
        <p:nvSpPr>
          <p:cNvPr id="90" name="Figure 12 label 68 line 3">
            <a:extLst xmlns:a="http://schemas.openxmlformats.org/drawingml/2006/main">
              <a:ext uri="{FF2B5EF4-FFF2-40B4-BE49-F238E27FC236}">
                <a16:creationId xmlns:a16="http://schemas.microsoft.com/office/drawing/2014/main" id="{D1CCCE32-B0E6-46AA-B416-0F75B639BBED}"/>
              </a:ext>
            </a:extLst>
          </p:cNvPr>
          <p:cNvSpPr>
            <a:spLocks xmlns:a="http://schemas.openxmlformats.org/drawingml/2006/main" noGrp="1"/>
          </p:cNvSpPr>
          <p:nvPr/>
        </p:nvSpPr>
        <p:spPr>
          <a:xfrm xmlns:a="http://schemas.openxmlformats.org/drawingml/2006/main" rot="0">
            <a:off x="12301362" y="8768304"/>
            <a:ext cx="91025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Waters · WAT†</a:t>
            </a:r>
          </a:p>
        </p:txBody>
      </p:sp>
      <p:sp>
        <p:nvSpPr>
          <p:cNvPr id="91" name="Figure 12 label 69 line 1">
            <a:extLst xmlns:a="http://schemas.openxmlformats.org/drawingml/2006/main">
              <a:ext uri="{FF2B5EF4-FFF2-40B4-BE49-F238E27FC236}">
                <a16:creationId xmlns:a16="http://schemas.microsoft.com/office/drawing/2014/main" id="{BE8E4B01-4900-4963-BF80-8685C5A20F52}"/>
              </a:ext>
            </a:extLst>
          </p:cNvPr>
          <p:cNvSpPr>
            <a:spLocks xmlns:a="http://schemas.openxmlformats.org/drawingml/2006/main" noGrp="1"/>
          </p:cNvSpPr>
          <p:nvPr/>
        </p:nvSpPr>
        <p:spPr>
          <a:xfrm xmlns:a="http://schemas.openxmlformats.org/drawingml/2006/main" rot="0">
            <a:off x="14599615" y="6111850"/>
            <a:ext cx="2275624"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Purification &amp; scale-up</a:t>
            </a:r>
          </a:p>
        </p:txBody>
      </p:sp>
      <p:sp>
        <p:nvSpPr>
          <p:cNvPr id="92" name="Figure 12 label 70 line 1">
            <a:extLst xmlns:a="http://schemas.openxmlformats.org/drawingml/2006/main">
              <a:ext uri="{FF2B5EF4-FFF2-40B4-BE49-F238E27FC236}">
                <a16:creationId xmlns:a16="http://schemas.microsoft.com/office/drawing/2014/main" id="{09743685-8019-4921-A805-E13C95FCD002}"/>
              </a:ext>
            </a:extLst>
          </p:cNvPr>
          <p:cNvSpPr>
            <a:spLocks xmlns:a="http://schemas.openxmlformats.org/drawingml/2006/main" noGrp="1"/>
          </p:cNvSpPr>
          <p:nvPr/>
        </p:nvSpPr>
        <p:spPr>
          <a:xfrm xmlns:a="http://schemas.openxmlformats.org/drawingml/2006/main" rot="0">
            <a:off x="14189659" y="6501232"/>
            <a:ext cx="254985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Analytical columns, process resins</a:t>
            </a:r>
          </a:p>
        </p:txBody>
      </p:sp>
      <p:sp>
        <p:nvSpPr>
          <p:cNvPr id="93" name="Figure 12 label 70 line 2">
            <a:extLst xmlns:a="http://schemas.openxmlformats.org/drawingml/2006/main">
              <a:ext uri="{FF2B5EF4-FFF2-40B4-BE49-F238E27FC236}">
                <a16:creationId xmlns:a16="http://schemas.microsoft.com/office/drawing/2014/main" id="{0B626CFF-612E-4886-82B2-989C39706565}"/>
              </a:ext>
            </a:extLst>
          </p:cNvPr>
          <p:cNvSpPr>
            <a:spLocks xmlns:a="http://schemas.openxmlformats.org/drawingml/2006/main" noGrp="1"/>
          </p:cNvSpPr>
          <p:nvPr/>
        </p:nvSpPr>
        <p:spPr>
          <a:xfrm xmlns:a="http://schemas.openxmlformats.org/drawingml/2006/main" rot="0">
            <a:off x="14189659" y="6701257"/>
            <a:ext cx="254985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Filtration and single-use systems</a:t>
            </a:r>
          </a:p>
        </p:txBody>
      </p:sp>
      <p:sp>
        <p:nvSpPr>
          <p:cNvPr id="94" name="Figure 12 label 71 line 1">
            <a:extLst xmlns:a="http://schemas.openxmlformats.org/drawingml/2006/main">
              <a:ext uri="{FF2B5EF4-FFF2-40B4-BE49-F238E27FC236}">
                <a16:creationId xmlns:a16="http://schemas.microsoft.com/office/drawing/2014/main" id="{3F1B1D9B-857D-4C2E-B97D-AEF277C7E78A}"/>
              </a:ext>
            </a:extLst>
          </p:cNvPr>
          <p:cNvSpPr>
            <a:spLocks xmlns:a="http://schemas.openxmlformats.org/drawingml/2006/main" noGrp="1"/>
          </p:cNvSpPr>
          <p:nvPr/>
        </p:nvSpPr>
        <p:spPr>
          <a:xfrm xmlns:a="http://schemas.openxmlformats.org/drawingml/2006/main" rot="0">
            <a:off x="14186611" y="6949288"/>
            <a:ext cx="193858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Source pending</a:t>
            </a:r>
          </a:p>
        </p:txBody>
      </p:sp>
      <p:sp>
        <p:nvSpPr>
          <p:cNvPr id="95" name="Figure 12 label 72 line 1">
            <a:extLst xmlns:a="http://schemas.openxmlformats.org/drawingml/2006/main">
              <a:ext uri="{FF2B5EF4-FFF2-40B4-BE49-F238E27FC236}">
                <a16:creationId xmlns:a16="http://schemas.microsoft.com/office/drawing/2014/main" id="{DDAA7DD6-7C84-4021-BABB-456495AC28EB}"/>
              </a:ext>
            </a:extLst>
          </p:cNvPr>
          <p:cNvSpPr>
            <a:spLocks xmlns:a="http://schemas.openxmlformats.org/drawingml/2006/main" noGrp="1"/>
          </p:cNvSpPr>
          <p:nvPr/>
        </p:nvSpPr>
        <p:spPr>
          <a:xfrm xmlns:a="http://schemas.openxmlformats.org/drawingml/2006/main" rot="0">
            <a:off x="14190726" y="7373493"/>
            <a:ext cx="2196316"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bioprocess resins [3]</a:t>
            </a:r>
          </a:p>
        </p:txBody>
      </p:sp>
      <p:sp>
        <p:nvSpPr>
          <p:cNvPr id="96" name="Figure 12 label 73 line 1">
            <a:extLst xmlns:a="http://schemas.openxmlformats.org/drawingml/2006/main">
              <a:ext uri="{FF2B5EF4-FFF2-40B4-BE49-F238E27FC236}">
                <a16:creationId xmlns:a16="http://schemas.microsoft.com/office/drawing/2014/main" id="{4CDA6955-3982-43C2-AED3-CDC7EBE06698}"/>
              </a:ext>
            </a:extLst>
          </p:cNvPr>
          <p:cNvSpPr>
            <a:spLocks xmlns:a="http://schemas.openxmlformats.org/drawingml/2006/main" noGrp="1"/>
          </p:cNvSpPr>
          <p:nvPr/>
        </p:nvSpPr>
        <p:spPr>
          <a:xfrm xmlns:a="http://schemas.openxmlformats.org/drawingml/2006/main" rot="0">
            <a:off x="14191031" y="7597674"/>
            <a:ext cx="2299561"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Original filing unavailable; TAM withheld</a:t>
            </a:r>
          </a:p>
        </p:txBody>
      </p:sp>
      <p:sp>
        <p:nvSpPr>
          <p:cNvPr id="97" name="Figure 12 label 74 line 1">
            <a:extLst xmlns:a="http://schemas.openxmlformats.org/drawingml/2006/main">
              <a:ext uri="{FF2B5EF4-FFF2-40B4-BE49-F238E27FC236}">
                <a16:creationId xmlns:a16="http://schemas.microsoft.com/office/drawing/2014/main" id="{3A3C96E9-D8D4-4200-AD60-B53182A8D284}"/>
              </a:ext>
            </a:extLst>
          </p:cNvPr>
          <p:cNvSpPr>
            <a:spLocks xmlns:a="http://schemas.openxmlformats.org/drawingml/2006/main" noGrp="1"/>
          </p:cNvSpPr>
          <p:nvPr/>
        </p:nvSpPr>
        <p:spPr>
          <a:xfrm xmlns:a="http://schemas.openxmlformats.org/drawingml/2006/main" rot="0">
            <a:off x="14539266" y="7893711"/>
            <a:ext cx="1063931"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NanoMicro</a:t>
            </a:r>
          </a:p>
        </p:txBody>
      </p:sp>
      <p:sp>
        <p:nvSpPr>
          <p:cNvPr id="98" name="Figure 12 label 75 line 1">
            <a:extLst xmlns:a="http://schemas.openxmlformats.org/drawingml/2006/main">
              <a:ext uri="{FF2B5EF4-FFF2-40B4-BE49-F238E27FC236}">
                <a16:creationId xmlns:a16="http://schemas.microsoft.com/office/drawing/2014/main" id="{9672F8DC-D4E0-49E9-BA71-64AA948CC171}"/>
              </a:ext>
            </a:extLst>
          </p:cNvPr>
          <p:cNvSpPr>
            <a:spLocks xmlns:a="http://schemas.openxmlformats.org/drawingml/2006/main" noGrp="1"/>
          </p:cNvSpPr>
          <p:nvPr/>
        </p:nvSpPr>
        <p:spPr>
          <a:xfrm xmlns:a="http://schemas.openxmlformats.org/drawingml/2006/main" rot="0">
            <a:off x="14191641" y="8244155"/>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99" name="Figure 12 label 76 line 1">
            <a:extLst xmlns:a="http://schemas.openxmlformats.org/drawingml/2006/main">
              <a:ext uri="{FF2B5EF4-FFF2-40B4-BE49-F238E27FC236}">
                <a16:creationId xmlns:a16="http://schemas.microsoft.com/office/drawing/2014/main" id="{2E361750-BAD3-4306-81B8-8F7C4B2F60D0}"/>
              </a:ext>
            </a:extLst>
          </p:cNvPr>
          <p:cNvSpPr>
            <a:spLocks xmlns:a="http://schemas.openxmlformats.org/drawingml/2006/main" noGrp="1"/>
          </p:cNvSpPr>
          <p:nvPr/>
        </p:nvSpPr>
        <p:spPr>
          <a:xfrm xmlns:a="http://schemas.openxmlformats.org/drawingml/2006/main" rot="0">
            <a:off x="15830093" y="824575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100" name="Figure 12 label 77 line 1">
            <a:extLst xmlns:a="http://schemas.openxmlformats.org/drawingml/2006/main">
              <a:ext uri="{FF2B5EF4-FFF2-40B4-BE49-F238E27FC236}">
                <a16:creationId xmlns:a16="http://schemas.microsoft.com/office/drawing/2014/main" id="{25DD7365-91B1-4E76-AA6F-F17F14795A8E}"/>
              </a:ext>
            </a:extLst>
          </p:cNvPr>
          <p:cNvSpPr>
            <a:spLocks xmlns:a="http://schemas.openxmlformats.org/drawingml/2006/main" noGrp="1"/>
          </p:cNvSpPr>
          <p:nvPr/>
        </p:nvSpPr>
        <p:spPr>
          <a:xfrm xmlns:a="http://schemas.openxmlformats.org/drawingml/2006/main" rot="0">
            <a:off x="14190879" y="845713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NanoMicro · 688690.SH</a:t>
            </a:r>
          </a:p>
        </p:txBody>
      </p:sp>
      <p:sp>
        <p:nvSpPr>
          <p:cNvPr id="101" name="Figure 12 label 77 line 2">
            <a:extLst xmlns:a="http://schemas.openxmlformats.org/drawingml/2006/main">
              <a:ext uri="{FF2B5EF4-FFF2-40B4-BE49-F238E27FC236}">
                <a16:creationId xmlns:a16="http://schemas.microsoft.com/office/drawing/2014/main" id="{E48355DC-847D-4BD8-8F80-E0A7D0B8D929}"/>
              </a:ext>
            </a:extLst>
          </p:cNvPr>
          <p:cNvSpPr>
            <a:spLocks xmlns:a="http://schemas.openxmlformats.org/drawingml/2006/main" noGrp="1"/>
          </p:cNvSpPr>
          <p:nvPr/>
        </p:nvSpPr>
        <p:spPr>
          <a:xfrm xmlns:a="http://schemas.openxmlformats.org/drawingml/2006/main" rot="0">
            <a:off x="14190879" y="8619059"/>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Sepax · 688758.SH</a:t>
            </a:r>
          </a:p>
        </p:txBody>
      </p:sp>
      <p:sp>
        <p:nvSpPr>
          <p:cNvPr id="102" name="Figure 12 label 78 line 1">
            <a:extLst xmlns:a="http://schemas.openxmlformats.org/drawingml/2006/main">
              <a:ext uri="{FF2B5EF4-FFF2-40B4-BE49-F238E27FC236}">
                <a16:creationId xmlns:a16="http://schemas.microsoft.com/office/drawing/2014/main" id="{98D119D9-6F25-4DB3-903C-6B7EBBDCB6E3}"/>
              </a:ext>
            </a:extLst>
          </p:cNvPr>
          <p:cNvSpPr>
            <a:spLocks xmlns:a="http://schemas.openxmlformats.org/drawingml/2006/main" noGrp="1"/>
          </p:cNvSpPr>
          <p:nvPr/>
        </p:nvSpPr>
        <p:spPr>
          <a:xfrm xmlns:a="http://schemas.openxmlformats.org/drawingml/2006/main" rot="0">
            <a:off x="15829422" y="8459694"/>
            <a:ext cx="1033929"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Cytiva · DHR</a:t>
            </a:r>
          </a:p>
        </p:txBody>
      </p:sp>
      <p:sp>
        <p:nvSpPr>
          <p:cNvPr id="103" name="Figure 12 label 78 line 2">
            <a:extLst xmlns:a="http://schemas.openxmlformats.org/drawingml/2006/main">
              <a:ext uri="{FF2B5EF4-FFF2-40B4-BE49-F238E27FC236}">
                <a16:creationId xmlns:a16="http://schemas.microsoft.com/office/drawing/2014/main" id="{4E7C75F5-BED0-4F9E-9A10-42BEC863B194}"/>
              </a:ext>
            </a:extLst>
          </p:cNvPr>
          <p:cNvSpPr>
            <a:spLocks xmlns:a="http://schemas.openxmlformats.org/drawingml/2006/main" noGrp="1"/>
          </p:cNvSpPr>
          <p:nvPr/>
        </p:nvSpPr>
        <p:spPr>
          <a:xfrm xmlns:a="http://schemas.openxmlformats.org/drawingml/2006/main" rot="0">
            <a:off x="15829422" y="8613999"/>
            <a:ext cx="1033929"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Repligen · RGEN</a:t>
            </a:r>
          </a:p>
        </p:txBody>
      </p:sp>
      <p:sp>
        <p:nvSpPr>
          <p:cNvPr id="104" name="Figure 12 label 79 line 1">
            <a:extLst xmlns:a="http://schemas.openxmlformats.org/drawingml/2006/main">
              <a:ext uri="{FF2B5EF4-FFF2-40B4-BE49-F238E27FC236}">
                <a16:creationId xmlns:a16="http://schemas.microsoft.com/office/drawing/2014/main" id="{69F759D2-1999-4184-9E07-ECCB0DED72A5}"/>
              </a:ext>
            </a:extLst>
          </p:cNvPr>
          <p:cNvSpPr>
            <a:spLocks xmlns:a="http://schemas.openxmlformats.org/drawingml/2006/main" noGrp="1"/>
          </p:cNvSpPr>
          <p:nvPr/>
        </p:nvSpPr>
        <p:spPr>
          <a:xfrm xmlns:a="http://schemas.openxmlformats.org/drawingml/2006/main" rot="0">
            <a:off x="7223760" y="9345930"/>
            <a:ext cx="511507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FFFFFF"/>
                </a:solidFill>
                <a:latin typeface="Arial"/>
                <a:ea typeface="Arial"/>
                <a:cs typeface="Arial"/>
              </a:defRPr>
            </a:defPPr>
          </a:lstStyle>
          <a:p xmlns:a="http://schemas.openxmlformats.org/drawingml/2006/main">
            <a:pPr algn="l">
              <a:lnSpc>
                <a:spcPct val="100000"/>
              </a:lnSpc>
              <a:buNone/>
              <a:defRPr sz="1500" b="1">
                <a:solidFill>
                  <a:srgbClr val="FFFFFF"/>
                </a:solidFill>
                <a:latin typeface="Arial"/>
                <a:ea typeface="Arial"/>
                <a:cs typeface="Arial"/>
              </a:defRPr>
            </a:pPr>
            <a:r>
              <a:rPr sz="1500" b="1">
                <a:solidFill>
                  <a:srgbClr val="FFFFFF"/>
                </a:solidFill>
                <a:latin typeface="Arial"/>
                <a:ea typeface="Arial"/>
                <a:cs typeface="Arial"/>
              </a:rPr>
              <a:t>Automation + data orchestration span every tool family</a:t>
            </a:r>
          </a:p>
        </p:txBody>
      </p:sp>
      <p:sp>
        <p:nvSpPr>
          <p:cNvPr id="105" name="Figure 12 label 80 line 1">
            <a:extLst xmlns:a="http://schemas.openxmlformats.org/drawingml/2006/main">
              <a:ext uri="{FF2B5EF4-FFF2-40B4-BE49-F238E27FC236}">
                <a16:creationId xmlns:a16="http://schemas.microsoft.com/office/drawing/2014/main" id="{F00C7A82-BAD2-4170-857C-42FFEADDAC4E}"/>
              </a:ext>
            </a:extLst>
          </p:cNvPr>
          <p:cNvSpPr>
            <a:spLocks xmlns:a="http://schemas.openxmlformats.org/drawingml/2006/main" noGrp="1"/>
          </p:cNvSpPr>
          <p:nvPr/>
        </p:nvSpPr>
        <p:spPr>
          <a:xfrm xmlns:a="http://schemas.openxmlformats.org/drawingml/2006/main" rot="0">
            <a:off x="16255289" y="9380372"/>
            <a:ext cx="810119"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SIX: TECN</a:t>
            </a:r>
          </a:p>
        </p:txBody>
      </p:sp>
      <p:sp>
        <p:nvSpPr>
          <p:cNvPr id="106" name="Figure 12 label 81 line 1">
            <a:extLst xmlns:a="http://schemas.openxmlformats.org/drawingml/2006/main">
              <a:ext uri="{FF2B5EF4-FFF2-40B4-BE49-F238E27FC236}">
                <a16:creationId xmlns:a16="http://schemas.microsoft.com/office/drawing/2014/main" id="{DCDFAE2D-9495-4499-B3A2-889C24644BFB}"/>
              </a:ext>
            </a:extLst>
          </p:cNvPr>
          <p:cNvSpPr>
            <a:spLocks xmlns:a="http://schemas.openxmlformats.org/drawingml/2006/main" noGrp="1"/>
          </p:cNvSpPr>
          <p:nvPr/>
        </p:nvSpPr>
        <p:spPr>
          <a:xfrm xmlns:a="http://schemas.openxmlformats.org/drawingml/2006/main" rot="0">
            <a:off x="6738671" y="9799854"/>
            <a:ext cx="5884236"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 Ex-BD biosciences / flow moved to Waters on 9 Feb 2026; BD (BDX) here means specimen collection.</a:t>
            </a:r>
          </a:p>
        </p:txBody>
      </p:sp>
      <p:sp>
        <p:nvSpPr>
          <p:cNvPr id="107" name="Figure 12 label 82 line 1">
            <a:extLst xmlns:a="http://schemas.openxmlformats.org/drawingml/2006/main">
              <a:ext uri="{FF2B5EF4-FFF2-40B4-BE49-F238E27FC236}">
                <a16:creationId xmlns:a16="http://schemas.microsoft.com/office/drawing/2014/main" id="{AADB9B24-F70E-4579-8F3E-878687247A8B}"/>
              </a:ext>
            </a:extLst>
          </p:cNvPr>
          <p:cNvSpPr>
            <a:spLocks xmlns:a="http://schemas.openxmlformats.org/drawingml/2006/main" noGrp="1"/>
          </p:cNvSpPr>
          <p:nvPr/>
        </p:nvSpPr>
        <p:spPr>
          <a:xfrm xmlns:a="http://schemas.openxmlformats.org/drawingml/2006/main" rot="0">
            <a:off x="6738976" y="10008794"/>
            <a:ext cx="6474744"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0">
                <a:solidFill>
                  <a:srgbClr val="00355F"/>
                </a:solidFill>
                <a:latin typeface="Arial"/>
                <a:ea typeface="Arial"/>
                <a:cs typeface="Arial"/>
              </a:defRPr>
            </a:defPPr>
          </a:lstStyle>
          <a:p xmlns:a="http://schemas.openxmlformats.org/drawingml/2006/main">
            <a:pPr algn="l">
              <a:lnSpc>
                <a:spcPct val="100000"/>
              </a:lnSpc>
              <a:buNone/>
              <a:defRPr sz="930" b="0">
                <a:solidFill>
                  <a:srgbClr val="00355F"/>
                </a:solidFill>
                <a:latin typeface="Arial"/>
                <a:ea typeface="Arial"/>
                <a:cs typeface="Arial"/>
              </a:defRPr>
            </a:pPr>
            <a:r>
              <a:rPr sz="930" b="0">
                <a:solidFill>
                  <a:srgbClr val="00355F"/>
                </a:solidFill>
                <a:latin typeface="Arial"/>
                <a:ea typeface="Arial"/>
                <a:cs typeface="Arial"/>
              </a:rPr>
              <a:t>Protein TAM is issuer-commissioned / disputed. Media &amp; resin TAMs withheld. Sources, scope and tickers: SOURCES.md.</a:t>
            </a:r>
          </a:p>
        </p:txBody>
      </p:sp>
    </p:spTree>
    <p:extLst>
      <p:ext uri="{BB962C8B-B14F-4D97-AF65-F5344CB8AC3E}">
        <p14:creationId xmlns:p14="http://schemas.microsoft.com/office/powerpoint/2010/main" val="39788600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9" name="">
            <a:extLst xmlns:a="http://schemas.openxmlformats.org/drawingml/2006/main">
              <a:ext uri="{FF2B5EF4-FFF2-40B4-BE49-F238E27FC236}">
                <a16:creationId xmlns:a16="http://schemas.microsoft.com/office/drawing/2014/main" id="{739C90C2-EEEA-4B84-9E56-A6BB8C931C9D}"/>
              </a:ext>
            </a:extLst>
          </p:cNvPr>
          <p:cNvPicPr>
            <a:picLocks xmlns:a="http://schemas.openxmlformats.org/drawingml/2006/main" noChangeAspect="1"/>
          </p:cNvPicPr>
          <p:nvPr/>
        </p:nvPicPr>
        <p:blipFill>
          <a:blip xmlns:r="http://schemas.openxmlformats.org/officeDocument/2006/relationships" xmlns:a="http://schemas.openxmlformats.org/drawingml/2006/main" r:embed="Rccd3555e85314e1f"/>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3 label 1 line 1">
            <a:extLst xmlns:a="http://schemas.openxmlformats.org/drawingml/2006/main">
              <a:ext uri="{FF2B5EF4-FFF2-40B4-BE49-F238E27FC236}">
                <a16:creationId xmlns:a16="http://schemas.microsoft.com/office/drawing/2014/main" id="{445F1B51-A66D-424E-A934-0C515F1D8553}"/>
              </a:ext>
            </a:extLst>
          </p:cNvPr>
          <p:cNvSpPr>
            <a:spLocks xmlns:a="http://schemas.openxmlformats.org/drawingml/2006/main" noGrp="1"/>
          </p:cNvSpPr>
          <p:nvPr/>
        </p:nvSpPr>
        <p:spPr>
          <a:xfrm xmlns:a="http://schemas.openxmlformats.org/drawingml/2006/main" rot="0">
            <a:off x="982599" y="270891"/>
            <a:ext cx="9514225"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Fewer molecules. Deeper experimental data.</a:t>
            </a:r>
          </a:p>
        </p:txBody>
      </p:sp>
      <p:sp>
        <p:nvSpPr>
          <p:cNvPr id="3" name="Figure 13 label 2 line 1">
            <a:extLst xmlns:a="http://schemas.openxmlformats.org/drawingml/2006/main">
              <a:ext uri="{FF2B5EF4-FFF2-40B4-BE49-F238E27FC236}">
                <a16:creationId xmlns:a16="http://schemas.microsoft.com/office/drawing/2014/main" id="{2516B854-5941-4872-9487-FC775F2DA21A}"/>
              </a:ext>
            </a:extLst>
          </p:cNvPr>
          <p:cNvSpPr>
            <a:spLocks xmlns:a="http://schemas.openxmlformats.org/drawingml/2006/main" noGrp="1"/>
          </p:cNvSpPr>
          <p:nvPr/>
        </p:nvSpPr>
        <p:spPr>
          <a:xfrm xmlns:a="http://schemas.openxmlformats.org/drawingml/2006/main" rot="0">
            <a:off x="1008888" y="936117"/>
            <a:ext cx="9173200"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025" b="0">
                <a:solidFill>
                  <a:srgbClr val="00355F"/>
                </a:solidFill>
                <a:latin typeface="Arial"/>
                <a:ea typeface="Arial"/>
                <a:cs typeface="Arial"/>
              </a:defRPr>
            </a:defPPr>
          </a:lstStyle>
          <a:p xmlns:a="http://schemas.openxmlformats.org/drawingml/2006/main">
            <a:pPr algn="l">
              <a:lnSpc>
                <a:spcPct val="100000"/>
              </a:lnSpc>
              <a:buNone/>
              <a:defRPr sz="2025" b="0">
                <a:solidFill>
                  <a:srgbClr val="00355F"/>
                </a:solidFill>
                <a:latin typeface="Arial"/>
                <a:ea typeface="Arial"/>
                <a:cs typeface="Arial"/>
              </a:defRPr>
            </a:pPr>
            <a:r>
              <a:rPr sz="2025" b="0">
                <a:solidFill>
                  <a:srgbClr val="00355F"/>
                </a:solidFill>
                <a:latin typeface="Arial"/>
                <a:ea typeface="Arial"/>
                <a:cs typeface="Arial"/>
              </a:rPr>
              <a:t>AI may reduce candidate counts while increasing characterization per molecule</a:t>
            </a:r>
          </a:p>
        </p:txBody>
      </p:sp>
      <p:sp>
        <p:nvSpPr>
          <p:cNvPr id="4" name="Figure 13 label 3 line 1">
            <a:extLst xmlns:a="http://schemas.openxmlformats.org/drawingml/2006/main">
              <a:ext uri="{FF2B5EF4-FFF2-40B4-BE49-F238E27FC236}">
                <a16:creationId xmlns:a16="http://schemas.microsoft.com/office/drawing/2014/main" id="{A4007AEC-19C2-43D6-A7F7-35381F71DF71}"/>
              </a:ext>
            </a:extLst>
          </p:cNvPr>
          <p:cNvSpPr>
            <a:spLocks xmlns:a="http://schemas.openxmlformats.org/drawingml/2006/main" noGrp="1"/>
          </p:cNvSpPr>
          <p:nvPr/>
        </p:nvSpPr>
        <p:spPr>
          <a:xfrm xmlns:a="http://schemas.openxmlformats.org/drawingml/2006/main" rot="0">
            <a:off x="1011174" y="1385316"/>
            <a:ext cx="7935307"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From molecule throughput to data density: a potential driver of life science tools demand</a:t>
            </a:r>
          </a:p>
        </p:txBody>
      </p:sp>
      <p:sp>
        <p:nvSpPr>
          <p:cNvPr id="5" name="Figure 13 label 4 line 1">
            <a:extLst xmlns:a="http://schemas.openxmlformats.org/drawingml/2006/main">
              <a:ext uri="{FF2B5EF4-FFF2-40B4-BE49-F238E27FC236}">
                <a16:creationId xmlns:a16="http://schemas.microsoft.com/office/drawing/2014/main" id="{E7BC433F-D497-41C8-B7B1-D6C7D6C4BDED}"/>
              </a:ext>
            </a:extLst>
          </p:cNvPr>
          <p:cNvSpPr>
            <a:spLocks xmlns:a="http://schemas.openxmlformats.org/drawingml/2006/main" noGrp="1"/>
          </p:cNvSpPr>
          <p:nvPr/>
        </p:nvSpPr>
        <p:spPr>
          <a:xfrm xmlns:a="http://schemas.openxmlformats.org/drawingml/2006/main" rot="0">
            <a:off x="931926" y="2253234"/>
            <a:ext cx="4339441"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Existing data: staged screening</a:t>
            </a:r>
          </a:p>
        </p:txBody>
      </p:sp>
      <p:sp>
        <p:nvSpPr>
          <p:cNvPr id="6" name="Figure 13 label 5 line 1">
            <a:extLst xmlns:a="http://schemas.openxmlformats.org/drawingml/2006/main">
              <a:ext uri="{FF2B5EF4-FFF2-40B4-BE49-F238E27FC236}">
                <a16:creationId xmlns:a16="http://schemas.microsoft.com/office/drawing/2014/main" id="{B8344CB4-9BAF-4089-9796-91ADA832DB37}"/>
              </a:ext>
            </a:extLst>
          </p:cNvPr>
          <p:cNvSpPr>
            <a:spLocks xmlns:a="http://schemas.openxmlformats.org/drawingml/2006/main" noGrp="1"/>
          </p:cNvSpPr>
          <p:nvPr/>
        </p:nvSpPr>
        <p:spPr>
          <a:xfrm xmlns:a="http://schemas.openxmlformats.org/drawingml/2006/main" rot="0">
            <a:off x="929640" y="2727960"/>
            <a:ext cx="3431828" cy="4167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625" b="1">
                <a:solidFill>
                  <a:srgbClr val="00355F"/>
                </a:solidFill>
                <a:latin typeface="Arial"/>
                <a:ea typeface="Arial"/>
                <a:cs typeface="Arial"/>
              </a:defRPr>
            </a:defPPr>
          </a:lstStyle>
          <a:p xmlns:a="http://schemas.openxmlformats.org/drawingml/2006/main">
            <a:pPr algn="l">
              <a:lnSpc>
                <a:spcPct val="100000"/>
              </a:lnSpc>
              <a:buNone/>
              <a:defRPr sz="2625" b="1">
                <a:solidFill>
                  <a:srgbClr val="00355F"/>
                </a:solidFill>
                <a:latin typeface="Arial"/>
                <a:ea typeface="Arial"/>
                <a:cs typeface="Arial"/>
              </a:defRPr>
            </a:pPr>
            <a:r>
              <a:rPr sz="2625" b="1">
                <a:solidFill>
                  <a:srgbClr val="00355F"/>
                </a:solidFill>
                <a:latin typeface="Arial"/>
                <a:ea typeface="Arial"/>
                <a:cs typeface="Arial"/>
              </a:rPr>
              <a:t>1,000 × 1 initial label</a:t>
            </a:r>
          </a:p>
        </p:txBody>
      </p:sp>
      <p:sp>
        <p:nvSpPr>
          <p:cNvPr id="7" name="Figure 13 label 6 line 1">
            <a:extLst xmlns:a="http://schemas.openxmlformats.org/drawingml/2006/main">
              <a:ext uri="{FF2B5EF4-FFF2-40B4-BE49-F238E27FC236}">
                <a16:creationId xmlns:a16="http://schemas.microsoft.com/office/drawing/2014/main" id="{B1403661-05EE-4F0D-AC1C-EBE1E334C2D3}"/>
              </a:ext>
            </a:extLst>
          </p:cNvPr>
          <p:cNvSpPr>
            <a:spLocks xmlns:a="http://schemas.openxmlformats.org/drawingml/2006/main" noGrp="1"/>
          </p:cNvSpPr>
          <p:nvPr/>
        </p:nvSpPr>
        <p:spPr>
          <a:xfrm xmlns:a="http://schemas.openxmlformats.org/drawingml/2006/main" rot="0">
            <a:off x="935736" y="3240024"/>
            <a:ext cx="2934057"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Illustrative early single-task dataset</a:t>
            </a:r>
          </a:p>
        </p:txBody>
      </p:sp>
      <p:sp>
        <p:nvSpPr>
          <p:cNvPr id="8" name="Figure 13 label 7 line 1">
            <a:extLst xmlns:a="http://schemas.openxmlformats.org/drawingml/2006/main">
              <a:ext uri="{FF2B5EF4-FFF2-40B4-BE49-F238E27FC236}">
                <a16:creationId xmlns:a16="http://schemas.microsoft.com/office/drawing/2014/main" id="{9C366D5A-3F66-44D1-8D04-ECF1973C929A}"/>
              </a:ext>
            </a:extLst>
          </p:cNvPr>
          <p:cNvSpPr>
            <a:spLocks xmlns:a="http://schemas.openxmlformats.org/drawingml/2006/main" noGrp="1"/>
          </p:cNvSpPr>
          <p:nvPr/>
        </p:nvSpPr>
        <p:spPr>
          <a:xfrm xmlns:a="http://schemas.openxmlformats.org/drawingml/2006/main" rot="0">
            <a:off x="1563529" y="3777805"/>
            <a:ext cx="85439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Antibody</a:t>
            </a:r>
          </a:p>
        </p:txBody>
      </p:sp>
      <p:sp>
        <p:nvSpPr>
          <p:cNvPr id="9" name="Figure 13 label 8 line 1">
            <a:extLst xmlns:a="http://schemas.openxmlformats.org/drawingml/2006/main">
              <a:ext uri="{FF2B5EF4-FFF2-40B4-BE49-F238E27FC236}">
                <a16:creationId xmlns:a16="http://schemas.microsoft.com/office/drawing/2014/main" id="{042181A4-BB15-4F9F-8392-0E154CA114C3}"/>
              </a:ext>
            </a:extLst>
          </p:cNvPr>
          <p:cNvSpPr>
            <a:spLocks xmlns:a="http://schemas.openxmlformats.org/drawingml/2006/main" noGrp="1"/>
          </p:cNvSpPr>
          <p:nvPr/>
        </p:nvSpPr>
        <p:spPr>
          <a:xfrm xmlns:a="http://schemas.openxmlformats.org/drawingml/2006/main" rot="0">
            <a:off x="4192429" y="3777805"/>
            <a:ext cx="69246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Binds?</a:t>
            </a:r>
          </a:p>
        </p:txBody>
      </p:sp>
      <p:sp>
        <p:nvSpPr>
          <p:cNvPr id="10" name="Figure 13 label 9 line 1">
            <a:extLst xmlns:a="http://schemas.openxmlformats.org/drawingml/2006/main">
              <a:ext uri="{FF2B5EF4-FFF2-40B4-BE49-F238E27FC236}">
                <a16:creationId xmlns:a16="http://schemas.microsoft.com/office/drawing/2014/main" id="{2431F679-89E3-4A6D-A7BD-5CE3DDD0BB16}"/>
              </a:ext>
            </a:extLst>
          </p:cNvPr>
          <p:cNvSpPr>
            <a:spLocks xmlns:a="http://schemas.openxmlformats.org/drawingml/2006/main" noGrp="1"/>
          </p:cNvSpPr>
          <p:nvPr/>
        </p:nvSpPr>
        <p:spPr>
          <a:xfrm xmlns:a="http://schemas.openxmlformats.org/drawingml/2006/main" rot="0">
            <a:off x="1658556" y="41349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Ab-001</a:t>
            </a:r>
          </a:p>
        </p:txBody>
      </p:sp>
      <p:sp>
        <p:nvSpPr>
          <p:cNvPr id="11" name="Figure 13 label 10 line 1">
            <a:extLst xmlns:a="http://schemas.openxmlformats.org/drawingml/2006/main">
              <a:ext uri="{FF2B5EF4-FFF2-40B4-BE49-F238E27FC236}">
                <a16:creationId xmlns:a16="http://schemas.microsoft.com/office/drawing/2014/main" id="{E4539376-3DE1-44D4-9855-D018C5C778B4}"/>
              </a:ext>
            </a:extLst>
          </p:cNvPr>
          <p:cNvSpPr>
            <a:spLocks xmlns:a="http://schemas.openxmlformats.org/drawingml/2006/main" noGrp="1"/>
          </p:cNvSpPr>
          <p:nvPr/>
        </p:nvSpPr>
        <p:spPr>
          <a:xfrm xmlns:a="http://schemas.openxmlformats.org/drawingml/2006/main" rot="0">
            <a:off x="4332208" y="4126325"/>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12" name="Figure 13 label 11 line 1">
            <a:extLst xmlns:a="http://schemas.openxmlformats.org/drawingml/2006/main">
              <a:ext uri="{FF2B5EF4-FFF2-40B4-BE49-F238E27FC236}">
                <a16:creationId xmlns:a16="http://schemas.microsoft.com/office/drawing/2014/main" id="{43FA2709-FD68-48B1-846C-B79F2B24E9DD}"/>
              </a:ext>
            </a:extLst>
          </p:cNvPr>
          <p:cNvSpPr>
            <a:spLocks xmlns:a="http://schemas.openxmlformats.org/drawingml/2006/main" noGrp="1"/>
          </p:cNvSpPr>
          <p:nvPr/>
        </p:nvSpPr>
        <p:spPr>
          <a:xfrm xmlns:a="http://schemas.openxmlformats.org/drawingml/2006/main" rot="0">
            <a:off x="1658556" y="44493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Ab-002</a:t>
            </a:r>
          </a:p>
        </p:txBody>
      </p:sp>
      <p:sp>
        <p:nvSpPr>
          <p:cNvPr id="13" name="Figure 13 label 12 line 1">
            <a:extLst xmlns:a="http://schemas.openxmlformats.org/drawingml/2006/main">
              <a:ext uri="{FF2B5EF4-FFF2-40B4-BE49-F238E27FC236}">
                <a16:creationId xmlns:a16="http://schemas.microsoft.com/office/drawing/2014/main" id="{4D1CF36F-6AEA-440A-93BF-FA8E884F2A6A}"/>
              </a:ext>
            </a:extLst>
          </p:cNvPr>
          <p:cNvSpPr>
            <a:spLocks xmlns:a="http://schemas.openxmlformats.org/drawingml/2006/main" noGrp="1"/>
          </p:cNvSpPr>
          <p:nvPr/>
        </p:nvSpPr>
        <p:spPr>
          <a:xfrm xmlns:a="http://schemas.openxmlformats.org/drawingml/2006/main" rot="0">
            <a:off x="4364132" y="4440650"/>
            <a:ext cx="349061"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No</a:t>
            </a:r>
          </a:p>
        </p:txBody>
      </p:sp>
      <p:sp>
        <p:nvSpPr>
          <p:cNvPr id="14" name="Figure 13 label 13 line 1">
            <a:extLst xmlns:a="http://schemas.openxmlformats.org/drawingml/2006/main">
              <a:ext uri="{FF2B5EF4-FFF2-40B4-BE49-F238E27FC236}">
                <a16:creationId xmlns:a16="http://schemas.microsoft.com/office/drawing/2014/main" id="{B52296DE-EBCA-4C84-9D78-B392B9498E96}"/>
              </a:ext>
            </a:extLst>
          </p:cNvPr>
          <p:cNvSpPr>
            <a:spLocks xmlns:a="http://schemas.openxmlformats.org/drawingml/2006/main" noGrp="1"/>
          </p:cNvSpPr>
          <p:nvPr/>
        </p:nvSpPr>
        <p:spPr>
          <a:xfrm xmlns:a="http://schemas.openxmlformats.org/drawingml/2006/main" rot="0">
            <a:off x="1658556" y="476364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Ab-003</a:t>
            </a:r>
          </a:p>
        </p:txBody>
      </p:sp>
      <p:sp>
        <p:nvSpPr>
          <p:cNvPr id="15" name="Figure 13 label 14 line 1">
            <a:extLst xmlns:a="http://schemas.openxmlformats.org/drawingml/2006/main">
              <a:ext uri="{FF2B5EF4-FFF2-40B4-BE49-F238E27FC236}">
                <a16:creationId xmlns:a16="http://schemas.microsoft.com/office/drawing/2014/main" id="{85F0E3D5-1A6F-4E02-8DAA-8B14E004B799}"/>
              </a:ext>
            </a:extLst>
          </p:cNvPr>
          <p:cNvSpPr>
            <a:spLocks xmlns:a="http://schemas.openxmlformats.org/drawingml/2006/main" noGrp="1"/>
          </p:cNvSpPr>
          <p:nvPr/>
        </p:nvSpPr>
        <p:spPr>
          <a:xfrm xmlns:a="http://schemas.openxmlformats.org/drawingml/2006/main" rot="0">
            <a:off x="4332208" y="4754975"/>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16" name="Figure 13 label 15 line 1">
            <a:extLst xmlns:a="http://schemas.openxmlformats.org/drawingml/2006/main">
              <a:ext uri="{FF2B5EF4-FFF2-40B4-BE49-F238E27FC236}">
                <a16:creationId xmlns:a16="http://schemas.microsoft.com/office/drawing/2014/main" id="{7E5D9D77-11C2-4934-BECB-091BBBE318A1}"/>
              </a:ext>
            </a:extLst>
          </p:cNvPr>
          <p:cNvSpPr>
            <a:spLocks xmlns:a="http://schemas.openxmlformats.org/drawingml/2006/main" noGrp="1"/>
          </p:cNvSpPr>
          <p:nvPr/>
        </p:nvSpPr>
        <p:spPr>
          <a:xfrm xmlns:a="http://schemas.openxmlformats.org/drawingml/2006/main" rot="0">
            <a:off x="1658556" y="507796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Ab-004</a:t>
            </a:r>
          </a:p>
        </p:txBody>
      </p:sp>
      <p:sp>
        <p:nvSpPr>
          <p:cNvPr id="17" name="Figure 13 label 16 line 1">
            <a:extLst xmlns:a="http://schemas.openxmlformats.org/drawingml/2006/main">
              <a:ext uri="{FF2B5EF4-FFF2-40B4-BE49-F238E27FC236}">
                <a16:creationId xmlns:a16="http://schemas.microsoft.com/office/drawing/2014/main" id="{D0752F16-AC36-4107-92EB-F153AA74870D}"/>
              </a:ext>
            </a:extLst>
          </p:cNvPr>
          <p:cNvSpPr>
            <a:spLocks xmlns:a="http://schemas.openxmlformats.org/drawingml/2006/main" noGrp="1"/>
          </p:cNvSpPr>
          <p:nvPr/>
        </p:nvSpPr>
        <p:spPr>
          <a:xfrm xmlns:a="http://schemas.openxmlformats.org/drawingml/2006/main" rot="0">
            <a:off x="4332208" y="5069300"/>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18" name="Figure 13 label 17 line 1">
            <a:extLst xmlns:a="http://schemas.openxmlformats.org/drawingml/2006/main">
              <a:ext uri="{FF2B5EF4-FFF2-40B4-BE49-F238E27FC236}">
                <a16:creationId xmlns:a16="http://schemas.microsoft.com/office/drawing/2014/main" id="{638BFF8D-3849-446A-A748-A73FBC3AC532}"/>
              </a:ext>
            </a:extLst>
          </p:cNvPr>
          <p:cNvSpPr>
            <a:spLocks xmlns:a="http://schemas.openxmlformats.org/drawingml/2006/main" noGrp="1"/>
          </p:cNvSpPr>
          <p:nvPr/>
        </p:nvSpPr>
        <p:spPr>
          <a:xfrm xmlns:a="http://schemas.openxmlformats.org/drawingml/2006/main" rot="0">
            <a:off x="1658556" y="53922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Ab-005</a:t>
            </a:r>
          </a:p>
        </p:txBody>
      </p:sp>
      <p:sp>
        <p:nvSpPr>
          <p:cNvPr id="19" name="Figure 13 label 18 line 1">
            <a:extLst xmlns:a="http://schemas.openxmlformats.org/drawingml/2006/main">
              <a:ext uri="{FF2B5EF4-FFF2-40B4-BE49-F238E27FC236}">
                <a16:creationId xmlns:a16="http://schemas.microsoft.com/office/drawing/2014/main" id="{756D27D4-6B43-4395-A1CB-52C37538B31C}"/>
              </a:ext>
            </a:extLst>
          </p:cNvPr>
          <p:cNvSpPr>
            <a:spLocks xmlns:a="http://schemas.openxmlformats.org/drawingml/2006/main" noGrp="1"/>
          </p:cNvSpPr>
          <p:nvPr/>
        </p:nvSpPr>
        <p:spPr>
          <a:xfrm xmlns:a="http://schemas.openxmlformats.org/drawingml/2006/main" rot="0">
            <a:off x="4364132" y="5383625"/>
            <a:ext cx="349061"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No</a:t>
            </a:r>
          </a:p>
        </p:txBody>
      </p:sp>
      <p:sp>
        <p:nvSpPr>
          <p:cNvPr id="20" name="Figure 13 label 19 line 1">
            <a:extLst xmlns:a="http://schemas.openxmlformats.org/drawingml/2006/main">
              <a:ext uri="{FF2B5EF4-FFF2-40B4-BE49-F238E27FC236}">
                <a16:creationId xmlns:a16="http://schemas.microsoft.com/office/drawing/2014/main" id="{CD5C0B09-6F83-48C7-8579-49CF1D14FF7B}"/>
              </a:ext>
            </a:extLst>
          </p:cNvPr>
          <p:cNvSpPr>
            <a:spLocks xmlns:a="http://schemas.openxmlformats.org/drawingml/2006/main" noGrp="1"/>
          </p:cNvSpPr>
          <p:nvPr/>
        </p:nvSpPr>
        <p:spPr>
          <a:xfrm xmlns:a="http://schemas.openxmlformats.org/drawingml/2006/main" rot="0">
            <a:off x="1658556" y="57066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Ab-006</a:t>
            </a:r>
          </a:p>
        </p:txBody>
      </p:sp>
      <p:sp>
        <p:nvSpPr>
          <p:cNvPr id="21" name="Figure 13 label 20 line 1">
            <a:extLst xmlns:a="http://schemas.openxmlformats.org/drawingml/2006/main">
              <a:ext uri="{FF2B5EF4-FFF2-40B4-BE49-F238E27FC236}">
                <a16:creationId xmlns:a16="http://schemas.microsoft.com/office/drawing/2014/main" id="{75F184DC-5D00-4C63-BC47-28858906FFB1}"/>
              </a:ext>
            </a:extLst>
          </p:cNvPr>
          <p:cNvSpPr>
            <a:spLocks xmlns:a="http://schemas.openxmlformats.org/drawingml/2006/main" noGrp="1"/>
          </p:cNvSpPr>
          <p:nvPr/>
        </p:nvSpPr>
        <p:spPr>
          <a:xfrm xmlns:a="http://schemas.openxmlformats.org/drawingml/2006/main" rot="0">
            <a:off x="4332208" y="5697950"/>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22" name="Figure 13 label 21 line 1">
            <a:extLst xmlns:a="http://schemas.openxmlformats.org/drawingml/2006/main">
              <a:ext uri="{FF2B5EF4-FFF2-40B4-BE49-F238E27FC236}">
                <a16:creationId xmlns:a16="http://schemas.microsoft.com/office/drawing/2014/main" id="{30F9CCBC-C5C4-4DE9-8449-EB24AF882B18}"/>
              </a:ext>
            </a:extLst>
          </p:cNvPr>
          <p:cNvSpPr>
            <a:spLocks xmlns:a="http://schemas.openxmlformats.org/drawingml/2006/main" noGrp="1"/>
          </p:cNvSpPr>
          <p:nvPr/>
        </p:nvSpPr>
        <p:spPr>
          <a:xfrm xmlns:a="http://schemas.openxmlformats.org/drawingml/2006/main" rot="0">
            <a:off x="934593" y="6058662"/>
            <a:ext cx="4398050"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Binding first; deeper tests for selected hits</a:t>
            </a:r>
          </a:p>
        </p:txBody>
      </p:sp>
      <p:sp>
        <p:nvSpPr>
          <p:cNvPr id="23" name="Figure 13 label 22 line 1">
            <a:extLst xmlns:a="http://schemas.openxmlformats.org/drawingml/2006/main">
              <a:ext uri="{FF2B5EF4-FFF2-40B4-BE49-F238E27FC236}">
                <a16:creationId xmlns:a16="http://schemas.microsoft.com/office/drawing/2014/main" id="{E919EE01-C35F-480F-A744-52275B622BA3}"/>
              </a:ext>
            </a:extLst>
          </p:cNvPr>
          <p:cNvSpPr>
            <a:spLocks xmlns:a="http://schemas.openxmlformats.org/drawingml/2006/main" noGrp="1"/>
          </p:cNvSpPr>
          <p:nvPr/>
        </p:nvSpPr>
        <p:spPr>
          <a:xfrm xmlns:a="http://schemas.openxmlformats.org/drawingml/2006/main" rot="0">
            <a:off x="936117" y="6415278"/>
            <a:ext cx="333223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Multi-assay characterization already exists</a:t>
            </a:r>
          </a:p>
        </p:txBody>
      </p:sp>
      <p:sp>
        <p:nvSpPr>
          <p:cNvPr id="24" name="Figure 13 label 23 line 1">
            <a:extLst xmlns:a="http://schemas.openxmlformats.org/drawingml/2006/main">
              <a:ext uri="{FF2B5EF4-FFF2-40B4-BE49-F238E27FC236}">
                <a16:creationId xmlns:a16="http://schemas.microsoft.com/office/drawing/2014/main" id="{8100E512-2626-478E-8AE0-6AF74166582A}"/>
              </a:ext>
            </a:extLst>
          </p:cNvPr>
          <p:cNvSpPr>
            <a:spLocks xmlns:a="http://schemas.openxmlformats.org/drawingml/2006/main" noGrp="1"/>
          </p:cNvSpPr>
          <p:nvPr/>
        </p:nvSpPr>
        <p:spPr>
          <a:xfrm xmlns:a="http://schemas.openxmlformats.org/drawingml/2006/main" rot="0">
            <a:off x="7208901" y="2253234"/>
            <a:ext cx="4062919"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AI: richer, linked training data</a:t>
            </a:r>
          </a:p>
        </p:txBody>
      </p:sp>
      <p:sp>
        <p:nvSpPr>
          <p:cNvPr id="25" name="Figure 13 label 24 line 1">
            <a:extLst xmlns:a="http://schemas.openxmlformats.org/drawingml/2006/main">
              <a:ext uri="{FF2B5EF4-FFF2-40B4-BE49-F238E27FC236}">
                <a16:creationId xmlns:a16="http://schemas.microsoft.com/office/drawing/2014/main" id="{76522059-16FD-4DCB-A71D-EBAF961B27AB}"/>
              </a:ext>
            </a:extLst>
          </p:cNvPr>
          <p:cNvSpPr>
            <a:spLocks xmlns:a="http://schemas.openxmlformats.org/drawingml/2006/main" noGrp="1"/>
          </p:cNvSpPr>
          <p:nvPr/>
        </p:nvSpPr>
        <p:spPr>
          <a:xfrm xmlns:a="http://schemas.openxmlformats.org/drawingml/2006/main" rot="0">
            <a:off x="7206615" y="2727960"/>
            <a:ext cx="6794153" cy="4167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625" b="1">
                <a:solidFill>
                  <a:srgbClr val="00355F"/>
                </a:solidFill>
                <a:latin typeface="Arial"/>
                <a:ea typeface="Arial"/>
                <a:cs typeface="Arial"/>
              </a:defRPr>
            </a:defPPr>
          </a:lstStyle>
          <a:p xmlns:a="http://schemas.openxmlformats.org/drawingml/2006/main">
            <a:pPr algn="l">
              <a:lnSpc>
                <a:spcPct val="100000"/>
              </a:lnSpc>
              <a:buNone/>
              <a:defRPr sz="2625" b="1">
                <a:solidFill>
                  <a:srgbClr val="00355F"/>
                </a:solidFill>
                <a:latin typeface="Arial"/>
                <a:ea typeface="Arial"/>
                <a:cs typeface="Arial"/>
              </a:defRPr>
            </a:pPr>
            <a:r>
              <a:rPr sz="2625" b="1">
                <a:solidFill>
                  <a:srgbClr val="00355F"/>
                </a:solidFill>
                <a:latin typeface="Arial"/>
                <a:ea typeface="Arial"/>
                <a:cs typeface="Arial"/>
              </a:rPr>
              <a:t>300–1,000 antibodies · Up to 9 label types</a:t>
            </a:r>
          </a:p>
        </p:txBody>
      </p:sp>
      <p:sp>
        <p:nvSpPr>
          <p:cNvPr id="26" name="Figure 13 label 25 line 1">
            <a:extLst xmlns:a="http://schemas.openxmlformats.org/drawingml/2006/main">
              <a:ext uri="{FF2B5EF4-FFF2-40B4-BE49-F238E27FC236}">
                <a16:creationId xmlns:a16="http://schemas.microsoft.com/office/drawing/2014/main" id="{5213E46A-AF06-43ED-82F0-EA1FBE48C77C}"/>
              </a:ext>
            </a:extLst>
          </p:cNvPr>
          <p:cNvSpPr>
            <a:spLocks xmlns:a="http://schemas.openxmlformats.org/drawingml/2006/main" noGrp="1"/>
          </p:cNvSpPr>
          <p:nvPr/>
        </p:nvSpPr>
        <p:spPr>
          <a:xfrm xmlns:a="http://schemas.openxmlformats.org/drawingml/2006/main" rot="0">
            <a:off x="7212711" y="3240024"/>
            <a:ext cx="60829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Measure selected properties on shared molecules; fill the information gaps</a:t>
            </a:r>
          </a:p>
        </p:txBody>
      </p:sp>
      <p:sp>
        <p:nvSpPr>
          <p:cNvPr id="27" name="Figure 13 label 26 line 1">
            <a:extLst xmlns:a="http://schemas.openxmlformats.org/drawingml/2006/main">
              <a:ext uri="{FF2B5EF4-FFF2-40B4-BE49-F238E27FC236}">
                <a16:creationId xmlns:a16="http://schemas.microsoft.com/office/drawing/2014/main" id="{D1E2FCCB-060E-46EE-9BA7-8BA5E5F76444}"/>
              </a:ext>
            </a:extLst>
          </p:cNvPr>
          <p:cNvSpPr>
            <a:spLocks xmlns:a="http://schemas.openxmlformats.org/drawingml/2006/main" noGrp="1"/>
          </p:cNvSpPr>
          <p:nvPr/>
        </p:nvSpPr>
        <p:spPr>
          <a:xfrm xmlns:a="http://schemas.openxmlformats.org/drawingml/2006/main" rot="0">
            <a:off x="7354729" y="3777805"/>
            <a:ext cx="85439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Antibody</a:t>
            </a:r>
          </a:p>
        </p:txBody>
      </p:sp>
      <p:sp>
        <p:nvSpPr>
          <p:cNvPr id="28" name="Figure 13 label 27 line 1">
            <a:extLst xmlns:a="http://schemas.openxmlformats.org/drawingml/2006/main">
              <a:ext uri="{FF2B5EF4-FFF2-40B4-BE49-F238E27FC236}">
                <a16:creationId xmlns:a16="http://schemas.microsoft.com/office/drawing/2014/main" id="{FEC6CB89-9DF1-414F-8134-7AC1D5CE3C3B}"/>
              </a:ext>
            </a:extLst>
          </p:cNvPr>
          <p:cNvSpPr>
            <a:spLocks xmlns:a="http://schemas.openxmlformats.org/drawingml/2006/main" noGrp="1"/>
          </p:cNvSpPr>
          <p:nvPr/>
        </p:nvSpPr>
        <p:spPr>
          <a:xfrm xmlns:a="http://schemas.openxmlformats.org/drawingml/2006/main" rot="0">
            <a:off x="8612029" y="3777805"/>
            <a:ext cx="35909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KD</a:t>
            </a:r>
          </a:p>
        </p:txBody>
      </p:sp>
      <p:sp>
        <p:nvSpPr>
          <p:cNvPr id="29" name="Figure 13 label 28 line 1">
            <a:extLst xmlns:a="http://schemas.openxmlformats.org/drawingml/2006/main">
              <a:ext uri="{FF2B5EF4-FFF2-40B4-BE49-F238E27FC236}">
                <a16:creationId xmlns:a16="http://schemas.microsoft.com/office/drawing/2014/main" id="{348F9C10-BD60-412B-85B4-87107A610036}"/>
              </a:ext>
            </a:extLst>
          </p:cNvPr>
          <p:cNvSpPr>
            <a:spLocks xmlns:a="http://schemas.openxmlformats.org/drawingml/2006/main" noGrp="1"/>
          </p:cNvSpPr>
          <p:nvPr/>
        </p:nvSpPr>
        <p:spPr>
          <a:xfrm xmlns:a="http://schemas.openxmlformats.org/drawingml/2006/main" rot="0">
            <a:off x="9478729" y="3777805"/>
            <a:ext cx="41639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kon</a:t>
            </a:r>
          </a:p>
        </p:txBody>
      </p:sp>
      <p:sp>
        <p:nvSpPr>
          <p:cNvPr id="30" name="Figure 13 label 29 line 1">
            <a:extLst xmlns:a="http://schemas.openxmlformats.org/drawingml/2006/main">
              <a:ext uri="{FF2B5EF4-FFF2-40B4-BE49-F238E27FC236}">
                <a16:creationId xmlns:a16="http://schemas.microsoft.com/office/drawing/2014/main" id="{5866BC79-F8C9-487C-A645-AE539ABEE6BD}"/>
              </a:ext>
            </a:extLst>
          </p:cNvPr>
          <p:cNvSpPr>
            <a:spLocks xmlns:a="http://schemas.openxmlformats.org/drawingml/2006/main" noGrp="1"/>
          </p:cNvSpPr>
          <p:nvPr/>
        </p:nvSpPr>
        <p:spPr>
          <a:xfrm xmlns:a="http://schemas.openxmlformats.org/drawingml/2006/main" rot="0">
            <a:off x="10369391" y="3777805"/>
            <a:ext cx="42576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koff</a:t>
            </a:r>
          </a:p>
        </p:txBody>
      </p:sp>
      <p:sp>
        <p:nvSpPr>
          <p:cNvPr id="31" name="Figure 13 label 30 line 1">
            <a:extLst xmlns:a="http://schemas.openxmlformats.org/drawingml/2006/main">
              <a:ext uri="{FF2B5EF4-FFF2-40B4-BE49-F238E27FC236}">
                <a16:creationId xmlns:a16="http://schemas.microsoft.com/office/drawing/2014/main" id="{53C7DD7A-F279-4309-90B8-62E9AF77D966}"/>
              </a:ext>
            </a:extLst>
          </p:cNvPr>
          <p:cNvSpPr>
            <a:spLocks xmlns:a="http://schemas.openxmlformats.org/drawingml/2006/main" noGrp="1"/>
          </p:cNvSpPr>
          <p:nvPr/>
        </p:nvSpPr>
        <p:spPr>
          <a:xfrm xmlns:a="http://schemas.openxmlformats.org/drawingml/2006/main" rot="0">
            <a:off x="11393180" y="3777805"/>
            <a:ext cx="47369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expr</a:t>
            </a:r>
          </a:p>
        </p:txBody>
      </p:sp>
      <p:sp>
        <p:nvSpPr>
          <p:cNvPr id="32" name="Figure 13 label 31 line 1">
            <a:extLst xmlns:a="http://schemas.openxmlformats.org/drawingml/2006/main">
              <a:ext uri="{FF2B5EF4-FFF2-40B4-BE49-F238E27FC236}">
                <a16:creationId xmlns:a16="http://schemas.microsoft.com/office/drawing/2014/main" id="{CC0A4AD8-1E52-4998-A9FE-1804FC67ACDF}"/>
              </a:ext>
            </a:extLst>
          </p:cNvPr>
          <p:cNvSpPr>
            <a:spLocks xmlns:a="http://schemas.openxmlformats.org/drawingml/2006/main" noGrp="1"/>
          </p:cNvSpPr>
          <p:nvPr/>
        </p:nvSpPr>
        <p:spPr>
          <a:xfrm xmlns:a="http://schemas.openxmlformats.org/drawingml/2006/main" rot="0">
            <a:off x="12445841" y="3777805"/>
            <a:ext cx="36861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Tm</a:t>
            </a:r>
          </a:p>
        </p:txBody>
      </p:sp>
      <p:sp>
        <p:nvSpPr>
          <p:cNvPr id="33" name="Figure 13 label 32 line 1">
            <a:extLst xmlns:a="http://schemas.openxmlformats.org/drawingml/2006/main">
              <a:ext uri="{FF2B5EF4-FFF2-40B4-BE49-F238E27FC236}">
                <a16:creationId xmlns:a16="http://schemas.microsoft.com/office/drawing/2014/main" id="{3F3C245E-76D4-43B8-BE33-D4CEDDBA0114}"/>
              </a:ext>
            </a:extLst>
          </p:cNvPr>
          <p:cNvSpPr>
            <a:spLocks xmlns:a="http://schemas.openxmlformats.org/drawingml/2006/main" noGrp="1"/>
          </p:cNvSpPr>
          <p:nvPr/>
        </p:nvSpPr>
        <p:spPr>
          <a:xfrm xmlns:a="http://schemas.openxmlformats.org/drawingml/2006/main" rot="0">
            <a:off x="13307779" y="3777805"/>
            <a:ext cx="41639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agg</a:t>
            </a:r>
          </a:p>
        </p:txBody>
      </p:sp>
      <p:sp>
        <p:nvSpPr>
          <p:cNvPr id="34" name="Figure 13 label 33 line 1">
            <a:extLst xmlns:a="http://schemas.openxmlformats.org/drawingml/2006/main">
              <a:ext uri="{FF2B5EF4-FFF2-40B4-BE49-F238E27FC236}">
                <a16:creationId xmlns:a16="http://schemas.microsoft.com/office/drawing/2014/main" id="{B86AFF82-BBEA-4242-B311-8C27BFE241DC}"/>
              </a:ext>
            </a:extLst>
          </p:cNvPr>
          <p:cNvSpPr>
            <a:spLocks xmlns:a="http://schemas.openxmlformats.org/drawingml/2006/main" noGrp="1"/>
          </p:cNvSpPr>
          <p:nvPr/>
        </p:nvSpPr>
        <p:spPr>
          <a:xfrm xmlns:a="http://schemas.openxmlformats.org/drawingml/2006/main" rot="0">
            <a:off x="14312667" y="3777805"/>
            <a:ext cx="46401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poly</a:t>
            </a:r>
          </a:p>
        </p:txBody>
      </p:sp>
      <p:sp>
        <p:nvSpPr>
          <p:cNvPr id="35" name="Figure 13 label 34 line 1">
            <a:extLst xmlns:a="http://schemas.openxmlformats.org/drawingml/2006/main">
              <a:ext uri="{FF2B5EF4-FFF2-40B4-BE49-F238E27FC236}">
                <a16:creationId xmlns:a16="http://schemas.microsoft.com/office/drawing/2014/main" id="{BF81C8F4-3B47-477C-AB74-7DD114417851}"/>
              </a:ext>
            </a:extLst>
          </p:cNvPr>
          <p:cNvSpPr>
            <a:spLocks xmlns:a="http://schemas.openxmlformats.org/drawingml/2006/main" noGrp="1"/>
          </p:cNvSpPr>
          <p:nvPr/>
        </p:nvSpPr>
        <p:spPr>
          <a:xfrm xmlns:a="http://schemas.openxmlformats.org/drawingml/2006/main" rot="0">
            <a:off x="15403279" y="3777805"/>
            <a:ext cx="35924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epi</a:t>
            </a:r>
          </a:p>
        </p:txBody>
      </p:sp>
      <p:sp>
        <p:nvSpPr>
          <p:cNvPr id="36" name="Figure 13 label 35 line 1">
            <a:extLst xmlns:a="http://schemas.openxmlformats.org/drawingml/2006/main">
              <a:ext uri="{FF2B5EF4-FFF2-40B4-BE49-F238E27FC236}">
                <a16:creationId xmlns:a16="http://schemas.microsoft.com/office/drawing/2014/main" id="{89697B11-D640-4323-8F6C-D621A0792CC9}"/>
              </a:ext>
            </a:extLst>
          </p:cNvPr>
          <p:cNvSpPr>
            <a:spLocks xmlns:a="http://schemas.openxmlformats.org/drawingml/2006/main" noGrp="1"/>
          </p:cNvSpPr>
          <p:nvPr/>
        </p:nvSpPr>
        <p:spPr>
          <a:xfrm xmlns:a="http://schemas.openxmlformats.org/drawingml/2006/main" rot="0">
            <a:off x="16508105" y="3777805"/>
            <a:ext cx="39749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cell</a:t>
            </a:r>
          </a:p>
        </p:txBody>
      </p:sp>
      <p:sp>
        <p:nvSpPr>
          <p:cNvPr id="37" name="Figure 13 label 36 line 1">
            <a:extLst xmlns:a="http://schemas.openxmlformats.org/drawingml/2006/main">
              <a:ext uri="{FF2B5EF4-FFF2-40B4-BE49-F238E27FC236}">
                <a16:creationId xmlns:a16="http://schemas.microsoft.com/office/drawing/2014/main" id="{BF11E8F4-CF36-4BB6-AFD7-39F6EDEF5083}"/>
              </a:ext>
            </a:extLst>
          </p:cNvPr>
          <p:cNvSpPr>
            <a:spLocks xmlns:a="http://schemas.openxmlformats.org/drawingml/2006/main" noGrp="1"/>
          </p:cNvSpPr>
          <p:nvPr/>
        </p:nvSpPr>
        <p:spPr>
          <a:xfrm xmlns:a="http://schemas.openxmlformats.org/drawingml/2006/main" rot="0">
            <a:off x="7449756" y="41349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Ab-001</a:t>
            </a:r>
          </a:p>
        </p:txBody>
      </p:sp>
      <p:sp>
        <p:nvSpPr>
          <p:cNvPr id="38" name="Figure 13 label 37 line 1">
            <a:extLst xmlns:a="http://schemas.openxmlformats.org/drawingml/2006/main">
              <a:ext uri="{FF2B5EF4-FFF2-40B4-BE49-F238E27FC236}">
                <a16:creationId xmlns:a16="http://schemas.microsoft.com/office/drawing/2014/main" id="{A4B2DFC1-D842-4392-852C-A13BD14CAD18}"/>
              </a:ext>
            </a:extLst>
          </p:cNvPr>
          <p:cNvSpPr>
            <a:spLocks xmlns:a="http://schemas.openxmlformats.org/drawingml/2006/main" noGrp="1"/>
          </p:cNvSpPr>
          <p:nvPr/>
        </p:nvSpPr>
        <p:spPr>
          <a:xfrm xmlns:a="http://schemas.openxmlformats.org/drawingml/2006/main" rot="0">
            <a:off x="8581772" y="41263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120</a:t>
            </a:r>
          </a:p>
        </p:txBody>
      </p:sp>
      <p:sp>
        <p:nvSpPr>
          <p:cNvPr id="39" name="Figure 13 label 38 line 1">
            <a:extLst xmlns:a="http://schemas.openxmlformats.org/drawingml/2006/main">
              <a:ext uri="{FF2B5EF4-FFF2-40B4-BE49-F238E27FC236}">
                <a16:creationId xmlns:a16="http://schemas.microsoft.com/office/drawing/2014/main" id="{A6FA7046-334C-49E2-BA5B-F85334F6A7E2}"/>
              </a:ext>
            </a:extLst>
          </p:cNvPr>
          <p:cNvSpPr>
            <a:spLocks xmlns:a="http://schemas.openxmlformats.org/drawingml/2006/main" noGrp="1"/>
          </p:cNvSpPr>
          <p:nvPr/>
        </p:nvSpPr>
        <p:spPr>
          <a:xfrm xmlns:a="http://schemas.openxmlformats.org/drawingml/2006/main" rot="0">
            <a:off x="942674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7200</a:t>
            </a:r>
          </a:p>
        </p:txBody>
      </p:sp>
      <p:sp>
        <p:nvSpPr>
          <p:cNvPr id="40" name="Figure 13 label 39 line 1">
            <a:extLst xmlns:a="http://schemas.openxmlformats.org/drawingml/2006/main">
              <a:ext uri="{FF2B5EF4-FFF2-40B4-BE49-F238E27FC236}">
                <a16:creationId xmlns:a16="http://schemas.microsoft.com/office/drawing/2014/main" id="{9A07A89F-197B-4810-BD5A-B82B408BE37A}"/>
              </a:ext>
            </a:extLst>
          </p:cNvPr>
          <p:cNvSpPr>
            <a:spLocks xmlns:a="http://schemas.openxmlformats.org/drawingml/2006/main" noGrp="1"/>
          </p:cNvSpPr>
          <p:nvPr/>
        </p:nvSpPr>
        <p:spPr>
          <a:xfrm xmlns:a="http://schemas.openxmlformats.org/drawingml/2006/main" rot="0">
            <a:off x="1032209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1800</a:t>
            </a:r>
          </a:p>
        </p:txBody>
      </p:sp>
      <p:sp>
        <p:nvSpPr>
          <p:cNvPr id="41" name="Figure 13 label 40 line 1">
            <a:extLst xmlns:a="http://schemas.openxmlformats.org/drawingml/2006/main">
              <a:ext uri="{FF2B5EF4-FFF2-40B4-BE49-F238E27FC236}">
                <a16:creationId xmlns:a16="http://schemas.microsoft.com/office/drawing/2014/main" id="{365D9625-9CC1-4222-A37D-0442DD2DFAAA}"/>
              </a:ext>
            </a:extLst>
          </p:cNvPr>
          <p:cNvSpPr>
            <a:spLocks xmlns:a="http://schemas.openxmlformats.org/drawingml/2006/main" noGrp="1"/>
          </p:cNvSpPr>
          <p:nvPr/>
        </p:nvSpPr>
        <p:spPr>
          <a:xfrm xmlns:a="http://schemas.openxmlformats.org/drawingml/2006/main" rot="0">
            <a:off x="1136984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8400</a:t>
            </a:r>
          </a:p>
        </p:txBody>
      </p:sp>
      <p:sp>
        <p:nvSpPr>
          <p:cNvPr id="42" name="Figure 13 label 41 line 1">
            <a:extLst xmlns:a="http://schemas.openxmlformats.org/drawingml/2006/main">
              <a:ext uri="{FF2B5EF4-FFF2-40B4-BE49-F238E27FC236}">
                <a16:creationId xmlns:a16="http://schemas.microsoft.com/office/drawing/2014/main" id="{85A6DCD3-F198-4CED-AC04-201C45E58596}"/>
              </a:ext>
            </a:extLst>
          </p:cNvPr>
          <p:cNvSpPr>
            <a:spLocks xmlns:a="http://schemas.openxmlformats.org/drawingml/2006/main" noGrp="1"/>
          </p:cNvSpPr>
          <p:nvPr/>
        </p:nvSpPr>
        <p:spPr>
          <a:xfrm xmlns:a="http://schemas.openxmlformats.org/drawingml/2006/main" rot="0">
            <a:off x="12369969"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5100</a:t>
            </a:r>
          </a:p>
        </p:txBody>
      </p:sp>
      <p:sp>
        <p:nvSpPr>
          <p:cNvPr id="43" name="Figure 13 label 42 line 1">
            <a:extLst xmlns:a="http://schemas.openxmlformats.org/drawingml/2006/main">
              <a:ext uri="{FF2B5EF4-FFF2-40B4-BE49-F238E27FC236}">
                <a16:creationId xmlns:a16="http://schemas.microsoft.com/office/drawing/2014/main" id="{9D3376E3-6B8B-48C4-AA72-8313C08C83F4}"/>
              </a:ext>
            </a:extLst>
          </p:cNvPr>
          <p:cNvSpPr>
            <a:spLocks xmlns:a="http://schemas.openxmlformats.org/drawingml/2006/main" noGrp="1"/>
          </p:cNvSpPr>
          <p:nvPr/>
        </p:nvSpPr>
        <p:spPr>
          <a:xfrm xmlns:a="http://schemas.openxmlformats.org/drawingml/2006/main" rot="0">
            <a:off x="13356476" y="4126325"/>
            <a:ext cx="318998"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75</a:t>
            </a:r>
          </a:p>
        </p:txBody>
      </p:sp>
      <p:sp>
        <p:nvSpPr>
          <p:cNvPr id="44" name="Figure 13 label 43 line 1">
            <a:extLst xmlns:a="http://schemas.openxmlformats.org/drawingml/2006/main">
              <a:ext uri="{FF2B5EF4-FFF2-40B4-BE49-F238E27FC236}">
                <a16:creationId xmlns:a16="http://schemas.microsoft.com/office/drawing/2014/main" id="{ABC37736-147E-4E65-BC4A-7C0A5210EABF}"/>
              </a:ext>
            </a:extLst>
          </p:cNvPr>
          <p:cNvSpPr>
            <a:spLocks xmlns:a="http://schemas.openxmlformats.org/drawingml/2006/main" noGrp="1"/>
          </p:cNvSpPr>
          <p:nvPr/>
        </p:nvSpPr>
        <p:spPr>
          <a:xfrm xmlns:a="http://schemas.openxmlformats.org/drawingml/2006/main" rot="0">
            <a:off x="1428449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3200</a:t>
            </a:r>
          </a:p>
        </p:txBody>
      </p:sp>
      <p:sp>
        <p:nvSpPr>
          <p:cNvPr id="45" name="Figure 13 label 44 line 1">
            <a:extLst xmlns:a="http://schemas.openxmlformats.org/drawingml/2006/main">
              <a:ext uri="{FF2B5EF4-FFF2-40B4-BE49-F238E27FC236}">
                <a16:creationId xmlns:a16="http://schemas.microsoft.com/office/drawing/2014/main" id="{BB9B2723-BC74-4122-816A-5E1F8D9E9E23}"/>
              </a:ext>
            </a:extLst>
          </p:cNvPr>
          <p:cNvSpPr>
            <a:spLocks xmlns:a="http://schemas.openxmlformats.org/drawingml/2006/main" noGrp="1"/>
          </p:cNvSpPr>
          <p:nvPr/>
        </p:nvSpPr>
        <p:spPr>
          <a:xfrm xmlns:a="http://schemas.openxmlformats.org/drawingml/2006/main" rot="0">
            <a:off x="15322719"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9000</a:t>
            </a:r>
          </a:p>
        </p:txBody>
      </p:sp>
      <p:sp>
        <p:nvSpPr>
          <p:cNvPr id="46" name="Figure 13 label 45 line 1">
            <a:extLst xmlns:a="http://schemas.openxmlformats.org/drawingml/2006/main">
              <a:ext uri="{FF2B5EF4-FFF2-40B4-BE49-F238E27FC236}">
                <a16:creationId xmlns:a16="http://schemas.microsoft.com/office/drawing/2014/main" id="{879FB45B-9311-4BD6-B8C4-23D7A8891D94}"/>
              </a:ext>
            </a:extLst>
          </p:cNvPr>
          <p:cNvSpPr>
            <a:spLocks xmlns:a="http://schemas.openxmlformats.org/drawingml/2006/main" noGrp="1"/>
          </p:cNvSpPr>
          <p:nvPr/>
        </p:nvSpPr>
        <p:spPr>
          <a:xfrm xmlns:a="http://schemas.openxmlformats.org/drawingml/2006/main" rot="0">
            <a:off x="16497047" y="41263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430</a:t>
            </a:r>
          </a:p>
        </p:txBody>
      </p:sp>
      <p:sp>
        <p:nvSpPr>
          <p:cNvPr id="47" name="Figure 13 label 46 line 1">
            <a:extLst xmlns:a="http://schemas.openxmlformats.org/drawingml/2006/main">
              <a:ext uri="{FF2B5EF4-FFF2-40B4-BE49-F238E27FC236}">
                <a16:creationId xmlns:a16="http://schemas.microsoft.com/office/drawing/2014/main" id="{03E4A52B-C677-4E11-AB3B-5494D222C704}"/>
              </a:ext>
            </a:extLst>
          </p:cNvPr>
          <p:cNvSpPr>
            <a:spLocks xmlns:a="http://schemas.openxmlformats.org/drawingml/2006/main" noGrp="1"/>
          </p:cNvSpPr>
          <p:nvPr/>
        </p:nvSpPr>
        <p:spPr>
          <a:xfrm xmlns:a="http://schemas.openxmlformats.org/drawingml/2006/main" rot="0">
            <a:off x="7449756" y="44493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Ab-002</a:t>
            </a:r>
          </a:p>
        </p:txBody>
      </p:sp>
      <p:sp>
        <p:nvSpPr>
          <p:cNvPr id="48" name="Figure 13 label 47 line 1">
            <a:extLst xmlns:a="http://schemas.openxmlformats.org/drawingml/2006/main">
              <a:ext uri="{FF2B5EF4-FFF2-40B4-BE49-F238E27FC236}">
                <a16:creationId xmlns:a16="http://schemas.microsoft.com/office/drawing/2014/main" id="{C5D3B04D-EF71-4A01-8EBE-E3A6C5860101}"/>
              </a:ext>
            </a:extLst>
          </p:cNvPr>
          <p:cNvSpPr>
            <a:spLocks xmlns:a="http://schemas.openxmlformats.org/drawingml/2006/main" noGrp="1"/>
          </p:cNvSpPr>
          <p:nvPr/>
        </p:nvSpPr>
        <p:spPr>
          <a:xfrm xmlns:a="http://schemas.openxmlformats.org/drawingml/2006/main" rot="0">
            <a:off x="85313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8100</a:t>
            </a:r>
          </a:p>
        </p:txBody>
      </p:sp>
      <p:sp>
        <p:nvSpPr>
          <p:cNvPr id="49" name="Figure 13 label 48 line 1">
            <a:extLst xmlns:a="http://schemas.openxmlformats.org/drawingml/2006/main">
              <a:ext uri="{FF2B5EF4-FFF2-40B4-BE49-F238E27FC236}">
                <a16:creationId xmlns:a16="http://schemas.microsoft.com/office/drawing/2014/main" id="{78102D95-B787-45EC-AE72-782C3887E37B}"/>
              </a:ext>
            </a:extLst>
          </p:cNvPr>
          <p:cNvSpPr>
            <a:spLocks xmlns:a="http://schemas.openxmlformats.org/drawingml/2006/main" noGrp="1"/>
          </p:cNvSpPr>
          <p:nvPr/>
        </p:nvSpPr>
        <p:spPr>
          <a:xfrm xmlns:a="http://schemas.openxmlformats.org/drawingml/2006/main" rot="0">
            <a:off x="9477122" y="444065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640</a:t>
            </a:r>
          </a:p>
        </p:txBody>
      </p:sp>
      <p:sp>
        <p:nvSpPr>
          <p:cNvPr id="50" name="Figure 13 label 49 line 1">
            <a:extLst xmlns:a="http://schemas.openxmlformats.org/drawingml/2006/main">
              <a:ext uri="{FF2B5EF4-FFF2-40B4-BE49-F238E27FC236}">
                <a16:creationId xmlns:a16="http://schemas.microsoft.com/office/drawing/2014/main" id="{ED0F4897-71DD-4FC4-9742-FBB2AC539B87}"/>
              </a:ext>
            </a:extLst>
          </p:cNvPr>
          <p:cNvSpPr>
            <a:spLocks xmlns:a="http://schemas.openxmlformats.org/drawingml/2006/main" noGrp="1"/>
          </p:cNvSpPr>
          <p:nvPr/>
        </p:nvSpPr>
        <p:spPr>
          <a:xfrm xmlns:a="http://schemas.openxmlformats.org/drawingml/2006/main" rot="0">
            <a:off x="103220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5400</a:t>
            </a:r>
          </a:p>
        </p:txBody>
      </p:sp>
      <p:sp>
        <p:nvSpPr>
          <p:cNvPr id="51" name="Figure 13 label 50 line 1">
            <a:extLst xmlns:a="http://schemas.openxmlformats.org/drawingml/2006/main">
              <a:ext uri="{FF2B5EF4-FFF2-40B4-BE49-F238E27FC236}">
                <a16:creationId xmlns:a16="http://schemas.microsoft.com/office/drawing/2014/main" id="{17422420-7D18-4D19-A474-556524ACE68B}"/>
              </a:ext>
            </a:extLst>
          </p:cNvPr>
          <p:cNvSpPr>
            <a:spLocks xmlns:a="http://schemas.openxmlformats.org/drawingml/2006/main" noGrp="1"/>
          </p:cNvSpPr>
          <p:nvPr/>
        </p:nvSpPr>
        <p:spPr>
          <a:xfrm xmlns:a="http://schemas.openxmlformats.org/drawingml/2006/main" rot="0">
            <a:off x="1136984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2200</a:t>
            </a:r>
          </a:p>
        </p:txBody>
      </p:sp>
      <p:sp>
        <p:nvSpPr>
          <p:cNvPr id="52" name="Figure 13 label 51 line 1">
            <a:extLst xmlns:a="http://schemas.openxmlformats.org/drawingml/2006/main">
              <a:ext uri="{FF2B5EF4-FFF2-40B4-BE49-F238E27FC236}">
                <a16:creationId xmlns:a16="http://schemas.microsoft.com/office/drawing/2014/main" id="{1DFAA8D1-80AA-48E0-8825-FF1C8CEC9FD8}"/>
              </a:ext>
            </a:extLst>
          </p:cNvPr>
          <p:cNvSpPr>
            <a:spLocks xmlns:a="http://schemas.openxmlformats.org/drawingml/2006/main" noGrp="1"/>
          </p:cNvSpPr>
          <p:nvPr/>
        </p:nvSpPr>
        <p:spPr>
          <a:xfrm xmlns:a="http://schemas.openxmlformats.org/drawingml/2006/main" rot="0">
            <a:off x="12369969"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9500</a:t>
            </a:r>
          </a:p>
        </p:txBody>
      </p:sp>
      <p:sp>
        <p:nvSpPr>
          <p:cNvPr id="53" name="Figure 13 label 52 line 1">
            <a:extLst xmlns:a="http://schemas.openxmlformats.org/drawingml/2006/main">
              <a:ext uri="{FF2B5EF4-FFF2-40B4-BE49-F238E27FC236}">
                <a16:creationId xmlns:a16="http://schemas.microsoft.com/office/drawing/2014/main" id="{B178DDDC-31DF-4155-8F2F-855C2A387E21}"/>
              </a:ext>
            </a:extLst>
          </p:cNvPr>
          <p:cNvSpPr>
            <a:spLocks xmlns:a="http://schemas.openxmlformats.org/drawingml/2006/main" noGrp="1"/>
          </p:cNvSpPr>
          <p:nvPr/>
        </p:nvSpPr>
        <p:spPr>
          <a:xfrm xmlns:a="http://schemas.openxmlformats.org/drawingml/2006/main" rot="0">
            <a:off x="132557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1600</a:t>
            </a:r>
          </a:p>
        </p:txBody>
      </p:sp>
      <p:sp>
        <p:nvSpPr>
          <p:cNvPr id="54" name="Figure 13 label 53 line 1">
            <a:extLst xmlns:a="http://schemas.openxmlformats.org/drawingml/2006/main">
              <a:ext uri="{FF2B5EF4-FFF2-40B4-BE49-F238E27FC236}">
                <a16:creationId xmlns:a16="http://schemas.microsoft.com/office/drawing/2014/main" id="{36A01F3F-D0C5-4D41-A13A-23254C0AED3A}"/>
              </a:ext>
            </a:extLst>
          </p:cNvPr>
          <p:cNvSpPr>
            <a:spLocks xmlns:a="http://schemas.openxmlformats.org/drawingml/2006/main" noGrp="1"/>
          </p:cNvSpPr>
          <p:nvPr/>
        </p:nvSpPr>
        <p:spPr>
          <a:xfrm xmlns:a="http://schemas.openxmlformats.org/drawingml/2006/main" rot="0">
            <a:off x="142844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4100</a:t>
            </a:r>
          </a:p>
        </p:txBody>
      </p:sp>
      <p:sp>
        <p:nvSpPr>
          <p:cNvPr id="55" name="Figure 13 label 54 line 1">
            <a:extLst xmlns:a="http://schemas.openxmlformats.org/drawingml/2006/main">
              <a:ext uri="{FF2B5EF4-FFF2-40B4-BE49-F238E27FC236}">
                <a16:creationId xmlns:a16="http://schemas.microsoft.com/office/drawing/2014/main" id="{0832525C-BE42-4966-92A9-C2A17F668A89}"/>
              </a:ext>
            </a:extLst>
          </p:cNvPr>
          <p:cNvSpPr>
            <a:spLocks xmlns:a="http://schemas.openxmlformats.org/drawingml/2006/main" noGrp="1"/>
          </p:cNvSpPr>
          <p:nvPr/>
        </p:nvSpPr>
        <p:spPr>
          <a:xfrm xmlns:a="http://schemas.openxmlformats.org/drawingml/2006/main" rot="0">
            <a:off x="15373097" y="444065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500</a:t>
            </a:r>
          </a:p>
        </p:txBody>
      </p:sp>
      <p:sp>
        <p:nvSpPr>
          <p:cNvPr id="56" name="Figure 13 label 55 line 1">
            <a:extLst xmlns:a="http://schemas.openxmlformats.org/drawingml/2006/main">
              <a:ext uri="{FF2B5EF4-FFF2-40B4-BE49-F238E27FC236}">
                <a16:creationId xmlns:a16="http://schemas.microsoft.com/office/drawing/2014/main" id="{FDCF623D-B8AB-4D6A-B737-75EC39E78909}"/>
              </a:ext>
            </a:extLst>
          </p:cNvPr>
          <p:cNvSpPr>
            <a:spLocks xmlns:a="http://schemas.openxmlformats.org/drawingml/2006/main" noGrp="1"/>
          </p:cNvSpPr>
          <p:nvPr/>
        </p:nvSpPr>
        <p:spPr>
          <a:xfrm xmlns:a="http://schemas.openxmlformats.org/drawingml/2006/main" rot="0">
            <a:off x="16446669"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6900</a:t>
            </a:r>
          </a:p>
        </p:txBody>
      </p:sp>
      <p:sp>
        <p:nvSpPr>
          <p:cNvPr id="57" name="Figure 13 label 56 line 1">
            <a:extLst xmlns:a="http://schemas.openxmlformats.org/drawingml/2006/main">
              <a:ext uri="{FF2B5EF4-FFF2-40B4-BE49-F238E27FC236}">
                <a16:creationId xmlns:a16="http://schemas.microsoft.com/office/drawing/2014/main" id="{A0E5AAB6-9A36-4AC3-AEF0-92F8A326B1B8}"/>
              </a:ext>
            </a:extLst>
          </p:cNvPr>
          <p:cNvSpPr>
            <a:spLocks xmlns:a="http://schemas.openxmlformats.org/drawingml/2006/main" noGrp="1"/>
          </p:cNvSpPr>
          <p:nvPr/>
        </p:nvSpPr>
        <p:spPr>
          <a:xfrm xmlns:a="http://schemas.openxmlformats.org/drawingml/2006/main" rot="0">
            <a:off x="7449756" y="476364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Ab-003</a:t>
            </a:r>
          </a:p>
        </p:txBody>
      </p:sp>
      <p:sp>
        <p:nvSpPr>
          <p:cNvPr id="58" name="Figure 13 label 57 line 1">
            <a:extLst xmlns:a="http://schemas.openxmlformats.org/drawingml/2006/main">
              <a:ext uri="{FF2B5EF4-FFF2-40B4-BE49-F238E27FC236}">
                <a16:creationId xmlns:a16="http://schemas.microsoft.com/office/drawing/2014/main" id="{415E8F60-ADE3-4B49-B1AD-3E4EDB925DA5}"/>
              </a:ext>
            </a:extLst>
          </p:cNvPr>
          <p:cNvSpPr>
            <a:spLocks xmlns:a="http://schemas.openxmlformats.org/drawingml/2006/main" noGrp="1"/>
          </p:cNvSpPr>
          <p:nvPr/>
        </p:nvSpPr>
        <p:spPr>
          <a:xfrm xmlns:a="http://schemas.openxmlformats.org/drawingml/2006/main" rot="0">
            <a:off x="853139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2600</a:t>
            </a:r>
          </a:p>
        </p:txBody>
      </p:sp>
      <p:sp>
        <p:nvSpPr>
          <p:cNvPr id="59" name="Figure 13 label 58 line 1">
            <a:extLst xmlns:a="http://schemas.openxmlformats.org/drawingml/2006/main">
              <a:ext uri="{FF2B5EF4-FFF2-40B4-BE49-F238E27FC236}">
                <a16:creationId xmlns:a16="http://schemas.microsoft.com/office/drawing/2014/main" id="{07913CB7-0A4D-47B7-8EBC-4C3A55F1A36B}"/>
              </a:ext>
            </a:extLst>
          </p:cNvPr>
          <p:cNvSpPr>
            <a:spLocks xmlns:a="http://schemas.openxmlformats.org/drawingml/2006/main" noGrp="1"/>
          </p:cNvSpPr>
          <p:nvPr/>
        </p:nvSpPr>
        <p:spPr>
          <a:xfrm xmlns:a="http://schemas.openxmlformats.org/drawingml/2006/main" rot="0">
            <a:off x="942674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9200</a:t>
            </a:r>
          </a:p>
        </p:txBody>
      </p:sp>
      <p:sp>
        <p:nvSpPr>
          <p:cNvPr id="60" name="Figure 13 label 59 line 1">
            <a:extLst xmlns:a="http://schemas.openxmlformats.org/drawingml/2006/main">
              <a:ext uri="{FF2B5EF4-FFF2-40B4-BE49-F238E27FC236}">
                <a16:creationId xmlns:a16="http://schemas.microsoft.com/office/drawing/2014/main" id="{40A9F1ED-80DE-4F3E-955C-350942662C8A}"/>
              </a:ext>
            </a:extLst>
          </p:cNvPr>
          <p:cNvSpPr>
            <a:spLocks xmlns:a="http://schemas.openxmlformats.org/drawingml/2006/main" noGrp="1"/>
          </p:cNvSpPr>
          <p:nvPr/>
        </p:nvSpPr>
        <p:spPr>
          <a:xfrm xmlns:a="http://schemas.openxmlformats.org/drawingml/2006/main" rot="0">
            <a:off x="10372472" y="475497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410</a:t>
            </a:r>
          </a:p>
        </p:txBody>
      </p:sp>
      <p:sp>
        <p:nvSpPr>
          <p:cNvPr id="61" name="Figure 13 label 60 line 1">
            <a:extLst xmlns:a="http://schemas.openxmlformats.org/drawingml/2006/main">
              <a:ext uri="{FF2B5EF4-FFF2-40B4-BE49-F238E27FC236}">
                <a16:creationId xmlns:a16="http://schemas.microsoft.com/office/drawing/2014/main" id="{64BB8FF3-CEFB-44AB-B934-BBCF453E4DF1}"/>
              </a:ext>
            </a:extLst>
          </p:cNvPr>
          <p:cNvSpPr>
            <a:spLocks xmlns:a="http://schemas.openxmlformats.org/drawingml/2006/main" noGrp="1"/>
          </p:cNvSpPr>
          <p:nvPr/>
        </p:nvSpPr>
        <p:spPr>
          <a:xfrm xmlns:a="http://schemas.openxmlformats.org/drawingml/2006/main" rot="0">
            <a:off x="1136984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6500</a:t>
            </a:r>
          </a:p>
        </p:txBody>
      </p:sp>
      <p:sp>
        <p:nvSpPr>
          <p:cNvPr id="62" name="Figure 13 label 61 line 1">
            <a:extLst xmlns:a="http://schemas.openxmlformats.org/drawingml/2006/main">
              <a:ext uri="{FF2B5EF4-FFF2-40B4-BE49-F238E27FC236}">
                <a16:creationId xmlns:a16="http://schemas.microsoft.com/office/drawing/2014/main" id="{FCE28125-FF62-4CAC-BCE7-7902798FC30D}"/>
              </a:ext>
            </a:extLst>
          </p:cNvPr>
          <p:cNvSpPr>
            <a:spLocks xmlns:a="http://schemas.openxmlformats.org/drawingml/2006/main" noGrp="1"/>
          </p:cNvSpPr>
          <p:nvPr/>
        </p:nvSpPr>
        <p:spPr>
          <a:xfrm xmlns:a="http://schemas.openxmlformats.org/drawingml/2006/main" rot="0">
            <a:off x="12369969"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3100</a:t>
            </a:r>
          </a:p>
        </p:txBody>
      </p:sp>
      <p:sp>
        <p:nvSpPr>
          <p:cNvPr id="63" name="Figure 13 label 62 line 1">
            <a:extLst xmlns:a="http://schemas.openxmlformats.org/drawingml/2006/main">
              <a:ext uri="{FF2B5EF4-FFF2-40B4-BE49-F238E27FC236}">
                <a16:creationId xmlns:a16="http://schemas.microsoft.com/office/drawing/2014/main" id="{FB3356D2-92C0-461B-8C33-203F169E28CD}"/>
              </a:ext>
            </a:extLst>
          </p:cNvPr>
          <p:cNvSpPr>
            <a:spLocks xmlns:a="http://schemas.openxmlformats.org/drawingml/2006/main" noGrp="1"/>
          </p:cNvSpPr>
          <p:nvPr/>
        </p:nvSpPr>
        <p:spPr>
          <a:xfrm xmlns:a="http://schemas.openxmlformats.org/drawingml/2006/main" rot="0">
            <a:off x="1325579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7900</a:t>
            </a:r>
          </a:p>
        </p:txBody>
      </p:sp>
      <p:sp>
        <p:nvSpPr>
          <p:cNvPr id="64" name="Figure 13 label 63 line 1">
            <a:extLst xmlns:a="http://schemas.openxmlformats.org/drawingml/2006/main">
              <a:ext uri="{FF2B5EF4-FFF2-40B4-BE49-F238E27FC236}">
                <a16:creationId xmlns:a16="http://schemas.microsoft.com/office/drawing/2014/main" id="{56C5BDA3-496B-412E-BBF9-D48648D5A275}"/>
              </a:ext>
            </a:extLst>
          </p:cNvPr>
          <p:cNvSpPr>
            <a:spLocks xmlns:a="http://schemas.openxmlformats.org/drawingml/2006/main" noGrp="1"/>
          </p:cNvSpPr>
          <p:nvPr/>
        </p:nvSpPr>
        <p:spPr>
          <a:xfrm xmlns:a="http://schemas.openxmlformats.org/drawingml/2006/main" rot="0">
            <a:off x="14334872" y="475497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950</a:t>
            </a:r>
          </a:p>
        </p:txBody>
      </p:sp>
      <p:sp>
        <p:nvSpPr>
          <p:cNvPr id="65" name="Figure 13 label 64 line 1">
            <a:extLst xmlns:a="http://schemas.openxmlformats.org/drawingml/2006/main">
              <a:ext uri="{FF2B5EF4-FFF2-40B4-BE49-F238E27FC236}">
                <a16:creationId xmlns:a16="http://schemas.microsoft.com/office/drawing/2014/main" id="{91E0059B-1C5B-452A-B25B-8128B9FE96B7}"/>
              </a:ext>
            </a:extLst>
          </p:cNvPr>
          <p:cNvSpPr>
            <a:spLocks xmlns:a="http://schemas.openxmlformats.org/drawingml/2006/main" noGrp="1"/>
          </p:cNvSpPr>
          <p:nvPr/>
        </p:nvSpPr>
        <p:spPr>
          <a:xfrm xmlns:a="http://schemas.openxmlformats.org/drawingml/2006/main" rot="0">
            <a:off x="15322719"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4800</a:t>
            </a:r>
          </a:p>
        </p:txBody>
      </p:sp>
      <p:sp>
        <p:nvSpPr>
          <p:cNvPr id="66" name="Figure 13 label 65 line 1">
            <a:extLst xmlns:a="http://schemas.openxmlformats.org/drawingml/2006/main">
              <a:ext uri="{FF2B5EF4-FFF2-40B4-BE49-F238E27FC236}">
                <a16:creationId xmlns:a16="http://schemas.microsoft.com/office/drawing/2014/main" id="{17AA469E-8AF5-4BF4-A8BF-77B87C309F7C}"/>
              </a:ext>
            </a:extLst>
          </p:cNvPr>
          <p:cNvSpPr>
            <a:spLocks xmlns:a="http://schemas.openxmlformats.org/drawingml/2006/main" noGrp="1"/>
          </p:cNvSpPr>
          <p:nvPr/>
        </p:nvSpPr>
        <p:spPr>
          <a:xfrm xmlns:a="http://schemas.openxmlformats.org/drawingml/2006/main" rot="0">
            <a:off x="16446669"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8300</a:t>
            </a:r>
          </a:p>
        </p:txBody>
      </p:sp>
      <p:sp>
        <p:nvSpPr>
          <p:cNvPr id="67" name="Figure 13 label 66 line 1">
            <a:extLst xmlns:a="http://schemas.openxmlformats.org/drawingml/2006/main">
              <a:ext uri="{FF2B5EF4-FFF2-40B4-BE49-F238E27FC236}">
                <a16:creationId xmlns:a16="http://schemas.microsoft.com/office/drawing/2014/main" id="{24630061-9BB5-4CC5-A40C-E8476951EAE4}"/>
              </a:ext>
            </a:extLst>
          </p:cNvPr>
          <p:cNvSpPr>
            <a:spLocks xmlns:a="http://schemas.openxmlformats.org/drawingml/2006/main" noGrp="1"/>
          </p:cNvSpPr>
          <p:nvPr/>
        </p:nvSpPr>
        <p:spPr>
          <a:xfrm xmlns:a="http://schemas.openxmlformats.org/drawingml/2006/main" rot="0">
            <a:off x="7449756" y="507796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Ab-004</a:t>
            </a:r>
          </a:p>
        </p:txBody>
      </p:sp>
      <p:sp>
        <p:nvSpPr>
          <p:cNvPr id="68" name="Figure 13 label 67 line 1">
            <a:extLst xmlns:a="http://schemas.openxmlformats.org/drawingml/2006/main">
              <a:ext uri="{FF2B5EF4-FFF2-40B4-BE49-F238E27FC236}">
                <a16:creationId xmlns:a16="http://schemas.microsoft.com/office/drawing/2014/main" id="{DCACA638-5004-48A7-BBCF-B46A35CE2406}"/>
              </a:ext>
            </a:extLst>
          </p:cNvPr>
          <p:cNvSpPr>
            <a:spLocks xmlns:a="http://schemas.openxmlformats.org/drawingml/2006/main" noGrp="1"/>
          </p:cNvSpPr>
          <p:nvPr/>
        </p:nvSpPr>
        <p:spPr>
          <a:xfrm xmlns:a="http://schemas.openxmlformats.org/drawingml/2006/main" rot="0">
            <a:off x="853139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9800</a:t>
            </a:r>
          </a:p>
        </p:txBody>
      </p:sp>
      <p:sp>
        <p:nvSpPr>
          <p:cNvPr id="69" name="Figure 13 label 68 line 1">
            <a:extLst xmlns:a="http://schemas.openxmlformats.org/drawingml/2006/main">
              <a:ext uri="{FF2B5EF4-FFF2-40B4-BE49-F238E27FC236}">
                <a16:creationId xmlns:a16="http://schemas.microsoft.com/office/drawing/2014/main" id="{29642E9C-D450-4DB8-AC50-079DE352B88A}"/>
              </a:ext>
            </a:extLst>
          </p:cNvPr>
          <p:cNvSpPr>
            <a:spLocks xmlns:a="http://schemas.openxmlformats.org/drawingml/2006/main" noGrp="1"/>
          </p:cNvSpPr>
          <p:nvPr/>
        </p:nvSpPr>
        <p:spPr>
          <a:xfrm xmlns:a="http://schemas.openxmlformats.org/drawingml/2006/main" rot="0">
            <a:off x="942674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3100</a:t>
            </a:r>
          </a:p>
        </p:txBody>
      </p:sp>
      <p:sp>
        <p:nvSpPr>
          <p:cNvPr id="70" name="Figure 13 label 69 line 1">
            <a:extLst xmlns:a="http://schemas.openxmlformats.org/drawingml/2006/main">
              <a:ext uri="{FF2B5EF4-FFF2-40B4-BE49-F238E27FC236}">
                <a16:creationId xmlns:a16="http://schemas.microsoft.com/office/drawing/2014/main" id="{49AB5BB6-A496-4569-9C33-EA183FE526BF}"/>
              </a:ext>
            </a:extLst>
          </p:cNvPr>
          <p:cNvSpPr>
            <a:spLocks xmlns:a="http://schemas.openxmlformats.org/drawingml/2006/main" noGrp="1"/>
          </p:cNvSpPr>
          <p:nvPr/>
        </p:nvSpPr>
        <p:spPr>
          <a:xfrm xmlns:a="http://schemas.openxmlformats.org/drawingml/2006/main" rot="0">
            <a:off x="1032209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7400</a:t>
            </a:r>
          </a:p>
        </p:txBody>
      </p:sp>
      <p:sp>
        <p:nvSpPr>
          <p:cNvPr id="71" name="Figure 13 label 70 line 1">
            <a:extLst xmlns:a="http://schemas.openxmlformats.org/drawingml/2006/main">
              <a:ext uri="{FF2B5EF4-FFF2-40B4-BE49-F238E27FC236}">
                <a16:creationId xmlns:a16="http://schemas.microsoft.com/office/drawing/2014/main" id="{48CB8F66-4D16-4EE5-B14A-39DAE9FA1F95}"/>
              </a:ext>
            </a:extLst>
          </p:cNvPr>
          <p:cNvSpPr>
            <a:spLocks xmlns:a="http://schemas.openxmlformats.org/drawingml/2006/main" noGrp="1"/>
          </p:cNvSpPr>
          <p:nvPr/>
        </p:nvSpPr>
        <p:spPr>
          <a:xfrm xmlns:a="http://schemas.openxmlformats.org/drawingml/2006/main" rot="0">
            <a:off x="1136984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1200</a:t>
            </a:r>
          </a:p>
        </p:txBody>
      </p:sp>
      <p:sp>
        <p:nvSpPr>
          <p:cNvPr id="72" name="Figure 13 label 71 line 1">
            <a:extLst xmlns:a="http://schemas.openxmlformats.org/drawingml/2006/main">
              <a:ext uri="{FF2B5EF4-FFF2-40B4-BE49-F238E27FC236}">
                <a16:creationId xmlns:a16="http://schemas.microsoft.com/office/drawing/2014/main" id="{986B1E5D-3BAB-4752-A613-82C063F80CB6}"/>
              </a:ext>
            </a:extLst>
          </p:cNvPr>
          <p:cNvSpPr>
            <a:spLocks xmlns:a="http://schemas.openxmlformats.org/drawingml/2006/main" noGrp="1"/>
          </p:cNvSpPr>
          <p:nvPr/>
        </p:nvSpPr>
        <p:spPr>
          <a:xfrm xmlns:a="http://schemas.openxmlformats.org/drawingml/2006/main" rot="0">
            <a:off x="12369969"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6800</a:t>
            </a:r>
          </a:p>
        </p:txBody>
      </p:sp>
      <p:sp>
        <p:nvSpPr>
          <p:cNvPr id="73" name="Figure 13 label 72 line 1">
            <a:extLst xmlns:a="http://schemas.openxmlformats.org/drawingml/2006/main">
              <a:ext uri="{FF2B5EF4-FFF2-40B4-BE49-F238E27FC236}">
                <a16:creationId xmlns:a16="http://schemas.microsoft.com/office/drawing/2014/main" id="{246CEC44-CD3D-41C0-93D5-07ED862032BA}"/>
              </a:ext>
            </a:extLst>
          </p:cNvPr>
          <p:cNvSpPr>
            <a:spLocks xmlns:a="http://schemas.openxmlformats.org/drawingml/2006/main" noGrp="1"/>
          </p:cNvSpPr>
          <p:nvPr/>
        </p:nvSpPr>
        <p:spPr>
          <a:xfrm xmlns:a="http://schemas.openxmlformats.org/drawingml/2006/main" rot="0">
            <a:off x="13306172" y="506930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380</a:t>
            </a:r>
          </a:p>
        </p:txBody>
      </p:sp>
      <p:sp>
        <p:nvSpPr>
          <p:cNvPr id="74" name="Figure 13 label 73 line 1">
            <a:extLst xmlns:a="http://schemas.openxmlformats.org/drawingml/2006/main">
              <a:ext uri="{FF2B5EF4-FFF2-40B4-BE49-F238E27FC236}">
                <a16:creationId xmlns:a16="http://schemas.microsoft.com/office/drawing/2014/main" id="{9FCB053F-DD5F-4870-BE12-B49AD8E81839}"/>
              </a:ext>
            </a:extLst>
          </p:cNvPr>
          <p:cNvSpPr>
            <a:spLocks xmlns:a="http://schemas.openxmlformats.org/drawingml/2006/main" noGrp="1"/>
          </p:cNvSpPr>
          <p:nvPr/>
        </p:nvSpPr>
        <p:spPr>
          <a:xfrm xmlns:a="http://schemas.openxmlformats.org/drawingml/2006/main" rot="0">
            <a:off x="1428449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5500</a:t>
            </a:r>
          </a:p>
        </p:txBody>
      </p:sp>
      <p:sp>
        <p:nvSpPr>
          <p:cNvPr id="75" name="Figure 13 label 74 line 1">
            <a:extLst xmlns:a="http://schemas.openxmlformats.org/drawingml/2006/main">
              <a:ext uri="{FF2B5EF4-FFF2-40B4-BE49-F238E27FC236}">
                <a16:creationId xmlns:a16="http://schemas.microsoft.com/office/drawing/2014/main" id="{27F1A0B8-1B61-4F12-930F-862682C51C70}"/>
              </a:ext>
            </a:extLst>
          </p:cNvPr>
          <p:cNvSpPr>
            <a:spLocks xmlns:a="http://schemas.openxmlformats.org/drawingml/2006/main" noGrp="1"/>
          </p:cNvSpPr>
          <p:nvPr/>
        </p:nvSpPr>
        <p:spPr>
          <a:xfrm xmlns:a="http://schemas.openxmlformats.org/drawingml/2006/main" rot="0">
            <a:off x="15322719"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1900</a:t>
            </a:r>
          </a:p>
        </p:txBody>
      </p:sp>
      <p:sp>
        <p:nvSpPr>
          <p:cNvPr id="76" name="Figure 13 label 75 line 1">
            <a:extLst xmlns:a="http://schemas.openxmlformats.org/drawingml/2006/main">
              <a:ext uri="{FF2B5EF4-FFF2-40B4-BE49-F238E27FC236}">
                <a16:creationId xmlns:a16="http://schemas.microsoft.com/office/drawing/2014/main" id="{61FCFA57-6393-4589-9EC0-EC175CE91247}"/>
              </a:ext>
            </a:extLst>
          </p:cNvPr>
          <p:cNvSpPr>
            <a:spLocks xmlns:a="http://schemas.openxmlformats.org/drawingml/2006/main" noGrp="1"/>
          </p:cNvSpPr>
          <p:nvPr/>
        </p:nvSpPr>
        <p:spPr>
          <a:xfrm xmlns:a="http://schemas.openxmlformats.org/drawingml/2006/main" rot="0">
            <a:off x="16446669"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9100</a:t>
            </a:r>
          </a:p>
        </p:txBody>
      </p:sp>
      <p:sp>
        <p:nvSpPr>
          <p:cNvPr id="77" name="Figure 13 label 76 line 1">
            <a:extLst xmlns:a="http://schemas.openxmlformats.org/drawingml/2006/main">
              <a:ext uri="{FF2B5EF4-FFF2-40B4-BE49-F238E27FC236}">
                <a16:creationId xmlns:a16="http://schemas.microsoft.com/office/drawing/2014/main" id="{75C53BD0-9A40-4D03-9016-2141CF32A6E9}"/>
              </a:ext>
            </a:extLst>
          </p:cNvPr>
          <p:cNvSpPr>
            <a:spLocks xmlns:a="http://schemas.openxmlformats.org/drawingml/2006/main" noGrp="1"/>
          </p:cNvSpPr>
          <p:nvPr/>
        </p:nvSpPr>
        <p:spPr>
          <a:xfrm xmlns:a="http://schemas.openxmlformats.org/drawingml/2006/main" rot="0">
            <a:off x="7449756" y="53922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Ab-005</a:t>
            </a:r>
          </a:p>
        </p:txBody>
      </p:sp>
      <p:sp>
        <p:nvSpPr>
          <p:cNvPr id="78" name="Figure 13 label 77 line 1">
            <a:extLst xmlns:a="http://schemas.openxmlformats.org/drawingml/2006/main">
              <a:ext uri="{FF2B5EF4-FFF2-40B4-BE49-F238E27FC236}">
                <a16:creationId xmlns:a16="http://schemas.microsoft.com/office/drawing/2014/main" id="{B7563793-5543-4ADA-84E8-83A5A5F7B9E2}"/>
              </a:ext>
            </a:extLst>
          </p:cNvPr>
          <p:cNvSpPr>
            <a:spLocks xmlns:a="http://schemas.openxmlformats.org/drawingml/2006/main" noGrp="1"/>
          </p:cNvSpPr>
          <p:nvPr/>
        </p:nvSpPr>
        <p:spPr>
          <a:xfrm xmlns:a="http://schemas.openxmlformats.org/drawingml/2006/main" rot="0">
            <a:off x="8581772" y="53836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540</a:t>
            </a:r>
          </a:p>
        </p:txBody>
      </p:sp>
      <p:sp>
        <p:nvSpPr>
          <p:cNvPr id="79" name="Figure 13 label 78 line 1">
            <a:extLst xmlns:a="http://schemas.openxmlformats.org/drawingml/2006/main">
              <a:ext uri="{FF2B5EF4-FFF2-40B4-BE49-F238E27FC236}">
                <a16:creationId xmlns:a16="http://schemas.microsoft.com/office/drawing/2014/main" id="{6C32F515-D899-4227-A934-F3EF6FA64D3F}"/>
              </a:ext>
            </a:extLst>
          </p:cNvPr>
          <p:cNvSpPr>
            <a:spLocks xmlns:a="http://schemas.openxmlformats.org/drawingml/2006/main" noGrp="1"/>
          </p:cNvSpPr>
          <p:nvPr/>
        </p:nvSpPr>
        <p:spPr>
          <a:xfrm xmlns:a="http://schemas.openxmlformats.org/drawingml/2006/main" rot="0">
            <a:off x="942674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4700</a:t>
            </a:r>
          </a:p>
        </p:txBody>
      </p:sp>
      <p:sp>
        <p:nvSpPr>
          <p:cNvPr id="80" name="Figure 13 label 79 line 1">
            <a:extLst xmlns:a="http://schemas.openxmlformats.org/drawingml/2006/main">
              <a:ext uri="{FF2B5EF4-FFF2-40B4-BE49-F238E27FC236}">
                <a16:creationId xmlns:a16="http://schemas.microsoft.com/office/drawing/2014/main" id="{DD995FC3-4BE1-4AF0-87D2-F9FAD4F250E1}"/>
              </a:ext>
            </a:extLst>
          </p:cNvPr>
          <p:cNvSpPr>
            <a:spLocks xmlns:a="http://schemas.openxmlformats.org/drawingml/2006/main" noGrp="1"/>
          </p:cNvSpPr>
          <p:nvPr/>
        </p:nvSpPr>
        <p:spPr>
          <a:xfrm xmlns:a="http://schemas.openxmlformats.org/drawingml/2006/main" rot="0">
            <a:off x="1032209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8800</a:t>
            </a:r>
          </a:p>
        </p:txBody>
      </p:sp>
      <p:sp>
        <p:nvSpPr>
          <p:cNvPr id="81" name="Figure 13 label 80 line 1">
            <a:extLst xmlns:a="http://schemas.openxmlformats.org/drawingml/2006/main">
              <a:ext uri="{FF2B5EF4-FFF2-40B4-BE49-F238E27FC236}">
                <a16:creationId xmlns:a16="http://schemas.microsoft.com/office/drawing/2014/main" id="{39AD8008-B7B4-4927-B8C6-9A0B6AE556D5}"/>
              </a:ext>
            </a:extLst>
          </p:cNvPr>
          <p:cNvSpPr>
            <a:spLocks xmlns:a="http://schemas.openxmlformats.org/drawingml/2006/main" noGrp="1"/>
          </p:cNvSpPr>
          <p:nvPr/>
        </p:nvSpPr>
        <p:spPr>
          <a:xfrm xmlns:a="http://schemas.openxmlformats.org/drawingml/2006/main" rot="0">
            <a:off x="1136984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3600</a:t>
            </a:r>
          </a:p>
        </p:txBody>
      </p:sp>
      <p:sp>
        <p:nvSpPr>
          <p:cNvPr id="82" name="Figure 13 label 81 line 1">
            <a:extLst xmlns:a="http://schemas.openxmlformats.org/drawingml/2006/main">
              <a:ext uri="{FF2B5EF4-FFF2-40B4-BE49-F238E27FC236}">
                <a16:creationId xmlns:a16="http://schemas.microsoft.com/office/drawing/2014/main" id="{BE8D4A40-3EA4-4961-8D08-1286839FE1DB}"/>
              </a:ext>
            </a:extLst>
          </p:cNvPr>
          <p:cNvSpPr>
            <a:spLocks xmlns:a="http://schemas.openxmlformats.org/drawingml/2006/main" noGrp="1"/>
          </p:cNvSpPr>
          <p:nvPr/>
        </p:nvSpPr>
        <p:spPr>
          <a:xfrm xmlns:a="http://schemas.openxmlformats.org/drawingml/2006/main" rot="0">
            <a:off x="12369969"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2000</a:t>
            </a:r>
          </a:p>
        </p:txBody>
      </p:sp>
      <p:sp>
        <p:nvSpPr>
          <p:cNvPr id="83" name="Figure 13 label 82 line 1">
            <a:extLst xmlns:a="http://schemas.openxmlformats.org/drawingml/2006/main">
              <a:ext uri="{FF2B5EF4-FFF2-40B4-BE49-F238E27FC236}">
                <a16:creationId xmlns:a16="http://schemas.microsoft.com/office/drawing/2014/main" id="{B22CAB51-BBF8-4F0A-B92F-42F3379B9E5A}"/>
              </a:ext>
            </a:extLst>
          </p:cNvPr>
          <p:cNvSpPr>
            <a:spLocks xmlns:a="http://schemas.openxmlformats.org/drawingml/2006/main" noGrp="1"/>
          </p:cNvSpPr>
          <p:nvPr/>
        </p:nvSpPr>
        <p:spPr>
          <a:xfrm xmlns:a="http://schemas.openxmlformats.org/drawingml/2006/main" rot="0">
            <a:off x="1325579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6200</a:t>
            </a:r>
          </a:p>
        </p:txBody>
      </p:sp>
      <p:sp>
        <p:nvSpPr>
          <p:cNvPr id="84" name="Figure 13 label 83 line 1">
            <a:extLst xmlns:a="http://schemas.openxmlformats.org/drawingml/2006/main">
              <a:ext uri="{FF2B5EF4-FFF2-40B4-BE49-F238E27FC236}">
                <a16:creationId xmlns:a16="http://schemas.microsoft.com/office/drawing/2014/main" id="{B9175828-ABFE-40CF-99F5-C044F093892E}"/>
              </a:ext>
            </a:extLst>
          </p:cNvPr>
          <p:cNvSpPr>
            <a:spLocks xmlns:a="http://schemas.openxmlformats.org/drawingml/2006/main" noGrp="1"/>
          </p:cNvSpPr>
          <p:nvPr/>
        </p:nvSpPr>
        <p:spPr>
          <a:xfrm xmlns:a="http://schemas.openxmlformats.org/drawingml/2006/main" rot="0">
            <a:off x="14234190" y="5383625"/>
            <a:ext cx="620970"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10000</a:t>
            </a:r>
          </a:p>
        </p:txBody>
      </p:sp>
      <p:sp>
        <p:nvSpPr>
          <p:cNvPr id="85" name="Figure 13 label 84 line 1">
            <a:extLst xmlns:a="http://schemas.openxmlformats.org/drawingml/2006/main">
              <a:ext uri="{FF2B5EF4-FFF2-40B4-BE49-F238E27FC236}">
                <a16:creationId xmlns:a16="http://schemas.microsoft.com/office/drawing/2014/main" id="{7E005353-F1BB-4F10-AFC6-D019701D661B}"/>
              </a:ext>
            </a:extLst>
          </p:cNvPr>
          <p:cNvSpPr>
            <a:spLocks xmlns:a="http://schemas.openxmlformats.org/drawingml/2006/main" noGrp="1"/>
          </p:cNvSpPr>
          <p:nvPr/>
        </p:nvSpPr>
        <p:spPr>
          <a:xfrm xmlns:a="http://schemas.openxmlformats.org/drawingml/2006/main" rot="0">
            <a:off x="15373097" y="53836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710</a:t>
            </a:r>
          </a:p>
        </p:txBody>
      </p:sp>
      <p:sp>
        <p:nvSpPr>
          <p:cNvPr id="86" name="Figure 13 label 85 line 1">
            <a:extLst xmlns:a="http://schemas.openxmlformats.org/drawingml/2006/main">
              <a:ext uri="{FF2B5EF4-FFF2-40B4-BE49-F238E27FC236}">
                <a16:creationId xmlns:a16="http://schemas.microsoft.com/office/drawing/2014/main" id="{8B0D9714-5C1D-4BF1-A4DA-C62E0146AB96}"/>
              </a:ext>
            </a:extLst>
          </p:cNvPr>
          <p:cNvSpPr>
            <a:spLocks xmlns:a="http://schemas.openxmlformats.org/drawingml/2006/main" noGrp="1"/>
          </p:cNvSpPr>
          <p:nvPr/>
        </p:nvSpPr>
        <p:spPr>
          <a:xfrm xmlns:a="http://schemas.openxmlformats.org/drawingml/2006/main" rot="0">
            <a:off x="16446669"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5700</a:t>
            </a:r>
          </a:p>
        </p:txBody>
      </p:sp>
      <p:sp>
        <p:nvSpPr>
          <p:cNvPr id="87" name="Figure 13 label 86 line 1">
            <a:extLst xmlns:a="http://schemas.openxmlformats.org/drawingml/2006/main">
              <a:ext uri="{FF2B5EF4-FFF2-40B4-BE49-F238E27FC236}">
                <a16:creationId xmlns:a16="http://schemas.microsoft.com/office/drawing/2014/main" id="{5372C22B-CA20-4C62-97B6-225F4EE8E555}"/>
              </a:ext>
            </a:extLst>
          </p:cNvPr>
          <p:cNvSpPr>
            <a:spLocks xmlns:a="http://schemas.openxmlformats.org/drawingml/2006/main" noGrp="1"/>
          </p:cNvSpPr>
          <p:nvPr/>
        </p:nvSpPr>
        <p:spPr>
          <a:xfrm xmlns:a="http://schemas.openxmlformats.org/drawingml/2006/main" rot="0">
            <a:off x="7449756" y="57066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Ab-006</a:t>
            </a:r>
          </a:p>
        </p:txBody>
      </p:sp>
      <p:sp>
        <p:nvSpPr>
          <p:cNvPr id="88" name="Figure 13 label 87 line 1">
            <a:extLst xmlns:a="http://schemas.openxmlformats.org/drawingml/2006/main">
              <a:ext uri="{FF2B5EF4-FFF2-40B4-BE49-F238E27FC236}">
                <a16:creationId xmlns:a16="http://schemas.microsoft.com/office/drawing/2014/main" id="{84F21F65-2FBE-463A-AF63-16E753841525}"/>
              </a:ext>
            </a:extLst>
          </p:cNvPr>
          <p:cNvSpPr>
            <a:spLocks xmlns:a="http://schemas.openxmlformats.org/drawingml/2006/main" noGrp="1"/>
          </p:cNvSpPr>
          <p:nvPr/>
        </p:nvSpPr>
        <p:spPr>
          <a:xfrm xmlns:a="http://schemas.openxmlformats.org/drawingml/2006/main" rot="0">
            <a:off x="853139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6300</a:t>
            </a:r>
          </a:p>
        </p:txBody>
      </p:sp>
      <p:sp>
        <p:nvSpPr>
          <p:cNvPr id="89" name="Figure 13 label 88 line 1">
            <a:extLst xmlns:a="http://schemas.openxmlformats.org/drawingml/2006/main">
              <a:ext uri="{FF2B5EF4-FFF2-40B4-BE49-F238E27FC236}">
                <a16:creationId xmlns:a16="http://schemas.microsoft.com/office/drawing/2014/main" id="{A8DB7444-F921-48B3-87C1-EE0D2D2C67C6}"/>
              </a:ext>
            </a:extLst>
          </p:cNvPr>
          <p:cNvSpPr>
            <a:spLocks xmlns:a="http://schemas.openxmlformats.org/drawingml/2006/main" noGrp="1"/>
          </p:cNvSpPr>
          <p:nvPr/>
        </p:nvSpPr>
        <p:spPr>
          <a:xfrm xmlns:a="http://schemas.openxmlformats.org/drawingml/2006/main" rot="0">
            <a:off x="942674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1400</a:t>
            </a:r>
          </a:p>
        </p:txBody>
      </p:sp>
      <p:sp>
        <p:nvSpPr>
          <p:cNvPr id="90" name="Figure 13 label 89 line 1">
            <a:extLst xmlns:a="http://schemas.openxmlformats.org/drawingml/2006/main">
              <a:ext uri="{FF2B5EF4-FFF2-40B4-BE49-F238E27FC236}">
                <a16:creationId xmlns:a16="http://schemas.microsoft.com/office/drawing/2014/main" id="{EAB4C5C1-4300-442F-A0FE-EC4639F84456}"/>
              </a:ext>
            </a:extLst>
          </p:cNvPr>
          <p:cNvSpPr>
            <a:spLocks xmlns:a="http://schemas.openxmlformats.org/drawingml/2006/main" noGrp="1"/>
          </p:cNvSpPr>
          <p:nvPr/>
        </p:nvSpPr>
        <p:spPr>
          <a:xfrm xmlns:a="http://schemas.openxmlformats.org/drawingml/2006/main" rot="0">
            <a:off x="1032209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3000</a:t>
            </a:r>
          </a:p>
        </p:txBody>
      </p:sp>
      <p:sp>
        <p:nvSpPr>
          <p:cNvPr id="91" name="Figure 13 label 90 line 1">
            <a:extLst xmlns:a="http://schemas.openxmlformats.org/drawingml/2006/main">
              <a:ext uri="{FF2B5EF4-FFF2-40B4-BE49-F238E27FC236}">
                <a16:creationId xmlns:a16="http://schemas.microsoft.com/office/drawing/2014/main" id="{9DABEE04-C539-4BBC-89E3-2D30FEE78176}"/>
              </a:ext>
            </a:extLst>
          </p:cNvPr>
          <p:cNvSpPr>
            <a:spLocks xmlns:a="http://schemas.openxmlformats.org/drawingml/2006/main" noGrp="1"/>
          </p:cNvSpPr>
          <p:nvPr/>
        </p:nvSpPr>
        <p:spPr>
          <a:xfrm xmlns:a="http://schemas.openxmlformats.org/drawingml/2006/main" rot="0">
            <a:off x="1136984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9900</a:t>
            </a:r>
          </a:p>
        </p:txBody>
      </p:sp>
      <p:sp>
        <p:nvSpPr>
          <p:cNvPr id="92" name="Figure 13 label 91 line 1">
            <a:extLst xmlns:a="http://schemas.openxmlformats.org/drawingml/2006/main">
              <a:ext uri="{FF2B5EF4-FFF2-40B4-BE49-F238E27FC236}">
                <a16:creationId xmlns:a16="http://schemas.microsoft.com/office/drawing/2014/main" id="{F7F00E10-B3D4-4BE3-A275-2C96BEDDC13D}"/>
              </a:ext>
            </a:extLst>
          </p:cNvPr>
          <p:cNvSpPr>
            <a:spLocks xmlns:a="http://schemas.openxmlformats.org/drawingml/2006/main" noGrp="1"/>
          </p:cNvSpPr>
          <p:nvPr/>
        </p:nvSpPr>
        <p:spPr>
          <a:xfrm xmlns:a="http://schemas.openxmlformats.org/drawingml/2006/main" rot="0">
            <a:off x="12369969"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4600</a:t>
            </a:r>
          </a:p>
        </p:txBody>
      </p:sp>
      <p:sp>
        <p:nvSpPr>
          <p:cNvPr id="93" name="Figure 13 label 92 line 1">
            <a:extLst xmlns:a="http://schemas.openxmlformats.org/drawingml/2006/main">
              <a:ext uri="{FF2B5EF4-FFF2-40B4-BE49-F238E27FC236}">
                <a16:creationId xmlns:a16="http://schemas.microsoft.com/office/drawing/2014/main" id="{06D34952-6403-49A6-B52E-A7A19607FA5C}"/>
              </a:ext>
            </a:extLst>
          </p:cNvPr>
          <p:cNvSpPr>
            <a:spLocks xmlns:a="http://schemas.openxmlformats.org/drawingml/2006/main" noGrp="1"/>
          </p:cNvSpPr>
          <p:nvPr/>
        </p:nvSpPr>
        <p:spPr>
          <a:xfrm xmlns:a="http://schemas.openxmlformats.org/drawingml/2006/main" rot="0">
            <a:off x="1325579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8700</a:t>
            </a:r>
          </a:p>
        </p:txBody>
      </p:sp>
      <p:sp>
        <p:nvSpPr>
          <p:cNvPr id="94" name="Figure 13 label 93 line 1">
            <a:extLst xmlns:a="http://schemas.openxmlformats.org/drawingml/2006/main">
              <a:ext uri="{FF2B5EF4-FFF2-40B4-BE49-F238E27FC236}">
                <a16:creationId xmlns:a16="http://schemas.microsoft.com/office/drawing/2014/main" id="{E0CA2273-4A3C-471E-917D-FAFE71258CB2}"/>
              </a:ext>
            </a:extLst>
          </p:cNvPr>
          <p:cNvSpPr>
            <a:spLocks xmlns:a="http://schemas.openxmlformats.org/drawingml/2006/main" noGrp="1"/>
          </p:cNvSpPr>
          <p:nvPr/>
        </p:nvSpPr>
        <p:spPr>
          <a:xfrm xmlns:a="http://schemas.openxmlformats.org/drawingml/2006/main" rot="0">
            <a:off x="14334872" y="569795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180</a:t>
            </a:r>
          </a:p>
        </p:txBody>
      </p:sp>
      <p:sp>
        <p:nvSpPr>
          <p:cNvPr id="95" name="Figure 13 label 94 line 1">
            <a:extLst xmlns:a="http://schemas.openxmlformats.org/drawingml/2006/main">
              <a:ext uri="{FF2B5EF4-FFF2-40B4-BE49-F238E27FC236}">
                <a16:creationId xmlns:a16="http://schemas.microsoft.com/office/drawing/2014/main" id="{4EED00A9-1FC4-48C0-A04A-08E52A3C5391}"/>
              </a:ext>
            </a:extLst>
          </p:cNvPr>
          <p:cNvSpPr>
            <a:spLocks xmlns:a="http://schemas.openxmlformats.org/drawingml/2006/main" noGrp="1"/>
          </p:cNvSpPr>
          <p:nvPr/>
        </p:nvSpPr>
        <p:spPr>
          <a:xfrm xmlns:a="http://schemas.openxmlformats.org/drawingml/2006/main" rot="0">
            <a:off x="15322719"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7600</a:t>
            </a:r>
          </a:p>
        </p:txBody>
      </p:sp>
      <p:sp>
        <p:nvSpPr>
          <p:cNvPr id="96" name="Figure 13 label 95 line 1">
            <a:extLst xmlns:a="http://schemas.openxmlformats.org/drawingml/2006/main">
              <a:ext uri="{FF2B5EF4-FFF2-40B4-BE49-F238E27FC236}">
                <a16:creationId xmlns:a16="http://schemas.microsoft.com/office/drawing/2014/main" id="{C27D1772-D38B-42DA-BC49-039821EFB241}"/>
              </a:ext>
            </a:extLst>
          </p:cNvPr>
          <p:cNvSpPr>
            <a:spLocks xmlns:a="http://schemas.openxmlformats.org/drawingml/2006/main" noGrp="1"/>
          </p:cNvSpPr>
          <p:nvPr/>
        </p:nvSpPr>
        <p:spPr>
          <a:xfrm xmlns:a="http://schemas.openxmlformats.org/drawingml/2006/main" rot="0">
            <a:off x="16446669"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2400</a:t>
            </a:r>
          </a:p>
        </p:txBody>
      </p:sp>
      <p:sp>
        <p:nvSpPr>
          <p:cNvPr id="97" name="Figure 13 label 96 line 1">
            <a:extLst xmlns:a="http://schemas.openxmlformats.org/drawingml/2006/main">
              <a:ext uri="{FF2B5EF4-FFF2-40B4-BE49-F238E27FC236}">
                <a16:creationId xmlns:a16="http://schemas.microsoft.com/office/drawing/2014/main" id="{6AAB9C8E-20AA-4A70-A718-E4D841DE8808}"/>
              </a:ext>
            </a:extLst>
          </p:cNvPr>
          <p:cNvSpPr>
            <a:spLocks xmlns:a="http://schemas.openxmlformats.org/drawingml/2006/main" noGrp="1"/>
          </p:cNvSpPr>
          <p:nvPr/>
        </p:nvSpPr>
        <p:spPr>
          <a:xfrm xmlns:a="http://schemas.openxmlformats.org/drawingml/2006/main" rot="0">
            <a:off x="7211568" y="6058662"/>
            <a:ext cx="6505307"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Learn binding, expression, stability and functional relationships</a:t>
            </a:r>
          </a:p>
        </p:txBody>
      </p:sp>
      <p:sp>
        <p:nvSpPr>
          <p:cNvPr id="98" name="Figure 13 label 97 line 1">
            <a:extLst xmlns:a="http://schemas.openxmlformats.org/drawingml/2006/main">
              <a:ext uri="{FF2B5EF4-FFF2-40B4-BE49-F238E27FC236}">
                <a16:creationId xmlns:a16="http://schemas.microsoft.com/office/drawing/2014/main" id="{FC1C3678-8096-429A-9108-63C98B038EB9}"/>
              </a:ext>
            </a:extLst>
          </p:cNvPr>
          <p:cNvSpPr>
            <a:spLocks xmlns:a="http://schemas.openxmlformats.org/drawingml/2006/main" noGrp="1"/>
          </p:cNvSpPr>
          <p:nvPr/>
        </p:nvSpPr>
        <p:spPr>
          <a:xfrm xmlns:a="http://schemas.openxmlformats.org/drawingml/2006/main" rot="0">
            <a:off x="7213473" y="6437757"/>
            <a:ext cx="5924431"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Synthetic values: 1–10,000. Darker = larger; no biological units or quality ranking.</a:t>
            </a:r>
          </a:p>
        </p:txBody>
      </p:sp>
      <p:sp>
        <p:nvSpPr>
          <p:cNvPr id="99" name="Figure 13 label 98 line 1">
            <a:extLst xmlns:a="http://schemas.openxmlformats.org/drawingml/2006/main">
              <a:ext uri="{FF2B5EF4-FFF2-40B4-BE49-F238E27FC236}">
                <a16:creationId xmlns:a16="http://schemas.microsoft.com/office/drawing/2014/main" id="{E1D0432F-329B-4F38-A0A2-19052BC86EFA}"/>
              </a:ext>
            </a:extLst>
          </p:cNvPr>
          <p:cNvSpPr>
            <a:spLocks xmlns:a="http://schemas.openxmlformats.org/drawingml/2006/main" noGrp="1"/>
          </p:cNvSpPr>
          <p:nvPr/>
        </p:nvSpPr>
        <p:spPr>
          <a:xfrm xmlns:a="http://schemas.openxmlformats.org/drawingml/2006/main" rot="0">
            <a:off x="904875" y="7229475"/>
            <a:ext cx="2391370"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Reuse existing data</a:t>
            </a:r>
          </a:p>
        </p:txBody>
      </p:sp>
      <p:sp>
        <p:nvSpPr>
          <p:cNvPr id="100" name="Figure 13 label 99 line 1">
            <a:extLst xmlns:a="http://schemas.openxmlformats.org/drawingml/2006/main">
              <a:ext uri="{FF2B5EF4-FFF2-40B4-BE49-F238E27FC236}">
                <a16:creationId xmlns:a16="http://schemas.microsoft.com/office/drawing/2014/main" id="{06C7FF00-9F3F-4C79-A05D-61B27CA6004A}"/>
              </a:ext>
            </a:extLst>
          </p:cNvPr>
          <p:cNvSpPr>
            <a:spLocks xmlns:a="http://schemas.openxmlformats.org/drawingml/2006/main" noGrp="1"/>
          </p:cNvSpPr>
          <p:nvPr/>
        </p:nvSpPr>
        <p:spPr>
          <a:xfrm xmlns:a="http://schemas.openxmlformats.org/drawingml/2006/main" rot="0">
            <a:off x="906780" y="7665720"/>
            <a:ext cx="386194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Normalize formats, conditions and access</a:t>
            </a:r>
          </a:p>
        </p:txBody>
      </p:sp>
      <p:sp>
        <p:nvSpPr>
          <p:cNvPr id="101" name="Figure 13 label 99 line 2">
            <a:extLst xmlns:a="http://schemas.openxmlformats.org/drawingml/2006/main">
              <a:ext uri="{FF2B5EF4-FFF2-40B4-BE49-F238E27FC236}">
                <a16:creationId xmlns:a16="http://schemas.microsoft.com/office/drawing/2014/main" id="{94F62CED-662E-4F6C-95C7-8F2D9033CC77}"/>
              </a:ext>
            </a:extLst>
          </p:cNvPr>
          <p:cNvSpPr>
            <a:spLocks xmlns:a="http://schemas.openxmlformats.org/drawingml/2006/main" noGrp="1"/>
          </p:cNvSpPr>
          <p:nvPr/>
        </p:nvSpPr>
        <p:spPr>
          <a:xfrm xmlns:a="http://schemas.openxmlformats.org/drawingml/2006/main" rot="0">
            <a:off x="906780" y="7903845"/>
            <a:ext cx="386194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Better training may need no new experiment</a:t>
            </a:r>
          </a:p>
        </p:txBody>
      </p:sp>
      <p:sp>
        <p:nvSpPr>
          <p:cNvPr id="102" name="Figure 13 label 100 line 1">
            <a:extLst xmlns:a="http://schemas.openxmlformats.org/drawingml/2006/main">
              <a:ext uri="{FF2B5EF4-FFF2-40B4-BE49-F238E27FC236}">
                <a16:creationId xmlns:a16="http://schemas.microsoft.com/office/drawing/2014/main" id="{D9AD5A7A-7AC5-456E-BD83-74B07E3939C8}"/>
              </a:ext>
            </a:extLst>
          </p:cNvPr>
          <p:cNvSpPr>
            <a:spLocks xmlns:a="http://schemas.openxmlformats.org/drawingml/2006/main" noGrp="1"/>
          </p:cNvSpPr>
          <p:nvPr/>
        </p:nvSpPr>
        <p:spPr>
          <a:xfrm xmlns:a="http://schemas.openxmlformats.org/drawingml/2006/main" rot="0">
            <a:off x="6410325" y="7229475"/>
            <a:ext cx="2602855"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Stage 0: fill data gaps</a:t>
            </a:r>
          </a:p>
        </p:txBody>
      </p:sp>
      <p:sp>
        <p:nvSpPr>
          <p:cNvPr id="103" name="Figure 13 label 101 line 1">
            <a:extLst xmlns:a="http://schemas.openxmlformats.org/drawingml/2006/main">
              <a:ext uri="{FF2B5EF4-FFF2-40B4-BE49-F238E27FC236}">
                <a16:creationId xmlns:a16="http://schemas.microsoft.com/office/drawing/2014/main" id="{602F56B0-ACD9-4317-8581-CDFC44B5E6F0}"/>
              </a:ext>
            </a:extLst>
          </p:cNvPr>
          <p:cNvSpPr>
            <a:spLocks xmlns:a="http://schemas.openxmlformats.org/drawingml/2006/main" noGrp="1"/>
          </p:cNvSpPr>
          <p:nvPr/>
        </p:nvSpPr>
        <p:spPr>
          <a:xfrm xmlns:a="http://schemas.openxmlformats.org/drawingml/2006/main" rot="0">
            <a:off x="6412230" y="7665720"/>
            <a:ext cx="37768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Add missing assays and biological diversity</a:t>
            </a:r>
          </a:p>
        </p:txBody>
      </p:sp>
      <p:sp>
        <p:nvSpPr>
          <p:cNvPr id="104" name="Figure 13 label 101 line 2">
            <a:extLst xmlns:a="http://schemas.openxmlformats.org/drawingml/2006/main">
              <a:ext uri="{FF2B5EF4-FFF2-40B4-BE49-F238E27FC236}">
                <a16:creationId xmlns:a16="http://schemas.microsoft.com/office/drawing/2014/main" id="{06A75714-8108-437E-8D2A-CCDA40ECAEC3}"/>
              </a:ext>
            </a:extLst>
          </p:cNvPr>
          <p:cNvSpPr>
            <a:spLocks xmlns:a="http://schemas.openxmlformats.org/drawingml/2006/main" noGrp="1"/>
          </p:cNvSpPr>
          <p:nvPr/>
        </p:nvSpPr>
        <p:spPr>
          <a:xfrm xmlns:a="http://schemas.openxmlformats.org/drawingml/2006/main" rot="0">
            <a:off x="6412230" y="7903845"/>
            <a:ext cx="37768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Create reusable model-training datasets</a:t>
            </a:r>
          </a:p>
        </p:txBody>
      </p:sp>
      <p:sp>
        <p:nvSpPr>
          <p:cNvPr id="105" name="Figure 13 label 102 line 1">
            <a:extLst xmlns:a="http://schemas.openxmlformats.org/drawingml/2006/main">
              <a:ext uri="{FF2B5EF4-FFF2-40B4-BE49-F238E27FC236}">
                <a16:creationId xmlns:a16="http://schemas.microsoft.com/office/drawing/2014/main" id="{CD55B7E9-81C7-467D-8E7C-089151DBABC9}"/>
              </a:ext>
            </a:extLst>
          </p:cNvPr>
          <p:cNvSpPr>
            <a:spLocks xmlns:a="http://schemas.openxmlformats.org/drawingml/2006/main" noGrp="1"/>
          </p:cNvSpPr>
          <p:nvPr/>
        </p:nvSpPr>
        <p:spPr>
          <a:xfrm xmlns:a="http://schemas.openxmlformats.org/drawingml/2006/main" rot="0">
            <a:off x="11915775" y="7229475"/>
            <a:ext cx="4257973"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Active learning: measure selectively</a:t>
            </a:r>
          </a:p>
        </p:txBody>
      </p:sp>
      <p:sp>
        <p:nvSpPr>
          <p:cNvPr id="106" name="Figure 13 label 103 line 1">
            <a:extLst xmlns:a="http://schemas.openxmlformats.org/drawingml/2006/main">
              <a:ext uri="{FF2B5EF4-FFF2-40B4-BE49-F238E27FC236}">
                <a16:creationId xmlns:a16="http://schemas.microsoft.com/office/drawing/2014/main" id="{9E9B0D88-AAFD-41F1-9AE8-2993AE897014}"/>
              </a:ext>
            </a:extLst>
          </p:cNvPr>
          <p:cNvSpPr>
            <a:spLocks xmlns:a="http://schemas.openxmlformats.org/drawingml/2006/main" noGrp="1"/>
          </p:cNvSpPr>
          <p:nvPr/>
        </p:nvSpPr>
        <p:spPr>
          <a:xfrm xmlns:a="http://schemas.openxmlformats.org/drawingml/2006/main" rot="0">
            <a:off x="11917680" y="7665720"/>
            <a:ext cx="358601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Prioritize informative molecules and tests</a:t>
            </a:r>
          </a:p>
        </p:txBody>
      </p:sp>
      <p:sp>
        <p:nvSpPr>
          <p:cNvPr id="107" name="Figure 13 label 103 line 2">
            <a:extLst xmlns:a="http://schemas.openxmlformats.org/drawingml/2006/main">
              <a:ext uri="{FF2B5EF4-FFF2-40B4-BE49-F238E27FC236}">
                <a16:creationId xmlns:a16="http://schemas.microsoft.com/office/drawing/2014/main" id="{A15D1F5B-8512-49DB-B98B-4381A26C94E5}"/>
              </a:ext>
            </a:extLst>
          </p:cNvPr>
          <p:cNvSpPr>
            <a:spLocks xmlns:a="http://schemas.openxmlformats.org/drawingml/2006/main" noGrp="1"/>
          </p:cNvSpPr>
          <p:nvPr/>
        </p:nvSpPr>
        <p:spPr>
          <a:xfrm xmlns:a="http://schemas.openxmlformats.org/drawingml/2006/main" rot="0">
            <a:off x="11917680" y="7903845"/>
            <a:ext cx="358601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Limit coverage of costly measurements</a:t>
            </a:r>
          </a:p>
        </p:txBody>
      </p:sp>
      <p:sp>
        <p:nvSpPr>
          <p:cNvPr id="108" name="Figure 13 label 104 line 1">
            <a:extLst xmlns:a="http://schemas.openxmlformats.org/drawingml/2006/main">
              <a:ext uri="{FF2B5EF4-FFF2-40B4-BE49-F238E27FC236}">
                <a16:creationId xmlns:a16="http://schemas.microsoft.com/office/drawing/2014/main" id="{7079A1C1-BE50-49DA-AEAB-F1F15D06E796}"/>
              </a:ext>
            </a:extLst>
          </p:cNvPr>
          <p:cNvSpPr>
            <a:spLocks xmlns:a="http://schemas.openxmlformats.org/drawingml/2006/main" noGrp="1"/>
          </p:cNvSpPr>
          <p:nvPr/>
        </p:nvSpPr>
        <p:spPr>
          <a:xfrm xmlns:a="http://schemas.openxmlformats.org/drawingml/2006/main" rot="0">
            <a:off x="906780" y="8589645"/>
            <a:ext cx="43057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The nine labels: what each property measures</a:t>
            </a:r>
          </a:p>
        </p:txBody>
      </p:sp>
      <p:sp>
        <p:nvSpPr>
          <p:cNvPr id="109" name="Figure 13 label 105 line 1">
            <a:extLst xmlns:a="http://schemas.openxmlformats.org/drawingml/2006/main">
              <a:ext uri="{FF2B5EF4-FFF2-40B4-BE49-F238E27FC236}">
                <a16:creationId xmlns:a16="http://schemas.microsoft.com/office/drawing/2014/main" id="{9AF91E49-1978-4F48-8C3A-2CE09317D603}"/>
              </a:ext>
            </a:extLst>
          </p:cNvPr>
          <p:cNvSpPr>
            <a:spLocks xmlns:a="http://schemas.openxmlformats.org/drawingml/2006/main" noGrp="1"/>
          </p:cNvSpPr>
          <p:nvPr/>
        </p:nvSpPr>
        <p:spPr>
          <a:xfrm xmlns:a="http://schemas.openxmlformats.org/drawingml/2006/main" rot="0">
            <a:off x="1004316" y="8934069"/>
            <a:ext cx="27941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KD</a:t>
            </a:r>
          </a:p>
        </p:txBody>
      </p:sp>
      <p:sp>
        <p:nvSpPr>
          <p:cNvPr id="110" name="Figure 13 label 106 line 1">
            <a:extLst xmlns:a="http://schemas.openxmlformats.org/drawingml/2006/main">
              <a:ext uri="{FF2B5EF4-FFF2-40B4-BE49-F238E27FC236}">
                <a16:creationId xmlns:a16="http://schemas.microsoft.com/office/drawing/2014/main" id="{B41B4F10-93EA-473C-8C15-D981B397EE39}"/>
              </a:ext>
            </a:extLst>
          </p:cNvPr>
          <p:cNvSpPr>
            <a:spLocks xmlns:a="http://schemas.openxmlformats.org/drawingml/2006/main" noGrp="1"/>
          </p:cNvSpPr>
          <p:nvPr/>
        </p:nvSpPr>
        <p:spPr>
          <a:xfrm xmlns:a="http://schemas.openxmlformats.org/drawingml/2006/main" rot="0">
            <a:off x="2052066" y="8934069"/>
            <a:ext cx="173227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Equilibrium binding strength</a:t>
            </a:r>
          </a:p>
        </p:txBody>
      </p:sp>
      <p:sp>
        <p:nvSpPr>
          <p:cNvPr id="111" name="Figure 13 label 107 line 1">
            <a:extLst xmlns:a="http://schemas.openxmlformats.org/drawingml/2006/main">
              <a:ext uri="{FF2B5EF4-FFF2-40B4-BE49-F238E27FC236}">
                <a16:creationId xmlns:a16="http://schemas.microsoft.com/office/drawing/2014/main" id="{23CFC677-CBFF-4832-BD98-E983DBA9F53B}"/>
              </a:ext>
            </a:extLst>
          </p:cNvPr>
          <p:cNvSpPr>
            <a:spLocks xmlns:a="http://schemas.openxmlformats.org/drawingml/2006/main" noGrp="1"/>
          </p:cNvSpPr>
          <p:nvPr/>
        </p:nvSpPr>
        <p:spPr>
          <a:xfrm xmlns:a="http://schemas.openxmlformats.org/drawingml/2006/main" rot="0">
            <a:off x="6509766" y="8934069"/>
            <a:ext cx="323761"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kon</a:t>
            </a:r>
          </a:p>
        </p:txBody>
      </p:sp>
      <p:sp>
        <p:nvSpPr>
          <p:cNvPr id="112" name="Figure 13 label 108 line 1">
            <a:extLst xmlns:a="http://schemas.openxmlformats.org/drawingml/2006/main">
              <a:ext uri="{FF2B5EF4-FFF2-40B4-BE49-F238E27FC236}">
                <a16:creationId xmlns:a16="http://schemas.microsoft.com/office/drawing/2014/main" id="{A5C2A439-5CFF-45D3-8709-EC116A8225D8}"/>
              </a:ext>
            </a:extLst>
          </p:cNvPr>
          <p:cNvSpPr>
            <a:spLocks xmlns:a="http://schemas.openxmlformats.org/drawingml/2006/main" noGrp="1"/>
          </p:cNvSpPr>
          <p:nvPr/>
        </p:nvSpPr>
        <p:spPr>
          <a:xfrm xmlns:a="http://schemas.openxmlformats.org/drawingml/2006/main" rot="0">
            <a:off x="7557516" y="8934069"/>
            <a:ext cx="1635681"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How quickly binding forms</a:t>
            </a:r>
          </a:p>
        </p:txBody>
      </p:sp>
      <p:sp>
        <p:nvSpPr>
          <p:cNvPr id="113" name="Figure 13 label 109 line 1">
            <a:extLst xmlns:a="http://schemas.openxmlformats.org/drawingml/2006/main">
              <a:ext uri="{FF2B5EF4-FFF2-40B4-BE49-F238E27FC236}">
                <a16:creationId xmlns:a16="http://schemas.microsoft.com/office/drawing/2014/main" id="{AF46A25D-6335-4209-81AD-E875D85954F2}"/>
              </a:ext>
            </a:extLst>
          </p:cNvPr>
          <p:cNvSpPr>
            <a:spLocks xmlns:a="http://schemas.openxmlformats.org/drawingml/2006/main" noGrp="1"/>
          </p:cNvSpPr>
          <p:nvPr/>
        </p:nvSpPr>
        <p:spPr>
          <a:xfrm xmlns:a="http://schemas.openxmlformats.org/drawingml/2006/main" rot="0">
            <a:off x="12015216" y="8934069"/>
            <a:ext cx="33120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koff</a:t>
            </a:r>
          </a:p>
        </p:txBody>
      </p:sp>
      <p:sp>
        <p:nvSpPr>
          <p:cNvPr id="114" name="Figure 13 label 110 line 1">
            <a:extLst xmlns:a="http://schemas.openxmlformats.org/drawingml/2006/main">
              <a:ext uri="{FF2B5EF4-FFF2-40B4-BE49-F238E27FC236}">
                <a16:creationId xmlns:a16="http://schemas.microsoft.com/office/drawing/2014/main" id="{DEA8E3A0-BC6F-46D5-B13F-2862A19FA76F}"/>
              </a:ext>
            </a:extLst>
          </p:cNvPr>
          <p:cNvSpPr>
            <a:spLocks xmlns:a="http://schemas.openxmlformats.org/drawingml/2006/main" noGrp="1"/>
          </p:cNvSpPr>
          <p:nvPr/>
        </p:nvSpPr>
        <p:spPr>
          <a:xfrm xmlns:a="http://schemas.openxmlformats.org/drawingml/2006/main" rot="0">
            <a:off x="13062966" y="8934069"/>
            <a:ext cx="217682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How quickly the complex separates</a:t>
            </a:r>
          </a:p>
        </p:txBody>
      </p:sp>
      <p:sp>
        <p:nvSpPr>
          <p:cNvPr id="115" name="Figure 13 label 111 line 1">
            <a:extLst xmlns:a="http://schemas.openxmlformats.org/drawingml/2006/main">
              <a:ext uri="{FF2B5EF4-FFF2-40B4-BE49-F238E27FC236}">
                <a16:creationId xmlns:a16="http://schemas.microsoft.com/office/drawing/2014/main" id="{491B770C-FDCE-441D-88BB-60C18F2D53E3}"/>
              </a:ext>
            </a:extLst>
          </p:cNvPr>
          <p:cNvSpPr>
            <a:spLocks xmlns:a="http://schemas.openxmlformats.org/drawingml/2006/main" noGrp="1"/>
          </p:cNvSpPr>
          <p:nvPr/>
        </p:nvSpPr>
        <p:spPr>
          <a:xfrm xmlns:a="http://schemas.openxmlformats.org/drawingml/2006/main" rot="0">
            <a:off x="1004316" y="9191244"/>
            <a:ext cx="79093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expression</a:t>
            </a:r>
          </a:p>
        </p:txBody>
      </p:sp>
      <p:sp>
        <p:nvSpPr>
          <p:cNvPr id="116" name="Figure 13 label 112 line 1">
            <a:extLst xmlns:a="http://schemas.openxmlformats.org/drawingml/2006/main">
              <a:ext uri="{FF2B5EF4-FFF2-40B4-BE49-F238E27FC236}">
                <a16:creationId xmlns:a16="http://schemas.microsoft.com/office/drawing/2014/main" id="{2E74447D-9999-4661-8D33-8D4557DF7EF6}"/>
              </a:ext>
            </a:extLst>
          </p:cNvPr>
          <p:cNvSpPr>
            <a:spLocks xmlns:a="http://schemas.openxmlformats.org/drawingml/2006/main" noGrp="1"/>
          </p:cNvSpPr>
          <p:nvPr/>
        </p:nvSpPr>
        <p:spPr>
          <a:xfrm xmlns:a="http://schemas.openxmlformats.org/drawingml/2006/main" rot="0">
            <a:off x="2052066" y="9191244"/>
            <a:ext cx="202843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Antibody yield from a cell system</a:t>
            </a:r>
          </a:p>
        </p:txBody>
      </p:sp>
      <p:sp>
        <p:nvSpPr>
          <p:cNvPr id="117" name="Figure 13 label 113 line 1">
            <a:extLst xmlns:a="http://schemas.openxmlformats.org/drawingml/2006/main">
              <a:ext uri="{FF2B5EF4-FFF2-40B4-BE49-F238E27FC236}">
                <a16:creationId xmlns:a16="http://schemas.microsoft.com/office/drawing/2014/main" id="{5E261650-CE6D-43CC-A511-F8746D422C14}"/>
              </a:ext>
            </a:extLst>
          </p:cNvPr>
          <p:cNvSpPr>
            <a:spLocks xmlns:a="http://schemas.openxmlformats.org/drawingml/2006/main" noGrp="1"/>
          </p:cNvSpPr>
          <p:nvPr/>
        </p:nvSpPr>
        <p:spPr>
          <a:xfrm xmlns:a="http://schemas.openxmlformats.org/drawingml/2006/main" rot="0">
            <a:off x="6509766" y="9191244"/>
            <a:ext cx="286703"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Tm</a:t>
            </a:r>
          </a:p>
        </p:txBody>
      </p:sp>
      <p:sp>
        <p:nvSpPr>
          <p:cNvPr id="118" name="Figure 13 label 114 line 1">
            <a:extLst xmlns:a="http://schemas.openxmlformats.org/drawingml/2006/main">
              <a:ext uri="{FF2B5EF4-FFF2-40B4-BE49-F238E27FC236}">
                <a16:creationId xmlns:a16="http://schemas.microsoft.com/office/drawing/2014/main" id="{14E9F783-D806-4B6A-A25E-FE1F901F9C76}"/>
              </a:ext>
            </a:extLst>
          </p:cNvPr>
          <p:cNvSpPr>
            <a:spLocks xmlns:a="http://schemas.openxmlformats.org/drawingml/2006/main" noGrp="1"/>
          </p:cNvSpPr>
          <p:nvPr/>
        </p:nvSpPr>
        <p:spPr>
          <a:xfrm xmlns:a="http://schemas.openxmlformats.org/drawingml/2006/main" rot="0">
            <a:off x="7557516" y="9191244"/>
            <a:ext cx="173227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Thermal unfolding transition</a:t>
            </a:r>
          </a:p>
        </p:txBody>
      </p:sp>
      <p:sp>
        <p:nvSpPr>
          <p:cNvPr id="119" name="Figure 13 label 115 line 1">
            <a:extLst xmlns:a="http://schemas.openxmlformats.org/drawingml/2006/main">
              <a:ext uri="{FF2B5EF4-FFF2-40B4-BE49-F238E27FC236}">
                <a16:creationId xmlns:a16="http://schemas.microsoft.com/office/drawing/2014/main" id="{903894E1-233F-4DBA-9554-3AF385406F71}"/>
              </a:ext>
            </a:extLst>
          </p:cNvPr>
          <p:cNvSpPr>
            <a:spLocks xmlns:a="http://schemas.openxmlformats.org/drawingml/2006/main" noGrp="1"/>
          </p:cNvSpPr>
          <p:nvPr/>
        </p:nvSpPr>
        <p:spPr>
          <a:xfrm xmlns:a="http://schemas.openxmlformats.org/drawingml/2006/main" rot="0">
            <a:off x="12015216" y="9191244"/>
            <a:ext cx="84986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aggregation</a:t>
            </a:r>
          </a:p>
        </p:txBody>
      </p:sp>
      <p:sp>
        <p:nvSpPr>
          <p:cNvPr id="120" name="Figure 13 label 116 line 1">
            <a:extLst xmlns:a="http://schemas.openxmlformats.org/drawingml/2006/main">
              <a:ext uri="{FF2B5EF4-FFF2-40B4-BE49-F238E27FC236}">
                <a16:creationId xmlns:a16="http://schemas.microsoft.com/office/drawing/2014/main" id="{E3BB80B4-FC05-4629-9827-1224B315172B}"/>
              </a:ext>
            </a:extLst>
          </p:cNvPr>
          <p:cNvSpPr>
            <a:spLocks xmlns:a="http://schemas.openxmlformats.org/drawingml/2006/main" noGrp="1"/>
          </p:cNvSpPr>
          <p:nvPr/>
        </p:nvSpPr>
        <p:spPr>
          <a:xfrm xmlns:a="http://schemas.openxmlformats.org/drawingml/2006/main" rot="0">
            <a:off x="13062966" y="9191244"/>
            <a:ext cx="204317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Molecules forming larger clusters</a:t>
            </a:r>
          </a:p>
        </p:txBody>
      </p:sp>
      <p:sp>
        <p:nvSpPr>
          <p:cNvPr id="121" name="Figure 13 label 117 line 1">
            <a:extLst xmlns:a="http://schemas.openxmlformats.org/drawingml/2006/main">
              <a:ext uri="{FF2B5EF4-FFF2-40B4-BE49-F238E27FC236}">
                <a16:creationId xmlns:a16="http://schemas.microsoft.com/office/drawing/2014/main" id="{202495EC-8A63-40C9-8783-283D619FFE4D}"/>
              </a:ext>
            </a:extLst>
          </p:cNvPr>
          <p:cNvSpPr>
            <a:spLocks xmlns:a="http://schemas.openxmlformats.org/drawingml/2006/main" noGrp="1"/>
          </p:cNvSpPr>
          <p:nvPr/>
        </p:nvSpPr>
        <p:spPr>
          <a:xfrm xmlns:a="http://schemas.openxmlformats.org/drawingml/2006/main" rot="0">
            <a:off x="1004316" y="9448419"/>
            <a:ext cx="94645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polyreactivity</a:t>
            </a:r>
          </a:p>
        </p:txBody>
      </p:sp>
      <p:sp>
        <p:nvSpPr>
          <p:cNvPr id="122" name="Figure 13 label 118 line 1">
            <a:extLst xmlns:a="http://schemas.openxmlformats.org/drawingml/2006/main">
              <a:ext uri="{FF2B5EF4-FFF2-40B4-BE49-F238E27FC236}">
                <a16:creationId xmlns:a16="http://schemas.microsoft.com/office/drawing/2014/main" id="{9AFB2A76-DCC1-4D88-988B-AAD27A8CBE3F}"/>
              </a:ext>
            </a:extLst>
          </p:cNvPr>
          <p:cNvSpPr>
            <a:spLocks xmlns:a="http://schemas.openxmlformats.org/drawingml/2006/main" noGrp="1"/>
          </p:cNvSpPr>
          <p:nvPr/>
        </p:nvSpPr>
        <p:spPr>
          <a:xfrm xmlns:a="http://schemas.openxmlformats.org/drawingml/2006/main" rot="0">
            <a:off x="2052066" y="9448419"/>
            <a:ext cx="1887944"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Binding to multiple non-targets</a:t>
            </a:r>
          </a:p>
        </p:txBody>
      </p:sp>
      <p:sp>
        <p:nvSpPr>
          <p:cNvPr id="123" name="Figure 13 label 119 line 1">
            <a:extLst xmlns:a="http://schemas.openxmlformats.org/drawingml/2006/main">
              <a:ext uri="{FF2B5EF4-FFF2-40B4-BE49-F238E27FC236}">
                <a16:creationId xmlns:a16="http://schemas.microsoft.com/office/drawing/2014/main" id="{BE3059C1-0D66-436D-802C-456AE407FBA9}"/>
              </a:ext>
            </a:extLst>
          </p:cNvPr>
          <p:cNvSpPr>
            <a:spLocks xmlns:a="http://schemas.openxmlformats.org/drawingml/2006/main" noGrp="1"/>
          </p:cNvSpPr>
          <p:nvPr/>
        </p:nvSpPr>
        <p:spPr>
          <a:xfrm xmlns:a="http://schemas.openxmlformats.org/drawingml/2006/main" rot="0">
            <a:off x="6509766" y="9448419"/>
            <a:ext cx="560844"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epitope</a:t>
            </a:r>
          </a:p>
        </p:txBody>
      </p:sp>
      <p:sp>
        <p:nvSpPr>
          <p:cNvPr id="124" name="Figure 13 label 120 line 1">
            <a:extLst xmlns:a="http://schemas.openxmlformats.org/drawingml/2006/main">
              <a:ext uri="{FF2B5EF4-FFF2-40B4-BE49-F238E27FC236}">
                <a16:creationId xmlns:a16="http://schemas.microsoft.com/office/drawing/2014/main" id="{9877B6BE-A154-4058-8A7F-DFB92A52DE85}"/>
              </a:ext>
            </a:extLst>
          </p:cNvPr>
          <p:cNvSpPr>
            <a:spLocks xmlns:a="http://schemas.openxmlformats.org/drawingml/2006/main" noGrp="1"/>
          </p:cNvSpPr>
          <p:nvPr/>
        </p:nvSpPr>
        <p:spPr>
          <a:xfrm xmlns:a="http://schemas.openxmlformats.org/drawingml/2006/main" rot="0">
            <a:off x="7557516" y="9448419"/>
            <a:ext cx="1813977"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The binding site on the target</a:t>
            </a:r>
          </a:p>
        </p:txBody>
      </p:sp>
      <p:sp>
        <p:nvSpPr>
          <p:cNvPr id="125" name="Figure 13 label 121 line 1">
            <a:extLst xmlns:a="http://schemas.openxmlformats.org/drawingml/2006/main">
              <a:ext uri="{FF2B5EF4-FFF2-40B4-BE49-F238E27FC236}">
                <a16:creationId xmlns:a16="http://schemas.microsoft.com/office/drawing/2014/main" id="{95B1000C-7AAF-4B6E-A95C-F178870A4356}"/>
              </a:ext>
            </a:extLst>
          </p:cNvPr>
          <p:cNvSpPr>
            <a:spLocks xmlns:a="http://schemas.openxmlformats.org/drawingml/2006/main" noGrp="1"/>
          </p:cNvSpPr>
          <p:nvPr/>
        </p:nvSpPr>
        <p:spPr>
          <a:xfrm xmlns:a="http://schemas.openxmlformats.org/drawingml/2006/main" rot="0">
            <a:off x="12015216" y="9448419"/>
            <a:ext cx="85745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cell potency</a:t>
            </a:r>
          </a:p>
        </p:txBody>
      </p:sp>
      <p:sp>
        <p:nvSpPr>
          <p:cNvPr id="126" name="Figure 13 label 122 line 1">
            <a:extLst xmlns:a="http://schemas.openxmlformats.org/drawingml/2006/main">
              <a:ext uri="{FF2B5EF4-FFF2-40B4-BE49-F238E27FC236}">
                <a16:creationId xmlns:a16="http://schemas.microsoft.com/office/drawing/2014/main" id="{20FD7F43-39D4-48A0-9C85-570E24B956C2}"/>
              </a:ext>
            </a:extLst>
          </p:cNvPr>
          <p:cNvSpPr>
            <a:spLocks xmlns:a="http://schemas.openxmlformats.org/drawingml/2006/main" noGrp="1"/>
          </p:cNvSpPr>
          <p:nvPr/>
        </p:nvSpPr>
        <p:spPr>
          <a:xfrm xmlns:a="http://schemas.openxmlformats.org/drawingml/2006/main" rot="0">
            <a:off x="13062966" y="9448419"/>
            <a:ext cx="1932146"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Functional activity in living cells</a:t>
            </a:r>
          </a:p>
        </p:txBody>
      </p:sp>
      <p:sp>
        <p:nvSpPr>
          <p:cNvPr id="127" name="Figure 13 label 123 line 1">
            <a:extLst xmlns:a="http://schemas.openxmlformats.org/drawingml/2006/main">
              <a:ext uri="{FF2B5EF4-FFF2-40B4-BE49-F238E27FC236}">
                <a16:creationId xmlns:a16="http://schemas.microsoft.com/office/drawing/2014/main" id="{5D4079AD-0A2C-4B63-909B-2A25223886C4}"/>
              </a:ext>
            </a:extLst>
          </p:cNvPr>
          <p:cNvSpPr>
            <a:spLocks xmlns:a="http://schemas.openxmlformats.org/drawingml/2006/main" noGrp="1"/>
          </p:cNvSpPr>
          <p:nvPr/>
        </p:nvSpPr>
        <p:spPr>
          <a:xfrm xmlns:a="http://schemas.openxmlformats.org/drawingml/2006/main" rot="0">
            <a:off x="679323" y="9781032"/>
            <a:ext cx="836863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Illustrative counts. Nine label types are not nine independent assays; richer data need not come at unchanged cost.</a:t>
            </a:r>
          </a:p>
        </p:txBody>
      </p:sp>
      <p:sp>
        <p:nvSpPr>
          <p:cNvPr id="128" name="Figure 13 label 124 line 1">
            <a:extLst xmlns:a="http://schemas.openxmlformats.org/drawingml/2006/main">
              <a:ext uri="{FF2B5EF4-FFF2-40B4-BE49-F238E27FC236}">
                <a16:creationId xmlns:a16="http://schemas.microsoft.com/office/drawing/2014/main" id="{15B36071-02FA-439A-8267-B57FC41A1E8A}"/>
              </a:ext>
            </a:extLst>
          </p:cNvPr>
          <p:cNvSpPr>
            <a:spLocks xmlns:a="http://schemas.openxmlformats.org/drawingml/2006/main" noGrp="1"/>
          </p:cNvSpPr>
          <p:nvPr/>
        </p:nvSpPr>
        <p:spPr>
          <a:xfrm xmlns:a="http://schemas.openxmlformats.org/drawingml/2006/main" rot="0">
            <a:off x="679895" y="10043350"/>
            <a:ext cx="8925788" cy="1845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63" b="0">
                <a:solidFill>
                  <a:srgbClr val="00355F"/>
                </a:solidFill>
                <a:latin typeface="Arial"/>
                <a:ea typeface="Arial"/>
                <a:cs typeface="Arial"/>
              </a:defRPr>
            </a:defPPr>
          </a:lstStyle>
          <a:p xmlns:a="http://schemas.openxmlformats.org/drawingml/2006/main">
            <a:pPr algn="l">
              <a:lnSpc>
                <a:spcPct val="100000"/>
              </a:lnSpc>
              <a:buNone/>
              <a:defRPr sz="1163" b="0">
                <a:solidFill>
                  <a:srgbClr val="00355F"/>
                </a:solidFill>
                <a:latin typeface="Arial"/>
                <a:ea typeface="Arial"/>
                <a:cs typeface="Arial"/>
              </a:defRPr>
            </a:pPr>
            <a:r>
              <a:rPr sz="1163" b="0">
                <a:solidFill>
                  <a:srgbClr val="00355F"/>
                </a:solidFill>
                <a:latin typeface="Arial"/>
                <a:ea typeface="Arial"/>
                <a:cs typeface="Arial"/>
              </a:rPr>
              <a:t>Sources: Jain et al., 2017; Arsiwala et al., 2025; van Niekerk et al., 2026. Mechanism illustration; definitions and links in SOURCES.md.</a:t>
            </a:r>
          </a:p>
        </p:txBody>
      </p:sp>
    </p:spTree>
    <p:extLst>
      <p:ext uri="{BB962C8B-B14F-4D97-AF65-F5344CB8AC3E}">
        <p14:creationId xmlns:p14="http://schemas.microsoft.com/office/powerpoint/2010/main" val="61499021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5" name="">
            <a:extLst xmlns:a="http://schemas.openxmlformats.org/drawingml/2006/main">
              <a:ext uri="{FF2B5EF4-FFF2-40B4-BE49-F238E27FC236}">
                <a16:creationId xmlns:a16="http://schemas.microsoft.com/office/drawing/2014/main" id="{6ECF1D09-A77F-40E4-91B1-1251236528CB}"/>
              </a:ext>
            </a:extLst>
          </p:cNvPr>
          <p:cNvPicPr>
            <a:picLocks xmlns:a="http://schemas.openxmlformats.org/drawingml/2006/main" noChangeAspect="1"/>
          </p:cNvPicPr>
          <p:nvPr/>
        </p:nvPicPr>
        <p:blipFill>
          <a:blip xmlns:r="http://schemas.openxmlformats.org/officeDocument/2006/relationships" xmlns:a="http://schemas.openxmlformats.org/drawingml/2006/main" r:embed="Re2d3e40458b94a69"/>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4 label 1 line 1">
            <a:extLst xmlns:a="http://schemas.openxmlformats.org/drawingml/2006/main">
              <a:ext uri="{FF2B5EF4-FFF2-40B4-BE49-F238E27FC236}">
                <a16:creationId xmlns:a16="http://schemas.microsoft.com/office/drawing/2014/main" id="{26F83330-37B2-4950-BAA7-965A046E652B}"/>
              </a:ext>
            </a:extLst>
          </p:cNvPr>
          <p:cNvSpPr>
            <a:spLocks xmlns:a="http://schemas.openxmlformats.org/drawingml/2006/main" noGrp="1"/>
          </p:cNvSpPr>
          <p:nvPr/>
        </p:nvSpPr>
        <p:spPr>
          <a:xfrm xmlns:a="http://schemas.openxmlformats.org/drawingml/2006/main" rot="0">
            <a:off x="982599" y="270891"/>
            <a:ext cx="10730746"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Experimental data density and the LST ecosystem</a:t>
            </a:r>
          </a:p>
        </p:txBody>
      </p:sp>
      <p:sp>
        <p:nvSpPr>
          <p:cNvPr id="3" name="Figure 14 label 2 line 1">
            <a:extLst xmlns:a="http://schemas.openxmlformats.org/drawingml/2006/main">
              <a:ext uri="{FF2B5EF4-FFF2-40B4-BE49-F238E27FC236}">
                <a16:creationId xmlns:a16="http://schemas.microsoft.com/office/drawing/2014/main" id="{56E4BAC5-0A5D-4D65-A1F3-8657CAC01DEE}"/>
              </a:ext>
            </a:extLst>
          </p:cNvPr>
          <p:cNvSpPr>
            <a:spLocks xmlns:a="http://schemas.openxmlformats.org/drawingml/2006/main" noGrp="1"/>
          </p:cNvSpPr>
          <p:nvPr/>
        </p:nvSpPr>
        <p:spPr>
          <a:xfrm xmlns:a="http://schemas.openxmlformats.org/drawingml/2006/main" rot="0">
            <a:off x="1008888" y="936117"/>
            <a:ext cx="7243941"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025" b="0">
                <a:solidFill>
                  <a:srgbClr val="00355F"/>
                </a:solidFill>
                <a:latin typeface="Arial"/>
                <a:ea typeface="Arial"/>
                <a:cs typeface="Arial"/>
              </a:defRPr>
            </a:defPPr>
          </a:lstStyle>
          <a:p xmlns:a="http://schemas.openxmlformats.org/drawingml/2006/main">
            <a:pPr algn="l">
              <a:lnSpc>
                <a:spcPct val="100000"/>
              </a:lnSpc>
              <a:buNone/>
              <a:defRPr sz="2025" b="0">
                <a:solidFill>
                  <a:srgbClr val="00355F"/>
                </a:solidFill>
                <a:latin typeface="Arial"/>
                <a:ea typeface="Arial"/>
                <a:cs typeface="Arial"/>
              </a:defRPr>
            </a:pPr>
            <a:r>
              <a:rPr sz="2025" b="0">
                <a:solidFill>
                  <a:srgbClr val="00355F"/>
                </a:solidFill>
                <a:latin typeface="Arial"/>
                <a:ea typeface="Arial"/>
                <a:cs typeface="Arial"/>
              </a:rPr>
              <a:t>Stage 0: biological data production creates a wet-lab use case</a:t>
            </a:r>
          </a:p>
        </p:txBody>
      </p:sp>
      <p:sp>
        <p:nvSpPr>
          <p:cNvPr id="4" name="Figure 14 label 3 line 1">
            <a:extLst xmlns:a="http://schemas.openxmlformats.org/drawingml/2006/main">
              <a:ext uri="{FF2B5EF4-FFF2-40B4-BE49-F238E27FC236}">
                <a16:creationId xmlns:a16="http://schemas.microsoft.com/office/drawing/2014/main" id="{45379A67-DC30-4A16-B136-70C409D81334}"/>
              </a:ext>
            </a:extLst>
          </p:cNvPr>
          <p:cNvSpPr>
            <a:spLocks xmlns:a="http://schemas.openxmlformats.org/drawingml/2006/main" noGrp="1"/>
          </p:cNvSpPr>
          <p:nvPr/>
        </p:nvSpPr>
        <p:spPr>
          <a:xfrm xmlns:a="http://schemas.openxmlformats.org/drawingml/2006/main" rot="0">
            <a:off x="1011174" y="1385316"/>
            <a:ext cx="790241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Learning developability requires comparable assay data and an integrated tool workflow</a:t>
            </a:r>
          </a:p>
        </p:txBody>
      </p:sp>
      <p:sp>
        <p:nvSpPr>
          <p:cNvPr id="5" name="Figure 14 label 4 line 1">
            <a:extLst xmlns:a="http://schemas.openxmlformats.org/drawingml/2006/main">
              <a:ext uri="{FF2B5EF4-FFF2-40B4-BE49-F238E27FC236}">
                <a16:creationId xmlns:a16="http://schemas.microsoft.com/office/drawing/2014/main" id="{C222BFFF-99D4-4D29-A7DA-C1C5F5C83926}"/>
              </a:ext>
            </a:extLst>
          </p:cNvPr>
          <p:cNvSpPr>
            <a:spLocks xmlns:a="http://schemas.openxmlformats.org/drawingml/2006/main" noGrp="1"/>
          </p:cNvSpPr>
          <p:nvPr/>
        </p:nvSpPr>
        <p:spPr>
          <a:xfrm xmlns:a="http://schemas.openxmlformats.org/drawingml/2006/main" rot="0">
            <a:off x="932307" y="2256663"/>
            <a:ext cx="4618702"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Stage 0: biological data production</a:t>
            </a:r>
          </a:p>
        </p:txBody>
      </p:sp>
      <p:sp>
        <p:nvSpPr>
          <p:cNvPr id="6" name="Figure 14 label 5 line 1">
            <a:extLst xmlns:a="http://schemas.openxmlformats.org/drawingml/2006/main">
              <a:ext uri="{FF2B5EF4-FFF2-40B4-BE49-F238E27FC236}">
                <a16:creationId xmlns:a16="http://schemas.microsoft.com/office/drawing/2014/main" id="{9BA9ED94-94A9-497D-9499-21D9CDF2D264}"/>
              </a:ext>
            </a:extLst>
          </p:cNvPr>
          <p:cNvSpPr>
            <a:spLocks xmlns:a="http://schemas.openxmlformats.org/drawingml/2006/main" noGrp="1"/>
          </p:cNvSpPr>
          <p:nvPr/>
        </p:nvSpPr>
        <p:spPr>
          <a:xfrm xmlns:a="http://schemas.openxmlformats.org/drawingml/2006/main" rot="0">
            <a:off x="935355" y="2703195"/>
            <a:ext cx="35446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Continuous input to training and iteration</a:t>
            </a:r>
          </a:p>
        </p:txBody>
      </p:sp>
      <p:sp>
        <p:nvSpPr>
          <p:cNvPr id="7" name="Figure 14 label 6 line 1">
            <a:extLst xmlns:a="http://schemas.openxmlformats.org/drawingml/2006/main">
              <a:ext uri="{FF2B5EF4-FFF2-40B4-BE49-F238E27FC236}">
                <a16:creationId xmlns:a16="http://schemas.microsoft.com/office/drawing/2014/main" id="{07EF87F9-DF1F-401F-8390-4A13F28DC71F}"/>
              </a:ext>
            </a:extLst>
          </p:cNvPr>
          <p:cNvSpPr>
            <a:spLocks xmlns:a="http://schemas.openxmlformats.org/drawingml/2006/main" noGrp="1"/>
          </p:cNvSpPr>
          <p:nvPr/>
        </p:nvSpPr>
        <p:spPr>
          <a:xfrm xmlns:a="http://schemas.openxmlformats.org/drawingml/2006/main" rot="0">
            <a:off x="1097661" y="3249549"/>
            <a:ext cx="1375231"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Binding kinetics</a:t>
            </a:r>
          </a:p>
        </p:txBody>
      </p:sp>
      <p:sp>
        <p:nvSpPr>
          <p:cNvPr id="8" name="Figure 14 label 7 line 1">
            <a:extLst xmlns:a="http://schemas.openxmlformats.org/drawingml/2006/main">
              <a:ext uri="{FF2B5EF4-FFF2-40B4-BE49-F238E27FC236}">
                <a16:creationId xmlns:a16="http://schemas.microsoft.com/office/drawing/2014/main" id="{7B736021-5B0A-40CA-8144-F603EE32F5D2}"/>
              </a:ext>
            </a:extLst>
          </p:cNvPr>
          <p:cNvSpPr>
            <a:spLocks xmlns:a="http://schemas.openxmlformats.org/drawingml/2006/main" noGrp="1"/>
          </p:cNvSpPr>
          <p:nvPr/>
        </p:nvSpPr>
        <p:spPr>
          <a:xfrm xmlns:a="http://schemas.openxmlformats.org/drawingml/2006/main" rot="0">
            <a:off x="1096137" y="3512058"/>
            <a:ext cx="1615202"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KD / kon / koff</a:t>
            </a:r>
          </a:p>
        </p:txBody>
      </p:sp>
      <p:sp>
        <p:nvSpPr>
          <p:cNvPr id="9" name="Figure 14 label 8 line 1">
            <a:extLst xmlns:a="http://schemas.openxmlformats.org/drawingml/2006/main">
              <a:ext uri="{FF2B5EF4-FFF2-40B4-BE49-F238E27FC236}">
                <a16:creationId xmlns:a16="http://schemas.microsoft.com/office/drawing/2014/main" id="{D7E569FD-C287-4507-8541-414C5C1AF6D8}"/>
              </a:ext>
            </a:extLst>
          </p:cNvPr>
          <p:cNvSpPr>
            <a:spLocks xmlns:a="http://schemas.openxmlformats.org/drawingml/2006/main" noGrp="1"/>
          </p:cNvSpPr>
          <p:nvPr/>
        </p:nvSpPr>
        <p:spPr>
          <a:xfrm xmlns:a="http://schemas.openxmlformats.org/drawingml/2006/main" rot="0">
            <a:off x="1097661" y="4202049"/>
            <a:ext cx="3417004"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Expression &amp; physicochemical properties</a:t>
            </a:r>
          </a:p>
        </p:txBody>
      </p:sp>
      <p:sp>
        <p:nvSpPr>
          <p:cNvPr id="10" name="Figure 14 label 9 line 1">
            <a:extLst xmlns:a="http://schemas.openxmlformats.org/drawingml/2006/main">
              <a:ext uri="{FF2B5EF4-FFF2-40B4-BE49-F238E27FC236}">
                <a16:creationId xmlns:a16="http://schemas.microsoft.com/office/drawing/2014/main" id="{18EBEA7E-E28F-4F4E-B46E-F3606D8CA853}"/>
              </a:ext>
            </a:extLst>
          </p:cNvPr>
          <p:cNvSpPr>
            <a:spLocks xmlns:a="http://schemas.openxmlformats.org/drawingml/2006/main" noGrp="1"/>
          </p:cNvSpPr>
          <p:nvPr/>
        </p:nvSpPr>
        <p:spPr>
          <a:xfrm xmlns:a="http://schemas.openxmlformats.org/drawingml/2006/main" rot="0">
            <a:off x="1096137" y="4464558"/>
            <a:ext cx="3246805"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expression / Tm / aggregation</a:t>
            </a:r>
          </a:p>
        </p:txBody>
      </p:sp>
      <p:sp>
        <p:nvSpPr>
          <p:cNvPr id="11" name="Figure 14 label 10 line 1">
            <a:extLst xmlns:a="http://schemas.openxmlformats.org/drawingml/2006/main">
              <a:ext uri="{FF2B5EF4-FFF2-40B4-BE49-F238E27FC236}">
                <a16:creationId xmlns:a16="http://schemas.microsoft.com/office/drawing/2014/main" id="{85DC9147-B388-43D9-B78C-FEEA9F58AA8C}"/>
              </a:ext>
            </a:extLst>
          </p:cNvPr>
          <p:cNvSpPr>
            <a:spLocks xmlns:a="http://schemas.openxmlformats.org/drawingml/2006/main" noGrp="1"/>
          </p:cNvSpPr>
          <p:nvPr/>
        </p:nvSpPr>
        <p:spPr>
          <a:xfrm xmlns:a="http://schemas.openxmlformats.org/drawingml/2006/main" rot="0">
            <a:off x="1097661" y="5154549"/>
            <a:ext cx="2109252"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Specificity &amp; cell function</a:t>
            </a:r>
          </a:p>
        </p:txBody>
      </p:sp>
      <p:sp>
        <p:nvSpPr>
          <p:cNvPr id="12" name="Figure 14 label 11 line 1">
            <a:extLst xmlns:a="http://schemas.openxmlformats.org/drawingml/2006/main">
              <a:ext uri="{FF2B5EF4-FFF2-40B4-BE49-F238E27FC236}">
                <a16:creationId xmlns:a16="http://schemas.microsoft.com/office/drawing/2014/main" id="{8973E94F-2BD1-41A4-A77D-7E634E502D34}"/>
              </a:ext>
            </a:extLst>
          </p:cNvPr>
          <p:cNvSpPr>
            <a:spLocks xmlns:a="http://schemas.openxmlformats.org/drawingml/2006/main" noGrp="1"/>
          </p:cNvSpPr>
          <p:nvPr/>
        </p:nvSpPr>
        <p:spPr>
          <a:xfrm xmlns:a="http://schemas.openxmlformats.org/drawingml/2006/main" rot="0">
            <a:off x="1097280" y="5427345"/>
            <a:ext cx="3448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polyreactivity / epitope / cell potency</a:t>
            </a:r>
          </a:p>
        </p:txBody>
      </p:sp>
      <p:sp>
        <p:nvSpPr>
          <p:cNvPr id="13" name="Figure 14 label 12 line 1">
            <a:extLst xmlns:a="http://schemas.openxmlformats.org/drawingml/2006/main">
              <a:ext uri="{FF2B5EF4-FFF2-40B4-BE49-F238E27FC236}">
                <a16:creationId xmlns:a16="http://schemas.microsoft.com/office/drawing/2014/main" id="{B61540BF-32EB-4374-BBDB-9515EC07A036}"/>
              </a:ext>
            </a:extLst>
          </p:cNvPr>
          <p:cNvSpPr>
            <a:spLocks xmlns:a="http://schemas.openxmlformats.org/drawingml/2006/main" noGrp="1"/>
          </p:cNvSpPr>
          <p:nvPr/>
        </p:nvSpPr>
        <p:spPr>
          <a:xfrm xmlns:a="http://schemas.openxmlformats.org/drawingml/2006/main" rot="0">
            <a:off x="935736" y="6126099"/>
            <a:ext cx="3833128"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Training records: sequence, target, conditions,</a:t>
            </a:r>
          </a:p>
        </p:txBody>
      </p:sp>
      <p:sp>
        <p:nvSpPr>
          <p:cNvPr id="14" name="Figure 14 label 12 line 2">
            <a:extLst xmlns:a="http://schemas.openxmlformats.org/drawingml/2006/main">
              <a:ext uri="{FF2B5EF4-FFF2-40B4-BE49-F238E27FC236}">
                <a16:creationId xmlns:a16="http://schemas.microsoft.com/office/drawing/2014/main" id="{C702229E-374A-43DB-914B-F7BFCB55342D}"/>
              </a:ext>
            </a:extLst>
          </p:cNvPr>
          <p:cNvSpPr>
            <a:spLocks xmlns:a="http://schemas.openxmlformats.org/drawingml/2006/main" noGrp="1"/>
          </p:cNvSpPr>
          <p:nvPr/>
        </p:nvSpPr>
        <p:spPr>
          <a:xfrm xmlns:a="http://schemas.openxmlformats.org/drawingml/2006/main" rot="0">
            <a:off x="935736" y="6352318"/>
            <a:ext cx="3833128"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raw curves, replicates, batches and failures</a:t>
            </a:r>
          </a:p>
        </p:txBody>
      </p:sp>
      <p:sp>
        <p:nvSpPr>
          <p:cNvPr id="15" name="Figure 14 label 13 line 1">
            <a:extLst xmlns:a="http://schemas.openxmlformats.org/drawingml/2006/main">
              <a:ext uri="{FF2B5EF4-FFF2-40B4-BE49-F238E27FC236}">
                <a16:creationId xmlns:a16="http://schemas.microsoft.com/office/drawing/2014/main" id="{837C3389-63CB-48CD-918A-888AE92A1451}"/>
              </a:ext>
            </a:extLst>
          </p:cNvPr>
          <p:cNvSpPr>
            <a:spLocks xmlns:a="http://schemas.openxmlformats.org/drawingml/2006/main" noGrp="1"/>
          </p:cNvSpPr>
          <p:nvPr/>
        </p:nvSpPr>
        <p:spPr>
          <a:xfrm xmlns:a="http://schemas.openxmlformats.org/drawingml/2006/main" rot="0">
            <a:off x="1091565" y="6906387"/>
            <a:ext cx="1626870"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1">
                <a:solidFill>
                  <a:srgbClr val="00355F"/>
                </a:solidFill>
                <a:latin typeface="Arial"/>
                <a:ea typeface="Arial"/>
                <a:cs typeface="Arial"/>
              </a:defRPr>
            </a:defPPr>
          </a:lstStyle>
          <a:p xmlns:a="http://schemas.openxmlformats.org/drawingml/2006/main">
            <a:pPr algn="ctr">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Train / improve</a:t>
            </a:r>
          </a:p>
        </p:txBody>
      </p:sp>
      <p:sp>
        <p:nvSpPr>
          <p:cNvPr id="16" name="Figure 14 label 14 line 1">
            <a:extLst xmlns:a="http://schemas.openxmlformats.org/drawingml/2006/main">
              <a:ext uri="{FF2B5EF4-FFF2-40B4-BE49-F238E27FC236}">
                <a16:creationId xmlns:a16="http://schemas.microsoft.com/office/drawing/2014/main" id="{406786AA-DAF0-4E51-954A-2D35DF2EE64F}"/>
              </a:ext>
            </a:extLst>
          </p:cNvPr>
          <p:cNvSpPr>
            <a:spLocks xmlns:a="http://schemas.openxmlformats.org/drawingml/2006/main" noGrp="1"/>
          </p:cNvSpPr>
          <p:nvPr/>
        </p:nvSpPr>
        <p:spPr>
          <a:xfrm xmlns:a="http://schemas.openxmlformats.org/drawingml/2006/main" rot="0">
            <a:off x="4019907" y="6906387"/>
            <a:ext cx="1789986"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1">
                <a:solidFill>
                  <a:srgbClr val="00355F"/>
                </a:solidFill>
                <a:latin typeface="Arial"/>
                <a:ea typeface="Arial"/>
                <a:cs typeface="Arial"/>
              </a:defRPr>
            </a:defPPr>
          </a:lstStyle>
          <a:p xmlns:a="http://schemas.openxmlformats.org/drawingml/2006/main">
            <a:pPr algn="ctr">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Design / validate</a:t>
            </a:r>
          </a:p>
        </p:txBody>
      </p:sp>
      <p:sp>
        <p:nvSpPr>
          <p:cNvPr id="17" name="Figure 14 label 15 line 1">
            <a:extLst xmlns:a="http://schemas.openxmlformats.org/drawingml/2006/main">
              <a:ext uri="{FF2B5EF4-FFF2-40B4-BE49-F238E27FC236}">
                <a16:creationId xmlns:a16="http://schemas.microsoft.com/office/drawing/2014/main" id="{051CF3C4-0C8B-427A-82F8-292900C2A392}"/>
              </a:ext>
            </a:extLst>
          </p:cNvPr>
          <p:cNvSpPr>
            <a:spLocks xmlns:a="http://schemas.openxmlformats.org/drawingml/2006/main" noGrp="1"/>
          </p:cNvSpPr>
          <p:nvPr/>
        </p:nvSpPr>
        <p:spPr>
          <a:xfrm xmlns:a="http://schemas.openxmlformats.org/drawingml/2006/main" rot="0">
            <a:off x="2491919" y="7491603"/>
            <a:ext cx="178843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Assays inform models</a:t>
            </a:r>
          </a:p>
        </p:txBody>
      </p:sp>
      <p:sp>
        <p:nvSpPr>
          <p:cNvPr id="18" name="Figure 14 label 16 line 1">
            <a:extLst xmlns:a="http://schemas.openxmlformats.org/drawingml/2006/main">
              <a:ext uri="{FF2B5EF4-FFF2-40B4-BE49-F238E27FC236}">
                <a16:creationId xmlns:a16="http://schemas.microsoft.com/office/drawing/2014/main" id="{8C600DAC-C363-44BF-9936-3A2177E7C2ED}"/>
              </a:ext>
            </a:extLst>
          </p:cNvPr>
          <p:cNvSpPr>
            <a:spLocks xmlns:a="http://schemas.openxmlformats.org/drawingml/2006/main" noGrp="1"/>
          </p:cNvSpPr>
          <p:nvPr/>
        </p:nvSpPr>
        <p:spPr>
          <a:xfrm xmlns:a="http://schemas.openxmlformats.org/drawingml/2006/main" rot="0">
            <a:off x="7399782" y="2237613"/>
            <a:ext cx="407220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Labels → assays → purchases</a:t>
            </a:r>
          </a:p>
        </p:txBody>
      </p:sp>
      <p:sp>
        <p:nvSpPr>
          <p:cNvPr id="19" name="Figure 14 label 17 line 1">
            <a:extLst xmlns:a="http://schemas.openxmlformats.org/drawingml/2006/main">
              <a:ext uri="{FF2B5EF4-FFF2-40B4-BE49-F238E27FC236}">
                <a16:creationId xmlns:a16="http://schemas.microsoft.com/office/drawing/2014/main" id="{E6E53560-0EE4-44F3-AAAC-FD08F6EA8F70}"/>
              </a:ext>
            </a:extLst>
          </p:cNvPr>
          <p:cNvSpPr>
            <a:spLocks xmlns:a="http://schemas.openxmlformats.org/drawingml/2006/main" noGrp="1"/>
          </p:cNvSpPr>
          <p:nvPr/>
        </p:nvSpPr>
        <p:spPr>
          <a:xfrm xmlns:a="http://schemas.openxmlformats.org/drawingml/2006/main" rot="0">
            <a:off x="7403592" y="2691003"/>
            <a:ext cx="701156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Tool revenue needs a bridge from label coverage to workflow volume and unit consumption</a:t>
            </a:r>
          </a:p>
        </p:txBody>
      </p:sp>
      <p:sp>
        <p:nvSpPr>
          <p:cNvPr id="20" name="Figure 14 label 18 line 1">
            <a:extLst xmlns:a="http://schemas.openxmlformats.org/drawingml/2006/main">
              <a:ext uri="{FF2B5EF4-FFF2-40B4-BE49-F238E27FC236}">
                <a16:creationId xmlns:a16="http://schemas.microsoft.com/office/drawing/2014/main" id="{6ECBE54C-0E5D-4373-BA34-C76C50961596}"/>
              </a:ext>
            </a:extLst>
          </p:cNvPr>
          <p:cNvSpPr>
            <a:spLocks xmlns:a="http://schemas.openxmlformats.org/drawingml/2006/main" noGrp="1"/>
          </p:cNvSpPr>
          <p:nvPr/>
        </p:nvSpPr>
        <p:spPr>
          <a:xfrm xmlns:a="http://schemas.openxmlformats.org/drawingml/2006/main" rot="0">
            <a:off x="7972806" y="3241929"/>
            <a:ext cx="30700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Construction &amp; expression</a:t>
            </a:r>
          </a:p>
        </p:txBody>
      </p:sp>
      <p:sp>
        <p:nvSpPr>
          <p:cNvPr id="21" name="Figure 14 label 19 line 1">
            <a:extLst xmlns:a="http://schemas.openxmlformats.org/drawingml/2006/main">
              <a:ext uri="{FF2B5EF4-FFF2-40B4-BE49-F238E27FC236}">
                <a16:creationId xmlns:a16="http://schemas.microsoft.com/office/drawing/2014/main" id="{9573CB1A-D084-4910-A061-746DE408069C}"/>
              </a:ext>
            </a:extLst>
          </p:cNvPr>
          <p:cNvSpPr>
            <a:spLocks xmlns:a="http://schemas.openxmlformats.org/drawingml/2006/main" noGrp="1"/>
          </p:cNvSpPr>
          <p:nvPr/>
        </p:nvSpPr>
        <p:spPr>
          <a:xfrm xmlns:a="http://schemas.openxmlformats.org/drawingml/2006/main" rot="0">
            <a:off x="7555230" y="3655695"/>
            <a:ext cx="413667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DNA synthesis, vectors, expression, purification</a:t>
            </a:r>
          </a:p>
        </p:txBody>
      </p:sp>
      <p:sp>
        <p:nvSpPr>
          <p:cNvPr id="22" name="Figure 14 label 20 line 1">
            <a:extLst xmlns:a="http://schemas.openxmlformats.org/drawingml/2006/main">
              <a:ext uri="{FF2B5EF4-FFF2-40B4-BE49-F238E27FC236}">
                <a16:creationId xmlns:a16="http://schemas.microsoft.com/office/drawing/2014/main" id="{45EAF5A0-CDCC-4BEF-A6C9-9244D6CDDFF4}"/>
              </a:ext>
            </a:extLst>
          </p:cNvPr>
          <p:cNvSpPr>
            <a:spLocks xmlns:a="http://schemas.openxmlformats.org/drawingml/2006/main" noGrp="1"/>
          </p:cNvSpPr>
          <p:nvPr/>
        </p:nvSpPr>
        <p:spPr>
          <a:xfrm xmlns:a="http://schemas.openxmlformats.org/drawingml/2006/main" rot="0">
            <a:off x="7555992" y="3995928"/>
            <a:ext cx="355636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Expression labels + samples for other assays</a:t>
            </a:r>
          </a:p>
        </p:txBody>
      </p:sp>
      <p:sp>
        <p:nvSpPr>
          <p:cNvPr id="23" name="Figure 14 label 21 line 1">
            <a:extLst xmlns:a="http://schemas.openxmlformats.org/drawingml/2006/main">
              <a:ext uri="{FF2B5EF4-FFF2-40B4-BE49-F238E27FC236}">
                <a16:creationId xmlns:a16="http://schemas.microsoft.com/office/drawing/2014/main" id="{3E3E6ACF-5C2A-452D-91E8-4CC06A093DD7}"/>
              </a:ext>
            </a:extLst>
          </p:cNvPr>
          <p:cNvSpPr>
            <a:spLocks xmlns:a="http://schemas.openxmlformats.org/drawingml/2006/main" noGrp="1"/>
          </p:cNvSpPr>
          <p:nvPr/>
        </p:nvSpPr>
        <p:spPr>
          <a:xfrm xmlns:a="http://schemas.openxmlformats.org/drawingml/2006/main" rot="0">
            <a:off x="7556373" y="4294632"/>
            <a:ext cx="290470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Count shared sample preparation once</a:t>
            </a:r>
          </a:p>
        </p:txBody>
      </p:sp>
      <p:sp>
        <p:nvSpPr>
          <p:cNvPr id="24" name="Figure 14 label 22 line 1">
            <a:extLst xmlns:a="http://schemas.openxmlformats.org/drawingml/2006/main">
              <a:ext uri="{FF2B5EF4-FFF2-40B4-BE49-F238E27FC236}">
                <a16:creationId xmlns:a16="http://schemas.microsoft.com/office/drawing/2014/main" id="{3FB0E608-EDDD-40DC-996F-CC21916097B8}"/>
              </a:ext>
            </a:extLst>
          </p:cNvPr>
          <p:cNvSpPr>
            <a:spLocks xmlns:a="http://schemas.openxmlformats.org/drawingml/2006/main" noGrp="1"/>
          </p:cNvSpPr>
          <p:nvPr/>
        </p:nvSpPr>
        <p:spPr>
          <a:xfrm xmlns:a="http://schemas.openxmlformats.org/drawingml/2006/main" rot="0">
            <a:off x="13011531" y="3241929"/>
            <a:ext cx="313318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Protein &amp; functional testing</a:t>
            </a:r>
          </a:p>
        </p:txBody>
      </p:sp>
      <p:sp>
        <p:nvSpPr>
          <p:cNvPr id="25" name="Figure 14 label 23 line 1">
            <a:extLst xmlns:a="http://schemas.openxmlformats.org/drawingml/2006/main">
              <a:ext uri="{FF2B5EF4-FFF2-40B4-BE49-F238E27FC236}">
                <a16:creationId xmlns:a16="http://schemas.microsoft.com/office/drawing/2014/main" id="{D9EF253E-424B-4B19-BCC9-444A0018C81B}"/>
              </a:ext>
            </a:extLst>
          </p:cNvPr>
          <p:cNvSpPr>
            <a:spLocks xmlns:a="http://schemas.openxmlformats.org/drawingml/2006/main" noGrp="1"/>
          </p:cNvSpPr>
          <p:nvPr/>
        </p:nvSpPr>
        <p:spPr>
          <a:xfrm xmlns:a="http://schemas.openxmlformats.org/drawingml/2006/main" rot="0">
            <a:off x="12593955" y="3655695"/>
            <a:ext cx="369272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SPR / BLI, binding curves, epitope binning</a:t>
            </a:r>
          </a:p>
        </p:txBody>
      </p:sp>
      <p:sp>
        <p:nvSpPr>
          <p:cNvPr id="26" name="Figure 14 label 24 line 1">
            <a:extLst xmlns:a="http://schemas.openxmlformats.org/drawingml/2006/main">
              <a:ext uri="{FF2B5EF4-FFF2-40B4-BE49-F238E27FC236}">
                <a16:creationId xmlns:a16="http://schemas.microsoft.com/office/drawing/2014/main" id="{2663A288-FC3B-48DC-A12E-37907AB8F9E8}"/>
              </a:ext>
            </a:extLst>
          </p:cNvPr>
          <p:cNvSpPr>
            <a:spLocks xmlns:a="http://schemas.openxmlformats.org/drawingml/2006/main" noGrp="1"/>
          </p:cNvSpPr>
          <p:nvPr/>
        </p:nvSpPr>
        <p:spPr>
          <a:xfrm xmlns:a="http://schemas.openxmlformats.org/drawingml/2006/main" rot="0">
            <a:off x="12594717" y="3995928"/>
            <a:ext cx="310065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Target proteins, sensors / chips, buffers</a:t>
            </a:r>
          </a:p>
        </p:txBody>
      </p:sp>
      <p:sp>
        <p:nvSpPr>
          <p:cNvPr id="27" name="Figure 14 label 25 line 1">
            <a:extLst xmlns:a="http://schemas.openxmlformats.org/drawingml/2006/main">
              <a:ext uri="{FF2B5EF4-FFF2-40B4-BE49-F238E27FC236}">
                <a16:creationId xmlns:a16="http://schemas.microsoft.com/office/drawing/2014/main" id="{603BDBEA-3C9A-4CB4-87CF-098DF3C037FF}"/>
              </a:ext>
            </a:extLst>
          </p:cNvPr>
          <p:cNvSpPr>
            <a:spLocks xmlns:a="http://schemas.openxmlformats.org/drawingml/2006/main" noGrp="1"/>
          </p:cNvSpPr>
          <p:nvPr/>
        </p:nvSpPr>
        <p:spPr>
          <a:xfrm xmlns:a="http://schemas.openxmlformats.org/drawingml/2006/main" rot="0">
            <a:off x="12595098" y="4294632"/>
            <a:ext cx="2973616"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KD / kon / koff can share one kinetic run</a:t>
            </a:r>
          </a:p>
        </p:txBody>
      </p:sp>
      <p:sp>
        <p:nvSpPr>
          <p:cNvPr id="28" name="Figure 14 label 26 line 1">
            <a:extLst xmlns:a="http://schemas.openxmlformats.org/drawingml/2006/main">
              <a:ext uri="{FF2B5EF4-FFF2-40B4-BE49-F238E27FC236}">
                <a16:creationId xmlns:a16="http://schemas.microsoft.com/office/drawing/2014/main" id="{27572028-A96D-4F21-81E6-71B2A2571ED0}"/>
              </a:ext>
            </a:extLst>
          </p:cNvPr>
          <p:cNvSpPr>
            <a:spLocks xmlns:a="http://schemas.openxmlformats.org/drawingml/2006/main" noGrp="1"/>
          </p:cNvSpPr>
          <p:nvPr/>
        </p:nvSpPr>
        <p:spPr>
          <a:xfrm xmlns:a="http://schemas.openxmlformats.org/drawingml/2006/main" rot="0">
            <a:off x="7972806" y="4927854"/>
            <a:ext cx="272793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Cells &amp; culture systems</a:t>
            </a:r>
          </a:p>
        </p:txBody>
      </p:sp>
      <p:sp>
        <p:nvSpPr>
          <p:cNvPr id="29" name="Figure 14 label 27 line 1">
            <a:extLst xmlns:a="http://schemas.openxmlformats.org/drawingml/2006/main">
              <a:ext uri="{FF2B5EF4-FFF2-40B4-BE49-F238E27FC236}">
                <a16:creationId xmlns:a16="http://schemas.microsoft.com/office/drawing/2014/main" id="{9C0CD40A-B9A2-43E3-91AD-62D198AB16A2}"/>
              </a:ext>
            </a:extLst>
          </p:cNvPr>
          <p:cNvSpPr>
            <a:spLocks xmlns:a="http://schemas.openxmlformats.org/drawingml/2006/main" noGrp="1"/>
          </p:cNvSpPr>
          <p:nvPr/>
        </p:nvSpPr>
        <p:spPr>
          <a:xfrm xmlns:a="http://schemas.openxmlformats.org/drawingml/2006/main" rot="0">
            <a:off x="7555230" y="5341620"/>
            <a:ext cx="412655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Functional cells, media, transfection, expansion</a:t>
            </a:r>
          </a:p>
        </p:txBody>
      </p:sp>
      <p:sp>
        <p:nvSpPr>
          <p:cNvPr id="30" name="Figure 14 label 28 line 1">
            <a:extLst xmlns:a="http://schemas.openxmlformats.org/drawingml/2006/main">
              <a:ext uri="{FF2B5EF4-FFF2-40B4-BE49-F238E27FC236}">
                <a16:creationId xmlns:a16="http://schemas.microsoft.com/office/drawing/2014/main" id="{159F45A5-B22D-4B40-B887-4B6ADA14A2A6}"/>
              </a:ext>
            </a:extLst>
          </p:cNvPr>
          <p:cNvSpPr>
            <a:spLocks xmlns:a="http://schemas.openxmlformats.org/drawingml/2006/main" noGrp="1"/>
          </p:cNvSpPr>
          <p:nvPr/>
        </p:nvSpPr>
        <p:spPr>
          <a:xfrm xmlns:a="http://schemas.openxmlformats.org/drawingml/2006/main" rot="0">
            <a:off x="7555992" y="5681853"/>
            <a:ext cx="340873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Cell potency; selected polyreactivity assays</a:t>
            </a:r>
          </a:p>
        </p:txBody>
      </p:sp>
      <p:sp>
        <p:nvSpPr>
          <p:cNvPr id="31" name="Figure 14 label 29 line 1">
            <a:extLst xmlns:a="http://schemas.openxmlformats.org/drawingml/2006/main">
              <a:ext uri="{FF2B5EF4-FFF2-40B4-BE49-F238E27FC236}">
                <a16:creationId xmlns:a16="http://schemas.microsoft.com/office/drawing/2014/main" id="{7F286905-2CBB-4CA0-82A8-EA3260CBAA98}"/>
              </a:ext>
            </a:extLst>
          </p:cNvPr>
          <p:cNvSpPr>
            <a:spLocks xmlns:a="http://schemas.openxmlformats.org/drawingml/2006/main" noGrp="1"/>
          </p:cNvSpPr>
          <p:nvPr/>
        </p:nvSpPr>
        <p:spPr>
          <a:xfrm xmlns:a="http://schemas.openxmlformats.org/drawingml/2006/main" rot="0">
            <a:off x="7556373" y="5980557"/>
            <a:ext cx="3372624"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Record cell model, target level and conditions</a:t>
            </a:r>
          </a:p>
        </p:txBody>
      </p:sp>
      <p:sp>
        <p:nvSpPr>
          <p:cNvPr id="32" name="Figure 14 label 30 line 1">
            <a:extLst xmlns:a="http://schemas.openxmlformats.org/drawingml/2006/main">
              <a:ext uri="{FF2B5EF4-FFF2-40B4-BE49-F238E27FC236}">
                <a16:creationId xmlns:a16="http://schemas.microsoft.com/office/drawing/2014/main" id="{438C06B3-E3BF-41DF-88EE-A6B173854A23}"/>
              </a:ext>
            </a:extLst>
          </p:cNvPr>
          <p:cNvSpPr>
            <a:spLocks xmlns:a="http://schemas.openxmlformats.org/drawingml/2006/main" noGrp="1"/>
          </p:cNvSpPr>
          <p:nvPr/>
        </p:nvSpPr>
        <p:spPr>
          <a:xfrm xmlns:a="http://schemas.openxmlformats.org/drawingml/2006/main" rot="0">
            <a:off x="13011531" y="4927854"/>
            <a:ext cx="281678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Measurement &amp; analysis</a:t>
            </a:r>
          </a:p>
        </p:txBody>
      </p:sp>
      <p:sp>
        <p:nvSpPr>
          <p:cNvPr id="33" name="Figure 14 label 31 line 1">
            <a:extLst xmlns:a="http://schemas.openxmlformats.org/drawingml/2006/main">
              <a:ext uri="{FF2B5EF4-FFF2-40B4-BE49-F238E27FC236}">
                <a16:creationId xmlns:a16="http://schemas.microsoft.com/office/drawing/2014/main" id="{76F4B108-B924-41C2-8393-9EF36BE600C7}"/>
              </a:ext>
            </a:extLst>
          </p:cNvPr>
          <p:cNvSpPr>
            <a:spLocks xmlns:a="http://schemas.openxmlformats.org/drawingml/2006/main" noGrp="1"/>
          </p:cNvSpPr>
          <p:nvPr/>
        </p:nvSpPr>
        <p:spPr>
          <a:xfrm xmlns:a="http://schemas.openxmlformats.org/drawingml/2006/main" rot="0">
            <a:off x="12593955" y="5341620"/>
            <a:ext cx="391373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SEC / HIC, nanoDSF, LC-MS, flow cytometry</a:t>
            </a:r>
          </a:p>
        </p:txBody>
      </p:sp>
      <p:sp>
        <p:nvSpPr>
          <p:cNvPr id="34" name="Figure 14 label 32 line 1">
            <a:extLst xmlns:a="http://schemas.openxmlformats.org/drawingml/2006/main">
              <a:ext uri="{FF2B5EF4-FFF2-40B4-BE49-F238E27FC236}">
                <a16:creationId xmlns:a16="http://schemas.microsoft.com/office/drawing/2014/main" id="{261DE944-7120-45AE-A2F3-177F28A5BBD8}"/>
              </a:ext>
            </a:extLst>
          </p:cNvPr>
          <p:cNvSpPr>
            <a:spLocks xmlns:a="http://schemas.openxmlformats.org/drawingml/2006/main" noGrp="1"/>
          </p:cNvSpPr>
          <p:nvPr/>
        </p:nvSpPr>
        <p:spPr>
          <a:xfrm xmlns:a="http://schemas.openxmlformats.org/drawingml/2006/main" rot="0">
            <a:off x="12594717" y="5681853"/>
            <a:ext cx="340560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Stability, aggregation, characterization / QC</a:t>
            </a:r>
          </a:p>
        </p:txBody>
      </p:sp>
      <p:sp>
        <p:nvSpPr>
          <p:cNvPr id="35" name="Figure 14 label 33 line 1">
            <a:extLst xmlns:a="http://schemas.openxmlformats.org/drawingml/2006/main">
              <a:ext uri="{FF2B5EF4-FFF2-40B4-BE49-F238E27FC236}">
                <a16:creationId xmlns:a16="http://schemas.microsoft.com/office/drawing/2014/main" id="{043F1570-1854-44F0-9F83-D1261CE76F92}"/>
              </a:ext>
            </a:extLst>
          </p:cNvPr>
          <p:cNvSpPr>
            <a:spLocks xmlns:a="http://schemas.openxmlformats.org/drawingml/2006/main" noGrp="1"/>
          </p:cNvSpPr>
          <p:nvPr/>
        </p:nvSpPr>
        <p:spPr>
          <a:xfrm xmlns:a="http://schemas.openxmlformats.org/drawingml/2006/main" rot="0">
            <a:off x="12595098" y="5980557"/>
            <a:ext cx="428136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Columns are reused; model instrument CAPEX separately</a:t>
            </a:r>
          </a:p>
        </p:txBody>
      </p:sp>
      <p:sp>
        <p:nvSpPr>
          <p:cNvPr id="36" name="Figure 14 label 34 line 1">
            <a:extLst xmlns:a="http://schemas.openxmlformats.org/drawingml/2006/main">
              <a:ext uri="{FF2B5EF4-FFF2-40B4-BE49-F238E27FC236}">
                <a16:creationId xmlns:a16="http://schemas.microsoft.com/office/drawing/2014/main" id="{335E9878-F8DF-44D8-99A1-6DEDC3B39946}"/>
              </a:ext>
            </a:extLst>
          </p:cNvPr>
          <p:cNvSpPr>
            <a:spLocks xmlns:a="http://schemas.openxmlformats.org/drawingml/2006/main" noGrp="1"/>
          </p:cNvSpPr>
          <p:nvPr/>
        </p:nvSpPr>
        <p:spPr>
          <a:xfrm xmlns:a="http://schemas.openxmlformats.org/drawingml/2006/main" rot="0">
            <a:off x="7972806" y="6613779"/>
            <a:ext cx="447993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Sample handling, labware &amp; automation</a:t>
            </a:r>
          </a:p>
        </p:txBody>
      </p:sp>
      <p:sp>
        <p:nvSpPr>
          <p:cNvPr id="37" name="Figure 14 label 35 line 1">
            <a:extLst xmlns:a="http://schemas.openxmlformats.org/drawingml/2006/main">
              <a:ext uri="{FF2B5EF4-FFF2-40B4-BE49-F238E27FC236}">
                <a16:creationId xmlns:a16="http://schemas.microsoft.com/office/drawing/2014/main" id="{B1BA6D5F-C54C-4BD7-BC38-36CDBBC395A3}"/>
              </a:ext>
            </a:extLst>
          </p:cNvPr>
          <p:cNvSpPr>
            <a:spLocks xmlns:a="http://schemas.openxmlformats.org/drawingml/2006/main" noGrp="1"/>
          </p:cNvSpPr>
          <p:nvPr/>
        </p:nvSpPr>
        <p:spPr>
          <a:xfrm xmlns:a="http://schemas.openxmlformats.org/drawingml/2006/main" rot="0">
            <a:off x="7555230" y="7027545"/>
            <a:ext cx="440218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Plates, tips, tubes, filtration / beads, liquid handling</a:t>
            </a:r>
          </a:p>
        </p:txBody>
      </p:sp>
      <p:sp>
        <p:nvSpPr>
          <p:cNvPr id="38" name="Figure 14 label 36 line 1">
            <a:extLst xmlns:a="http://schemas.openxmlformats.org/drawingml/2006/main">
              <a:ext uri="{FF2B5EF4-FFF2-40B4-BE49-F238E27FC236}">
                <a16:creationId xmlns:a16="http://schemas.microsoft.com/office/drawing/2014/main" id="{3FF3740F-4608-4FA9-89ED-6D26CCF66D23}"/>
              </a:ext>
            </a:extLst>
          </p:cNvPr>
          <p:cNvSpPr>
            <a:spLocks xmlns:a="http://schemas.openxmlformats.org/drawingml/2006/main" noGrp="1"/>
          </p:cNvSpPr>
          <p:nvPr/>
        </p:nvSpPr>
        <p:spPr>
          <a:xfrm xmlns:a="http://schemas.openxmlformats.org/drawingml/2006/main" rot="0">
            <a:off x="7555992" y="7367778"/>
            <a:ext cx="626756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Across all workflows; miniaturization, reuse and scheduling alter net consumption</a:t>
            </a:r>
          </a:p>
        </p:txBody>
      </p:sp>
      <p:sp>
        <p:nvSpPr>
          <p:cNvPr id="39" name="Figure 14 label 37 line 1">
            <a:extLst xmlns:a="http://schemas.openxmlformats.org/drawingml/2006/main">
              <a:ext uri="{FF2B5EF4-FFF2-40B4-BE49-F238E27FC236}">
                <a16:creationId xmlns:a16="http://schemas.microsoft.com/office/drawing/2014/main" id="{7DE67CDA-D0ED-4DBB-814C-CCC29F075D54}"/>
              </a:ext>
            </a:extLst>
          </p:cNvPr>
          <p:cNvSpPr>
            <a:spLocks xmlns:a="http://schemas.openxmlformats.org/drawingml/2006/main" noGrp="1"/>
          </p:cNvSpPr>
          <p:nvPr/>
        </p:nvSpPr>
        <p:spPr>
          <a:xfrm xmlns:a="http://schemas.openxmlformats.org/drawingml/2006/main" rot="0">
            <a:off x="858012" y="8141208"/>
            <a:ext cx="7361456"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ACROBiosystems: target proteins, functional cells &amp; characterization</a:t>
            </a:r>
          </a:p>
        </p:txBody>
      </p:sp>
      <p:sp>
        <p:nvSpPr>
          <p:cNvPr id="40" name="Figure 14 label 38 line 1">
            <a:extLst xmlns:a="http://schemas.openxmlformats.org/drawingml/2006/main">
              <a:ext uri="{FF2B5EF4-FFF2-40B4-BE49-F238E27FC236}">
                <a16:creationId xmlns:a16="http://schemas.microsoft.com/office/drawing/2014/main" id="{C68783EE-68D6-4E93-900E-4A66DA57A48F}"/>
              </a:ext>
            </a:extLst>
          </p:cNvPr>
          <p:cNvSpPr>
            <a:spLocks xmlns:a="http://schemas.openxmlformats.org/drawingml/2006/main" noGrp="1"/>
          </p:cNvSpPr>
          <p:nvPr/>
        </p:nvSpPr>
        <p:spPr>
          <a:xfrm xmlns:a="http://schemas.openxmlformats.org/drawingml/2006/main" rot="0">
            <a:off x="860298" y="8466582"/>
            <a:ext cx="6069687"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AIDD-Ready offering exists; paid orders and repeat purchases still need verification</a:t>
            </a:r>
          </a:p>
        </p:txBody>
      </p:sp>
      <p:sp>
        <p:nvSpPr>
          <p:cNvPr id="41" name="Figure 14 label 39 line 1">
            <a:extLst xmlns:a="http://schemas.openxmlformats.org/drawingml/2006/main">
              <a:ext uri="{FF2B5EF4-FFF2-40B4-BE49-F238E27FC236}">
                <a16:creationId xmlns:a16="http://schemas.microsoft.com/office/drawing/2014/main" id="{53E65BBC-D207-4A90-B9C3-DDAB81EC8C4F}"/>
              </a:ext>
            </a:extLst>
          </p:cNvPr>
          <p:cNvSpPr>
            <a:spLocks xmlns:a="http://schemas.openxmlformats.org/drawingml/2006/main" noGrp="1"/>
          </p:cNvSpPr>
          <p:nvPr/>
        </p:nvSpPr>
        <p:spPr>
          <a:xfrm xmlns:a="http://schemas.openxmlformats.org/drawingml/2006/main" rot="0">
            <a:off x="9287637" y="8141208"/>
            <a:ext cx="6448544"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NanoMicro: analytical separation &amp; lab purification materials</a:t>
            </a:r>
          </a:p>
        </p:txBody>
      </p:sp>
      <p:sp>
        <p:nvSpPr>
          <p:cNvPr id="42" name="Figure 14 label 40 line 1">
            <a:extLst xmlns:a="http://schemas.openxmlformats.org/drawingml/2006/main">
              <a:ext uri="{FF2B5EF4-FFF2-40B4-BE49-F238E27FC236}">
                <a16:creationId xmlns:a16="http://schemas.microsoft.com/office/drawing/2014/main" id="{30A7F680-9B75-4B64-9986-8E729B532CA1}"/>
              </a:ext>
            </a:extLst>
          </p:cNvPr>
          <p:cNvSpPr>
            <a:spLocks xmlns:a="http://schemas.openxmlformats.org/drawingml/2006/main" noGrp="1"/>
          </p:cNvSpPr>
          <p:nvPr/>
        </p:nvSpPr>
        <p:spPr>
          <a:xfrm xmlns:a="http://schemas.openxmlformats.org/drawingml/2006/main" rot="0">
            <a:off x="9289923" y="8466582"/>
            <a:ext cx="6309747"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Track sample runs, column life and ASP; manufacturing resin demand has a longer lag</a:t>
            </a:r>
          </a:p>
        </p:txBody>
      </p:sp>
      <p:sp>
        <p:nvSpPr>
          <p:cNvPr id="43" name="Figure 14 label 41 line 1">
            <a:extLst xmlns:a="http://schemas.openxmlformats.org/drawingml/2006/main">
              <a:ext uri="{FF2B5EF4-FFF2-40B4-BE49-F238E27FC236}">
                <a16:creationId xmlns:a16="http://schemas.microsoft.com/office/drawing/2014/main" id="{80231239-DA97-49E2-8D82-5E7AFEFF52C4}"/>
              </a:ext>
            </a:extLst>
          </p:cNvPr>
          <p:cNvSpPr>
            <a:spLocks xmlns:a="http://schemas.openxmlformats.org/drawingml/2006/main" noGrp="1"/>
          </p:cNvSpPr>
          <p:nvPr/>
        </p:nvSpPr>
        <p:spPr>
          <a:xfrm xmlns:a="http://schemas.openxmlformats.org/drawingml/2006/main" rot="0">
            <a:off x="3835420" y="9130284"/>
            <a:ext cx="10617160"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75" b="1">
                <a:solidFill>
                  <a:srgbClr val="FFFFFF"/>
                </a:solidFill>
                <a:latin typeface="Arial"/>
                <a:ea typeface="Arial"/>
                <a:cs typeface="Arial"/>
              </a:defRPr>
            </a:defPPr>
          </a:lstStyle>
          <a:p xmlns:a="http://schemas.openxmlformats.org/drawingml/2006/main">
            <a:pPr algn="ctr">
              <a:lnSpc>
                <a:spcPct val="100000"/>
              </a:lnSpc>
              <a:buNone/>
              <a:defRPr sz="2175" b="1">
                <a:solidFill>
                  <a:srgbClr val="FFFFFF"/>
                </a:solidFill>
                <a:latin typeface="Arial"/>
                <a:ea typeface="Arial"/>
                <a:cs typeface="Arial"/>
              </a:defRPr>
            </a:pPr>
            <a:r>
              <a:rPr sz="2175" b="1">
                <a:solidFill>
                  <a:srgbClr val="FFFFFF"/>
                </a:solidFill>
                <a:latin typeface="Arial"/>
                <a:ea typeface="Arial"/>
                <a:cs typeface="Arial"/>
              </a:rPr>
              <a:t>LST purchases ≈ Σ [workflow executions × net purchased inputs per run × ASP]</a:t>
            </a:r>
          </a:p>
        </p:txBody>
      </p:sp>
      <p:sp>
        <p:nvSpPr>
          <p:cNvPr id="44" name="Figure 14 label 42 line 1">
            <a:extLst xmlns:a="http://schemas.openxmlformats.org/drawingml/2006/main">
              <a:ext uri="{FF2B5EF4-FFF2-40B4-BE49-F238E27FC236}">
                <a16:creationId xmlns:a16="http://schemas.microsoft.com/office/drawing/2014/main" id="{D0351ECE-84BE-47F8-A23E-423792C3A18A}"/>
              </a:ext>
            </a:extLst>
          </p:cNvPr>
          <p:cNvSpPr>
            <a:spLocks xmlns:a="http://schemas.openxmlformats.org/drawingml/2006/main" noGrp="1"/>
          </p:cNvSpPr>
          <p:nvPr/>
        </p:nvSpPr>
        <p:spPr>
          <a:xfrm xmlns:a="http://schemas.openxmlformats.org/drawingml/2006/main" rot="0">
            <a:off x="679514" y="9754171"/>
            <a:ext cx="10017234"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38" b="0">
                <a:solidFill>
                  <a:srgbClr val="00355F"/>
                </a:solidFill>
                <a:latin typeface="Arial"/>
                <a:ea typeface="Arial"/>
                <a:cs typeface="Arial"/>
              </a:defRPr>
            </a:defPPr>
          </a:lstStyle>
          <a:p xmlns:a="http://schemas.openxmlformats.org/drawingml/2006/main">
            <a:pPr algn="l">
              <a:lnSpc>
                <a:spcPct val="100000"/>
              </a:lnSpc>
              <a:buNone/>
              <a:defRPr sz="1238" b="0">
                <a:solidFill>
                  <a:srgbClr val="00355F"/>
                </a:solidFill>
                <a:latin typeface="Arial"/>
                <a:ea typeface="Arial"/>
                <a:cs typeface="Arial"/>
              </a:defRPr>
            </a:pPr>
            <a:r>
              <a:rPr sz="1238" b="0">
                <a:solidFill>
                  <a:srgbClr val="00355F"/>
                </a:solidFill>
                <a:latin typeface="Arial"/>
                <a:ea typeface="Arial"/>
                <a:cs typeface="Arial"/>
              </a:rPr>
              <a:t>Instrument CAPEX is separate. Product alignment does not establish AI orders or revenue. Sources: Ginkgo, Sartorius and company websites.</a:t>
            </a:r>
          </a:p>
        </p:txBody>
      </p:sp>
    </p:spTree>
    <p:extLst>
      <p:ext uri="{BB962C8B-B14F-4D97-AF65-F5344CB8AC3E}">
        <p14:creationId xmlns:p14="http://schemas.microsoft.com/office/powerpoint/2010/main" val="14759628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6" name="Flat experiment component">
            <a:extLst xmlns:a="http://schemas.openxmlformats.org/drawingml/2006/main">
              <a:ext uri="{FF2B5EF4-FFF2-40B4-BE49-F238E27FC236}">
                <a16:creationId xmlns:a16="http://schemas.microsoft.com/office/drawing/2014/main" id="{C10FE36A-DF9A-4BA3-A247-D4E9861A1E4F}"/>
              </a:ext>
            </a:extLst>
          </p:cNvPr>
          <p:cNvSpPr>
            <a:spLocks xmlns:a="http://schemas.openxmlformats.org/drawingml/2006/main" noGrp="1"/>
          </p:cNvSpPr>
          <p:nvPr/>
        </p:nvSpPr>
        <p:spPr>
          <a:xfrm xmlns:a="http://schemas.openxmlformats.org/drawingml/2006/main">
            <a:off x="762000" y="457200"/>
            <a:ext cx="76200" cy="800100"/>
          </a:xfrm>
          <a:prstGeom xmlns:a="http://schemas.openxmlformats.org/drawingml/2006/main" prst="rect">
            <a:avLst/>
          </a:prstGeom>
          <a:solidFill xmlns:a="http://schemas.openxmlformats.org/drawingml/2006/main">
            <a:srgbClr val="00355F"/>
          </a:solidFill>
          <a:ln xmlns:a="http://schemas.openxmlformats.org/drawingml/2006/main" w="0">
            <a:noFill/>
          </a:ln>
        </p:spPr>
      </p:sp>
      <p:sp>
        <p:nvSpPr>
          <p:cNvPr id="2" name="Typical protein / antibody screening workflow">
            <a:extLst xmlns:a="http://schemas.openxmlformats.org/drawingml/2006/main">
              <a:ext uri="{FF2B5EF4-FFF2-40B4-BE49-F238E27FC236}">
                <a16:creationId xmlns:a16="http://schemas.microsoft.com/office/drawing/2014/main" id="{158003D5-D0A0-424F-9CC0-469A90C05171}"/>
              </a:ext>
            </a:extLst>
          </p:cNvPr>
          <p:cNvSpPr>
            <a:spLocks xmlns:a="http://schemas.openxmlformats.org/drawingml/2006/main" noGrp="1"/>
          </p:cNvSpPr>
          <p:nvPr/>
        </p:nvSpPr>
        <p:spPr>
          <a:xfrm xmlns:a="http://schemas.openxmlformats.org/drawingml/2006/main">
            <a:off x="1074420" y="449580"/>
            <a:ext cx="1645158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Typical protein / antibody screening workflow</a:t>
            </a:r>
          </a:p>
        </p:txBody>
      </p:sp>
      <p:sp>
        <p:nvSpPr>
          <p:cNvPr id="3" name="Flat experimental schematics: the tools, inputs and suppliers behind each step">
            <a:extLst xmlns:a="http://schemas.openxmlformats.org/drawingml/2006/main">
              <a:ext uri="{FF2B5EF4-FFF2-40B4-BE49-F238E27FC236}">
                <a16:creationId xmlns:a16="http://schemas.microsoft.com/office/drawing/2014/main" id="{DA6D4AFD-65C3-4E18-9199-E8AEE30C20F2}"/>
              </a:ext>
            </a:extLst>
          </p:cNvPr>
          <p:cNvSpPr>
            <a:spLocks xmlns:a="http://schemas.openxmlformats.org/drawingml/2006/main" noGrp="1"/>
          </p:cNvSpPr>
          <p:nvPr/>
        </p:nvSpPr>
        <p:spPr>
          <a:xfrm xmlns:a="http://schemas.openxmlformats.org/drawingml/2006/main">
            <a:off x="1074420" y="1066800"/>
            <a:ext cx="1645158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Flat experimental schematics: the tools, inputs and suppliers behind each step</a:t>
            </a:r>
          </a:p>
        </p:txBody>
      </p:sp>
      <p:sp>
        <p:nvSpPr>
          <p:cNvPr id="4" name="Diagram path">
            <a:extLst xmlns:a="http://schemas.openxmlformats.org/drawingml/2006/main">
              <a:ext uri="{FF2B5EF4-FFF2-40B4-BE49-F238E27FC236}">
                <a16:creationId xmlns:a16="http://schemas.microsoft.com/office/drawing/2014/main" id="{D3619AA6-0FB4-4050-AF7B-2ED98F962442}"/>
              </a:ext>
            </a:extLst>
          </p:cNvPr>
          <p:cNvSpPr>
            <a:spLocks xmlns:a="http://schemas.openxmlformats.org/drawingml/2006/main" noGrp="1"/>
          </p:cNvSpPr>
          <p:nvPr/>
        </p:nvSpPr>
        <p:spPr>
          <a:xfrm xmlns:a="http://schemas.openxmlformats.org/drawingml/2006/main">
            <a:off x="762000" y="1600200"/>
            <a:ext cx="16764000" cy="762"/>
          </a:xfrm>
          <a:custGeom xmlns:a="http://schemas.openxmlformats.org/drawingml/2006/main">
            <a:pathLst>
              <a:path w="16764000" h="762">
                <a:moveTo>
                  <a:pt x="0" y="0"/>
                </a:moveTo>
                <a:lnTo>
                  <a:pt x="16764000" y="0"/>
                </a:lnTo>
              </a:path>
            </a:pathLst>
          </a:custGeom>
          <a:noFill xmlns:a="http://schemas.openxmlformats.org/drawingml/2006/main"/>
          <a:ln xmlns:a="http://schemas.openxmlformats.org/drawingml/2006/main" w="7620">
            <a:solidFill>
              <a:srgbClr val="A5A5A5"/>
            </a:solidFill>
          </a:ln>
        </p:spPr>
      </p:sp>
      <p:sp>
        <p:nvSpPr>
          <p:cNvPr id="5" name="BUILD · Make physical samples">
            <a:extLst xmlns:a="http://schemas.openxmlformats.org/drawingml/2006/main">
              <a:ext uri="{FF2B5EF4-FFF2-40B4-BE49-F238E27FC236}">
                <a16:creationId xmlns:a16="http://schemas.microsoft.com/office/drawing/2014/main" id="{C2AE5CF5-C203-4535-9FFA-6DAD974DD7E9}"/>
              </a:ext>
            </a:extLst>
          </p:cNvPr>
          <p:cNvSpPr>
            <a:spLocks xmlns:a="http://schemas.openxmlformats.org/drawingml/2006/main" noGrp="1"/>
          </p:cNvSpPr>
          <p:nvPr/>
        </p:nvSpPr>
        <p:spPr>
          <a:xfrm xmlns:a="http://schemas.openxmlformats.org/drawingml/2006/main">
            <a:off x="762000" y="1813560"/>
            <a:ext cx="548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BUILD · Make physical samples</a:t>
            </a:r>
          </a:p>
        </p:txBody>
      </p:sp>
      <p:sp>
        <p:nvSpPr>
          <p:cNvPr id="6" name="TEST · Generate biological evidence">
            <a:extLst xmlns:a="http://schemas.openxmlformats.org/drawingml/2006/main">
              <a:ext uri="{FF2B5EF4-FFF2-40B4-BE49-F238E27FC236}">
                <a16:creationId xmlns:a16="http://schemas.microsoft.com/office/drawing/2014/main" id="{6F6C855A-B3D4-4E98-AE90-B728C3C1C694}"/>
              </a:ext>
            </a:extLst>
          </p:cNvPr>
          <p:cNvSpPr>
            <a:spLocks xmlns:a="http://schemas.openxmlformats.org/drawingml/2006/main" noGrp="1"/>
          </p:cNvSpPr>
          <p:nvPr/>
        </p:nvSpPr>
        <p:spPr>
          <a:xfrm xmlns:a="http://schemas.openxmlformats.org/drawingml/2006/main">
            <a:off x="6400800" y="1813560"/>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TEST · Generate biological evidence</a:t>
            </a:r>
          </a:p>
        </p:txBody>
      </p:sp>
      <p:sp>
        <p:nvSpPr>
          <p:cNvPr id="7" name="LEARN · Iterate">
            <a:extLst xmlns:a="http://schemas.openxmlformats.org/drawingml/2006/main">
              <a:ext uri="{FF2B5EF4-FFF2-40B4-BE49-F238E27FC236}">
                <a16:creationId xmlns:a16="http://schemas.microsoft.com/office/drawing/2014/main" id="{7D07690C-8AD1-4434-A5DC-2FD557BC2944}"/>
              </a:ext>
            </a:extLst>
          </p:cNvPr>
          <p:cNvSpPr>
            <a:spLocks xmlns:a="http://schemas.openxmlformats.org/drawingml/2006/main" noGrp="1"/>
          </p:cNvSpPr>
          <p:nvPr/>
        </p:nvSpPr>
        <p:spPr>
          <a:xfrm xmlns:a="http://schemas.openxmlformats.org/drawingml/2006/main">
            <a:off x="14859000" y="181356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LEARN · Iterate</a:t>
            </a:r>
          </a:p>
        </p:txBody>
      </p:sp>
      <p:sp>
        <p:nvSpPr>
          <p:cNvPr id="8" name="Flat experiment component">
            <a:extLst xmlns:a="http://schemas.openxmlformats.org/drawingml/2006/main">
              <a:ext uri="{FF2B5EF4-FFF2-40B4-BE49-F238E27FC236}">
                <a16:creationId xmlns:a16="http://schemas.microsoft.com/office/drawing/2014/main" id="{65F92FCF-3C91-469D-BCA7-980C8A674B89}"/>
              </a:ext>
            </a:extLst>
          </p:cNvPr>
          <p:cNvSpPr>
            <a:spLocks xmlns:a="http://schemas.openxmlformats.org/drawingml/2006/main" noGrp="1"/>
          </p:cNvSpPr>
          <p:nvPr/>
        </p:nvSpPr>
        <p:spPr>
          <a:xfrm xmlns:a="http://schemas.openxmlformats.org/drawingml/2006/main">
            <a:off x="762000" y="2179320"/>
            <a:ext cx="2667000" cy="6477000"/>
          </a:xfrm>
          <a:prstGeom xmlns:a="http://schemas.openxmlformats.org/drawingml/2006/main" prst="roundRect">
            <a:avLst>
              <a:gd name="adj" fmla="val 3714"/>
            </a:avLst>
          </a:prstGeom>
          <a:solidFill xmlns:a="http://schemas.openxmlformats.org/drawingml/2006/main">
            <a:srgbClr val="FFFFFF"/>
          </a:solidFill>
          <a:ln xmlns:a="http://schemas.openxmlformats.org/drawingml/2006/main" w="11430">
            <a:solidFill>
              <a:srgbClr val="A5A5A5"/>
            </a:solidFill>
          </a:ln>
        </p:spPr>
      </p:sp>
      <p:sp>
        <p:nvSpPr>
          <p:cNvPr id="9" name="Flat experiment component">
            <a:extLst xmlns:a="http://schemas.openxmlformats.org/drawingml/2006/main">
              <a:ext uri="{FF2B5EF4-FFF2-40B4-BE49-F238E27FC236}">
                <a16:creationId xmlns:a16="http://schemas.microsoft.com/office/drawing/2014/main" id="{DEA5FECF-B5F9-4CB7-AEE6-B095478C54A0}"/>
              </a:ext>
            </a:extLst>
          </p:cNvPr>
          <p:cNvSpPr>
            <a:spLocks xmlns:a="http://schemas.openxmlformats.org/drawingml/2006/main" noGrp="1"/>
          </p:cNvSpPr>
          <p:nvPr/>
        </p:nvSpPr>
        <p:spPr>
          <a:xfrm xmlns:a="http://schemas.openxmlformats.org/drawingml/2006/main">
            <a:off x="762000" y="2179320"/>
            <a:ext cx="2667000" cy="68580"/>
          </a:xfrm>
          <a:prstGeom xmlns:a="http://schemas.openxmlformats.org/drawingml/2006/main" prst="rect">
            <a:avLst/>
          </a:prstGeom>
          <a:solidFill xmlns:a="http://schemas.openxmlformats.org/drawingml/2006/main">
            <a:srgbClr val="00355F"/>
          </a:solidFill>
          <a:ln xmlns:a="http://schemas.openxmlformats.org/drawingml/2006/main" w="0">
            <a:noFill/>
          </a:ln>
        </p:spPr>
      </p:sp>
      <p:sp>
        <p:nvSpPr>
          <p:cNvPr id="10" name="01 / BUILD">
            <a:extLst xmlns:a="http://schemas.openxmlformats.org/drawingml/2006/main">
              <a:ext uri="{FF2B5EF4-FFF2-40B4-BE49-F238E27FC236}">
                <a16:creationId xmlns:a16="http://schemas.microsoft.com/office/drawing/2014/main" id="{1CF25FFB-A3EF-4B65-A38E-235FDB40148E}"/>
              </a:ext>
            </a:extLst>
          </p:cNvPr>
          <p:cNvSpPr>
            <a:spLocks xmlns:a="http://schemas.openxmlformats.org/drawingml/2006/main" noGrp="1"/>
          </p:cNvSpPr>
          <p:nvPr/>
        </p:nvSpPr>
        <p:spPr>
          <a:xfrm xmlns:a="http://schemas.openxmlformats.org/drawingml/2006/main">
            <a:off x="929640" y="2385060"/>
            <a:ext cx="233172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01 / BUILD</a:t>
            </a:r>
          </a:p>
        </p:txBody>
      </p:sp>
      <p:sp>
        <p:nvSpPr>
          <p:cNvPr id="11" name="Construct design /">
            <a:extLst xmlns:a="http://schemas.openxmlformats.org/drawingml/2006/main">
              <a:ext uri="{FF2B5EF4-FFF2-40B4-BE49-F238E27FC236}">
                <a16:creationId xmlns:a16="http://schemas.microsoft.com/office/drawing/2014/main" id="{6DF9C63D-F931-45DA-AAF2-5508ED8FBCE5}"/>
              </a:ext>
            </a:extLst>
          </p:cNvPr>
          <p:cNvSpPr>
            <a:spLocks xmlns:a="http://schemas.openxmlformats.org/drawingml/2006/main" noGrp="1"/>
          </p:cNvSpPr>
          <p:nvPr/>
        </p:nvSpPr>
        <p:spPr>
          <a:xfrm xmlns:a="http://schemas.openxmlformats.org/drawingml/2006/main">
            <a:off x="929640" y="2697480"/>
            <a:ext cx="233172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Construct design /</a:t>
            </a:r>
          </a:p>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DNA synthesis</a:t>
            </a:r>
          </a:p>
        </p:txBody>
      </p:sp>
      <p:sp>
        <p:nvSpPr>
          <p:cNvPr id="12" name="Make DNA constructs">
            <a:extLst xmlns:a="http://schemas.openxmlformats.org/drawingml/2006/main">
              <a:ext uri="{FF2B5EF4-FFF2-40B4-BE49-F238E27FC236}">
                <a16:creationId xmlns:a16="http://schemas.microsoft.com/office/drawing/2014/main" id="{1440230D-13D6-44E9-B47E-0E243021BF41}"/>
              </a:ext>
            </a:extLst>
          </p:cNvPr>
          <p:cNvSpPr>
            <a:spLocks xmlns:a="http://schemas.openxmlformats.org/drawingml/2006/main" noGrp="1"/>
          </p:cNvSpPr>
          <p:nvPr/>
        </p:nvSpPr>
        <p:spPr>
          <a:xfrm xmlns:a="http://schemas.openxmlformats.org/drawingml/2006/main">
            <a:off x="929640" y="3329940"/>
            <a:ext cx="233172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Make DNA constructs</a:t>
            </a:r>
          </a:p>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for the selected candidates</a:t>
            </a:r>
          </a:p>
        </p:txBody>
      </p:sp>
      <p:sp>
        <p:nvSpPr>
          <p:cNvPr id="13" name="Flat experiment component">
            <a:extLst xmlns:a="http://schemas.openxmlformats.org/drawingml/2006/main">
              <a:ext uri="{FF2B5EF4-FFF2-40B4-BE49-F238E27FC236}">
                <a16:creationId xmlns:a16="http://schemas.microsoft.com/office/drawing/2014/main" id="{0BA3F02B-1E95-4E86-B2DE-FB112B3AC420}"/>
              </a:ext>
            </a:extLst>
          </p:cNvPr>
          <p:cNvSpPr>
            <a:spLocks xmlns:a="http://schemas.openxmlformats.org/drawingml/2006/main" noGrp="1"/>
          </p:cNvSpPr>
          <p:nvPr/>
        </p:nvSpPr>
        <p:spPr>
          <a:xfrm xmlns:a="http://schemas.openxmlformats.org/drawingml/2006/main">
            <a:off x="868680" y="3924300"/>
            <a:ext cx="2453640" cy="2682240"/>
          </a:xfrm>
          <a:prstGeom xmlns:a="http://schemas.openxmlformats.org/drawingml/2006/main" prst="roundRect">
            <a:avLst>
              <a:gd name="adj" fmla="val 3106"/>
            </a:avLst>
          </a:prstGeom>
          <a:solidFill xmlns:a="http://schemas.openxmlformats.org/drawingml/2006/main">
            <a:srgbClr val="F0F7FC"/>
          </a:solidFill>
          <a:ln xmlns:a="http://schemas.openxmlformats.org/drawingml/2006/main" w="0">
            <a:noFill/>
          </a:ln>
        </p:spPr>
      </p:sp>
      <p:sp>
        <p:nvSpPr>
          <p:cNvPr id="14" name="Flat experiment component">
            <a:extLst xmlns:a="http://schemas.openxmlformats.org/drawingml/2006/main">
              <a:ext uri="{FF2B5EF4-FFF2-40B4-BE49-F238E27FC236}">
                <a16:creationId xmlns:a16="http://schemas.microsoft.com/office/drawing/2014/main" id="{37BF8184-683C-4C78-94B9-46142A28AD15}"/>
              </a:ext>
            </a:extLst>
          </p:cNvPr>
          <p:cNvSpPr>
            <a:spLocks xmlns:a="http://schemas.openxmlformats.org/drawingml/2006/main" noGrp="1"/>
          </p:cNvSpPr>
          <p:nvPr/>
        </p:nvSpPr>
        <p:spPr>
          <a:xfrm xmlns:a="http://schemas.openxmlformats.org/drawingml/2006/main">
            <a:off x="1013460" y="4526280"/>
            <a:ext cx="327660" cy="365760"/>
          </a:xfrm>
          <a:prstGeom xmlns:a="http://schemas.openxmlformats.org/drawingml/2006/main" prst="roundRect">
            <a:avLst>
              <a:gd name="adj" fmla="val 9302"/>
            </a:avLst>
          </a:prstGeom>
          <a:solidFill xmlns:a="http://schemas.openxmlformats.org/drawingml/2006/main">
            <a:srgbClr val="ACD4F1"/>
          </a:solidFill>
          <a:ln xmlns:a="http://schemas.openxmlformats.org/drawingml/2006/main" w="15240">
            <a:solidFill>
              <a:srgbClr val="00355F"/>
            </a:solidFill>
          </a:ln>
        </p:spPr>
      </p:sp>
      <p:sp>
        <p:nvSpPr>
          <p:cNvPr id="15" name="Flat experiment component">
            <a:extLst xmlns:a="http://schemas.openxmlformats.org/drawingml/2006/main">
              <a:ext uri="{FF2B5EF4-FFF2-40B4-BE49-F238E27FC236}">
                <a16:creationId xmlns:a16="http://schemas.microsoft.com/office/drawing/2014/main" id="{CE59B568-76C0-4FCC-8954-5E9B4B87F5DB}"/>
              </a:ext>
            </a:extLst>
          </p:cNvPr>
          <p:cNvSpPr>
            <a:spLocks xmlns:a="http://schemas.openxmlformats.org/drawingml/2006/main" noGrp="1"/>
          </p:cNvSpPr>
          <p:nvPr/>
        </p:nvSpPr>
        <p:spPr>
          <a:xfrm xmlns:a="http://schemas.openxmlformats.org/drawingml/2006/main">
            <a:off x="937260" y="4861560"/>
            <a:ext cx="480060" cy="99060"/>
          </a:xfrm>
          <a:prstGeom xmlns:a="http://schemas.openxmlformats.org/drawingml/2006/main" prst="roundRect">
            <a:avLst>
              <a:gd name="adj" fmla="val 23077"/>
            </a:avLst>
          </a:prstGeom>
          <a:solidFill xmlns:a="http://schemas.openxmlformats.org/drawingml/2006/main">
            <a:srgbClr val="7399C6"/>
          </a:solidFill>
          <a:ln xmlns:a="http://schemas.openxmlformats.org/drawingml/2006/main" w="15240">
            <a:solidFill>
              <a:srgbClr val="00355F"/>
            </a:solidFill>
          </a:ln>
        </p:spPr>
      </p:sp>
      <p:sp>
        <p:nvSpPr>
          <p:cNvPr id="16" name="Diagram path">
            <a:extLst xmlns:a="http://schemas.openxmlformats.org/drawingml/2006/main">
              <a:ext uri="{FF2B5EF4-FFF2-40B4-BE49-F238E27FC236}">
                <a16:creationId xmlns:a16="http://schemas.microsoft.com/office/drawing/2014/main" id="{6BE98B51-DA0E-4AEA-AF3E-433A0370BC95}"/>
              </a:ext>
            </a:extLst>
          </p:cNvPr>
          <p:cNvSpPr>
            <a:spLocks xmlns:a="http://schemas.openxmlformats.org/drawingml/2006/main" noGrp="1"/>
          </p:cNvSpPr>
          <p:nvPr/>
        </p:nvSpPr>
        <p:spPr>
          <a:xfrm xmlns:a="http://schemas.openxmlformats.org/drawingml/2006/main">
            <a:off x="1173480" y="4221480"/>
            <a:ext cx="670560" cy="601980"/>
          </a:xfrm>
          <a:custGeom xmlns:a="http://schemas.openxmlformats.org/drawingml/2006/main">
            <a:pathLst>
              <a:path w="670560" h="601980">
                <a:moveTo>
                  <a:pt x="0" y="312420"/>
                </a:moveTo>
                <a:lnTo>
                  <a:pt x="259080" y="0"/>
                </a:lnTo>
                <a:lnTo>
                  <a:pt x="647700" y="220980"/>
                </a:lnTo>
                <a:lnTo>
                  <a:pt x="670560" y="601980"/>
                </a:lnTo>
              </a:path>
            </a:pathLst>
          </a:custGeom>
          <a:noFill xmlns:a="http://schemas.openxmlformats.org/drawingml/2006/main"/>
          <a:ln xmlns:a="http://schemas.openxmlformats.org/drawingml/2006/main" w="106680">
            <a:solidFill>
              <a:srgbClr val="00355F"/>
            </a:solidFill>
          </a:ln>
        </p:spPr>
      </p:sp>
      <p:sp>
        <p:nvSpPr>
          <p:cNvPr id="17" name="Diagram path">
            <a:extLst xmlns:a="http://schemas.openxmlformats.org/drawingml/2006/main">
              <a:ext uri="{FF2B5EF4-FFF2-40B4-BE49-F238E27FC236}">
                <a16:creationId xmlns:a16="http://schemas.microsoft.com/office/drawing/2014/main" id="{8CE51E57-46EE-42B1-AC72-FF0BA86CEF76}"/>
              </a:ext>
            </a:extLst>
          </p:cNvPr>
          <p:cNvSpPr>
            <a:spLocks xmlns:a="http://schemas.openxmlformats.org/drawingml/2006/main" noGrp="1"/>
          </p:cNvSpPr>
          <p:nvPr/>
        </p:nvSpPr>
        <p:spPr>
          <a:xfrm xmlns:a="http://schemas.openxmlformats.org/drawingml/2006/main">
            <a:off x="1173480" y="4221480"/>
            <a:ext cx="670560" cy="601980"/>
          </a:xfrm>
          <a:custGeom xmlns:a="http://schemas.openxmlformats.org/drawingml/2006/main">
            <a:pathLst>
              <a:path w="670560" h="601980">
                <a:moveTo>
                  <a:pt x="0" y="312420"/>
                </a:moveTo>
                <a:lnTo>
                  <a:pt x="259080" y="0"/>
                </a:lnTo>
                <a:lnTo>
                  <a:pt x="647700" y="220980"/>
                </a:lnTo>
                <a:lnTo>
                  <a:pt x="670560" y="601980"/>
                </a:lnTo>
              </a:path>
            </a:pathLst>
          </a:custGeom>
          <a:noFill xmlns:a="http://schemas.openxmlformats.org/drawingml/2006/main"/>
          <a:ln xmlns:a="http://schemas.openxmlformats.org/drawingml/2006/main" w="60960">
            <a:solidFill>
              <a:srgbClr val="ACD4F1"/>
            </a:solidFill>
          </a:ln>
        </p:spPr>
      </p:sp>
      <p:sp>
        <p:nvSpPr>
          <p:cNvPr id="18" name="">
            <a:extLst xmlns:a="http://schemas.openxmlformats.org/drawingml/2006/main">
              <a:ext uri="{FF2B5EF4-FFF2-40B4-BE49-F238E27FC236}">
                <a16:creationId xmlns:a16="http://schemas.microsoft.com/office/drawing/2014/main" id="{1F9D4317-663E-42D8-89AB-8EC87F6FB6EC}"/>
              </a:ext>
            </a:extLst>
          </p:cNvPr>
          <p:cNvSpPr>
            <a:spLocks xmlns:a="http://schemas.openxmlformats.org/drawingml/2006/main" noGrp="1"/>
          </p:cNvSpPr>
          <p:nvPr/>
        </p:nvSpPr>
        <p:spPr>
          <a:xfrm xmlns:a="http://schemas.openxmlformats.org/drawingml/2006/main">
            <a:off x="1112520" y="4472940"/>
            <a:ext cx="121920" cy="121920"/>
          </a:xfrm>
          <a:prstGeom xmlns:a="http://schemas.openxmlformats.org/drawingml/2006/main" prst="ellipse">
            <a:avLst/>
          </a:prstGeom>
          <a:solidFill xmlns:a="http://schemas.openxmlformats.org/drawingml/2006/main">
            <a:srgbClr val="7399C6"/>
          </a:solidFill>
          <a:ln xmlns:a="http://schemas.openxmlformats.org/drawingml/2006/main" w="15240">
            <a:solidFill>
              <a:srgbClr val="00355F"/>
            </a:solidFill>
          </a:ln>
        </p:spPr>
      </p:sp>
      <p:sp>
        <p:nvSpPr>
          <p:cNvPr id="19" name="">
            <a:extLst xmlns:a="http://schemas.openxmlformats.org/drawingml/2006/main">
              <a:ext uri="{FF2B5EF4-FFF2-40B4-BE49-F238E27FC236}">
                <a16:creationId xmlns:a16="http://schemas.microsoft.com/office/drawing/2014/main" id="{673E4381-609B-4676-A5F8-0AEFBFEC12B1}"/>
              </a:ext>
            </a:extLst>
          </p:cNvPr>
          <p:cNvSpPr>
            <a:spLocks xmlns:a="http://schemas.openxmlformats.org/drawingml/2006/main" noGrp="1"/>
          </p:cNvSpPr>
          <p:nvPr/>
        </p:nvSpPr>
        <p:spPr>
          <a:xfrm xmlns:a="http://schemas.openxmlformats.org/drawingml/2006/main">
            <a:off x="1371600" y="4160520"/>
            <a:ext cx="121920" cy="121920"/>
          </a:xfrm>
          <a:prstGeom xmlns:a="http://schemas.openxmlformats.org/drawingml/2006/main" prst="ellipse">
            <a:avLst/>
          </a:prstGeom>
          <a:solidFill xmlns:a="http://schemas.openxmlformats.org/drawingml/2006/main">
            <a:srgbClr val="7399C6"/>
          </a:solidFill>
          <a:ln xmlns:a="http://schemas.openxmlformats.org/drawingml/2006/main" w="15240">
            <a:solidFill>
              <a:srgbClr val="00355F"/>
            </a:solidFill>
          </a:ln>
        </p:spPr>
      </p:sp>
      <p:sp>
        <p:nvSpPr>
          <p:cNvPr id="20" name="">
            <a:extLst xmlns:a="http://schemas.openxmlformats.org/drawingml/2006/main">
              <a:ext uri="{FF2B5EF4-FFF2-40B4-BE49-F238E27FC236}">
                <a16:creationId xmlns:a16="http://schemas.microsoft.com/office/drawing/2014/main" id="{FED58334-EDF6-4733-9881-A1227AD06FCC}"/>
              </a:ext>
            </a:extLst>
          </p:cNvPr>
          <p:cNvSpPr>
            <a:spLocks xmlns:a="http://schemas.openxmlformats.org/drawingml/2006/main" noGrp="1"/>
          </p:cNvSpPr>
          <p:nvPr/>
        </p:nvSpPr>
        <p:spPr>
          <a:xfrm xmlns:a="http://schemas.openxmlformats.org/drawingml/2006/main">
            <a:off x="1760220" y="4381500"/>
            <a:ext cx="121920" cy="121920"/>
          </a:xfrm>
          <a:prstGeom xmlns:a="http://schemas.openxmlformats.org/drawingml/2006/main" prst="ellipse">
            <a:avLst/>
          </a:prstGeom>
          <a:solidFill xmlns:a="http://schemas.openxmlformats.org/drawingml/2006/main">
            <a:srgbClr val="7399C6"/>
          </a:solidFill>
          <a:ln xmlns:a="http://schemas.openxmlformats.org/drawingml/2006/main" w="15240">
            <a:solidFill>
              <a:srgbClr val="00355F"/>
            </a:solidFill>
          </a:ln>
        </p:spPr>
      </p:sp>
      <p:sp>
        <p:nvSpPr>
          <p:cNvPr id="21" name="Flat experiment component">
            <a:extLst xmlns:a="http://schemas.openxmlformats.org/drawingml/2006/main">
              <a:ext uri="{FF2B5EF4-FFF2-40B4-BE49-F238E27FC236}">
                <a16:creationId xmlns:a16="http://schemas.microsoft.com/office/drawing/2014/main" id="{F81E1C85-DD5E-4A2C-823D-B58801038E68}"/>
              </a:ext>
            </a:extLst>
          </p:cNvPr>
          <p:cNvSpPr>
            <a:spLocks xmlns:a="http://schemas.openxmlformats.org/drawingml/2006/main" noGrp="1"/>
          </p:cNvSpPr>
          <p:nvPr/>
        </p:nvSpPr>
        <p:spPr>
          <a:xfrm xmlns:a="http://schemas.openxmlformats.org/drawingml/2006/main">
            <a:off x="1775460" y="4770120"/>
            <a:ext cx="137160" cy="182880"/>
          </a:xfrm>
          <a:prstGeom xmlns:a="http://schemas.openxmlformats.org/drawingml/2006/main" prst="rect">
            <a:avLst/>
          </a:prstGeom>
          <a:solidFill xmlns:a="http://schemas.openxmlformats.org/drawingml/2006/main">
            <a:srgbClr val="FFFFFF"/>
          </a:solidFill>
          <a:ln xmlns:a="http://schemas.openxmlformats.org/drawingml/2006/main" w="15240">
            <a:solidFill>
              <a:srgbClr val="00355F"/>
            </a:solidFill>
          </a:ln>
        </p:spPr>
      </p:sp>
      <p:sp>
        <p:nvSpPr>
          <p:cNvPr id="22" name="Diagram path">
            <a:extLst xmlns:a="http://schemas.openxmlformats.org/drawingml/2006/main">
              <a:ext uri="{FF2B5EF4-FFF2-40B4-BE49-F238E27FC236}">
                <a16:creationId xmlns:a16="http://schemas.microsoft.com/office/drawing/2014/main" id="{EE660A56-B97D-43EA-9FA1-C81B3E0C5A8A}"/>
              </a:ext>
            </a:extLst>
          </p:cNvPr>
          <p:cNvSpPr>
            <a:spLocks xmlns:a="http://schemas.openxmlformats.org/drawingml/2006/main" noGrp="1"/>
          </p:cNvSpPr>
          <p:nvPr/>
        </p:nvSpPr>
        <p:spPr>
          <a:xfrm xmlns:a="http://schemas.openxmlformats.org/drawingml/2006/main">
            <a:off x="1844040" y="4953000"/>
            <a:ext cx="762" cy="121920"/>
          </a:xfrm>
          <a:custGeom xmlns:a="http://schemas.openxmlformats.org/drawingml/2006/main">
            <a:pathLst>
              <a:path w="762" h="121920">
                <a:moveTo>
                  <a:pt x="0" y="0"/>
                </a:moveTo>
                <a:lnTo>
                  <a:pt x="0" y="121920"/>
                </a:lnTo>
              </a:path>
            </a:pathLst>
          </a:custGeom>
          <a:noFill xmlns:a="http://schemas.openxmlformats.org/drawingml/2006/main"/>
          <a:ln xmlns:a="http://schemas.openxmlformats.org/drawingml/2006/main" w="19050">
            <a:solidFill>
              <a:srgbClr val="00355F"/>
            </a:solidFill>
          </a:ln>
        </p:spPr>
      </p:sp>
      <p:sp>
        <p:nvSpPr>
          <p:cNvPr id="23" name="">
            <a:extLst xmlns:a="http://schemas.openxmlformats.org/drawingml/2006/main">
              <a:ext uri="{FF2B5EF4-FFF2-40B4-BE49-F238E27FC236}">
                <a16:creationId xmlns:a16="http://schemas.microsoft.com/office/drawing/2014/main" id="{94AF9589-F8A0-4B89-906E-5C4594C58BE0}"/>
              </a:ext>
            </a:extLst>
          </p:cNvPr>
          <p:cNvSpPr>
            <a:spLocks xmlns:a="http://schemas.openxmlformats.org/drawingml/2006/main" noGrp="1"/>
          </p:cNvSpPr>
          <p:nvPr/>
        </p:nvSpPr>
        <p:spPr>
          <a:xfrm xmlns:a="http://schemas.openxmlformats.org/drawingml/2006/main">
            <a:off x="1813560" y="5120640"/>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 name="Flat experiment component">
            <a:extLst xmlns:a="http://schemas.openxmlformats.org/drawingml/2006/main">
              <a:ext uri="{FF2B5EF4-FFF2-40B4-BE49-F238E27FC236}">
                <a16:creationId xmlns:a16="http://schemas.microsoft.com/office/drawing/2014/main" id="{FEB38E6C-6424-4ED6-8742-7E478709F522}"/>
              </a:ext>
            </a:extLst>
          </p:cNvPr>
          <p:cNvSpPr>
            <a:spLocks xmlns:a="http://schemas.openxmlformats.org/drawingml/2006/main" noGrp="1"/>
          </p:cNvSpPr>
          <p:nvPr/>
        </p:nvSpPr>
        <p:spPr>
          <a:xfrm xmlns:a="http://schemas.openxmlformats.org/drawingml/2006/main">
            <a:off x="1005840" y="5280660"/>
            <a:ext cx="1112520" cy="594360"/>
          </a:xfrm>
          <a:prstGeom xmlns:a="http://schemas.openxmlformats.org/drawingml/2006/main" prst="roundRect">
            <a:avLst>
              <a:gd name="adj" fmla="val 8974"/>
            </a:avLst>
          </a:prstGeom>
          <a:solidFill xmlns:a="http://schemas.openxmlformats.org/drawingml/2006/main">
            <a:srgbClr val="ACD4F1"/>
          </a:solidFill>
          <a:ln xmlns:a="http://schemas.openxmlformats.org/drawingml/2006/main" w="15240">
            <a:solidFill>
              <a:srgbClr val="00355F"/>
            </a:solidFill>
          </a:ln>
        </p:spPr>
      </p:sp>
      <p:sp>
        <p:nvSpPr>
          <p:cNvPr id="25" name="">
            <a:extLst xmlns:a="http://schemas.openxmlformats.org/drawingml/2006/main">
              <a:ext uri="{FF2B5EF4-FFF2-40B4-BE49-F238E27FC236}">
                <a16:creationId xmlns:a16="http://schemas.microsoft.com/office/drawing/2014/main" id="{8B7D3A57-67E1-4378-9972-A1CF4B93207C}"/>
              </a:ext>
            </a:extLst>
          </p:cNvPr>
          <p:cNvSpPr>
            <a:spLocks xmlns:a="http://schemas.openxmlformats.org/drawingml/2006/main" noGrp="1"/>
          </p:cNvSpPr>
          <p:nvPr/>
        </p:nvSpPr>
        <p:spPr>
          <a:xfrm xmlns:a="http://schemas.openxmlformats.org/drawingml/2006/main">
            <a:off x="1071372" y="533857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26" name="">
            <a:extLst xmlns:a="http://schemas.openxmlformats.org/drawingml/2006/main">
              <a:ext uri="{FF2B5EF4-FFF2-40B4-BE49-F238E27FC236}">
                <a16:creationId xmlns:a16="http://schemas.microsoft.com/office/drawing/2014/main" id="{0F4B0167-B81E-4F9A-8298-7190751FB67C}"/>
              </a:ext>
            </a:extLst>
          </p:cNvPr>
          <p:cNvSpPr>
            <a:spLocks xmlns:a="http://schemas.openxmlformats.org/drawingml/2006/main" noGrp="1"/>
          </p:cNvSpPr>
          <p:nvPr/>
        </p:nvSpPr>
        <p:spPr>
          <a:xfrm xmlns:a="http://schemas.openxmlformats.org/drawingml/2006/main">
            <a:off x="1202001" y="533857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27" name="">
            <a:extLst xmlns:a="http://schemas.openxmlformats.org/drawingml/2006/main">
              <a:ext uri="{FF2B5EF4-FFF2-40B4-BE49-F238E27FC236}">
                <a16:creationId xmlns:a16="http://schemas.microsoft.com/office/drawing/2014/main" id="{AB1DEC68-84A3-4FFC-ABD6-9E030EFA2A80}"/>
              </a:ext>
            </a:extLst>
          </p:cNvPr>
          <p:cNvSpPr>
            <a:spLocks xmlns:a="http://schemas.openxmlformats.org/drawingml/2006/main" noGrp="1"/>
          </p:cNvSpPr>
          <p:nvPr/>
        </p:nvSpPr>
        <p:spPr>
          <a:xfrm xmlns:a="http://schemas.openxmlformats.org/drawingml/2006/main">
            <a:off x="1332629" y="533857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28" name="">
            <a:extLst xmlns:a="http://schemas.openxmlformats.org/drawingml/2006/main">
              <a:ext uri="{FF2B5EF4-FFF2-40B4-BE49-F238E27FC236}">
                <a16:creationId xmlns:a16="http://schemas.microsoft.com/office/drawing/2014/main" id="{07517B9E-0E5A-459C-8A87-7C137A4D7D64}"/>
              </a:ext>
            </a:extLst>
          </p:cNvPr>
          <p:cNvSpPr>
            <a:spLocks xmlns:a="http://schemas.openxmlformats.org/drawingml/2006/main" noGrp="1"/>
          </p:cNvSpPr>
          <p:nvPr/>
        </p:nvSpPr>
        <p:spPr>
          <a:xfrm xmlns:a="http://schemas.openxmlformats.org/drawingml/2006/main">
            <a:off x="1463258" y="533857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29" name="">
            <a:extLst xmlns:a="http://schemas.openxmlformats.org/drawingml/2006/main">
              <a:ext uri="{FF2B5EF4-FFF2-40B4-BE49-F238E27FC236}">
                <a16:creationId xmlns:a16="http://schemas.microsoft.com/office/drawing/2014/main" id="{E7B1DDF5-2E49-4676-8739-E4C012237E45}"/>
              </a:ext>
            </a:extLst>
          </p:cNvPr>
          <p:cNvSpPr>
            <a:spLocks xmlns:a="http://schemas.openxmlformats.org/drawingml/2006/main" noGrp="1"/>
          </p:cNvSpPr>
          <p:nvPr/>
        </p:nvSpPr>
        <p:spPr>
          <a:xfrm xmlns:a="http://schemas.openxmlformats.org/drawingml/2006/main">
            <a:off x="1593886" y="533857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0" name="">
            <a:extLst xmlns:a="http://schemas.openxmlformats.org/drawingml/2006/main">
              <a:ext uri="{FF2B5EF4-FFF2-40B4-BE49-F238E27FC236}">
                <a16:creationId xmlns:a16="http://schemas.microsoft.com/office/drawing/2014/main" id="{3A93F1DD-21D1-44E7-AAA2-F76AF8698A9E}"/>
              </a:ext>
            </a:extLst>
          </p:cNvPr>
          <p:cNvSpPr>
            <a:spLocks xmlns:a="http://schemas.openxmlformats.org/drawingml/2006/main" noGrp="1"/>
          </p:cNvSpPr>
          <p:nvPr/>
        </p:nvSpPr>
        <p:spPr>
          <a:xfrm xmlns:a="http://schemas.openxmlformats.org/drawingml/2006/main">
            <a:off x="1724515" y="533857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31" name="">
            <a:extLst xmlns:a="http://schemas.openxmlformats.org/drawingml/2006/main">
              <a:ext uri="{FF2B5EF4-FFF2-40B4-BE49-F238E27FC236}">
                <a16:creationId xmlns:a16="http://schemas.microsoft.com/office/drawing/2014/main" id="{D74E3A89-0281-486C-9D01-17B9C5D0DAAE}"/>
              </a:ext>
            </a:extLst>
          </p:cNvPr>
          <p:cNvSpPr>
            <a:spLocks xmlns:a="http://schemas.openxmlformats.org/drawingml/2006/main" noGrp="1"/>
          </p:cNvSpPr>
          <p:nvPr/>
        </p:nvSpPr>
        <p:spPr>
          <a:xfrm xmlns:a="http://schemas.openxmlformats.org/drawingml/2006/main">
            <a:off x="1855143" y="533857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2" name="">
            <a:extLst xmlns:a="http://schemas.openxmlformats.org/drawingml/2006/main">
              <a:ext uri="{FF2B5EF4-FFF2-40B4-BE49-F238E27FC236}">
                <a16:creationId xmlns:a16="http://schemas.microsoft.com/office/drawing/2014/main" id="{ECDEED2C-E4CF-431E-8DA8-25F6BE7A8377}"/>
              </a:ext>
            </a:extLst>
          </p:cNvPr>
          <p:cNvSpPr>
            <a:spLocks xmlns:a="http://schemas.openxmlformats.org/drawingml/2006/main" noGrp="1"/>
          </p:cNvSpPr>
          <p:nvPr/>
        </p:nvSpPr>
        <p:spPr>
          <a:xfrm xmlns:a="http://schemas.openxmlformats.org/drawingml/2006/main">
            <a:off x="1985772" y="533857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3" name="">
            <a:extLst xmlns:a="http://schemas.openxmlformats.org/drawingml/2006/main">
              <a:ext uri="{FF2B5EF4-FFF2-40B4-BE49-F238E27FC236}">
                <a16:creationId xmlns:a16="http://schemas.microsoft.com/office/drawing/2014/main" id="{B9DA7FF3-B5AB-4AE6-BFE0-0D7A91B11329}"/>
              </a:ext>
            </a:extLst>
          </p:cNvPr>
          <p:cNvSpPr>
            <a:spLocks xmlns:a="http://schemas.openxmlformats.org/drawingml/2006/main" noGrp="1"/>
          </p:cNvSpPr>
          <p:nvPr/>
        </p:nvSpPr>
        <p:spPr>
          <a:xfrm xmlns:a="http://schemas.openxmlformats.org/drawingml/2006/main">
            <a:off x="1071372"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4" name="">
            <a:extLst xmlns:a="http://schemas.openxmlformats.org/drawingml/2006/main">
              <a:ext uri="{FF2B5EF4-FFF2-40B4-BE49-F238E27FC236}">
                <a16:creationId xmlns:a16="http://schemas.microsoft.com/office/drawing/2014/main" id="{D7E565BE-F409-4770-A485-DEEF61329D31}"/>
              </a:ext>
            </a:extLst>
          </p:cNvPr>
          <p:cNvSpPr>
            <a:spLocks xmlns:a="http://schemas.openxmlformats.org/drawingml/2006/main" noGrp="1"/>
          </p:cNvSpPr>
          <p:nvPr/>
        </p:nvSpPr>
        <p:spPr>
          <a:xfrm xmlns:a="http://schemas.openxmlformats.org/drawingml/2006/main">
            <a:off x="1202001"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5" name="">
            <a:extLst xmlns:a="http://schemas.openxmlformats.org/drawingml/2006/main">
              <a:ext uri="{FF2B5EF4-FFF2-40B4-BE49-F238E27FC236}">
                <a16:creationId xmlns:a16="http://schemas.microsoft.com/office/drawing/2014/main" id="{DBE682BF-6226-4521-BE73-B4C0A1180551}"/>
              </a:ext>
            </a:extLst>
          </p:cNvPr>
          <p:cNvSpPr>
            <a:spLocks xmlns:a="http://schemas.openxmlformats.org/drawingml/2006/main" noGrp="1"/>
          </p:cNvSpPr>
          <p:nvPr/>
        </p:nvSpPr>
        <p:spPr>
          <a:xfrm xmlns:a="http://schemas.openxmlformats.org/drawingml/2006/main">
            <a:off x="1332629"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 name="">
            <a:extLst xmlns:a="http://schemas.openxmlformats.org/drawingml/2006/main">
              <a:ext uri="{FF2B5EF4-FFF2-40B4-BE49-F238E27FC236}">
                <a16:creationId xmlns:a16="http://schemas.microsoft.com/office/drawing/2014/main" id="{F837DFE9-4F15-49A9-8908-72530334F96C}"/>
              </a:ext>
            </a:extLst>
          </p:cNvPr>
          <p:cNvSpPr>
            <a:spLocks xmlns:a="http://schemas.openxmlformats.org/drawingml/2006/main" noGrp="1"/>
          </p:cNvSpPr>
          <p:nvPr/>
        </p:nvSpPr>
        <p:spPr>
          <a:xfrm xmlns:a="http://schemas.openxmlformats.org/drawingml/2006/main">
            <a:off x="1463258"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7" name="">
            <a:extLst xmlns:a="http://schemas.openxmlformats.org/drawingml/2006/main">
              <a:ext uri="{FF2B5EF4-FFF2-40B4-BE49-F238E27FC236}">
                <a16:creationId xmlns:a16="http://schemas.microsoft.com/office/drawing/2014/main" id="{261C0E09-28C1-4480-87D4-E70637826288}"/>
              </a:ext>
            </a:extLst>
          </p:cNvPr>
          <p:cNvSpPr>
            <a:spLocks xmlns:a="http://schemas.openxmlformats.org/drawingml/2006/main" noGrp="1"/>
          </p:cNvSpPr>
          <p:nvPr/>
        </p:nvSpPr>
        <p:spPr>
          <a:xfrm xmlns:a="http://schemas.openxmlformats.org/drawingml/2006/main">
            <a:off x="1593886" y="547573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38" name="">
            <a:extLst xmlns:a="http://schemas.openxmlformats.org/drawingml/2006/main">
              <a:ext uri="{FF2B5EF4-FFF2-40B4-BE49-F238E27FC236}">
                <a16:creationId xmlns:a16="http://schemas.microsoft.com/office/drawing/2014/main" id="{D4548164-8A18-46DE-911F-C60CFB30637B}"/>
              </a:ext>
            </a:extLst>
          </p:cNvPr>
          <p:cNvSpPr>
            <a:spLocks xmlns:a="http://schemas.openxmlformats.org/drawingml/2006/main" noGrp="1"/>
          </p:cNvSpPr>
          <p:nvPr/>
        </p:nvSpPr>
        <p:spPr>
          <a:xfrm xmlns:a="http://schemas.openxmlformats.org/drawingml/2006/main">
            <a:off x="1724515"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9" name="">
            <a:extLst xmlns:a="http://schemas.openxmlformats.org/drawingml/2006/main">
              <a:ext uri="{FF2B5EF4-FFF2-40B4-BE49-F238E27FC236}">
                <a16:creationId xmlns:a16="http://schemas.microsoft.com/office/drawing/2014/main" id="{068E6D09-A5EB-4386-B5AD-001CB3DE492D}"/>
              </a:ext>
            </a:extLst>
          </p:cNvPr>
          <p:cNvSpPr>
            <a:spLocks xmlns:a="http://schemas.openxmlformats.org/drawingml/2006/main" noGrp="1"/>
          </p:cNvSpPr>
          <p:nvPr/>
        </p:nvSpPr>
        <p:spPr>
          <a:xfrm xmlns:a="http://schemas.openxmlformats.org/drawingml/2006/main">
            <a:off x="1855143"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0" name="">
            <a:extLst xmlns:a="http://schemas.openxmlformats.org/drawingml/2006/main">
              <a:ext uri="{FF2B5EF4-FFF2-40B4-BE49-F238E27FC236}">
                <a16:creationId xmlns:a16="http://schemas.microsoft.com/office/drawing/2014/main" id="{863F3334-C91A-4897-98C4-7C02F3F4E5D0}"/>
              </a:ext>
            </a:extLst>
          </p:cNvPr>
          <p:cNvSpPr>
            <a:spLocks xmlns:a="http://schemas.openxmlformats.org/drawingml/2006/main" noGrp="1"/>
          </p:cNvSpPr>
          <p:nvPr/>
        </p:nvSpPr>
        <p:spPr>
          <a:xfrm xmlns:a="http://schemas.openxmlformats.org/drawingml/2006/main">
            <a:off x="1985772" y="547573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1" name="">
            <a:extLst xmlns:a="http://schemas.openxmlformats.org/drawingml/2006/main">
              <a:ext uri="{FF2B5EF4-FFF2-40B4-BE49-F238E27FC236}">
                <a16:creationId xmlns:a16="http://schemas.microsoft.com/office/drawing/2014/main" id="{3FD23423-F174-4327-8295-FEE392B909E9}"/>
              </a:ext>
            </a:extLst>
          </p:cNvPr>
          <p:cNvSpPr>
            <a:spLocks xmlns:a="http://schemas.openxmlformats.org/drawingml/2006/main" noGrp="1"/>
          </p:cNvSpPr>
          <p:nvPr/>
        </p:nvSpPr>
        <p:spPr>
          <a:xfrm xmlns:a="http://schemas.openxmlformats.org/drawingml/2006/main">
            <a:off x="1071372"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2" name="">
            <a:extLst xmlns:a="http://schemas.openxmlformats.org/drawingml/2006/main">
              <a:ext uri="{FF2B5EF4-FFF2-40B4-BE49-F238E27FC236}">
                <a16:creationId xmlns:a16="http://schemas.microsoft.com/office/drawing/2014/main" id="{0FD1031C-276B-4093-B7C4-5B8248612E36}"/>
              </a:ext>
            </a:extLst>
          </p:cNvPr>
          <p:cNvSpPr>
            <a:spLocks xmlns:a="http://schemas.openxmlformats.org/drawingml/2006/main" noGrp="1"/>
          </p:cNvSpPr>
          <p:nvPr/>
        </p:nvSpPr>
        <p:spPr>
          <a:xfrm xmlns:a="http://schemas.openxmlformats.org/drawingml/2006/main">
            <a:off x="1202001"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3" name="">
            <a:extLst xmlns:a="http://schemas.openxmlformats.org/drawingml/2006/main">
              <a:ext uri="{FF2B5EF4-FFF2-40B4-BE49-F238E27FC236}">
                <a16:creationId xmlns:a16="http://schemas.microsoft.com/office/drawing/2014/main" id="{5B8748CF-5A1C-4935-8962-BCD6710C0CF2}"/>
              </a:ext>
            </a:extLst>
          </p:cNvPr>
          <p:cNvSpPr>
            <a:spLocks xmlns:a="http://schemas.openxmlformats.org/drawingml/2006/main" noGrp="1"/>
          </p:cNvSpPr>
          <p:nvPr/>
        </p:nvSpPr>
        <p:spPr>
          <a:xfrm xmlns:a="http://schemas.openxmlformats.org/drawingml/2006/main">
            <a:off x="1332629"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4" name="">
            <a:extLst xmlns:a="http://schemas.openxmlformats.org/drawingml/2006/main">
              <a:ext uri="{FF2B5EF4-FFF2-40B4-BE49-F238E27FC236}">
                <a16:creationId xmlns:a16="http://schemas.microsoft.com/office/drawing/2014/main" id="{2311692D-AACD-4AC1-BECE-AEA12BF791A2}"/>
              </a:ext>
            </a:extLst>
          </p:cNvPr>
          <p:cNvSpPr>
            <a:spLocks xmlns:a="http://schemas.openxmlformats.org/drawingml/2006/main" noGrp="1"/>
          </p:cNvSpPr>
          <p:nvPr/>
        </p:nvSpPr>
        <p:spPr>
          <a:xfrm xmlns:a="http://schemas.openxmlformats.org/drawingml/2006/main">
            <a:off x="1463258" y="561289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45" name="">
            <a:extLst xmlns:a="http://schemas.openxmlformats.org/drawingml/2006/main">
              <a:ext uri="{FF2B5EF4-FFF2-40B4-BE49-F238E27FC236}">
                <a16:creationId xmlns:a16="http://schemas.microsoft.com/office/drawing/2014/main" id="{7B2ED473-3C4F-40E5-BAF5-4D754126D45E}"/>
              </a:ext>
            </a:extLst>
          </p:cNvPr>
          <p:cNvSpPr>
            <a:spLocks xmlns:a="http://schemas.openxmlformats.org/drawingml/2006/main" noGrp="1"/>
          </p:cNvSpPr>
          <p:nvPr/>
        </p:nvSpPr>
        <p:spPr>
          <a:xfrm xmlns:a="http://schemas.openxmlformats.org/drawingml/2006/main">
            <a:off x="1593886"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6" name="">
            <a:extLst xmlns:a="http://schemas.openxmlformats.org/drawingml/2006/main">
              <a:ext uri="{FF2B5EF4-FFF2-40B4-BE49-F238E27FC236}">
                <a16:creationId xmlns:a16="http://schemas.microsoft.com/office/drawing/2014/main" id="{39998A1F-B825-4B39-B37D-13C4ECA2BF80}"/>
              </a:ext>
            </a:extLst>
          </p:cNvPr>
          <p:cNvSpPr>
            <a:spLocks xmlns:a="http://schemas.openxmlformats.org/drawingml/2006/main" noGrp="1"/>
          </p:cNvSpPr>
          <p:nvPr/>
        </p:nvSpPr>
        <p:spPr>
          <a:xfrm xmlns:a="http://schemas.openxmlformats.org/drawingml/2006/main">
            <a:off x="1724515"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7" name="">
            <a:extLst xmlns:a="http://schemas.openxmlformats.org/drawingml/2006/main">
              <a:ext uri="{FF2B5EF4-FFF2-40B4-BE49-F238E27FC236}">
                <a16:creationId xmlns:a16="http://schemas.microsoft.com/office/drawing/2014/main" id="{E2B775C8-FF57-4649-92A1-17231B79B4AF}"/>
              </a:ext>
            </a:extLst>
          </p:cNvPr>
          <p:cNvSpPr>
            <a:spLocks xmlns:a="http://schemas.openxmlformats.org/drawingml/2006/main" noGrp="1"/>
          </p:cNvSpPr>
          <p:nvPr/>
        </p:nvSpPr>
        <p:spPr>
          <a:xfrm xmlns:a="http://schemas.openxmlformats.org/drawingml/2006/main">
            <a:off x="1855143"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8" name="">
            <a:extLst xmlns:a="http://schemas.openxmlformats.org/drawingml/2006/main">
              <a:ext uri="{FF2B5EF4-FFF2-40B4-BE49-F238E27FC236}">
                <a16:creationId xmlns:a16="http://schemas.microsoft.com/office/drawing/2014/main" id="{9F6D87C9-333A-49D1-B90E-C3D88B999AA2}"/>
              </a:ext>
            </a:extLst>
          </p:cNvPr>
          <p:cNvSpPr>
            <a:spLocks xmlns:a="http://schemas.openxmlformats.org/drawingml/2006/main" noGrp="1"/>
          </p:cNvSpPr>
          <p:nvPr/>
        </p:nvSpPr>
        <p:spPr>
          <a:xfrm xmlns:a="http://schemas.openxmlformats.org/drawingml/2006/main">
            <a:off x="1985772" y="56128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49" name="">
            <a:extLst xmlns:a="http://schemas.openxmlformats.org/drawingml/2006/main">
              <a:ext uri="{FF2B5EF4-FFF2-40B4-BE49-F238E27FC236}">
                <a16:creationId xmlns:a16="http://schemas.microsoft.com/office/drawing/2014/main" id="{38F6B7F9-DCE8-4824-A540-793541CE7BBB}"/>
              </a:ext>
            </a:extLst>
          </p:cNvPr>
          <p:cNvSpPr>
            <a:spLocks xmlns:a="http://schemas.openxmlformats.org/drawingml/2006/main" noGrp="1"/>
          </p:cNvSpPr>
          <p:nvPr/>
        </p:nvSpPr>
        <p:spPr>
          <a:xfrm xmlns:a="http://schemas.openxmlformats.org/drawingml/2006/main">
            <a:off x="1071372" y="57500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50" name="">
            <a:extLst xmlns:a="http://schemas.openxmlformats.org/drawingml/2006/main">
              <a:ext uri="{FF2B5EF4-FFF2-40B4-BE49-F238E27FC236}">
                <a16:creationId xmlns:a16="http://schemas.microsoft.com/office/drawing/2014/main" id="{EC730560-CA60-4C6F-8809-EFED143F37CE}"/>
              </a:ext>
            </a:extLst>
          </p:cNvPr>
          <p:cNvSpPr>
            <a:spLocks xmlns:a="http://schemas.openxmlformats.org/drawingml/2006/main" noGrp="1"/>
          </p:cNvSpPr>
          <p:nvPr/>
        </p:nvSpPr>
        <p:spPr>
          <a:xfrm xmlns:a="http://schemas.openxmlformats.org/drawingml/2006/main">
            <a:off x="1202001" y="57500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51" name="">
            <a:extLst xmlns:a="http://schemas.openxmlformats.org/drawingml/2006/main">
              <a:ext uri="{FF2B5EF4-FFF2-40B4-BE49-F238E27FC236}">
                <a16:creationId xmlns:a16="http://schemas.microsoft.com/office/drawing/2014/main" id="{2E72F37E-C234-4388-89B5-09AF1AE71E54}"/>
              </a:ext>
            </a:extLst>
          </p:cNvPr>
          <p:cNvSpPr>
            <a:spLocks xmlns:a="http://schemas.openxmlformats.org/drawingml/2006/main" noGrp="1"/>
          </p:cNvSpPr>
          <p:nvPr/>
        </p:nvSpPr>
        <p:spPr>
          <a:xfrm xmlns:a="http://schemas.openxmlformats.org/drawingml/2006/main">
            <a:off x="1332629" y="575005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52" name="">
            <a:extLst xmlns:a="http://schemas.openxmlformats.org/drawingml/2006/main">
              <a:ext uri="{FF2B5EF4-FFF2-40B4-BE49-F238E27FC236}">
                <a16:creationId xmlns:a16="http://schemas.microsoft.com/office/drawing/2014/main" id="{FA1C0B01-02D9-4AE5-B322-3560574E115B}"/>
              </a:ext>
            </a:extLst>
          </p:cNvPr>
          <p:cNvSpPr>
            <a:spLocks xmlns:a="http://schemas.openxmlformats.org/drawingml/2006/main" noGrp="1"/>
          </p:cNvSpPr>
          <p:nvPr/>
        </p:nvSpPr>
        <p:spPr>
          <a:xfrm xmlns:a="http://schemas.openxmlformats.org/drawingml/2006/main">
            <a:off x="1463258" y="57500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53" name="">
            <a:extLst xmlns:a="http://schemas.openxmlformats.org/drawingml/2006/main">
              <a:ext uri="{FF2B5EF4-FFF2-40B4-BE49-F238E27FC236}">
                <a16:creationId xmlns:a16="http://schemas.microsoft.com/office/drawing/2014/main" id="{E5F6E843-0D33-4D9C-B0FC-E923E14C2FAD}"/>
              </a:ext>
            </a:extLst>
          </p:cNvPr>
          <p:cNvSpPr>
            <a:spLocks xmlns:a="http://schemas.openxmlformats.org/drawingml/2006/main" noGrp="1"/>
          </p:cNvSpPr>
          <p:nvPr/>
        </p:nvSpPr>
        <p:spPr>
          <a:xfrm xmlns:a="http://schemas.openxmlformats.org/drawingml/2006/main">
            <a:off x="1593886" y="57500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54" name="">
            <a:extLst xmlns:a="http://schemas.openxmlformats.org/drawingml/2006/main">
              <a:ext uri="{FF2B5EF4-FFF2-40B4-BE49-F238E27FC236}">
                <a16:creationId xmlns:a16="http://schemas.microsoft.com/office/drawing/2014/main" id="{90F21C5A-DCF2-4DED-8169-CA7F05FB9896}"/>
              </a:ext>
            </a:extLst>
          </p:cNvPr>
          <p:cNvSpPr>
            <a:spLocks xmlns:a="http://schemas.openxmlformats.org/drawingml/2006/main" noGrp="1"/>
          </p:cNvSpPr>
          <p:nvPr/>
        </p:nvSpPr>
        <p:spPr>
          <a:xfrm xmlns:a="http://schemas.openxmlformats.org/drawingml/2006/main">
            <a:off x="1724515" y="57500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55" name="">
            <a:extLst xmlns:a="http://schemas.openxmlformats.org/drawingml/2006/main">
              <a:ext uri="{FF2B5EF4-FFF2-40B4-BE49-F238E27FC236}">
                <a16:creationId xmlns:a16="http://schemas.microsoft.com/office/drawing/2014/main" id="{BDA62698-086A-4DF9-BFB2-B83DE42FA87C}"/>
              </a:ext>
            </a:extLst>
          </p:cNvPr>
          <p:cNvSpPr>
            <a:spLocks xmlns:a="http://schemas.openxmlformats.org/drawingml/2006/main" noGrp="1"/>
          </p:cNvSpPr>
          <p:nvPr/>
        </p:nvSpPr>
        <p:spPr>
          <a:xfrm xmlns:a="http://schemas.openxmlformats.org/drawingml/2006/main">
            <a:off x="1855143" y="57500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56" name="">
            <a:extLst xmlns:a="http://schemas.openxmlformats.org/drawingml/2006/main">
              <a:ext uri="{FF2B5EF4-FFF2-40B4-BE49-F238E27FC236}">
                <a16:creationId xmlns:a16="http://schemas.microsoft.com/office/drawing/2014/main" id="{7ABF79B1-F4B5-47B4-9A0E-3F94B72F6248}"/>
              </a:ext>
            </a:extLst>
          </p:cNvPr>
          <p:cNvSpPr>
            <a:spLocks xmlns:a="http://schemas.openxmlformats.org/drawingml/2006/main" noGrp="1"/>
          </p:cNvSpPr>
          <p:nvPr/>
        </p:nvSpPr>
        <p:spPr>
          <a:xfrm xmlns:a="http://schemas.openxmlformats.org/drawingml/2006/main">
            <a:off x="1985772" y="575005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57" name="Flat experiment component">
            <a:extLst xmlns:a="http://schemas.openxmlformats.org/drawingml/2006/main">
              <a:ext uri="{FF2B5EF4-FFF2-40B4-BE49-F238E27FC236}">
                <a16:creationId xmlns:a16="http://schemas.microsoft.com/office/drawing/2014/main" id="{C9B7B926-A2CB-4ED4-BB90-057A428E8FDE}"/>
              </a:ext>
            </a:extLst>
          </p:cNvPr>
          <p:cNvSpPr>
            <a:spLocks xmlns:a="http://schemas.openxmlformats.org/drawingml/2006/main" noGrp="1"/>
          </p:cNvSpPr>
          <p:nvPr/>
        </p:nvSpPr>
        <p:spPr>
          <a:xfrm xmlns:a="http://schemas.openxmlformats.org/drawingml/2006/main">
            <a:off x="2301240" y="5036820"/>
            <a:ext cx="929640" cy="8382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00355F"/>
            </a:solidFill>
          </a:ln>
        </p:spPr>
      </p:sp>
      <p:sp>
        <p:nvSpPr>
          <p:cNvPr id="58" name="Flat experiment component">
            <a:extLst xmlns:a="http://schemas.openxmlformats.org/drawingml/2006/main">
              <a:ext uri="{FF2B5EF4-FFF2-40B4-BE49-F238E27FC236}">
                <a16:creationId xmlns:a16="http://schemas.microsoft.com/office/drawing/2014/main" id="{9803070D-8157-464C-BB2C-BAA1CD673154}"/>
              </a:ext>
            </a:extLst>
          </p:cNvPr>
          <p:cNvSpPr>
            <a:spLocks xmlns:a="http://schemas.openxmlformats.org/drawingml/2006/main" noGrp="1"/>
          </p:cNvSpPr>
          <p:nvPr/>
        </p:nvSpPr>
        <p:spPr>
          <a:xfrm xmlns:a="http://schemas.openxmlformats.org/drawingml/2006/main">
            <a:off x="2377440" y="5113020"/>
            <a:ext cx="777240" cy="281940"/>
          </a:xfrm>
          <a:prstGeom xmlns:a="http://schemas.openxmlformats.org/drawingml/2006/main" prst="roundRect">
            <a:avLst>
              <a:gd name="adj" fmla="val 10811"/>
            </a:avLst>
          </a:prstGeom>
          <a:solidFill xmlns:a="http://schemas.openxmlformats.org/drawingml/2006/main">
            <a:srgbClr val="ACD4F1"/>
          </a:solidFill>
          <a:ln xmlns:a="http://schemas.openxmlformats.org/drawingml/2006/main" w="12954">
            <a:solidFill>
              <a:srgbClr val="00355F"/>
            </a:solidFill>
          </a:ln>
        </p:spPr>
      </p:sp>
      <p:sp>
        <p:nvSpPr>
          <p:cNvPr id="59" name="Diagram path">
            <a:extLst xmlns:a="http://schemas.openxmlformats.org/drawingml/2006/main">
              <a:ext uri="{FF2B5EF4-FFF2-40B4-BE49-F238E27FC236}">
                <a16:creationId xmlns:a16="http://schemas.microsoft.com/office/drawing/2014/main" id="{B52B16C9-75F5-4C8F-A957-7072A0C3FB60}"/>
              </a:ext>
            </a:extLst>
          </p:cNvPr>
          <p:cNvSpPr>
            <a:spLocks xmlns:a="http://schemas.openxmlformats.org/drawingml/2006/main" noGrp="1"/>
          </p:cNvSpPr>
          <p:nvPr/>
        </p:nvSpPr>
        <p:spPr>
          <a:xfrm xmlns:a="http://schemas.openxmlformats.org/drawingml/2006/main">
            <a:off x="2446020" y="5204460"/>
            <a:ext cx="640080" cy="762"/>
          </a:xfrm>
          <a:custGeom xmlns:a="http://schemas.openxmlformats.org/drawingml/2006/main">
            <a:pathLst>
              <a:path w="640080" h="762">
                <a:moveTo>
                  <a:pt x="0" y="0"/>
                </a:moveTo>
                <a:lnTo>
                  <a:pt x="640080" y="0"/>
                </a:lnTo>
              </a:path>
            </a:pathLst>
          </a:custGeom>
          <a:noFill xmlns:a="http://schemas.openxmlformats.org/drawingml/2006/main"/>
          <a:ln xmlns:a="http://schemas.openxmlformats.org/drawingml/2006/main" w="15240">
            <a:solidFill>
              <a:srgbClr val="7399C6"/>
            </a:solidFill>
          </a:ln>
        </p:spPr>
      </p:sp>
      <p:sp>
        <p:nvSpPr>
          <p:cNvPr id="60" name="Flat experiment component">
            <a:extLst xmlns:a="http://schemas.openxmlformats.org/drawingml/2006/main">
              <a:ext uri="{FF2B5EF4-FFF2-40B4-BE49-F238E27FC236}">
                <a16:creationId xmlns:a16="http://schemas.microsoft.com/office/drawing/2014/main" id="{8F2068A8-171D-49E2-908A-07D280A2E98E}"/>
              </a:ext>
            </a:extLst>
          </p:cNvPr>
          <p:cNvSpPr>
            <a:spLocks xmlns:a="http://schemas.openxmlformats.org/drawingml/2006/main" noGrp="1"/>
          </p:cNvSpPr>
          <p:nvPr/>
        </p:nvSpPr>
        <p:spPr>
          <a:xfrm xmlns:a="http://schemas.openxmlformats.org/drawingml/2006/main">
            <a:off x="2423160" y="5494020"/>
            <a:ext cx="396240" cy="198120"/>
          </a:xfrm>
          <a:prstGeom xmlns:a="http://schemas.openxmlformats.org/drawingml/2006/main" prst="roundRect">
            <a:avLst>
              <a:gd name="adj" fmla="val 11538"/>
            </a:avLst>
          </a:prstGeom>
          <a:solidFill xmlns:a="http://schemas.openxmlformats.org/drawingml/2006/main">
            <a:srgbClr val="00355F"/>
          </a:solidFill>
          <a:ln xmlns:a="http://schemas.openxmlformats.org/drawingml/2006/main" w="0">
            <a:noFill/>
          </a:ln>
        </p:spPr>
      </p:sp>
      <p:sp>
        <p:nvSpPr>
          <p:cNvPr id="61" name="PCR">
            <a:extLst xmlns:a="http://schemas.openxmlformats.org/drawingml/2006/main">
              <a:ext uri="{FF2B5EF4-FFF2-40B4-BE49-F238E27FC236}">
                <a16:creationId xmlns:a16="http://schemas.microsoft.com/office/drawing/2014/main" id="{C8AD61DE-C26A-4373-90A4-BF739E128719}"/>
              </a:ext>
            </a:extLst>
          </p:cNvPr>
          <p:cNvSpPr>
            <a:spLocks xmlns:a="http://schemas.openxmlformats.org/drawingml/2006/main" noGrp="1"/>
          </p:cNvSpPr>
          <p:nvPr/>
        </p:nvSpPr>
        <p:spPr>
          <a:xfrm xmlns:a="http://schemas.openxmlformats.org/drawingml/2006/main">
            <a:off x="2446020" y="5524500"/>
            <a:ext cx="35052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960" b="1">
                <a:solidFill>
                  <a:srgbClr val="FFFFFF"/>
                </a:solidFill>
                <a:latin typeface="Arial"/>
                <a:ea typeface="Arial"/>
                <a:cs typeface="Arial"/>
              </a:defRPr>
            </a:defPPr>
          </a:lstStyle>
          <a:p xmlns:a="http://schemas.openxmlformats.org/drawingml/2006/main">
            <a:pPr algn="ctr">
              <a:lnSpc>
                <a:spcPct val="100000"/>
              </a:lnSpc>
              <a:buNone/>
              <a:defRPr sz="960" b="1">
                <a:solidFill>
                  <a:srgbClr val="FFFFFF"/>
                </a:solidFill>
                <a:latin typeface="Arial"/>
                <a:ea typeface="Arial"/>
                <a:cs typeface="Arial"/>
              </a:defRPr>
            </a:pPr>
            <a:r>
              <a:rPr sz="960" b="1">
                <a:solidFill>
                  <a:srgbClr val="FFFFFF"/>
                </a:solidFill>
                <a:latin typeface="Arial"/>
                <a:ea typeface="Arial"/>
                <a:cs typeface="Arial"/>
              </a:rPr>
              <a:t>PCR</a:t>
            </a:r>
          </a:p>
        </p:txBody>
      </p:sp>
      <p:sp>
        <p:nvSpPr>
          <p:cNvPr id="62" name="">
            <a:extLst xmlns:a="http://schemas.openxmlformats.org/drawingml/2006/main">
              <a:ext uri="{FF2B5EF4-FFF2-40B4-BE49-F238E27FC236}">
                <a16:creationId xmlns:a16="http://schemas.microsoft.com/office/drawing/2014/main" id="{8F52CAAF-78DC-46BA-B453-629E9124BEEA}"/>
              </a:ext>
            </a:extLst>
          </p:cNvPr>
          <p:cNvSpPr>
            <a:spLocks xmlns:a="http://schemas.openxmlformats.org/drawingml/2006/main" noGrp="1"/>
          </p:cNvSpPr>
          <p:nvPr/>
        </p:nvSpPr>
        <p:spPr>
          <a:xfrm xmlns:a="http://schemas.openxmlformats.org/drawingml/2006/main">
            <a:off x="2971800" y="5524500"/>
            <a:ext cx="121920" cy="121920"/>
          </a:xfrm>
          <a:prstGeom xmlns:a="http://schemas.openxmlformats.org/drawingml/2006/main" prst="ellipse">
            <a:avLst/>
          </a:prstGeom>
          <a:solidFill xmlns:a="http://schemas.openxmlformats.org/drawingml/2006/main">
            <a:srgbClr val="ACD4F1"/>
          </a:solidFill>
          <a:ln xmlns:a="http://schemas.openxmlformats.org/drawingml/2006/main" w="15240">
            <a:solidFill>
              <a:srgbClr val="00355F"/>
            </a:solidFill>
          </a:ln>
        </p:spPr>
      </p:sp>
      <p:sp>
        <p:nvSpPr>
          <p:cNvPr id="63" name="Diagram path">
            <a:extLst xmlns:a="http://schemas.openxmlformats.org/drawingml/2006/main">
              <a:ext uri="{FF2B5EF4-FFF2-40B4-BE49-F238E27FC236}">
                <a16:creationId xmlns:a16="http://schemas.microsoft.com/office/drawing/2014/main" id="{B3471A9C-CE29-44BA-A68F-A5CFE0DFF685}"/>
              </a:ext>
            </a:extLst>
          </p:cNvPr>
          <p:cNvSpPr>
            <a:spLocks xmlns:a="http://schemas.openxmlformats.org/drawingml/2006/main" noGrp="1"/>
          </p:cNvSpPr>
          <p:nvPr/>
        </p:nvSpPr>
        <p:spPr>
          <a:xfrm xmlns:a="http://schemas.openxmlformats.org/drawingml/2006/main">
            <a:off x="2377440" y="5783580"/>
            <a:ext cx="777240" cy="762"/>
          </a:xfrm>
          <a:custGeom xmlns:a="http://schemas.openxmlformats.org/drawingml/2006/main">
            <a:pathLst>
              <a:path w="777240" h="762">
                <a:moveTo>
                  <a:pt x="0" y="0"/>
                </a:moveTo>
                <a:lnTo>
                  <a:pt x="777240" y="0"/>
                </a:lnTo>
              </a:path>
            </a:pathLst>
          </a:custGeom>
          <a:noFill xmlns:a="http://schemas.openxmlformats.org/drawingml/2006/main"/>
          <a:ln xmlns:a="http://schemas.openxmlformats.org/drawingml/2006/main" w="15240">
            <a:solidFill>
              <a:srgbClr val="7399C6"/>
            </a:solidFill>
          </a:ln>
        </p:spPr>
      </p:sp>
      <p:sp>
        <p:nvSpPr>
          <p:cNvPr id="64" name="Flat experiment component">
            <a:extLst xmlns:a="http://schemas.openxmlformats.org/drawingml/2006/main">
              <a:ext uri="{FF2B5EF4-FFF2-40B4-BE49-F238E27FC236}">
                <a16:creationId xmlns:a16="http://schemas.microsoft.com/office/drawing/2014/main" id="{55711BD8-C98E-4B76-85D7-2F35797A8833}"/>
              </a:ext>
            </a:extLst>
          </p:cNvPr>
          <p:cNvSpPr>
            <a:spLocks xmlns:a="http://schemas.openxmlformats.org/drawingml/2006/main" noGrp="1"/>
          </p:cNvSpPr>
          <p:nvPr/>
        </p:nvSpPr>
        <p:spPr>
          <a:xfrm xmlns:a="http://schemas.openxmlformats.org/drawingml/2006/main">
            <a:off x="2430780" y="422148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65" name="Diagram path">
            <a:extLst xmlns:a="http://schemas.openxmlformats.org/drawingml/2006/main">
              <a:ext uri="{FF2B5EF4-FFF2-40B4-BE49-F238E27FC236}">
                <a16:creationId xmlns:a16="http://schemas.microsoft.com/office/drawing/2014/main" id="{D4C71CF0-8B1B-4C0C-BA96-AF8882729DA1}"/>
              </a:ext>
            </a:extLst>
          </p:cNvPr>
          <p:cNvSpPr>
            <a:spLocks xmlns:a="http://schemas.openxmlformats.org/drawingml/2006/main" noGrp="1"/>
          </p:cNvSpPr>
          <p:nvPr/>
        </p:nvSpPr>
        <p:spPr>
          <a:xfrm xmlns:a="http://schemas.openxmlformats.org/drawingml/2006/main">
            <a:off x="2453640" y="4290060"/>
            <a:ext cx="129540" cy="350520"/>
          </a:xfrm>
          <a:custGeom xmlns:a="http://schemas.openxmlformats.org/drawingml/2006/main">
            <a:pathLst>
              <a:path w="129540" h="350520">
                <a:moveTo>
                  <a:pt x="0" y="0"/>
                </a:moveTo>
                <a:lnTo>
                  <a:pt x="129540" y="0"/>
                </a:lnTo>
                <a:lnTo>
                  <a:pt x="129540" y="251460"/>
                </a:lnTo>
                <a:lnTo>
                  <a:pt x="68580" y="350520"/>
                </a:lnTo>
                <a:lnTo>
                  <a:pt x="0" y="251460"/>
                </a:lnTo>
                <a:close/>
              </a:path>
            </a:pathLst>
          </a:custGeom>
          <a:solidFill xmlns:a="http://schemas.openxmlformats.org/drawingml/2006/main">
            <a:srgbClr val="FFFFFF"/>
          </a:solidFill>
          <a:ln xmlns:a="http://schemas.openxmlformats.org/drawingml/2006/main" w="15240">
            <a:solidFill>
              <a:srgbClr val="00355F"/>
            </a:solidFill>
          </a:ln>
        </p:spPr>
      </p:sp>
      <p:sp>
        <p:nvSpPr>
          <p:cNvPr id="66" name="Diagram path">
            <a:extLst xmlns:a="http://schemas.openxmlformats.org/drawingml/2006/main">
              <a:ext uri="{FF2B5EF4-FFF2-40B4-BE49-F238E27FC236}">
                <a16:creationId xmlns:a16="http://schemas.microsoft.com/office/drawing/2014/main" id="{2C354142-E0B4-4242-9C50-D84F3B0FF488}"/>
              </a:ext>
            </a:extLst>
          </p:cNvPr>
          <p:cNvSpPr>
            <a:spLocks xmlns:a="http://schemas.openxmlformats.org/drawingml/2006/main" noGrp="1"/>
          </p:cNvSpPr>
          <p:nvPr/>
        </p:nvSpPr>
        <p:spPr>
          <a:xfrm xmlns:a="http://schemas.openxmlformats.org/drawingml/2006/main">
            <a:off x="2468880" y="4439412"/>
            <a:ext cx="99060" cy="170688"/>
          </a:xfrm>
          <a:custGeom xmlns:a="http://schemas.openxmlformats.org/drawingml/2006/main">
            <a:pathLst>
              <a:path w="99060" h="170688">
                <a:moveTo>
                  <a:pt x="0" y="0"/>
                </a:moveTo>
                <a:lnTo>
                  <a:pt x="99060" y="0"/>
                </a:lnTo>
                <a:lnTo>
                  <a:pt x="99060" y="94488"/>
                </a:lnTo>
                <a:lnTo>
                  <a:pt x="53340" y="170688"/>
                </a:lnTo>
                <a:lnTo>
                  <a:pt x="0" y="94488"/>
                </a:lnTo>
                <a:close/>
              </a:path>
            </a:pathLst>
          </a:custGeom>
          <a:solidFill xmlns:a="http://schemas.openxmlformats.org/drawingml/2006/main">
            <a:srgbClr val="ACD4F1"/>
          </a:solidFill>
          <a:ln xmlns:a="http://schemas.openxmlformats.org/drawingml/2006/main" w="0">
            <a:noFill/>
          </a:ln>
        </p:spPr>
      </p:sp>
      <p:sp>
        <p:nvSpPr>
          <p:cNvPr id="67" name="Flat experiment component">
            <a:extLst xmlns:a="http://schemas.openxmlformats.org/drawingml/2006/main">
              <a:ext uri="{FF2B5EF4-FFF2-40B4-BE49-F238E27FC236}">
                <a16:creationId xmlns:a16="http://schemas.microsoft.com/office/drawing/2014/main" id="{A1454B9F-08CE-4C27-9DD5-DBB2A8B4AA43}"/>
              </a:ext>
            </a:extLst>
          </p:cNvPr>
          <p:cNvSpPr>
            <a:spLocks xmlns:a="http://schemas.openxmlformats.org/drawingml/2006/main" noGrp="1"/>
          </p:cNvSpPr>
          <p:nvPr/>
        </p:nvSpPr>
        <p:spPr>
          <a:xfrm xmlns:a="http://schemas.openxmlformats.org/drawingml/2006/main">
            <a:off x="2697480" y="422148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68" name="Diagram path">
            <a:extLst xmlns:a="http://schemas.openxmlformats.org/drawingml/2006/main">
              <a:ext uri="{FF2B5EF4-FFF2-40B4-BE49-F238E27FC236}">
                <a16:creationId xmlns:a16="http://schemas.microsoft.com/office/drawing/2014/main" id="{6C90898B-0139-4D30-9019-357202420FCC}"/>
              </a:ext>
            </a:extLst>
          </p:cNvPr>
          <p:cNvSpPr>
            <a:spLocks xmlns:a="http://schemas.openxmlformats.org/drawingml/2006/main" noGrp="1"/>
          </p:cNvSpPr>
          <p:nvPr/>
        </p:nvSpPr>
        <p:spPr>
          <a:xfrm xmlns:a="http://schemas.openxmlformats.org/drawingml/2006/main">
            <a:off x="2720340" y="4290060"/>
            <a:ext cx="129540" cy="350520"/>
          </a:xfrm>
          <a:custGeom xmlns:a="http://schemas.openxmlformats.org/drawingml/2006/main">
            <a:pathLst>
              <a:path w="129540" h="350520">
                <a:moveTo>
                  <a:pt x="0" y="0"/>
                </a:moveTo>
                <a:lnTo>
                  <a:pt x="129540" y="0"/>
                </a:lnTo>
                <a:lnTo>
                  <a:pt x="129540" y="251460"/>
                </a:lnTo>
                <a:lnTo>
                  <a:pt x="68580" y="350520"/>
                </a:lnTo>
                <a:lnTo>
                  <a:pt x="0" y="251460"/>
                </a:lnTo>
                <a:close/>
              </a:path>
            </a:pathLst>
          </a:custGeom>
          <a:solidFill xmlns:a="http://schemas.openxmlformats.org/drawingml/2006/main">
            <a:srgbClr val="FFFFFF"/>
          </a:solidFill>
          <a:ln xmlns:a="http://schemas.openxmlformats.org/drawingml/2006/main" w="15240">
            <a:solidFill>
              <a:srgbClr val="00355F"/>
            </a:solidFill>
          </a:ln>
        </p:spPr>
      </p:sp>
      <p:sp>
        <p:nvSpPr>
          <p:cNvPr id="69" name="Diagram path">
            <a:extLst xmlns:a="http://schemas.openxmlformats.org/drawingml/2006/main">
              <a:ext uri="{FF2B5EF4-FFF2-40B4-BE49-F238E27FC236}">
                <a16:creationId xmlns:a16="http://schemas.microsoft.com/office/drawing/2014/main" id="{D6B05B2E-DC47-47EA-A188-A51F7B1D6A09}"/>
              </a:ext>
            </a:extLst>
          </p:cNvPr>
          <p:cNvSpPr>
            <a:spLocks xmlns:a="http://schemas.openxmlformats.org/drawingml/2006/main" noGrp="1"/>
          </p:cNvSpPr>
          <p:nvPr/>
        </p:nvSpPr>
        <p:spPr>
          <a:xfrm xmlns:a="http://schemas.openxmlformats.org/drawingml/2006/main">
            <a:off x="2735580" y="4439412"/>
            <a:ext cx="99060" cy="170688"/>
          </a:xfrm>
          <a:custGeom xmlns:a="http://schemas.openxmlformats.org/drawingml/2006/main">
            <a:pathLst>
              <a:path w="99060" h="170688">
                <a:moveTo>
                  <a:pt x="0" y="0"/>
                </a:moveTo>
                <a:lnTo>
                  <a:pt x="99060" y="0"/>
                </a:lnTo>
                <a:lnTo>
                  <a:pt x="99060" y="94488"/>
                </a:lnTo>
                <a:lnTo>
                  <a:pt x="53340" y="170688"/>
                </a:lnTo>
                <a:lnTo>
                  <a:pt x="0" y="94488"/>
                </a:lnTo>
                <a:close/>
              </a:path>
            </a:pathLst>
          </a:custGeom>
          <a:solidFill xmlns:a="http://schemas.openxmlformats.org/drawingml/2006/main">
            <a:srgbClr val="078549"/>
          </a:solidFill>
          <a:ln xmlns:a="http://schemas.openxmlformats.org/drawingml/2006/main" w="0">
            <a:noFill/>
          </a:ln>
        </p:spPr>
      </p:sp>
      <p:sp>
        <p:nvSpPr>
          <p:cNvPr id="70" name="Flat experiment component">
            <a:extLst xmlns:a="http://schemas.openxmlformats.org/drawingml/2006/main">
              <a:ext uri="{FF2B5EF4-FFF2-40B4-BE49-F238E27FC236}">
                <a16:creationId xmlns:a16="http://schemas.microsoft.com/office/drawing/2014/main" id="{A517D465-6A3E-4656-B999-95F25D65ED60}"/>
              </a:ext>
            </a:extLst>
          </p:cNvPr>
          <p:cNvSpPr>
            <a:spLocks xmlns:a="http://schemas.openxmlformats.org/drawingml/2006/main" noGrp="1"/>
          </p:cNvSpPr>
          <p:nvPr/>
        </p:nvSpPr>
        <p:spPr>
          <a:xfrm xmlns:a="http://schemas.openxmlformats.org/drawingml/2006/main">
            <a:off x="2964180" y="422148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71" name="Diagram path">
            <a:extLst xmlns:a="http://schemas.openxmlformats.org/drawingml/2006/main">
              <a:ext uri="{FF2B5EF4-FFF2-40B4-BE49-F238E27FC236}">
                <a16:creationId xmlns:a16="http://schemas.microsoft.com/office/drawing/2014/main" id="{C96E103B-A803-4C46-AAFF-5BBD3C8A2DEE}"/>
              </a:ext>
            </a:extLst>
          </p:cNvPr>
          <p:cNvSpPr>
            <a:spLocks xmlns:a="http://schemas.openxmlformats.org/drawingml/2006/main" noGrp="1"/>
          </p:cNvSpPr>
          <p:nvPr/>
        </p:nvSpPr>
        <p:spPr>
          <a:xfrm xmlns:a="http://schemas.openxmlformats.org/drawingml/2006/main">
            <a:off x="2987040" y="4290060"/>
            <a:ext cx="129540" cy="350520"/>
          </a:xfrm>
          <a:custGeom xmlns:a="http://schemas.openxmlformats.org/drawingml/2006/main">
            <a:pathLst>
              <a:path w="129540" h="350520">
                <a:moveTo>
                  <a:pt x="0" y="0"/>
                </a:moveTo>
                <a:lnTo>
                  <a:pt x="129540" y="0"/>
                </a:lnTo>
                <a:lnTo>
                  <a:pt x="129540" y="251460"/>
                </a:lnTo>
                <a:lnTo>
                  <a:pt x="68580" y="350520"/>
                </a:lnTo>
                <a:lnTo>
                  <a:pt x="0" y="251460"/>
                </a:lnTo>
                <a:close/>
              </a:path>
            </a:pathLst>
          </a:custGeom>
          <a:solidFill xmlns:a="http://schemas.openxmlformats.org/drawingml/2006/main">
            <a:srgbClr val="FFFFFF"/>
          </a:solidFill>
          <a:ln xmlns:a="http://schemas.openxmlformats.org/drawingml/2006/main" w="15240">
            <a:solidFill>
              <a:srgbClr val="00355F"/>
            </a:solidFill>
          </a:ln>
        </p:spPr>
      </p:sp>
      <p:sp>
        <p:nvSpPr>
          <p:cNvPr id="72" name="Diagram path">
            <a:extLst xmlns:a="http://schemas.openxmlformats.org/drawingml/2006/main">
              <a:ext uri="{FF2B5EF4-FFF2-40B4-BE49-F238E27FC236}">
                <a16:creationId xmlns:a16="http://schemas.microsoft.com/office/drawing/2014/main" id="{6498D15B-3B9F-448B-A7FA-C0041C496FB0}"/>
              </a:ext>
            </a:extLst>
          </p:cNvPr>
          <p:cNvSpPr>
            <a:spLocks xmlns:a="http://schemas.openxmlformats.org/drawingml/2006/main" noGrp="1"/>
          </p:cNvSpPr>
          <p:nvPr/>
        </p:nvSpPr>
        <p:spPr>
          <a:xfrm xmlns:a="http://schemas.openxmlformats.org/drawingml/2006/main">
            <a:off x="3002280" y="4439412"/>
            <a:ext cx="99060" cy="170688"/>
          </a:xfrm>
          <a:custGeom xmlns:a="http://schemas.openxmlformats.org/drawingml/2006/main">
            <a:pathLst>
              <a:path w="99060" h="170688">
                <a:moveTo>
                  <a:pt x="0" y="0"/>
                </a:moveTo>
                <a:lnTo>
                  <a:pt x="99060" y="0"/>
                </a:lnTo>
                <a:lnTo>
                  <a:pt x="99060" y="94488"/>
                </a:lnTo>
                <a:lnTo>
                  <a:pt x="53340" y="170688"/>
                </a:lnTo>
                <a:lnTo>
                  <a:pt x="0" y="94488"/>
                </a:lnTo>
                <a:close/>
              </a:path>
            </a:pathLst>
          </a:custGeom>
          <a:solidFill xmlns:a="http://schemas.openxmlformats.org/drawingml/2006/main">
            <a:srgbClr val="ACD4F1"/>
          </a:solidFill>
          <a:ln xmlns:a="http://schemas.openxmlformats.org/drawingml/2006/main" w="0">
            <a:noFill/>
          </a:ln>
        </p:spPr>
      </p:sp>
      <p:sp>
        <p:nvSpPr>
          <p:cNvPr id="73" name="DNA + enzymes">
            <a:extLst xmlns:a="http://schemas.openxmlformats.org/drawingml/2006/main">
              <a:ext uri="{FF2B5EF4-FFF2-40B4-BE49-F238E27FC236}">
                <a16:creationId xmlns:a16="http://schemas.microsoft.com/office/drawing/2014/main" id="{C7EBD385-D7A5-403A-8DA0-13EA9C3D2EF4}"/>
              </a:ext>
            </a:extLst>
          </p:cNvPr>
          <p:cNvSpPr>
            <a:spLocks xmlns:a="http://schemas.openxmlformats.org/drawingml/2006/main" noGrp="1"/>
          </p:cNvSpPr>
          <p:nvPr/>
        </p:nvSpPr>
        <p:spPr>
          <a:xfrm xmlns:a="http://schemas.openxmlformats.org/drawingml/2006/main">
            <a:off x="2179320" y="4716780"/>
            <a:ext cx="1104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DNA + enzymes</a:t>
            </a:r>
          </a:p>
        </p:txBody>
      </p:sp>
      <p:sp>
        <p:nvSpPr>
          <p:cNvPr id="74" name="Liquid handling">
            <a:extLst xmlns:a="http://schemas.openxmlformats.org/drawingml/2006/main">
              <a:ext uri="{FF2B5EF4-FFF2-40B4-BE49-F238E27FC236}">
                <a16:creationId xmlns:a16="http://schemas.microsoft.com/office/drawing/2014/main" id="{9A2EFAFB-9511-4A8E-A60D-605C60E897F1}"/>
              </a:ext>
            </a:extLst>
          </p:cNvPr>
          <p:cNvSpPr>
            <a:spLocks xmlns:a="http://schemas.openxmlformats.org/drawingml/2006/main" noGrp="1"/>
          </p:cNvSpPr>
          <p:nvPr/>
        </p:nvSpPr>
        <p:spPr>
          <a:xfrm xmlns:a="http://schemas.openxmlformats.org/drawingml/2006/main">
            <a:off x="914400" y="6057900"/>
            <a:ext cx="13030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Liquid handling</a:t>
            </a:r>
          </a:p>
        </p:txBody>
      </p:sp>
      <p:sp>
        <p:nvSpPr>
          <p:cNvPr id="75" name="PCR">
            <a:extLst xmlns:a="http://schemas.openxmlformats.org/drawingml/2006/main">
              <a:ext uri="{FF2B5EF4-FFF2-40B4-BE49-F238E27FC236}">
                <a16:creationId xmlns:a16="http://schemas.microsoft.com/office/drawing/2014/main" id="{026C3CED-6C2B-4A8C-BE87-3BE42D76814F}"/>
              </a:ext>
            </a:extLst>
          </p:cNvPr>
          <p:cNvSpPr>
            <a:spLocks xmlns:a="http://schemas.openxmlformats.org/drawingml/2006/main" noGrp="1"/>
          </p:cNvSpPr>
          <p:nvPr/>
        </p:nvSpPr>
        <p:spPr>
          <a:xfrm xmlns:a="http://schemas.openxmlformats.org/drawingml/2006/main">
            <a:off x="2270760" y="6057900"/>
            <a:ext cx="990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PCR</a:t>
            </a:r>
          </a:p>
        </p:txBody>
      </p:sp>
      <p:sp>
        <p:nvSpPr>
          <p:cNvPr id="76" name="Flat experiment component">
            <a:extLst xmlns:a="http://schemas.openxmlformats.org/drawingml/2006/main">
              <a:ext uri="{FF2B5EF4-FFF2-40B4-BE49-F238E27FC236}">
                <a16:creationId xmlns:a16="http://schemas.microsoft.com/office/drawing/2014/main" id="{02104AC8-969E-4C90-8CCA-9E47ED47C669}"/>
              </a:ext>
            </a:extLst>
          </p:cNvPr>
          <p:cNvSpPr>
            <a:spLocks xmlns:a="http://schemas.openxmlformats.org/drawingml/2006/main" noGrp="1"/>
          </p:cNvSpPr>
          <p:nvPr/>
        </p:nvSpPr>
        <p:spPr>
          <a:xfrm xmlns:a="http://schemas.openxmlformats.org/drawingml/2006/main">
            <a:off x="914400" y="6758940"/>
            <a:ext cx="2362200" cy="373380"/>
          </a:xfrm>
          <a:prstGeom xmlns:a="http://schemas.openxmlformats.org/drawingml/2006/main" prst="roundRect">
            <a:avLst>
              <a:gd name="adj" fmla="val 10204"/>
            </a:avLst>
          </a:prstGeom>
          <a:solidFill xmlns:a="http://schemas.openxmlformats.org/drawingml/2006/main">
            <a:srgbClr val="ACD4F1"/>
          </a:solidFill>
          <a:ln xmlns:a="http://schemas.openxmlformats.org/drawingml/2006/main" w="0">
            <a:noFill/>
          </a:ln>
        </p:spPr>
      </p:sp>
      <p:sp>
        <p:nvSpPr>
          <p:cNvPr id="77" name="Sequence-verified DNA">
            <a:extLst xmlns:a="http://schemas.openxmlformats.org/drawingml/2006/main">
              <a:ext uri="{FF2B5EF4-FFF2-40B4-BE49-F238E27FC236}">
                <a16:creationId xmlns:a16="http://schemas.microsoft.com/office/drawing/2014/main" id="{7D9EE63F-4420-434F-AACD-86BA6D982098}"/>
              </a:ext>
            </a:extLst>
          </p:cNvPr>
          <p:cNvSpPr>
            <a:spLocks xmlns:a="http://schemas.openxmlformats.org/drawingml/2006/main" noGrp="1"/>
          </p:cNvSpPr>
          <p:nvPr/>
        </p:nvSpPr>
        <p:spPr>
          <a:xfrm xmlns:a="http://schemas.openxmlformats.org/drawingml/2006/main">
            <a:off x="982980" y="6858000"/>
            <a:ext cx="222504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Sequence-verified DNA</a:t>
            </a:r>
          </a:p>
        </p:txBody>
      </p:sp>
      <p:sp>
        <p:nvSpPr>
          <p:cNvPr id="78" name="Diagram path">
            <a:extLst xmlns:a="http://schemas.openxmlformats.org/drawingml/2006/main">
              <a:ext uri="{FF2B5EF4-FFF2-40B4-BE49-F238E27FC236}">
                <a16:creationId xmlns:a16="http://schemas.microsoft.com/office/drawing/2014/main" id="{60F0F0EE-72F9-4F67-B976-4D73B702C99D}"/>
              </a:ext>
            </a:extLst>
          </p:cNvPr>
          <p:cNvSpPr>
            <a:spLocks xmlns:a="http://schemas.openxmlformats.org/drawingml/2006/main" noGrp="1"/>
          </p:cNvSpPr>
          <p:nvPr/>
        </p:nvSpPr>
        <p:spPr>
          <a:xfrm xmlns:a="http://schemas.openxmlformats.org/drawingml/2006/main">
            <a:off x="929640" y="7284720"/>
            <a:ext cx="2331720" cy="762"/>
          </a:xfrm>
          <a:custGeom xmlns:a="http://schemas.openxmlformats.org/drawingml/2006/main">
            <a:pathLst>
              <a:path w="2331720" h="762">
                <a:moveTo>
                  <a:pt x="0" y="0"/>
                </a:moveTo>
                <a:lnTo>
                  <a:pt x="2331720" y="0"/>
                </a:lnTo>
              </a:path>
            </a:pathLst>
          </a:custGeom>
          <a:noFill xmlns:a="http://schemas.openxmlformats.org/drawingml/2006/main"/>
          <a:ln xmlns:a="http://schemas.openxmlformats.org/drawingml/2006/main" w="7620">
            <a:solidFill>
              <a:srgbClr val="A5A5A5"/>
            </a:solidFill>
          </a:ln>
        </p:spPr>
      </p:sp>
      <p:sp>
        <p:nvSpPr>
          <p:cNvPr id="79" name="REPRESENTATIVE SUPPLIERS">
            <a:extLst xmlns:a="http://schemas.openxmlformats.org/drawingml/2006/main">
              <a:ext uri="{FF2B5EF4-FFF2-40B4-BE49-F238E27FC236}">
                <a16:creationId xmlns:a16="http://schemas.microsoft.com/office/drawing/2014/main" id="{003AB648-8BF7-4435-A6FE-E50962E98F03}"/>
              </a:ext>
            </a:extLst>
          </p:cNvPr>
          <p:cNvSpPr>
            <a:spLocks xmlns:a="http://schemas.openxmlformats.org/drawingml/2006/main" noGrp="1"/>
          </p:cNvSpPr>
          <p:nvPr/>
        </p:nvSpPr>
        <p:spPr>
          <a:xfrm xmlns:a="http://schemas.openxmlformats.org/drawingml/2006/main">
            <a:off x="929640" y="7437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00355F"/>
                </a:solidFill>
                <a:latin typeface="Arial"/>
                <a:ea typeface="Arial"/>
                <a:cs typeface="Arial"/>
              </a:defRPr>
            </a:defPPr>
          </a:lstStyle>
          <a:p xmlns:a="http://schemas.openxmlformats.org/drawingml/2006/main">
            <a:pPr algn="l">
              <a:lnSpc>
                <a:spcPct val="100000"/>
              </a:lnSpc>
              <a:buNone/>
              <a:defRPr sz="900" b="1">
                <a:solidFill>
                  <a:srgbClr val="00355F"/>
                </a:solidFill>
                <a:latin typeface="Arial"/>
                <a:ea typeface="Arial"/>
                <a:cs typeface="Arial"/>
              </a:defRPr>
            </a:pPr>
            <a:r>
              <a:rPr sz="900" b="1">
                <a:solidFill>
                  <a:srgbClr val="00355F"/>
                </a:solidFill>
                <a:latin typeface="Arial"/>
                <a:ea typeface="Arial"/>
                <a:cs typeface="Arial"/>
              </a:rPr>
              <a:t>REPRESENTATIVE SUPPLIERS</a:t>
            </a:r>
          </a:p>
        </p:txBody>
      </p:sp>
      <p:sp>
        <p:nvSpPr>
          <p:cNvPr id="80" name="DNA + enzymes">
            <a:extLst xmlns:a="http://schemas.openxmlformats.org/drawingml/2006/main">
              <a:ext uri="{FF2B5EF4-FFF2-40B4-BE49-F238E27FC236}">
                <a16:creationId xmlns:a16="http://schemas.microsoft.com/office/drawing/2014/main" id="{CE839BFF-B1EF-4441-AC89-0737BB1B12C2}"/>
              </a:ext>
            </a:extLst>
          </p:cNvPr>
          <p:cNvSpPr>
            <a:spLocks xmlns:a="http://schemas.openxmlformats.org/drawingml/2006/main" noGrp="1"/>
          </p:cNvSpPr>
          <p:nvPr/>
        </p:nvSpPr>
        <p:spPr>
          <a:xfrm xmlns:a="http://schemas.openxmlformats.org/drawingml/2006/main">
            <a:off x="929640" y="77038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DNA + enzymes</a:t>
            </a:r>
          </a:p>
        </p:txBody>
      </p:sp>
      <p:sp>
        <p:nvSpPr>
          <p:cNvPr id="81" name="Twist · GenScript · Vazyme">
            <a:extLst xmlns:a="http://schemas.openxmlformats.org/drawingml/2006/main">
              <a:ext uri="{FF2B5EF4-FFF2-40B4-BE49-F238E27FC236}">
                <a16:creationId xmlns:a16="http://schemas.microsoft.com/office/drawing/2014/main" id="{FD12126E-2530-45D6-8B1D-48A521A8A5EE}"/>
              </a:ext>
            </a:extLst>
          </p:cNvPr>
          <p:cNvSpPr>
            <a:spLocks xmlns:a="http://schemas.openxmlformats.org/drawingml/2006/main" noGrp="1"/>
          </p:cNvSpPr>
          <p:nvPr/>
        </p:nvSpPr>
        <p:spPr>
          <a:xfrm xmlns:a="http://schemas.openxmlformats.org/drawingml/2006/main">
            <a:off x="929640" y="78714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Twist · GenScript · Vazyme</a:t>
            </a:r>
          </a:p>
        </p:txBody>
      </p:sp>
      <p:sp>
        <p:nvSpPr>
          <p:cNvPr id="82" name="Liquid handling / PCR">
            <a:extLst xmlns:a="http://schemas.openxmlformats.org/drawingml/2006/main">
              <a:ext uri="{FF2B5EF4-FFF2-40B4-BE49-F238E27FC236}">
                <a16:creationId xmlns:a16="http://schemas.microsoft.com/office/drawing/2014/main" id="{A257D386-52CC-4F1C-891D-C91E6207804D}"/>
              </a:ext>
            </a:extLst>
          </p:cNvPr>
          <p:cNvSpPr>
            <a:spLocks xmlns:a="http://schemas.openxmlformats.org/drawingml/2006/main" noGrp="1"/>
          </p:cNvSpPr>
          <p:nvPr/>
        </p:nvSpPr>
        <p:spPr>
          <a:xfrm xmlns:a="http://schemas.openxmlformats.org/drawingml/2006/main">
            <a:off x="929640" y="81229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Liquid handling / PCR</a:t>
            </a:r>
          </a:p>
        </p:txBody>
      </p:sp>
      <p:sp>
        <p:nvSpPr>
          <p:cNvPr id="83" name="Tecan · Hamilton · Thermo Fisher">
            <a:extLst xmlns:a="http://schemas.openxmlformats.org/drawingml/2006/main">
              <a:ext uri="{FF2B5EF4-FFF2-40B4-BE49-F238E27FC236}">
                <a16:creationId xmlns:a16="http://schemas.microsoft.com/office/drawing/2014/main" id="{8C734E61-B753-486F-AFD4-8C95EBFE250D}"/>
              </a:ext>
            </a:extLst>
          </p:cNvPr>
          <p:cNvSpPr>
            <a:spLocks xmlns:a="http://schemas.openxmlformats.org/drawingml/2006/main" noGrp="1"/>
          </p:cNvSpPr>
          <p:nvPr/>
        </p:nvSpPr>
        <p:spPr>
          <a:xfrm xmlns:a="http://schemas.openxmlformats.org/drawingml/2006/main">
            <a:off x="929640" y="82905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Tecan · Hamilton · Thermo Fisher</a:t>
            </a:r>
          </a:p>
        </p:txBody>
      </p:sp>
      <p:sp>
        <p:nvSpPr>
          <p:cNvPr id="84" name="Diagram path">
            <a:extLst xmlns:a="http://schemas.openxmlformats.org/drawingml/2006/main">
              <a:ext uri="{FF2B5EF4-FFF2-40B4-BE49-F238E27FC236}">
                <a16:creationId xmlns:a16="http://schemas.microsoft.com/office/drawing/2014/main" id="{D7AB9114-3C7D-4842-B86D-D823E2ADE4E7}"/>
              </a:ext>
            </a:extLst>
          </p:cNvPr>
          <p:cNvSpPr>
            <a:spLocks xmlns:a="http://schemas.openxmlformats.org/drawingml/2006/main" noGrp="1"/>
          </p:cNvSpPr>
          <p:nvPr/>
        </p:nvSpPr>
        <p:spPr>
          <a:xfrm xmlns:a="http://schemas.openxmlformats.org/drawingml/2006/main">
            <a:off x="3444240" y="5090160"/>
            <a:ext cx="114300" cy="762"/>
          </a:xfrm>
          <a:custGeom xmlns:a="http://schemas.openxmlformats.org/drawingml/2006/main">
            <a:pathLst>
              <a:path w="114300" h="762">
                <a:moveTo>
                  <a:pt x="0" y="0"/>
                </a:moveTo>
                <a:lnTo>
                  <a:pt x="114300" y="0"/>
                </a:lnTo>
              </a:path>
            </a:pathLst>
          </a:custGeom>
          <a:noFill xmlns:a="http://schemas.openxmlformats.org/drawingml/2006/main"/>
          <a:ln xmlns:a="http://schemas.openxmlformats.org/drawingml/2006/main" w="15240">
            <a:solidFill>
              <a:srgbClr val="00355F"/>
            </a:solidFill>
          </a:ln>
        </p:spPr>
      </p:sp>
      <p:sp>
        <p:nvSpPr>
          <p:cNvPr id="85" name="Diagram path">
            <a:extLst xmlns:a="http://schemas.openxmlformats.org/drawingml/2006/main">
              <a:ext uri="{FF2B5EF4-FFF2-40B4-BE49-F238E27FC236}">
                <a16:creationId xmlns:a16="http://schemas.microsoft.com/office/drawing/2014/main" id="{53F597BE-448E-467C-85AE-EC7183C30597}"/>
              </a:ext>
            </a:extLst>
          </p:cNvPr>
          <p:cNvSpPr>
            <a:spLocks xmlns:a="http://schemas.openxmlformats.org/drawingml/2006/main" noGrp="1"/>
          </p:cNvSpPr>
          <p:nvPr/>
        </p:nvSpPr>
        <p:spPr>
          <a:xfrm xmlns:a="http://schemas.openxmlformats.org/drawingml/2006/main">
            <a:off x="3500074" y="505431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00355F"/>
          </a:solidFill>
          <a:ln xmlns:a="http://schemas.openxmlformats.org/drawingml/2006/main" w="0">
            <a:noFill/>
          </a:ln>
        </p:spPr>
      </p:sp>
      <p:sp>
        <p:nvSpPr>
          <p:cNvPr id="86" name="Flat experiment component">
            <a:extLst xmlns:a="http://schemas.openxmlformats.org/drawingml/2006/main">
              <a:ext uri="{FF2B5EF4-FFF2-40B4-BE49-F238E27FC236}">
                <a16:creationId xmlns:a16="http://schemas.microsoft.com/office/drawing/2014/main" id="{33F5FD10-1F87-44AF-B5BF-3D25E13A4AF6}"/>
              </a:ext>
            </a:extLst>
          </p:cNvPr>
          <p:cNvSpPr>
            <a:spLocks xmlns:a="http://schemas.openxmlformats.org/drawingml/2006/main" noGrp="1"/>
          </p:cNvSpPr>
          <p:nvPr/>
        </p:nvSpPr>
        <p:spPr>
          <a:xfrm xmlns:a="http://schemas.openxmlformats.org/drawingml/2006/main">
            <a:off x="3581400" y="2179320"/>
            <a:ext cx="2667000" cy="6477000"/>
          </a:xfrm>
          <a:prstGeom xmlns:a="http://schemas.openxmlformats.org/drawingml/2006/main" prst="roundRect">
            <a:avLst>
              <a:gd name="adj" fmla="val 3714"/>
            </a:avLst>
          </a:prstGeom>
          <a:solidFill xmlns:a="http://schemas.openxmlformats.org/drawingml/2006/main">
            <a:srgbClr val="FFFFFF"/>
          </a:solidFill>
          <a:ln xmlns:a="http://schemas.openxmlformats.org/drawingml/2006/main" w="11430">
            <a:solidFill>
              <a:srgbClr val="A5A5A5"/>
            </a:solidFill>
          </a:ln>
        </p:spPr>
      </p:sp>
      <p:sp>
        <p:nvSpPr>
          <p:cNvPr id="87" name="Flat experiment component">
            <a:extLst xmlns:a="http://schemas.openxmlformats.org/drawingml/2006/main">
              <a:ext uri="{FF2B5EF4-FFF2-40B4-BE49-F238E27FC236}">
                <a16:creationId xmlns:a16="http://schemas.microsoft.com/office/drawing/2014/main" id="{8B1C73D9-573E-4E12-ACEF-5E8465E9793D}"/>
              </a:ext>
            </a:extLst>
          </p:cNvPr>
          <p:cNvSpPr>
            <a:spLocks xmlns:a="http://schemas.openxmlformats.org/drawingml/2006/main" noGrp="1"/>
          </p:cNvSpPr>
          <p:nvPr/>
        </p:nvSpPr>
        <p:spPr>
          <a:xfrm xmlns:a="http://schemas.openxmlformats.org/drawingml/2006/main">
            <a:off x="3581400" y="2179320"/>
            <a:ext cx="2667000" cy="68580"/>
          </a:xfrm>
          <a:prstGeom xmlns:a="http://schemas.openxmlformats.org/drawingml/2006/main" prst="rect">
            <a:avLst/>
          </a:prstGeom>
          <a:solidFill xmlns:a="http://schemas.openxmlformats.org/drawingml/2006/main">
            <a:srgbClr val="00355F"/>
          </a:solidFill>
          <a:ln xmlns:a="http://schemas.openxmlformats.org/drawingml/2006/main" w="0">
            <a:noFill/>
          </a:ln>
        </p:spPr>
      </p:sp>
      <p:sp>
        <p:nvSpPr>
          <p:cNvPr id="88" name="02 / BUILD">
            <a:extLst xmlns:a="http://schemas.openxmlformats.org/drawingml/2006/main">
              <a:ext uri="{FF2B5EF4-FFF2-40B4-BE49-F238E27FC236}">
                <a16:creationId xmlns:a16="http://schemas.microsoft.com/office/drawing/2014/main" id="{78A71C1D-F897-4181-8AB0-33FAADCBDE9B}"/>
              </a:ext>
            </a:extLst>
          </p:cNvPr>
          <p:cNvSpPr>
            <a:spLocks xmlns:a="http://schemas.openxmlformats.org/drawingml/2006/main" noGrp="1"/>
          </p:cNvSpPr>
          <p:nvPr/>
        </p:nvSpPr>
        <p:spPr>
          <a:xfrm xmlns:a="http://schemas.openxmlformats.org/drawingml/2006/main">
            <a:off x="3749040" y="2385060"/>
            <a:ext cx="233172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02 / BUILD</a:t>
            </a:r>
          </a:p>
        </p:txBody>
      </p:sp>
      <p:sp>
        <p:nvSpPr>
          <p:cNvPr id="89" name="Protein expression">
            <a:extLst xmlns:a="http://schemas.openxmlformats.org/drawingml/2006/main">
              <a:ext uri="{FF2B5EF4-FFF2-40B4-BE49-F238E27FC236}">
                <a16:creationId xmlns:a16="http://schemas.microsoft.com/office/drawing/2014/main" id="{778FD4EE-91E4-476C-9F31-95E553F4BD67}"/>
              </a:ext>
            </a:extLst>
          </p:cNvPr>
          <p:cNvSpPr>
            <a:spLocks xmlns:a="http://schemas.openxmlformats.org/drawingml/2006/main" noGrp="1"/>
          </p:cNvSpPr>
          <p:nvPr/>
        </p:nvSpPr>
        <p:spPr>
          <a:xfrm xmlns:a="http://schemas.openxmlformats.org/drawingml/2006/main">
            <a:off x="3749040" y="2697480"/>
            <a:ext cx="233172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Protein expression</a:t>
            </a:r>
          </a:p>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&amp; purification</a:t>
            </a:r>
          </a:p>
        </p:txBody>
      </p:sp>
      <p:sp>
        <p:nvSpPr>
          <p:cNvPr id="90" name="Express the protein, purify it">
            <a:extLst xmlns:a="http://schemas.openxmlformats.org/drawingml/2006/main">
              <a:ext uri="{FF2B5EF4-FFF2-40B4-BE49-F238E27FC236}">
                <a16:creationId xmlns:a16="http://schemas.microsoft.com/office/drawing/2014/main" id="{3EC6941F-08A5-4841-92F8-1029849551D2}"/>
              </a:ext>
            </a:extLst>
          </p:cNvPr>
          <p:cNvSpPr>
            <a:spLocks xmlns:a="http://schemas.openxmlformats.org/drawingml/2006/main" noGrp="1"/>
          </p:cNvSpPr>
          <p:nvPr/>
        </p:nvSpPr>
        <p:spPr>
          <a:xfrm xmlns:a="http://schemas.openxmlformats.org/drawingml/2006/main">
            <a:off x="3749040" y="3329940"/>
            <a:ext cx="233172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Express the protein, purify it</a:t>
            </a:r>
          </a:p>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and check sample quality</a:t>
            </a:r>
          </a:p>
        </p:txBody>
      </p:sp>
      <p:sp>
        <p:nvSpPr>
          <p:cNvPr id="91" name="Flat experiment component">
            <a:extLst xmlns:a="http://schemas.openxmlformats.org/drawingml/2006/main">
              <a:ext uri="{FF2B5EF4-FFF2-40B4-BE49-F238E27FC236}">
                <a16:creationId xmlns:a16="http://schemas.microsoft.com/office/drawing/2014/main" id="{6C3AAD2B-0896-4AA4-BCA9-2DDF0897259E}"/>
              </a:ext>
            </a:extLst>
          </p:cNvPr>
          <p:cNvSpPr>
            <a:spLocks xmlns:a="http://schemas.openxmlformats.org/drawingml/2006/main" noGrp="1"/>
          </p:cNvSpPr>
          <p:nvPr/>
        </p:nvSpPr>
        <p:spPr>
          <a:xfrm xmlns:a="http://schemas.openxmlformats.org/drawingml/2006/main">
            <a:off x="3688080" y="3924300"/>
            <a:ext cx="2453640" cy="2682240"/>
          </a:xfrm>
          <a:prstGeom xmlns:a="http://schemas.openxmlformats.org/drawingml/2006/main" prst="roundRect">
            <a:avLst>
              <a:gd name="adj" fmla="val 3106"/>
            </a:avLst>
          </a:prstGeom>
          <a:solidFill xmlns:a="http://schemas.openxmlformats.org/drawingml/2006/main">
            <a:srgbClr val="F0F7FC"/>
          </a:solidFill>
          <a:ln xmlns:a="http://schemas.openxmlformats.org/drawingml/2006/main" w="0">
            <a:noFill/>
          </a:ln>
        </p:spPr>
      </p:sp>
      <p:sp>
        <p:nvSpPr>
          <p:cNvPr id="92" name="Diagram path">
            <a:extLst xmlns:a="http://schemas.openxmlformats.org/drawingml/2006/main">
              <a:ext uri="{FF2B5EF4-FFF2-40B4-BE49-F238E27FC236}">
                <a16:creationId xmlns:a16="http://schemas.microsoft.com/office/drawing/2014/main" id="{0CDFF02E-C08F-49C2-AF51-00F6C2D034DD}"/>
              </a:ext>
            </a:extLst>
          </p:cNvPr>
          <p:cNvSpPr>
            <a:spLocks xmlns:a="http://schemas.openxmlformats.org/drawingml/2006/main" noGrp="1"/>
          </p:cNvSpPr>
          <p:nvPr/>
        </p:nvSpPr>
        <p:spPr>
          <a:xfrm xmlns:a="http://schemas.openxmlformats.org/drawingml/2006/main">
            <a:off x="3889553" y="4152900"/>
            <a:ext cx="602894" cy="906780"/>
          </a:xfrm>
          <a:custGeom xmlns:a="http://schemas.openxmlformats.org/drawingml/2006/main">
            <a:pathLst>
              <a:path w="602894" h="906780">
                <a:moveTo>
                  <a:pt x="209702" y="0"/>
                </a:moveTo>
                <a:lnTo>
                  <a:pt x="399745" y="0"/>
                </a:lnTo>
                <a:lnTo>
                  <a:pt x="399745" y="253898"/>
                </a:lnTo>
                <a:lnTo>
                  <a:pt x="602894" y="797966"/>
                </a:lnTo>
                <a:lnTo>
                  <a:pt x="563575" y="906780"/>
                </a:lnTo>
                <a:lnTo>
                  <a:pt x="39319" y="906780"/>
                </a:lnTo>
                <a:lnTo>
                  <a:pt x="0" y="797966"/>
                </a:lnTo>
                <a:lnTo>
                  <a:pt x="209702" y="253898"/>
                </a:lnTo>
                <a:close/>
              </a:path>
            </a:pathLst>
          </a:custGeom>
          <a:solidFill xmlns:a="http://schemas.openxmlformats.org/drawingml/2006/main">
            <a:srgbClr val="FFFFFF"/>
          </a:solidFill>
          <a:ln xmlns:a="http://schemas.openxmlformats.org/drawingml/2006/main" w="19050">
            <a:solidFill>
              <a:srgbClr val="00355F"/>
            </a:solidFill>
          </a:ln>
        </p:spPr>
      </p:sp>
      <p:sp>
        <p:nvSpPr>
          <p:cNvPr id="93" name="Diagram path">
            <a:extLst xmlns:a="http://schemas.openxmlformats.org/drawingml/2006/main">
              <a:ext uri="{FF2B5EF4-FFF2-40B4-BE49-F238E27FC236}">
                <a16:creationId xmlns:a16="http://schemas.microsoft.com/office/drawing/2014/main" id="{E1CBE140-BEB3-435C-8EDD-0D5F3C8D8D7F}"/>
              </a:ext>
            </a:extLst>
          </p:cNvPr>
          <p:cNvSpPr>
            <a:spLocks xmlns:a="http://schemas.openxmlformats.org/drawingml/2006/main" noGrp="1"/>
          </p:cNvSpPr>
          <p:nvPr/>
        </p:nvSpPr>
        <p:spPr>
          <a:xfrm xmlns:a="http://schemas.openxmlformats.org/drawingml/2006/main">
            <a:off x="3915766" y="4724171"/>
            <a:ext cx="550469" cy="299237"/>
          </a:xfrm>
          <a:custGeom xmlns:a="http://schemas.openxmlformats.org/drawingml/2006/main">
            <a:pathLst>
              <a:path w="550469" h="299237">
                <a:moveTo>
                  <a:pt x="111404" y="0"/>
                </a:moveTo>
                <a:lnTo>
                  <a:pt x="445618" y="0"/>
                </a:lnTo>
                <a:lnTo>
                  <a:pt x="550469" y="244831"/>
                </a:lnTo>
                <a:lnTo>
                  <a:pt x="524256" y="299237"/>
                </a:lnTo>
                <a:lnTo>
                  <a:pt x="26213" y="299237"/>
                </a:lnTo>
                <a:lnTo>
                  <a:pt x="0" y="244831"/>
                </a:lnTo>
                <a:close/>
              </a:path>
            </a:pathLst>
          </a:custGeom>
          <a:solidFill xmlns:a="http://schemas.openxmlformats.org/drawingml/2006/main">
            <a:srgbClr val="ACD4F1"/>
          </a:solidFill>
          <a:ln xmlns:a="http://schemas.openxmlformats.org/drawingml/2006/main" w="0">
            <a:noFill/>
          </a:ln>
        </p:spPr>
      </p:sp>
      <p:sp>
        <p:nvSpPr>
          <p:cNvPr id="94" name="Flat experiment component">
            <a:extLst xmlns:a="http://schemas.openxmlformats.org/drawingml/2006/main">
              <a:ext uri="{FF2B5EF4-FFF2-40B4-BE49-F238E27FC236}">
                <a16:creationId xmlns:a16="http://schemas.microsoft.com/office/drawing/2014/main" id="{3ED1CF28-83AC-44E6-9C09-B5A0B64C809D}"/>
              </a:ext>
            </a:extLst>
          </p:cNvPr>
          <p:cNvSpPr>
            <a:spLocks xmlns:a="http://schemas.openxmlformats.org/drawingml/2006/main" noGrp="1"/>
          </p:cNvSpPr>
          <p:nvPr/>
        </p:nvSpPr>
        <p:spPr>
          <a:xfrm xmlns:a="http://schemas.openxmlformats.org/drawingml/2006/main">
            <a:off x="4066489" y="4091940"/>
            <a:ext cx="262128" cy="91440"/>
          </a:xfrm>
          <a:prstGeom xmlns:a="http://schemas.openxmlformats.org/drawingml/2006/main" prst="roundRect">
            <a:avLst>
              <a:gd name="adj" fmla="val 16667"/>
            </a:avLst>
          </a:prstGeom>
          <a:solidFill xmlns:a="http://schemas.openxmlformats.org/drawingml/2006/main">
            <a:srgbClr val="7399C6"/>
          </a:solidFill>
          <a:ln xmlns:a="http://schemas.openxmlformats.org/drawingml/2006/main" w="15240">
            <a:solidFill>
              <a:srgbClr val="00355F"/>
            </a:solidFill>
          </a:ln>
        </p:spPr>
      </p:sp>
      <p:sp>
        <p:nvSpPr>
          <p:cNvPr id="95" name="">
            <a:extLst xmlns:a="http://schemas.openxmlformats.org/drawingml/2006/main">
              <a:ext uri="{FF2B5EF4-FFF2-40B4-BE49-F238E27FC236}">
                <a16:creationId xmlns:a16="http://schemas.microsoft.com/office/drawing/2014/main" id="{A2F4512F-3538-46F4-BB53-84ACBB4D35B3}"/>
              </a:ext>
            </a:extLst>
          </p:cNvPr>
          <p:cNvSpPr>
            <a:spLocks xmlns:a="http://schemas.openxmlformats.org/drawingml/2006/main" noGrp="1"/>
          </p:cNvSpPr>
          <p:nvPr/>
        </p:nvSpPr>
        <p:spPr>
          <a:xfrm xmlns:a="http://schemas.openxmlformats.org/drawingml/2006/main">
            <a:off x="4055669" y="4829708"/>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96" name="">
            <a:extLst xmlns:a="http://schemas.openxmlformats.org/drawingml/2006/main">
              <a:ext uri="{FF2B5EF4-FFF2-40B4-BE49-F238E27FC236}">
                <a16:creationId xmlns:a16="http://schemas.microsoft.com/office/drawing/2014/main" id="{327CE179-65E5-42E3-821F-10494931D2D6}"/>
              </a:ext>
            </a:extLst>
          </p:cNvPr>
          <p:cNvSpPr>
            <a:spLocks xmlns:a="http://schemas.openxmlformats.org/drawingml/2006/main" noGrp="1"/>
          </p:cNvSpPr>
          <p:nvPr/>
        </p:nvSpPr>
        <p:spPr>
          <a:xfrm xmlns:a="http://schemas.openxmlformats.org/drawingml/2006/main">
            <a:off x="4232605" y="4875047"/>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97" name="">
            <a:extLst xmlns:a="http://schemas.openxmlformats.org/drawingml/2006/main">
              <a:ext uri="{FF2B5EF4-FFF2-40B4-BE49-F238E27FC236}">
                <a16:creationId xmlns:a16="http://schemas.microsoft.com/office/drawing/2014/main" id="{E8FFA4BF-7E99-40B9-A884-4E6EAC1FC30F}"/>
              </a:ext>
            </a:extLst>
          </p:cNvPr>
          <p:cNvSpPr>
            <a:spLocks xmlns:a="http://schemas.openxmlformats.org/drawingml/2006/main" noGrp="1"/>
          </p:cNvSpPr>
          <p:nvPr/>
        </p:nvSpPr>
        <p:spPr>
          <a:xfrm xmlns:a="http://schemas.openxmlformats.org/drawingml/2006/main">
            <a:off x="4140860" y="4929454"/>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98" name="">
            <a:extLst xmlns:a="http://schemas.openxmlformats.org/drawingml/2006/main">
              <a:ext uri="{FF2B5EF4-FFF2-40B4-BE49-F238E27FC236}">
                <a16:creationId xmlns:a16="http://schemas.microsoft.com/office/drawing/2014/main" id="{E4A1498A-346F-4F51-AC63-150575FCFD40}"/>
              </a:ext>
            </a:extLst>
          </p:cNvPr>
          <p:cNvSpPr>
            <a:spLocks xmlns:a="http://schemas.openxmlformats.org/drawingml/2006/main" noGrp="1"/>
          </p:cNvSpPr>
          <p:nvPr/>
        </p:nvSpPr>
        <p:spPr>
          <a:xfrm xmlns:a="http://schemas.openxmlformats.org/drawingml/2006/main">
            <a:off x="4278478" y="4775302"/>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99" name="Flat experiment component">
            <a:extLst xmlns:a="http://schemas.openxmlformats.org/drawingml/2006/main">
              <a:ext uri="{FF2B5EF4-FFF2-40B4-BE49-F238E27FC236}">
                <a16:creationId xmlns:a16="http://schemas.microsoft.com/office/drawing/2014/main" id="{52FD0EBB-26F5-47AD-B54B-CAF1CE7ECC4E}"/>
              </a:ext>
            </a:extLst>
          </p:cNvPr>
          <p:cNvSpPr>
            <a:spLocks xmlns:a="http://schemas.openxmlformats.org/drawingml/2006/main" noGrp="1"/>
          </p:cNvSpPr>
          <p:nvPr/>
        </p:nvSpPr>
        <p:spPr>
          <a:xfrm xmlns:a="http://schemas.openxmlformats.org/drawingml/2006/main">
            <a:off x="5090160" y="4221480"/>
            <a:ext cx="228600" cy="91440"/>
          </a:xfrm>
          <a:prstGeom xmlns:a="http://schemas.openxmlformats.org/drawingml/2006/main" prst="roundRect">
            <a:avLst>
              <a:gd name="adj" fmla="val 16667"/>
            </a:avLst>
          </a:prstGeom>
          <a:solidFill xmlns:a="http://schemas.openxmlformats.org/drawingml/2006/main">
            <a:srgbClr val="7399C6"/>
          </a:solidFill>
          <a:ln xmlns:a="http://schemas.openxmlformats.org/drawingml/2006/main" w="15240">
            <a:solidFill>
              <a:srgbClr val="00355F"/>
            </a:solidFill>
          </a:ln>
        </p:spPr>
      </p:sp>
      <p:sp>
        <p:nvSpPr>
          <p:cNvPr id="100" name="Flat experiment component">
            <a:extLst xmlns:a="http://schemas.openxmlformats.org/drawingml/2006/main">
              <a:ext uri="{FF2B5EF4-FFF2-40B4-BE49-F238E27FC236}">
                <a16:creationId xmlns:a16="http://schemas.microsoft.com/office/drawing/2014/main" id="{05ABC7E3-89F7-46E8-A568-780109911CAC}"/>
              </a:ext>
            </a:extLst>
          </p:cNvPr>
          <p:cNvSpPr>
            <a:spLocks xmlns:a="http://schemas.openxmlformats.org/drawingml/2006/main" noGrp="1"/>
          </p:cNvSpPr>
          <p:nvPr/>
        </p:nvSpPr>
        <p:spPr>
          <a:xfrm xmlns:a="http://schemas.openxmlformats.org/drawingml/2006/main">
            <a:off x="5044440" y="4312920"/>
            <a:ext cx="320040" cy="106680"/>
          </a:xfrm>
          <a:prstGeom xmlns:a="http://schemas.openxmlformats.org/drawingml/2006/main" prst="rect">
            <a:avLst/>
          </a:prstGeom>
          <a:solidFill xmlns:a="http://schemas.openxmlformats.org/drawingml/2006/main">
            <a:srgbClr val="FFFFFF"/>
          </a:solidFill>
          <a:ln xmlns:a="http://schemas.openxmlformats.org/drawingml/2006/main" w="15240">
            <a:solidFill>
              <a:srgbClr val="00355F"/>
            </a:solidFill>
          </a:ln>
        </p:spPr>
      </p:sp>
      <p:sp>
        <p:nvSpPr>
          <p:cNvPr id="101" name="Flat experiment component">
            <a:extLst xmlns:a="http://schemas.openxmlformats.org/drawingml/2006/main">
              <a:ext uri="{FF2B5EF4-FFF2-40B4-BE49-F238E27FC236}">
                <a16:creationId xmlns:a16="http://schemas.microsoft.com/office/drawing/2014/main" id="{8CAA6C41-7BA6-48DE-A324-1BB77ECF5417}"/>
              </a:ext>
            </a:extLst>
          </p:cNvPr>
          <p:cNvSpPr>
            <a:spLocks xmlns:a="http://schemas.openxmlformats.org/drawingml/2006/main" noGrp="1"/>
          </p:cNvSpPr>
          <p:nvPr/>
        </p:nvSpPr>
        <p:spPr>
          <a:xfrm xmlns:a="http://schemas.openxmlformats.org/drawingml/2006/main">
            <a:off x="4991100" y="4411980"/>
            <a:ext cx="426720" cy="594360"/>
          </a:xfrm>
          <a:prstGeom xmlns:a="http://schemas.openxmlformats.org/drawingml/2006/main" prst="roundRect">
            <a:avLst>
              <a:gd name="adj" fmla="val 8929"/>
            </a:avLst>
          </a:prstGeom>
          <a:solidFill xmlns:a="http://schemas.openxmlformats.org/drawingml/2006/main">
            <a:srgbClr val="FFFFFF"/>
          </a:solidFill>
          <a:ln xmlns:a="http://schemas.openxmlformats.org/drawingml/2006/main" w="15240">
            <a:solidFill>
              <a:srgbClr val="00355F"/>
            </a:solidFill>
          </a:ln>
        </p:spPr>
      </p:sp>
      <p:sp>
        <p:nvSpPr>
          <p:cNvPr id="102" name="Flat experiment component">
            <a:extLst xmlns:a="http://schemas.openxmlformats.org/drawingml/2006/main">
              <a:ext uri="{FF2B5EF4-FFF2-40B4-BE49-F238E27FC236}">
                <a16:creationId xmlns:a16="http://schemas.microsoft.com/office/drawing/2014/main" id="{BB7585A8-9BB5-46C6-9363-EFDFC68208C1}"/>
              </a:ext>
            </a:extLst>
          </p:cNvPr>
          <p:cNvSpPr>
            <a:spLocks xmlns:a="http://schemas.openxmlformats.org/drawingml/2006/main" noGrp="1"/>
          </p:cNvSpPr>
          <p:nvPr/>
        </p:nvSpPr>
        <p:spPr>
          <a:xfrm xmlns:a="http://schemas.openxmlformats.org/drawingml/2006/main">
            <a:off x="5021580" y="4610100"/>
            <a:ext cx="365760" cy="365760"/>
          </a:xfrm>
          <a:prstGeom xmlns:a="http://schemas.openxmlformats.org/drawingml/2006/main" prst="roundRect">
            <a:avLst>
              <a:gd name="adj" fmla="val 4167"/>
            </a:avLst>
          </a:prstGeom>
          <a:solidFill xmlns:a="http://schemas.openxmlformats.org/drawingml/2006/main">
            <a:srgbClr val="ACD4F1"/>
          </a:solidFill>
          <a:ln xmlns:a="http://schemas.openxmlformats.org/drawingml/2006/main" w="0">
            <a:noFill/>
          </a:ln>
        </p:spPr>
      </p:sp>
      <p:sp>
        <p:nvSpPr>
          <p:cNvPr id="103" name="Flat experiment component">
            <a:extLst xmlns:a="http://schemas.openxmlformats.org/drawingml/2006/main">
              <a:ext uri="{FF2B5EF4-FFF2-40B4-BE49-F238E27FC236}">
                <a16:creationId xmlns:a16="http://schemas.microsoft.com/office/drawing/2014/main" id="{5E49459B-5058-48E8-996C-69CC6122A15C}"/>
              </a:ext>
            </a:extLst>
          </p:cNvPr>
          <p:cNvSpPr>
            <a:spLocks xmlns:a="http://schemas.openxmlformats.org/drawingml/2006/main" noGrp="1"/>
          </p:cNvSpPr>
          <p:nvPr/>
        </p:nvSpPr>
        <p:spPr>
          <a:xfrm xmlns:a="http://schemas.openxmlformats.org/drawingml/2006/main">
            <a:off x="5052060" y="4564380"/>
            <a:ext cx="304800" cy="190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7620">
            <a:solidFill>
              <a:srgbClr val="7399C6"/>
            </a:solidFill>
          </a:ln>
        </p:spPr>
      </p:sp>
      <p:sp>
        <p:nvSpPr>
          <p:cNvPr id="104" name="MEDIA">
            <a:extLst xmlns:a="http://schemas.openxmlformats.org/drawingml/2006/main">
              <a:ext uri="{FF2B5EF4-FFF2-40B4-BE49-F238E27FC236}">
                <a16:creationId xmlns:a16="http://schemas.microsoft.com/office/drawing/2014/main" id="{D18EF0E8-641D-47CD-A642-E10CD059D3C5}"/>
              </a:ext>
            </a:extLst>
          </p:cNvPr>
          <p:cNvSpPr>
            <a:spLocks xmlns:a="http://schemas.openxmlformats.org/drawingml/2006/main" noGrp="1"/>
          </p:cNvSpPr>
          <p:nvPr/>
        </p:nvSpPr>
        <p:spPr>
          <a:xfrm xmlns:a="http://schemas.openxmlformats.org/drawingml/2006/main">
            <a:off x="5059680" y="4602480"/>
            <a:ext cx="28956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600" b="1">
                <a:solidFill>
                  <a:srgbClr val="00355F"/>
                </a:solidFill>
                <a:latin typeface="Arial"/>
                <a:ea typeface="Arial"/>
                <a:cs typeface="Arial"/>
              </a:defRPr>
            </a:defPPr>
          </a:lstStyle>
          <a:p xmlns:a="http://schemas.openxmlformats.org/drawingml/2006/main">
            <a:pPr algn="ctr">
              <a:lnSpc>
                <a:spcPct val="100000"/>
              </a:lnSpc>
              <a:buNone/>
              <a:defRPr sz="600" b="1">
                <a:solidFill>
                  <a:srgbClr val="00355F"/>
                </a:solidFill>
                <a:latin typeface="Arial"/>
                <a:ea typeface="Arial"/>
                <a:cs typeface="Arial"/>
              </a:defRPr>
            </a:pPr>
            <a:r>
              <a:rPr sz="600" b="1">
                <a:solidFill>
                  <a:srgbClr val="00355F"/>
                </a:solidFill>
                <a:latin typeface="Arial"/>
                <a:ea typeface="Arial"/>
                <a:cs typeface="Arial"/>
              </a:rPr>
              <a:t>MEDIA</a:t>
            </a:r>
          </a:p>
        </p:txBody>
      </p:sp>
      <p:sp>
        <p:nvSpPr>
          <p:cNvPr id="105" name="Diagram path">
            <a:extLst xmlns:a="http://schemas.openxmlformats.org/drawingml/2006/main">
              <a:ext uri="{FF2B5EF4-FFF2-40B4-BE49-F238E27FC236}">
                <a16:creationId xmlns:a16="http://schemas.microsoft.com/office/drawing/2014/main" id="{7738285C-161C-4F7C-90CC-42CCA0D9A313}"/>
              </a:ext>
            </a:extLst>
          </p:cNvPr>
          <p:cNvSpPr>
            <a:spLocks xmlns:a="http://schemas.openxmlformats.org/drawingml/2006/main" noGrp="1"/>
          </p:cNvSpPr>
          <p:nvPr/>
        </p:nvSpPr>
        <p:spPr>
          <a:xfrm xmlns:a="http://schemas.openxmlformats.org/drawingml/2006/main">
            <a:off x="4594860" y="4632960"/>
            <a:ext cx="289560" cy="762"/>
          </a:xfrm>
          <a:custGeom xmlns:a="http://schemas.openxmlformats.org/drawingml/2006/main">
            <a:pathLst>
              <a:path w="289560" h="762">
                <a:moveTo>
                  <a:pt x="289560" y="0"/>
                </a:moveTo>
                <a:lnTo>
                  <a:pt x="0" y="0"/>
                </a:lnTo>
              </a:path>
            </a:pathLst>
          </a:custGeom>
          <a:noFill xmlns:a="http://schemas.openxmlformats.org/drawingml/2006/main"/>
          <a:ln xmlns:a="http://schemas.openxmlformats.org/drawingml/2006/main" w="19050">
            <a:solidFill>
              <a:srgbClr val="7399C6"/>
            </a:solidFill>
          </a:ln>
        </p:spPr>
      </p:sp>
      <p:sp>
        <p:nvSpPr>
          <p:cNvPr id="106" name="Diagram path">
            <a:extLst xmlns:a="http://schemas.openxmlformats.org/drawingml/2006/main">
              <a:ext uri="{FF2B5EF4-FFF2-40B4-BE49-F238E27FC236}">
                <a16:creationId xmlns:a16="http://schemas.microsoft.com/office/drawing/2014/main" id="{CCA648A7-44CC-4CFE-81D1-42BACB4DFF22}"/>
              </a:ext>
            </a:extLst>
          </p:cNvPr>
          <p:cNvSpPr>
            <a:spLocks xmlns:a="http://schemas.openxmlformats.org/drawingml/2006/main" noGrp="1"/>
          </p:cNvSpPr>
          <p:nvPr/>
        </p:nvSpPr>
        <p:spPr>
          <a:xfrm xmlns:a="http://schemas.openxmlformats.org/drawingml/2006/main">
            <a:off x="4594860" y="4597114"/>
            <a:ext cx="58466" cy="71692"/>
          </a:xfrm>
          <a:custGeom xmlns:a="http://schemas.openxmlformats.org/drawingml/2006/main">
            <a:pathLst>
              <a:path w="58466" h="71692">
                <a:moveTo>
                  <a:pt x="0" y="35846"/>
                </a:moveTo>
                <a:lnTo>
                  <a:pt x="58466" y="0"/>
                </a:lnTo>
                <a:lnTo>
                  <a:pt x="58466" y="71692"/>
                </a:lnTo>
                <a:close/>
              </a:path>
            </a:pathLst>
          </a:custGeom>
          <a:solidFill xmlns:a="http://schemas.openxmlformats.org/drawingml/2006/main">
            <a:srgbClr val="7399C6"/>
          </a:solidFill>
          <a:ln xmlns:a="http://schemas.openxmlformats.org/drawingml/2006/main" w="0">
            <a:noFill/>
          </a:ln>
        </p:spPr>
      </p:sp>
      <p:sp>
        <p:nvSpPr>
          <p:cNvPr id="107" name="">
            <a:extLst xmlns:a="http://schemas.openxmlformats.org/drawingml/2006/main">
              <a:ext uri="{FF2B5EF4-FFF2-40B4-BE49-F238E27FC236}">
                <a16:creationId xmlns:a16="http://schemas.microsoft.com/office/drawing/2014/main" id="{C3C3FC02-9194-44C6-AD14-83144DFD089D}"/>
              </a:ext>
            </a:extLst>
          </p:cNvPr>
          <p:cNvSpPr>
            <a:spLocks xmlns:a="http://schemas.openxmlformats.org/drawingml/2006/main" noGrp="1"/>
          </p:cNvSpPr>
          <p:nvPr/>
        </p:nvSpPr>
        <p:spPr>
          <a:xfrm xmlns:a="http://schemas.openxmlformats.org/drawingml/2006/main">
            <a:off x="5604510" y="4560570"/>
            <a:ext cx="160020" cy="16002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08" name="">
            <a:extLst xmlns:a="http://schemas.openxmlformats.org/drawingml/2006/main">
              <a:ext uri="{FF2B5EF4-FFF2-40B4-BE49-F238E27FC236}">
                <a16:creationId xmlns:a16="http://schemas.microsoft.com/office/drawing/2014/main" id="{0662AEB9-18A6-48D3-869A-60CDDB5CE80C}"/>
              </a:ext>
            </a:extLst>
          </p:cNvPr>
          <p:cNvSpPr>
            <a:spLocks xmlns:a="http://schemas.openxmlformats.org/drawingml/2006/main" noGrp="1"/>
          </p:cNvSpPr>
          <p:nvPr/>
        </p:nvSpPr>
        <p:spPr>
          <a:xfrm xmlns:a="http://schemas.openxmlformats.org/drawingml/2006/main">
            <a:off x="5655945" y="4497705"/>
            <a:ext cx="194310" cy="19431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09" name="">
            <a:extLst xmlns:a="http://schemas.openxmlformats.org/drawingml/2006/main">
              <a:ext uri="{FF2B5EF4-FFF2-40B4-BE49-F238E27FC236}">
                <a16:creationId xmlns:a16="http://schemas.microsoft.com/office/drawing/2014/main" id="{EFDA86B0-7FDC-4D69-B285-3CB3BFB40BAA}"/>
              </a:ext>
            </a:extLst>
          </p:cNvPr>
          <p:cNvSpPr>
            <a:spLocks xmlns:a="http://schemas.openxmlformats.org/drawingml/2006/main" noGrp="1"/>
          </p:cNvSpPr>
          <p:nvPr/>
        </p:nvSpPr>
        <p:spPr>
          <a:xfrm xmlns:a="http://schemas.openxmlformats.org/drawingml/2006/main">
            <a:off x="5741670" y="4583430"/>
            <a:ext cx="160020" cy="16002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10" name="">
            <a:extLst xmlns:a="http://schemas.openxmlformats.org/drawingml/2006/main">
              <a:ext uri="{FF2B5EF4-FFF2-40B4-BE49-F238E27FC236}">
                <a16:creationId xmlns:a16="http://schemas.microsoft.com/office/drawing/2014/main" id="{2BB0F523-D4A0-4B27-8EC9-DA4175F2B363}"/>
              </a:ext>
            </a:extLst>
          </p:cNvPr>
          <p:cNvSpPr>
            <a:spLocks xmlns:a="http://schemas.openxmlformats.org/drawingml/2006/main" noGrp="1"/>
          </p:cNvSpPr>
          <p:nvPr/>
        </p:nvSpPr>
        <p:spPr>
          <a:xfrm xmlns:a="http://schemas.openxmlformats.org/drawingml/2006/main">
            <a:off x="5678805" y="4634865"/>
            <a:ext cx="148590" cy="14859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11" name="Expression · cells + media">
            <a:extLst xmlns:a="http://schemas.openxmlformats.org/drawingml/2006/main">
              <a:ext uri="{FF2B5EF4-FFF2-40B4-BE49-F238E27FC236}">
                <a16:creationId xmlns:a16="http://schemas.microsoft.com/office/drawing/2014/main" id="{A7FBB76D-382A-44DA-AA57-D44A83B49556}"/>
              </a:ext>
            </a:extLst>
          </p:cNvPr>
          <p:cNvSpPr>
            <a:spLocks xmlns:a="http://schemas.openxmlformats.org/drawingml/2006/main" noGrp="1"/>
          </p:cNvSpPr>
          <p:nvPr/>
        </p:nvSpPr>
        <p:spPr>
          <a:xfrm xmlns:a="http://schemas.openxmlformats.org/drawingml/2006/main">
            <a:off x="3756660" y="5158740"/>
            <a:ext cx="224790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Expression · cells + media</a:t>
            </a:r>
          </a:p>
        </p:txBody>
      </p:sp>
      <p:sp>
        <p:nvSpPr>
          <p:cNvPr id="112" name="Flat experiment component">
            <a:extLst xmlns:a="http://schemas.openxmlformats.org/drawingml/2006/main">
              <a:ext uri="{FF2B5EF4-FFF2-40B4-BE49-F238E27FC236}">
                <a16:creationId xmlns:a16="http://schemas.microsoft.com/office/drawing/2014/main" id="{6632FAEC-E800-447A-9E47-6791E8B9EFA3}"/>
              </a:ext>
            </a:extLst>
          </p:cNvPr>
          <p:cNvSpPr>
            <a:spLocks xmlns:a="http://schemas.openxmlformats.org/drawingml/2006/main" noGrp="1"/>
          </p:cNvSpPr>
          <p:nvPr/>
        </p:nvSpPr>
        <p:spPr>
          <a:xfrm xmlns:a="http://schemas.openxmlformats.org/drawingml/2006/main">
            <a:off x="4053840" y="5402580"/>
            <a:ext cx="144780" cy="106680"/>
          </a:xfrm>
          <a:prstGeom xmlns:a="http://schemas.openxmlformats.org/drawingml/2006/main" prst="roundRect">
            <a:avLst>
              <a:gd name="adj" fmla="val 14286"/>
            </a:avLst>
          </a:prstGeom>
          <a:solidFill xmlns:a="http://schemas.openxmlformats.org/drawingml/2006/main">
            <a:srgbClr val="7399C6"/>
          </a:solidFill>
          <a:ln xmlns:a="http://schemas.openxmlformats.org/drawingml/2006/main" w="15240">
            <a:solidFill>
              <a:srgbClr val="00355F"/>
            </a:solidFill>
          </a:ln>
        </p:spPr>
      </p:sp>
      <p:sp>
        <p:nvSpPr>
          <p:cNvPr id="113" name="Flat experiment component">
            <a:extLst xmlns:a="http://schemas.openxmlformats.org/drawingml/2006/main">
              <a:ext uri="{FF2B5EF4-FFF2-40B4-BE49-F238E27FC236}">
                <a16:creationId xmlns:a16="http://schemas.microsoft.com/office/drawing/2014/main" id="{B34F6532-D374-4060-9090-BC798102F764}"/>
              </a:ext>
            </a:extLst>
          </p:cNvPr>
          <p:cNvSpPr>
            <a:spLocks xmlns:a="http://schemas.openxmlformats.org/drawingml/2006/main" noGrp="1"/>
          </p:cNvSpPr>
          <p:nvPr/>
        </p:nvSpPr>
        <p:spPr>
          <a:xfrm xmlns:a="http://schemas.openxmlformats.org/drawingml/2006/main">
            <a:off x="3992880" y="5486400"/>
            <a:ext cx="266700" cy="75438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00355F"/>
            </a:solidFill>
          </a:ln>
        </p:spPr>
      </p:sp>
      <p:sp>
        <p:nvSpPr>
          <p:cNvPr id="114" name="Flat experiment component">
            <a:extLst xmlns:a="http://schemas.openxmlformats.org/drawingml/2006/main">
              <a:ext uri="{FF2B5EF4-FFF2-40B4-BE49-F238E27FC236}">
                <a16:creationId xmlns:a16="http://schemas.microsoft.com/office/drawing/2014/main" id="{366C603B-B127-40E2-9FD1-0AB962878131}"/>
              </a:ext>
            </a:extLst>
          </p:cNvPr>
          <p:cNvSpPr>
            <a:spLocks xmlns:a="http://schemas.openxmlformats.org/drawingml/2006/main" noGrp="1"/>
          </p:cNvSpPr>
          <p:nvPr/>
        </p:nvSpPr>
        <p:spPr>
          <a:xfrm xmlns:a="http://schemas.openxmlformats.org/drawingml/2006/main">
            <a:off x="4023360" y="5745480"/>
            <a:ext cx="205740" cy="396240"/>
          </a:xfrm>
          <a:prstGeom xmlns:a="http://schemas.openxmlformats.org/drawingml/2006/main" prst="rect">
            <a:avLst/>
          </a:prstGeom>
          <a:solidFill xmlns:a="http://schemas.openxmlformats.org/drawingml/2006/main">
            <a:srgbClr val="ACD4F1"/>
          </a:solidFill>
          <a:ln xmlns:a="http://schemas.openxmlformats.org/drawingml/2006/main" w="0">
            <a:noFill/>
          </a:ln>
        </p:spPr>
      </p:sp>
      <p:sp>
        <p:nvSpPr>
          <p:cNvPr id="115" name="">
            <a:extLst xmlns:a="http://schemas.openxmlformats.org/drawingml/2006/main">
              <a:ext uri="{FF2B5EF4-FFF2-40B4-BE49-F238E27FC236}">
                <a16:creationId xmlns:a16="http://schemas.microsoft.com/office/drawing/2014/main" id="{B6B5771E-0895-4ECD-AC50-57561E6A8CA9}"/>
              </a:ext>
            </a:extLst>
          </p:cNvPr>
          <p:cNvSpPr>
            <a:spLocks xmlns:a="http://schemas.openxmlformats.org/drawingml/2006/main" noGrp="1"/>
          </p:cNvSpPr>
          <p:nvPr/>
        </p:nvSpPr>
        <p:spPr>
          <a:xfrm xmlns:a="http://schemas.openxmlformats.org/drawingml/2006/main">
            <a:off x="4041648" y="57942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16" name="">
            <a:extLst xmlns:a="http://schemas.openxmlformats.org/drawingml/2006/main">
              <a:ext uri="{FF2B5EF4-FFF2-40B4-BE49-F238E27FC236}">
                <a16:creationId xmlns:a16="http://schemas.microsoft.com/office/drawing/2014/main" id="{DF10687C-62E1-4CBF-9306-4B02A9A5E3B9}"/>
              </a:ext>
            </a:extLst>
          </p:cNvPr>
          <p:cNvSpPr>
            <a:spLocks xmlns:a="http://schemas.openxmlformats.org/drawingml/2006/main" noGrp="1"/>
          </p:cNvSpPr>
          <p:nvPr/>
        </p:nvSpPr>
        <p:spPr>
          <a:xfrm xmlns:a="http://schemas.openxmlformats.org/drawingml/2006/main">
            <a:off x="4106418" y="57942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17" name="">
            <a:extLst xmlns:a="http://schemas.openxmlformats.org/drawingml/2006/main">
              <a:ext uri="{FF2B5EF4-FFF2-40B4-BE49-F238E27FC236}">
                <a16:creationId xmlns:a16="http://schemas.microsoft.com/office/drawing/2014/main" id="{1D6A7848-34C9-4FEF-9079-91948F8FD8EF}"/>
              </a:ext>
            </a:extLst>
          </p:cNvPr>
          <p:cNvSpPr>
            <a:spLocks xmlns:a="http://schemas.openxmlformats.org/drawingml/2006/main" noGrp="1"/>
          </p:cNvSpPr>
          <p:nvPr/>
        </p:nvSpPr>
        <p:spPr>
          <a:xfrm xmlns:a="http://schemas.openxmlformats.org/drawingml/2006/main">
            <a:off x="4171188" y="57942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18" name="">
            <a:extLst xmlns:a="http://schemas.openxmlformats.org/drawingml/2006/main">
              <a:ext uri="{FF2B5EF4-FFF2-40B4-BE49-F238E27FC236}">
                <a16:creationId xmlns:a16="http://schemas.microsoft.com/office/drawing/2014/main" id="{B3F297C6-142A-43C8-89E9-30D1357D8CA9}"/>
              </a:ext>
            </a:extLst>
          </p:cNvPr>
          <p:cNvSpPr>
            <a:spLocks xmlns:a="http://schemas.openxmlformats.org/drawingml/2006/main" noGrp="1"/>
          </p:cNvSpPr>
          <p:nvPr/>
        </p:nvSpPr>
        <p:spPr>
          <a:xfrm xmlns:a="http://schemas.openxmlformats.org/drawingml/2006/main">
            <a:off x="4041648" y="584631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19" name="">
            <a:extLst xmlns:a="http://schemas.openxmlformats.org/drawingml/2006/main">
              <a:ext uri="{FF2B5EF4-FFF2-40B4-BE49-F238E27FC236}">
                <a16:creationId xmlns:a16="http://schemas.microsoft.com/office/drawing/2014/main" id="{897BD158-8FB3-4FDE-ABBB-AC399D71FFD7}"/>
              </a:ext>
            </a:extLst>
          </p:cNvPr>
          <p:cNvSpPr>
            <a:spLocks xmlns:a="http://schemas.openxmlformats.org/drawingml/2006/main" noGrp="1"/>
          </p:cNvSpPr>
          <p:nvPr/>
        </p:nvSpPr>
        <p:spPr>
          <a:xfrm xmlns:a="http://schemas.openxmlformats.org/drawingml/2006/main">
            <a:off x="4106418" y="584631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0" name="">
            <a:extLst xmlns:a="http://schemas.openxmlformats.org/drawingml/2006/main">
              <a:ext uri="{FF2B5EF4-FFF2-40B4-BE49-F238E27FC236}">
                <a16:creationId xmlns:a16="http://schemas.microsoft.com/office/drawing/2014/main" id="{6D5538AD-F4D7-4EFE-B15C-3DA80FFFA714}"/>
              </a:ext>
            </a:extLst>
          </p:cNvPr>
          <p:cNvSpPr>
            <a:spLocks xmlns:a="http://schemas.openxmlformats.org/drawingml/2006/main" noGrp="1"/>
          </p:cNvSpPr>
          <p:nvPr/>
        </p:nvSpPr>
        <p:spPr>
          <a:xfrm xmlns:a="http://schemas.openxmlformats.org/drawingml/2006/main">
            <a:off x="4171188" y="584631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1" name="">
            <a:extLst xmlns:a="http://schemas.openxmlformats.org/drawingml/2006/main">
              <a:ext uri="{FF2B5EF4-FFF2-40B4-BE49-F238E27FC236}">
                <a16:creationId xmlns:a16="http://schemas.microsoft.com/office/drawing/2014/main" id="{60238884-D024-4E2E-A4BB-1550609E750E}"/>
              </a:ext>
            </a:extLst>
          </p:cNvPr>
          <p:cNvSpPr>
            <a:spLocks xmlns:a="http://schemas.openxmlformats.org/drawingml/2006/main" noGrp="1"/>
          </p:cNvSpPr>
          <p:nvPr/>
        </p:nvSpPr>
        <p:spPr>
          <a:xfrm xmlns:a="http://schemas.openxmlformats.org/drawingml/2006/main">
            <a:off x="4041648" y="589838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2" name="">
            <a:extLst xmlns:a="http://schemas.openxmlformats.org/drawingml/2006/main">
              <a:ext uri="{FF2B5EF4-FFF2-40B4-BE49-F238E27FC236}">
                <a16:creationId xmlns:a16="http://schemas.microsoft.com/office/drawing/2014/main" id="{6B27A7DE-6E00-4761-9225-091C68B9C68E}"/>
              </a:ext>
            </a:extLst>
          </p:cNvPr>
          <p:cNvSpPr>
            <a:spLocks xmlns:a="http://schemas.openxmlformats.org/drawingml/2006/main" noGrp="1"/>
          </p:cNvSpPr>
          <p:nvPr/>
        </p:nvSpPr>
        <p:spPr>
          <a:xfrm xmlns:a="http://schemas.openxmlformats.org/drawingml/2006/main">
            <a:off x="4106418" y="589838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3" name="">
            <a:extLst xmlns:a="http://schemas.openxmlformats.org/drawingml/2006/main">
              <a:ext uri="{FF2B5EF4-FFF2-40B4-BE49-F238E27FC236}">
                <a16:creationId xmlns:a16="http://schemas.microsoft.com/office/drawing/2014/main" id="{2363EA07-C1D4-45C9-ADD4-6EFFE9FA8442}"/>
              </a:ext>
            </a:extLst>
          </p:cNvPr>
          <p:cNvSpPr>
            <a:spLocks xmlns:a="http://schemas.openxmlformats.org/drawingml/2006/main" noGrp="1"/>
          </p:cNvSpPr>
          <p:nvPr/>
        </p:nvSpPr>
        <p:spPr>
          <a:xfrm xmlns:a="http://schemas.openxmlformats.org/drawingml/2006/main">
            <a:off x="4171188" y="589838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4" name="">
            <a:extLst xmlns:a="http://schemas.openxmlformats.org/drawingml/2006/main">
              <a:ext uri="{FF2B5EF4-FFF2-40B4-BE49-F238E27FC236}">
                <a16:creationId xmlns:a16="http://schemas.microsoft.com/office/drawing/2014/main" id="{72C64E99-FF93-4088-837E-0A59F1A8F422}"/>
              </a:ext>
            </a:extLst>
          </p:cNvPr>
          <p:cNvSpPr>
            <a:spLocks xmlns:a="http://schemas.openxmlformats.org/drawingml/2006/main" noGrp="1"/>
          </p:cNvSpPr>
          <p:nvPr/>
        </p:nvSpPr>
        <p:spPr>
          <a:xfrm xmlns:a="http://schemas.openxmlformats.org/drawingml/2006/main">
            <a:off x="4041648" y="595045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5" name="">
            <a:extLst xmlns:a="http://schemas.openxmlformats.org/drawingml/2006/main">
              <a:ext uri="{FF2B5EF4-FFF2-40B4-BE49-F238E27FC236}">
                <a16:creationId xmlns:a16="http://schemas.microsoft.com/office/drawing/2014/main" id="{6AE83595-608F-4743-BDD5-28AA1C2664D1}"/>
              </a:ext>
            </a:extLst>
          </p:cNvPr>
          <p:cNvSpPr>
            <a:spLocks xmlns:a="http://schemas.openxmlformats.org/drawingml/2006/main" noGrp="1"/>
          </p:cNvSpPr>
          <p:nvPr/>
        </p:nvSpPr>
        <p:spPr>
          <a:xfrm xmlns:a="http://schemas.openxmlformats.org/drawingml/2006/main">
            <a:off x="4106418" y="595045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6" name="">
            <a:extLst xmlns:a="http://schemas.openxmlformats.org/drawingml/2006/main">
              <a:ext uri="{FF2B5EF4-FFF2-40B4-BE49-F238E27FC236}">
                <a16:creationId xmlns:a16="http://schemas.microsoft.com/office/drawing/2014/main" id="{B97ECB60-B0BC-4971-9E84-606A26CE83A2}"/>
              </a:ext>
            </a:extLst>
          </p:cNvPr>
          <p:cNvSpPr>
            <a:spLocks xmlns:a="http://schemas.openxmlformats.org/drawingml/2006/main" noGrp="1"/>
          </p:cNvSpPr>
          <p:nvPr/>
        </p:nvSpPr>
        <p:spPr>
          <a:xfrm xmlns:a="http://schemas.openxmlformats.org/drawingml/2006/main">
            <a:off x="4171188" y="595045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7" name="">
            <a:extLst xmlns:a="http://schemas.openxmlformats.org/drawingml/2006/main">
              <a:ext uri="{FF2B5EF4-FFF2-40B4-BE49-F238E27FC236}">
                <a16:creationId xmlns:a16="http://schemas.microsoft.com/office/drawing/2014/main" id="{A49083AB-C62C-41C9-A962-79E0DABC23F7}"/>
              </a:ext>
            </a:extLst>
          </p:cNvPr>
          <p:cNvSpPr>
            <a:spLocks xmlns:a="http://schemas.openxmlformats.org/drawingml/2006/main" noGrp="1"/>
          </p:cNvSpPr>
          <p:nvPr/>
        </p:nvSpPr>
        <p:spPr>
          <a:xfrm xmlns:a="http://schemas.openxmlformats.org/drawingml/2006/main">
            <a:off x="4041648" y="600252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8" name="">
            <a:extLst xmlns:a="http://schemas.openxmlformats.org/drawingml/2006/main">
              <a:ext uri="{FF2B5EF4-FFF2-40B4-BE49-F238E27FC236}">
                <a16:creationId xmlns:a16="http://schemas.microsoft.com/office/drawing/2014/main" id="{CB73CEF4-3741-4A18-A5DB-9DBD659D5B9E}"/>
              </a:ext>
            </a:extLst>
          </p:cNvPr>
          <p:cNvSpPr>
            <a:spLocks xmlns:a="http://schemas.openxmlformats.org/drawingml/2006/main" noGrp="1"/>
          </p:cNvSpPr>
          <p:nvPr/>
        </p:nvSpPr>
        <p:spPr>
          <a:xfrm xmlns:a="http://schemas.openxmlformats.org/drawingml/2006/main">
            <a:off x="4106418" y="600252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29" name="">
            <a:extLst xmlns:a="http://schemas.openxmlformats.org/drawingml/2006/main">
              <a:ext uri="{FF2B5EF4-FFF2-40B4-BE49-F238E27FC236}">
                <a16:creationId xmlns:a16="http://schemas.microsoft.com/office/drawing/2014/main" id="{41BB9010-2AC2-4F90-A4A4-A217ECD3912B}"/>
              </a:ext>
            </a:extLst>
          </p:cNvPr>
          <p:cNvSpPr>
            <a:spLocks xmlns:a="http://schemas.openxmlformats.org/drawingml/2006/main" noGrp="1"/>
          </p:cNvSpPr>
          <p:nvPr/>
        </p:nvSpPr>
        <p:spPr>
          <a:xfrm xmlns:a="http://schemas.openxmlformats.org/drawingml/2006/main">
            <a:off x="4171188" y="600252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0" name="">
            <a:extLst xmlns:a="http://schemas.openxmlformats.org/drawingml/2006/main">
              <a:ext uri="{FF2B5EF4-FFF2-40B4-BE49-F238E27FC236}">
                <a16:creationId xmlns:a16="http://schemas.microsoft.com/office/drawing/2014/main" id="{A2E9FF49-0CEA-4CF4-AC7C-1EBE5EE88C3D}"/>
              </a:ext>
            </a:extLst>
          </p:cNvPr>
          <p:cNvSpPr>
            <a:spLocks xmlns:a="http://schemas.openxmlformats.org/drawingml/2006/main" noGrp="1"/>
          </p:cNvSpPr>
          <p:nvPr/>
        </p:nvSpPr>
        <p:spPr>
          <a:xfrm xmlns:a="http://schemas.openxmlformats.org/drawingml/2006/main">
            <a:off x="4041648" y="605459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1" name="">
            <a:extLst xmlns:a="http://schemas.openxmlformats.org/drawingml/2006/main">
              <a:ext uri="{FF2B5EF4-FFF2-40B4-BE49-F238E27FC236}">
                <a16:creationId xmlns:a16="http://schemas.microsoft.com/office/drawing/2014/main" id="{EA4A5949-EABD-4ECB-B21B-BE4B69AFEB10}"/>
              </a:ext>
            </a:extLst>
          </p:cNvPr>
          <p:cNvSpPr>
            <a:spLocks xmlns:a="http://schemas.openxmlformats.org/drawingml/2006/main" noGrp="1"/>
          </p:cNvSpPr>
          <p:nvPr/>
        </p:nvSpPr>
        <p:spPr>
          <a:xfrm xmlns:a="http://schemas.openxmlformats.org/drawingml/2006/main">
            <a:off x="4106418" y="605459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2" name="">
            <a:extLst xmlns:a="http://schemas.openxmlformats.org/drawingml/2006/main">
              <a:ext uri="{FF2B5EF4-FFF2-40B4-BE49-F238E27FC236}">
                <a16:creationId xmlns:a16="http://schemas.microsoft.com/office/drawing/2014/main" id="{445BA8E5-C292-4AF4-B3B1-069D951746B3}"/>
              </a:ext>
            </a:extLst>
          </p:cNvPr>
          <p:cNvSpPr>
            <a:spLocks xmlns:a="http://schemas.openxmlformats.org/drawingml/2006/main" noGrp="1"/>
          </p:cNvSpPr>
          <p:nvPr/>
        </p:nvSpPr>
        <p:spPr>
          <a:xfrm xmlns:a="http://schemas.openxmlformats.org/drawingml/2006/main">
            <a:off x="4171188" y="605459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3" name="">
            <a:extLst xmlns:a="http://schemas.openxmlformats.org/drawingml/2006/main">
              <a:ext uri="{FF2B5EF4-FFF2-40B4-BE49-F238E27FC236}">
                <a16:creationId xmlns:a16="http://schemas.microsoft.com/office/drawing/2014/main" id="{4815ABEC-9E99-4475-A52E-848042443D6A}"/>
              </a:ext>
            </a:extLst>
          </p:cNvPr>
          <p:cNvSpPr>
            <a:spLocks xmlns:a="http://schemas.openxmlformats.org/drawingml/2006/main" noGrp="1"/>
          </p:cNvSpPr>
          <p:nvPr/>
        </p:nvSpPr>
        <p:spPr>
          <a:xfrm xmlns:a="http://schemas.openxmlformats.org/drawingml/2006/main">
            <a:off x="4041648" y="610666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4" name="">
            <a:extLst xmlns:a="http://schemas.openxmlformats.org/drawingml/2006/main">
              <a:ext uri="{FF2B5EF4-FFF2-40B4-BE49-F238E27FC236}">
                <a16:creationId xmlns:a16="http://schemas.microsoft.com/office/drawing/2014/main" id="{E465FA55-0DB1-47CA-8428-45A3F9FB83B5}"/>
              </a:ext>
            </a:extLst>
          </p:cNvPr>
          <p:cNvSpPr>
            <a:spLocks xmlns:a="http://schemas.openxmlformats.org/drawingml/2006/main" noGrp="1"/>
          </p:cNvSpPr>
          <p:nvPr/>
        </p:nvSpPr>
        <p:spPr>
          <a:xfrm xmlns:a="http://schemas.openxmlformats.org/drawingml/2006/main">
            <a:off x="4106418" y="610666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5" name="">
            <a:extLst xmlns:a="http://schemas.openxmlformats.org/drawingml/2006/main">
              <a:ext uri="{FF2B5EF4-FFF2-40B4-BE49-F238E27FC236}">
                <a16:creationId xmlns:a16="http://schemas.microsoft.com/office/drawing/2014/main" id="{7BC0919C-C2DB-4D72-B63E-452B065D3D09}"/>
              </a:ext>
            </a:extLst>
          </p:cNvPr>
          <p:cNvSpPr>
            <a:spLocks xmlns:a="http://schemas.openxmlformats.org/drawingml/2006/main" noGrp="1"/>
          </p:cNvSpPr>
          <p:nvPr/>
        </p:nvSpPr>
        <p:spPr>
          <a:xfrm xmlns:a="http://schemas.openxmlformats.org/drawingml/2006/main">
            <a:off x="4171188" y="610666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136" name="Flat experiment component">
            <a:extLst xmlns:a="http://schemas.openxmlformats.org/drawingml/2006/main">
              <a:ext uri="{FF2B5EF4-FFF2-40B4-BE49-F238E27FC236}">
                <a16:creationId xmlns:a16="http://schemas.microsoft.com/office/drawing/2014/main" id="{14373E92-A1C2-4B6B-8BA3-0F67DA9A291A}"/>
              </a:ext>
            </a:extLst>
          </p:cNvPr>
          <p:cNvSpPr>
            <a:spLocks xmlns:a="http://schemas.openxmlformats.org/drawingml/2006/main" noGrp="1"/>
          </p:cNvSpPr>
          <p:nvPr/>
        </p:nvSpPr>
        <p:spPr>
          <a:xfrm xmlns:a="http://schemas.openxmlformats.org/drawingml/2006/main">
            <a:off x="4061460" y="6240780"/>
            <a:ext cx="129540" cy="76200"/>
          </a:xfrm>
          <a:prstGeom xmlns:a="http://schemas.openxmlformats.org/drawingml/2006/main" prst="roundRect">
            <a:avLst>
              <a:gd name="adj" fmla="val 20000"/>
            </a:avLst>
          </a:prstGeom>
          <a:solidFill xmlns:a="http://schemas.openxmlformats.org/drawingml/2006/main">
            <a:srgbClr val="7399C6"/>
          </a:solidFill>
          <a:ln xmlns:a="http://schemas.openxmlformats.org/drawingml/2006/main" w="11430">
            <a:solidFill>
              <a:srgbClr val="00355F"/>
            </a:solidFill>
          </a:ln>
        </p:spPr>
      </p:sp>
      <p:sp>
        <p:nvSpPr>
          <p:cNvPr id="137" name="Diagram path">
            <a:extLst xmlns:a="http://schemas.openxmlformats.org/drawingml/2006/main">
              <a:ext uri="{FF2B5EF4-FFF2-40B4-BE49-F238E27FC236}">
                <a16:creationId xmlns:a16="http://schemas.microsoft.com/office/drawing/2014/main" id="{AC171272-290F-4485-9E04-C3957F6485CE}"/>
              </a:ext>
            </a:extLst>
          </p:cNvPr>
          <p:cNvSpPr>
            <a:spLocks xmlns:a="http://schemas.openxmlformats.org/drawingml/2006/main" noGrp="1"/>
          </p:cNvSpPr>
          <p:nvPr/>
        </p:nvSpPr>
        <p:spPr>
          <a:xfrm xmlns:a="http://schemas.openxmlformats.org/drawingml/2006/main">
            <a:off x="4126230" y="6316980"/>
            <a:ext cx="762" cy="137160"/>
          </a:xfrm>
          <a:custGeom xmlns:a="http://schemas.openxmlformats.org/drawingml/2006/main">
            <a:pathLst>
              <a:path w="762" h="137160">
                <a:moveTo>
                  <a:pt x="0" y="0"/>
                </a:moveTo>
                <a:lnTo>
                  <a:pt x="0" y="137160"/>
                </a:lnTo>
              </a:path>
            </a:pathLst>
          </a:custGeom>
          <a:noFill xmlns:a="http://schemas.openxmlformats.org/drawingml/2006/main"/>
          <a:ln xmlns:a="http://schemas.openxmlformats.org/drawingml/2006/main" w="15240">
            <a:solidFill>
              <a:srgbClr val="00355F"/>
            </a:solidFill>
          </a:ln>
        </p:spPr>
      </p:sp>
      <p:sp>
        <p:nvSpPr>
          <p:cNvPr id="138" name="Flat experiment component">
            <a:extLst xmlns:a="http://schemas.openxmlformats.org/drawingml/2006/main">
              <a:ext uri="{FF2B5EF4-FFF2-40B4-BE49-F238E27FC236}">
                <a16:creationId xmlns:a16="http://schemas.microsoft.com/office/drawing/2014/main" id="{C6012E8D-264C-4B29-BFA5-54AF1D5D5BCE}"/>
              </a:ext>
            </a:extLst>
          </p:cNvPr>
          <p:cNvSpPr>
            <a:spLocks xmlns:a="http://schemas.openxmlformats.org/drawingml/2006/main" noGrp="1"/>
          </p:cNvSpPr>
          <p:nvPr/>
        </p:nvSpPr>
        <p:spPr>
          <a:xfrm xmlns:a="http://schemas.openxmlformats.org/drawingml/2006/main">
            <a:off x="4998720" y="5570220"/>
            <a:ext cx="952500" cy="723900"/>
          </a:xfrm>
          <a:prstGeom xmlns:a="http://schemas.openxmlformats.org/drawingml/2006/main" prst="roundRect">
            <a:avLst>
              <a:gd name="adj" fmla="val 6316"/>
            </a:avLst>
          </a:prstGeom>
          <a:solidFill xmlns:a="http://schemas.openxmlformats.org/drawingml/2006/main">
            <a:srgbClr val="FFFFFF"/>
          </a:solidFill>
          <a:ln xmlns:a="http://schemas.openxmlformats.org/drawingml/2006/main" w="19050">
            <a:solidFill>
              <a:srgbClr val="00355F"/>
            </a:solidFill>
          </a:ln>
        </p:spPr>
      </p:sp>
      <p:sp>
        <p:nvSpPr>
          <p:cNvPr id="139" name="Flat experiment component">
            <a:extLst xmlns:a="http://schemas.openxmlformats.org/drawingml/2006/main">
              <a:ext uri="{FF2B5EF4-FFF2-40B4-BE49-F238E27FC236}">
                <a16:creationId xmlns:a16="http://schemas.microsoft.com/office/drawing/2014/main" id="{ADA8829C-DE7C-4F00-9534-A671D223DD72}"/>
              </a:ext>
            </a:extLst>
          </p:cNvPr>
          <p:cNvSpPr>
            <a:spLocks xmlns:a="http://schemas.openxmlformats.org/drawingml/2006/main" noGrp="1"/>
          </p:cNvSpPr>
          <p:nvPr/>
        </p:nvSpPr>
        <p:spPr>
          <a:xfrm xmlns:a="http://schemas.openxmlformats.org/drawingml/2006/main">
            <a:off x="5059680" y="5646420"/>
            <a:ext cx="333375" cy="571500"/>
          </a:xfrm>
          <a:prstGeom xmlns:a="http://schemas.openxmlformats.org/drawingml/2006/main" prst="roundRect">
            <a:avLst>
              <a:gd name="adj" fmla="val 6857"/>
            </a:avLst>
          </a:prstGeom>
          <a:solidFill xmlns:a="http://schemas.openxmlformats.org/drawingml/2006/main">
            <a:srgbClr val="F0F7FC"/>
          </a:solidFill>
          <a:ln xmlns:a="http://schemas.openxmlformats.org/drawingml/2006/main" w="11430">
            <a:solidFill>
              <a:srgbClr val="7399C6"/>
            </a:solidFill>
          </a:ln>
        </p:spPr>
      </p:sp>
      <p:sp>
        <p:nvSpPr>
          <p:cNvPr id="140" name="Diagram path">
            <a:extLst xmlns:a="http://schemas.openxmlformats.org/drawingml/2006/main">
              <a:ext uri="{FF2B5EF4-FFF2-40B4-BE49-F238E27FC236}">
                <a16:creationId xmlns:a16="http://schemas.microsoft.com/office/drawing/2014/main" id="{2A47DBFD-E904-4DBB-9ABB-026AFE15FE40}"/>
              </a:ext>
            </a:extLst>
          </p:cNvPr>
          <p:cNvSpPr>
            <a:spLocks xmlns:a="http://schemas.openxmlformats.org/drawingml/2006/main" noGrp="1"/>
          </p:cNvSpPr>
          <p:nvPr/>
        </p:nvSpPr>
        <p:spPr>
          <a:xfrm xmlns:a="http://schemas.openxmlformats.org/drawingml/2006/main">
            <a:off x="5105400" y="5745480"/>
            <a:ext cx="226695" cy="762"/>
          </a:xfrm>
          <a:custGeom xmlns:a="http://schemas.openxmlformats.org/drawingml/2006/main">
            <a:pathLst>
              <a:path w="226695" h="762">
                <a:moveTo>
                  <a:pt x="0" y="0"/>
                </a:moveTo>
                <a:lnTo>
                  <a:pt x="226695" y="0"/>
                </a:lnTo>
              </a:path>
            </a:pathLst>
          </a:custGeom>
          <a:noFill xmlns:a="http://schemas.openxmlformats.org/drawingml/2006/main"/>
          <a:ln xmlns:a="http://schemas.openxmlformats.org/drawingml/2006/main" w="11430">
            <a:solidFill>
              <a:srgbClr val="7399C6"/>
            </a:solidFill>
          </a:ln>
        </p:spPr>
      </p:sp>
      <p:sp>
        <p:nvSpPr>
          <p:cNvPr id="141" name="Diagram path">
            <a:extLst xmlns:a="http://schemas.openxmlformats.org/drawingml/2006/main">
              <a:ext uri="{FF2B5EF4-FFF2-40B4-BE49-F238E27FC236}">
                <a16:creationId xmlns:a16="http://schemas.microsoft.com/office/drawing/2014/main" id="{61F35E49-2452-43D7-BA50-6AEEF266A285}"/>
              </a:ext>
            </a:extLst>
          </p:cNvPr>
          <p:cNvSpPr>
            <a:spLocks xmlns:a="http://schemas.openxmlformats.org/drawingml/2006/main" noGrp="1"/>
          </p:cNvSpPr>
          <p:nvPr/>
        </p:nvSpPr>
        <p:spPr>
          <a:xfrm xmlns:a="http://schemas.openxmlformats.org/drawingml/2006/main">
            <a:off x="5105400" y="5844540"/>
            <a:ext cx="226695" cy="762"/>
          </a:xfrm>
          <a:custGeom xmlns:a="http://schemas.openxmlformats.org/drawingml/2006/main">
            <a:pathLst>
              <a:path w="226695" h="762">
                <a:moveTo>
                  <a:pt x="0" y="0"/>
                </a:moveTo>
                <a:lnTo>
                  <a:pt x="226695" y="0"/>
                </a:lnTo>
              </a:path>
            </a:pathLst>
          </a:custGeom>
          <a:noFill xmlns:a="http://schemas.openxmlformats.org/drawingml/2006/main"/>
          <a:ln xmlns:a="http://schemas.openxmlformats.org/drawingml/2006/main" w="11430">
            <a:solidFill>
              <a:srgbClr val="7399C6"/>
            </a:solidFill>
          </a:ln>
        </p:spPr>
      </p:sp>
      <p:sp>
        <p:nvSpPr>
          <p:cNvPr id="142" name="Diagram path">
            <a:extLst xmlns:a="http://schemas.openxmlformats.org/drawingml/2006/main">
              <a:ext uri="{FF2B5EF4-FFF2-40B4-BE49-F238E27FC236}">
                <a16:creationId xmlns:a16="http://schemas.microsoft.com/office/drawing/2014/main" id="{014380DD-B4E2-4B1F-95A3-A6D84E3595B7}"/>
              </a:ext>
            </a:extLst>
          </p:cNvPr>
          <p:cNvSpPr>
            <a:spLocks xmlns:a="http://schemas.openxmlformats.org/drawingml/2006/main" noGrp="1"/>
          </p:cNvSpPr>
          <p:nvPr/>
        </p:nvSpPr>
        <p:spPr>
          <a:xfrm xmlns:a="http://schemas.openxmlformats.org/drawingml/2006/main">
            <a:off x="5105400" y="5943600"/>
            <a:ext cx="226695" cy="762"/>
          </a:xfrm>
          <a:custGeom xmlns:a="http://schemas.openxmlformats.org/drawingml/2006/main">
            <a:pathLst>
              <a:path w="226695" h="762">
                <a:moveTo>
                  <a:pt x="0" y="0"/>
                </a:moveTo>
                <a:lnTo>
                  <a:pt x="226695" y="0"/>
                </a:lnTo>
              </a:path>
            </a:pathLst>
          </a:custGeom>
          <a:noFill xmlns:a="http://schemas.openxmlformats.org/drawingml/2006/main"/>
          <a:ln xmlns:a="http://schemas.openxmlformats.org/drawingml/2006/main" w="11430">
            <a:solidFill>
              <a:srgbClr val="7399C6"/>
            </a:solidFill>
          </a:ln>
        </p:spPr>
      </p:sp>
      <p:sp>
        <p:nvSpPr>
          <p:cNvPr id="143" name="Diagram path">
            <a:extLst xmlns:a="http://schemas.openxmlformats.org/drawingml/2006/main">
              <a:ext uri="{FF2B5EF4-FFF2-40B4-BE49-F238E27FC236}">
                <a16:creationId xmlns:a16="http://schemas.microsoft.com/office/drawing/2014/main" id="{B067B652-E118-4468-88E3-4424058642C1}"/>
              </a:ext>
            </a:extLst>
          </p:cNvPr>
          <p:cNvSpPr>
            <a:spLocks xmlns:a="http://schemas.openxmlformats.org/drawingml/2006/main" noGrp="1"/>
          </p:cNvSpPr>
          <p:nvPr/>
        </p:nvSpPr>
        <p:spPr>
          <a:xfrm xmlns:a="http://schemas.openxmlformats.org/drawingml/2006/main">
            <a:off x="5105400" y="6042660"/>
            <a:ext cx="226695" cy="762"/>
          </a:xfrm>
          <a:custGeom xmlns:a="http://schemas.openxmlformats.org/drawingml/2006/main">
            <a:pathLst>
              <a:path w="226695" h="762">
                <a:moveTo>
                  <a:pt x="0" y="0"/>
                </a:moveTo>
                <a:lnTo>
                  <a:pt x="226695" y="0"/>
                </a:lnTo>
              </a:path>
            </a:pathLst>
          </a:custGeom>
          <a:noFill xmlns:a="http://schemas.openxmlformats.org/drawingml/2006/main"/>
          <a:ln xmlns:a="http://schemas.openxmlformats.org/drawingml/2006/main" w="11430">
            <a:solidFill>
              <a:srgbClr val="7399C6"/>
            </a:solidFill>
          </a:ln>
        </p:spPr>
      </p:sp>
      <p:sp>
        <p:nvSpPr>
          <p:cNvPr id="144" name="Flat experiment component">
            <a:extLst xmlns:a="http://schemas.openxmlformats.org/drawingml/2006/main">
              <a:ext uri="{FF2B5EF4-FFF2-40B4-BE49-F238E27FC236}">
                <a16:creationId xmlns:a16="http://schemas.microsoft.com/office/drawing/2014/main" id="{0CEB9DC0-4234-461B-807C-CFB2A517BCD9}"/>
              </a:ext>
            </a:extLst>
          </p:cNvPr>
          <p:cNvSpPr>
            <a:spLocks xmlns:a="http://schemas.openxmlformats.org/drawingml/2006/main" noGrp="1"/>
          </p:cNvSpPr>
          <p:nvPr/>
        </p:nvSpPr>
        <p:spPr>
          <a:xfrm xmlns:a="http://schemas.openxmlformats.org/drawingml/2006/main">
            <a:off x="5455920" y="5676900"/>
            <a:ext cx="400050" cy="281940"/>
          </a:xfrm>
          <a:prstGeom xmlns:a="http://schemas.openxmlformats.org/drawingml/2006/main" prst="roundRect">
            <a:avLst>
              <a:gd name="adj" fmla="val 8108"/>
            </a:avLst>
          </a:prstGeom>
          <a:solidFill xmlns:a="http://schemas.openxmlformats.org/drawingml/2006/main">
            <a:srgbClr val="00355F"/>
          </a:solidFill>
          <a:ln xmlns:a="http://schemas.openxmlformats.org/drawingml/2006/main" w="0">
            <a:noFill/>
          </a:ln>
        </p:spPr>
      </p:sp>
      <p:sp>
        <p:nvSpPr>
          <p:cNvPr id="145" name="MS">
            <a:extLst xmlns:a="http://schemas.openxmlformats.org/drawingml/2006/main">
              <a:ext uri="{FF2B5EF4-FFF2-40B4-BE49-F238E27FC236}">
                <a16:creationId xmlns:a16="http://schemas.microsoft.com/office/drawing/2014/main" id="{857DAF40-3AAB-426E-815E-1104D153AD9F}"/>
              </a:ext>
            </a:extLst>
          </p:cNvPr>
          <p:cNvSpPr>
            <a:spLocks xmlns:a="http://schemas.openxmlformats.org/drawingml/2006/main" noGrp="1"/>
          </p:cNvSpPr>
          <p:nvPr/>
        </p:nvSpPr>
        <p:spPr>
          <a:xfrm xmlns:a="http://schemas.openxmlformats.org/drawingml/2006/main">
            <a:off x="5465445" y="5737860"/>
            <a:ext cx="3810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40" b="1">
                <a:solidFill>
                  <a:srgbClr val="FFFFFF"/>
                </a:solidFill>
                <a:latin typeface="Arial"/>
                <a:ea typeface="Arial"/>
                <a:cs typeface="Arial"/>
              </a:defRPr>
            </a:defPPr>
          </a:lstStyle>
          <a:p xmlns:a="http://schemas.openxmlformats.org/drawingml/2006/main">
            <a:pPr algn="ctr">
              <a:lnSpc>
                <a:spcPct val="100000"/>
              </a:lnSpc>
              <a:buNone/>
              <a:defRPr sz="1140" b="1">
                <a:solidFill>
                  <a:srgbClr val="FFFFFF"/>
                </a:solidFill>
                <a:latin typeface="Arial"/>
                <a:ea typeface="Arial"/>
                <a:cs typeface="Arial"/>
              </a:defRPr>
            </a:pPr>
            <a:r>
              <a:rPr sz="1140" b="1">
                <a:solidFill>
                  <a:srgbClr val="FFFFFF"/>
                </a:solidFill>
                <a:latin typeface="Arial"/>
                <a:ea typeface="Arial"/>
                <a:cs typeface="Arial"/>
              </a:rPr>
              <a:t>MS</a:t>
            </a:r>
          </a:p>
        </p:txBody>
      </p:sp>
      <p:sp>
        <p:nvSpPr>
          <p:cNvPr id="146" name="">
            <a:extLst xmlns:a="http://schemas.openxmlformats.org/drawingml/2006/main">
              <a:ext uri="{FF2B5EF4-FFF2-40B4-BE49-F238E27FC236}">
                <a16:creationId xmlns:a16="http://schemas.microsoft.com/office/drawing/2014/main" id="{DB07518E-708F-4AD0-83F0-AAC8F09A2ACE}"/>
              </a:ext>
            </a:extLst>
          </p:cNvPr>
          <p:cNvSpPr>
            <a:spLocks xmlns:a="http://schemas.openxmlformats.org/drawingml/2006/main" noGrp="1"/>
          </p:cNvSpPr>
          <p:nvPr/>
        </p:nvSpPr>
        <p:spPr>
          <a:xfrm xmlns:a="http://schemas.openxmlformats.org/drawingml/2006/main">
            <a:off x="5547360" y="6042660"/>
            <a:ext cx="198120" cy="198120"/>
          </a:xfrm>
          <a:prstGeom xmlns:a="http://schemas.openxmlformats.org/drawingml/2006/main" prst="ellipse">
            <a:avLst/>
          </a:prstGeom>
          <a:solidFill xmlns:a="http://schemas.openxmlformats.org/drawingml/2006/main">
            <a:srgbClr val="ACD4F1"/>
          </a:solidFill>
          <a:ln xmlns:a="http://schemas.openxmlformats.org/drawingml/2006/main" w="11430">
            <a:solidFill>
              <a:srgbClr val="00355F"/>
            </a:solidFill>
          </a:ln>
        </p:spPr>
      </p:sp>
      <p:sp>
        <p:nvSpPr>
          <p:cNvPr id="147" name="">
            <a:extLst xmlns:a="http://schemas.openxmlformats.org/drawingml/2006/main">
              <a:ext uri="{FF2B5EF4-FFF2-40B4-BE49-F238E27FC236}">
                <a16:creationId xmlns:a16="http://schemas.microsoft.com/office/drawing/2014/main" id="{A451BBC9-1EC9-4771-86D8-730E4F477B60}"/>
              </a:ext>
            </a:extLst>
          </p:cNvPr>
          <p:cNvSpPr>
            <a:spLocks xmlns:a="http://schemas.openxmlformats.org/drawingml/2006/main" noGrp="1"/>
          </p:cNvSpPr>
          <p:nvPr/>
        </p:nvSpPr>
        <p:spPr>
          <a:xfrm xmlns:a="http://schemas.openxmlformats.org/drawingml/2006/main">
            <a:off x="5796915" y="6111240"/>
            <a:ext cx="60960" cy="6096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48" name="Diagram path">
            <a:extLst xmlns:a="http://schemas.openxmlformats.org/drawingml/2006/main">
              <a:ext uri="{FF2B5EF4-FFF2-40B4-BE49-F238E27FC236}">
                <a16:creationId xmlns:a16="http://schemas.microsoft.com/office/drawing/2014/main" id="{146E84B8-8A70-4D6B-91B4-B5C73958A4C7}"/>
              </a:ext>
            </a:extLst>
          </p:cNvPr>
          <p:cNvSpPr>
            <a:spLocks xmlns:a="http://schemas.openxmlformats.org/drawingml/2006/main" noGrp="1"/>
          </p:cNvSpPr>
          <p:nvPr/>
        </p:nvSpPr>
        <p:spPr>
          <a:xfrm xmlns:a="http://schemas.openxmlformats.org/drawingml/2006/main">
            <a:off x="4358640" y="5920740"/>
            <a:ext cx="502920" cy="762"/>
          </a:xfrm>
          <a:custGeom xmlns:a="http://schemas.openxmlformats.org/drawingml/2006/main">
            <a:pathLst>
              <a:path w="502920" h="762">
                <a:moveTo>
                  <a:pt x="0" y="0"/>
                </a:moveTo>
                <a:lnTo>
                  <a:pt x="502920" y="0"/>
                </a:lnTo>
              </a:path>
            </a:pathLst>
          </a:custGeom>
          <a:noFill xmlns:a="http://schemas.openxmlformats.org/drawingml/2006/main"/>
          <a:ln xmlns:a="http://schemas.openxmlformats.org/drawingml/2006/main" w="19050">
            <a:solidFill>
              <a:srgbClr val="7399C6"/>
            </a:solidFill>
          </a:ln>
        </p:spPr>
      </p:sp>
      <p:sp>
        <p:nvSpPr>
          <p:cNvPr id="149" name="Diagram path">
            <a:extLst xmlns:a="http://schemas.openxmlformats.org/drawingml/2006/main">
              <a:ext uri="{FF2B5EF4-FFF2-40B4-BE49-F238E27FC236}">
                <a16:creationId xmlns:a16="http://schemas.microsoft.com/office/drawing/2014/main" id="{ABDC8849-D91C-449B-8F29-FBC67F8DBE94}"/>
              </a:ext>
            </a:extLst>
          </p:cNvPr>
          <p:cNvSpPr>
            <a:spLocks xmlns:a="http://schemas.openxmlformats.org/drawingml/2006/main" noGrp="1"/>
          </p:cNvSpPr>
          <p:nvPr/>
        </p:nvSpPr>
        <p:spPr>
          <a:xfrm xmlns:a="http://schemas.openxmlformats.org/drawingml/2006/main">
            <a:off x="4803094" y="588489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7399C6"/>
          </a:solidFill>
          <a:ln xmlns:a="http://schemas.openxmlformats.org/drawingml/2006/main" w="0">
            <a:noFill/>
          </a:ln>
        </p:spPr>
      </p:sp>
      <p:sp>
        <p:nvSpPr>
          <p:cNvPr id="150" name="Flat experiment component">
            <a:extLst xmlns:a="http://schemas.openxmlformats.org/drawingml/2006/main">
              <a:ext uri="{FF2B5EF4-FFF2-40B4-BE49-F238E27FC236}">
                <a16:creationId xmlns:a16="http://schemas.microsoft.com/office/drawing/2014/main" id="{EB9C42A3-1F31-48D3-BB55-A6556DD28730}"/>
              </a:ext>
            </a:extLst>
          </p:cNvPr>
          <p:cNvSpPr>
            <a:spLocks xmlns:a="http://schemas.openxmlformats.org/drawingml/2006/main" noGrp="1"/>
          </p:cNvSpPr>
          <p:nvPr/>
        </p:nvSpPr>
        <p:spPr>
          <a:xfrm xmlns:a="http://schemas.openxmlformats.org/drawingml/2006/main">
            <a:off x="4457700" y="601980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151" name="Diagram path">
            <a:extLst xmlns:a="http://schemas.openxmlformats.org/drawingml/2006/main">
              <a:ext uri="{FF2B5EF4-FFF2-40B4-BE49-F238E27FC236}">
                <a16:creationId xmlns:a16="http://schemas.microsoft.com/office/drawing/2014/main" id="{D5AE5B4B-5E79-45F0-BFD6-16717EB92D92}"/>
              </a:ext>
            </a:extLst>
          </p:cNvPr>
          <p:cNvSpPr>
            <a:spLocks xmlns:a="http://schemas.openxmlformats.org/drawingml/2006/main" noGrp="1"/>
          </p:cNvSpPr>
          <p:nvPr/>
        </p:nvSpPr>
        <p:spPr>
          <a:xfrm xmlns:a="http://schemas.openxmlformats.org/drawingml/2006/main">
            <a:off x="4480560" y="6088380"/>
            <a:ext cx="129540" cy="236220"/>
          </a:xfrm>
          <a:custGeom xmlns:a="http://schemas.openxmlformats.org/drawingml/2006/main">
            <a:pathLst>
              <a:path w="129540" h="236220">
                <a:moveTo>
                  <a:pt x="0" y="0"/>
                </a:moveTo>
                <a:lnTo>
                  <a:pt x="129540" y="0"/>
                </a:lnTo>
                <a:lnTo>
                  <a:pt x="129540" y="137160"/>
                </a:lnTo>
                <a:lnTo>
                  <a:pt x="68580" y="236220"/>
                </a:lnTo>
                <a:lnTo>
                  <a:pt x="0" y="137160"/>
                </a:lnTo>
                <a:close/>
              </a:path>
            </a:pathLst>
          </a:custGeom>
          <a:solidFill xmlns:a="http://schemas.openxmlformats.org/drawingml/2006/main">
            <a:srgbClr val="FFFFFF"/>
          </a:solidFill>
          <a:ln xmlns:a="http://schemas.openxmlformats.org/drawingml/2006/main" w="15240">
            <a:solidFill>
              <a:srgbClr val="00355F"/>
            </a:solidFill>
          </a:ln>
        </p:spPr>
      </p:sp>
      <p:sp>
        <p:nvSpPr>
          <p:cNvPr id="152" name="Diagram path">
            <a:extLst xmlns:a="http://schemas.openxmlformats.org/drawingml/2006/main">
              <a:ext uri="{FF2B5EF4-FFF2-40B4-BE49-F238E27FC236}">
                <a16:creationId xmlns:a16="http://schemas.microsoft.com/office/drawing/2014/main" id="{B66EBE69-0942-4F03-A1E7-91885A973A99}"/>
              </a:ext>
            </a:extLst>
          </p:cNvPr>
          <p:cNvSpPr>
            <a:spLocks xmlns:a="http://schemas.openxmlformats.org/drawingml/2006/main" noGrp="1"/>
          </p:cNvSpPr>
          <p:nvPr/>
        </p:nvSpPr>
        <p:spPr>
          <a:xfrm xmlns:a="http://schemas.openxmlformats.org/drawingml/2006/main">
            <a:off x="4495800" y="6178296"/>
            <a:ext cx="99060" cy="115824"/>
          </a:xfrm>
          <a:custGeom xmlns:a="http://schemas.openxmlformats.org/drawingml/2006/main">
            <a:pathLst>
              <a:path w="99060" h="115824">
                <a:moveTo>
                  <a:pt x="0" y="0"/>
                </a:moveTo>
                <a:lnTo>
                  <a:pt x="99060" y="0"/>
                </a:lnTo>
                <a:lnTo>
                  <a:pt x="99060" y="39624"/>
                </a:lnTo>
                <a:lnTo>
                  <a:pt x="53340" y="115824"/>
                </a:lnTo>
                <a:lnTo>
                  <a:pt x="0" y="39624"/>
                </a:lnTo>
                <a:close/>
              </a:path>
            </a:pathLst>
          </a:custGeom>
          <a:solidFill xmlns:a="http://schemas.openxmlformats.org/drawingml/2006/main">
            <a:srgbClr val="ACD4F1"/>
          </a:solidFill>
          <a:ln xmlns:a="http://schemas.openxmlformats.org/drawingml/2006/main" w="0">
            <a:noFill/>
          </a:ln>
        </p:spPr>
      </p:sp>
      <p:sp>
        <p:nvSpPr>
          <p:cNvPr id="153" name="Chromatography">
            <a:extLst xmlns:a="http://schemas.openxmlformats.org/drawingml/2006/main">
              <a:ext uri="{FF2B5EF4-FFF2-40B4-BE49-F238E27FC236}">
                <a16:creationId xmlns:a16="http://schemas.microsoft.com/office/drawing/2014/main" id="{FA215F7B-D285-423D-91AB-4F340EF1E950}"/>
              </a:ext>
            </a:extLst>
          </p:cNvPr>
          <p:cNvSpPr>
            <a:spLocks xmlns:a="http://schemas.openxmlformats.org/drawingml/2006/main" noGrp="1"/>
          </p:cNvSpPr>
          <p:nvPr/>
        </p:nvSpPr>
        <p:spPr>
          <a:xfrm xmlns:a="http://schemas.openxmlformats.org/drawingml/2006/main">
            <a:off x="3764280" y="6385560"/>
            <a:ext cx="94488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960" b="1">
                <a:solidFill>
                  <a:srgbClr val="00355F"/>
                </a:solidFill>
                <a:latin typeface="Arial"/>
                <a:ea typeface="Arial"/>
                <a:cs typeface="Arial"/>
              </a:defRPr>
            </a:defPPr>
          </a:lstStyle>
          <a:p xmlns:a="http://schemas.openxmlformats.org/drawingml/2006/main">
            <a:pPr algn="ctr">
              <a:lnSpc>
                <a:spcPct val="100000"/>
              </a:lnSpc>
              <a:buNone/>
              <a:defRPr sz="960" b="1">
                <a:solidFill>
                  <a:srgbClr val="00355F"/>
                </a:solidFill>
                <a:latin typeface="Arial"/>
                <a:ea typeface="Arial"/>
                <a:cs typeface="Arial"/>
              </a:defRPr>
            </a:pPr>
            <a:r>
              <a:rPr sz="960" b="1">
                <a:solidFill>
                  <a:srgbClr val="00355F"/>
                </a:solidFill>
                <a:latin typeface="Arial"/>
                <a:ea typeface="Arial"/>
                <a:cs typeface="Arial"/>
              </a:rPr>
              <a:t>Chromatography</a:t>
            </a:r>
          </a:p>
        </p:txBody>
      </p:sp>
      <p:sp>
        <p:nvSpPr>
          <p:cNvPr id="154" name="LC-MS / QC">
            <a:extLst xmlns:a="http://schemas.openxmlformats.org/drawingml/2006/main">
              <a:ext uri="{FF2B5EF4-FFF2-40B4-BE49-F238E27FC236}">
                <a16:creationId xmlns:a16="http://schemas.microsoft.com/office/drawing/2014/main" id="{619C5966-63DE-4E05-B557-532B48A0E187}"/>
              </a:ext>
            </a:extLst>
          </p:cNvPr>
          <p:cNvSpPr>
            <a:spLocks xmlns:a="http://schemas.openxmlformats.org/drawingml/2006/main" noGrp="1"/>
          </p:cNvSpPr>
          <p:nvPr/>
        </p:nvSpPr>
        <p:spPr>
          <a:xfrm xmlns:a="http://schemas.openxmlformats.org/drawingml/2006/main">
            <a:off x="4907280" y="6385560"/>
            <a:ext cx="108966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LC-MS / QC</a:t>
            </a:r>
          </a:p>
        </p:txBody>
      </p:sp>
      <p:sp>
        <p:nvSpPr>
          <p:cNvPr id="155" name="Flat experiment component">
            <a:extLst xmlns:a="http://schemas.openxmlformats.org/drawingml/2006/main">
              <a:ext uri="{FF2B5EF4-FFF2-40B4-BE49-F238E27FC236}">
                <a16:creationId xmlns:a16="http://schemas.microsoft.com/office/drawing/2014/main" id="{7922EA2B-8DAA-4213-86BF-0D0701869050}"/>
              </a:ext>
            </a:extLst>
          </p:cNvPr>
          <p:cNvSpPr>
            <a:spLocks xmlns:a="http://schemas.openxmlformats.org/drawingml/2006/main" noGrp="1"/>
          </p:cNvSpPr>
          <p:nvPr/>
        </p:nvSpPr>
        <p:spPr>
          <a:xfrm xmlns:a="http://schemas.openxmlformats.org/drawingml/2006/main">
            <a:off x="3733800" y="6758940"/>
            <a:ext cx="2362200" cy="373380"/>
          </a:xfrm>
          <a:prstGeom xmlns:a="http://schemas.openxmlformats.org/drawingml/2006/main" prst="roundRect">
            <a:avLst>
              <a:gd name="adj" fmla="val 10204"/>
            </a:avLst>
          </a:prstGeom>
          <a:solidFill xmlns:a="http://schemas.openxmlformats.org/drawingml/2006/main">
            <a:srgbClr val="ACD4F1"/>
          </a:solidFill>
          <a:ln xmlns:a="http://schemas.openxmlformats.org/drawingml/2006/main" w="0">
            <a:noFill/>
          </a:ln>
        </p:spPr>
      </p:sp>
      <p:sp>
        <p:nvSpPr>
          <p:cNvPr id="156" name="Purified protein + yield">
            <a:extLst xmlns:a="http://schemas.openxmlformats.org/drawingml/2006/main">
              <a:ext uri="{FF2B5EF4-FFF2-40B4-BE49-F238E27FC236}">
                <a16:creationId xmlns:a16="http://schemas.microsoft.com/office/drawing/2014/main" id="{5BF0C354-10AB-4771-929A-B3D8DB8324AD}"/>
              </a:ext>
            </a:extLst>
          </p:cNvPr>
          <p:cNvSpPr>
            <a:spLocks xmlns:a="http://schemas.openxmlformats.org/drawingml/2006/main" noGrp="1"/>
          </p:cNvSpPr>
          <p:nvPr/>
        </p:nvSpPr>
        <p:spPr>
          <a:xfrm xmlns:a="http://schemas.openxmlformats.org/drawingml/2006/main">
            <a:off x="3802380" y="6858000"/>
            <a:ext cx="222504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Purified protein + yield</a:t>
            </a:r>
          </a:p>
        </p:txBody>
      </p:sp>
      <p:sp>
        <p:nvSpPr>
          <p:cNvPr id="157" name="Diagram path">
            <a:extLst xmlns:a="http://schemas.openxmlformats.org/drawingml/2006/main">
              <a:ext uri="{FF2B5EF4-FFF2-40B4-BE49-F238E27FC236}">
                <a16:creationId xmlns:a16="http://schemas.microsoft.com/office/drawing/2014/main" id="{67EA4B89-B1B6-4D43-A7BC-7ABE2008A0FA}"/>
              </a:ext>
            </a:extLst>
          </p:cNvPr>
          <p:cNvSpPr>
            <a:spLocks xmlns:a="http://schemas.openxmlformats.org/drawingml/2006/main" noGrp="1"/>
          </p:cNvSpPr>
          <p:nvPr/>
        </p:nvSpPr>
        <p:spPr>
          <a:xfrm xmlns:a="http://schemas.openxmlformats.org/drawingml/2006/main">
            <a:off x="3749040" y="7284720"/>
            <a:ext cx="2331720" cy="762"/>
          </a:xfrm>
          <a:custGeom xmlns:a="http://schemas.openxmlformats.org/drawingml/2006/main">
            <a:pathLst>
              <a:path w="2331720" h="762">
                <a:moveTo>
                  <a:pt x="0" y="0"/>
                </a:moveTo>
                <a:lnTo>
                  <a:pt x="2331720" y="0"/>
                </a:lnTo>
              </a:path>
            </a:pathLst>
          </a:custGeom>
          <a:noFill xmlns:a="http://schemas.openxmlformats.org/drawingml/2006/main"/>
          <a:ln xmlns:a="http://schemas.openxmlformats.org/drawingml/2006/main" w="7620">
            <a:solidFill>
              <a:srgbClr val="A5A5A5"/>
            </a:solidFill>
          </a:ln>
        </p:spPr>
      </p:sp>
      <p:sp>
        <p:nvSpPr>
          <p:cNvPr id="158" name="REPRESENTATIVE SUPPLIERS">
            <a:extLst xmlns:a="http://schemas.openxmlformats.org/drawingml/2006/main">
              <a:ext uri="{FF2B5EF4-FFF2-40B4-BE49-F238E27FC236}">
                <a16:creationId xmlns:a16="http://schemas.microsoft.com/office/drawing/2014/main" id="{A900B2FD-DAA6-4697-9354-5520B2D120AA}"/>
              </a:ext>
            </a:extLst>
          </p:cNvPr>
          <p:cNvSpPr>
            <a:spLocks xmlns:a="http://schemas.openxmlformats.org/drawingml/2006/main" noGrp="1"/>
          </p:cNvSpPr>
          <p:nvPr/>
        </p:nvSpPr>
        <p:spPr>
          <a:xfrm xmlns:a="http://schemas.openxmlformats.org/drawingml/2006/main">
            <a:off x="3749040" y="7437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00355F"/>
                </a:solidFill>
                <a:latin typeface="Arial"/>
                <a:ea typeface="Arial"/>
                <a:cs typeface="Arial"/>
              </a:defRPr>
            </a:defPPr>
          </a:lstStyle>
          <a:p xmlns:a="http://schemas.openxmlformats.org/drawingml/2006/main">
            <a:pPr algn="l">
              <a:lnSpc>
                <a:spcPct val="100000"/>
              </a:lnSpc>
              <a:buNone/>
              <a:defRPr sz="900" b="1">
                <a:solidFill>
                  <a:srgbClr val="00355F"/>
                </a:solidFill>
                <a:latin typeface="Arial"/>
                <a:ea typeface="Arial"/>
                <a:cs typeface="Arial"/>
              </a:defRPr>
            </a:pPr>
            <a:r>
              <a:rPr sz="900" b="1">
                <a:solidFill>
                  <a:srgbClr val="00355F"/>
                </a:solidFill>
                <a:latin typeface="Arial"/>
                <a:ea typeface="Arial"/>
                <a:cs typeface="Arial"/>
              </a:rPr>
              <a:t>REPRESENTATIVE SUPPLIERS</a:t>
            </a:r>
          </a:p>
        </p:txBody>
      </p:sp>
      <p:sp>
        <p:nvSpPr>
          <p:cNvPr id="159" name="Expression / media">
            <a:extLst xmlns:a="http://schemas.openxmlformats.org/drawingml/2006/main">
              <a:ext uri="{FF2B5EF4-FFF2-40B4-BE49-F238E27FC236}">
                <a16:creationId xmlns:a16="http://schemas.microsoft.com/office/drawing/2014/main" id="{5966BDC4-5717-4510-A34B-A36C2E1335A7}"/>
              </a:ext>
            </a:extLst>
          </p:cNvPr>
          <p:cNvSpPr>
            <a:spLocks xmlns:a="http://schemas.openxmlformats.org/drawingml/2006/main" noGrp="1"/>
          </p:cNvSpPr>
          <p:nvPr/>
        </p:nvSpPr>
        <p:spPr>
          <a:xfrm xmlns:a="http://schemas.openxmlformats.org/drawingml/2006/main">
            <a:off x="3749040" y="77038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Expression / media</a:t>
            </a:r>
          </a:p>
        </p:txBody>
      </p:sp>
      <p:sp>
        <p:nvSpPr>
          <p:cNvPr id="160" name="GenScript · Gibco">
            <a:extLst xmlns:a="http://schemas.openxmlformats.org/drawingml/2006/main">
              <a:ext uri="{FF2B5EF4-FFF2-40B4-BE49-F238E27FC236}">
                <a16:creationId xmlns:a16="http://schemas.microsoft.com/office/drawing/2014/main" id="{B11A1F89-104E-455C-BC6F-62D6CAFBEFC3}"/>
              </a:ext>
            </a:extLst>
          </p:cNvPr>
          <p:cNvSpPr>
            <a:spLocks xmlns:a="http://schemas.openxmlformats.org/drawingml/2006/main" noGrp="1"/>
          </p:cNvSpPr>
          <p:nvPr/>
        </p:nvSpPr>
        <p:spPr>
          <a:xfrm xmlns:a="http://schemas.openxmlformats.org/drawingml/2006/main">
            <a:off x="3749040" y="78714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GenScript · Gibco</a:t>
            </a:r>
          </a:p>
        </p:txBody>
      </p:sp>
      <p:sp>
        <p:nvSpPr>
          <p:cNvPr id="161" name="Separation / QC">
            <a:extLst xmlns:a="http://schemas.openxmlformats.org/drawingml/2006/main">
              <a:ext uri="{FF2B5EF4-FFF2-40B4-BE49-F238E27FC236}">
                <a16:creationId xmlns:a16="http://schemas.microsoft.com/office/drawing/2014/main" id="{F901FD18-8691-471C-96F3-AA33BEF37C6C}"/>
              </a:ext>
            </a:extLst>
          </p:cNvPr>
          <p:cNvSpPr>
            <a:spLocks xmlns:a="http://schemas.openxmlformats.org/drawingml/2006/main" noGrp="1"/>
          </p:cNvSpPr>
          <p:nvPr/>
        </p:nvSpPr>
        <p:spPr>
          <a:xfrm xmlns:a="http://schemas.openxmlformats.org/drawingml/2006/main">
            <a:off x="3749040" y="81229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Separation / QC</a:t>
            </a:r>
          </a:p>
        </p:txBody>
      </p:sp>
      <p:sp>
        <p:nvSpPr>
          <p:cNvPr id="162" name="Cytiva · NanoMicro · Waters">
            <a:extLst xmlns:a="http://schemas.openxmlformats.org/drawingml/2006/main">
              <a:ext uri="{FF2B5EF4-FFF2-40B4-BE49-F238E27FC236}">
                <a16:creationId xmlns:a16="http://schemas.microsoft.com/office/drawing/2014/main" id="{44BA897E-4605-4E1B-B349-66E12D063060}"/>
              </a:ext>
            </a:extLst>
          </p:cNvPr>
          <p:cNvSpPr>
            <a:spLocks xmlns:a="http://schemas.openxmlformats.org/drawingml/2006/main" noGrp="1"/>
          </p:cNvSpPr>
          <p:nvPr/>
        </p:nvSpPr>
        <p:spPr>
          <a:xfrm xmlns:a="http://schemas.openxmlformats.org/drawingml/2006/main">
            <a:off x="3749040" y="82905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Cytiva · NanoMicro · Waters</a:t>
            </a:r>
          </a:p>
        </p:txBody>
      </p:sp>
      <p:sp>
        <p:nvSpPr>
          <p:cNvPr id="163" name="Diagram path">
            <a:extLst xmlns:a="http://schemas.openxmlformats.org/drawingml/2006/main">
              <a:ext uri="{FF2B5EF4-FFF2-40B4-BE49-F238E27FC236}">
                <a16:creationId xmlns:a16="http://schemas.microsoft.com/office/drawing/2014/main" id="{B5D61813-301F-44D3-B147-4845EED4C6D2}"/>
              </a:ext>
            </a:extLst>
          </p:cNvPr>
          <p:cNvSpPr>
            <a:spLocks xmlns:a="http://schemas.openxmlformats.org/drawingml/2006/main" noGrp="1"/>
          </p:cNvSpPr>
          <p:nvPr/>
        </p:nvSpPr>
        <p:spPr>
          <a:xfrm xmlns:a="http://schemas.openxmlformats.org/drawingml/2006/main">
            <a:off x="6263640" y="5090160"/>
            <a:ext cx="114300" cy="762"/>
          </a:xfrm>
          <a:custGeom xmlns:a="http://schemas.openxmlformats.org/drawingml/2006/main">
            <a:pathLst>
              <a:path w="114300" h="762">
                <a:moveTo>
                  <a:pt x="0" y="0"/>
                </a:moveTo>
                <a:lnTo>
                  <a:pt x="114300" y="0"/>
                </a:lnTo>
              </a:path>
            </a:pathLst>
          </a:custGeom>
          <a:noFill xmlns:a="http://schemas.openxmlformats.org/drawingml/2006/main"/>
          <a:ln xmlns:a="http://schemas.openxmlformats.org/drawingml/2006/main" w="15240">
            <a:solidFill>
              <a:srgbClr val="00355F"/>
            </a:solidFill>
          </a:ln>
        </p:spPr>
      </p:sp>
      <p:sp>
        <p:nvSpPr>
          <p:cNvPr id="164" name="Diagram path">
            <a:extLst xmlns:a="http://schemas.openxmlformats.org/drawingml/2006/main">
              <a:ext uri="{FF2B5EF4-FFF2-40B4-BE49-F238E27FC236}">
                <a16:creationId xmlns:a16="http://schemas.microsoft.com/office/drawing/2014/main" id="{9282C842-98FF-4739-A9EE-7107B35B94AE}"/>
              </a:ext>
            </a:extLst>
          </p:cNvPr>
          <p:cNvSpPr>
            <a:spLocks xmlns:a="http://schemas.openxmlformats.org/drawingml/2006/main" noGrp="1"/>
          </p:cNvSpPr>
          <p:nvPr/>
        </p:nvSpPr>
        <p:spPr>
          <a:xfrm xmlns:a="http://schemas.openxmlformats.org/drawingml/2006/main">
            <a:off x="6319474" y="505431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00355F"/>
          </a:solidFill>
          <a:ln xmlns:a="http://schemas.openxmlformats.org/drawingml/2006/main" w="0">
            <a:noFill/>
          </a:ln>
        </p:spPr>
      </p:sp>
      <p:sp>
        <p:nvSpPr>
          <p:cNvPr id="165" name="Flat experiment component">
            <a:extLst xmlns:a="http://schemas.openxmlformats.org/drawingml/2006/main">
              <a:ext uri="{FF2B5EF4-FFF2-40B4-BE49-F238E27FC236}">
                <a16:creationId xmlns:a16="http://schemas.microsoft.com/office/drawing/2014/main" id="{11A3F9BF-CC36-43E6-99F6-611859557788}"/>
              </a:ext>
            </a:extLst>
          </p:cNvPr>
          <p:cNvSpPr>
            <a:spLocks xmlns:a="http://schemas.openxmlformats.org/drawingml/2006/main" noGrp="1"/>
          </p:cNvSpPr>
          <p:nvPr/>
        </p:nvSpPr>
        <p:spPr>
          <a:xfrm xmlns:a="http://schemas.openxmlformats.org/drawingml/2006/main">
            <a:off x="6400800" y="2179320"/>
            <a:ext cx="2667000" cy="6477000"/>
          </a:xfrm>
          <a:prstGeom xmlns:a="http://schemas.openxmlformats.org/drawingml/2006/main" prst="roundRect">
            <a:avLst>
              <a:gd name="adj" fmla="val 3714"/>
            </a:avLst>
          </a:prstGeom>
          <a:solidFill xmlns:a="http://schemas.openxmlformats.org/drawingml/2006/main">
            <a:srgbClr val="FFFFFF"/>
          </a:solidFill>
          <a:ln xmlns:a="http://schemas.openxmlformats.org/drawingml/2006/main" w="11430">
            <a:solidFill>
              <a:srgbClr val="A5A5A5"/>
            </a:solidFill>
          </a:ln>
        </p:spPr>
      </p:sp>
      <p:sp>
        <p:nvSpPr>
          <p:cNvPr id="166" name="Flat experiment component">
            <a:extLst xmlns:a="http://schemas.openxmlformats.org/drawingml/2006/main">
              <a:ext uri="{FF2B5EF4-FFF2-40B4-BE49-F238E27FC236}">
                <a16:creationId xmlns:a16="http://schemas.microsoft.com/office/drawing/2014/main" id="{7194BC70-4DA6-4F7D-BD98-AF5DA100E046}"/>
              </a:ext>
            </a:extLst>
          </p:cNvPr>
          <p:cNvSpPr>
            <a:spLocks xmlns:a="http://schemas.openxmlformats.org/drawingml/2006/main" noGrp="1"/>
          </p:cNvSpPr>
          <p:nvPr/>
        </p:nvSpPr>
        <p:spPr>
          <a:xfrm xmlns:a="http://schemas.openxmlformats.org/drawingml/2006/main">
            <a:off x="6400800" y="2179320"/>
            <a:ext cx="2667000" cy="68580"/>
          </a:xfrm>
          <a:prstGeom xmlns:a="http://schemas.openxmlformats.org/drawingml/2006/main" prst="rect">
            <a:avLst/>
          </a:prstGeom>
          <a:solidFill xmlns:a="http://schemas.openxmlformats.org/drawingml/2006/main">
            <a:srgbClr val="7399C6"/>
          </a:solidFill>
          <a:ln xmlns:a="http://schemas.openxmlformats.org/drawingml/2006/main" w="0">
            <a:noFill/>
          </a:ln>
        </p:spPr>
      </p:sp>
      <p:sp>
        <p:nvSpPr>
          <p:cNvPr id="167" name="03 / TEST">
            <a:extLst xmlns:a="http://schemas.openxmlformats.org/drawingml/2006/main">
              <a:ext uri="{FF2B5EF4-FFF2-40B4-BE49-F238E27FC236}">
                <a16:creationId xmlns:a16="http://schemas.microsoft.com/office/drawing/2014/main" id="{BFF281B4-4397-4936-ABBC-0EDD13D83D59}"/>
              </a:ext>
            </a:extLst>
          </p:cNvPr>
          <p:cNvSpPr>
            <a:spLocks xmlns:a="http://schemas.openxmlformats.org/drawingml/2006/main" noGrp="1"/>
          </p:cNvSpPr>
          <p:nvPr/>
        </p:nvSpPr>
        <p:spPr>
          <a:xfrm xmlns:a="http://schemas.openxmlformats.org/drawingml/2006/main">
            <a:off x="6568440" y="2385060"/>
            <a:ext cx="233172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03 / TEST</a:t>
            </a:r>
          </a:p>
        </p:txBody>
      </p:sp>
      <p:sp>
        <p:nvSpPr>
          <p:cNvPr id="168" name="Primary binding">
            <a:extLst xmlns:a="http://schemas.openxmlformats.org/drawingml/2006/main">
              <a:ext uri="{FF2B5EF4-FFF2-40B4-BE49-F238E27FC236}">
                <a16:creationId xmlns:a16="http://schemas.microsoft.com/office/drawing/2014/main" id="{64D3907D-612C-43BA-8942-FBD9C19FAA92}"/>
              </a:ext>
            </a:extLst>
          </p:cNvPr>
          <p:cNvSpPr>
            <a:spLocks xmlns:a="http://schemas.openxmlformats.org/drawingml/2006/main" noGrp="1"/>
          </p:cNvSpPr>
          <p:nvPr/>
        </p:nvSpPr>
        <p:spPr>
          <a:xfrm xmlns:a="http://schemas.openxmlformats.org/drawingml/2006/main">
            <a:off x="6568440" y="2697480"/>
            <a:ext cx="233172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Primary binding</a:t>
            </a:r>
          </a:p>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screen</a:t>
            </a:r>
          </a:p>
        </p:txBody>
      </p:sp>
      <p:sp>
        <p:nvSpPr>
          <p:cNvPr id="169" name="Identify binders against">
            <a:extLst xmlns:a="http://schemas.openxmlformats.org/drawingml/2006/main">
              <a:ext uri="{FF2B5EF4-FFF2-40B4-BE49-F238E27FC236}">
                <a16:creationId xmlns:a16="http://schemas.microsoft.com/office/drawing/2014/main" id="{EF4B048A-6801-407D-BBFB-367B05DFE824}"/>
              </a:ext>
            </a:extLst>
          </p:cNvPr>
          <p:cNvSpPr>
            <a:spLocks xmlns:a="http://schemas.openxmlformats.org/drawingml/2006/main" noGrp="1"/>
          </p:cNvSpPr>
          <p:nvPr/>
        </p:nvSpPr>
        <p:spPr>
          <a:xfrm xmlns:a="http://schemas.openxmlformats.org/drawingml/2006/main">
            <a:off x="6568440" y="3329940"/>
            <a:ext cx="233172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Identify binders against</a:t>
            </a:r>
          </a:p>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the chosen target protein</a:t>
            </a:r>
          </a:p>
        </p:txBody>
      </p:sp>
      <p:sp>
        <p:nvSpPr>
          <p:cNvPr id="170" name="Flat experiment component">
            <a:extLst xmlns:a="http://schemas.openxmlformats.org/drawingml/2006/main">
              <a:ext uri="{FF2B5EF4-FFF2-40B4-BE49-F238E27FC236}">
                <a16:creationId xmlns:a16="http://schemas.microsoft.com/office/drawing/2014/main" id="{F42856AF-B3B9-4D9D-84E5-32F0B3B39A48}"/>
              </a:ext>
            </a:extLst>
          </p:cNvPr>
          <p:cNvSpPr>
            <a:spLocks xmlns:a="http://schemas.openxmlformats.org/drawingml/2006/main" noGrp="1"/>
          </p:cNvSpPr>
          <p:nvPr/>
        </p:nvSpPr>
        <p:spPr>
          <a:xfrm xmlns:a="http://schemas.openxmlformats.org/drawingml/2006/main">
            <a:off x="6507480" y="3924300"/>
            <a:ext cx="2453640" cy="2682240"/>
          </a:xfrm>
          <a:prstGeom xmlns:a="http://schemas.openxmlformats.org/drawingml/2006/main" prst="roundRect">
            <a:avLst>
              <a:gd name="adj" fmla="val 3106"/>
            </a:avLst>
          </a:prstGeom>
          <a:solidFill xmlns:a="http://schemas.openxmlformats.org/drawingml/2006/main">
            <a:srgbClr val="F0F7FC"/>
          </a:solidFill>
          <a:ln xmlns:a="http://schemas.openxmlformats.org/drawingml/2006/main" w="0">
            <a:noFill/>
          </a:ln>
        </p:spPr>
      </p:sp>
      <p:sp>
        <p:nvSpPr>
          <p:cNvPr id="171" name="Diagram path">
            <a:extLst xmlns:a="http://schemas.openxmlformats.org/drawingml/2006/main">
              <a:ext uri="{FF2B5EF4-FFF2-40B4-BE49-F238E27FC236}">
                <a16:creationId xmlns:a16="http://schemas.microsoft.com/office/drawing/2014/main" id="{498276B7-6C79-49E7-8F27-A337D8CB9BD4}"/>
              </a:ext>
            </a:extLst>
          </p:cNvPr>
          <p:cNvSpPr>
            <a:spLocks xmlns:a="http://schemas.openxmlformats.org/drawingml/2006/main" noGrp="1"/>
          </p:cNvSpPr>
          <p:nvPr/>
        </p:nvSpPr>
        <p:spPr>
          <a:xfrm xmlns:a="http://schemas.openxmlformats.org/drawingml/2006/main">
            <a:off x="6880860" y="4229100"/>
            <a:ext cx="213360" cy="365760"/>
          </a:xfrm>
          <a:custGeom xmlns:a="http://schemas.openxmlformats.org/drawingml/2006/main">
            <a:pathLst>
              <a:path w="213360" h="365760">
                <a:moveTo>
                  <a:pt x="213360" y="365760"/>
                </a:moveTo>
                <a:lnTo>
                  <a:pt x="213360" y="170688"/>
                </a:lnTo>
                <a:lnTo>
                  <a:pt x="60960" y="0"/>
                </a:lnTo>
                <a:lnTo>
                  <a:pt x="0" y="54864"/>
                </a:lnTo>
              </a:path>
            </a:pathLst>
          </a:custGeom>
          <a:noFill xmlns:a="http://schemas.openxmlformats.org/drawingml/2006/main"/>
          <a:ln xmlns:a="http://schemas.openxmlformats.org/drawingml/2006/main" w="30480">
            <a:solidFill>
              <a:srgbClr val="00355F"/>
            </a:solidFill>
          </a:ln>
        </p:spPr>
      </p:sp>
      <p:sp>
        <p:nvSpPr>
          <p:cNvPr id="172" name="Diagram path">
            <a:extLst xmlns:a="http://schemas.openxmlformats.org/drawingml/2006/main">
              <a:ext uri="{FF2B5EF4-FFF2-40B4-BE49-F238E27FC236}">
                <a16:creationId xmlns:a16="http://schemas.microsoft.com/office/drawing/2014/main" id="{79EE7217-4CD6-46A5-BD6C-3C5DE824D6EB}"/>
              </a:ext>
            </a:extLst>
          </p:cNvPr>
          <p:cNvSpPr>
            <a:spLocks xmlns:a="http://schemas.openxmlformats.org/drawingml/2006/main" noGrp="1"/>
          </p:cNvSpPr>
          <p:nvPr/>
        </p:nvSpPr>
        <p:spPr>
          <a:xfrm xmlns:a="http://schemas.openxmlformats.org/drawingml/2006/main">
            <a:off x="7094220" y="4229100"/>
            <a:ext cx="213360" cy="170688"/>
          </a:xfrm>
          <a:custGeom xmlns:a="http://schemas.openxmlformats.org/drawingml/2006/main">
            <a:pathLst>
              <a:path w="213360" h="170688">
                <a:moveTo>
                  <a:pt x="0" y="170688"/>
                </a:moveTo>
                <a:lnTo>
                  <a:pt x="152400" y="0"/>
                </a:lnTo>
                <a:lnTo>
                  <a:pt x="213360" y="54864"/>
                </a:lnTo>
              </a:path>
            </a:pathLst>
          </a:custGeom>
          <a:noFill xmlns:a="http://schemas.openxmlformats.org/drawingml/2006/main"/>
          <a:ln xmlns:a="http://schemas.openxmlformats.org/drawingml/2006/main" w="30480">
            <a:solidFill>
              <a:srgbClr val="00355F"/>
            </a:solidFill>
          </a:ln>
        </p:spPr>
      </p:sp>
      <p:sp>
        <p:nvSpPr>
          <p:cNvPr id="173" name="">
            <a:extLst xmlns:a="http://schemas.openxmlformats.org/drawingml/2006/main">
              <a:ext uri="{FF2B5EF4-FFF2-40B4-BE49-F238E27FC236}">
                <a16:creationId xmlns:a16="http://schemas.microsoft.com/office/drawing/2014/main" id="{6F636D1E-47BA-4A9A-9296-190F32A833E8}"/>
              </a:ext>
            </a:extLst>
          </p:cNvPr>
          <p:cNvSpPr>
            <a:spLocks xmlns:a="http://schemas.openxmlformats.org/drawingml/2006/main" noGrp="1"/>
          </p:cNvSpPr>
          <p:nvPr/>
        </p:nvSpPr>
        <p:spPr>
          <a:xfrm xmlns:a="http://schemas.openxmlformats.org/drawingml/2006/main">
            <a:off x="7504938" y="4374642"/>
            <a:ext cx="181356" cy="181356"/>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74" name="">
            <a:extLst xmlns:a="http://schemas.openxmlformats.org/drawingml/2006/main">
              <a:ext uri="{FF2B5EF4-FFF2-40B4-BE49-F238E27FC236}">
                <a16:creationId xmlns:a16="http://schemas.microsoft.com/office/drawing/2014/main" id="{DE689E53-3CE2-4D7D-BF19-29907D0165CD}"/>
              </a:ext>
            </a:extLst>
          </p:cNvPr>
          <p:cNvSpPr>
            <a:spLocks xmlns:a="http://schemas.openxmlformats.org/drawingml/2006/main" noGrp="1"/>
          </p:cNvSpPr>
          <p:nvPr/>
        </p:nvSpPr>
        <p:spPr>
          <a:xfrm xmlns:a="http://schemas.openxmlformats.org/drawingml/2006/main">
            <a:off x="7563231" y="4303395"/>
            <a:ext cx="220218" cy="220218"/>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75" name="">
            <a:extLst xmlns:a="http://schemas.openxmlformats.org/drawingml/2006/main">
              <a:ext uri="{FF2B5EF4-FFF2-40B4-BE49-F238E27FC236}">
                <a16:creationId xmlns:a16="http://schemas.microsoft.com/office/drawing/2014/main" id="{400913B8-C289-413A-87EA-D0E59F641FF6}"/>
              </a:ext>
            </a:extLst>
          </p:cNvPr>
          <p:cNvSpPr>
            <a:spLocks xmlns:a="http://schemas.openxmlformats.org/drawingml/2006/main" noGrp="1"/>
          </p:cNvSpPr>
          <p:nvPr/>
        </p:nvSpPr>
        <p:spPr>
          <a:xfrm xmlns:a="http://schemas.openxmlformats.org/drawingml/2006/main">
            <a:off x="7660386" y="4400550"/>
            <a:ext cx="181356" cy="181356"/>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76" name="">
            <a:extLst xmlns:a="http://schemas.openxmlformats.org/drawingml/2006/main">
              <a:ext uri="{FF2B5EF4-FFF2-40B4-BE49-F238E27FC236}">
                <a16:creationId xmlns:a16="http://schemas.microsoft.com/office/drawing/2014/main" id="{3AE2B589-CEA7-43D0-9EA6-5185B8CC4B7D}"/>
              </a:ext>
            </a:extLst>
          </p:cNvPr>
          <p:cNvSpPr>
            <a:spLocks xmlns:a="http://schemas.openxmlformats.org/drawingml/2006/main" noGrp="1"/>
          </p:cNvSpPr>
          <p:nvPr/>
        </p:nvSpPr>
        <p:spPr>
          <a:xfrm xmlns:a="http://schemas.openxmlformats.org/drawingml/2006/main">
            <a:off x="7589139" y="4458843"/>
            <a:ext cx="168402" cy="168402"/>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177" name="Antibody + target">
            <a:extLst xmlns:a="http://schemas.openxmlformats.org/drawingml/2006/main">
              <a:ext uri="{FF2B5EF4-FFF2-40B4-BE49-F238E27FC236}">
                <a16:creationId xmlns:a16="http://schemas.microsoft.com/office/drawing/2014/main" id="{D1E1D520-EE26-46EC-A8C5-BAC713C0022C}"/>
              </a:ext>
            </a:extLst>
          </p:cNvPr>
          <p:cNvSpPr>
            <a:spLocks xmlns:a="http://schemas.openxmlformats.org/drawingml/2006/main" noGrp="1"/>
          </p:cNvSpPr>
          <p:nvPr/>
        </p:nvSpPr>
        <p:spPr>
          <a:xfrm xmlns:a="http://schemas.openxmlformats.org/drawingml/2006/main">
            <a:off x="6598920" y="4815840"/>
            <a:ext cx="170688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Antibody + target</a:t>
            </a:r>
          </a:p>
        </p:txBody>
      </p:sp>
      <p:sp>
        <p:nvSpPr>
          <p:cNvPr id="178" name="Diagram path">
            <a:extLst xmlns:a="http://schemas.openxmlformats.org/drawingml/2006/main">
              <a:ext uri="{FF2B5EF4-FFF2-40B4-BE49-F238E27FC236}">
                <a16:creationId xmlns:a16="http://schemas.microsoft.com/office/drawing/2014/main" id="{5C821D62-5B52-4869-9FA0-F219C9AA511E}"/>
              </a:ext>
            </a:extLst>
          </p:cNvPr>
          <p:cNvSpPr>
            <a:spLocks xmlns:a="http://schemas.openxmlformats.org/drawingml/2006/main" noGrp="1"/>
          </p:cNvSpPr>
          <p:nvPr/>
        </p:nvSpPr>
        <p:spPr>
          <a:xfrm xmlns:a="http://schemas.openxmlformats.org/drawingml/2006/main">
            <a:off x="8077200" y="4480560"/>
            <a:ext cx="358140" cy="312420"/>
          </a:xfrm>
          <a:custGeom xmlns:a="http://schemas.openxmlformats.org/drawingml/2006/main">
            <a:pathLst>
              <a:path w="358140" h="312420">
                <a:moveTo>
                  <a:pt x="0" y="0"/>
                </a:moveTo>
                <a:lnTo>
                  <a:pt x="358140" y="312420"/>
                </a:lnTo>
              </a:path>
            </a:pathLst>
          </a:custGeom>
          <a:noFill xmlns:a="http://schemas.openxmlformats.org/drawingml/2006/main"/>
          <a:ln xmlns:a="http://schemas.openxmlformats.org/drawingml/2006/main" w="19050">
            <a:solidFill>
              <a:srgbClr val="7399C6"/>
            </a:solidFill>
          </a:ln>
        </p:spPr>
      </p:sp>
      <p:sp>
        <p:nvSpPr>
          <p:cNvPr id="179" name="Diagram path">
            <a:extLst xmlns:a="http://schemas.openxmlformats.org/drawingml/2006/main">
              <a:ext uri="{FF2B5EF4-FFF2-40B4-BE49-F238E27FC236}">
                <a16:creationId xmlns:a16="http://schemas.microsoft.com/office/drawing/2014/main" id="{A2CA7C5E-15DA-437D-95B3-E19D2F080239}"/>
              </a:ext>
            </a:extLst>
          </p:cNvPr>
          <p:cNvSpPr>
            <a:spLocks xmlns:a="http://schemas.openxmlformats.org/drawingml/2006/main" noGrp="1"/>
          </p:cNvSpPr>
          <p:nvPr/>
        </p:nvSpPr>
        <p:spPr>
          <a:xfrm xmlns:a="http://schemas.openxmlformats.org/drawingml/2006/main">
            <a:off x="8367718" y="4727534"/>
            <a:ext cx="67622" cy="65446"/>
          </a:xfrm>
          <a:custGeom xmlns:a="http://schemas.openxmlformats.org/drawingml/2006/main">
            <a:pathLst>
              <a:path w="67622" h="65446">
                <a:moveTo>
                  <a:pt x="67622" y="65446"/>
                </a:moveTo>
                <a:lnTo>
                  <a:pt x="0" y="54025"/>
                </a:lnTo>
                <a:lnTo>
                  <a:pt x="47128" y="0"/>
                </a:lnTo>
                <a:close/>
              </a:path>
            </a:pathLst>
          </a:custGeom>
          <a:solidFill xmlns:a="http://schemas.openxmlformats.org/drawingml/2006/main">
            <a:srgbClr val="7399C6"/>
          </a:solidFill>
          <a:ln xmlns:a="http://schemas.openxmlformats.org/drawingml/2006/main" w="0">
            <a:noFill/>
          </a:ln>
        </p:spPr>
      </p:sp>
      <p:sp>
        <p:nvSpPr>
          <p:cNvPr id="180" name="Flat experiment component">
            <a:extLst xmlns:a="http://schemas.openxmlformats.org/drawingml/2006/main">
              <a:ext uri="{FF2B5EF4-FFF2-40B4-BE49-F238E27FC236}">
                <a16:creationId xmlns:a16="http://schemas.microsoft.com/office/drawing/2014/main" id="{102FE6FF-AAAD-4DB5-B116-1FE1E92D3269}"/>
              </a:ext>
            </a:extLst>
          </p:cNvPr>
          <p:cNvSpPr>
            <a:spLocks xmlns:a="http://schemas.openxmlformats.org/drawingml/2006/main" noGrp="1"/>
          </p:cNvSpPr>
          <p:nvPr/>
        </p:nvSpPr>
        <p:spPr>
          <a:xfrm xmlns:a="http://schemas.openxmlformats.org/drawingml/2006/main">
            <a:off x="7970520" y="4953000"/>
            <a:ext cx="838200" cy="480060"/>
          </a:xfrm>
          <a:prstGeom xmlns:a="http://schemas.openxmlformats.org/drawingml/2006/main" prst="roundRect">
            <a:avLst>
              <a:gd name="adj" fmla="val 11111"/>
            </a:avLst>
          </a:prstGeom>
          <a:solidFill xmlns:a="http://schemas.openxmlformats.org/drawingml/2006/main">
            <a:srgbClr val="ACD4F1"/>
          </a:solidFill>
          <a:ln xmlns:a="http://schemas.openxmlformats.org/drawingml/2006/main" w="15240">
            <a:solidFill>
              <a:srgbClr val="00355F"/>
            </a:solidFill>
          </a:ln>
        </p:spPr>
      </p:sp>
      <p:sp>
        <p:nvSpPr>
          <p:cNvPr id="181" name="">
            <a:extLst xmlns:a="http://schemas.openxmlformats.org/drawingml/2006/main">
              <a:ext uri="{FF2B5EF4-FFF2-40B4-BE49-F238E27FC236}">
                <a16:creationId xmlns:a16="http://schemas.microsoft.com/office/drawing/2014/main" id="{C136616A-D5B5-43FD-AA6D-A51D73C9D263}"/>
              </a:ext>
            </a:extLst>
          </p:cNvPr>
          <p:cNvSpPr>
            <a:spLocks xmlns:a="http://schemas.openxmlformats.org/drawingml/2006/main" noGrp="1"/>
          </p:cNvSpPr>
          <p:nvPr/>
        </p:nvSpPr>
        <p:spPr>
          <a:xfrm xmlns:a="http://schemas.openxmlformats.org/drawingml/2006/main">
            <a:off x="8036052" y="501091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182" name="">
            <a:extLst xmlns:a="http://schemas.openxmlformats.org/drawingml/2006/main">
              <a:ext uri="{FF2B5EF4-FFF2-40B4-BE49-F238E27FC236}">
                <a16:creationId xmlns:a16="http://schemas.microsoft.com/office/drawing/2014/main" id="{12DD9E82-FC74-415F-A100-6D33362F370C}"/>
              </a:ext>
            </a:extLst>
          </p:cNvPr>
          <p:cNvSpPr>
            <a:spLocks xmlns:a="http://schemas.openxmlformats.org/drawingml/2006/main" noGrp="1"/>
          </p:cNvSpPr>
          <p:nvPr/>
        </p:nvSpPr>
        <p:spPr>
          <a:xfrm xmlns:a="http://schemas.openxmlformats.org/drawingml/2006/main">
            <a:off x="8164068" y="50109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83" name="">
            <a:extLst xmlns:a="http://schemas.openxmlformats.org/drawingml/2006/main">
              <a:ext uri="{FF2B5EF4-FFF2-40B4-BE49-F238E27FC236}">
                <a16:creationId xmlns:a16="http://schemas.microsoft.com/office/drawing/2014/main" id="{71043913-3278-4C85-8B43-2845AC08227B}"/>
              </a:ext>
            </a:extLst>
          </p:cNvPr>
          <p:cNvSpPr>
            <a:spLocks xmlns:a="http://schemas.openxmlformats.org/drawingml/2006/main" noGrp="1"/>
          </p:cNvSpPr>
          <p:nvPr/>
        </p:nvSpPr>
        <p:spPr>
          <a:xfrm xmlns:a="http://schemas.openxmlformats.org/drawingml/2006/main">
            <a:off x="8292084" y="50109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84" name="">
            <a:extLst xmlns:a="http://schemas.openxmlformats.org/drawingml/2006/main">
              <a:ext uri="{FF2B5EF4-FFF2-40B4-BE49-F238E27FC236}">
                <a16:creationId xmlns:a16="http://schemas.microsoft.com/office/drawing/2014/main" id="{784E3296-53A7-4011-98C6-E14CFDD9F5A3}"/>
              </a:ext>
            </a:extLst>
          </p:cNvPr>
          <p:cNvSpPr>
            <a:spLocks xmlns:a="http://schemas.openxmlformats.org/drawingml/2006/main" noGrp="1"/>
          </p:cNvSpPr>
          <p:nvPr/>
        </p:nvSpPr>
        <p:spPr>
          <a:xfrm xmlns:a="http://schemas.openxmlformats.org/drawingml/2006/main">
            <a:off x="8420100" y="50109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85" name="">
            <a:extLst xmlns:a="http://schemas.openxmlformats.org/drawingml/2006/main">
              <a:ext uri="{FF2B5EF4-FFF2-40B4-BE49-F238E27FC236}">
                <a16:creationId xmlns:a16="http://schemas.microsoft.com/office/drawing/2014/main" id="{C91C5ACE-D751-4516-B99F-8327C6891BB7}"/>
              </a:ext>
            </a:extLst>
          </p:cNvPr>
          <p:cNvSpPr>
            <a:spLocks xmlns:a="http://schemas.openxmlformats.org/drawingml/2006/main" noGrp="1"/>
          </p:cNvSpPr>
          <p:nvPr/>
        </p:nvSpPr>
        <p:spPr>
          <a:xfrm xmlns:a="http://schemas.openxmlformats.org/drawingml/2006/main">
            <a:off x="8548116" y="50109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86" name="">
            <a:extLst xmlns:a="http://schemas.openxmlformats.org/drawingml/2006/main">
              <a:ext uri="{FF2B5EF4-FFF2-40B4-BE49-F238E27FC236}">
                <a16:creationId xmlns:a16="http://schemas.microsoft.com/office/drawing/2014/main" id="{4E787F2F-3FDA-4535-9175-8D00A37F9F97}"/>
              </a:ext>
            </a:extLst>
          </p:cNvPr>
          <p:cNvSpPr>
            <a:spLocks xmlns:a="http://schemas.openxmlformats.org/drawingml/2006/main" noGrp="1"/>
          </p:cNvSpPr>
          <p:nvPr/>
        </p:nvSpPr>
        <p:spPr>
          <a:xfrm xmlns:a="http://schemas.openxmlformats.org/drawingml/2006/main">
            <a:off x="8676132" y="501091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187" name="">
            <a:extLst xmlns:a="http://schemas.openxmlformats.org/drawingml/2006/main">
              <a:ext uri="{FF2B5EF4-FFF2-40B4-BE49-F238E27FC236}">
                <a16:creationId xmlns:a16="http://schemas.microsoft.com/office/drawing/2014/main" id="{36586023-AD1C-4AE8-88B2-F68426726C98}"/>
              </a:ext>
            </a:extLst>
          </p:cNvPr>
          <p:cNvSpPr>
            <a:spLocks xmlns:a="http://schemas.openxmlformats.org/drawingml/2006/main" noGrp="1"/>
          </p:cNvSpPr>
          <p:nvPr/>
        </p:nvSpPr>
        <p:spPr>
          <a:xfrm xmlns:a="http://schemas.openxmlformats.org/drawingml/2006/main">
            <a:off x="8036052" y="515950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88" name="">
            <a:extLst xmlns:a="http://schemas.openxmlformats.org/drawingml/2006/main">
              <a:ext uri="{FF2B5EF4-FFF2-40B4-BE49-F238E27FC236}">
                <a16:creationId xmlns:a16="http://schemas.microsoft.com/office/drawing/2014/main" id="{EDF05B18-C5F1-4054-9BC7-93B306F16D8A}"/>
              </a:ext>
            </a:extLst>
          </p:cNvPr>
          <p:cNvSpPr>
            <a:spLocks xmlns:a="http://schemas.openxmlformats.org/drawingml/2006/main" noGrp="1"/>
          </p:cNvSpPr>
          <p:nvPr/>
        </p:nvSpPr>
        <p:spPr>
          <a:xfrm xmlns:a="http://schemas.openxmlformats.org/drawingml/2006/main">
            <a:off x="8164068" y="515950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89" name="">
            <a:extLst xmlns:a="http://schemas.openxmlformats.org/drawingml/2006/main">
              <a:ext uri="{FF2B5EF4-FFF2-40B4-BE49-F238E27FC236}">
                <a16:creationId xmlns:a16="http://schemas.microsoft.com/office/drawing/2014/main" id="{B92F459A-6CB4-42AB-916B-939DF14824B6}"/>
              </a:ext>
            </a:extLst>
          </p:cNvPr>
          <p:cNvSpPr>
            <a:spLocks xmlns:a="http://schemas.openxmlformats.org/drawingml/2006/main" noGrp="1"/>
          </p:cNvSpPr>
          <p:nvPr/>
        </p:nvSpPr>
        <p:spPr>
          <a:xfrm xmlns:a="http://schemas.openxmlformats.org/drawingml/2006/main">
            <a:off x="8292084" y="515950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0" name="">
            <a:extLst xmlns:a="http://schemas.openxmlformats.org/drawingml/2006/main">
              <a:ext uri="{FF2B5EF4-FFF2-40B4-BE49-F238E27FC236}">
                <a16:creationId xmlns:a16="http://schemas.microsoft.com/office/drawing/2014/main" id="{43B67593-2912-4BE0-8ABD-6255AB3117E1}"/>
              </a:ext>
            </a:extLst>
          </p:cNvPr>
          <p:cNvSpPr>
            <a:spLocks xmlns:a="http://schemas.openxmlformats.org/drawingml/2006/main" noGrp="1"/>
          </p:cNvSpPr>
          <p:nvPr/>
        </p:nvSpPr>
        <p:spPr>
          <a:xfrm xmlns:a="http://schemas.openxmlformats.org/drawingml/2006/main">
            <a:off x="8420100" y="515950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1" name="">
            <a:extLst xmlns:a="http://schemas.openxmlformats.org/drawingml/2006/main">
              <a:ext uri="{FF2B5EF4-FFF2-40B4-BE49-F238E27FC236}">
                <a16:creationId xmlns:a16="http://schemas.microsoft.com/office/drawing/2014/main" id="{34A29DC5-92BA-48E7-8983-0C4EC267C232}"/>
              </a:ext>
            </a:extLst>
          </p:cNvPr>
          <p:cNvSpPr>
            <a:spLocks xmlns:a="http://schemas.openxmlformats.org/drawingml/2006/main" noGrp="1"/>
          </p:cNvSpPr>
          <p:nvPr/>
        </p:nvSpPr>
        <p:spPr>
          <a:xfrm xmlns:a="http://schemas.openxmlformats.org/drawingml/2006/main">
            <a:off x="8548116" y="515950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192" name="">
            <a:extLst xmlns:a="http://schemas.openxmlformats.org/drawingml/2006/main">
              <a:ext uri="{FF2B5EF4-FFF2-40B4-BE49-F238E27FC236}">
                <a16:creationId xmlns:a16="http://schemas.microsoft.com/office/drawing/2014/main" id="{B5A09EA4-137B-42E5-ABC4-BEDC2DD8C802}"/>
              </a:ext>
            </a:extLst>
          </p:cNvPr>
          <p:cNvSpPr>
            <a:spLocks xmlns:a="http://schemas.openxmlformats.org/drawingml/2006/main" noGrp="1"/>
          </p:cNvSpPr>
          <p:nvPr/>
        </p:nvSpPr>
        <p:spPr>
          <a:xfrm xmlns:a="http://schemas.openxmlformats.org/drawingml/2006/main">
            <a:off x="8676132" y="515950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3" name="">
            <a:extLst xmlns:a="http://schemas.openxmlformats.org/drawingml/2006/main">
              <a:ext uri="{FF2B5EF4-FFF2-40B4-BE49-F238E27FC236}">
                <a16:creationId xmlns:a16="http://schemas.microsoft.com/office/drawing/2014/main" id="{73C83EBB-11E1-4355-9717-CB564564D8C6}"/>
              </a:ext>
            </a:extLst>
          </p:cNvPr>
          <p:cNvSpPr>
            <a:spLocks xmlns:a="http://schemas.openxmlformats.org/drawingml/2006/main" noGrp="1"/>
          </p:cNvSpPr>
          <p:nvPr/>
        </p:nvSpPr>
        <p:spPr>
          <a:xfrm xmlns:a="http://schemas.openxmlformats.org/drawingml/2006/main">
            <a:off x="8036052" y="53080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4" name="">
            <a:extLst xmlns:a="http://schemas.openxmlformats.org/drawingml/2006/main">
              <a:ext uri="{FF2B5EF4-FFF2-40B4-BE49-F238E27FC236}">
                <a16:creationId xmlns:a16="http://schemas.microsoft.com/office/drawing/2014/main" id="{B765DFB5-C1A1-4BE5-8AD2-92018D778CF9}"/>
              </a:ext>
            </a:extLst>
          </p:cNvPr>
          <p:cNvSpPr>
            <a:spLocks xmlns:a="http://schemas.openxmlformats.org/drawingml/2006/main" noGrp="1"/>
          </p:cNvSpPr>
          <p:nvPr/>
        </p:nvSpPr>
        <p:spPr>
          <a:xfrm xmlns:a="http://schemas.openxmlformats.org/drawingml/2006/main">
            <a:off x="8164068" y="53080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5" name="">
            <a:extLst xmlns:a="http://schemas.openxmlformats.org/drawingml/2006/main">
              <a:ext uri="{FF2B5EF4-FFF2-40B4-BE49-F238E27FC236}">
                <a16:creationId xmlns:a16="http://schemas.microsoft.com/office/drawing/2014/main" id="{204D4658-245A-4116-A072-849781864C63}"/>
              </a:ext>
            </a:extLst>
          </p:cNvPr>
          <p:cNvSpPr>
            <a:spLocks xmlns:a="http://schemas.openxmlformats.org/drawingml/2006/main" noGrp="1"/>
          </p:cNvSpPr>
          <p:nvPr/>
        </p:nvSpPr>
        <p:spPr>
          <a:xfrm xmlns:a="http://schemas.openxmlformats.org/drawingml/2006/main">
            <a:off x="8292084" y="53080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6" name="">
            <a:extLst xmlns:a="http://schemas.openxmlformats.org/drawingml/2006/main">
              <a:ext uri="{FF2B5EF4-FFF2-40B4-BE49-F238E27FC236}">
                <a16:creationId xmlns:a16="http://schemas.microsoft.com/office/drawing/2014/main" id="{BFD7816E-6590-4E91-B9C6-F8B09757FBDD}"/>
              </a:ext>
            </a:extLst>
          </p:cNvPr>
          <p:cNvSpPr>
            <a:spLocks xmlns:a="http://schemas.openxmlformats.org/drawingml/2006/main" noGrp="1"/>
          </p:cNvSpPr>
          <p:nvPr/>
        </p:nvSpPr>
        <p:spPr>
          <a:xfrm xmlns:a="http://schemas.openxmlformats.org/drawingml/2006/main">
            <a:off x="8420100" y="530809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197" name="">
            <a:extLst xmlns:a="http://schemas.openxmlformats.org/drawingml/2006/main">
              <a:ext uri="{FF2B5EF4-FFF2-40B4-BE49-F238E27FC236}">
                <a16:creationId xmlns:a16="http://schemas.microsoft.com/office/drawing/2014/main" id="{92156FCE-A612-42E3-B9C5-FE6AE6566043}"/>
              </a:ext>
            </a:extLst>
          </p:cNvPr>
          <p:cNvSpPr>
            <a:spLocks xmlns:a="http://schemas.openxmlformats.org/drawingml/2006/main" noGrp="1"/>
          </p:cNvSpPr>
          <p:nvPr/>
        </p:nvSpPr>
        <p:spPr>
          <a:xfrm xmlns:a="http://schemas.openxmlformats.org/drawingml/2006/main">
            <a:off x="8548116" y="53080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8" name="">
            <a:extLst xmlns:a="http://schemas.openxmlformats.org/drawingml/2006/main">
              <a:ext uri="{FF2B5EF4-FFF2-40B4-BE49-F238E27FC236}">
                <a16:creationId xmlns:a16="http://schemas.microsoft.com/office/drawing/2014/main" id="{D2E2A44D-00A2-42EE-9F2D-4AFC3316E528}"/>
              </a:ext>
            </a:extLst>
          </p:cNvPr>
          <p:cNvSpPr>
            <a:spLocks xmlns:a="http://schemas.openxmlformats.org/drawingml/2006/main" noGrp="1"/>
          </p:cNvSpPr>
          <p:nvPr/>
        </p:nvSpPr>
        <p:spPr>
          <a:xfrm xmlns:a="http://schemas.openxmlformats.org/drawingml/2006/main">
            <a:off x="8676132" y="530809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199" name="Flat experiment component">
            <a:extLst xmlns:a="http://schemas.openxmlformats.org/drawingml/2006/main">
              <a:ext uri="{FF2B5EF4-FFF2-40B4-BE49-F238E27FC236}">
                <a16:creationId xmlns:a16="http://schemas.microsoft.com/office/drawing/2014/main" id="{A2975F05-49BA-442A-9FCD-AD6AF2B519BC}"/>
              </a:ext>
            </a:extLst>
          </p:cNvPr>
          <p:cNvSpPr>
            <a:spLocks xmlns:a="http://schemas.openxmlformats.org/drawingml/2006/main" noGrp="1"/>
          </p:cNvSpPr>
          <p:nvPr/>
        </p:nvSpPr>
        <p:spPr>
          <a:xfrm xmlns:a="http://schemas.openxmlformats.org/drawingml/2006/main">
            <a:off x="6667500" y="5372100"/>
            <a:ext cx="1089660" cy="822960"/>
          </a:xfrm>
          <a:prstGeom xmlns:a="http://schemas.openxmlformats.org/drawingml/2006/main" prst="roundRect">
            <a:avLst>
              <a:gd name="adj" fmla="val 6481"/>
            </a:avLst>
          </a:prstGeom>
          <a:solidFill xmlns:a="http://schemas.openxmlformats.org/drawingml/2006/main">
            <a:srgbClr val="FFFFFF"/>
          </a:solidFill>
          <a:ln xmlns:a="http://schemas.openxmlformats.org/drawingml/2006/main" w="19050">
            <a:solidFill>
              <a:srgbClr val="00355F"/>
            </a:solidFill>
          </a:ln>
        </p:spPr>
      </p:sp>
      <p:sp>
        <p:nvSpPr>
          <p:cNvPr id="200" name="Flat experiment component">
            <a:extLst xmlns:a="http://schemas.openxmlformats.org/drawingml/2006/main">
              <a:ext uri="{FF2B5EF4-FFF2-40B4-BE49-F238E27FC236}">
                <a16:creationId xmlns:a16="http://schemas.microsoft.com/office/drawing/2014/main" id="{68DCF752-EE20-465B-89C5-B76E0D4100F2}"/>
              </a:ext>
            </a:extLst>
          </p:cNvPr>
          <p:cNvSpPr>
            <a:spLocks xmlns:a="http://schemas.openxmlformats.org/drawingml/2006/main" noGrp="1"/>
          </p:cNvSpPr>
          <p:nvPr/>
        </p:nvSpPr>
        <p:spPr>
          <a:xfrm xmlns:a="http://schemas.openxmlformats.org/drawingml/2006/main">
            <a:off x="6743700" y="5478780"/>
            <a:ext cx="937260" cy="220980"/>
          </a:xfrm>
          <a:prstGeom xmlns:a="http://schemas.openxmlformats.org/drawingml/2006/main" prst="roundRect">
            <a:avLst>
              <a:gd name="adj" fmla="val 10345"/>
            </a:avLst>
          </a:prstGeom>
          <a:solidFill xmlns:a="http://schemas.openxmlformats.org/drawingml/2006/main">
            <a:srgbClr val="ACD4F1"/>
          </a:solidFill>
          <a:ln xmlns:a="http://schemas.openxmlformats.org/drawingml/2006/main" w="11430">
            <a:solidFill>
              <a:srgbClr val="00355F"/>
            </a:solidFill>
          </a:ln>
        </p:spPr>
      </p:sp>
      <p:sp>
        <p:nvSpPr>
          <p:cNvPr id="201" name="BLI">
            <a:extLst xmlns:a="http://schemas.openxmlformats.org/drawingml/2006/main">
              <a:ext uri="{FF2B5EF4-FFF2-40B4-BE49-F238E27FC236}">
                <a16:creationId xmlns:a16="http://schemas.microsoft.com/office/drawing/2014/main" id="{A7BE9503-5F2A-4169-9F5F-313814EC933E}"/>
              </a:ext>
            </a:extLst>
          </p:cNvPr>
          <p:cNvSpPr>
            <a:spLocks xmlns:a="http://schemas.openxmlformats.org/drawingml/2006/main" noGrp="1"/>
          </p:cNvSpPr>
          <p:nvPr/>
        </p:nvSpPr>
        <p:spPr>
          <a:xfrm xmlns:a="http://schemas.openxmlformats.org/drawingml/2006/main">
            <a:off x="6758940" y="5516880"/>
            <a:ext cx="906780" cy="167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960" b="1">
                <a:solidFill>
                  <a:srgbClr val="00355F"/>
                </a:solidFill>
                <a:latin typeface="Arial"/>
                <a:ea typeface="Arial"/>
                <a:cs typeface="Arial"/>
              </a:defRPr>
            </a:defPPr>
          </a:lstStyle>
          <a:p xmlns:a="http://schemas.openxmlformats.org/drawingml/2006/main">
            <a:pPr algn="ctr">
              <a:lnSpc>
                <a:spcPct val="100000"/>
              </a:lnSpc>
              <a:buNone/>
              <a:defRPr sz="960" b="1">
                <a:solidFill>
                  <a:srgbClr val="00355F"/>
                </a:solidFill>
                <a:latin typeface="Arial"/>
                <a:ea typeface="Arial"/>
                <a:cs typeface="Arial"/>
              </a:defRPr>
            </a:pPr>
            <a:r>
              <a:rPr sz="960" b="1">
                <a:solidFill>
                  <a:srgbClr val="00355F"/>
                </a:solidFill>
                <a:latin typeface="Arial"/>
                <a:ea typeface="Arial"/>
                <a:cs typeface="Arial"/>
              </a:rPr>
              <a:t>BLI</a:t>
            </a:r>
          </a:p>
        </p:txBody>
      </p:sp>
      <p:sp>
        <p:nvSpPr>
          <p:cNvPr id="202" name="Flat experiment component">
            <a:extLst xmlns:a="http://schemas.openxmlformats.org/drawingml/2006/main">
              <a:ext uri="{FF2B5EF4-FFF2-40B4-BE49-F238E27FC236}">
                <a16:creationId xmlns:a16="http://schemas.microsoft.com/office/drawing/2014/main" id="{22028D0A-0538-47F3-B56D-1B5581137E3B}"/>
              </a:ext>
            </a:extLst>
          </p:cNvPr>
          <p:cNvSpPr>
            <a:spLocks xmlns:a="http://schemas.openxmlformats.org/drawingml/2006/main" noGrp="1"/>
          </p:cNvSpPr>
          <p:nvPr/>
        </p:nvSpPr>
        <p:spPr>
          <a:xfrm xmlns:a="http://schemas.openxmlformats.org/drawingml/2006/main">
            <a:off x="6781800" y="5806440"/>
            <a:ext cx="861060" cy="205740"/>
          </a:xfrm>
          <a:prstGeom xmlns:a="http://schemas.openxmlformats.org/drawingml/2006/main" prst="roundRect">
            <a:avLst>
              <a:gd name="adj" fmla="val 11111"/>
            </a:avLst>
          </a:prstGeom>
          <a:solidFill xmlns:a="http://schemas.openxmlformats.org/drawingml/2006/main">
            <a:srgbClr val="00355F"/>
          </a:solidFill>
          <a:ln xmlns:a="http://schemas.openxmlformats.org/drawingml/2006/main" w="0">
            <a:noFill/>
          </a:ln>
        </p:spPr>
      </p:sp>
      <p:sp>
        <p:nvSpPr>
          <p:cNvPr id="203" name="Diagram path">
            <a:extLst xmlns:a="http://schemas.openxmlformats.org/drawingml/2006/main">
              <a:ext uri="{FF2B5EF4-FFF2-40B4-BE49-F238E27FC236}">
                <a16:creationId xmlns:a16="http://schemas.microsoft.com/office/drawing/2014/main" id="{6956B437-A100-4FB4-B0EE-E2EC7BB44E2F}"/>
              </a:ext>
            </a:extLst>
          </p:cNvPr>
          <p:cNvSpPr>
            <a:spLocks xmlns:a="http://schemas.openxmlformats.org/drawingml/2006/main" noGrp="1"/>
          </p:cNvSpPr>
          <p:nvPr/>
        </p:nvSpPr>
        <p:spPr>
          <a:xfrm xmlns:a="http://schemas.openxmlformats.org/drawingml/2006/main">
            <a:off x="6865620" y="5882640"/>
            <a:ext cx="693420" cy="762"/>
          </a:xfrm>
          <a:custGeom xmlns:a="http://schemas.openxmlformats.org/drawingml/2006/main">
            <a:pathLst>
              <a:path w="693420" h="762">
                <a:moveTo>
                  <a:pt x="0" y="0"/>
                </a:moveTo>
                <a:lnTo>
                  <a:pt x="693420" y="0"/>
                </a:lnTo>
              </a:path>
            </a:pathLst>
          </a:custGeom>
          <a:noFill xmlns:a="http://schemas.openxmlformats.org/drawingml/2006/main"/>
          <a:ln xmlns:a="http://schemas.openxmlformats.org/drawingml/2006/main" w="15240">
            <a:solidFill>
              <a:srgbClr val="ACD4F1"/>
            </a:solidFill>
          </a:ln>
        </p:spPr>
      </p:sp>
      <p:sp>
        <p:nvSpPr>
          <p:cNvPr id="204" name="">
            <a:extLst xmlns:a="http://schemas.openxmlformats.org/drawingml/2006/main">
              <a:ext uri="{FF2B5EF4-FFF2-40B4-BE49-F238E27FC236}">
                <a16:creationId xmlns:a16="http://schemas.microsoft.com/office/drawing/2014/main" id="{03BDECE8-0471-4719-989C-CFCEA58A0681}"/>
              </a:ext>
            </a:extLst>
          </p:cNvPr>
          <p:cNvSpPr>
            <a:spLocks xmlns:a="http://schemas.openxmlformats.org/drawingml/2006/main" noGrp="1"/>
          </p:cNvSpPr>
          <p:nvPr/>
        </p:nvSpPr>
        <p:spPr>
          <a:xfrm xmlns:a="http://schemas.openxmlformats.org/drawingml/2006/main">
            <a:off x="7604760" y="6096000"/>
            <a:ext cx="45720" cy="4572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205" name="Diagram path">
            <a:extLst xmlns:a="http://schemas.openxmlformats.org/drawingml/2006/main">
              <a:ext uri="{FF2B5EF4-FFF2-40B4-BE49-F238E27FC236}">
                <a16:creationId xmlns:a16="http://schemas.microsoft.com/office/drawing/2014/main" id="{5F6C5A66-0BB9-41F2-8A3B-1BA9FD532ECE}"/>
              </a:ext>
            </a:extLst>
          </p:cNvPr>
          <p:cNvSpPr>
            <a:spLocks xmlns:a="http://schemas.openxmlformats.org/drawingml/2006/main" noGrp="1"/>
          </p:cNvSpPr>
          <p:nvPr/>
        </p:nvSpPr>
        <p:spPr>
          <a:xfrm xmlns:a="http://schemas.openxmlformats.org/drawingml/2006/main">
            <a:off x="7101840" y="5120640"/>
            <a:ext cx="304800" cy="167640"/>
          </a:xfrm>
          <a:custGeom xmlns:a="http://schemas.openxmlformats.org/drawingml/2006/main">
            <a:pathLst>
              <a:path w="304800" h="167640">
                <a:moveTo>
                  <a:pt x="0" y="167640"/>
                </a:moveTo>
                <a:lnTo>
                  <a:pt x="0" y="0"/>
                </a:lnTo>
                <a:lnTo>
                  <a:pt x="304800" y="0"/>
                </a:lnTo>
              </a:path>
            </a:pathLst>
          </a:custGeom>
          <a:noFill xmlns:a="http://schemas.openxmlformats.org/drawingml/2006/main"/>
          <a:ln xmlns:a="http://schemas.openxmlformats.org/drawingml/2006/main" w="15240">
            <a:solidFill>
              <a:srgbClr val="7399C6"/>
            </a:solidFill>
          </a:ln>
        </p:spPr>
      </p:sp>
      <p:sp>
        <p:nvSpPr>
          <p:cNvPr id="206" name="Flat experiment component">
            <a:extLst xmlns:a="http://schemas.openxmlformats.org/drawingml/2006/main">
              <a:ext uri="{FF2B5EF4-FFF2-40B4-BE49-F238E27FC236}">
                <a16:creationId xmlns:a16="http://schemas.microsoft.com/office/drawing/2014/main" id="{9E507984-9BE6-42F7-94F7-5757D62952CE}"/>
              </a:ext>
            </a:extLst>
          </p:cNvPr>
          <p:cNvSpPr>
            <a:spLocks xmlns:a="http://schemas.openxmlformats.org/drawingml/2006/main" noGrp="1"/>
          </p:cNvSpPr>
          <p:nvPr/>
        </p:nvSpPr>
        <p:spPr>
          <a:xfrm xmlns:a="http://schemas.openxmlformats.org/drawingml/2006/main">
            <a:off x="7269480" y="496062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207" name="Diagram path">
            <a:extLst xmlns:a="http://schemas.openxmlformats.org/drawingml/2006/main">
              <a:ext uri="{FF2B5EF4-FFF2-40B4-BE49-F238E27FC236}">
                <a16:creationId xmlns:a16="http://schemas.microsoft.com/office/drawing/2014/main" id="{B9AB663E-FAC2-41D6-9924-C6942D47E76B}"/>
              </a:ext>
            </a:extLst>
          </p:cNvPr>
          <p:cNvSpPr>
            <a:spLocks xmlns:a="http://schemas.openxmlformats.org/drawingml/2006/main" noGrp="1"/>
          </p:cNvSpPr>
          <p:nvPr/>
        </p:nvSpPr>
        <p:spPr>
          <a:xfrm xmlns:a="http://schemas.openxmlformats.org/drawingml/2006/main">
            <a:off x="7292340" y="5029200"/>
            <a:ext cx="129540" cy="175260"/>
          </a:xfrm>
          <a:custGeom xmlns:a="http://schemas.openxmlformats.org/drawingml/2006/main">
            <a:pathLst>
              <a:path w="129540" h="175260">
                <a:moveTo>
                  <a:pt x="0" y="0"/>
                </a:moveTo>
                <a:lnTo>
                  <a:pt x="129540" y="0"/>
                </a:lnTo>
                <a:lnTo>
                  <a:pt x="129540" y="76200"/>
                </a:lnTo>
                <a:lnTo>
                  <a:pt x="68580" y="175260"/>
                </a:lnTo>
                <a:lnTo>
                  <a:pt x="0" y="76200"/>
                </a:lnTo>
                <a:close/>
              </a:path>
            </a:pathLst>
          </a:custGeom>
          <a:solidFill xmlns:a="http://schemas.openxmlformats.org/drawingml/2006/main">
            <a:srgbClr val="FFFFFF"/>
          </a:solidFill>
          <a:ln xmlns:a="http://schemas.openxmlformats.org/drawingml/2006/main" w="15240">
            <a:solidFill>
              <a:srgbClr val="00355F"/>
            </a:solidFill>
          </a:ln>
        </p:spPr>
      </p:sp>
      <p:sp>
        <p:nvSpPr>
          <p:cNvPr id="208" name="Diagram path">
            <a:extLst xmlns:a="http://schemas.openxmlformats.org/drawingml/2006/main">
              <a:ext uri="{FF2B5EF4-FFF2-40B4-BE49-F238E27FC236}">
                <a16:creationId xmlns:a16="http://schemas.microsoft.com/office/drawing/2014/main" id="{9D116AD7-6022-431C-AC2D-7D8BFD147102}"/>
              </a:ext>
            </a:extLst>
          </p:cNvPr>
          <p:cNvSpPr>
            <a:spLocks xmlns:a="http://schemas.openxmlformats.org/drawingml/2006/main" noGrp="1"/>
          </p:cNvSpPr>
          <p:nvPr/>
        </p:nvSpPr>
        <p:spPr>
          <a:xfrm xmlns:a="http://schemas.openxmlformats.org/drawingml/2006/main">
            <a:off x="7307580" y="5087417"/>
            <a:ext cx="99060" cy="86563"/>
          </a:xfrm>
          <a:custGeom xmlns:a="http://schemas.openxmlformats.org/drawingml/2006/main">
            <a:pathLst>
              <a:path w="99060" h="86563">
                <a:moveTo>
                  <a:pt x="0" y="0"/>
                </a:moveTo>
                <a:lnTo>
                  <a:pt x="99060" y="0"/>
                </a:lnTo>
                <a:lnTo>
                  <a:pt x="99060" y="10363"/>
                </a:lnTo>
                <a:lnTo>
                  <a:pt x="53340" y="86563"/>
                </a:lnTo>
                <a:lnTo>
                  <a:pt x="0" y="10363"/>
                </a:lnTo>
                <a:close/>
              </a:path>
            </a:pathLst>
          </a:custGeom>
          <a:solidFill xmlns:a="http://schemas.openxmlformats.org/drawingml/2006/main">
            <a:srgbClr val="ACD4F1"/>
          </a:solidFill>
          <a:ln xmlns:a="http://schemas.openxmlformats.org/drawingml/2006/main" w="0">
            <a:noFill/>
          </a:ln>
        </p:spPr>
      </p:sp>
      <p:sp>
        <p:nvSpPr>
          <p:cNvPr id="209" name="Assay plate">
            <a:extLst xmlns:a="http://schemas.openxmlformats.org/drawingml/2006/main">
              <a:ext uri="{FF2B5EF4-FFF2-40B4-BE49-F238E27FC236}">
                <a16:creationId xmlns:a16="http://schemas.microsoft.com/office/drawing/2014/main" id="{EFA6E5E4-332D-434D-B8FA-1CD746BF5A71}"/>
              </a:ext>
            </a:extLst>
          </p:cNvPr>
          <p:cNvSpPr>
            <a:spLocks xmlns:a="http://schemas.openxmlformats.org/drawingml/2006/main" noGrp="1"/>
          </p:cNvSpPr>
          <p:nvPr/>
        </p:nvSpPr>
        <p:spPr>
          <a:xfrm xmlns:a="http://schemas.openxmlformats.org/drawingml/2006/main">
            <a:off x="7917180" y="5539740"/>
            <a:ext cx="93726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Assay plate</a:t>
            </a:r>
          </a:p>
        </p:txBody>
      </p:sp>
      <p:sp>
        <p:nvSpPr>
          <p:cNvPr id="210" name="Diagram path">
            <a:extLst xmlns:a="http://schemas.openxmlformats.org/drawingml/2006/main">
              <a:ext uri="{FF2B5EF4-FFF2-40B4-BE49-F238E27FC236}">
                <a16:creationId xmlns:a16="http://schemas.microsoft.com/office/drawing/2014/main" id="{1D120DEC-DBCB-48B2-BED3-0F87F5B7A782}"/>
              </a:ext>
            </a:extLst>
          </p:cNvPr>
          <p:cNvSpPr>
            <a:spLocks xmlns:a="http://schemas.openxmlformats.org/drawingml/2006/main" noGrp="1"/>
          </p:cNvSpPr>
          <p:nvPr/>
        </p:nvSpPr>
        <p:spPr>
          <a:xfrm xmlns:a="http://schemas.openxmlformats.org/drawingml/2006/main">
            <a:off x="8054340" y="5844540"/>
            <a:ext cx="716280" cy="495300"/>
          </a:xfrm>
          <a:custGeom xmlns:a="http://schemas.openxmlformats.org/drawingml/2006/main">
            <a:pathLst>
              <a:path w="716280" h="495300">
                <a:moveTo>
                  <a:pt x="0" y="0"/>
                </a:moveTo>
                <a:lnTo>
                  <a:pt x="0" y="495300"/>
                </a:lnTo>
                <a:lnTo>
                  <a:pt x="716280" y="495300"/>
                </a:lnTo>
              </a:path>
            </a:pathLst>
          </a:custGeom>
          <a:noFill xmlns:a="http://schemas.openxmlformats.org/drawingml/2006/main"/>
          <a:ln xmlns:a="http://schemas.openxmlformats.org/drawingml/2006/main" w="11430">
            <a:solidFill>
              <a:srgbClr val="7399C6"/>
            </a:solidFill>
          </a:ln>
        </p:spPr>
      </p:sp>
      <p:sp>
        <p:nvSpPr>
          <p:cNvPr id="211" name="Diagram path">
            <a:extLst xmlns:a="http://schemas.openxmlformats.org/drawingml/2006/main">
              <a:ext uri="{FF2B5EF4-FFF2-40B4-BE49-F238E27FC236}">
                <a16:creationId xmlns:a16="http://schemas.microsoft.com/office/drawing/2014/main" id="{EA71FB41-AE2D-46BF-A267-56223D7CD222}"/>
              </a:ext>
            </a:extLst>
          </p:cNvPr>
          <p:cNvSpPr>
            <a:spLocks xmlns:a="http://schemas.openxmlformats.org/drawingml/2006/main" noGrp="1"/>
          </p:cNvSpPr>
          <p:nvPr/>
        </p:nvSpPr>
        <p:spPr>
          <a:xfrm xmlns:a="http://schemas.openxmlformats.org/drawingml/2006/main">
            <a:off x="8054340" y="5928741"/>
            <a:ext cx="716280" cy="381381"/>
          </a:xfrm>
          <a:custGeom xmlns:a="http://schemas.openxmlformats.org/drawingml/2006/main">
            <a:pathLst>
              <a:path w="716280" h="381381">
                <a:moveTo>
                  <a:pt x="0" y="381381"/>
                </a:moveTo>
                <a:lnTo>
                  <a:pt x="85954" y="232791"/>
                </a:lnTo>
                <a:lnTo>
                  <a:pt x="179070" y="89154"/>
                </a:lnTo>
                <a:lnTo>
                  <a:pt x="286512" y="19812"/>
                </a:lnTo>
                <a:lnTo>
                  <a:pt x="429768" y="0"/>
                </a:lnTo>
                <a:lnTo>
                  <a:pt x="501396" y="69342"/>
                </a:lnTo>
                <a:lnTo>
                  <a:pt x="601675" y="143637"/>
                </a:lnTo>
                <a:lnTo>
                  <a:pt x="716280" y="203073"/>
                </a:lnTo>
              </a:path>
            </a:pathLst>
          </a:custGeom>
          <a:noFill xmlns:a="http://schemas.openxmlformats.org/drawingml/2006/main"/>
          <a:ln xmlns:a="http://schemas.openxmlformats.org/drawingml/2006/main" w="19050">
            <a:solidFill>
              <a:srgbClr val="00355F"/>
            </a:solidFill>
          </a:ln>
        </p:spPr>
      </p:sp>
      <p:sp>
        <p:nvSpPr>
          <p:cNvPr id="212" name="Binding platform">
            <a:extLst xmlns:a="http://schemas.openxmlformats.org/drawingml/2006/main">
              <a:ext uri="{FF2B5EF4-FFF2-40B4-BE49-F238E27FC236}">
                <a16:creationId xmlns:a16="http://schemas.microsoft.com/office/drawing/2014/main" id="{041B001F-D280-4C5E-84CF-C7EA5A78DA8E}"/>
              </a:ext>
            </a:extLst>
          </p:cNvPr>
          <p:cNvSpPr>
            <a:spLocks xmlns:a="http://schemas.openxmlformats.org/drawingml/2006/main" noGrp="1"/>
          </p:cNvSpPr>
          <p:nvPr/>
        </p:nvSpPr>
        <p:spPr>
          <a:xfrm xmlns:a="http://schemas.openxmlformats.org/drawingml/2006/main">
            <a:off x="6568440" y="6393180"/>
            <a:ext cx="12573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Binding platform</a:t>
            </a:r>
          </a:p>
        </p:txBody>
      </p:sp>
      <p:sp>
        <p:nvSpPr>
          <p:cNvPr id="213" name="Binding signal">
            <a:extLst xmlns:a="http://schemas.openxmlformats.org/drawingml/2006/main">
              <a:ext uri="{FF2B5EF4-FFF2-40B4-BE49-F238E27FC236}">
                <a16:creationId xmlns:a16="http://schemas.microsoft.com/office/drawing/2014/main" id="{C2363F7B-722D-4E7F-B8DB-86C2D31EFCCC}"/>
              </a:ext>
            </a:extLst>
          </p:cNvPr>
          <p:cNvSpPr>
            <a:spLocks xmlns:a="http://schemas.openxmlformats.org/drawingml/2006/main" noGrp="1"/>
          </p:cNvSpPr>
          <p:nvPr/>
        </p:nvSpPr>
        <p:spPr>
          <a:xfrm xmlns:a="http://schemas.openxmlformats.org/drawingml/2006/main">
            <a:off x="7955280" y="6400800"/>
            <a:ext cx="88392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960" b="1">
                <a:solidFill>
                  <a:srgbClr val="00355F"/>
                </a:solidFill>
                <a:latin typeface="Arial"/>
                <a:ea typeface="Arial"/>
                <a:cs typeface="Arial"/>
              </a:defRPr>
            </a:defPPr>
          </a:lstStyle>
          <a:p xmlns:a="http://schemas.openxmlformats.org/drawingml/2006/main">
            <a:pPr algn="ctr">
              <a:lnSpc>
                <a:spcPct val="100000"/>
              </a:lnSpc>
              <a:buNone/>
              <a:defRPr sz="960" b="1">
                <a:solidFill>
                  <a:srgbClr val="00355F"/>
                </a:solidFill>
                <a:latin typeface="Arial"/>
                <a:ea typeface="Arial"/>
                <a:cs typeface="Arial"/>
              </a:defRPr>
            </a:pPr>
            <a:r>
              <a:rPr sz="960" b="1">
                <a:solidFill>
                  <a:srgbClr val="00355F"/>
                </a:solidFill>
                <a:latin typeface="Arial"/>
                <a:ea typeface="Arial"/>
                <a:cs typeface="Arial"/>
              </a:rPr>
              <a:t>Binding signal</a:t>
            </a:r>
          </a:p>
        </p:txBody>
      </p:sp>
      <p:sp>
        <p:nvSpPr>
          <p:cNvPr id="214" name="Flat experiment component">
            <a:extLst xmlns:a="http://schemas.openxmlformats.org/drawingml/2006/main">
              <a:ext uri="{FF2B5EF4-FFF2-40B4-BE49-F238E27FC236}">
                <a16:creationId xmlns:a16="http://schemas.microsoft.com/office/drawing/2014/main" id="{3ECC3324-DDE0-4C7F-A31C-2D939934A105}"/>
              </a:ext>
            </a:extLst>
          </p:cNvPr>
          <p:cNvSpPr>
            <a:spLocks xmlns:a="http://schemas.openxmlformats.org/drawingml/2006/main" noGrp="1"/>
          </p:cNvSpPr>
          <p:nvPr/>
        </p:nvSpPr>
        <p:spPr>
          <a:xfrm xmlns:a="http://schemas.openxmlformats.org/drawingml/2006/main">
            <a:off x="6553200" y="6758940"/>
            <a:ext cx="2362200" cy="373380"/>
          </a:xfrm>
          <a:prstGeom xmlns:a="http://schemas.openxmlformats.org/drawingml/2006/main" prst="roundRect">
            <a:avLst>
              <a:gd name="adj" fmla="val 10204"/>
            </a:avLst>
          </a:prstGeom>
          <a:solidFill xmlns:a="http://schemas.openxmlformats.org/drawingml/2006/main">
            <a:srgbClr val="ACD4F1"/>
          </a:solidFill>
          <a:ln xmlns:a="http://schemas.openxmlformats.org/drawingml/2006/main" w="0">
            <a:noFill/>
          </a:ln>
        </p:spPr>
      </p:sp>
      <p:sp>
        <p:nvSpPr>
          <p:cNvPr id="215" name="Binding hits">
            <a:extLst xmlns:a="http://schemas.openxmlformats.org/drawingml/2006/main">
              <a:ext uri="{FF2B5EF4-FFF2-40B4-BE49-F238E27FC236}">
                <a16:creationId xmlns:a16="http://schemas.microsoft.com/office/drawing/2014/main" id="{EC214409-EFF8-4CA8-8257-7610B622F60F}"/>
              </a:ext>
            </a:extLst>
          </p:cNvPr>
          <p:cNvSpPr>
            <a:spLocks xmlns:a="http://schemas.openxmlformats.org/drawingml/2006/main" noGrp="1"/>
          </p:cNvSpPr>
          <p:nvPr/>
        </p:nvSpPr>
        <p:spPr>
          <a:xfrm xmlns:a="http://schemas.openxmlformats.org/drawingml/2006/main">
            <a:off x="6621780" y="6858000"/>
            <a:ext cx="222504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Binding hits</a:t>
            </a:r>
          </a:p>
        </p:txBody>
      </p:sp>
      <p:sp>
        <p:nvSpPr>
          <p:cNvPr id="216" name="Diagram path">
            <a:extLst xmlns:a="http://schemas.openxmlformats.org/drawingml/2006/main">
              <a:ext uri="{FF2B5EF4-FFF2-40B4-BE49-F238E27FC236}">
                <a16:creationId xmlns:a16="http://schemas.microsoft.com/office/drawing/2014/main" id="{38654265-8245-497E-A3CC-FFF21D587EA2}"/>
              </a:ext>
            </a:extLst>
          </p:cNvPr>
          <p:cNvSpPr>
            <a:spLocks xmlns:a="http://schemas.openxmlformats.org/drawingml/2006/main" noGrp="1"/>
          </p:cNvSpPr>
          <p:nvPr/>
        </p:nvSpPr>
        <p:spPr>
          <a:xfrm xmlns:a="http://schemas.openxmlformats.org/drawingml/2006/main">
            <a:off x="6568440" y="7284720"/>
            <a:ext cx="2331720" cy="762"/>
          </a:xfrm>
          <a:custGeom xmlns:a="http://schemas.openxmlformats.org/drawingml/2006/main">
            <a:pathLst>
              <a:path w="2331720" h="762">
                <a:moveTo>
                  <a:pt x="0" y="0"/>
                </a:moveTo>
                <a:lnTo>
                  <a:pt x="2331720" y="0"/>
                </a:lnTo>
              </a:path>
            </a:pathLst>
          </a:custGeom>
          <a:noFill xmlns:a="http://schemas.openxmlformats.org/drawingml/2006/main"/>
          <a:ln xmlns:a="http://schemas.openxmlformats.org/drawingml/2006/main" w="7620">
            <a:solidFill>
              <a:srgbClr val="A5A5A5"/>
            </a:solidFill>
          </a:ln>
        </p:spPr>
      </p:sp>
      <p:sp>
        <p:nvSpPr>
          <p:cNvPr id="217" name="REPRESENTATIVE SUPPLIERS">
            <a:extLst xmlns:a="http://schemas.openxmlformats.org/drawingml/2006/main">
              <a:ext uri="{FF2B5EF4-FFF2-40B4-BE49-F238E27FC236}">
                <a16:creationId xmlns:a16="http://schemas.microsoft.com/office/drawing/2014/main" id="{9A1D490E-C57B-4A09-B5B8-07BAB8D0202E}"/>
              </a:ext>
            </a:extLst>
          </p:cNvPr>
          <p:cNvSpPr>
            <a:spLocks xmlns:a="http://schemas.openxmlformats.org/drawingml/2006/main" noGrp="1"/>
          </p:cNvSpPr>
          <p:nvPr/>
        </p:nvSpPr>
        <p:spPr>
          <a:xfrm xmlns:a="http://schemas.openxmlformats.org/drawingml/2006/main">
            <a:off x="6568440" y="7437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00355F"/>
                </a:solidFill>
                <a:latin typeface="Arial"/>
                <a:ea typeface="Arial"/>
                <a:cs typeface="Arial"/>
              </a:defRPr>
            </a:defPPr>
          </a:lstStyle>
          <a:p xmlns:a="http://schemas.openxmlformats.org/drawingml/2006/main">
            <a:pPr algn="l">
              <a:lnSpc>
                <a:spcPct val="100000"/>
              </a:lnSpc>
              <a:buNone/>
              <a:defRPr sz="900" b="1">
                <a:solidFill>
                  <a:srgbClr val="00355F"/>
                </a:solidFill>
                <a:latin typeface="Arial"/>
                <a:ea typeface="Arial"/>
                <a:cs typeface="Arial"/>
              </a:defRPr>
            </a:pPr>
            <a:r>
              <a:rPr sz="900" b="1">
                <a:solidFill>
                  <a:srgbClr val="00355F"/>
                </a:solidFill>
                <a:latin typeface="Arial"/>
                <a:ea typeface="Arial"/>
                <a:cs typeface="Arial"/>
              </a:rPr>
              <a:t>REPRESENTATIVE SUPPLIERS</a:t>
            </a:r>
          </a:p>
        </p:txBody>
      </p:sp>
      <p:sp>
        <p:nvSpPr>
          <p:cNvPr id="218" name="Target reagents">
            <a:extLst xmlns:a="http://schemas.openxmlformats.org/drawingml/2006/main">
              <a:ext uri="{FF2B5EF4-FFF2-40B4-BE49-F238E27FC236}">
                <a16:creationId xmlns:a16="http://schemas.microsoft.com/office/drawing/2014/main" id="{61EA388B-E3E4-49A5-AD8B-19246FD6D244}"/>
              </a:ext>
            </a:extLst>
          </p:cNvPr>
          <p:cNvSpPr>
            <a:spLocks xmlns:a="http://schemas.openxmlformats.org/drawingml/2006/main" noGrp="1"/>
          </p:cNvSpPr>
          <p:nvPr/>
        </p:nvSpPr>
        <p:spPr>
          <a:xfrm xmlns:a="http://schemas.openxmlformats.org/drawingml/2006/main">
            <a:off x="6568440" y="77038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Target reagents</a:t>
            </a:r>
          </a:p>
        </p:txBody>
      </p:sp>
      <p:sp>
        <p:nvSpPr>
          <p:cNvPr id="219" name="ACROBiosystems · Sino Biological">
            <a:extLst xmlns:a="http://schemas.openxmlformats.org/drawingml/2006/main">
              <a:ext uri="{FF2B5EF4-FFF2-40B4-BE49-F238E27FC236}">
                <a16:creationId xmlns:a16="http://schemas.microsoft.com/office/drawing/2014/main" id="{360CDEA1-2331-4501-B14E-70602094BD10}"/>
              </a:ext>
            </a:extLst>
          </p:cNvPr>
          <p:cNvSpPr>
            <a:spLocks xmlns:a="http://schemas.openxmlformats.org/drawingml/2006/main" noGrp="1"/>
          </p:cNvSpPr>
          <p:nvPr/>
        </p:nvSpPr>
        <p:spPr>
          <a:xfrm xmlns:a="http://schemas.openxmlformats.org/drawingml/2006/main">
            <a:off x="6568440" y="78714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ACROBiosystems · Sino Biological</a:t>
            </a:r>
          </a:p>
        </p:txBody>
      </p:sp>
      <p:sp>
        <p:nvSpPr>
          <p:cNvPr id="220" name="Binding platforms / labware">
            <a:extLst xmlns:a="http://schemas.openxmlformats.org/drawingml/2006/main">
              <a:ext uri="{FF2B5EF4-FFF2-40B4-BE49-F238E27FC236}">
                <a16:creationId xmlns:a16="http://schemas.microsoft.com/office/drawing/2014/main" id="{8B89C455-AC58-4926-8817-9384D7B4F0DE}"/>
              </a:ext>
            </a:extLst>
          </p:cNvPr>
          <p:cNvSpPr>
            <a:spLocks xmlns:a="http://schemas.openxmlformats.org/drawingml/2006/main" noGrp="1"/>
          </p:cNvSpPr>
          <p:nvPr/>
        </p:nvSpPr>
        <p:spPr>
          <a:xfrm xmlns:a="http://schemas.openxmlformats.org/drawingml/2006/main">
            <a:off x="6568440" y="81229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Binding platforms / labware</a:t>
            </a:r>
          </a:p>
        </p:txBody>
      </p:sp>
      <p:sp>
        <p:nvSpPr>
          <p:cNvPr id="221" name="Sartorius · Cytiva · JET Biofil">
            <a:extLst xmlns:a="http://schemas.openxmlformats.org/drawingml/2006/main">
              <a:ext uri="{FF2B5EF4-FFF2-40B4-BE49-F238E27FC236}">
                <a16:creationId xmlns:a16="http://schemas.microsoft.com/office/drawing/2014/main" id="{62EA4418-5F4A-4E55-BCE3-28FBFAC594C6}"/>
              </a:ext>
            </a:extLst>
          </p:cNvPr>
          <p:cNvSpPr>
            <a:spLocks xmlns:a="http://schemas.openxmlformats.org/drawingml/2006/main" noGrp="1"/>
          </p:cNvSpPr>
          <p:nvPr/>
        </p:nvSpPr>
        <p:spPr>
          <a:xfrm xmlns:a="http://schemas.openxmlformats.org/drawingml/2006/main">
            <a:off x="6568440" y="82905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Sartorius · Cytiva · JET Biofil</a:t>
            </a:r>
          </a:p>
        </p:txBody>
      </p:sp>
      <p:sp>
        <p:nvSpPr>
          <p:cNvPr id="222" name="Diagram path">
            <a:extLst xmlns:a="http://schemas.openxmlformats.org/drawingml/2006/main">
              <a:ext uri="{FF2B5EF4-FFF2-40B4-BE49-F238E27FC236}">
                <a16:creationId xmlns:a16="http://schemas.microsoft.com/office/drawing/2014/main" id="{51EB5ABB-E0E6-4144-B77C-4635689845EF}"/>
              </a:ext>
            </a:extLst>
          </p:cNvPr>
          <p:cNvSpPr>
            <a:spLocks xmlns:a="http://schemas.openxmlformats.org/drawingml/2006/main" noGrp="1"/>
          </p:cNvSpPr>
          <p:nvPr/>
        </p:nvSpPr>
        <p:spPr>
          <a:xfrm xmlns:a="http://schemas.openxmlformats.org/drawingml/2006/main">
            <a:off x="9083040" y="5090160"/>
            <a:ext cx="114300" cy="762"/>
          </a:xfrm>
          <a:custGeom xmlns:a="http://schemas.openxmlformats.org/drawingml/2006/main">
            <a:pathLst>
              <a:path w="114300" h="762">
                <a:moveTo>
                  <a:pt x="0" y="0"/>
                </a:moveTo>
                <a:lnTo>
                  <a:pt x="114300" y="0"/>
                </a:lnTo>
              </a:path>
            </a:pathLst>
          </a:custGeom>
          <a:noFill xmlns:a="http://schemas.openxmlformats.org/drawingml/2006/main"/>
          <a:ln xmlns:a="http://schemas.openxmlformats.org/drawingml/2006/main" w="15240">
            <a:solidFill>
              <a:srgbClr val="00355F"/>
            </a:solidFill>
          </a:ln>
        </p:spPr>
      </p:sp>
      <p:sp>
        <p:nvSpPr>
          <p:cNvPr id="223" name="Diagram path">
            <a:extLst xmlns:a="http://schemas.openxmlformats.org/drawingml/2006/main">
              <a:ext uri="{FF2B5EF4-FFF2-40B4-BE49-F238E27FC236}">
                <a16:creationId xmlns:a16="http://schemas.microsoft.com/office/drawing/2014/main" id="{AA17A23B-81B1-4CDE-B7B0-9979E1C27D54}"/>
              </a:ext>
            </a:extLst>
          </p:cNvPr>
          <p:cNvSpPr>
            <a:spLocks xmlns:a="http://schemas.openxmlformats.org/drawingml/2006/main" noGrp="1"/>
          </p:cNvSpPr>
          <p:nvPr/>
        </p:nvSpPr>
        <p:spPr>
          <a:xfrm xmlns:a="http://schemas.openxmlformats.org/drawingml/2006/main">
            <a:off x="9138874" y="505431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00355F"/>
          </a:solidFill>
          <a:ln xmlns:a="http://schemas.openxmlformats.org/drawingml/2006/main" w="0">
            <a:noFill/>
          </a:ln>
        </p:spPr>
      </p:sp>
      <p:sp>
        <p:nvSpPr>
          <p:cNvPr id="224" name="Flat experiment component">
            <a:extLst xmlns:a="http://schemas.openxmlformats.org/drawingml/2006/main">
              <a:ext uri="{FF2B5EF4-FFF2-40B4-BE49-F238E27FC236}">
                <a16:creationId xmlns:a16="http://schemas.microsoft.com/office/drawing/2014/main" id="{AF3959CE-74A7-4E8B-8E6F-FBCA3D33FCDD}"/>
              </a:ext>
            </a:extLst>
          </p:cNvPr>
          <p:cNvSpPr>
            <a:spLocks xmlns:a="http://schemas.openxmlformats.org/drawingml/2006/main" noGrp="1"/>
          </p:cNvSpPr>
          <p:nvPr/>
        </p:nvSpPr>
        <p:spPr>
          <a:xfrm xmlns:a="http://schemas.openxmlformats.org/drawingml/2006/main">
            <a:off x="9220200" y="2179320"/>
            <a:ext cx="2667000" cy="6477000"/>
          </a:xfrm>
          <a:prstGeom xmlns:a="http://schemas.openxmlformats.org/drawingml/2006/main" prst="roundRect">
            <a:avLst>
              <a:gd name="adj" fmla="val 3714"/>
            </a:avLst>
          </a:prstGeom>
          <a:solidFill xmlns:a="http://schemas.openxmlformats.org/drawingml/2006/main">
            <a:srgbClr val="FFFFFF"/>
          </a:solidFill>
          <a:ln xmlns:a="http://schemas.openxmlformats.org/drawingml/2006/main" w="11430">
            <a:solidFill>
              <a:srgbClr val="7399C6"/>
            </a:solidFill>
          </a:ln>
        </p:spPr>
      </p:sp>
      <p:sp>
        <p:nvSpPr>
          <p:cNvPr id="225" name="Flat experiment component">
            <a:extLst xmlns:a="http://schemas.openxmlformats.org/drawingml/2006/main">
              <a:ext uri="{FF2B5EF4-FFF2-40B4-BE49-F238E27FC236}">
                <a16:creationId xmlns:a16="http://schemas.microsoft.com/office/drawing/2014/main" id="{FF414A5A-2D8E-43AB-B178-7E83BFC56419}"/>
              </a:ext>
            </a:extLst>
          </p:cNvPr>
          <p:cNvSpPr>
            <a:spLocks xmlns:a="http://schemas.openxmlformats.org/drawingml/2006/main" noGrp="1"/>
          </p:cNvSpPr>
          <p:nvPr/>
        </p:nvSpPr>
        <p:spPr>
          <a:xfrm xmlns:a="http://schemas.openxmlformats.org/drawingml/2006/main">
            <a:off x="9220200" y="2179320"/>
            <a:ext cx="2667000" cy="68580"/>
          </a:xfrm>
          <a:prstGeom xmlns:a="http://schemas.openxmlformats.org/drawingml/2006/main" prst="rect">
            <a:avLst/>
          </a:prstGeom>
          <a:solidFill xmlns:a="http://schemas.openxmlformats.org/drawingml/2006/main">
            <a:srgbClr val="7399C6"/>
          </a:solidFill>
          <a:ln xmlns:a="http://schemas.openxmlformats.org/drawingml/2006/main" w="0">
            <a:noFill/>
          </a:ln>
        </p:spPr>
      </p:sp>
      <p:sp>
        <p:nvSpPr>
          <p:cNvPr id="226" name="04 / TEST">
            <a:extLst xmlns:a="http://schemas.openxmlformats.org/drawingml/2006/main">
              <a:ext uri="{FF2B5EF4-FFF2-40B4-BE49-F238E27FC236}">
                <a16:creationId xmlns:a16="http://schemas.microsoft.com/office/drawing/2014/main" id="{17112DB3-954D-4E7C-989B-0CB8CE18B4ED}"/>
              </a:ext>
            </a:extLst>
          </p:cNvPr>
          <p:cNvSpPr>
            <a:spLocks xmlns:a="http://schemas.openxmlformats.org/drawingml/2006/main" noGrp="1"/>
          </p:cNvSpPr>
          <p:nvPr/>
        </p:nvSpPr>
        <p:spPr>
          <a:xfrm xmlns:a="http://schemas.openxmlformats.org/drawingml/2006/main">
            <a:off x="9387840" y="2385060"/>
            <a:ext cx="233172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04 / TEST</a:t>
            </a:r>
          </a:p>
        </p:txBody>
      </p:sp>
      <p:sp>
        <p:nvSpPr>
          <p:cNvPr id="227" name="Multi-property">
            <a:extLst xmlns:a="http://schemas.openxmlformats.org/drawingml/2006/main">
              <a:ext uri="{FF2B5EF4-FFF2-40B4-BE49-F238E27FC236}">
                <a16:creationId xmlns:a16="http://schemas.microsoft.com/office/drawing/2014/main" id="{583EC978-7F6D-4A2A-8183-879246C2F0A5}"/>
              </a:ext>
            </a:extLst>
          </p:cNvPr>
          <p:cNvSpPr>
            <a:spLocks xmlns:a="http://schemas.openxmlformats.org/drawingml/2006/main" noGrp="1"/>
          </p:cNvSpPr>
          <p:nvPr/>
        </p:nvSpPr>
        <p:spPr>
          <a:xfrm xmlns:a="http://schemas.openxmlformats.org/drawingml/2006/main">
            <a:off x="9387840" y="2697480"/>
            <a:ext cx="233172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Multi-property</a:t>
            </a:r>
          </a:p>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characterization</a:t>
            </a:r>
          </a:p>
        </p:txBody>
      </p:sp>
      <p:sp>
        <p:nvSpPr>
          <p:cNvPr id="228" name="Measure binding, stability">
            <a:extLst xmlns:a="http://schemas.openxmlformats.org/drawingml/2006/main">
              <a:ext uri="{FF2B5EF4-FFF2-40B4-BE49-F238E27FC236}">
                <a16:creationId xmlns:a16="http://schemas.microsoft.com/office/drawing/2014/main" id="{C2D5E149-5C63-4928-A5A9-9A2E6EF7A757}"/>
              </a:ext>
            </a:extLst>
          </p:cNvPr>
          <p:cNvSpPr>
            <a:spLocks xmlns:a="http://schemas.openxmlformats.org/drawingml/2006/main" noGrp="1"/>
          </p:cNvSpPr>
          <p:nvPr/>
        </p:nvSpPr>
        <p:spPr>
          <a:xfrm xmlns:a="http://schemas.openxmlformats.org/drawingml/2006/main">
            <a:off x="9387840" y="3329940"/>
            <a:ext cx="233172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Measure binding, stability</a:t>
            </a:r>
          </a:p>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and developability risks</a:t>
            </a:r>
          </a:p>
        </p:txBody>
      </p:sp>
      <p:sp>
        <p:nvSpPr>
          <p:cNvPr id="229" name="Flat experiment component">
            <a:extLst xmlns:a="http://schemas.openxmlformats.org/drawingml/2006/main">
              <a:ext uri="{FF2B5EF4-FFF2-40B4-BE49-F238E27FC236}">
                <a16:creationId xmlns:a16="http://schemas.microsoft.com/office/drawing/2014/main" id="{9D1D4A21-0AF8-45CC-89E9-303106F00DD9}"/>
              </a:ext>
            </a:extLst>
          </p:cNvPr>
          <p:cNvSpPr>
            <a:spLocks xmlns:a="http://schemas.openxmlformats.org/drawingml/2006/main" noGrp="1"/>
          </p:cNvSpPr>
          <p:nvPr/>
        </p:nvSpPr>
        <p:spPr>
          <a:xfrm xmlns:a="http://schemas.openxmlformats.org/drawingml/2006/main">
            <a:off x="9326880" y="3924300"/>
            <a:ext cx="2453640" cy="2682240"/>
          </a:xfrm>
          <a:prstGeom xmlns:a="http://schemas.openxmlformats.org/drawingml/2006/main" prst="roundRect">
            <a:avLst>
              <a:gd name="adj" fmla="val 3106"/>
            </a:avLst>
          </a:prstGeom>
          <a:solidFill xmlns:a="http://schemas.openxmlformats.org/drawingml/2006/main">
            <a:srgbClr val="F0F7FC"/>
          </a:solidFill>
          <a:ln xmlns:a="http://schemas.openxmlformats.org/drawingml/2006/main" w="0">
            <a:noFill/>
          </a:ln>
        </p:spPr>
      </p:sp>
      <p:sp>
        <p:nvSpPr>
          <p:cNvPr id="230" name="Flat experiment component">
            <a:extLst xmlns:a="http://schemas.openxmlformats.org/drawingml/2006/main">
              <a:ext uri="{FF2B5EF4-FFF2-40B4-BE49-F238E27FC236}">
                <a16:creationId xmlns:a16="http://schemas.microsoft.com/office/drawing/2014/main" id="{A5B94AB4-F75B-4CDE-9F7C-38326903C2DE}"/>
              </a:ext>
            </a:extLst>
          </p:cNvPr>
          <p:cNvSpPr>
            <a:spLocks xmlns:a="http://schemas.openxmlformats.org/drawingml/2006/main" noGrp="1"/>
          </p:cNvSpPr>
          <p:nvPr/>
        </p:nvSpPr>
        <p:spPr>
          <a:xfrm xmlns:a="http://schemas.openxmlformats.org/drawingml/2006/main">
            <a:off x="9540240" y="4130040"/>
            <a:ext cx="99060" cy="106680"/>
          </a:xfrm>
          <a:prstGeom xmlns:a="http://schemas.openxmlformats.org/drawingml/2006/main" prst="roundRect">
            <a:avLst>
              <a:gd name="adj" fmla="val 15385"/>
            </a:avLst>
          </a:prstGeom>
          <a:solidFill xmlns:a="http://schemas.openxmlformats.org/drawingml/2006/main">
            <a:srgbClr val="7399C6"/>
          </a:solidFill>
          <a:ln xmlns:a="http://schemas.openxmlformats.org/drawingml/2006/main" w="15240">
            <a:solidFill>
              <a:srgbClr val="00355F"/>
            </a:solidFill>
          </a:ln>
        </p:spPr>
      </p:sp>
      <p:sp>
        <p:nvSpPr>
          <p:cNvPr id="231" name="Flat experiment component">
            <a:extLst xmlns:a="http://schemas.openxmlformats.org/drawingml/2006/main">
              <a:ext uri="{FF2B5EF4-FFF2-40B4-BE49-F238E27FC236}">
                <a16:creationId xmlns:a16="http://schemas.microsoft.com/office/drawing/2014/main" id="{B2A5EECB-3F15-4B78-B0AA-331660BD9A55}"/>
              </a:ext>
            </a:extLst>
          </p:cNvPr>
          <p:cNvSpPr>
            <a:spLocks xmlns:a="http://schemas.openxmlformats.org/drawingml/2006/main" noGrp="1"/>
          </p:cNvSpPr>
          <p:nvPr/>
        </p:nvSpPr>
        <p:spPr>
          <a:xfrm xmlns:a="http://schemas.openxmlformats.org/drawingml/2006/main">
            <a:off x="9479280" y="4213860"/>
            <a:ext cx="220980" cy="6858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19050">
            <a:solidFill>
              <a:srgbClr val="00355F"/>
            </a:solidFill>
          </a:ln>
        </p:spPr>
      </p:sp>
      <p:sp>
        <p:nvSpPr>
          <p:cNvPr id="232" name="Flat experiment component">
            <a:extLst xmlns:a="http://schemas.openxmlformats.org/drawingml/2006/main">
              <a:ext uri="{FF2B5EF4-FFF2-40B4-BE49-F238E27FC236}">
                <a16:creationId xmlns:a16="http://schemas.microsoft.com/office/drawing/2014/main" id="{6CE712AE-1165-438E-898C-F38C4560E0F6}"/>
              </a:ext>
            </a:extLst>
          </p:cNvPr>
          <p:cNvSpPr>
            <a:spLocks xmlns:a="http://schemas.openxmlformats.org/drawingml/2006/main" noGrp="1"/>
          </p:cNvSpPr>
          <p:nvPr/>
        </p:nvSpPr>
        <p:spPr>
          <a:xfrm xmlns:a="http://schemas.openxmlformats.org/drawingml/2006/main">
            <a:off x="9509760" y="4472940"/>
            <a:ext cx="160020" cy="327660"/>
          </a:xfrm>
          <a:prstGeom xmlns:a="http://schemas.openxmlformats.org/drawingml/2006/main" prst="rect">
            <a:avLst/>
          </a:prstGeom>
          <a:solidFill xmlns:a="http://schemas.openxmlformats.org/drawingml/2006/main">
            <a:srgbClr val="ACD4F1"/>
          </a:solidFill>
          <a:ln xmlns:a="http://schemas.openxmlformats.org/drawingml/2006/main" w="0">
            <a:noFill/>
          </a:ln>
        </p:spPr>
      </p:sp>
      <p:sp>
        <p:nvSpPr>
          <p:cNvPr id="233" name="">
            <a:extLst xmlns:a="http://schemas.openxmlformats.org/drawingml/2006/main">
              <a:ext uri="{FF2B5EF4-FFF2-40B4-BE49-F238E27FC236}">
                <a16:creationId xmlns:a16="http://schemas.microsoft.com/office/drawing/2014/main" id="{EC7BEABC-6395-435A-BE64-0EAEADD0027B}"/>
              </a:ext>
            </a:extLst>
          </p:cNvPr>
          <p:cNvSpPr>
            <a:spLocks xmlns:a="http://schemas.openxmlformats.org/drawingml/2006/main" noGrp="1"/>
          </p:cNvSpPr>
          <p:nvPr/>
        </p:nvSpPr>
        <p:spPr>
          <a:xfrm xmlns:a="http://schemas.openxmlformats.org/drawingml/2006/main">
            <a:off x="9528048" y="452170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34" name="">
            <a:extLst xmlns:a="http://schemas.openxmlformats.org/drawingml/2006/main">
              <a:ext uri="{FF2B5EF4-FFF2-40B4-BE49-F238E27FC236}">
                <a16:creationId xmlns:a16="http://schemas.microsoft.com/office/drawing/2014/main" id="{F769283C-BDEB-4320-87FD-C87165A74D49}"/>
              </a:ext>
            </a:extLst>
          </p:cNvPr>
          <p:cNvSpPr>
            <a:spLocks xmlns:a="http://schemas.openxmlformats.org/drawingml/2006/main" noGrp="1"/>
          </p:cNvSpPr>
          <p:nvPr/>
        </p:nvSpPr>
        <p:spPr>
          <a:xfrm xmlns:a="http://schemas.openxmlformats.org/drawingml/2006/main">
            <a:off x="9569958" y="452170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35" name="">
            <a:extLst xmlns:a="http://schemas.openxmlformats.org/drawingml/2006/main">
              <a:ext uri="{FF2B5EF4-FFF2-40B4-BE49-F238E27FC236}">
                <a16:creationId xmlns:a16="http://schemas.microsoft.com/office/drawing/2014/main" id="{A8282F0B-E023-4B3F-ADD8-3CEBD6DFDF49}"/>
              </a:ext>
            </a:extLst>
          </p:cNvPr>
          <p:cNvSpPr>
            <a:spLocks xmlns:a="http://schemas.openxmlformats.org/drawingml/2006/main" noGrp="1"/>
          </p:cNvSpPr>
          <p:nvPr/>
        </p:nvSpPr>
        <p:spPr>
          <a:xfrm xmlns:a="http://schemas.openxmlformats.org/drawingml/2006/main">
            <a:off x="9611868" y="452170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36" name="">
            <a:extLst xmlns:a="http://schemas.openxmlformats.org/drawingml/2006/main">
              <a:ext uri="{FF2B5EF4-FFF2-40B4-BE49-F238E27FC236}">
                <a16:creationId xmlns:a16="http://schemas.microsoft.com/office/drawing/2014/main" id="{2B0D72F0-5B74-46F0-97D0-A0295A9E0E40}"/>
              </a:ext>
            </a:extLst>
          </p:cNvPr>
          <p:cNvSpPr>
            <a:spLocks xmlns:a="http://schemas.openxmlformats.org/drawingml/2006/main" noGrp="1"/>
          </p:cNvSpPr>
          <p:nvPr/>
        </p:nvSpPr>
        <p:spPr>
          <a:xfrm xmlns:a="http://schemas.openxmlformats.org/drawingml/2006/main">
            <a:off x="9528048" y="45623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37" name="">
            <a:extLst xmlns:a="http://schemas.openxmlformats.org/drawingml/2006/main">
              <a:ext uri="{FF2B5EF4-FFF2-40B4-BE49-F238E27FC236}">
                <a16:creationId xmlns:a16="http://schemas.microsoft.com/office/drawing/2014/main" id="{20AF56FD-1AA5-402F-98F3-011E97CAC73B}"/>
              </a:ext>
            </a:extLst>
          </p:cNvPr>
          <p:cNvSpPr>
            <a:spLocks xmlns:a="http://schemas.openxmlformats.org/drawingml/2006/main" noGrp="1"/>
          </p:cNvSpPr>
          <p:nvPr/>
        </p:nvSpPr>
        <p:spPr>
          <a:xfrm xmlns:a="http://schemas.openxmlformats.org/drawingml/2006/main">
            <a:off x="9569958" y="45623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38" name="">
            <a:extLst xmlns:a="http://schemas.openxmlformats.org/drawingml/2006/main">
              <a:ext uri="{FF2B5EF4-FFF2-40B4-BE49-F238E27FC236}">
                <a16:creationId xmlns:a16="http://schemas.microsoft.com/office/drawing/2014/main" id="{65EA9D37-84DC-46F6-9C89-49E429C094C2}"/>
              </a:ext>
            </a:extLst>
          </p:cNvPr>
          <p:cNvSpPr>
            <a:spLocks xmlns:a="http://schemas.openxmlformats.org/drawingml/2006/main" noGrp="1"/>
          </p:cNvSpPr>
          <p:nvPr/>
        </p:nvSpPr>
        <p:spPr>
          <a:xfrm xmlns:a="http://schemas.openxmlformats.org/drawingml/2006/main">
            <a:off x="9611868" y="45623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39" name="">
            <a:extLst xmlns:a="http://schemas.openxmlformats.org/drawingml/2006/main">
              <a:ext uri="{FF2B5EF4-FFF2-40B4-BE49-F238E27FC236}">
                <a16:creationId xmlns:a16="http://schemas.microsoft.com/office/drawing/2014/main" id="{F26B1BB9-2F5D-4DDC-B859-655F0209E51A}"/>
              </a:ext>
            </a:extLst>
          </p:cNvPr>
          <p:cNvSpPr>
            <a:spLocks xmlns:a="http://schemas.openxmlformats.org/drawingml/2006/main" noGrp="1"/>
          </p:cNvSpPr>
          <p:nvPr/>
        </p:nvSpPr>
        <p:spPr>
          <a:xfrm xmlns:a="http://schemas.openxmlformats.org/drawingml/2006/main">
            <a:off x="9528048" y="460298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0" name="">
            <a:extLst xmlns:a="http://schemas.openxmlformats.org/drawingml/2006/main">
              <a:ext uri="{FF2B5EF4-FFF2-40B4-BE49-F238E27FC236}">
                <a16:creationId xmlns:a16="http://schemas.microsoft.com/office/drawing/2014/main" id="{954D8DC6-651C-4A5A-9841-6D3D88D29475}"/>
              </a:ext>
            </a:extLst>
          </p:cNvPr>
          <p:cNvSpPr>
            <a:spLocks xmlns:a="http://schemas.openxmlformats.org/drawingml/2006/main" noGrp="1"/>
          </p:cNvSpPr>
          <p:nvPr/>
        </p:nvSpPr>
        <p:spPr>
          <a:xfrm xmlns:a="http://schemas.openxmlformats.org/drawingml/2006/main">
            <a:off x="9569958" y="460298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1" name="">
            <a:extLst xmlns:a="http://schemas.openxmlformats.org/drawingml/2006/main">
              <a:ext uri="{FF2B5EF4-FFF2-40B4-BE49-F238E27FC236}">
                <a16:creationId xmlns:a16="http://schemas.microsoft.com/office/drawing/2014/main" id="{6B5A67A1-F041-426E-95E4-ABCA323031F1}"/>
              </a:ext>
            </a:extLst>
          </p:cNvPr>
          <p:cNvSpPr>
            <a:spLocks xmlns:a="http://schemas.openxmlformats.org/drawingml/2006/main" noGrp="1"/>
          </p:cNvSpPr>
          <p:nvPr/>
        </p:nvSpPr>
        <p:spPr>
          <a:xfrm xmlns:a="http://schemas.openxmlformats.org/drawingml/2006/main">
            <a:off x="9611868" y="460298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2" name="">
            <a:extLst xmlns:a="http://schemas.openxmlformats.org/drawingml/2006/main">
              <a:ext uri="{FF2B5EF4-FFF2-40B4-BE49-F238E27FC236}">
                <a16:creationId xmlns:a16="http://schemas.microsoft.com/office/drawing/2014/main" id="{1D2906ED-E566-43A5-8C5D-A9147AF423B7}"/>
              </a:ext>
            </a:extLst>
          </p:cNvPr>
          <p:cNvSpPr>
            <a:spLocks xmlns:a="http://schemas.openxmlformats.org/drawingml/2006/main" noGrp="1"/>
          </p:cNvSpPr>
          <p:nvPr/>
        </p:nvSpPr>
        <p:spPr>
          <a:xfrm xmlns:a="http://schemas.openxmlformats.org/drawingml/2006/main">
            <a:off x="9528048" y="464362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3" name="">
            <a:extLst xmlns:a="http://schemas.openxmlformats.org/drawingml/2006/main">
              <a:ext uri="{FF2B5EF4-FFF2-40B4-BE49-F238E27FC236}">
                <a16:creationId xmlns:a16="http://schemas.microsoft.com/office/drawing/2014/main" id="{21D018A3-5DC1-4E5E-BDBC-32185A58AC1E}"/>
              </a:ext>
            </a:extLst>
          </p:cNvPr>
          <p:cNvSpPr>
            <a:spLocks xmlns:a="http://schemas.openxmlformats.org/drawingml/2006/main" noGrp="1"/>
          </p:cNvSpPr>
          <p:nvPr/>
        </p:nvSpPr>
        <p:spPr>
          <a:xfrm xmlns:a="http://schemas.openxmlformats.org/drawingml/2006/main">
            <a:off x="9569958" y="464362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4" name="">
            <a:extLst xmlns:a="http://schemas.openxmlformats.org/drawingml/2006/main">
              <a:ext uri="{FF2B5EF4-FFF2-40B4-BE49-F238E27FC236}">
                <a16:creationId xmlns:a16="http://schemas.microsoft.com/office/drawing/2014/main" id="{462D4D51-39D6-4A40-8FE3-B9F2B3E55F0B}"/>
              </a:ext>
            </a:extLst>
          </p:cNvPr>
          <p:cNvSpPr>
            <a:spLocks xmlns:a="http://schemas.openxmlformats.org/drawingml/2006/main" noGrp="1"/>
          </p:cNvSpPr>
          <p:nvPr/>
        </p:nvSpPr>
        <p:spPr>
          <a:xfrm xmlns:a="http://schemas.openxmlformats.org/drawingml/2006/main">
            <a:off x="9611868" y="464362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5" name="">
            <a:extLst xmlns:a="http://schemas.openxmlformats.org/drawingml/2006/main">
              <a:ext uri="{FF2B5EF4-FFF2-40B4-BE49-F238E27FC236}">
                <a16:creationId xmlns:a16="http://schemas.microsoft.com/office/drawing/2014/main" id="{F81FEC98-8A8D-442E-83A6-35FC84A067FB}"/>
              </a:ext>
            </a:extLst>
          </p:cNvPr>
          <p:cNvSpPr>
            <a:spLocks xmlns:a="http://schemas.openxmlformats.org/drawingml/2006/main" noGrp="1"/>
          </p:cNvSpPr>
          <p:nvPr/>
        </p:nvSpPr>
        <p:spPr>
          <a:xfrm xmlns:a="http://schemas.openxmlformats.org/drawingml/2006/main">
            <a:off x="9528048" y="468426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6" name="">
            <a:extLst xmlns:a="http://schemas.openxmlformats.org/drawingml/2006/main">
              <a:ext uri="{FF2B5EF4-FFF2-40B4-BE49-F238E27FC236}">
                <a16:creationId xmlns:a16="http://schemas.microsoft.com/office/drawing/2014/main" id="{4F6CC48D-3736-4AD8-B321-F9DBDA7D9B9A}"/>
              </a:ext>
            </a:extLst>
          </p:cNvPr>
          <p:cNvSpPr>
            <a:spLocks xmlns:a="http://schemas.openxmlformats.org/drawingml/2006/main" noGrp="1"/>
          </p:cNvSpPr>
          <p:nvPr/>
        </p:nvSpPr>
        <p:spPr>
          <a:xfrm xmlns:a="http://schemas.openxmlformats.org/drawingml/2006/main">
            <a:off x="9569958" y="468426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7" name="">
            <a:extLst xmlns:a="http://schemas.openxmlformats.org/drawingml/2006/main">
              <a:ext uri="{FF2B5EF4-FFF2-40B4-BE49-F238E27FC236}">
                <a16:creationId xmlns:a16="http://schemas.microsoft.com/office/drawing/2014/main" id="{FF24D67F-0B28-4BA1-B244-7815ABA0EE69}"/>
              </a:ext>
            </a:extLst>
          </p:cNvPr>
          <p:cNvSpPr>
            <a:spLocks xmlns:a="http://schemas.openxmlformats.org/drawingml/2006/main" noGrp="1"/>
          </p:cNvSpPr>
          <p:nvPr/>
        </p:nvSpPr>
        <p:spPr>
          <a:xfrm xmlns:a="http://schemas.openxmlformats.org/drawingml/2006/main">
            <a:off x="9611868" y="468426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8" name="">
            <a:extLst xmlns:a="http://schemas.openxmlformats.org/drawingml/2006/main">
              <a:ext uri="{FF2B5EF4-FFF2-40B4-BE49-F238E27FC236}">
                <a16:creationId xmlns:a16="http://schemas.microsoft.com/office/drawing/2014/main" id="{FC546487-7E73-4F7B-8A3F-9EF688F7E1B8}"/>
              </a:ext>
            </a:extLst>
          </p:cNvPr>
          <p:cNvSpPr>
            <a:spLocks xmlns:a="http://schemas.openxmlformats.org/drawingml/2006/main" noGrp="1"/>
          </p:cNvSpPr>
          <p:nvPr/>
        </p:nvSpPr>
        <p:spPr>
          <a:xfrm xmlns:a="http://schemas.openxmlformats.org/drawingml/2006/main">
            <a:off x="9528048" y="472490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49" name="">
            <a:extLst xmlns:a="http://schemas.openxmlformats.org/drawingml/2006/main">
              <a:ext uri="{FF2B5EF4-FFF2-40B4-BE49-F238E27FC236}">
                <a16:creationId xmlns:a16="http://schemas.microsoft.com/office/drawing/2014/main" id="{C0F3527B-EB54-4F0E-8DDC-932CB232D7F5}"/>
              </a:ext>
            </a:extLst>
          </p:cNvPr>
          <p:cNvSpPr>
            <a:spLocks xmlns:a="http://schemas.openxmlformats.org/drawingml/2006/main" noGrp="1"/>
          </p:cNvSpPr>
          <p:nvPr/>
        </p:nvSpPr>
        <p:spPr>
          <a:xfrm xmlns:a="http://schemas.openxmlformats.org/drawingml/2006/main">
            <a:off x="9569958" y="472490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50" name="">
            <a:extLst xmlns:a="http://schemas.openxmlformats.org/drawingml/2006/main">
              <a:ext uri="{FF2B5EF4-FFF2-40B4-BE49-F238E27FC236}">
                <a16:creationId xmlns:a16="http://schemas.microsoft.com/office/drawing/2014/main" id="{6556AB5F-24A2-485A-BA64-D62CC9DB44D2}"/>
              </a:ext>
            </a:extLst>
          </p:cNvPr>
          <p:cNvSpPr>
            <a:spLocks xmlns:a="http://schemas.openxmlformats.org/drawingml/2006/main" noGrp="1"/>
          </p:cNvSpPr>
          <p:nvPr/>
        </p:nvSpPr>
        <p:spPr>
          <a:xfrm xmlns:a="http://schemas.openxmlformats.org/drawingml/2006/main">
            <a:off x="9611868" y="472490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51" name="">
            <a:extLst xmlns:a="http://schemas.openxmlformats.org/drawingml/2006/main">
              <a:ext uri="{FF2B5EF4-FFF2-40B4-BE49-F238E27FC236}">
                <a16:creationId xmlns:a16="http://schemas.microsoft.com/office/drawing/2014/main" id="{6D4CB415-4319-4C4E-BD37-37D30910DD90}"/>
              </a:ext>
            </a:extLst>
          </p:cNvPr>
          <p:cNvSpPr>
            <a:spLocks xmlns:a="http://schemas.openxmlformats.org/drawingml/2006/main" noGrp="1"/>
          </p:cNvSpPr>
          <p:nvPr/>
        </p:nvSpPr>
        <p:spPr>
          <a:xfrm xmlns:a="http://schemas.openxmlformats.org/drawingml/2006/main">
            <a:off x="9528048" y="47655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52" name="">
            <a:extLst xmlns:a="http://schemas.openxmlformats.org/drawingml/2006/main">
              <a:ext uri="{FF2B5EF4-FFF2-40B4-BE49-F238E27FC236}">
                <a16:creationId xmlns:a16="http://schemas.microsoft.com/office/drawing/2014/main" id="{951D1F14-0308-48D5-AFC2-0A2278FF9060}"/>
              </a:ext>
            </a:extLst>
          </p:cNvPr>
          <p:cNvSpPr>
            <a:spLocks xmlns:a="http://schemas.openxmlformats.org/drawingml/2006/main" noGrp="1"/>
          </p:cNvSpPr>
          <p:nvPr/>
        </p:nvSpPr>
        <p:spPr>
          <a:xfrm xmlns:a="http://schemas.openxmlformats.org/drawingml/2006/main">
            <a:off x="9569958" y="47655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53" name="">
            <a:extLst xmlns:a="http://schemas.openxmlformats.org/drawingml/2006/main">
              <a:ext uri="{FF2B5EF4-FFF2-40B4-BE49-F238E27FC236}">
                <a16:creationId xmlns:a16="http://schemas.microsoft.com/office/drawing/2014/main" id="{DC77935E-99C7-4E86-B477-7E347A1F34E1}"/>
              </a:ext>
            </a:extLst>
          </p:cNvPr>
          <p:cNvSpPr>
            <a:spLocks xmlns:a="http://schemas.openxmlformats.org/drawingml/2006/main" noGrp="1"/>
          </p:cNvSpPr>
          <p:nvPr/>
        </p:nvSpPr>
        <p:spPr>
          <a:xfrm xmlns:a="http://schemas.openxmlformats.org/drawingml/2006/main">
            <a:off x="9611868" y="4765548"/>
            <a:ext cx="39624" cy="39624"/>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254" name="Flat experiment component">
            <a:extLst xmlns:a="http://schemas.openxmlformats.org/drawingml/2006/main">
              <a:ext uri="{FF2B5EF4-FFF2-40B4-BE49-F238E27FC236}">
                <a16:creationId xmlns:a16="http://schemas.microsoft.com/office/drawing/2014/main" id="{D1225FAA-EC82-4F55-B437-300871DAD899}"/>
              </a:ext>
            </a:extLst>
          </p:cNvPr>
          <p:cNvSpPr>
            <a:spLocks xmlns:a="http://schemas.openxmlformats.org/drawingml/2006/main" noGrp="1"/>
          </p:cNvSpPr>
          <p:nvPr/>
        </p:nvSpPr>
        <p:spPr>
          <a:xfrm xmlns:a="http://schemas.openxmlformats.org/drawingml/2006/main">
            <a:off x="9547860" y="4899660"/>
            <a:ext cx="83820" cy="76200"/>
          </a:xfrm>
          <a:prstGeom xmlns:a="http://schemas.openxmlformats.org/drawingml/2006/main" prst="roundRect">
            <a:avLst>
              <a:gd name="adj" fmla="val 20000"/>
            </a:avLst>
          </a:prstGeom>
          <a:solidFill xmlns:a="http://schemas.openxmlformats.org/drawingml/2006/main">
            <a:srgbClr val="7399C6"/>
          </a:solidFill>
          <a:ln xmlns:a="http://schemas.openxmlformats.org/drawingml/2006/main" w="11430">
            <a:solidFill>
              <a:srgbClr val="00355F"/>
            </a:solidFill>
          </a:ln>
        </p:spPr>
      </p:sp>
      <p:sp>
        <p:nvSpPr>
          <p:cNvPr id="255" name="Diagram path">
            <a:extLst xmlns:a="http://schemas.openxmlformats.org/drawingml/2006/main">
              <a:ext uri="{FF2B5EF4-FFF2-40B4-BE49-F238E27FC236}">
                <a16:creationId xmlns:a16="http://schemas.microsoft.com/office/drawing/2014/main" id="{459F295E-F18C-4A06-89C0-54C3F7ACE510}"/>
              </a:ext>
            </a:extLst>
          </p:cNvPr>
          <p:cNvSpPr>
            <a:spLocks xmlns:a="http://schemas.openxmlformats.org/drawingml/2006/main" noGrp="1"/>
          </p:cNvSpPr>
          <p:nvPr/>
        </p:nvSpPr>
        <p:spPr>
          <a:xfrm xmlns:a="http://schemas.openxmlformats.org/drawingml/2006/main">
            <a:off x="9589770" y="4975860"/>
            <a:ext cx="762" cy="137160"/>
          </a:xfrm>
          <a:custGeom xmlns:a="http://schemas.openxmlformats.org/drawingml/2006/main">
            <a:pathLst>
              <a:path w="762" h="137160">
                <a:moveTo>
                  <a:pt x="0" y="0"/>
                </a:moveTo>
                <a:lnTo>
                  <a:pt x="0" y="137160"/>
                </a:lnTo>
              </a:path>
            </a:pathLst>
          </a:custGeom>
          <a:noFill xmlns:a="http://schemas.openxmlformats.org/drawingml/2006/main"/>
          <a:ln xmlns:a="http://schemas.openxmlformats.org/drawingml/2006/main" w="15240">
            <a:solidFill>
              <a:srgbClr val="00355F"/>
            </a:solidFill>
          </a:ln>
        </p:spPr>
      </p:sp>
      <p:sp>
        <p:nvSpPr>
          <p:cNvPr id="256" name="Flat experiment component">
            <a:extLst xmlns:a="http://schemas.openxmlformats.org/drawingml/2006/main">
              <a:ext uri="{FF2B5EF4-FFF2-40B4-BE49-F238E27FC236}">
                <a16:creationId xmlns:a16="http://schemas.microsoft.com/office/drawing/2014/main" id="{C5569872-BD55-4CA9-B36F-48CDE391604E}"/>
              </a:ext>
            </a:extLst>
          </p:cNvPr>
          <p:cNvSpPr>
            <a:spLocks xmlns:a="http://schemas.openxmlformats.org/drawingml/2006/main" noGrp="1"/>
          </p:cNvSpPr>
          <p:nvPr/>
        </p:nvSpPr>
        <p:spPr>
          <a:xfrm xmlns:a="http://schemas.openxmlformats.org/drawingml/2006/main">
            <a:off x="10050780" y="4229100"/>
            <a:ext cx="830580" cy="67056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00355F"/>
            </a:solidFill>
          </a:ln>
        </p:spPr>
      </p:sp>
      <p:sp>
        <p:nvSpPr>
          <p:cNvPr id="257" name="Flat experiment component">
            <a:extLst xmlns:a="http://schemas.openxmlformats.org/drawingml/2006/main">
              <a:ext uri="{FF2B5EF4-FFF2-40B4-BE49-F238E27FC236}">
                <a16:creationId xmlns:a16="http://schemas.microsoft.com/office/drawing/2014/main" id="{750F3AEC-500D-450A-8A57-FDBA38D932CA}"/>
              </a:ext>
            </a:extLst>
          </p:cNvPr>
          <p:cNvSpPr>
            <a:spLocks xmlns:a="http://schemas.openxmlformats.org/drawingml/2006/main" noGrp="1"/>
          </p:cNvSpPr>
          <p:nvPr/>
        </p:nvSpPr>
        <p:spPr>
          <a:xfrm xmlns:a="http://schemas.openxmlformats.org/drawingml/2006/main">
            <a:off x="10111740" y="4305300"/>
            <a:ext cx="290703" cy="518160"/>
          </a:xfrm>
          <a:prstGeom xmlns:a="http://schemas.openxmlformats.org/drawingml/2006/main" prst="roundRect">
            <a:avLst>
              <a:gd name="adj" fmla="val 7864"/>
            </a:avLst>
          </a:prstGeom>
          <a:solidFill xmlns:a="http://schemas.openxmlformats.org/drawingml/2006/main">
            <a:srgbClr val="F0F7FC"/>
          </a:solidFill>
          <a:ln xmlns:a="http://schemas.openxmlformats.org/drawingml/2006/main" w="11430">
            <a:solidFill>
              <a:srgbClr val="7399C6"/>
            </a:solidFill>
          </a:ln>
        </p:spPr>
      </p:sp>
      <p:sp>
        <p:nvSpPr>
          <p:cNvPr id="258" name="Diagram path">
            <a:extLst xmlns:a="http://schemas.openxmlformats.org/drawingml/2006/main">
              <a:ext uri="{FF2B5EF4-FFF2-40B4-BE49-F238E27FC236}">
                <a16:creationId xmlns:a16="http://schemas.microsoft.com/office/drawing/2014/main" id="{1D27F3F4-90B1-40B2-BF9B-6411AE76906F}"/>
              </a:ext>
            </a:extLst>
          </p:cNvPr>
          <p:cNvSpPr>
            <a:spLocks xmlns:a="http://schemas.openxmlformats.org/drawingml/2006/main" noGrp="1"/>
          </p:cNvSpPr>
          <p:nvPr/>
        </p:nvSpPr>
        <p:spPr>
          <a:xfrm xmlns:a="http://schemas.openxmlformats.org/drawingml/2006/main">
            <a:off x="10157460" y="4404360"/>
            <a:ext cx="184023" cy="762"/>
          </a:xfrm>
          <a:custGeom xmlns:a="http://schemas.openxmlformats.org/drawingml/2006/main">
            <a:pathLst>
              <a:path w="184023" h="762">
                <a:moveTo>
                  <a:pt x="0" y="0"/>
                </a:moveTo>
                <a:lnTo>
                  <a:pt x="184023" y="0"/>
                </a:lnTo>
              </a:path>
            </a:pathLst>
          </a:custGeom>
          <a:noFill xmlns:a="http://schemas.openxmlformats.org/drawingml/2006/main"/>
          <a:ln xmlns:a="http://schemas.openxmlformats.org/drawingml/2006/main" w="11430">
            <a:solidFill>
              <a:srgbClr val="7399C6"/>
            </a:solidFill>
          </a:ln>
        </p:spPr>
      </p:sp>
      <p:sp>
        <p:nvSpPr>
          <p:cNvPr id="259" name="Diagram path">
            <a:extLst xmlns:a="http://schemas.openxmlformats.org/drawingml/2006/main">
              <a:ext uri="{FF2B5EF4-FFF2-40B4-BE49-F238E27FC236}">
                <a16:creationId xmlns:a16="http://schemas.microsoft.com/office/drawing/2014/main" id="{CB2FFFC5-31A9-4201-900F-F665463A8158}"/>
              </a:ext>
            </a:extLst>
          </p:cNvPr>
          <p:cNvSpPr>
            <a:spLocks xmlns:a="http://schemas.openxmlformats.org/drawingml/2006/main" noGrp="1"/>
          </p:cNvSpPr>
          <p:nvPr/>
        </p:nvSpPr>
        <p:spPr>
          <a:xfrm xmlns:a="http://schemas.openxmlformats.org/drawingml/2006/main">
            <a:off x="10157460" y="4503420"/>
            <a:ext cx="184023" cy="762"/>
          </a:xfrm>
          <a:custGeom xmlns:a="http://schemas.openxmlformats.org/drawingml/2006/main">
            <a:pathLst>
              <a:path w="184023" h="762">
                <a:moveTo>
                  <a:pt x="0" y="0"/>
                </a:moveTo>
                <a:lnTo>
                  <a:pt x="184023" y="0"/>
                </a:lnTo>
              </a:path>
            </a:pathLst>
          </a:custGeom>
          <a:noFill xmlns:a="http://schemas.openxmlformats.org/drawingml/2006/main"/>
          <a:ln xmlns:a="http://schemas.openxmlformats.org/drawingml/2006/main" w="11430">
            <a:solidFill>
              <a:srgbClr val="7399C6"/>
            </a:solidFill>
          </a:ln>
        </p:spPr>
      </p:sp>
      <p:sp>
        <p:nvSpPr>
          <p:cNvPr id="260" name="Diagram path">
            <a:extLst xmlns:a="http://schemas.openxmlformats.org/drawingml/2006/main">
              <a:ext uri="{FF2B5EF4-FFF2-40B4-BE49-F238E27FC236}">
                <a16:creationId xmlns:a16="http://schemas.microsoft.com/office/drawing/2014/main" id="{EF0650F4-B9B0-4BE6-AF00-D0CE88513430}"/>
              </a:ext>
            </a:extLst>
          </p:cNvPr>
          <p:cNvSpPr>
            <a:spLocks xmlns:a="http://schemas.openxmlformats.org/drawingml/2006/main" noGrp="1"/>
          </p:cNvSpPr>
          <p:nvPr/>
        </p:nvSpPr>
        <p:spPr>
          <a:xfrm xmlns:a="http://schemas.openxmlformats.org/drawingml/2006/main">
            <a:off x="10157460" y="4602480"/>
            <a:ext cx="184023" cy="762"/>
          </a:xfrm>
          <a:custGeom xmlns:a="http://schemas.openxmlformats.org/drawingml/2006/main">
            <a:pathLst>
              <a:path w="184023" h="762">
                <a:moveTo>
                  <a:pt x="0" y="0"/>
                </a:moveTo>
                <a:lnTo>
                  <a:pt x="184023" y="0"/>
                </a:lnTo>
              </a:path>
            </a:pathLst>
          </a:custGeom>
          <a:noFill xmlns:a="http://schemas.openxmlformats.org/drawingml/2006/main"/>
          <a:ln xmlns:a="http://schemas.openxmlformats.org/drawingml/2006/main" w="11430">
            <a:solidFill>
              <a:srgbClr val="7399C6"/>
            </a:solidFill>
          </a:ln>
        </p:spPr>
      </p:sp>
      <p:sp>
        <p:nvSpPr>
          <p:cNvPr id="261" name="Diagram path">
            <a:extLst xmlns:a="http://schemas.openxmlformats.org/drawingml/2006/main">
              <a:ext uri="{FF2B5EF4-FFF2-40B4-BE49-F238E27FC236}">
                <a16:creationId xmlns:a16="http://schemas.microsoft.com/office/drawing/2014/main" id="{7F97FDB6-0B87-4401-B4C3-27EC289DCAA1}"/>
              </a:ext>
            </a:extLst>
          </p:cNvPr>
          <p:cNvSpPr>
            <a:spLocks xmlns:a="http://schemas.openxmlformats.org/drawingml/2006/main" noGrp="1"/>
          </p:cNvSpPr>
          <p:nvPr/>
        </p:nvSpPr>
        <p:spPr>
          <a:xfrm xmlns:a="http://schemas.openxmlformats.org/drawingml/2006/main">
            <a:off x="10157460" y="4701540"/>
            <a:ext cx="184023" cy="762"/>
          </a:xfrm>
          <a:custGeom xmlns:a="http://schemas.openxmlformats.org/drawingml/2006/main">
            <a:pathLst>
              <a:path w="184023" h="762">
                <a:moveTo>
                  <a:pt x="0" y="0"/>
                </a:moveTo>
                <a:lnTo>
                  <a:pt x="184023" y="0"/>
                </a:lnTo>
              </a:path>
            </a:pathLst>
          </a:custGeom>
          <a:noFill xmlns:a="http://schemas.openxmlformats.org/drawingml/2006/main"/>
          <a:ln xmlns:a="http://schemas.openxmlformats.org/drawingml/2006/main" w="11430">
            <a:solidFill>
              <a:srgbClr val="7399C6"/>
            </a:solidFill>
          </a:ln>
        </p:spPr>
      </p:sp>
      <p:sp>
        <p:nvSpPr>
          <p:cNvPr id="262" name="Flat experiment component">
            <a:extLst xmlns:a="http://schemas.openxmlformats.org/drawingml/2006/main">
              <a:ext uri="{FF2B5EF4-FFF2-40B4-BE49-F238E27FC236}">
                <a16:creationId xmlns:a16="http://schemas.microsoft.com/office/drawing/2014/main" id="{70556258-445D-4D32-9FFC-DCA8764D4440}"/>
              </a:ext>
            </a:extLst>
          </p:cNvPr>
          <p:cNvSpPr>
            <a:spLocks xmlns:a="http://schemas.openxmlformats.org/drawingml/2006/main" noGrp="1"/>
          </p:cNvSpPr>
          <p:nvPr/>
        </p:nvSpPr>
        <p:spPr>
          <a:xfrm xmlns:a="http://schemas.openxmlformats.org/drawingml/2006/main">
            <a:off x="10449458" y="4335780"/>
            <a:ext cx="348844" cy="281940"/>
          </a:xfrm>
          <a:prstGeom xmlns:a="http://schemas.openxmlformats.org/drawingml/2006/main" prst="roundRect">
            <a:avLst>
              <a:gd name="adj" fmla="val 8108"/>
            </a:avLst>
          </a:prstGeom>
          <a:solidFill xmlns:a="http://schemas.openxmlformats.org/drawingml/2006/main">
            <a:srgbClr val="00355F"/>
          </a:solidFill>
          <a:ln xmlns:a="http://schemas.openxmlformats.org/drawingml/2006/main" w="0">
            <a:noFill/>
          </a:ln>
        </p:spPr>
      </p:sp>
      <p:sp>
        <p:nvSpPr>
          <p:cNvPr id="263" name="MS">
            <a:extLst xmlns:a="http://schemas.openxmlformats.org/drawingml/2006/main">
              <a:ext uri="{FF2B5EF4-FFF2-40B4-BE49-F238E27FC236}">
                <a16:creationId xmlns:a16="http://schemas.microsoft.com/office/drawing/2014/main" id="{3EB8BD1C-34E7-41A2-A8A3-7A68E1055880}"/>
              </a:ext>
            </a:extLst>
          </p:cNvPr>
          <p:cNvSpPr>
            <a:spLocks xmlns:a="http://schemas.openxmlformats.org/drawingml/2006/main" noGrp="1"/>
          </p:cNvSpPr>
          <p:nvPr/>
        </p:nvSpPr>
        <p:spPr>
          <a:xfrm xmlns:a="http://schemas.openxmlformats.org/drawingml/2006/main">
            <a:off x="10457764" y="4396740"/>
            <a:ext cx="332232"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40" b="1">
                <a:solidFill>
                  <a:srgbClr val="FFFFFF"/>
                </a:solidFill>
                <a:latin typeface="Arial"/>
                <a:ea typeface="Arial"/>
                <a:cs typeface="Arial"/>
              </a:defRPr>
            </a:defPPr>
          </a:lstStyle>
          <a:p xmlns:a="http://schemas.openxmlformats.org/drawingml/2006/main">
            <a:pPr algn="ctr">
              <a:lnSpc>
                <a:spcPct val="100000"/>
              </a:lnSpc>
              <a:buNone/>
              <a:defRPr sz="1140" b="1">
                <a:solidFill>
                  <a:srgbClr val="FFFFFF"/>
                </a:solidFill>
                <a:latin typeface="Arial"/>
                <a:ea typeface="Arial"/>
                <a:cs typeface="Arial"/>
              </a:defRPr>
            </a:pPr>
            <a:r>
              <a:rPr sz="1140" b="1">
                <a:solidFill>
                  <a:srgbClr val="FFFFFF"/>
                </a:solidFill>
                <a:latin typeface="Arial"/>
                <a:ea typeface="Arial"/>
                <a:cs typeface="Arial"/>
              </a:rPr>
              <a:t>MS</a:t>
            </a:r>
          </a:p>
        </p:txBody>
      </p:sp>
      <p:sp>
        <p:nvSpPr>
          <p:cNvPr id="264" name="">
            <a:extLst xmlns:a="http://schemas.openxmlformats.org/drawingml/2006/main">
              <a:ext uri="{FF2B5EF4-FFF2-40B4-BE49-F238E27FC236}">
                <a16:creationId xmlns:a16="http://schemas.microsoft.com/office/drawing/2014/main" id="{0A1C8918-D30E-42CE-BFC8-6083F7BC96DA}"/>
              </a:ext>
            </a:extLst>
          </p:cNvPr>
          <p:cNvSpPr>
            <a:spLocks xmlns:a="http://schemas.openxmlformats.org/drawingml/2006/main" noGrp="1"/>
          </p:cNvSpPr>
          <p:nvPr/>
        </p:nvSpPr>
        <p:spPr>
          <a:xfrm xmlns:a="http://schemas.openxmlformats.org/drawingml/2006/main">
            <a:off x="10516514" y="4701540"/>
            <a:ext cx="198120" cy="198120"/>
          </a:xfrm>
          <a:prstGeom xmlns:a="http://schemas.openxmlformats.org/drawingml/2006/main" prst="ellipse">
            <a:avLst/>
          </a:prstGeom>
          <a:solidFill xmlns:a="http://schemas.openxmlformats.org/drawingml/2006/main">
            <a:srgbClr val="ACD4F1"/>
          </a:solidFill>
          <a:ln xmlns:a="http://schemas.openxmlformats.org/drawingml/2006/main" w="11430">
            <a:solidFill>
              <a:srgbClr val="00355F"/>
            </a:solidFill>
          </a:ln>
        </p:spPr>
      </p:sp>
      <p:sp>
        <p:nvSpPr>
          <p:cNvPr id="265" name="">
            <a:extLst xmlns:a="http://schemas.openxmlformats.org/drawingml/2006/main">
              <a:ext uri="{FF2B5EF4-FFF2-40B4-BE49-F238E27FC236}">
                <a16:creationId xmlns:a16="http://schemas.microsoft.com/office/drawing/2014/main" id="{E4CFABA9-9D3C-4060-93E1-4AF0298F6028}"/>
              </a:ext>
            </a:extLst>
          </p:cNvPr>
          <p:cNvSpPr>
            <a:spLocks xmlns:a="http://schemas.openxmlformats.org/drawingml/2006/main" noGrp="1"/>
          </p:cNvSpPr>
          <p:nvPr/>
        </p:nvSpPr>
        <p:spPr>
          <a:xfrm xmlns:a="http://schemas.openxmlformats.org/drawingml/2006/main">
            <a:off x="10742905" y="4770120"/>
            <a:ext cx="60960" cy="6096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266" name="Diagram path">
            <a:extLst xmlns:a="http://schemas.openxmlformats.org/drawingml/2006/main">
              <a:ext uri="{FF2B5EF4-FFF2-40B4-BE49-F238E27FC236}">
                <a16:creationId xmlns:a16="http://schemas.microsoft.com/office/drawing/2014/main" id="{DCE84C94-AD1B-41AE-92AE-DABDFC40E4B4}"/>
              </a:ext>
            </a:extLst>
          </p:cNvPr>
          <p:cNvSpPr>
            <a:spLocks xmlns:a="http://schemas.openxmlformats.org/drawingml/2006/main" noGrp="1"/>
          </p:cNvSpPr>
          <p:nvPr/>
        </p:nvSpPr>
        <p:spPr>
          <a:xfrm xmlns:a="http://schemas.openxmlformats.org/drawingml/2006/main">
            <a:off x="9776460" y="4533900"/>
            <a:ext cx="190500" cy="762"/>
          </a:xfrm>
          <a:custGeom xmlns:a="http://schemas.openxmlformats.org/drawingml/2006/main">
            <a:pathLst>
              <a:path w="190500" h="762">
                <a:moveTo>
                  <a:pt x="0" y="0"/>
                </a:moveTo>
                <a:lnTo>
                  <a:pt x="190500" y="0"/>
                </a:lnTo>
              </a:path>
            </a:pathLst>
          </a:custGeom>
          <a:noFill xmlns:a="http://schemas.openxmlformats.org/drawingml/2006/main"/>
          <a:ln xmlns:a="http://schemas.openxmlformats.org/drawingml/2006/main" w="19050">
            <a:solidFill>
              <a:srgbClr val="7399C6"/>
            </a:solidFill>
          </a:ln>
        </p:spPr>
      </p:sp>
      <p:sp>
        <p:nvSpPr>
          <p:cNvPr id="267" name="Diagram path">
            <a:extLst xmlns:a="http://schemas.openxmlformats.org/drawingml/2006/main">
              <a:ext uri="{FF2B5EF4-FFF2-40B4-BE49-F238E27FC236}">
                <a16:creationId xmlns:a16="http://schemas.microsoft.com/office/drawing/2014/main" id="{D0EA7674-AE70-488C-9480-6E2F72BF6087}"/>
              </a:ext>
            </a:extLst>
          </p:cNvPr>
          <p:cNvSpPr>
            <a:spLocks xmlns:a="http://schemas.openxmlformats.org/drawingml/2006/main" noGrp="1"/>
          </p:cNvSpPr>
          <p:nvPr/>
        </p:nvSpPr>
        <p:spPr>
          <a:xfrm xmlns:a="http://schemas.openxmlformats.org/drawingml/2006/main">
            <a:off x="9908494" y="449805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7399C6"/>
          </a:solidFill>
          <a:ln xmlns:a="http://schemas.openxmlformats.org/drawingml/2006/main" w="0">
            <a:noFill/>
          </a:ln>
        </p:spPr>
      </p:sp>
      <p:sp>
        <p:nvSpPr>
          <p:cNvPr id="268" name="Diagram path">
            <a:extLst xmlns:a="http://schemas.openxmlformats.org/drawingml/2006/main">
              <a:ext uri="{FF2B5EF4-FFF2-40B4-BE49-F238E27FC236}">
                <a16:creationId xmlns:a16="http://schemas.microsoft.com/office/drawing/2014/main" id="{55EF7126-E609-4401-BDF0-C7B7959178ED}"/>
              </a:ext>
            </a:extLst>
          </p:cNvPr>
          <p:cNvSpPr>
            <a:spLocks xmlns:a="http://schemas.openxmlformats.org/drawingml/2006/main" noGrp="1"/>
          </p:cNvSpPr>
          <p:nvPr/>
        </p:nvSpPr>
        <p:spPr>
          <a:xfrm xmlns:a="http://schemas.openxmlformats.org/drawingml/2006/main">
            <a:off x="11102340" y="4290060"/>
            <a:ext cx="495300" cy="533400"/>
          </a:xfrm>
          <a:custGeom xmlns:a="http://schemas.openxmlformats.org/drawingml/2006/main">
            <a:pathLst>
              <a:path w="495300" h="533400">
                <a:moveTo>
                  <a:pt x="0" y="0"/>
                </a:moveTo>
                <a:lnTo>
                  <a:pt x="0" y="533400"/>
                </a:lnTo>
                <a:lnTo>
                  <a:pt x="495300" y="533400"/>
                </a:lnTo>
              </a:path>
            </a:pathLst>
          </a:custGeom>
          <a:noFill xmlns:a="http://schemas.openxmlformats.org/drawingml/2006/main"/>
          <a:ln xmlns:a="http://schemas.openxmlformats.org/drawingml/2006/main" w="11430">
            <a:solidFill>
              <a:srgbClr val="7399C6"/>
            </a:solidFill>
          </a:ln>
        </p:spPr>
      </p:sp>
      <p:sp>
        <p:nvSpPr>
          <p:cNvPr id="269" name="Diagram path">
            <a:extLst xmlns:a="http://schemas.openxmlformats.org/drawingml/2006/main">
              <a:ext uri="{FF2B5EF4-FFF2-40B4-BE49-F238E27FC236}">
                <a16:creationId xmlns:a16="http://schemas.microsoft.com/office/drawing/2014/main" id="{165685F9-9F42-4F17-82AD-3597C8C36176}"/>
              </a:ext>
            </a:extLst>
          </p:cNvPr>
          <p:cNvSpPr>
            <a:spLocks xmlns:a="http://schemas.openxmlformats.org/drawingml/2006/main" noGrp="1"/>
          </p:cNvSpPr>
          <p:nvPr/>
        </p:nvSpPr>
        <p:spPr>
          <a:xfrm xmlns:a="http://schemas.openxmlformats.org/drawingml/2006/main">
            <a:off x="11102340" y="4343400"/>
            <a:ext cx="495300" cy="458724"/>
          </a:xfrm>
          <a:custGeom xmlns:a="http://schemas.openxmlformats.org/drawingml/2006/main">
            <a:pathLst>
              <a:path w="495300" h="458724">
                <a:moveTo>
                  <a:pt x="0" y="458724"/>
                </a:moveTo>
                <a:lnTo>
                  <a:pt x="99060" y="448056"/>
                </a:lnTo>
                <a:lnTo>
                  <a:pt x="148590" y="416052"/>
                </a:lnTo>
                <a:lnTo>
                  <a:pt x="183261" y="213360"/>
                </a:lnTo>
                <a:lnTo>
                  <a:pt x="217932" y="0"/>
                </a:lnTo>
                <a:lnTo>
                  <a:pt x="252603" y="256032"/>
                </a:lnTo>
                <a:lnTo>
                  <a:pt x="297180" y="448056"/>
                </a:lnTo>
                <a:lnTo>
                  <a:pt x="495300" y="458724"/>
                </a:lnTo>
              </a:path>
            </a:pathLst>
          </a:custGeom>
          <a:noFill xmlns:a="http://schemas.openxmlformats.org/drawingml/2006/main"/>
          <a:ln xmlns:a="http://schemas.openxmlformats.org/drawingml/2006/main" w="19050">
            <a:solidFill>
              <a:srgbClr val="00355F"/>
            </a:solidFill>
          </a:ln>
        </p:spPr>
      </p:sp>
      <p:sp>
        <p:nvSpPr>
          <p:cNvPr id="270" name="SEC / LC-MS · separation + QC">
            <a:extLst xmlns:a="http://schemas.openxmlformats.org/drawingml/2006/main">
              <a:ext uri="{FF2B5EF4-FFF2-40B4-BE49-F238E27FC236}">
                <a16:creationId xmlns:a16="http://schemas.microsoft.com/office/drawing/2014/main" id="{BCC86389-C5D0-4648-AFAB-B66B686017DD}"/>
              </a:ext>
            </a:extLst>
          </p:cNvPr>
          <p:cNvSpPr>
            <a:spLocks xmlns:a="http://schemas.openxmlformats.org/drawingml/2006/main" noGrp="1"/>
          </p:cNvSpPr>
          <p:nvPr/>
        </p:nvSpPr>
        <p:spPr>
          <a:xfrm xmlns:a="http://schemas.openxmlformats.org/drawingml/2006/main">
            <a:off x="9403080" y="5067300"/>
            <a:ext cx="226314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SEC / LC-MS · separation + QC</a:t>
            </a:r>
          </a:p>
        </p:txBody>
      </p:sp>
      <p:sp>
        <p:nvSpPr>
          <p:cNvPr id="271" name="Flat experiment component">
            <a:extLst xmlns:a="http://schemas.openxmlformats.org/drawingml/2006/main">
              <a:ext uri="{FF2B5EF4-FFF2-40B4-BE49-F238E27FC236}">
                <a16:creationId xmlns:a16="http://schemas.microsoft.com/office/drawing/2014/main" id="{5E21EA79-54FB-4A02-A2A1-2214A93CA033}"/>
              </a:ext>
            </a:extLst>
          </p:cNvPr>
          <p:cNvSpPr>
            <a:spLocks xmlns:a="http://schemas.openxmlformats.org/drawingml/2006/main" noGrp="1"/>
          </p:cNvSpPr>
          <p:nvPr/>
        </p:nvSpPr>
        <p:spPr>
          <a:xfrm xmlns:a="http://schemas.openxmlformats.org/drawingml/2006/main">
            <a:off x="9578340" y="552450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272" name="Diagram path">
            <a:extLst xmlns:a="http://schemas.openxmlformats.org/drawingml/2006/main">
              <a:ext uri="{FF2B5EF4-FFF2-40B4-BE49-F238E27FC236}">
                <a16:creationId xmlns:a16="http://schemas.microsoft.com/office/drawing/2014/main" id="{723386D8-7C4F-4A86-99C2-93208E584917}"/>
              </a:ext>
            </a:extLst>
          </p:cNvPr>
          <p:cNvSpPr>
            <a:spLocks xmlns:a="http://schemas.openxmlformats.org/drawingml/2006/main" noGrp="1"/>
          </p:cNvSpPr>
          <p:nvPr/>
        </p:nvSpPr>
        <p:spPr>
          <a:xfrm xmlns:a="http://schemas.openxmlformats.org/drawingml/2006/main">
            <a:off x="9601200" y="5593080"/>
            <a:ext cx="129540" cy="464820"/>
          </a:xfrm>
          <a:custGeom xmlns:a="http://schemas.openxmlformats.org/drawingml/2006/main">
            <a:pathLst>
              <a:path w="129540" h="464820">
                <a:moveTo>
                  <a:pt x="0" y="0"/>
                </a:moveTo>
                <a:lnTo>
                  <a:pt x="129540" y="0"/>
                </a:lnTo>
                <a:lnTo>
                  <a:pt x="129540" y="365760"/>
                </a:lnTo>
                <a:lnTo>
                  <a:pt x="68580" y="464820"/>
                </a:lnTo>
                <a:lnTo>
                  <a:pt x="0" y="365760"/>
                </a:lnTo>
                <a:close/>
              </a:path>
            </a:pathLst>
          </a:custGeom>
          <a:solidFill xmlns:a="http://schemas.openxmlformats.org/drawingml/2006/main">
            <a:srgbClr val="FFFFFF"/>
          </a:solidFill>
          <a:ln xmlns:a="http://schemas.openxmlformats.org/drawingml/2006/main" w="15240">
            <a:solidFill>
              <a:srgbClr val="00355F"/>
            </a:solidFill>
          </a:ln>
        </p:spPr>
      </p:sp>
      <p:sp>
        <p:nvSpPr>
          <p:cNvPr id="273" name="Diagram path">
            <a:extLst xmlns:a="http://schemas.openxmlformats.org/drawingml/2006/main">
              <a:ext uri="{FF2B5EF4-FFF2-40B4-BE49-F238E27FC236}">
                <a16:creationId xmlns:a16="http://schemas.microsoft.com/office/drawing/2014/main" id="{D45A0A69-4019-43B5-8F52-FC717DEA634B}"/>
              </a:ext>
            </a:extLst>
          </p:cNvPr>
          <p:cNvSpPr>
            <a:spLocks xmlns:a="http://schemas.openxmlformats.org/drawingml/2006/main" noGrp="1"/>
          </p:cNvSpPr>
          <p:nvPr/>
        </p:nvSpPr>
        <p:spPr>
          <a:xfrm xmlns:a="http://schemas.openxmlformats.org/drawingml/2006/main">
            <a:off x="9616440" y="5801868"/>
            <a:ext cx="99060" cy="225552"/>
          </a:xfrm>
          <a:custGeom xmlns:a="http://schemas.openxmlformats.org/drawingml/2006/main">
            <a:pathLst>
              <a:path w="99060" h="225552">
                <a:moveTo>
                  <a:pt x="0" y="0"/>
                </a:moveTo>
                <a:lnTo>
                  <a:pt x="99060" y="0"/>
                </a:lnTo>
                <a:lnTo>
                  <a:pt x="99060" y="149352"/>
                </a:lnTo>
                <a:lnTo>
                  <a:pt x="53340" y="225552"/>
                </a:lnTo>
                <a:lnTo>
                  <a:pt x="0" y="149352"/>
                </a:lnTo>
                <a:close/>
              </a:path>
            </a:pathLst>
          </a:custGeom>
          <a:solidFill xmlns:a="http://schemas.openxmlformats.org/drawingml/2006/main">
            <a:srgbClr val="ACD4F1"/>
          </a:solidFill>
          <a:ln xmlns:a="http://schemas.openxmlformats.org/drawingml/2006/main" w="0">
            <a:noFill/>
          </a:ln>
        </p:spPr>
      </p:sp>
      <p:sp>
        <p:nvSpPr>
          <p:cNvPr id="274" name="">
            <a:extLst xmlns:a="http://schemas.openxmlformats.org/drawingml/2006/main">
              <a:ext uri="{FF2B5EF4-FFF2-40B4-BE49-F238E27FC236}">
                <a16:creationId xmlns:a16="http://schemas.microsoft.com/office/drawing/2014/main" id="{747EC6D9-13E6-45D4-ABDA-9C33934A5575}"/>
              </a:ext>
            </a:extLst>
          </p:cNvPr>
          <p:cNvSpPr>
            <a:spLocks xmlns:a="http://schemas.openxmlformats.org/drawingml/2006/main" noGrp="1"/>
          </p:cNvSpPr>
          <p:nvPr/>
        </p:nvSpPr>
        <p:spPr>
          <a:xfrm xmlns:a="http://schemas.openxmlformats.org/drawingml/2006/main">
            <a:off x="9799320" y="5699760"/>
            <a:ext cx="76200" cy="76200"/>
          </a:xfrm>
          <a:prstGeom xmlns:a="http://schemas.openxmlformats.org/drawingml/2006/main" prst="ellipse">
            <a:avLst/>
          </a:prstGeom>
          <a:solidFill xmlns:a="http://schemas.openxmlformats.org/drawingml/2006/main">
            <a:srgbClr val="F67F26"/>
          </a:solidFill>
          <a:ln xmlns:a="http://schemas.openxmlformats.org/drawingml/2006/main" w="0">
            <a:noFill/>
          </a:ln>
        </p:spPr>
      </p:sp>
      <p:sp>
        <p:nvSpPr>
          <p:cNvPr id="275" name="Diagram path">
            <a:extLst xmlns:a="http://schemas.openxmlformats.org/drawingml/2006/main">
              <a:ext uri="{FF2B5EF4-FFF2-40B4-BE49-F238E27FC236}">
                <a16:creationId xmlns:a16="http://schemas.microsoft.com/office/drawing/2014/main" id="{97BE4F8B-C7F8-4FD4-978A-0F2DB438B88A}"/>
              </a:ext>
            </a:extLst>
          </p:cNvPr>
          <p:cNvSpPr>
            <a:spLocks xmlns:a="http://schemas.openxmlformats.org/drawingml/2006/main" noGrp="1"/>
          </p:cNvSpPr>
          <p:nvPr/>
        </p:nvSpPr>
        <p:spPr>
          <a:xfrm xmlns:a="http://schemas.openxmlformats.org/drawingml/2006/main">
            <a:off x="9837420" y="5585460"/>
            <a:ext cx="762" cy="320040"/>
          </a:xfrm>
          <a:custGeom xmlns:a="http://schemas.openxmlformats.org/drawingml/2006/main">
            <a:pathLst>
              <a:path w="762" h="320040">
                <a:moveTo>
                  <a:pt x="0" y="0"/>
                </a:moveTo>
                <a:lnTo>
                  <a:pt x="0" y="320040"/>
                </a:lnTo>
              </a:path>
            </a:pathLst>
          </a:custGeom>
          <a:noFill xmlns:a="http://schemas.openxmlformats.org/drawingml/2006/main"/>
          <a:ln xmlns:a="http://schemas.openxmlformats.org/drawingml/2006/main" w="22860">
            <a:solidFill>
              <a:srgbClr val="F67F26"/>
            </a:solidFill>
          </a:ln>
        </p:spPr>
      </p:sp>
      <p:sp>
        <p:nvSpPr>
          <p:cNvPr id="276" name="">
            <a:extLst xmlns:a="http://schemas.openxmlformats.org/drawingml/2006/main">
              <a:ext uri="{FF2B5EF4-FFF2-40B4-BE49-F238E27FC236}">
                <a16:creationId xmlns:a16="http://schemas.microsoft.com/office/drawing/2014/main" id="{81444849-AE43-4368-B108-956CF102A7E3}"/>
              </a:ext>
            </a:extLst>
          </p:cNvPr>
          <p:cNvSpPr>
            <a:spLocks xmlns:a="http://schemas.openxmlformats.org/drawingml/2006/main" noGrp="1"/>
          </p:cNvSpPr>
          <p:nvPr/>
        </p:nvSpPr>
        <p:spPr>
          <a:xfrm xmlns:a="http://schemas.openxmlformats.org/drawingml/2006/main">
            <a:off x="9776460" y="5890260"/>
            <a:ext cx="121920" cy="121920"/>
          </a:xfrm>
          <a:prstGeom xmlns:a="http://schemas.openxmlformats.org/drawingml/2006/main" prst="ellipse">
            <a:avLst/>
          </a:prstGeom>
          <a:solidFill xmlns:a="http://schemas.openxmlformats.org/drawingml/2006/main">
            <a:srgbClr val="F67F26"/>
          </a:solidFill>
          <a:ln xmlns:a="http://schemas.openxmlformats.org/drawingml/2006/main" w="11430">
            <a:solidFill>
              <a:srgbClr val="00355F"/>
            </a:solidFill>
          </a:ln>
        </p:spPr>
      </p:sp>
      <p:sp>
        <p:nvSpPr>
          <p:cNvPr id="277" name="Diagram path">
            <a:extLst xmlns:a="http://schemas.openxmlformats.org/drawingml/2006/main">
              <a:ext uri="{FF2B5EF4-FFF2-40B4-BE49-F238E27FC236}">
                <a16:creationId xmlns:a16="http://schemas.microsoft.com/office/drawing/2014/main" id="{6D7DCE9A-1DEE-4F37-9473-2BCCA1632BA4}"/>
              </a:ext>
            </a:extLst>
          </p:cNvPr>
          <p:cNvSpPr>
            <a:spLocks xmlns:a="http://schemas.openxmlformats.org/drawingml/2006/main" noGrp="1"/>
          </p:cNvSpPr>
          <p:nvPr/>
        </p:nvSpPr>
        <p:spPr>
          <a:xfrm xmlns:a="http://schemas.openxmlformats.org/drawingml/2006/main">
            <a:off x="10020300" y="5539740"/>
            <a:ext cx="579120" cy="487680"/>
          </a:xfrm>
          <a:custGeom xmlns:a="http://schemas.openxmlformats.org/drawingml/2006/main">
            <a:pathLst>
              <a:path w="579120" h="487680">
                <a:moveTo>
                  <a:pt x="0" y="0"/>
                </a:moveTo>
                <a:lnTo>
                  <a:pt x="0" y="487680"/>
                </a:lnTo>
                <a:lnTo>
                  <a:pt x="579120" y="487680"/>
                </a:lnTo>
              </a:path>
            </a:pathLst>
          </a:custGeom>
          <a:noFill xmlns:a="http://schemas.openxmlformats.org/drawingml/2006/main"/>
          <a:ln xmlns:a="http://schemas.openxmlformats.org/drawingml/2006/main" w="11430">
            <a:solidFill>
              <a:srgbClr val="7399C6"/>
            </a:solidFill>
          </a:ln>
        </p:spPr>
      </p:sp>
      <p:sp>
        <p:nvSpPr>
          <p:cNvPr id="278" name="Diagram path">
            <a:extLst xmlns:a="http://schemas.openxmlformats.org/drawingml/2006/main">
              <a:ext uri="{FF2B5EF4-FFF2-40B4-BE49-F238E27FC236}">
                <a16:creationId xmlns:a16="http://schemas.microsoft.com/office/drawing/2014/main" id="{18BFD225-1F01-4B10-A221-DCB5290C0EFA}"/>
              </a:ext>
            </a:extLst>
          </p:cNvPr>
          <p:cNvSpPr>
            <a:spLocks xmlns:a="http://schemas.openxmlformats.org/drawingml/2006/main" noGrp="1"/>
          </p:cNvSpPr>
          <p:nvPr/>
        </p:nvSpPr>
        <p:spPr>
          <a:xfrm xmlns:a="http://schemas.openxmlformats.org/drawingml/2006/main">
            <a:off x="10020300" y="5564124"/>
            <a:ext cx="579120" cy="424282"/>
          </a:xfrm>
          <a:custGeom xmlns:a="http://schemas.openxmlformats.org/drawingml/2006/main">
            <a:pathLst>
              <a:path w="579120" h="424282">
                <a:moveTo>
                  <a:pt x="0" y="424282"/>
                </a:moveTo>
                <a:lnTo>
                  <a:pt x="86868" y="424282"/>
                </a:lnTo>
                <a:lnTo>
                  <a:pt x="173736" y="404774"/>
                </a:lnTo>
                <a:lnTo>
                  <a:pt x="231648" y="326746"/>
                </a:lnTo>
                <a:lnTo>
                  <a:pt x="277978" y="160934"/>
                </a:lnTo>
                <a:lnTo>
                  <a:pt x="347472" y="24384"/>
                </a:lnTo>
                <a:lnTo>
                  <a:pt x="440131" y="0"/>
                </a:lnTo>
                <a:lnTo>
                  <a:pt x="579120" y="0"/>
                </a:lnTo>
              </a:path>
            </a:pathLst>
          </a:custGeom>
          <a:noFill xmlns:a="http://schemas.openxmlformats.org/drawingml/2006/main"/>
          <a:ln xmlns:a="http://schemas.openxmlformats.org/drawingml/2006/main" w="19050">
            <a:solidFill>
              <a:srgbClr val="00355F"/>
            </a:solidFill>
          </a:ln>
        </p:spPr>
      </p:sp>
      <p:sp>
        <p:nvSpPr>
          <p:cNvPr id="279" name="Diagram path">
            <a:extLst xmlns:a="http://schemas.openxmlformats.org/drawingml/2006/main">
              <a:ext uri="{FF2B5EF4-FFF2-40B4-BE49-F238E27FC236}">
                <a16:creationId xmlns:a16="http://schemas.microsoft.com/office/drawing/2014/main" id="{2345D649-DDBE-4D86-A104-629919B35947}"/>
              </a:ext>
            </a:extLst>
          </p:cNvPr>
          <p:cNvSpPr>
            <a:spLocks xmlns:a="http://schemas.openxmlformats.org/drawingml/2006/main" noGrp="1"/>
          </p:cNvSpPr>
          <p:nvPr/>
        </p:nvSpPr>
        <p:spPr>
          <a:xfrm xmlns:a="http://schemas.openxmlformats.org/drawingml/2006/main">
            <a:off x="10965180" y="5539740"/>
            <a:ext cx="609600" cy="487680"/>
          </a:xfrm>
          <a:custGeom xmlns:a="http://schemas.openxmlformats.org/drawingml/2006/main">
            <a:pathLst>
              <a:path w="609600" h="487680">
                <a:moveTo>
                  <a:pt x="0" y="0"/>
                </a:moveTo>
                <a:lnTo>
                  <a:pt x="0" y="487680"/>
                </a:lnTo>
                <a:lnTo>
                  <a:pt x="609600" y="487680"/>
                </a:lnTo>
              </a:path>
            </a:pathLst>
          </a:custGeom>
          <a:noFill xmlns:a="http://schemas.openxmlformats.org/drawingml/2006/main"/>
          <a:ln xmlns:a="http://schemas.openxmlformats.org/drawingml/2006/main" w="11430">
            <a:solidFill>
              <a:srgbClr val="7399C6"/>
            </a:solidFill>
          </a:ln>
        </p:spPr>
      </p:sp>
      <p:sp>
        <p:nvSpPr>
          <p:cNvPr id="280" name="Diagram path">
            <a:extLst xmlns:a="http://schemas.openxmlformats.org/drawingml/2006/main">
              <a:ext uri="{FF2B5EF4-FFF2-40B4-BE49-F238E27FC236}">
                <a16:creationId xmlns:a16="http://schemas.microsoft.com/office/drawing/2014/main" id="{CBC65C34-01D9-409E-8C0C-8091AD00B854}"/>
              </a:ext>
            </a:extLst>
          </p:cNvPr>
          <p:cNvSpPr>
            <a:spLocks xmlns:a="http://schemas.openxmlformats.org/drawingml/2006/main" noGrp="1"/>
          </p:cNvSpPr>
          <p:nvPr/>
        </p:nvSpPr>
        <p:spPr>
          <a:xfrm xmlns:a="http://schemas.openxmlformats.org/drawingml/2006/main">
            <a:off x="10965180" y="5622646"/>
            <a:ext cx="609600" cy="375514"/>
          </a:xfrm>
          <a:custGeom xmlns:a="http://schemas.openxmlformats.org/drawingml/2006/main">
            <a:pathLst>
              <a:path w="609600" h="375514">
                <a:moveTo>
                  <a:pt x="0" y="375514"/>
                </a:moveTo>
                <a:lnTo>
                  <a:pt x="73152" y="229210"/>
                </a:lnTo>
                <a:lnTo>
                  <a:pt x="152400" y="87782"/>
                </a:lnTo>
                <a:lnTo>
                  <a:pt x="243840" y="19507"/>
                </a:lnTo>
                <a:lnTo>
                  <a:pt x="365760" y="0"/>
                </a:lnTo>
                <a:lnTo>
                  <a:pt x="426720" y="68275"/>
                </a:lnTo>
                <a:lnTo>
                  <a:pt x="512064" y="141427"/>
                </a:lnTo>
                <a:lnTo>
                  <a:pt x="609600" y="199949"/>
                </a:lnTo>
              </a:path>
            </a:pathLst>
          </a:custGeom>
          <a:noFill xmlns:a="http://schemas.openxmlformats.org/drawingml/2006/main"/>
          <a:ln xmlns:a="http://schemas.openxmlformats.org/drawingml/2006/main" w="19050">
            <a:solidFill>
              <a:srgbClr val="00355F"/>
            </a:solidFill>
          </a:ln>
        </p:spPr>
      </p:sp>
      <p:sp>
        <p:nvSpPr>
          <p:cNvPr id="281" name="Thermal stability">
            <a:extLst xmlns:a="http://schemas.openxmlformats.org/drawingml/2006/main">
              <a:ext uri="{FF2B5EF4-FFF2-40B4-BE49-F238E27FC236}">
                <a16:creationId xmlns:a16="http://schemas.microsoft.com/office/drawing/2014/main" id="{DA95F562-71CE-44C1-9344-AF00C75D9C06}"/>
              </a:ext>
            </a:extLst>
          </p:cNvPr>
          <p:cNvSpPr>
            <a:spLocks xmlns:a="http://schemas.openxmlformats.org/drawingml/2006/main" noGrp="1"/>
          </p:cNvSpPr>
          <p:nvPr/>
        </p:nvSpPr>
        <p:spPr>
          <a:xfrm xmlns:a="http://schemas.openxmlformats.org/drawingml/2006/main">
            <a:off x="9387840" y="6278880"/>
            <a:ext cx="134112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Thermal stability</a:t>
            </a:r>
          </a:p>
        </p:txBody>
      </p:sp>
      <p:sp>
        <p:nvSpPr>
          <p:cNvPr id="282" name="Binding">
            <a:extLst xmlns:a="http://schemas.openxmlformats.org/drawingml/2006/main">
              <a:ext uri="{FF2B5EF4-FFF2-40B4-BE49-F238E27FC236}">
                <a16:creationId xmlns:a16="http://schemas.microsoft.com/office/drawing/2014/main" id="{64045D83-60EC-4CFE-B48D-D7689E333611}"/>
              </a:ext>
            </a:extLst>
          </p:cNvPr>
          <p:cNvSpPr>
            <a:spLocks xmlns:a="http://schemas.openxmlformats.org/drawingml/2006/main" noGrp="1"/>
          </p:cNvSpPr>
          <p:nvPr/>
        </p:nvSpPr>
        <p:spPr>
          <a:xfrm xmlns:a="http://schemas.openxmlformats.org/drawingml/2006/main">
            <a:off x="10767060" y="6278880"/>
            <a:ext cx="9525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Binding</a:t>
            </a:r>
          </a:p>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kinetics</a:t>
            </a:r>
          </a:p>
        </p:txBody>
      </p:sp>
      <p:sp>
        <p:nvSpPr>
          <p:cNvPr id="283" name="Flat experiment component">
            <a:extLst xmlns:a="http://schemas.openxmlformats.org/drawingml/2006/main">
              <a:ext uri="{FF2B5EF4-FFF2-40B4-BE49-F238E27FC236}">
                <a16:creationId xmlns:a16="http://schemas.microsoft.com/office/drawing/2014/main" id="{112A8B8B-E8E2-4739-A525-5CB4EDAD9460}"/>
              </a:ext>
            </a:extLst>
          </p:cNvPr>
          <p:cNvSpPr>
            <a:spLocks xmlns:a="http://schemas.openxmlformats.org/drawingml/2006/main" noGrp="1"/>
          </p:cNvSpPr>
          <p:nvPr/>
        </p:nvSpPr>
        <p:spPr>
          <a:xfrm xmlns:a="http://schemas.openxmlformats.org/drawingml/2006/main">
            <a:off x="9372600" y="6758940"/>
            <a:ext cx="2362200" cy="373380"/>
          </a:xfrm>
          <a:prstGeom xmlns:a="http://schemas.openxmlformats.org/drawingml/2006/main" prst="roundRect">
            <a:avLst>
              <a:gd name="adj" fmla="val 10204"/>
            </a:avLst>
          </a:prstGeom>
          <a:solidFill xmlns:a="http://schemas.openxmlformats.org/drawingml/2006/main">
            <a:srgbClr val="ACD4F1"/>
          </a:solidFill>
          <a:ln xmlns:a="http://schemas.openxmlformats.org/drawingml/2006/main" w="0">
            <a:noFill/>
          </a:ln>
        </p:spPr>
      </p:sp>
      <p:sp>
        <p:nvSpPr>
          <p:cNvPr id="284" name="Linked multi-property labels">
            <a:extLst xmlns:a="http://schemas.openxmlformats.org/drawingml/2006/main">
              <a:ext uri="{FF2B5EF4-FFF2-40B4-BE49-F238E27FC236}">
                <a16:creationId xmlns:a16="http://schemas.microsoft.com/office/drawing/2014/main" id="{2CABD0C5-7614-4340-A5EC-9E81D0021240}"/>
              </a:ext>
            </a:extLst>
          </p:cNvPr>
          <p:cNvSpPr>
            <a:spLocks xmlns:a="http://schemas.openxmlformats.org/drawingml/2006/main" noGrp="1"/>
          </p:cNvSpPr>
          <p:nvPr/>
        </p:nvSpPr>
        <p:spPr>
          <a:xfrm xmlns:a="http://schemas.openxmlformats.org/drawingml/2006/main">
            <a:off x="9441180" y="6858000"/>
            <a:ext cx="222504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Linked multi-property labels</a:t>
            </a:r>
          </a:p>
        </p:txBody>
      </p:sp>
      <p:sp>
        <p:nvSpPr>
          <p:cNvPr id="285" name="Diagram path">
            <a:extLst xmlns:a="http://schemas.openxmlformats.org/drawingml/2006/main">
              <a:ext uri="{FF2B5EF4-FFF2-40B4-BE49-F238E27FC236}">
                <a16:creationId xmlns:a16="http://schemas.microsoft.com/office/drawing/2014/main" id="{4FA43CA6-11E8-4CFC-A35E-A696439D0367}"/>
              </a:ext>
            </a:extLst>
          </p:cNvPr>
          <p:cNvSpPr>
            <a:spLocks xmlns:a="http://schemas.openxmlformats.org/drawingml/2006/main" noGrp="1"/>
          </p:cNvSpPr>
          <p:nvPr/>
        </p:nvSpPr>
        <p:spPr>
          <a:xfrm xmlns:a="http://schemas.openxmlformats.org/drawingml/2006/main">
            <a:off x="9387840" y="7284720"/>
            <a:ext cx="2331720" cy="762"/>
          </a:xfrm>
          <a:custGeom xmlns:a="http://schemas.openxmlformats.org/drawingml/2006/main">
            <a:pathLst>
              <a:path w="2331720" h="762">
                <a:moveTo>
                  <a:pt x="0" y="0"/>
                </a:moveTo>
                <a:lnTo>
                  <a:pt x="2331720" y="0"/>
                </a:lnTo>
              </a:path>
            </a:pathLst>
          </a:custGeom>
          <a:noFill xmlns:a="http://schemas.openxmlformats.org/drawingml/2006/main"/>
          <a:ln xmlns:a="http://schemas.openxmlformats.org/drawingml/2006/main" w="7620">
            <a:solidFill>
              <a:srgbClr val="A5A5A5"/>
            </a:solidFill>
          </a:ln>
        </p:spPr>
      </p:sp>
      <p:sp>
        <p:nvSpPr>
          <p:cNvPr id="286" name="REPRESENTATIVE SUPPLIERS">
            <a:extLst xmlns:a="http://schemas.openxmlformats.org/drawingml/2006/main">
              <a:ext uri="{FF2B5EF4-FFF2-40B4-BE49-F238E27FC236}">
                <a16:creationId xmlns:a16="http://schemas.microsoft.com/office/drawing/2014/main" id="{2DC2EBDF-9560-43E5-BE2B-22183A5E3470}"/>
              </a:ext>
            </a:extLst>
          </p:cNvPr>
          <p:cNvSpPr>
            <a:spLocks xmlns:a="http://schemas.openxmlformats.org/drawingml/2006/main" noGrp="1"/>
          </p:cNvSpPr>
          <p:nvPr/>
        </p:nvSpPr>
        <p:spPr>
          <a:xfrm xmlns:a="http://schemas.openxmlformats.org/drawingml/2006/main">
            <a:off x="9387840" y="7437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00355F"/>
                </a:solidFill>
                <a:latin typeface="Arial"/>
                <a:ea typeface="Arial"/>
                <a:cs typeface="Arial"/>
              </a:defRPr>
            </a:defPPr>
          </a:lstStyle>
          <a:p xmlns:a="http://schemas.openxmlformats.org/drawingml/2006/main">
            <a:pPr algn="l">
              <a:lnSpc>
                <a:spcPct val="100000"/>
              </a:lnSpc>
              <a:buNone/>
              <a:defRPr sz="900" b="1">
                <a:solidFill>
                  <a:srgbClr val="00355F"/>
                </a:solidFill>
                <a:latin typeface="Arial"/>
                <a:ea typeface="Arial"/>
                <a:cs typeface="Arial"/>
              </a:defRPr>
            </a:pPr>
            <a:r>
              <a:rPr sz="900" b="1">
                <a:solidFill>
                  <a:srgbClr val="00355F"/>
                </a:solidFill>
                <a:latin typeface="Arial"/>
                <a:ea typeface="Arial"/>
                <a:cs typeface="Arial"/>
              </a:rPr>
              <a:t>REPRESENTATIVE SUPPLIERS</a:t>
            </a:r>
          </a:p>
        </p:txBody>
      </p:sp>
      <p:sp>
        <p:nvSpPr>
          <p:cNvPr id="287" name="Separation / analytics">
            <a:extLst xmlns:a="http://schemas.openxmlformats.org/drawingml/2006/main">
              <a:ext uri="{FF2B5EF4-FFF2-40B4-BE49-F238E27FC236}">
                <a16:creationId xmlns:a16="http://schemas.microsoft.com/office/drawing/2014/main" id="{E14B4392-66A8-4386-AA70-33EEAB83C95E}"/>
              </a:ext>
            </a:extLst>
          </p:cNvPr>
          <p:cNvSpPr>
            <a:spLocks xmlns:a="http://schemas.openxmlformats.org/drawingml/2006/main" noGrp="1"/>
          </p:cNvSpPr>
          <p:nvPr/>
        </p:nvSpPr>
        <p:spPr>
          <a:xfrm xmlns:a="http://schemas.openxmlformats.org/drawingml/2006/main">
            <a:off x="9387840" y="77038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Separation / analytics</a:t>
            </a:r>
          </a:p>
        </p:txBody>
      </p:sp>
      <p:sp>
        <p:nvSpPr>
          <p:cNvPr id="288" name="Waters · Agilent · NanoMicro">
            <a:extLst xmlns:a="http://schemas.openxmlformats.org/drawingml/2006/main">
              <a:ext uri="{FF2B5EF4-FFF2-40B4-BE49-F238E27FC236}">
                <a16:creationId xmlns:a16="http://schemas.microsoft.com/office/drawing/2014/main" id="{5F6AE2B4-2C48-4FA2-9E7A-D381AF9EDB49}"/>
              </a:ext>
            </a:extLst>
          </p:cNvPr>
          <p:cNvSpPr>
            <a:spLocks xmlns:a="http://schemas.openxmlformats.org/drawingml/2006/main" noGrp="1"/>
          </p:cNvSpPr>
          <p:nvPr/>
        </p:nvSpPr>
        <p:spPr>
          <a:xfrm xmlns:a="http://schemas.openxmlformats.org/drawingml/2006/main">
            <a:off x="9387840" y="78714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Waters · Agilent · NanoMicro</a:t>
            </a:r>
          </a:p>
        </p:txBody>
      </p:sp>
      <p:sp>
        <p:nvSpPr>
          <p:cNvPr id="289" name="Stability / binding">
            <a:extLst xmlns:a="http://schemas.openxmlformats.org/drawingml/2006/main">
              <a:ext uri="{FF2B5EF4-FFF2-40B4-BE49-F238E27FC236}">
                <a16:creationId xmlns:a16="http://schemas.microsoft.com/office/drawing/2014/main" id="{FFAD32F9-B174-4A2B-B545-62F97A058D4C}"/>
              </a:ext>
            </a:extLst>
          </p:cNvPr>
          <p:cNvSpPr>
            <a:spLocks xmlns:a="http://schemas.openxmlformats.org/drawingml/2006/main" noGrp="1"/>
          </p:cNvSpPr>
          <p:nvPr/>
        </p:nvSpPr>
        <p:spPr>
          <a:xfrm xmlns:a="http://schemas.openxmlformats.org/drawingml/2006/main">
            <a:off x="9387840" y="81229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Stability / binding</a:t>
            </a:r>
          </a:p>
        </p:txBody>
      </p:sp>
      <p:sp>
        <p:nvSpPr>
          <p:cNvPr id="290" name="NanoTemper · Sartorius">
            <a:extLst xmlns:a="http://schemas.openxmlformats.org/drawingml/2006/main">
              <a:ext uri="{FF2B5EF4-FFF2-40B4-BE49-F238E27FC236}">
                <a16:creationId xmlns:a16="http://schemas.microsoft.com/office/drawing/2014/main" id="{7F5A377F-2F54-4488-88E3-0141B5A9A813}"/>
              </a:ext>
            </a:extLst>
          </p:cNvPr>
          <p:cNvSpPr>
            <a:spLocks xmlns:a="http://schemas.openxmlformats.org/drawingml/2006/main" noGrp="1"/>
          </p:cNvSpPr>
          <p:nvPr/>
        </p:nvSpPr>
        <p:spPr>
          <a:xfrm xmlns:a="http://schemas.openxmlformats.org/drawingml/2006/main">
            <a:off x="9387840" y="82905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NanoTemper · Sartorius</a:t>
            </a:r>
          </a:p>
        </p:txBody>
      </p:sp>
      <p:sp>
        <p:nvSpPr>
          <p:cNvPr id="291" name="Diagram path">
            <a:extLst xmlns:a="http://schemas.openxmlformats.org/drawingml/2006/main">
              <a:ext uri="{FF2B5EF4-FFF2-40B4-BE49-F238E27FC236}">
                <a16:creationId xmlns:a16="http://schemas.microsoft.com/office/drawing/2014/main" id="{E7172668-81C9-48F8-A5E9-A64BAA8AAA12}"/>
              </a:ext>
            </a:extLst>
          </p:cNvPr>
          <p:cNvSpPr>
            <a:spLocks xmlns:a="http://schemas.openxmlformats.org/drawingml/2006/main" noGrp="1"/>
          </p:cNvSpPr>
          <p:nvPr/>
        </p:nvSpPr>
        <p:spPr>
          <a:xfrm xmlns:a="http://schemas.openxmlformats.org/drawingml/2006/main">
            <a:off x="11902440" y="5090160"/>
            <a:ext cx="114300" cy="762"/>
          </a:xfrm>
          <a:custGeom xmlns:a="http://schemas.openxmlformats.org/drawingml/2006/main">
            <a:pathLst>
              <a:path w="114300" h="762">
                <a:moveTo>
                  <a:pt x="0" y="0"/>
                </a:moveTo>
                <a:lnTo>
                  <a:pt x="114300" y="0"/>
                </a:lnTo>
              </a:path>
            </a:pathLst>
          </a:custGeom>
          <a:noFill xmlns:a="http://schemas.openxmlformats.org/drawingml/2006/main"/>
          <a:ln xmlns:a="http://schemas.openxmlformats.org/drawingml/2006/main" w="15240">
            <a:solidFill>
              <a:srgbClr val="00355F"/>
            </a:solidFill>
          </a:ln>
        </p:spPr>
      </p:sp>
      <p:sp>
        <p:nvSpPr>
          <p:cNvPr id="292" name="Diagram path">
            <a:extLst xmlns:a="http://schemas.openxmlformats.org/drawingml/2006/main">
              <a:ext uri="{FF2B5EF4-FFF2-40B4-BE49-F238E27FC236}">
                <a16:creationId xmlns:a16="http://schemas.microsoft.com/office/drawing/2014/main" id="{A8FC1309-AC4E-4AAA-BC60-0202D35D15F0}"/>
              </a:ext>
            </a:extLst>
          </p:cNvPr>
          <p:cNvSpPr>
            <a:spLocks xmlns:a="http://schemas.openxmlformats.org/drawingml/2006/main" noGrp="1"/>
          </p:cNvSpPr>
          <p:nvPr/>
        </p:nvSpPr>
        <p:spPr>
          <a:xfrm xmlns:a="http://schemas.openxmlformats.org/drawingml/2006/main">
            <a:off x="11958274" y="505431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00355F"/>
          </a:solidFill>
          <a:ln xmlns:a="http://schemas.openxmlformats.org/drawingml/2006/main" w="0">
            <a:noFill/>
          </a:ln>
        </p:spPr>
      </p:sp>
      <p:sp>
        <p:nvSpPr>
          <p:cNvPr id="293" name="Flat experiment component">
            <a:extLst xmlns:a="http://schemas.openxmlformats.org/drawingml/2006/main">
              <a:ext uri="{FF2B5EF4-FFF2-40B4-BE49-F238E27FC236}">
                <a16:creationId xmlns:a16="http://schemas.microsoft.com/office/drawing/2014/main" id="{91669415-6B7F-4B8E-A541-172D585AD772}"/>
              </a:ext>
            </a:extLst>
          </p:cNvPr>
          <p:cNvSpPr>
            <a:spLocks xmlns:a="http://schemas.openxmlformats.org/drawingml/2006/main" noGrp="1"/>
          </p:cNvSpPr>
          <p:nvPr/>
        </p:nvSpPr>
        <p:spPr>
          <a:xfrm xmlns:a="http://schemas.openxmlformats.org/drawingml/2006/main">
            <a:off x="12039600" y="2179320"/>
            <a:ext cx="2667000" cy="6477000"/>
          </a:xfrm>
          <a:prstGeom xmlns:a="http://schemas.openxmlformats.org/drawingml/2006/main" prst="roundRect">
            <a:avLst>
              <a:gd name="adj" fmla="val 3714"/>
            </a:avLst>
          </a:prstGeom>
          <a:solidFill xmlns:a="http://schemas.openxmlformats.org/drawingml/2006/main">
            <a:srgbClr val="FFFFFF"/>
          </a:solidFill>
          <a:ln xmlns:a="http://schemas.openxmlformats.org/drawingml/2006/main" w="11430">
            <a:solidFill>
              <a:srgbClr val="7399C6"/>
            </a:solidFill>
          </a:ln>
        </p:spPr>
      </p:sp>
      <p:sp>
        <p:nvSpPr>
          <p:cNvPr id="294" name="Flat experiment component">
            <a:extLst xmlns:a="http://schemas.openxmlformats.org/drawingml/2006/main">
              <a:ext uri="{FF2B5EF4-FFF2-40B4-BE49-F238E27FC236}">
                <a16:creationId xmlns:a16="http://schemas.microsoft.com/office/drawing/2014/main" id="{84662094-B3B5-4C70-B50F-4F349A2F62A2}"/>
              </a:ext>
            </a:extLst>
          </p:cNvPr>
          <p:cNvSpPr>
            <a:spLocks xmlns:a="http://schemas.openxmlformats.org/drawingml/2006/main" noGrp="1"/>
          </p:cNvSpPr>
          <p:nvPr/>
        </p:nvSpPr>
        <p:spPr>
          <a:xfrm xmlns:a="http://schemas.openxmlformats.org/drawingml/2006/main">
            <a:off x="12039600" y="2179320"/>
            <a:ext cx="2667000" cy="68580"/>
          </a:xfrm>
          <a:prstGeom xmlns:a="http://schemas.openxmlformats.org/drawingml/2006/main" prst="rect">
            <a:avLst/>
          </a:prstGeom>
          <a:solidFill xmlns:a="http://schemas.openxmlformats.org/drawingml/2006/main">
            <a:srgbClr val="7399C6"/>
          </a:solidFill>
          <a:ln xmlns:a="http://schemas.openxmlformats.org/drawingml/2006/main" w="0">
            <a:noFill/>
          </a:ln>
        </p:spPr>
      </p:sp>
      <p:sp>
        <p:nvSpPr>
          <p:cNvPr id="295" name="05 / TEST">
            <a:extLst xmlns:a="http://schemas.openxmlformats.org/drawingml/2006/main">
              <a:ext uri="{FF2B5EF4-FFF2-40B4-BE49-F238E27FC236}">
                <a16:creationId xmlns:a16="http://schemas.microsoft.com/office/drawing/2014/main" id="{35A4804D-EF60-48DB-989A-2815C38C4979}"/>
              </a:ext>
            </a:extLst>
          </p:cNvPr>
          <p:cNvSpPr>
            <a:spLocks xmlns:a="http://schemas.openxmlformats.org/drawingml/2006/main" noGrp="1"/>
          </p:cNvSpPr>
          <p:nvPr/>
        </p:nvSpPr>
        <p:spPr>
          <a:xfrm xmlns:a="http://schemas.openxmlformats.org/drawingml/2006/main">
            <a:off x="12207240" y="2385060"/>
            <a:ext cx="233172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05 / TEST</a:t>
            </a:r>
          </a:p>
        </p:txBody>
      </p:sp>
      <p:sp>
        <p:nvSpPr>
          <p:cNvPr id="296" name="Cell-function">
            <a:extLst xmlns:a="http://schemas.openxmlformats.org/drawingml/2006/main">
              <a:ext uri="{FF2B5EF4-FFF2-40B4-BE49-F238E27FC236}">
                <a16:creationId xmlns:a16="http://schemas.microsoft.com/office/drawing/2014/main" id="{BAA52162-CE19-4F34-95DC-5505BC989842}"/>
              </a:ext>
            </a:extLst>
          </p:cNvPr>
          <p:cNvSpPr>
            <a:spLocks xmlns:a="http://schemas.openxmlformats.org/drawingml/2006/main" noGrp="1"/>
          </p:cNvSpPr>
          <p:nvPr/>
        </p:nvSpPr>
        <p:spPr>
          <a:xfrm xmlns:a="http://schemas.openxmlformats.org/drawingml/2006/main">
            <a:off x="12207240" y="2697480"/>
            <a:ext cx="233172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Cell-function</a:t>
            </a:r>
          </a:p>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validation</a:t>
            </a:r>
          </a:p>
        </p:txBody>
      </p:sp>
      <p:sp>
        <p:nvSpPr>
          <p:cNvPr id="297" name="Test biological activity">
            <a:extLst xmlns:a="http://schemas.openxmlformats.org/drawingml/2006/main">
              <a:ext uri="{FF2B5EF4-FFF2-40B4-BE49-F238E27FC236}">
                <a16:creationId xmlns:a16="http://schemas.microsoft.com/office/drawing/2014/main" id="{F28F35A7-0F4B-4F56-9E30-AB1A1B5B87B4}"/>
              </a:ext>
            </a:extLst>
          </p:cNvPr>
          <p:cNvSpPr>
            <a:spLocks xmlns:a="http://schemas.openxmlformats.org/drawingml/2006/main" noGrp="1"/>
          </p:cNvSpPr>
          <p:nvPr/>
        </p:nvSpPr>
        <p:spPr>
          <a:xfrm xmlns:a="http://schemas.openxmlformats.org/drawingml/2006/main">
            <a:off x="12207240" y="3329940"/>
            <a:ext cx="233172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Test biological activity</a:t>
            </a:r>
          </a:p>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in a relevant cell model</a:t>
            </a:r>
          </a:p>
        </p:txBody>
      </p:sp>
      <p:sp>
        <p:nvSpPr>
          <p:cNvPr id="298" name="Flat experiment component">
            <a:extLst xmlns:a="http://schemas.openxmlformats.org/drawingml/2006/main">
              <a:ext uri="{FF2B5EF4-FFF2-40B4-BE49-F238E27FC236}">
                <a16:creationId xmlns:a16="http://schemas.microsoft.com/office/drawing/2014/main" id="{CF05CC91-8AD3-4487-AF0F-CC5C404B7716}"/>
              </a:ext>
            </a:extLst>
          </p:cNvPr>
          <p:cNvSpPr>
            <a:spLocks xmlns:a="http://schemas.openxmlformats.org/drawingml/2006/main" noGrp="1"/>
          </p:cNvSpPr>
          <p:nvPr/>
        </p:nvSpPr>
        <p:spPr>
          <a:xfrm xmlns:a="http://schemas.openxmlformats.org/drawingml/2006/main">
            <a:off x="12146280" y="3924300"/>
            <a:ext cx="2453640" cy="2682240"/>
          </a:xfrm>
          <a:prstGeom xmlns:a="http://schemas.openxmlformats.org/drawingml/2006/main" prst="roundRect">
            <a:avLst>
              <a:gd name="adj" fmla="val 3106"/>
            </a:avLst>
          </a:prstGeom>
          <a:solidFill xmlns:a="http://schemas.openxmlformats.org/drawingml/2006/main">
            <a:srgbClr val="F0F7FC"/>
          </a:solidFill>
          <a:ln xmlns:a="http://schemas.openxmlformats.org/drawingml/2006/main" w="0">
            <a:noFill/>
          </a:ln>
        </p:spPr>
      </p:sp>
      <p:sp>
        <p:nvSpPr>
          <p:cNvPr id="299" name="Flat experiment component">
            <a:extLst xmlns:a="http://schemas.openxmlformats.org/drawingml/2006/main">
              <a:ext uri="{FF2B5EF4-FFF2-40B4-BE49-F238E27FC236}">
                <a16:creationId xmlns:a16="http://schemas.microsoft.com/office/drawing/2014/main" id="{D69DE35A-E02A-48D4-BAE9-C2C255B95C21}"/>
              </a:ext>
            </a:extLst>
          </p:cNvPr>
          <p:cNvSpPr>
            <a:spLocks xmlns:a="http://schemas.openxmlformats.org/drawingml/2006/main" noGrp="1"/>
          </p:cNvSpPr>
          <p:nvPr/>
        </p:nvSpPr>
        <p:spPr>
          <a:xfrm xmlns:a="http://schemas.openxmlformats.org/drawingml/2006/main">
            <a:off x="12245340" y="4640580"/>
            <a:ext cx="952500" cy="297180"/>
          </a:xfrm>
          <a:prstGeom xmlns:a="http://schemas.openxmlformats.org/drawingml/2006/main" prst="roundRect">
            <a:avLst>
              <a:gd name="adj" fmla="val 12821"/>
            </a:avLst>
          </a:prstGeom>
          <a:solidFill xmlns:a="http://schemas.openxmlformats.org/drawingml/2006/main">
            <a:srgbClr val="ACD4F1"/>
          </a:solidFill>
          <a:ln xmlns:a="http://schemas.openxmlformats.org/drawingml/2006/main" w="17526">
            <a:solidFill>
              <a:srgbClr val="00355F"/>
            </a:solidFill>
          </a:ln>
        </p:spPr>
      </p:sp>
      <p:sp>
        <p:nvSpPr>
          <p:cNvPr id="300" name="">
            <a:extLst xmlns:a="http://schemas.openxmlformats.org/drawingml/2006/main">
              <a:ext uri="{FF2B5EF4-FFF2-40B4-BE49-F238E27FC236}">
                <a16:creationId xmlns:a16="http://schemas.microsoft.com/office/drawing/2014/main" id="{1599CC40-AB4F-47CC-BFD3-744FCCCBAB90}"/>
              </a:ext>
            </a:extLst>
          </p:cNvPr>
          <p:cNvSpPr>
            <a:spLocks xmlns:a="http://schemas.openxmlformats.org/drawingml/2006/main" noGrp="1"/>
          </p:cNvSpPr>
          <p:nvPr/>
        </p:nvSpPr>
        <p:spPr>
          <a:xfrm xmlns:a="http://schemas.openxmlformats.org/drawingml/2006/main">
            <a:off x="12245340" y="4564380"/>
            <a:ext cx="952500" cy="205740"/>
          </a:xfrm>
          <a:prstGeom xmlns:a="http://schemas.openxmlformats.org/drawingml/2006/main" prst="ellipse">
            <a:avLst/>
          </a:prstGeom>
          <a:solidFill xmlns:a="http://schemas.openxmlformats.org/drawingml/2006/main">
            <a:srgbClr val="F0F7FC"/>
          </a:solidFill>
          <a:ln xmlns:a="http://schemas.openxmlformats.org/drawingml/2006/main" w="15240">
            <a:solidFill>
              <a:srgbClr val="00355F"/>
            </a:solidFill>
          </a:ln>
        </p:spPr>
      </p:sp>
      <p:sp>
        <p:nvSpPr>
          <p:cNvPr id="301" name="">
            <a:extLst xmlns:a="http://schemas.openxmlformats.org/drawingml/2006/main">
              <a:ext uri="{FF2B5EF4-FFF2-40B4-BE49-F238E27FC236}">
                <a16:creationId xmlns:a16="http://schemas.microsoft.com/office/drawing/2014/main" id="{42A6DB86-772A-4AB0-8C8C-51E6BD7112D1}"/>
              </a:ext>
            </a:extLst>
          </p:cNvPr>
          <p:cNvSpPr>
            <a:spLocks xmlns:a="http://schemas.openxmlformats.org/drawingml/2006/main" noGrp="1"/>
          </p:cNvSpPr>
          <p:nvPr/>
        </p:nvSpPr>
        <p:spPr>
          <a:xfrm xmlns:a="http://schemas.openxmlformats.org/drawingml/2006/main">
            <a:off x="12245340" y="4815840"/>
            <a:ext cx="952500" cy="190500"/>
          </a:xfrm>
          <a:prstGeom xmlns:a="http://schemas.openxmlformats.org/drawingml/2006/main" prst="ellipse">
            <a:avLst/>
          </a:prstGeom>
          <a:solidFill xmlns:a="http://schemas.openxmlformats.org/drawingml/2006/main">
            <a:srgbClr val="ACD4F1"/>
          </a:solidFill>
          <a:ln xmlns:a="http://schemas.openxmlformats.org/drawingml/2006/main" w="15240">
            <a:solidFill>
              <a:srgbClr val="00355F"/>
            </a:solidFill>
          </a:ln>
        </p:spPr>
      </p:sp>
      <p:sp>
        <p:nvSpPr>
          <p:cNvPr id="302" name="">
            <a:extLst xmlns:a="http://schemas.openxmlformats.org/drawingml/2006/main">
              <a:ext uri="{FF2B5EF4-FFF2-40B4-BE49-F238E27FC236}">
                <a16:creationId xmlns:a16="http://schemas.microsoft.com/office/drawing/2014/main" id="{497E644B-9E12-4660-A19B-7FBDD8AC0BE3}"/>
              </a:ext>
            </a:extLst>
          </p:cNvPr>
          <p:cNvSpPr>
            <a:spLocks xmlns:a="http://schemas.openxmlformats.org/drawingml/2006/main" noGrp="1"/>
          </p:cNvSpPr>
          <p:nvPr/>
        </p:nvSpPr>
        <p:spPr>
          <a:xfrm xmlns:a="http://schemas.openxmlformats.org/drawingml/2006/main">
            <a:off x="12382500" y="4738726"/>
            <a:ext cx="114300" cy="68580"/>
          </a:xfrm>
          <a:prstGeom xmlns:a="http://schemas.openxmlformats.org/drawingml/2006/main" prst="ellipse">
            <a:avLst/>
          </a:prstGeom>
          <a:solidFill xmlns:a="http://schemas.openxmlformats.org/drawingml/2006/main">
            <a:srgbClr val="7399C6"/>
          </a:solidFill>
          <a:ln xmlns:a="http://schemas.openxmlformats.org/drawingml/2006/main" w="7620">
            <a:solidFill>
              <a:srgbClr val="00355F"/>
            </a:solidFill>
          </a:ln>
        </p:spPr>
      </p:sp>
      <p:sp>
        <p:nvSpPr>
          <p:cNvPr id="303" name="">
            <a:extLst xmlns:a="http://schemas.openxmlformats.org/drawingml/2006/main">
              <a:ext uri="{FF2B5EF4-FFF2-40B4-BE49-F238E27FC236}">
                <a16:creationId xmlns:a16="http://schemas.microsoft.com/office/drawing/2014/main" id="{F77BAE72-A199-429D-9D98-01445670F5A6}"/>
              </a:ext>
            </a:extLst>
          </p:cNvPr>
          <p:cNvSpPr>
            <a:spLocks xmlns:a="http://schemas.openxmlformats.org/drawingml/2006/main" noGrp="1"/>
          </p:cNvSpPr>
          <p:nvPr/>
        </p:nvSpPr>
        <p:spPr>
          <a:xfrm xmlns:a="http://schemas.openxmlformats.org/drawingml/2006/main">
            <a:off x="12563475" y="4802734"/>
            <a:ext cx="114300" cy="68580"/>
          </a:xfrm>
          <a:prstGeom xmlns:a="http://schemas.openxmlformats.org/drawingml/2006/main" prst="ellipse">
            <a:avLst/>
          </a:prstGeom>
          <a:solidFill xmlns:a="http://schemas.openxmlformats.org/drawingml/2006/main">
            <a:srgbClr val="7399C6"/>
          </a:solidFill>
          <a:ln xmlns:a="http://schemas.openxmlformats.org/drawingml/2006/main" w="7620">
            <a:solidFill>
              <a:srgbClr val="00355F"/>
            </a:solidFill>
          </a:ln>
        </p:spPr>
      </p:sp>
      <p:sp>
        <p:nvSpPr>
          <p:cNvPr id="304" name="">
            <a:extLst xmlns:a="http://schemas.openxmlformats.org/drawingml/2006/main">
              <a:ext uri="{FF2B5EF4-FFF2-40B4-BE49-F238E27FC236}">
                <a16:creationId xmlns:a16="http://schemas.microsoft.com/office/drawing/2014/main" id="{E00D931F-4858-4194-87FA-3C8EE3C62EB1}"/>
              </a:ext>
            </a:extLst>
          </p:cNvPr>
          <p:cNvSpPr>
            <a:spLocks xmlns:a="http://schemas.openxmlformats.org/drawingml/2006/main" noGrp="1"/>
          </p:cNvSpPr>
          <p:nvPr/>
        </p:nvSpPr>
        <p:spPr>
          <a:xfrm xmlns:a="http://schemas.openxmlformats.org/drawingml/2006/main">
            <a:off x="12773025" y="4738726"/>
            <a:ext cx="114300" cy="68580"/>
          </a:xfrm>
          <a:prstGeom xmlns:a="http://schemas.openxmlformats.org/drawingml/2006/main" prst="ellipse">
            <a:avLst/>
          </a:prstGeom>
          <a:solidFill xmlns:a="http://schemas.openxmlformats.org/drawingml/2006/main">
            <a:srgbClr val="7399C6"/>
          </a:solidFill>
          <a:ln xmlns:a="http://schemas.openxmlformats.org/drawingml/2006/main" w="7620">
            <a:solidFill>
              <a:srgbClr val="00355F"/>
            </a:solidFill>
          </a:ln>
        </p:spPr>
      </p:sp>
      <p:sp>
        <p:nvSpPr>
          <p:cNvPr id="305" name="">
            <a:extLst xmlns:a="http://schemas.openxmlformats.org/drawingml/2006/main">
              <a:ext uri="{FF2B5EF4-FFF2-40B4-BE49-F238E27FC236}">
                <a16:creationId xmlns:a16="http://schemas.microsoft.com/office/drawing/2014/main" id="{86D9D61E-264E-4B28-B0D0-D6E905E77BFB}"/>
              </a:ext>
            </a:extLst>
          </p:cNvPr>
          <p:cNvSpPr>
            <a:spLocks xmlns:a="http://schemas.openxmlformats.org/drawingml/2006/main" noGrp="1"/>
          </p:cNvSpPr>
          <p:nvPr/>
        </p:nvSpPr>
        <p:spPr>
          <a:xfrm xmlns:a="http://schemas.openxmlformats.org/drawingml/2006/main">
            <a:off x="12944475" y="4798466"/>
            <a:ext cx="114300" cy="68580"/>
          </a:xfrm>
          <a:prstGeom xmlns:a="http://schemas.openxmlformats.org/drawingml/2006/main" prst="ellipse">
            <a:avLst/>
          </a:prstGeom>
          <a:solidFill xmlns:a="http://schemas.openxmlformats.org/drawingml/2006/main">
            <a:srgbClr val="7399C6"/>
          </a:solidFill>
          <a:ln xmlns:a="http://schemas.openxmlformats.org/drawingml/2006/main" w="7620">
            <a:solidFill>
              <a:srgbClr val="00355F"/>
            </a:solidFill>
          </a:ln>
        </p:spPr>
      </p:sp>
      <p:sp>
        <p:nvSpPr>
          <p:cNvPr id="306" name="Flat experiment component">
            <a:extLst xmlns:a="http://schemas.openxmlformats.org/drawingml/2006/main">
              <a:ext uri="{FF2B5EF4-FFF2-40B4-BE49-F238E27FC236}">
                <a16:creationId xmlns:a16="http://schemas.microsoft.com/office/drawing/2014/main" id="{8A68D0E9-DFEB-42D3-9230-9671473CB1AB}"/>
              </a:ext>
            </a:extLst>
          </p:cNvPr>
          <p:cNvSpPr>
            <a:spLocks xmlns:a="http://schemas.openxmlformats.org/drawingml/2006/main" noGrp="1"/>
          </p:cNvSpPr>
          <p:nvPr/>
        </p:nvSpPr>
        <p:spPr>
          <a:xfrm xmlns:a="http://schemas.openxmlformats.org/drawingml/2006/main">
            <a:off x="14036040" y="4229100"/>
            <a:ext cx="198120" cy="91440"/>
          </a:xfrm>
          <a:prstGeom xmlns:a="http://schemas.openxmlformats.org/drawingml/2006/main" prst="roundRect">
            <a:avLst>
              <a:gd name="adj" fmla="val 16667"/>
            </a:avLst>
          </a:prstGeom>
          <a:solidFill xmlns:a="http://schemas.openxmlformats.org/drawingml/2006/main">
            <a:srgbClr val="7399C6"/>
          </a:solidFill>
          <a:ln xmlns:a="http://schemas.openxmlformats.org/drawingml/2006/main" w="15240">
            <a:solidFill>
              <a:srgbClr val="00355F"/>
            </a:solidFill>
          </a:ln>
        </p:spPr>
      </p:sp>
      <p:sp>
        <p:nvSpPr>
          <p:cNvPr id="307" name="Flat experiment component">
            <a:extLst xmlns:a="http://schemas.openxmlformats.org/drawingml/2006/main">
              <a:ext uri="{FF2B5EF4-FFF2-40B4-BE49-F238E27FC236}">
                <a16:creationId xmlns:a16="http://schemas.microsoft.com/office/drawing/2014/main" id="{8266AC82-20A9-4747-9DC7-DEFADA7A9968}"/>
              </a:ext>
            </a:extLst>
          </p:cNvPr>
          <p:cNvSpPr>
            <a:spLocks xmlns:a="http://schemas.openxmlformats.org/drawingml/2006/main" noGrp="1"/>
          </p:cNvSpPr>
          <p:nvPr/>
        </p:nvSpPr>
        <p:spPr>
          <a:xfrm xmlns:a="http://schemas.openxmlformats.org/drawingml/2006/main">
            <a:off x="13990320" y="4320540"/>
            <a:ext cx="289560" cy="106680"/>
          </a:xfrm>
          <a:prstGeom xmlns:a="http://schemas.openxmlformats.org/drawingml/2006/main" prst="rect">
            <a:avLst/>
          </a:prstGeom>
          <a:solidFill xmlns:a="http://schemas.openxmlformats.org/drawingml/2006/main">
            <a:srgbClr val="FFFFFF"/>
          </a:solidFill>
          <a:ln xmlns:a="http://schemas.openxmlformats.org/drawingml/2006/main" w="15240">
            <a:solidFill>
              <a:srgbClr val="00355F"/>
            </a:solidFill>
          </a:ln>
        </p:spPr>
      </p:sp>
      <p:sp>
        <p:nvSpPr>
          <p:cNvPr id="308" name="Flat experiment component">
            <a:extLst xmlns:a="http://schemas.openxmlformats.org/drawingml/2006/main">
              <a:ext uri="{FF2B5EF4-FFF2-40B4-BE49-F238E27FC236}">
                <a16:creationId xmlns:a16="http://schemas.microsoft.com/office/drawing/2014/main" id="{6A94F8B8-6389-4BD8-A919-CA30C44210D8}"/>
              </a:ext>
            </a:extLst>
          </p:cNvPr>
          <p:cNvSpPr>
            <a:spLocks xmlns:a="http://schemas.openxmlformats.org/drawingml/2006/main" noGrp="1"/>
          </p:cNvSpPr>
          <p:nvPr/>
        </p:nvSpPr>
        <p:spPr>
          <a:xfrm xmlns:a="http://schemas.openxmlformats.org/drawingml/2006/main">
            <a:off x="13936980" y="4419600"/>
            <a:ext cx="396240" cy="533400"/>
          </a:xfrm>
          <a:prstGeom xmlns:a="http://schemas.openxmlformats.org/drawingml/2006/main" prst="roundRect">
            <a:avLst>
              <a:gd name="adj" fmla="val 9615"/>
            </a:avLst>
          </a:prstGeom>
          <a:solidFill xmlns:a="http://schemas.openxmlformats.org/drawingml/2006/main">
            <a:srgbClr val="FFFFFF"/>
          </a:solidFill>
          <a:ln xmlns:a="http://schemas.openxmlformats.org/drawingml/2006/main" w="15240">
            <a:solidFill>
              <a:srgbClr val="00355F"/>
            </a:solidFill>
          </a:ln>
        </p:spPr>
      </p:sp>
      <p:sp>
        <p:nvSpPr>
          <p:cNvPr id="309" name="Flat experiment component">
            <a:extLst xmlns:a="http://schemas.openxmlformats.org/drawingml/2006/main">
              <a:ext uri="{FF2B5EF4-FFF2-40B4-BE49-F238E27FC236}">
                <a16:creationId xmlns:a16="http://schemas.microsoft.com/office/drawing/2014/main" id="{3C287308-2B35-4444-A497-1A6C5C5EDCD4}"/>
              </a:ext>
            </a:extLst>
          </p:cNvPr>
          <p:cNvSpPr>
            <a:spLocks xmlns:a="http://schemas.openxmlformats.org/drawingml/2006/main" noGrp="1"/>
          </p:cNvSpPr>
          <p:nvPr/>
        </p:nvSpPr>
        <p:spPr>
          <a:xfrm xmlns:a="http://schemas.openxmlformats.org/drawingml/2006/main">
            <a:off x="13967460" y="4617720"/>
            <a:ext cx="335280" cy="304800"/>
          </a:xfrm>
          <a:prstGeom xmlns:a="http://schemas.openxmlformats.org/drawingml/2006/main" prst="roundRect">
            <a:avLst>
              <a:gd name="adj" fmla="val 5000"/>
            </a:avLst>
          </a:prstGeom>
          <a:solidFill xmlns:a="http://schemas.openxmlformats.org/drawingml/2006/main">
            <a:srgbClr val="ACD4F1"/>
          </a:solidFill>
          <a:ln xmlns:a="http://schemas.openxmlformats.org/drawingml/2006/main" w="0">
            <a:noFill/>
          </a:ln>
        </p:spPr>
      </p:sp>
      <p:sp>
        <p:nvSpPr>
          <p:cNvPr id="310" name="Flat experiment component">
            <a:extLst xmlns:a="http://schemas.openxmlformats.org/drawingml/2006/main">
              <a:ext uri="{FF2B5EF4-FFF2-40B4-BE49-F238E27FC236}">
                <a16:creationId xmlns:a16="http://schemas.microsoft.com/office/drawing/2014/main" id="{8C5C09FB-6AE5-4D60-B93F-1EC3F0D706E9}"/>
              </a:ext>
            </a:extLst>
          </p:cNvPr>
          <p:cNvSpPr>
            <a:spLocks xmlns:a="http://schemas.openxmlformats.org/drawingml/2006/main" noGrp="1"/>
          </p:cNvSpPr>
          <p:nvPr/>
        </p:nvSpPr>
        <p:spPr>
          <a:xfrm xmlns:a="http://schemas.openxmlformats.org/drawingml/2006/main">
            <a:off x="13997940" y="4572000"/>
            <a:ext cx="274320" cy="190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7620">
            <a:solidFill>
              <a:srgbClr val="7399C6"/>
            </a:solidFill>
          </a:ln>
        </p:spPr>
      </p:sp>
      <p:sp>
        <p:nvSpPr>
          <p:cNvPr id="311" name="MEDIA">
            <a:extLst xmlns:a="http://schemas.openxmlformats.org/drawingml/2006/main">
              <a:ext uri="{FF2B5EF4-FFF2-40B4-BE49-F238E27FC236}">
                <a16:creationId xmlns:a16="http://schemas.microsoft.com/office/drawing/2014/main" id="{FECF2AB9-7D00-4272-82FB-A6AB2E1634F2}"/>
              </a:ext>
            </a:extLst>
          </p:cNvPr>
          <p:cNvSpPr>
            <a:spLocks xmlns:a="http://schemas.openxmlformats.org/drawingml/2006/main" noGrp="1"/>
          </p:cNvSpPr>
          <p:nvPr/>
        </p:nvSpPr>
        <p:spPr>
          <a:xfrm xmlns:a="http://schemas.openxmlformats.org/drawingml/2006/main">
            <a:off x="14005560" y="46101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600" b="1">
                <a:solidFill>
                  <a:srgbClr val="00355F"/>
                </a:solidFill>
                <a:latin typeface="Arial"/>
                <a:ea typeface="Arial"/>
                <a:cs typeface="Arial"/>
              </a:defRPr>
            </a:defPPr>
          </a:lstStyle>
          <a:p xmlns:a="http://schemas.openxmlformats.org/drawingml/2006/main">
            <a:pPr algn="ctr">
              <a:lnSpc>
                <a:spcPct val="100000"/>
              </a:lnSpc>
              <a:buNone/>
              <a:defRPr sz="600" b="1">
                <a:solidFill>
                  <a:srgbClr val="00355F"/>
                </a:solidFill>
                <a:latin typeface="Arial"/>
                <a:ea typeface="Arial"/>
                <a:cs typeface="Arial"/>
              </a:defRPr>
            </a:pPr>
            <a:r>
              <a:rPr sz="600" b="1">
                <a:solidFill>
                  <a:srgbClr val="00355F"/>
                </a:solidFill>
                <a:latin typeface="Arial"/>
                <a:ea typeface="Arial"/>
                <a:cs typeface="Arial"/>
              </a:rPr>
              <a:t>MEDIA</a:t>
            </a:r>
          </a:p>
        </p:txBody>
      </p:sp>
      <p:sp>
        <p:nvSpPr>
          <p:cNvPr id="312" name="Diagram path">
            <a:extLst xmlns:a="http://schemas.openxmlformats.org/drawingml/2006/main">
              <a:ext uri="{FF2B5EF4-FFF2-40B4-BE49-F238E27FC236}">
                <a16:creationId xmlns:a16="http://schemas.microsoft.com/office/drawing/2014/main" id="{56328F9B-256E-455A-BBEF-8293FD25B03E}"/>
              </a:ext>
            </a:extLst>
          </p:cNvPr>
          <p:cNvSpPr>
            <a:spLocks xmlns:a="http://schemas.openxmlformats.org/drawingml/2006/main" noGrp="1"/>
          </p:cNvSpPr>
          <p:nvPr/>
        </p:nvSpPr>
        <p:spPr>
          <a:xfrm xmlns:a="http://schemas.openxmlformats.org/drawingml/2006/main">
            <a:off x="13233502" y="4038600"/>
            <a:ext cx="362712" cy="632155"/>
          </a:xfrm>
          <a:custGeom xmlns:a="http://schemas.openxmlformats.org/drawingml/2006/main">
            <a:pathLst>
              <a:path w="362712" h="632155">
                <a:moveTo>
                  <a:pt x="253898" y="0"/>
                </a:moveTo>
                <a:lnTo>
                  <a:pt x="362712" y="51816"/>
                </a:lnTo>
                <a:lnTo>
                  <a:pt x="51816" y="632155"/>
                </a:lnTo>
                <a:lnTo>
                  <a:pt x="0" y="601066"/>
                </a:lnTo>
                <a:close/>
              </a:path>
            </a:pathLst>
          </a:custGeom>
          <a:solidFill xmlns:a="http://schemas.openxmlformats.org/drawingml/2006/main">
            <a:srgbClr val="FFFFFF"/>
          </a:solidFill>
          <a:ln xmlns:a="http://schemas.openxmlformats.org/drawingml/2006/main" w="15240">
            <a:solidFill>
              <a:srgbClr val="00355F"/>
            </a:solidFill>
          </a:ln>
        </p:spPr>
      </p:sp>
      <p:sp>
        <p:nvSpPr>
          <p:cNvPr id="313" name="Diagram path">
            <a:extLst xmlns:a="http://schemas.openxmlformats.org/drawingml/2006/main">
              <a:ext uri="{FF2B5EF4-FFF2-40B4-BE49-F238E27FC236}">
                <a16:creationId xmlns:a16="http://schemas.microsoft.com/office/drawing/2014/main" id="{51654D0B-F940-4719-9775-F2D2F1448591}"/>
              </a:ext>
            </a:extLst>
          </p:cNvPr>
          <p:cNvSpPr>
            <a:spLocks xmlns:a="http://schemas.openxmlformats.org/drawingml/2006/main" noGrp="1"/>
          </p:cNvSpPr>
          <p:nvPr/>
        </p:nvSpPr>
        <p:spPr>
          <a:xfrm xmlns:a="http://schemas.openxmlformats.org/drawingml/2006/main">
            <a:off x="13176504" y="4639666"/>
            <a:ext cx="108814" cy="150266"/>
          </a:xfrm>
          <a:custGeom xmlns:a="http://schemas.openxmlformats.org/drawingml/2006/main">
            <a:pathLst>
              <a:path w="108814" h="150266">
                <a:moveTo>
                  <a:pt x="108814" y="31090"/>
                </a:moveTo>
                <a:lnTo>
                  <a:pt x="56998" y="0"/>
                </a:lnTo>
                <a:lnTo>
                  <a:pt x="0" y="150266"/>
                </a:lnTo>
                <a:close/>
              </a:path>
            </a:pathLst>
          </a:custGeom>
          <a:solidFill xmlns:a="http://schemas.openxmlformats.org/drawingml/2006/main">
            <a:srgbClr val="ACD4F1"/>
          </a:solidFill>
          <a:ln xmlns:a="http://schemas.openxmlformats.org/drawingml/2006/main" w="15240">
            <a:solidFill>
              <a:srgbClr val="00355F"/>
            </a:solidFill>
          </a:ln>
        </p:spPr>
      </p:sp>
      <p:sp>
        <p:nvSpPr>
          <p:cNvPr id="314" name="Flat experiment component">
            <a:extLst xmlns:a="http://schemas.openxmlformats.org/drawingml/2006/main">
              <a:ext uri="{FF2B5EF4-FFF2-40B4-BE49-F238E27FC236}">
                <a16:creationId xmlns:a16="http://schemas.microsoft.com/office/drawing/2014/main" id="{D3200A49-ABCA-4F3D-AD81-F995FEC2816F}"/>
              </a:ext>
            </a:extLst>
          </p:cNvPr>
          <p:cNvSpPr>
            <a:spLocks xmlns:a="http://schemas.openxmlformats.org/drawingml/2006/main" noGrp="1"/>
          </p:cNvSpPr>
          <p:nvPr/>
        </p:nvSpPr>
        <p:spPr>
          <a:xfrm xmlns:a="http://schemas.openxmlformats.org/drawingml/2006/main">
            <a:off x="13482218" y="3976421"/>
            <a:ext cx="113995" cy="77724"/>
          </a:xfrm>
          <a:prstGeom xmlns:a="http://schemas.openxmlformats.org/drawingml/2006/main" prst="roundRect">
            <a:avLst>
              <a:gd name="adj" fmla="val 19608"/>
            </a:avLst>
          </a:prstGeom>
          <a:solidFill xmlns:a="http://schemas.openxmlformats.org/drawingml/2006/main">
            <a:srgbClr val="7399C6"/>
          </a:solidFill>
          <a:ln xmlns:a="http://schemas.openxmlformats.org/drawingml/2006/main" w="11430">
            <a:solidFill>
              <a:srgbClr val="00355F"/>
            </a:solidFill>
          </a:ln>
        </p:spPr>
      </p:sp>
      <p:sp>
        <p:nvSpPr>
          <p:cNvPr id="315" name="Diagram path">
            <a:extLst xmlns:a="http://schemas.openxmlformats.org/drawingml/2006/main">
              <a:ext uri="{FF2B5EF4-FFF2-40B4-BE49-F238E27FC236}">
                <a16:creationId xmlns:a16="http://schemas.microsoft.com/office/drawing/2014/main" id="{1EEF1AEA-A04E-4C7D-907C-12084C6A2DAD}"/>
              </a:ext>
            </a:extLst>
          </p:cNvPr>
          <p:cNvSpPr>
            <a:spLocks xmlns:a="http://schemas.openxmlformats.org/drawingml/2006/main" noGrp="1"/>
          </p:cNvSpPr>
          <p:nvPr/>
        </p:nvSpPr>
        <p:spPr>
          <a:xfrm xmlns:a="http://schemas.openxmlformats.org/drawingml/2006/main">
            <a:off x="13135051" y="4831385"/>
            <a:ext cx="56998" cy="98450"/>
          </a:xfrm>
          <a:custGeom xmlns:a="http://schemas.openxmlformats.org/drawingml/2006/main">
            <a:pathLst>
              <a:path w="56998" h="98450">
                <a:moveTo>
                  <a:pt x="31090" y="0"/>
                </a:moveTo>
                <a:lnTo>
                  <a:pt x="0" y="67361"/>
                </a:lnTo>
                <a:lnTo>
                  <a:pt x="20726" y="98450"/>
                </a:lnTo>
                <a:lnTo>
                  <a:pt x="56998" y="77724"/>
                </a:lnTo>
                <a:close/>
              </a:path>
            </a:pathLst>
          </a:custGeom>
          <a:solidFill xmlns:a="http://schemas.openxmlformats.org/drawingml/2006/main">
            <a:srgbClr val="7399C6"/>
          </a:solidFill>
          <a:ln xmlns:a="http://schemas.openxmlformats.org/drawingml/2006/main" w="0">
            <a:noFill/>
          </a:ln>
        </p:spPr>
      </p:sp>
      <p:sp>
        <p:nvSpPr>
          <p:cNvPr id="316" name="Cell model + media + dosing">
            <a:extLst xmlns:a="http://schemas.openxmlformats.org/drawingml/2006/main">
              <a:ext uri="{FF2B5EF4-FFF2-40B4-BE49-F238E27FC236}">
                <a16:creationId xmlns:a16="http://schemas.microsoft.com/office/drawing/2014/main" id="{29A992C4-727A-41AE-AE18-49E9CC9946BD}"/>
              </a:ext>
            </a:extLst>
          </p:cNvPr>
          <p:cNvSpPr>
            <a:spLocks xmlns:a="http://schemas.openxmlformats.org/drawingml/2006/main" noGrp="1"/>
          </p:cNvSpPr>
          <p:nvPr/>
        </p:nvSpPr>
        <p:spPr>
          <a:xfrm xmlns:a="http://schemas.openxmlformats.org/drawingml/2006/main">
            <a:off x="12207240" y="5151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Cell model + media + dosing</a:t>
            </a:r>
          </a:p>
        </p:txBody>
      </p:sp>
      <p:sp>
        <p:nvSpPr>
          <p:cNvPr id="317" name="Flat experiment component">
            <a:extLst xmlns:a="http://schemas.openxmlformats.org/drawingml/2006/main">
              <a:ext uri="{FF2B5EF4-FFF2-40B4-BE49-F238E27FC236}">
                <a16:creationId xmlns:a16="http://schemas.microsoft.com/office/drawing/2014/main" id="{5501A064-410C-4254-8E4A-90A485A4C8EE}"/>
              </a:ext>
            </a:extLst>
          </p:cNvPr>
          <p:cNvSpPr>
            <a:spLocks xmlns:a="http://schemas.openxmlformats.org/drawingml/2006/main" noGrp="1"/>
          </p:cNvSpPr>
          <p:nvPr/>
        </p:nvSpPr>
        <p:spPr>
          <a:xfrm xmlns:a="http://schemas.openxmlformats.org/drawingml/2006/main">
            <a:off x="12260580" y="5455920"/>
            <a:ext cx="1005840" cy="73152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5240">
            <a:solidFill>
              <a:srgbClr val="00355F"/>
            </a:solidFill>
          </a:ln>
        </p:spPr>
      </p:sp>
      <p:sp>
        <p:nvSpPr>
          <p:cNvPr id="318" name="Flat experiment component">
            <a:extLst xmlns:a="http://schemas.openxmlformats.org/drawingml/2006/main">
              <a:ext uri="{FF2B5EF4-FFF2-40B4-BE49-F238E27FC236}">
                <a16:creationId xmlns:a16="http://schemas.microsoft.com/office/drawing/2014/main" id="{0FD266FE-03F7-4147-867D-390CB1994FCF}"/>
              </a:ext>
            </a:extLst>
          </p:cNvPr>
          <p:cNvSpPr>
            <a:spLocks xmlns:a="http://schemas.openxmlformats.org/drawingml/2006/main" noGrp="1"/>
          </p:cNvSpPr>
          <p:nvPr/>
        </p:nvSpPr>
        <p:spPr>
          <a:xfrm xmlns:a="http://schemas.openxmlformats.org/drawingml/2006/main">
            <a:off x="12329160" y="5524500"/>
            <a:ext cx="381000" cy="586740"/>
          </a:xfrm>
          <a:prstGeom xmlns:a="http://schemas.openxmlformats.org/drawingml/2006/main" prst="roundRect">
            <a:avLst>
              <a:gd name="adj" fmla="val 4000"/>
            </a:avLst>
          </a:prstGeom>
          <a:solidFill xmlns:a="http://schemas.openxmlformats.org/drawingml/2006/main">
            <a:srgbClr val="F0F7FC"/>
          </a:solidFill>
          <a:ln xmlns:a="http://schemas.openxmlformats.org/drawingml/2006/main" w="7620">
            <a:solidFill>
              <a:srgbClr val="7399C6"/>
            </a:solidFill>
          </a:ln>
        </p:spPr>
      </p:sp>
      <p:sp>
        <p:nvSpPr>
          <p:cNvPr id="319" name="">
            <a:extLst xmlns:a="http://schemas.openxmlformats.org/drawingml/2006/main">
              <a:ext uri="{FF2B5EF4-FFF2-40B4-BE49-F238E27FC236}">
                <a16:creationId xmlns:a16="http://schemas.microsoft.com/office/drawing/2014/main" id="{5C111F62-387E-4EB7-9B79-3D91AE286757}"/>
              </a:ext>
            </a:extLst>
          </p:cNvPr>
          <p:cNvSpPr>
            <a:spLocks xmlns:a="http://schemas.openxmlformats.org/drawingml/2006/main" noGrp="1"/>
          </p:cNvSpPr>
          <p:nvPr/>
        </p:nvSpPr>
        <p:spPr>
          <a:xfrm xmlns:a="http://schemas.openxmlformats.org/drawingml/2006/main">
            <a:off x="12489180" y="5562600"/>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320" name="">
            <a:extLst xmlns:a="http://schemas.openxmlformats.org/drawingml/2006/main">
              <a:ext uri="{FF2B5EF4-FFF2-40B4-BE49-F238E27FC236}">
                <a16:creationId xmlns:a16="http://schemas.microsoft.com/office/drawing/2014/main" id="{05FFC65B-1F3A-429E-8139-53A3824F7E15}"/>
              </a:ext>
            </a:extLst>
          </p:cNvPr>
          <p:cNvSpPr>
            <a:spLocks xmlns:a="http://schemas.openxmlformats.org/drawingml/2006/main" noGrp="1"/>
          </p:cNvSpPr>
          <p:nvPr/>
        </p:nvSpPr>
        <p:spPr>
          <a:xfrm xmlns:a="http://schemas.openxmlformats.org/drawingml/2006/main">
            <a:off x="12489180" y="5699760"/>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321" name="">
            <a:extLst xmlns:a="http://schemas.openxmlformats.org/drawingml/2006/main">
              <a:ext uri="{FF2B5EF4-FFF2-40B4-BE49-F238E27FC236}">
                <a16:creationId xmlns:a16="http://schemas.microsoft.com/office/drawing/2014/main" id="{55BB7A3E-00E1-4116-BCF8-909F40AB6923}"/>
              </a:ext>
            </a:extLst>
          </p:cNvPr>
          <p:cNvSpPr>
            <a:spLocks xmlns:a="http://schemas.openxmlformats.org/drawingml/2006/main" noGrp="1"/>
          </p:cNvSpPr>
          <p:nvPr/>
        </p:nvSpPr>
        <p:spPr>
          <a:xfrm xmlns:a="http://schemas.openxmlformats.org/drawingml/2006/main">
            <a:off x="12489180" y="5836920"/>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322" name="">
            <a:extLst xmlns:a="http://schemas.openxmlformats.org/drawingml/2006/main">
              <a:ext uri="{FF2B5EF4-FFF2-40B4-BE49-F238E27FC236}">
                <a16:creationId xmlns:a16="http://schemas.microsoft.com/office/drawing/2014/main" id="{72F86006-D94D-4EA8-92E2-8F25209B9559}"/>
              </a:ext>
            </a:extLst>
          </p:cNvPr>
          <p:cNvSpPr>
            <a:spLocks xmlns:a="http://schemas.openxmlformats.org/drawingml/2006/main" noGrp="1"/>
          </p:cNvSpPr>
          <p:nvPr/>
        </p:nvSpPr>
        <p:spPr>
          <a:xfrm xmlns:a="http://schemas.openxmlformats.org/drawingml/2006/main">
            <a:off x="12489180" y="5974080"/>
            <a:ext cx="60960" cy="60960"/>
          </a:xfrm>
          <a:prstGeom xmlns:a="http://schemas.openxmlformats.org/drawingml/2006/main" prst="ellipse">
            <a:avLst/>
          </a:prstGeom>
          <a:solidFill xmlns:a="http://schemas.openxmlformats.org/drawingml/2006/main">
            <a:srgbClr val="7399C6"/>
          </a:solidFill>
          <a:ln xmlns:a="http://schemas.openxmlformats.org/drawingml/2006/main" w="0">
            <a:noFill/>
          </a:ln>
        </p:spPr>
      </p:sp>
      <p:sp>
        <p:nvSpPr>
          <p:cNvPr id="323" name="Diagram path">
            <a:extLst xmlns:a="http://schemas.openxmlformats.org/drawingml/2006/main">
              <a:ext uri="{FF2B5EF4-FFF2-40B4-BE49-F238E27FC236}">
                <a16:creationId xmlns:a16="http://schemas.microsoft.com/office/drawing/2014/main" id="{D0340346-E195-464B-A0DD-C5ECE8346DAB}"/>
              </a:ext>
            </a:extLst>
          </p:cNvPr>
          <p:cNvSpPr>
            <a:spLocks xmlns:a="http://schemas.openxmlformats.org/drawingml/2006/main" noGrp="1"/>
          </p:cNvSpPr>
          <p:nvPr/>
        </p:nvSpPr>
        <p:spPr>
          <a:xfrm xmlns:a="http://schemas.openxmlformats.org/drawingml/2006/main">
            <a:off x="12336780" y="5806440"/>
            <a:ext cx="350520" cy="762"/>
          </a:xfrm>
          <a:custGeom xmlns:a="http://schemas.openxmlformats.org/drawingml/2006/main">
            <a:pathLst>
              <a:path w="350520" h="762">
                <a:moveTo>
                  <a:pt x="0" y="0"/>
                </a:moveTo>
                <a:lnTo>
                  <a:pt x="350520" y="0"/>
                </a:lnTo>
              </a:path>
            </a:pathLst>
          </a:custGeom>
          <a:noFill xmlns:a="http://schemas.openxmlformats.org/drawingml/2006/main"/>
          <a:ln xmlns:a="http://schemas.openxmlformats.org/drawingml/2006/main" w="15240">
            <a:solidFill>
              <a:srgbClr val="F67F26"/>
            </a:solidFill>
          </a:ln>
        </p:spPr>
      </p:sp>
      <p:sp>
        <p:nvSpPr>
          <p:cNvPr id="324" name="Flat experiment component">
            <a:extLst xmlns:a="http://schemas.openxmlformats.org/drawingml/2006/main">
              <a:ext uri="{FF2B5EF4-FFF2-40B4-BE49-F238E27FC236}">
                <a16:creationId xmlns:a16="http://schemas.microsoft.com/office/drawing/2014/main" id="{B02E62C0-1289-4470-8372-475D994CB9EC}"/>
              </a:ext>
            </a:extLst>
          </p:cNvPr>
          <p:cNvSpPr>
            <a:spLocks xmlns:a="http://schemas.openxmlformats.org/drawingml/2006/main" noGrp="1"/>
          </p:cNvSpPr>
          <p:nvPr/>
        </p:nvSpPr>
        <p:spPr>
          <a:xfrm xmlns:a="http://schemas.openxmlformats.org/drawingml/2006/main">
            <a:off x="12786360" y="5554980"/>
            <a:ext cx="411480" cy="411480"/>
          </a:xfrm>
          <a:prstGeom xmlns:a="http://schemas.openxmlformats.org/drawingml/2006/main" prst="roundRect">
            <a:avLst>
              <a:gd name="adj" fmla="val 3704"/>
            </a:avLst>
          </a:prstGeom>
          <a:solidFill xmlns:a="http://schemas.openxmlformats.org/drawingml/2006/main">
            <a:srgbClr val="ACD4F1"/>
          </a:solidFill>
          <a:ln xmlns:a="http://schemas.openxmlformats.org/drawingml/2006/main" w="11430">
            <a:solidFill>
              <a:srgbClr val="00355F"/>
            </a:solidFill>
          </a:ln>
        </p:spPr>
      </p:sp>
      <p:sp>
        <p:nvSpPr>
          <p:cNvPr id="325" name="">
            <a:extLst xmlns:a="http://schemas.openxmlformats.org/drawingml/2006/main">
              <a:ext uri="{FF2B5EF4-FFF2-40B4-BE49-F238E27FC236}">
                <a16:creationId xmlns:a16="http://schemas.microsoft.com/office/drawing/2014/main" id="{20914A69-B5BC-465B-9F21-2E730CFF68EE}"/>
              </a:ext>
            </a:extLst>
          </p:cNvPr>
          <p:cNvSpPr>
            <a:spLocks xmlns:a="http://schemas.openxmlformats.org/drawingml/2006/main" noGrp="1"/>
          </p:cNvSpPr>
          <p:nvPr/>
        </p:nvSpPr>
        <p:spPr>
          <a:xfrm xmlns:a="http://schemas.openxmlformats.org/drawingml/2006/main">
            <a:off x="12835128" y="561898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26" name="">
            <a:extLst xmlns:a="http://schemas.openxmlformats.org/drawingml/2006/main">
              <a:ext uri="{FF2B5EF4-FFF2-40B4-BE49-F238E27FC236}">
                <a16:creationId xmlns:a16="http://schemas.microsoft.com/office/drawing/2014/main" id="{8086EB9D-B32C-4051-B2D6-FD0F7F8E278D}"/>
              </a:ext>
            </a:extLst>
          </p:cNvPr>
          <p:cNvSpPr>
            <a:spLocks xmlns:a="http://schemas.openxmlformats.org/drawingml/2006/main" noGrp="1"/>
          </p:cNvSpPr>
          <p:nvPr/>
        </p:nvSpPr>
        <p:spPr>
          <a:xfrm xmlns:a="http://schemas.openxmlformats.org/drawingml/2006/main">
            <a:off x="12964668" y="571804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27" name="">
            <a:extLst xmlns:a="http://schemas.openxmlformats.org/drawingml/2006/main">
              <a:ext uri="{FF2B5EF4-FFF2-40B4-BE49-F238E27FC236}">
                <a16:creationId xmlns:a16="http://schemas.microsoft.com/office/drawing/2014/main" id="{7F8B00C1-9828-4163-A46C-DABEC90937A5}"/>
              </a:ext>
            </a:extLst>
          </p:cNvPr>
          <p:cNvSpPr>
            <a:spLocks xmlns:a="http://schemas.openxmlformats.org/drawingml/2006/main" noGrp="1"/>
          </p:cNvSpPr>
          <p:nvPr/>
        </p:nvSpPr>
        <p:spPr>
          <a:xfrm xmlns:a="http://schemas.openxmlformats.org/drawingml/2006/main">
            <a:off x="13094208" y="581710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28" name="">
            <a:extLst xmlns:a="http://schemas.openxmlformats.org/drawingml/2006/main">
              <a:ext uri="{FF2B5EF4-FFF2-40B4-BE49-F238E27FC236}">
                <a16:creationId xmlns:a16="http://schemas.microsoft.com/office/drawing/2014/main" id="{E2F02661-71AE-4A4E-A156-763ED9595EE7}"/>
              </a:ext>
            </a:extLst>
          </p:cNvPr>
          <p:cNvSpPr>
            <a:spLocks xmlns:a="http://schemas.openxmlformats.org/drawingml/2006/main" noGrp="1"/>
          </p:cNvSpPr>
          <p:nvPr/>
        </p:nvSpPr>
        <p:spPr>
          <a:xfrm xmlns:a="http://schemas.openxmlformats.org/drawingml/2006/main">
            <a:off x="12941808" y="566470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29" name="">
            <a:extLst xmlns:a="http://schemas.openxmlformats.org/drawingml/2006/main">
              <a:ext uri="{FF2B5EF4-FFF2-40B4-BE49-F238E27FC236}">
                <a16:creationId xmlns:a16="http://schemas.microsoft.com/office/drawing/2014/main" id="{A921AD0A-A50E-4669-AC6E-B0714B9DA41F}"/>
              </a:ext>
            </a:extLst>
          </p:cNvPr>
          <p:cNvSpPr>
            <a:spLocks xmlns:a="http://schemas.openxmlformats.org/drawingml/2006/main" noGrp="1"/>
          </p:cNvSpPr>
          <p:nvPr/>
        </p:nvSpPr>
        <p:spPr>
          <a:xfrm xmlns:a="http://schemas.openxmlformats.org/drawingml/2006/main">
            <a:off x="13071348" y="576376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30" name="">
            <a:extLst xmlns:a="http://schemas.openxmlformats.org/drawingml/2006/main">
              <a:ext uri="{FF2B5EF4-FFF2-40B4-BE49-F238E27FC236}">
                <a16:creationId xmlns:a16="http://schemas.microsoft.com/office/drawing/2014/main" id="{09FFB6E0-0D9F-46C6-A3CA-CF46E3E587FB}"/>
              </a:ext>
            </a:extLst>
          </p:cNvPr>
          <p:cNvSpPr>
            <a:spLocks xmlns:a="http://schemas.openxmlformats.org/drawingml/2006/main" noGrp="1"/>
          </p:cNvSpPr>
          <p:nvPr/>
        </p:nvSpPr>
        <p:spPr>
          <a:xfrm xmlns:a="http://schemas.openxmlformats.org/drawingml/2006/main">
            <a:off x="12918948" y="586282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31" name="">
            <a:extLst xmlns:a="http://schemas.openxmlformats.org/drawingml/2006/main">
              <a:ext uri="{FF2B5EF4-FFF2-40B4-BE49-F238E27FC236}">
                <a16:creationId xmlns:a16="http://schemas.microsoft.com/office/drawing/2014/main" id="{51EB2785-DAE7-4384-8152-AAF556FA93C6}"/>
              </a:ext>
            </a:extLst>
          </p:cNvPr>
          <p:cNvSpPr>
            <a:spLocks xmlns:a="http://schemas.openxmlformats.org/drawingml/2006/main" noGrp="1"/>
          </p:cNvSpPr>
          <p:nvPr/>
        </p:nvSpPr>
        <p:spPr>
          <a:xfrm xmlns:a="http://schemas.openxmlformats.org/drawingml/2006/main">
            <a:off x="13048488" y="571042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32" name="">
            <a:extLst xmlns:a="http://schemas.openxmlformats.org/drawingml/2006/main">
              <a:ext uri="{FF2B5EF4-FFF2-40B4-BE49-F238E27FC236}">
                <a16:creationId xmlns:a16="http://schemas.microsoft.com/office/drawing/2014/main" id="{CC940BC8-267C-430B-B927-B77892E09DA9}"/>
              </a:ext>
            </a:extLst>
          </p:cNvPr>
          <p:cNvSpPr>
            <a:spLocks xmlns:a="http://schemas.openxmlformats.org/drawingml/2006/main" noGrp="1"/>
          </p:cNvSpPr>
          <p:nvPr/>
        </p:nvSpPr>
        <p:spPr>
          <a:xfrm xmlns:a="http://schemas.openxmlformats.org/drawingml/2006/main">
            <a:off x="12896088" y="580948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33" name="">
            <a:extLst xmlns:a="http://schemas.openxmlformats.org/drawingml/2006/main">
              <a:ext uri="{FF2B5EF4-FFF2-40B4-BE49-F238E27FC236}">
                <a16:creationId xmlns:a16="http://schemas.microsoft.com/office/drawing/2014/main" id="{A28D0BB3-3D0F-4A55-84A6-514FD92035C5}"/>
              </a:ext>
            </a:extLst>
          </p:cNvPr>
          <p:cNvSpPr>
            <a:spLocks xmlns:a="http://schemas.openxmlformats.org/drawingml/2006/main" noGrp="1"/>
          </p:cNvSpPr>
          <p:nvPr/>
        </p:nvSpPr>
        <p:spPr>
          <a:xfrm xmlns:a="http://schemas.openxmlformats.org/drawingml/2006/main">
            <a:off x="13025628" y="565708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34" name="">
            <a:extLst xmlns:a="http://schemas.openxmlformats.org/drawingml/2006/main">
              <a:ext uri="{FF2B5EF4-FFF2-40B4-BE49-F238E27FC236}">
                <a16:creationId xmlns:a16="http://schemas.microsoft.com/office/drawing/2014/main" id="{88179C84-9C0F-4156-93B7-36296743E154}"/>
              </a:ext>
            </a:extLst>
          </p:cNvPr>
          <p:cNvSpPr>
            <a:spLocks xmlns:a="http://schemas.openxmlformats.org/drawingml/2006/main" noGrp="1"/>
          </p:cNvSpPr>
          <p:nvPr/>
        </p:nvSpPr>
        <p:spPr>
          <a:xfrm xmlns:a="http://schemas.openxmlformats.org/drawingml/2006/main">
            <a:off x="12873228" y="5756148"/>
            <a:ext cx="24384" cy="24384"/>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35" name="Flat experiment component">
            <a:extLst xmlns:a="http://schemas.openxmlformats.org/drawingml/2006/main">
              <a:ext uri="{FF2B5EF4-FFF2-40B4-BE49-F238E27FC236}">
                <a16:creationId xmlns:a16="http://schemas.microsoft.com/office/drawing/2014/main" id="{C0640300-ED83-4DE2-BFEC-22EB445017A4}"/>
              </a:ext>
            </a:extLst>
          </p:cNvPr>
          <p:cNvSpPr>
            <a:spLocks xmlns:a="http://schemas.openxmlformats.org/drawingml/2006/main" noGrp="1"/>
          </p:cNvSpPr>
          <p:nvPr/>
        </p:nvSpPr>
        <p:spPr>
          <a:xfrm xmlns:a="http://schemas.openxmlformats.org/drawingml/2006/main">
            <a:off x="13594080" y="6156960"/>
            <a:ext cx="876300" cy="106680"/>
          </a:xfrm>
          <a:prstGeom xmlns:a="http://schemas.openxmlformats.org/drawingml/2006/main" prst="roundRect">
            <a:avLst>
              <a:gd name="adj" fmla="val 28571"/>
            </a:avLst>
          </a:prstGeom>
          <a:solidFill xmlns:a="http://schemas.openxmlformats.org/drawingml/2006/main">
            <a:srgbClr val="7399C6"/>
          </a:solidFill>
          <a:ln xmlns:a="http://schemas.openxmlformats.org/drawingml/2006/main" w="15240">
            <a:solidFill>
              <a:srgbClr val="00355F"/>
            </a:solidFill>
          </a:ln>
        </p:spPr>
      </p:sp>
      <p:sp>
        <p:nvSpPr>
          <p:cNvPr id="336" name="Diagram path">
            <a:extLst xmlns:a="http://schemas.openxmlformats.org/drawingml/2006/main">
              <a:ext uri="{FF2B5EF4-FFF2-40B4-BE49-F238E27FC236}">
                <a16:creationId xmlns:a16="http://schemas.microsoft.com/office/drawing/2014/main" id="{407E6D80-90CF-410C-B8B5-90A3F8EEBE00}"/>
              </a:ext>
            </a:extLst>
          </p:cNvPr>
          <p:cNvSpPr>
            <a:spLocks xmlns:a="http://schemas.openxmlformats.org/drawingml/2006/main" noGrp="1"/>
          </p:cNvSpPr>
          <p:nvPr/>
        </p:nvSpPr>
        <p:spPr>
          <a:xfrm xmlns:a="http://schemas.openxmlformats.org/drawingml/2006/main">
            <a:off x="13784580" y="5669280"/>
            <a:ext cx="251460" cy="487680"/>
          </a:xfrm>
          <a:custGeom xmlns:a="http://schemas.openxmlformats.org/drawingml/2006/main">
            <a:pathLst>
              <a:path w="251460" h="487680">
                <a:moveTo>
                  <a:pt x="251460" y="487680"/>
                </a:moveTo>
                <a:lnTo>
                  <a:pt x="0" y="259080"/>
                </a:lnTo>
                <a:lnTo>
                  <a:pt x="114300" y="0"/>
                </a:lnTo>
              </a:path>
            </a:pathLst>
          </a:custGeom>
          <a:noFill xmlns:a="http://schemas.openxmlformats.org/drawingml/2006/main"/>
          <a:ln xmlns:a="http://schemas.openxmlformats.org/drawingml/2006/main" w="91440">
            <a:solidFill>
              <a:srgbClr val="00355F"/>
            </a:solidFill>
          </a:ln>
        </p:spPr>
      </p:sp>
      <p:sp>
        <p:nvSpPr>
          <p:cNvPr id="337" name="Diagram path">
            <a:extLst xmlns:a="http://schemas.openxmlformats.org/drawingml/2006/main">
              <a:ext uri="{FF2B5EF4-FFF2-40B4-BE49-F238E27FC236}">
                <a16:creationId xmlns:a16="http://schemas.microsoft.com/office/drawing/2014/main" id="{89110F50-F5C6-4AB6-A488-9EA3A667A997}"/>
              </a:ext>
            </a:extLst>
          </p:cNvPr>
          <p:cNvSpPr>
            <a:spLocks xmlns:a="http://schemas.openxmlformats.org/drawingml/2006/main" noGrp="1"/>
          </p:cNvSpPr>
          <p:nvPr/>
        </p:nvSpPr>
        <p:spPr>
          <a:xfrm xmlns:a="http://schemas.openxmlformats.org/drawingml/2006/main">
            <a:off x="13769340" y="5547360"/>
            <a:ext cx="350520" cy="381000"/>
          </a:xfrm>
          <a:custGeom xmlns:a="http://schemas.openxmlformats.org/drawingml/2006/main">
            <a:pathLst>
              <a:path w="350520" h="381000">
                <a:moveTo>
                  <a:pt x="152400" y="0"/>
                </a:moveTo>
                <a:lnTo>
                  <a:pt x="350520" y="83820"/>
                </a:lnTo>
                <a:lnTo>
                  <a:pt x="175260" y="381000"/>
                </a:lnTo>
                <a:lnTo>
                  <a:pt x="0" y="297180"/>
                </a:lnTo>
                <a:close/>
              </a:path>
            </a:pathLst>
          </a:custGeom>
          <a:solidFill xmlns:a="http://schemas.openxmlformats.org/drawingml/2006/main">
            <a:srgbClr val="ACD4F1"/>
          </a:solidFill>
          <a:ln xmlns:a="http://schemas.openxmlformats.org/drawingml/2006/main" w="19050">
            <a:solidFill>
              <a:srgbClr val="00355F"/>
            </a:solidFill>
          </a:ln>
        </p:spPr>
      </p:sp>
      <p:sp>
        <p:nvSpPr>
          <p:cNvPr id="338" name="Flat experiment component">
            <a:extLst xmlns:a="http://schemas.openxmlformats.org/drawingml/2006/main">
              <a:ext uri="{FF2B5EF4-FFF2-40B4-BE49-F238E27FC236}">
                <a16:creationId xmlns:a16="http://schemas.microsoft.com/office/drawing/2014/main" id="{C3774A68-3AAE-4A68-A8AF-E35235B3CE68}"/>
              </a:ext>
            </a:extLst>
          </p:cNvPr>
          <p:cNvSpPr>
            <a:spLocks xmlns:a="http://schemas.openxmlformats.org/drawingml/2006/main" noGrp="1"/>
          </p:cNvSpPr>
          <p:nvPr/>
        </p:nvSpPr>
        <p:spPr>
          <a:xfrm xmlns:a="http://schemas.openxmlformats.org/drawingml/2006/main">
            <a:off x="13700760" y="5943600"/>
            <a:ext cx="556260" cy="60960"/>
          </a:xfrm>
          <a:prstGeom xmlns:a="http://schemas.openxmlformats.org/drawingml/2006/main" prst="rect">
            <a:avLst/>
          </a:prstGeom>
          <a:solidFill xmlns:a="http://schemas.openxmlformats.org/drawingml/2006/main">
            <a:srgbClr val="FFFFFF"/>
          </a:solidFill>
          <a:ln xmlns:a="http://schemas.openxmlformats.org/drawingml/2006/main" w="15240">
            <a:solidFill>
              <a:srgbClr val="00355F"/>
            </a:solidFill>
          </a:ln>
        </p:spPr>
      </p:sp>
      <p:sp>
        <p:nvSpPr>
          <p:cNvPr id="339" name="Diagram path">
            <a:extLst xmlns:a="http://schemas.openxmlformats.org/drawingml/2006/main">
              <a:ext uri="{FF2B5EF4-FFF2-40B4-BE49-F238E27FC236}">
                <a16:creationId xmlns:a16="http://schemas.microsoft.com/office/drawing/2014/main" id="{AA29B118-AD54-4B9D-92CC-D8BBD0E2413E}"/>
              </a:ext>
            </a:extLst>
          </p:cNvPr>
          <p:cNvSpPr>
            <a:spLocks xmlns:a="http://schemas.openxmlformats.org/drawingml/2006/main" noGrp="1"/>
          </p:cNvSpPr>
          <p:nvPr/>
        </p:nvSpPr>
        <p:spPr>
          <a:xfrm xmlns:a="http://schemas.openxmlformats.org/drawingml/2006/main">
            <a:off x="14074140" y="5402580"/>
            <a:ext cx="160020" cy="220980"/>
          </a:xfrm>
          <a:custGeom xmlns:a="http://schemas.openxmlformats.org/drawingml/2006/main">
            <a:pathLst>
              <a:path w="160020" h="220980">
                <a:moveTo>
                  <a:pt x="0" y="220980"/>
                </a:moveTo>
                <a:lnTo>
                  <a:pt x="160020" y="0"/>
                </a:lnTo>
              </a:path>
            </a:pathLst>
          </a:custGeom>
          <a:noFill xmlns:a="http://schemas.openxmlformats.org/drawingml/2006/main"/>
          <a:ln xmlns:a="http://schemas.openxmlformats.org/drawingml/2006/main" w="99060">
            <a:solidFill>
              <a:srgbClr val="00355F"/>
            </a:solidFill>
          </a:ln>
        </p:spPr>
      </p:sp>
      <p:sp>
        <p:nvSpPr>
          <p:cNvPr id="340" name="Flat experiment component">
            <a:extLst xmlns:a="http://schemas.openxmlformats.org/drawingml/2006/main">
              <a:ext uri="{FF2B5EF4-FFF2-40B4-BE49-F238E27FC236}">
                <a16:creationId xmlns:a16="http://schemas.microsoft.com/office/drawing/2014/main" id="{EC1F3D76-7829-4F9E-BD90-6FC9234292EC}"/>
              </a:ext>
            </a:extLst>
          </p:cNvPr>
          <p:cNvSpPr>
            <a:spLocks xmlns:a="http://schemas.openxmlformats.org/drawingml/2006/main" noGrp="1"/>
          </p:cNvSpPr>
          <p:nvPr/>
        </p:nvSpPr>
        <p:spPr>
          <a:xfrm xmlns:a="http://schemas.openxmlformats.org/drawingml/2006/main">
            <a:off x="14165580" y="5379720"/>
            <a:ext cx="190500" cy="91440"/>
          </a:xfrm>
          <a:prstGeom xmlns:a="http://schemas.openxmlformats.org/drawingml/2006/main" prst="rect">
            <a:avLst/>
          </a:prstGeom>
          <a:solidFill xmlns:a="http://schemas.openxmlformats.org/drawingml/2006/main">
            <a:srgbClr val="7399C6"/>
          </a:solidFill>
          <a:ln xmlns:a="http://schemas.openxmlformats.org/drawingml/2006/main" w="11430">
            <a:solidFill>
              <a:srgbClr val="00355F"/>
            </a:solidFill>
          </a:ln>
        </p:spPr>
      </p:sp>
      <p:sp>
        <p:nvSpPr>
          <p:cNvPr id="341" name="">
            <a:extLst xmlns:a="http://schemas.openxmlformats.org/drawingml/2006/main">
              <a:ext uri="{FF2B5EF4-FFF2-40B4-BE49-F238E27FC236}">
                <a16:creationId xmlns:a16="http://schemas.microsoft.com/office/drawing/2014/main" id="{FC35A298-CF24-4D46-BD9D-CC8EB14AC671}"/>
              </a:ext>
            </a:extLst>
          </p:cNvPr>
          <p:cNvSpPr>
            <a:spLocks xmlns:a="http://schemas.openxmlformats.org/drawingml/2006/main" noGrp="1"/>
          </p:cNvSpPr>
          <p:nvPr/>
        </p:nvSpPr>
        <p:spPr>
          <a:xfrm xmlns:a="http://schemas.openxmlformats.org/drawingml/2006/main">
            <a:off x="13799820" y="5882640"/>
            <a:ext cx="121920" cy="121920"/>
          </a:xfrm>
          <a:prstGeom xmlns:a="http://schemas.openxmlformats.org/drawingml/2006/main" prst="ellipse">
            <a:avLst/>
          </a:prstGeom>
          <a:solidFill xmlns:a="http://schemas.openxmlformats.org/drawingml/2006/main">
            <a:srgbClr val="078549"/>
          </a:solidFill>
          <a:ln xmlns:a="http://schemas.openxmlformats.org/drawingml/2006/main" w="0">
            <a:noFill/>
          </a:ln>
        </p:spPr>
      </p:sp>
      <p:sp>
        <p:nvSpPr>
          <p:cNvPr id="342" name="Flow cytometry">
            <a:extLst xmlns:a="http://schemas.openxmlformats.org/drawingml/2006/main">
              <a:ext uri="{FF2B5EF4-FFF2-40B4-BE49-F238E27FC236}">
                <a16:creationId xmlns:a16="http://schemas.microsoft.com/office/drawing/2014/main" id="{84885465-3EFB-41EB-BC99-5D5DC0664F04}"/>
              </a:ext>
            </a:extLst>
          </p:cNvPr>
          <p:cNvSpPr>
            <a:spLocks xmlns:a="http://schemas.openxmlformats.org/drawingml/2006/main" noGrp="1"/>
          </p:cNvSpPr>
          <p:nvPr/>
        </p:nvSpPr>
        <p:spPr>
          <a:xfrm xmlns:a="http://schemas.openxmlformats.org/drawingml/2006/main">
            <a:off x="12176760" y="6370320"/>
            <a:ext cx="116586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Flow cytometry</a:t>
            </a:r>
          </a:p>
        </p:txBody>
      </p:sp>
      <p:sp>
        <p:nvSpPr>
          <p:cNvPr id="343" name="Cell imaging">
            <a:extLst xmlns:a="http://schemas.openxmlformats.org/drawingml/2006/main">
              <a:ext uri="{FF2B5EF4-FFF2-40B4-BE49-F238E27FC236}">
                <a16:creationId xmlns:a16="http://schemas.microsoft.com/office/drawing/2014/main" id="{9364546E-8811-4207-BA2D-6EB26BD3B608}"/>
              </a:ext>
            </a:extLst>
          </p:cNvPr>
          <p:cNvSpPr>
            <a:spLocks xmlns:a="http://schemas.openxmlformats.org/drawingml/2006/main" noGrp="1"/>
          </p:cNvSpPr>
          <p:nvPr/>
        </p:nvSpPr>
        <p:spPr>
          <a:xfrm xmlns:a="http://schemas.openxmlformats.org/drawingml/2006/main">
            <a:off x="13487400" y="6370320"/>
            <a:ext cx="10287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Cell imaging</a:t>
            </a:r>
          </a:p>
        </p:txBody>
      </p:sp>
      <p:sp>
        <p:nvSpPr>
          <p:cNvPr id="344" name="Flat experiment component">
            <a:extLst xmlns:a="http://schemas.openxmlformats.org/drawingml/2006/main">
              <a:ext uri="{FF2B5EF4-FFF2-40B4-BE49-F238E27FC236}">
                <a16:creationId xmlns:a16="http://schemas.microsoft.com/office/drawing/2014/main" id="{5BC8F5BF-7FD0-4249-A54F-831E1292E885}"/>
              </a:ext>
            </a:extLst>
          </p:cNvPr>
          <p:cNvSpPr>
            <a:spLocks xmlns:a="http://schemas.openxmlformats.org/drawingml/2006/main" noGrp="1"/>
          </p:cNvSpPr>
          <p:nvPr/>
        </p:nvSpPr>
        <p:spPr>
          <a:xfrm xmlns:a="http://schemas.openxmlformats.org/drawingml/2006/main">
            <a:off x="12192000" y="6758940"/>
            <a:ext cx="2362200" cy="373380"/>
          </a:xfrm>
          <a:prstGeom xmlns:a="http://schemas.openxmlformats.org/drawingml/2006/main" prst="roundRect">
            <a:avLst>
              <a:gd name="adj" fmla="val 10204"/>
            </a:avLst>
          </a:prstGeom>
          <a:solidFill xmlns:a="http://schemas.openxmlformats.org/drawingml/2006/main">
            <a:srgbClr val="ACD4F1"/>
          </a:solidFill>
          <a:ln xmlns:a="http://schemas.openxmlformats.org/drawingml/2006/main" w="0">
            <a:noFill/>
          </a:ln>
        </p:spPr>
      </p:sp>
      <p:sp>
        <p:nvSpPr>
          <p:cNvPr id="345" name="Cell potency">
            <a:extLst xmlns:a="http://schemas.openxmlformats.org/drawingml/2006/main">
              <a:ext uri="{FF2B5EF4-FFF2-40B4-BE49-F238E27FC236}">
                <a16:creationId xmlns:a16="http://schemas.microsoft.com/office/drawing/2014/main" id="{FD9901B8-2E75-45DD-BF25-86EE367B272F}"/>
              </a:ext>
            </a:extLst>
          </p:cNvPr>
          <p:cNvSpPr>
            <a:spLocks xmlns:a="http://schemas.openxmlformats.org/drawingml/2006/main" noGrp="1"/>
          </p:cNvSpPr>
          <p:nvPr/>
        </p:nvSpPr>
        <p:spPr>
          <a:xfrm xmlns:a="http://schemas.openxmlformats.org/drawingml/2006/main">
            <a:off x="12260580" y="6858000"/>
            <a:ext cx="222504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Cell potency</a:t>
            </a:r>
          </a:p>
        </p:txBody>
      </p:sp>
      <p:sp>
        <p:nvSpPr>
          <p:cNvPr id="346" name="Diagram path">
            <a:extLst xmlns:a="http://schemas.openxmlformats.org/drawingml/2006/main">
              <a:ext uri="{FF2B5EF4-FFF2-40B4-BE49-F238E27FC236}">
                <a16:creationId xmlns:a16="http://schemas.microsoft.com/office/drawing/2014/main" id="{4AFBED08-03BD-4CD9-8779-30196D7FE254}"/>
              </a:ext>
            </a:extLst>
          </p:cNvPr>
          <p:cNvSpPr>
            <a:spLocks xmlns:a="http://schemas.openxmlformats.org/drawingml/2006/main" noGrp="1"/>
          </p:cNvSpPr>
          <p:nvPr/>
        </p:nvSpPr>
        <p:spPr>
          <a:xfrm xmlns:a="http://schemas.openxmlformats.org/drawingml/2006/main">
            <a:off x="12207240" y="7284720"/>
            <a:ext cx="2331720" cy="762"/>
          </a:xfrm>
          <a:custGeom xmlns:a="http://schemas.openxmlformats.org/drawingml/2006/main">
            <a:pathLst>
              <a:path w="2331720" h="762">
                <a:moveTo>
                  <a:pt x="0" y="0"/>
                </a:moveTo>
                <a:lnTo>
                  <a:pt x="2331720" y="0"/>
                </a:lnTo>
              </a:path>
            </a:pathLst>
          </a:custGeom>
          <a:noFill xmlns:a="http://schemas.openxmlformats.org/drawingml/2006/main"/>
          <a:ln xmlns:a="http://schemas.openxmlformats.org/drawingml/2006/main" w="7620">
            <a:solidFill>
              <a:srgbClr val="A5A5A5"/>
            </a:solidFill>
          </a:ln>
        </p:spPr>
      </p:sp>
      <p:sp>
        <p:nvSpPr>
          <p:cNvPr id="347" name="REPRESENTATIVE SUPPLIERS">
            <a:extLst xmlns:a="http://schemas.openxmlformats.org/drawingml/2006/main">
              <a:ext uri="{FF2B5EF4-FFF2-40B4-BE49-F238E27FC236}">
                <a16:creationId xmlns:a16="http://schemas.microsoft.com/office/drawing/2014/main" id="{713A8104-85E1-4CB9-BEE8-52CBDAF79A55}"/>
              </a:ext>
            </a:extLst>
          </p:cNvPr>
          <p:cNvSpPr>
            <a:spLocks xmlns:a="http://schemas.openxmlformats.org/drawingml/2006/main" noGrp="1"/>
          </p:cNvSpPr>
          <p:nvPr/>
        </p:nvSpPr>
        <p:spPr>
          <a:xfrm xmlns:a="http://schemas.openxmlformats.org/drawingml/2006/main">
            <a:off x="12207240" y="7437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00355F"/>
                </a:solidFill>
                <a:latin typeface="Arial"/>
                <a:ea typeface="Arial"/>
                <a:cs typeface="Arial"/>
              </a:defRPr>
            </a:defPPr>
          </a:lstStyle>
          <a:p xmlns:a="http://schemas.openxmlformats.org/drawingml/2006/main">
            <a:pPr algn="l">
              <a:lnSpc>
                <a:spcPct val="100000"/>
              </a:lnSpc>
              <a:buNone/>
              <a:defRPr sz="900" b="1">
                <a:solidFill>
                  <a:srgbClr val="00355F"/>
                </a:solidFill>
                <a:latin typeface="Arial"/>
                <a:ea typeface="Arial"/>
                <a:cs typeface="Arial"/>
              </a:defRPr>
            </a:pPr>
            <a:r>
              <a:rPr sz="900" b="1">
                <a:solidFill>
                  <a:srgbClr val="00355F"/>
                </a:solidFill>
                <a:latin typeface="Arial"/>
                <a:ea typeface="Arial"/>
                <a:cs typeface="Arial"/>
              </a:rPr>
              <a:t>REPRESENTATIVE SUPPLIERS</a:t>
            </a:r>
          </a:p>
        </p:txBody>
      </p:sp>
      <p:sp>
        <p:nvSpPr>
          <p:cNvPr id="348" name="Cell inputs / labware">
            <a:extLst xmlns:a="http://schemas.openxmlformats.org/drawingml/2006/main">
              <a:ext uri="{FF2B5EF4-FFF2-40B4-BE49-F238E27FC236}">
                <a16:creationId xmlns:a16="http://schemas.microsoft.com/office/drawing/2014/main" id="{667DE412-7BA2-45EB-BD21-95AC105E2F7B}"/>
              </a:ext>
            </a:extLst>
          </p:cNvPr>
          <p:cNvSpPr>
            <a:spLocks xmlns:a="http://schemas.openxmlformats.org/drawingml/2006/main" noGrp="1"/>
          </p:cNvSpPr>
          <p:nvPr/>
        </p:nvSpPr>
        <p:spPr>
          <a:xfrm xmlns:a="http://schemas.openxmlformats.org/drawingml/2006/main">
            <a:off x="12207240" y="77038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Cell inputs / labware</a:t>
            </a:r>
          </a:p>
        </p:txBody>
      </p:sp>
      <p:sp>
        <p:nvSpPr>
          <p:cNvPr id="349" name="Gibco · Bio-Techne · Corning">
            <a:extLst xmlns:a="http://schemas.openxmlformats.org/drawingml/2006/main">
              <a:ext uri="{FF2B5EF4-FFF2-40B4-BE49-F238E27FC236}">
                <a16:creationId xmlns:a16="http://schemas.microsoft.com/office/drawing/2014/main" id="{139B8827-A1E2-4470-BB23-DE09B551E8A6}"/>
              </a:ext>
            </a:extLst>
          </p:cNvPr>
          <p:cNvSpPr>
            <a:spLocks xmlns:a="http://schemas.openxmlformats.org/drawingml/2006/main" noGrp="1"/>
          </p:cNvSpPr>
          <p:nvPr/>
        </p:nvSpPr>
        <p:spPr>
          <a:xfrm xmlns:a="http://schemas.openxmlformats.org/drawingml/2006/main">
            <a:off x="12207240" y="78714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Gibco · Bio-Techne · Corning</a:t>
            </a:r>
          </a:p>
        </p:txBody>
      </p:sp>
      <p:sp>
        <p:nvSpPr>
          <p:cNvPr id="350" name="Flow / imaging">
            <a:extLst xmlns:a="http://schemas.openxmlformats.org/drawingml/2006/main">
              <a:ext uri="{FF2B5EF4-FFF2-40B4-BE49-F238E27FC236}">
                <a16:creationId xmlns:a16="http://schemas.microsoft.com/office/drawing/2014/main" id="{AB7F8435-2DE9-42CA-AFCA-296BABAC2EFF}"/>
              </a:ext>
            </a:extLst>
          </p:cNvPr>
          <p:cNvSpPr>
            <a:spLocks xmlns:a="http://schemas.openxmlformats.org/drawingml/2006/main" noGrp="1"/>
          </p:cNvSpPr>
          <p:nvPr/>
        </p:nvSpPr>
        <p:spPr>
          <a:xfrm xmlns:a="http://schemas.openxmlformats.org/drawingml/2006/main">
            <a:off x="12207240" y="81229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Flow / imaging</a:t>
            </a:r>
          </a:p>
        </p:txBody>
      </p:sp>
      <p:sp>
        <p:nvSpPr>
          <p:cNvPr id="351" name="Waters Biosciences* · Mol. Devices">
            <a:extLst xmlns:a="http://schemas.openxmlformats.org/drawingml/2006/main">
              <a:ext uri="{FF2B5EF4-FFF2-40B4-BE49-F238E27FC236}">
                <a16:creationId xmlns:a16="http://schemas.microsoft.com/office/drawing/2014/main" id="{699E8ABE-C9CE-4CCB-8222-ADFFFA0DBC80}"/>
              </a:ext>
            </a:extLst>
          </p:cNvPr>
          <p:cNvSpPr>
            <a:spLocks xmlns:a="http://schemas.openxmlformats.org/drawingml/2006/main" noGrp="1"/>
          </p:cNvSpPr>
          <p:nvPr/>
        </p:nvSpPr>
        <p:spPr>
          <a:xfrm xmlns:a="http://schemas.openxmlformats.org/drawingml/2006/main">
            <a:off x="12207240" y="82905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Waters Biosciences* · Mol. Devices</a:t>
            </a:r>
          </a:p>
        </p:txBody>
      </p:sp>
      <p:sp>
        <p:nvSpPr>
          <p:cNvPr id="352" name="Diagram path">
            <a:extLst xmlns:a="http://schemas.openxmlformats.org/drawingml/2006/main">
              <a:ext uri="{FF2B5EF4-FFF2-40B4-BE49-F238E27FC236}">
                <a16:creationId xmlns:a16="http://schemas.microsoft.com/office/drawing/2014/main" id="{A5A334AB-B1F9-4EB8-9B9F-9C5BF15E5FB5}"/>
              </a:ext>
            </a:extLst>
          </p:cNvPr>
          <p:cNvSpPr>
            <a:spLocks xmlns:a="http://schemas.openxmlformats.org/drawingml/2006/main" noGrp="1"/>
          </p:cNvSpPr>
          <p:nvPr/>
        </p:nvSpPr>
        <p:spPr>
          <a:xfrm xmlns:a="http://schemas.openxmlformats.org/drawingml/2006/main">
            <a:off x="14721840" y="5090160"/>
            <a:ext cx="114300" cy="762"/>
          </a:xfrm>
          <a:custGeom xmlns:a="http://schemas.openxmlformats.org/drawingml/2006/main">
            <a:pathLst>
              <a:path w="114300" h="762">
                <a:moveTo>
                  <a:pt x="0" y="0"/>
                </a:moveTo>
                <a:lnTo>
                  <a:pt x="114300" y="0"/>
                </a:lnTo>
              </a:path>
            </a:pathLst>
          </a:custGeom>
          <a:noFill xmlns:a="http://schemas.openxmlformats.org/drawingml/2006/main"/>
          <a:ln xmlns:a="http://schemas.openxmlformats.org/drawingml/2006/main" w="15240">
            <a:solidFill>
              <a:srgbClr val="00355F"/>
            </a:solidFill>
          </a:ln>
        </p:spPr>
      </p:sp>
      <p:sp>
        <p:nvSpPr>
          <p:cNvPr id="353" name="Diagram path">
            <a:extLst xmlns:a="http://schemas.openxmlformats.org/drawingml/2006/main">
              <a:ext uri="{FF2B5EF4-FFF2-40B4-BE49-F238E27FC236}">
                <a16:creationId xmlns:a16="http://schemas.microsoft.com/office/drawing/2014/main" id="{7D041BCE-802D-450E-8EBE-5BFA151D1335}"/>
              </a:ext>
            </a:extLst>
          </p:cNvPr>
          <p:cNvSpPr>
            <a:spLocks xmlns:a="http://schemas.openxmlformats.org/drawingml/2006/main" noGrp="1"/>
          </p:cNvSpPr>
          <p:nvPr/>
        </p:nvSpPr>
        <p:spPr>
          <a:xfrm xmlns:a="http://schemas.openxmlformats.org/drawingml/2006/main">
            <a:off x="14777674" y="505431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00355F"/>
          </a:solidFill>
          <a:ln xmlns:a="http://schemas.openxmlformats.org/drawingml/2006/main" w="0">
            <a:noFill/>
          </a:ln>
        </p:spPr>
      </p:sp>
      <p:sp>
        <p:nvSpPr>
          <p:cNvPr id="354" name="Flat experiment component">
            <a:extLst xmlns:a="http://schemas.openxmlformats.org/drawingml/2006/main">
              <a:ext uri="{FF2B5EF4-FFF2-40B4-BE49-F238E27FC236}">
                <a16:creationId xmlns:a16="http://schemas.microsoft.com/office/drawing/2014/main" id="{CA58B731-3D55-4800-A884-2D7D6951002C}"/>
              </a:ext>
            </a:extLst>
          </p:cNvPr>
          <p:cNvSpPr>
            <a:spLocks xmlns:a="http://schemas.openxmlformats.org/drawingml/2006/main" noGrp="1"/>
          </p:cNvSpPr>
          <p:nvPr/>
        </p:nvSpPr>
        <p:spPr>
          <a:xfrm xmlns:a="http://schemas.openxmlformats.org/drawingml/2006/main">
            <a:off x="14859000" y="2179320"/>
            <a:ext cx="2667000" cy="6477000"/>
          </a:xfrm>
          <a:prstGeom xmlns:a="http://schemas.openxmlformats.org/drawingml/2006/main" prst="roundRect">
            <a:avLst>
              <a:gd name="adj" fmla="val 3714"/>
            </a:avLst>
          </a:prstGeom>
          <a:solidFill xmlns:a="http://schemas.openxmlformats.org/drawingml/2006/main">
            <a:srgbClr val="FFFFFF"/>
          </a:solidFill>
          <a:ln xmlns:a="http://schemas.openxmlformats.org/drawingml/2006/main" w="11430">
            <a:solidFill>
              <a:srgbClr val="A5A5A5"/>
            </a:solidFill>
          </a:ln>
        </p:spPr>
      </p:sp>
      <p:sp>
        <p:nvSpPr>
          <p:cNvPr id="355" name="Flat experiment component">
            <a:extLst xmlns:a="http://schemas.openxmlformats.org/drawingml/2006/main">
              <a:ext uri="{FF2B5EF4-FFF2-40B4-BE49-F238E27FC236}">
                <a16:creationId xmlns:a16="http://schemas.microsoft.com/office/drawing/2014/main" id="{E98630D6-31D5-4F28-8165-173EDC7EA624}"/>
              </a:ext>
            </a:extLst>
          </p:cNvPr>
          <p:cNvSpPr>
            <a:spLocks xmlns:a="http://schemas.openxmlformats.org/drawingml/2006/main" noGrp="1"/>
          </p:cNvSpPr>
          <p:nvPr/>
        </p:nvSpPr>
        <p:spPr>
          <a:xfrm xmlns:a="http://schemas.openxmlformats.org/drawingml/2006/main">
            <a:off x="14859000" y="2179320"/>
            <a:ext cx="2667000" cy="68580"/>
          </a:xfrm>
          <a:prstGeom xmlns:a="http://schemas.openxmlformats.org/drawingml/2006/main" prst="rect">
            <a:avLst/>
          </a:prstGeom>
          <a:solidFill xmlns:a="http://schemas.openxmlformats.org/drawingml/2006/main">
            <a:srgbClr val="00355F"/>
          </a:solidFill>
          <a:ln xmlns:a="http://schemas.openxmlformats.org/drawingml/2006/main" w="0">
            <a:noFill/>
          </a:ln>
        </p:spPr>
      </p:sp>
      <p:sp>
        <p:nvSpPr>
          <p:cNvPr id="356" name="06 / LEARN">
            <a:extLst xmlns:a="http://schemas.openxmlformats.org/drawingml/2006/main">
              <a:ext uri="{FF2B5EF4-FFF2-40B4-BE49-F238E27FC236}">
                <a16:creationId xmlns:a16="http://schemas.microsoft.com/office/drawing/2014/main" id="{1CCED0E2-1342-412D-9D96-B03F089C3079}"/>
              </a:ext>
            </a:extLst>
          </p:cNvPr>
          <p:cNvSpPr>
            <a:spLocks xmlns:a="http://schemas.openxmlformats.org/drawingml/2006/main" noGrp="1"/>
          </p:cNvSpPr>
          <p:nvPr/>
        </p:nvSpPr>
        <p:spPr>
          <a:xfrm xmlns:a="http://schemas.openxmlformats.org/drawingml/2006/main">
            <a:off x="15026640" y="2385060"/>
            <a:ext cx="233172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06 / LEARN</a:t>
            </a:r>
          </a:p>
        </p:txBody>
      </p:sp>
      <p:sp>
        <p:nvSpPr>
          <p:cNvPr id="357" name="Data integration">
            <a:extLst xmlns:a="http://schemas.openxmlformats.org/drawingml/2006/main">
              <a:ext uri="{FF2B5EF4-FFF2-40B4-BE49-F238E27FC236}">
                <a16:creationId xmlns:a16="http://schemas.microsoft.com/office/drawing/2014/main" id="{17AE09D4-97B1-4D56-9CFB-4F03456A1F74}"/>
              </a:ext>
            </a:extLst>
          </p:cNvPr>
          <p:cNvSpPr>
            <a:spLocks xmlns:a="http://schemas.openxmlformats.org/drawingml/2006/main" noGrp="1"/>
          </p:cNvSpPr>
          <p:nvPr/>
        </p:nvSpPr>
        <p:spPr>
          <a:xfrm xmlns:a="http://schemas.openxmlformats.org/drawingml/2006/main">
            <a:off x="15026640" y="2697480"/>
            <a:ext cx="233172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Data integration</a:t>
            </a:r>
          </a:p>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&amp; feedback</a:t>
            </a:r>
          </a:p>
        </p:txBody>
      </p:sp>
      <p:sp>
        <p:nvSpPr>
          <p:cNvPr id="358" name="Link samples and results">
            <a:extLst xmlns:a="http://schemas.openxmlformats.org/drawingml/2006/main">
              <a:ext uri="{FF2B5EF4-FFF2-40B4-BE49-F238E27FC236}">
                <a16:creationId xmlns:a16="http://schemas.microsoft.com/office/drawing/2014/main" id="{5F5B5DBC-C1C1-4098-9522-52C82056A0D8}"/>
              </a:ext>
            </a:extLst>
          </p:cNvPr>
          <p:cNvSpPr>
            <a:spLocks xmlns:a="http://schemas.openxmlformats.org/drawingml/2006/main" noGrp="1"/>
          </p:cNvSpPr>
          <p:nvPr/>
        </p:nvSpPr>
        <p:spPr>
          <a:xfrm xmlns:a="http://schemas.openxmlformats.org/drawingml/2006/main">
            <a:off x="15026640" y="3329940"/>
            <a:ext cx="233172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Link samples and results</a:t>
            </a:r>
          </a:p>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to the next model-guided design</a:t>
            </a:r>
          </a:p>
        </p:txBody>
      </p:sp>
      <p:sp>
        <p:nvSpPr>
          <p:cNvPr id="359" name="Flat experiment component">
            <a:extLst xmlns:a="http://schemas.openxmlformats.org/drawingml/2006/main">
              <a:ext uri="{FF2B5EF4-FFF2-40B4-BE49-F238E27FC236}">
                <a16:creationId xmlns:a16="http://schemas.microsoft.com/office/drawing/2014/main" id="{4FEA9E5E-7221-4A3F-8934-1F2591A57991}"/>
              </a:ext>
            </a:extLst>
          </p:cNvPr>
          <p:cNvSpPr>
            <a:spLocks xmlns:a="http://schemas.openxmlformats.org/drawingml/2006/main" noGrp="1"/>
          </p:cNvSpPr>
          <p:nvPr/>
        </p:nvSpPr>
        <p:spPr>
          <a:xfrm xmlns:a="http://schemas.openxmlformats.org/drawingml/2006/main">
            <a:off x="14965680" y="3924300"/>
            <a:ext cx="2453640" cy="2682240"/>
          </a:xfrm>
          <a:prstGeom xmlns:a="http://schemas.openxmlformats.org/drawingml/2006/main" prst="roundRect">
            <a:avLst>
              <a:gd name="adj" fmla="val 3106"/>
            </a:avLst>
          </a:prstGeom>
          <a:solidFill xmlns:a="http://schemas.openxmlformats.org/drawingml/2006/main">
            <a:srgbClr val="F0F7FC"/>
          </a:solidFill>
          <a:ln xmlns:a="http://schemas.openxmlformats.org/drawingml/2006/main" w="0">
            <a:noFill/>
          </a:ln>
        </p:spPr>
      </p:sp>
      <p:sp>
        <p:nvSpPr>
          <p:cNvPr id="360" name="Flat experiment component">
            <a:extLst xmlns:a="http://schemas.openxmlformats.org/drawingml/2006/main">
              <a:ext uri="{FF2B5EF4-FFF2-40B4-BE49-F238E27FC236}">
                <a16:creationId xmlns:a16="http://schemas.microsoft.com/office/drawing/2014/main" id="{62F44150-D857-4519-8D52-5853EE7DB50E}"/>
              </a:ext>
            </a:extLst>
          </p:cNvPr>
          <p:cNvSpPr>
            <a:spLocks xmlns:a="http://schemas.openxmlformats.org/drawingml/2006/main" noGrp="1"/>
          </p:cNvSpPr>
          <p:nvPr/>
        </p:nvSpPr>
        <p:spPr>
          <a:xfrm xmlns:a="http://schemas.openxmlformats.org/drawingml/2006/main">
            <a:off x="15079980" y="4229100"/>
            <a:ext cx="769620" cy="464820"/>
          </a:xfrm>
          <a:prstGeom xmlns:a="http://schemas.openxmlformats.org/drawingml/2006/main" prst="roundRect">
            <a:avLst>
              <a:gd name="adj" fmla="val 11475"/>
            </a:avLst>
          </a:prstGeom>
          <a:solidFill xmlns:a="http://schemas.openxmlformats.org/drawingml/2006/main">
            <a:srgbClr val="ACD4F1"/>
          </a:solidFill>
          <a:ln xmlns:a="http://schemas.openxmlformats.org/drawingml/2006/main" w="15240">
            <a:solidFill>
              <a:srgbClr val="00355F"/>
            </a:solidFill>
          </a:ln>
        </p:spPr>
      </p:sp>
      <p:sp>
        <p:nvSpPr>
          <p:cNvPr id="361" name="">
            <a:extLst xmlns:a="http://schemas.openxmlformats.org/drawingml/2006/main">
              <a:ext uri="{FF2B5EF4-FFF2-40B4-BE49-F238E27FC236}">
                <a16:creationId xmlns:a16="http://schemas.microsoft.com/office/drawing/2014/main" id="{767FEC5E-E8DC-4D2D-B78A-21AAF1C52BAB}"/>
              </a:ext>
            </a:extLst>
          </p:cNvPr>
          <p:cNvSpPr>
            <a:spLocks xmlns:a="http://schemas.openxmlformats.org/drawingml/2006/main" noGrp="1"/>
          </p:cNvSpPr>
          <p:nvPr/>
        </p:nvSpPr>
        <p:spPr>
          <a:xfrm xmlns:a="http://schemas.openxmlformats.org/drawingml/2006/main">
            <a:off x="15145512" y="428701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362" name="">
            <a:extLst xmlns:a="http://schemas.openxmlformats.org/drawingml/2006/main">
              <a:ext uri="{FF2B5EF4-FFF2-40B4-BE49-F238E27FC236}">
                <a16:creationId xmlns:a16="http://schemas.microsoft.com/office/drawing/2014/main" id="{3B358693-CD4D-46DF-9EE5-B5105BF3FCD1}"/>
              </a:ext>
            </a:extLst>
          </p:cNvPr>
          <p:cNvSpPr>
            <a:spLocks xmlns:a="http://schemas.openxmlformats.org/drawingml/2006/main" noGrp="1"/>
          </p:cNvSpPr>
          <p:nvPr/>
        </p:nvSpPr>
        <p:spPr>
          <a:xfrm xmlns:a="http://schemas.openxmlformats.org/drawingml/2006/main">
            <a:off x="15288387" y="42870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3" name="">
            <a:extLst xmlns:a="http://schemas.openxmlformats.org/drawingml/2006/main">
              <a:ext uri="{FF2B5EF4-FFF2-40B4-BE49-F238E27FC236}">
                <a16:creationId xmlns:a16="http://schemas.microsoft.com/office/drawing/2014/main" id="{55A908CE-F2F0-4F31-969D-313CAA2E2ADB}"/>
              </a:ext>
            </a:extLst>
          </p:cNvPr>
          <p:cNvSpPr>
            <a:spLocks xmlns:a="http://schemas.openxmlformats.org/drawingml/2006/main" noGrp="1"/>
          </p:cNvSpPr>
          <p:nvPr/>
        </p:nvSpPr>
        <p:spPr>
          <a:xfrm xmlns:a="http://schemas.openxmlformats.org/drawingml/2006/main">
            <a:off x="15431262" y="42870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4" name="">
            <a:extLst xmlns:a="http://schemas.openxmlformats.org/drawingml/2006/main">
              <a:ext uri="{FF2B5EF4-FFF2-40B4-BE49-F238E27FC236}">
                <a16:creationId xmlns:a16="http://schemas.microsoft.com/office/drawing/2014/main" id="{B91B7C09-6C82-4FA1-AFF2-13B06E394D58}"/>
              </a:ext>
            </a:extLst>
          </p:cNvPr>
          <p:cNvSpPr>
            <a:spLocks xmlns:a="http://schemas.openxmlformats.org/drawingml/2006/main" noGrp="1"/>
          </p:cNvSpPr>
          <p:nvPr/>
        </p:nvSpPr>
        <p:spPr>
          <a:xfrm xmlns:a="http://schemas.openxmlformats.org/drawingml/2006/main">
            <a:off x="15574137" y="42870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5" name="">
            <a:extLst xmlns:a="http://schemas.openxmlformats.org/drawingml/2006/main">
              <a:ext uri="{FF2B5EF4-FFF2-40B4-BE49-F238E27FC236}">
                <a16:creationId xmlns:a16="http://schemas.microsoft.com/office/drawing/2014/main" id="{F5001D74-EDDD-4A8F-98FD-43D5AE6C903B}"/>
              </a:ext>
            </a:extLst>
          </p:cNvPr>
          <p:cNvSpPr>
            <a:spLocks xmlns:a="http://schemas.openxmlformats.org/drawingml/2006/main" noGrp="1"/>
          </p:cNvSpPr>
          <p:nvPr/>
        </p:nvSpPr>
        <p:spPr>
          <a:xfrm xmlns:a="http://schemas.openxmlformats.org/drawingml/2006/main">
            <a:off x="15717012" y="428701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6" name="">
            <a:extLst xmlns:a="http://schemas.openxmlformats.org/drawingml/2006/main">
              <a:ext uri="{FF2B5EF4-FFF2-40B4-BE49-F238E27FC236}">
                <a16:creationId xmlns:a16="http://schemas.microsoft.com/office/drawing/2014/main" id="{F72B618F-C825-4D29-ABAC-CA1FAFC29482}"/>
              </a:ext>
            </a:extLst>
          </p:cNvPr>
          <p:cNvSpPr>
            <a:spLocks xmlns:a="http://schemas.openxmlformats.org/drawingml/2006/main" noGrp="1"/>
          </p:cNvSpPr>
          <p:nvPr/>
        </p:nvSpPr>
        <p:spPr>
          <a:xfrm xmlns:a="http://schemas.openxmlformats.org/drawingml/2006/main">
            <a:off x="15145512" y="442798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7" name="">
            <a:extLst xmlns:a="http://schemas.openxmlformats.org/drawingml/2006/main">
              <a:ext uri="{FF2B5EF4-FFF2-40B4-BE49-F238E27FC236}">
                <a16:creationId xmlns:a16="http://schemas.microsoft.com/office/drawing/2014/main" id="{89FA098C-A819-46E5-9C57-C1B6A1351FEA}"/>
              </a:ext>
            </a:extLst>
          </p:cNvPr>
          <p:cNvSpPr>
            <a:spLocks xmlns:a="http://schemas.openxmlformats.org/drawingml/2006/main" noGrp="1"/>
          </p:cNvSpPr>
          <p:nvPr/>
        </p:nvSpPr>
        <p:spPr>
          <a:xfrm xmlns:a="http://schemas.openxmlformats.org/drawingml/2006/main">
            <a:off x="15288387" y="442798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8" name="">
            <a:extLst xmlns:a="http://schemas.openxmlformats.org/drawingml/2006/main">
              <a:ext uri="{FF2B5EF4-FFF2-40B4-BE49-F238E27FC236}">
                <a16:creationId xmlns:a16="http://schemas.microsoft.com/office/drawing/2014/main" id="{E6F9DE3D-8E49-4431-AAD1-45F0C06F4781}"/>
              </a:ext>
            </a:extLst>
          </p:cNvPr>
          <p:cNvSpPr>
            <a:spLocks xmlns:a="http://schemas.openxmlformats.org/drawingml/2006/main" noGrp="1"/>
          </p:cNvSpPr>
          <p:nvPr/>
        </p:nvSpPr>
        <p:spPr>
          <a:xfrm xmlns:a="http://schemas.openxmlformats.org/drawingml/2006/main">
            <a:off x="15431262" y="442798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69" name="">
            <a:extLst xmlns:a="http://schemas.openxmlformats.org/drawingml/2006/main">
              <a:ext uri="{FF2B5EF4-FFF2-40B4-BE49-F238E27FC236}">
                <a16:creationId xmlns:a16="http://schemas.microsoft.com/office/drawing/2014/main" id="{43F2D151-C98F-44CA-8993-77F866E1A478}"/>
              </a:ext>
            </a:extLst>
          </p:cNvPr>
          <p:cNvSpPr>
            <a:spLocks xmlns:a="http://schemas.openxmlformats.org/drawingml/2006/main" noGrp="1"/>
          </p:cNvSpPr>
          <p:nvPr/>
        </p:nvSpPr>
        <p:spPr>
          <a:xfrm xmlns:a="http://schemas.openxmlformats.org/drawingml/2006/main">
            <a:off x="15574137" y="442798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70" name="">
            <a:extLst xmlns:a="http://schemas.openxmlformats.org/drawingml/2006/main">
              <a:ext uri="{FF2B5EF4-FFF2-40B4-BE49-F238E27FC236}">
                <a16:creationId xmlns:a16="http://schemas.microsoft.com/office/drawing/2014/main" id="{D8297896-67EF-4950-8663-7B80D587BD17}"/>
              </a:ext>
            </a:extLst>
          </p:cNvPr>
          <p:cNvSpPr>
            <a:spLocks xmlns:a="http://schemas.openxmlformats.org/drawingml/2006/main" noGrp="1"/>
          </p:cNvSpPr>
          <p:nvPr/>
        </p:nvSpPr>
        <p:spPr>
          <a:xfrm xmlns:a="http://schemas.openxmlformats.org/drawingml/2006/main">
            <a:off x="15717012" y="442798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371" name="">
            <a:extLst xmlns:a="http://schemas.openxmlformats.org/drawingml/2006/main">
              <a:ext uri="{FF2B5EF4-FFF2-40B4-BE49-F238E27FC236}">
                <a16:creationId xmlns:a16="http://schemas.microsoft.com/office/drawing/2014/main" id="{8A1D004B-877E-496F-B918-8820513FA7F3}"/>
              </a:ext>
            </a:extLst>
          </p:cNvPr>
          <p:cNvSpPr>
            <a:spLocks xmlns:a="http://schemas.openxmlformats.org/drawingml/2006/main" noGrp="1"/>
          </p:cNvSpPr>
          <p:nvPr/>
        </p:nvSpPr>
        <p:spPr>
          <a:xfrm xmlns:a="http://schemas.openxmlformats.org/drawingml/2006/main">
            <a:off x="15145512" y="45689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72" name="">
            <a:extLst xmlns:a="http://schemas.openxmlformats.org/drawingml/2006/main">
              <a:ext uri="{FF2B5EF4-FFF2-40B4-BE49-F238E27FC236}">
                <a16:creationId xmlns:a16="http://schemas.microsoft.com/office/drawing/2014/main" id="{ED7F1605-7BFC-4525-A1D8-ED364715551F}"/>
              </a:ext>
            </a:extLst>
          </p:cNvPr>
          <p:cNvSpPr>
            <a:spLocks xmlns:a="http://schemas.openxmlformats.org/drawingml/2006/main" noGrp="1"/>
          </p:cNvSpPr>
          <p:nvPr/>
        </p:nvSpPr>
        <p:spPr>
          <a:xfrm xmlns:a="http://schemas.openxmlformats.org/drawingml/2006/main">
            <a:off x="15288387" y="45689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73" name="">
            <a:extLst xmlns:a="http://schemas.openxmlformats.org/drawingml/2006/main">
              <a:ext uri="{FF2B5EF4-FFF2-40B4-BE49-F238E27FC236}">
                <a16:creationId xmlns:a16="http://schemas.microsoft.com/office/drawing/2014/main" id="{FA5B8DF3-7C56-4884-B70F-7D2B4EF68CBD}"/>
              </a:ext>
            </a:extLst>
          </p:cNvPr>
          <p:cNvSpPr>
            <a:spLocks xmlns:a="http://schemas.openxmlformats.org/drawingml/2006/main" noGrp="1"/>
          </p:cNvSpPr>
          <p:nvPr/>
        </p:nvSpPr>
        <p:spPr>
          <a:xfrm xmlns:a="http://schemas.openxmlformats.org/drawingml/2006/main">
            <a:off x="15431262" y="45689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74" name="">
            <a:extLst xmlns:a="http://schemas.openxmlformats.org/drawingml/2006/main">
              <a:ext uri="{FF2B5EF4-FFF2-40B4-BE49-F238E27FC236}">
                <a16:creationId xmlns:a16="http://schemas.microsoft.com/office/drawing/2014/main" id="{1634E506-F75F-4250-BF2B-652BCB496C8D}"/>
              </a:ext>
            </a:extLst>
          </p:cNvPr>
          <p:cNvSpPr>
            <a:spLocks xmlns:a="http://schemas.openxmlformats.org/drawingml/2006/main" noGrp="1"/>
          </p:cNvSpPr>
          <p:nvPr/>
        </p:nvSpPr>
        <p:spPr>
          <a:xfrm xmlns:a="http://schemas.openxmlformats.org/drawingml/2006/main">
            <a:off x="15574137" y="4568952"/>
            <a:ext cx="67056" cy="67056"/>
          </a:xfrm>
          <a:prstGeom xmlns:a="http://schemas.openxmlformats.org/drawingml/2006/main" prst="ellipse">
            <a:avLst/>
          </a:prstGeom>
          <a:solidFill xmlns:a="http://schemas.openxmlformats.org/drawingml/2006/main">
            <a:srgbClr val="7399C6"/>
          </a:solidFill>
          <a:ln xmlns:a="http://schemas.openxmlformats.org/drawingml/2006/main" w="7620">
            <a:solidFill>
              <a:srgbClr val="7399C6"/>
            </a:solidFill>
          </a:ln>
        </p:spPr>
      </p:sp>
      <p:sp>
        <p:nvSpPr>
          <p:cNvPr id="375" name="">
            <a:extLst xmlns:a="http://schemas.openxmlformats.org/drawingml/2006/main">
              <a:ext uri="{FF2B5EF4-FFF2-40B4-BE49-F238E27FC236}">
                <a16:creationId xmlns:a16="http://schemas.microsoft.com/office/drawing/2014/main" id="{D0657315-52BF-4A81-83D3-A03D861BFB64}"/>
              </a:ext>
            </a:extLst>
          </p:cNvPr>
          <p:cNvSpPr>
            <a:spLocks xmlns:a="http://schemas.openxmlformats.org/drawingml/2006/main" noGrp="1"/>
          </p:cNvSpPr>
          <p:nvPr/>
        </p:nvSpPr>
        <p:spPr>
          <a:xfrm xmlns:a="http://schemas.openxmlformats.org/drawingml/2006/main">
            <a:off x="15717012" y="4568952"/>
            <a:ext cx="67056" cy="67056"/>
          </a:xfrm>
          <a:prstGeom xmlns:a="http://schemas.openxmlformats.org/drawingml/2006/main" prst="ellipse">
            <a:avLst/>
          </a:prstGeom>
          <a:solidFill xmlns:a="http://schemas.openxmlformats.org/drawingml/2006/main">
            <a:srgbClr val="FFFFFF"/>
          </a:solidFill>
          <a:ln xmlns:a="http://schemas.openxmlformats.org/drawingml/2006/main" w="7620">
            <a:solidFill>
              <a:srgbClr val="7399C6"/>
            </a:solidFill>
          </a:ln>
        </p:spPr>
      </p:sp>
      <p:sp>
        <p:nvSpPr>
          <p:cNvPr id="376" name="Flat experiment component">
            <a:extLst xmlns:a="http://schemas.openxmlformats.org/drawingml/2006/main">
              <a:ext uri="{FF2B5EF4-FFF2-40B4-BE49-F238E27FC236}">
                <a16:creationId xmlns:a16="http://schemas.microsoft.com/office/drawing/2014/main" id="{C0AB0092-968F-4E5D-AC74-0E2E65845D12}"/>
              </a:ext>
            </a:extLst>
          </p:cNvPr>
          <p:cNvSpPr>
            <a:spLocks xmlns:a="http://schemas.openxmlformats.org/drawingml/2006/main" noGrp="1"/>
          </p:cNvSpPr>
          <p:nvPr/>
        </p:nvSpPr>
        <p:spPr>
          <a:xfrm xmlns:a="http://schemas.openxmlformats.org/drawingml/2006/main">
            <a:off x="16657320" y="4191000"/>
            <a:ext cx="480060" cy="449580"/>
          </a:xfrm>
          <a:prstGeom xmlns:a="http://schemas.openxmlformats.org/drawingml/2006/main" prst="rect">
            <a:avLst/>
          </a:prstGeom>
          <a:solidFill xmlns:a="http://schemas.openxmlformats.org/drawingml/2006/main">
            <a:srgbClr val="ACD4F1"/>
          </a:solidFill>
          <a:ln xmlns:a="http://schemas.openxmlformats.org/drawingml/2006/main" w="15240">
            <a:solidFill>
              <a:srgbClr val="00355F"/>
            </a:solidFill>
          </a:ln>
        </p:spPr>
      </p:sp>
      <p:sp>
        <p:nvSpPr>
          <p:cNvPr id="377" name="">
            <a:extLst xmlns:a="http://schemas.openxmlformats.org/drawingml/2006/main">
              <a:ext uri="{FF2B5EF4-FFF2-40B4-BE49-F238E27FC236}">
                <a16:creationId xmlns:a16="http://schemas.microsoft.com/office/drawing/2014/main" id="{5DAC4DC5-6DC8-4166-9466-D310AD15E151}"/>
              </a:ext>
            </a:extLst>
          </p:cNvPr>
          <p:cNvSpPr>
            <a:spLocks xmlns:a="http://schemas.openxmlformats.org/drawingml/2006/main" noGrp="1"/>
          </p:cNvSpPr>
          <p:nvPr/>
        </p:nvSpPr>
        <p:spPr>
          <a:xfrm xmlns:a="http://schemas.openxmlformats.org/drawingml/2006/main">
            <a:off x="16657320" y="4099560"/>
            <a:ext cx="480060" cy="190500"/>
          </a:xfrm>
          <a:prstGeom xmlns:a="http://schemas.openxmlformats.org/drawingml/2006/main" prst="ellipse">
            <a:avLst/>
          </a:prstGeom>
          <a:solidFill xmlns:a="http://schemas.openxmlformats.org/drawingml/2006/main">
            <a:srgbClr val="F0F7FC"/>
          </a:solidFill>
          <a:ln xmlns:a="http://schemas.openxmlformats.org/drawingml/2006/main" w="15240">
            <a:solidFill>
              <a:srgbClr val="00355F"/>
            </a:solidFill>
          </a:ln>
        </p:spPr>
      </p:sp>
      <p:sp>
        <p:nvSpPr>
          <p:cNvPr id="378" name="">
            <a:extLst xmlns:a="http://schemas.openxmlformats.org/drawingml/2006/main">
              <a:ext uri="{FF2B5EF4-FFF2-40B4-BE49-F238E27FC236}">
                <a16:creationId xmlns:a16="http://schemas.microsoft.com/office/drawing/2014/main" id="{E93F4158-DB6D-4F7E-9428-969D2DDF6A81}"/>
              </a:ext>
            </a:extLst>
          </p:cNvPr>
          <p:cNvSpPr>
            <a:spLocks xmlns:a="http://schemas.openxmlformats.org/drawingml/2006/main" noGrp="1"/>
          </p:cNvSpPr>
          <p:nvPr/>
        </p:nvSpPr>
        <p:spPr>
          <a:xfrm xmlns:a="http://schemas.openxmlformats.org/drawingml/2006/main">
            <a:off x="16657320" y="4549140"/>
            <a:ext cx="480060" cy="190500"/>
          </a:xfrm>
          <a:prstGeom xmlns:a="http://schemas.openxmlformats.org/drawingml/2006/main" prst="ellipse">
            <a:avLst/>
          </a:prstGeom>
          <a:solidFill xmlns:a="http://schemas.openxmlformats.org/drawingml/2006/main">
            <a:srgbClr val="ACD4F1"/>
          </a:solidFill>
          <a:ln xmlns:a="http://schemas.openxmlformats.org/drawingml/2006/main" w="15240">
            <a:solidFill>
              <a:srgbClr val="00355F"/>
            </a:solidFill>
          </a:ln>
        </p:spPr>
      </p:sp>
      <p:sp>
        <p:nvSpPr>
          <p:cNvPr id="379" name="Diagram path">
            <a:extLst xmlns:a="http://schemas.openxmlformats.org/drawingml/2006/main">
              <a:ext uri="{FF2B5EF4-FFF2-40B4-BE49-F238E27FC236}">
                <a16:creationId xmlns:a16="http://schemas.microsoft.com/office/drawing/2014/main" id="{F19D39C2-1A40-4703-80BF-E1DF863EE004}"/>
              </a:ext>
            </a:extLst>
          </p:cNvPr>
          <p:cNvSpPr>
            <a:spLocks xmlns:a="http://schemas.openxmlformats.org/drawingml/2006/main" noGrp="1"/>
          </p:cNvSpPr>
          <p:nvPr/>
        </p:nvSpPr>
        <p:spPr>
          <a:xfrm xmlns:a="http://schemas.openxmlformats.org/drawingml/2006/main">
            <a:off x="16672560" y="4366260"/>
            <a:ext cx="449580" cy="38100"/>
          </a:xfrm>
          <a:custGeom xmlns:a="http://schemas.openxmlformats.org/drawingml/2006/main">
            <a:pathLst>
              <a:path w="449580" h="38100">
                <a:moveTo>
                  <a:pt x="0" y="0"/>
                </a:moveTo>
                <a:lnTo>
                  <a:pt x="106680" y="38100"/>
                </a:lnTo>
                <a:lnTo>
                  <a:pt x="342900" y="38100"/>
                </a:lnTo>
                <a:lnTo>
                  <a:pt x="449580" y="0"/>
                </a:lnTo>
              </a:path>
            </a:pathLst>
          </a:custGeom>
          <a:noFill xmlns:a="http://schemas.openxmlformats.org/drawingml/2006/main"/>
          <a:ln xmlns:a="http://schemas.openxmlformats.org/drawingml/2006/main" w="11430">
            <a:solidFill>
              <a:srgbClr val="7399C6"/>
            </a:solidFill>
          </a:ln>
        </p:spPr>
      </p:sp>
      <p:sp>
        <p:nvSpPr>
          <p:cNvPr id="380" name="Diagram path">
            <a:extLst xmlns:a="http://schemas.openxmlformats.org/drawingml/2006/main">
              <a:ext uri="{FF2B5EF4-FFF2-40B4-BE49-F238E27FC236}">
                <a16:creationId xmlns:a16="http://schemas.microsoft.com/office/drawing/2014/main" id="{2AFEA0A1-EB6E-4459-868C-37BE1A00257A}"/>
              </a:ext>
            </a:extLst>
          </p:cNvPr>
          <p:cNvSpPr>
            <a:spLocks xmlns:a="http://schemas.openxmlformats.org/drawingml/2006/main" noGrp="1"/>
          </p:cNvSpPr>
          <p:nvPr/>
        </p:nvSpPr>
        <p:spPr>
          <a:xfrm xmlns:a="http://schemas.openxmlformats.org/drawingml/2006/main">
            <a:off x="16672560" y="4556760"/>
            <a:ext cx="449580" cy="38100"/>
          </a:xfrm>
          <a:custGeom xmlns:a="http://schemas.openxmlformats.org/drawingml/2006/main">
            <a:pathLst>
              <a:path w="449580" h="38100">
                <a:moveTo>
                  <a:pt x="0" y="0"/>
                </a:moveTo>
                <a:lnTo>
                  <a:pt x="106680" y="38100"/>
                </a:lnTo>
                <a:lnTo>
                  <a:pt x="342900" y="38100"/>
                </a:lnTo>
                <a:lnTo>
                  <a:pt x="449580" y="0"/>
                </a:lnTo>
              </a:path>
            </a:pathLst>
          </a:custGeom>
          <a:noFill xmlns:a="http://schemas.openxmlformats.org/drawingml/2006/main"/>
          <a:ln xmlns:a="http://schemas.openxmlformats.org/drawingml/2006/main" w="11430">
            <a:solidFill>
              <a:srgbClr val="7399C6"/>
            </a:solidFill>
          </a:ln>
        </p:spPr>
      </p:sp>
      <p:sp>
        <p:nvSpPr>
          <p:cNvPr id="381" name="Diagram path">
            <a:extLst xmlns:a="http://schemas.openxmlformats.org/drawingml/2006/main">
              <a:ext uri="{FF2B5EF4-FFF2-40B4-BE49-F238E27FC236}">
                <a16:creationId xmlns:a16="http://schemas.microsoft.com/office/drawing/2014/main" id="{A336E012-A047-4F41-AC82-59A063455E59}"/>
              </a:ext>
            </a:extLst>
          </p:cNvPr>
          <p:cNvSpPr>
            <a:spLocks xmlns:a="http://schemas.openxmlformats.org/drawingml/2006/main" noGrp="1"/>
          </p:cNvSpPr>
          <p:nvPr/>
        </p:nvSpPr>
        <p:spPr>
          <a:xfrm xmlns:a="http://schemas.openxmlformats.org/drawingml/2006/main">
            <a:off x="15933420" y="4434840"/>
            <a:ext cx="624840" cy="762"/>
          </a:xfrm>
          <a:custGeom xmlns:a="http://schemas.openxmlformats.org/drawingml/2006/main">
            <a:pathLst>
              <a:path w="624840" h="762">
                <a:moveTo>
                  <a:pt x="0" y="0"/>
                </a:moveTo>
                <a:lnTo>
                  <a:pt x="624840" y="0"/>
                </a:lnTo>
              </a:path>
            </a:pathLst>
          </a:custGeom>
          <a:noFill xmlns:a="http://schemas.openxmlformats.org/drawingml/2006/main"/>
          <a:ln xmlns:a="http://schemas.openxmlformats.org/drawingml/2006/main" w="19050">
            <a:solidFill>
              <a:srgbClr val="7399C6"/>
            </a:solidFill>
          </a:ln>
        </p:spPr>
      </p:sp>
      <p:sp>
        <p:nvSpPr>
          <p:cNvPr id="382" name="Diagram path">
            <a:extLst xmlns:a="http://schemas.openxmlformats.org/drawingml/2006/main">
              <a:ext uri="{FF2B5EF4-FFF2-40B4-BE49-F238E27FC236}">
                <a16:creationId xmlns:a16="http://schemas.microsoft.com/office/drawing/2014/main" id="{C78D20E3-DDA1-4178-A92A-DA927F78A4A6}"/>
              </a:ext>
            </a:extLst>
          </p:cNvPr>
          <p:cNvSpPr>
            <a:spLocks xmlns:a="http://schemas.openxmlformats.org/drawingml/2006/main" noGrp="1"/>
          </p:cNvSpPr>
          <p:nvPr/>
        </p:nvSpPr>
        <p:spPr>
          <a:xfrm xmlns:a="http://schemas.openxmlformats.org/drawingml/2006/main">
            <a:off x="16499794" y="439899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7399C6"/>
          </a:solidFill>
          <a:ln xmlns:a="http://schemas.openxmlformats.org/drawingml/2006/main" w="0">
            <a:noFill/>
          </a:ln>
        </p:spPr>
      </p:sp>
      <p:sp>
        <p:nvSpPr>
          <p:cNvPr id="383" name="Sample IDs + assay results">
            <a:extLst xmlns:a="http://schemas.openxmlformats.org/drawingml/2006/main">
              <a:ext uri="{FF2B5EF4-FFF2-40B4-BE49-F238E27FC236}">
                <a16:creationId xmlns:a16="http://schemas.microsoft.com/office/drawing/2014/main" id="{D08CF0BD-45BE-40FD-B434-4F69BB0992E4}"/>
              </a:ext>
            </a:extLst>
          </p:cNvPr>
          <p:cNvSpPr>
            <a:spLocks xmlns:a="http://schemas.openxmlformats.org/drawingml/2006/main" noGrp="1"/>
          </p:cNvSpPr>
          <p:nvPr/>
        </p:nvSpPr>
        <p:spPr>
          <a:xfrm xmlns:a="http://schemas.openxmlformats.org/drawingml/2006/main">
            <a:off x="15026640" y="4861560"/>
            <a:ext cx="2324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80" b="1">
                <a:solidFill>
                  <a:srgbClr val="00355F"/>
                </a:solidFill>
                <a:latin typeface="Arial"/>
                <a:ea typeface="Arial"/>
                <a:cs typeface="Arial"/>
              </a:defRPr>
            </a:defPPr>
          </a:lstStyle>
          <a:p xmlns:a="http://schemas.openxmlformats.org/drawingml/2006/main">
            <a:pPr algn="ctr">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Sample IDs + assay results</a:t>
            </a:r>
          </a:p>
        </p:txBody>
      </p:sp>
      <p:sp>
        <p:nvSpPr>
          <p:cNvPr id="384" name="Flat experiment component">
            <a:extLst xmlns:a="http://schemas.openxmlformats.org/drawingml/2006/main">
              <a:ext uri="{FF2B5EF4-FFF2-40B4-BE49-F238E27FC236}">
                <a16:creationId xmlns:a16="http://schemas.microsoft.com/office/drawing/2014/main" id="{61BC8CA9-DAB3-4DF3-8CB7-3170384C7A3D}"/>
              </a:ext>
            </a:extLst>
          </p:cNvPr>
          <p:cNvSpPr>
            <a:spLocks xmlns:a="http://schemas.openxmlformats.org/drawingml/2006/main" noGrp="1"/>
          </p:cNvSpPr>
          <p:nvPr/>
        </p:nvSpPr>
        <p:spPr>
          <a:xfrm xmlns:a="http://schemas.openxmlformats.org/drawingml/2006/main">
            <a:off x="15247620" y="5318760"/>
            <a:ext cx="1127760" cy="73152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9050">
            <a:solidFill>
              <a:srgbClr val="00355F"/>
            </a:solidFill>
          </a:ln>
        </p:spPr>
      </p:sp>
      <p:sp>
        <p:nvSpPr>
          <p:cNvPr id="385" name="Flat experiment component">
            <a:extLst xmlns:a="http://schemas.openxmlformats.org/drawingml/2006/main">
              <a:ext uri="{FF2B5EF4-FFF2-40B4-BE49-F238E27FC236}">
                <a16:creationId xmlns:a16="http://schemas.microsoft.com/office/drawing/2014/main" id="{37F7A807-4AAD-4CAB-A0E1-63AC8ACCC937}"/>
              </a:ext>
            </a:extLst>
          </p:cNvPr>
          <p:cNvSpPr>
            <a:spLocks xmlns:a="http://schemas.openxmlformats.org/drawingml/2006/main" noGrp="1"/>
          </p:cNvSpPr>
          <p:nvPr/>
        </p:nvSpPr>
        <p:spPr>
          <a:xfrm xmlns:a="http://schemas.openxmlformats.org/drawingml/2006/main">
            <a:off x="15331440" y="5410200"/>
            <a:ext cx="960120" cy="541020"/>
          </a:xfrm>
          <a:prstGeom xmlns:a="http://schemas.openxmlformats.org/drawingml/2006/main" prst="roundRect">
            <a:avLst>
              <a:gd name="adj" fmla="val 2817"/>
            </a:avLst>
          </a:prstGeom>
          <a:solidFill xmlns:a="http://schemas.openxmlformats.org/drawingml/2006/main">
            <a:srgbClr val="F0F7FC"/>
          </a:solidFill>
          <a:ln xmlns:a="http://schemas.openxmlformats.org/drawingml/2006/main" w="11430">
            <a:solidFill>
              <a:srgbClr val="7399C6"/>
            </a:solidFill>
          </a:ln>
        </p:spPr>
      </p:sp>
      <p:sp>
        <p:nvSpPr>
          <p:cNvPr id="386" name="Diagram path">
            <a:extLst xmlns:a="http://schemas.openxmlformats.org/drawingml/2006/main">
              <a:ext uri="{FF2B5EF4-FFF2-40B4-BE49-F238E27FC236}">
                <a16:creationId xmlns:a16="http://schemas.microsoft.com/office/drawing/2014/main" id="{1E0A8D74-ED42-48F2-8216-6407FEB3CBD4}"/>
              </a:ext>
            </a:extLst>
          </p:cNvPr>
          <p:cNvSpPr>
            <a:spLocks xmlns:a="http://schemas.openxmlformats.org/drawingml/2006/main" noGrp="1"/>
          </p:cNvSpPr>
          <p:nvPr/>
        </p:nvSpPr>
        <p:spPr>
          <a:xfrm xmlns:a="http://schemas.openxmlformats.org/drawingml/2006/main">
            <a:off x="15156180" y="6050280"/>
            <a:ext cx="1310640" cy="152400"/>
          </a:xfrm>
          <a:custGeom xmlns:a="http://schemas.openxmlformats.org/drawingml/2006/main">
            <a:pathLst>
              <a:path w="1310640" h="152400">
                <a:moveTo>
                  <a:pt x="91440" y="0"/>
                </a:moveTo>
                <a:lnTo>
                  <a:pt x="1219200" y="0"/>
                </a:lnTo>
                <a:lnTo>
                  <a:pt x="1310640" y="152400"/>
                </a:lnTo>
                <a:lnTo>
                  <a:pt x="0" y="152400"/>
                </a:lnTo>
                <a:close/>
              </a:path>
            </a:pathLst>
          </a:custGeom>
          <a:solidFill xmlns:a="http://schemas.openxmlformats.org/drawingml/2006/main">
            <a:srgbClr val="ACD4F1"/>
          </a:solidFill>
          <a:ln xmlns:a="http://schemas.openxmlformats.org/drawingml/2006/main" w="15240">
            <a:solidFill>
              <a:srgbClr val="00355F"/>
            </a:solidFill>
          </a:ln>
        </p:spPr>
      </p:sp>
      <p:sp>
        <p:nvSpPr>
          <p:cNvPr id="387" name="Diagram path">
            <a:extLst xmlns:a="http://schemas.openxmlformats.org/drawingml/2006/main">
              <a:ext uri="{FF2B5EF4-FFF2-40B4-BE49-F238E27FC236}">
                <a16:creationId xmlns:a16="http://schemas.microsoft.com/office/drawing/2014/main" id="{740D5365-565D-4C54-BBE9-82F767494B8A}"/>
              </a:ext>
            </a:extLst>
          </p:cNvPr>
          <p:cNvSpPr>
            <a:spLocks xmlns:a="http://schemas.openxmlformats.org/drawingml/2006/main" noGrp="1"/>
          </p:cNvSpPr>
          <p:nvPr/>
        </p:nvSpPr>
        <p:spPr>
          <a:xfrm xmlns:a="http://schemas.openxmlformats.org/drawingml/2006/main">
            <a:off x="15654223" y="6149340"/>
            <a:ext cx="314554" cy="762"/>
          </a:xfrm>
          <a:custGeom xmlns:a="http://schemas.openxmlformats.org/drawingml/2006/main">
            <a:pathLst>
              <a:path w="314554" h="762">
                <a:moveTo>
                  <a:pt x="0" y="0"/>
                </a:moveTo>
                <a:lnTo>
                  <a:pt x="314554" y="0"/>
                </a:lnTo>
              </a:path>
            </a:pathLst>
          </a:custGeom>
          <a:noFill xmlns:a="http://schemas.openxmlformats.org/drawingml/2006/main"/>
          <a:ln xmlns:a="http://schemas.openxmlformats.org/drawingml/2006/main" w="15240">
            <a:solidFill>
              <a:srgbClr val="00355F"/>
            </a:solidFill>
          </a:ln>
        </p:spPr>
      </p:sp>
      <p:sp>
        <p:nvSpPr>
          <p:cNvPr id="388" name="Diagram path">
            <a:extLst xmlns:a="http://schemas.openxmlformats.org/drawingml/2006/main">
              <a:ext uri="{FF2B5EF4-FFF2-40B4-BE49-F238E27FC236}">
                <a16:creationId xmlns:a16="http://schemas.microsoft.com/office/drawing/2014/main" id="{26EC7238-14E7-4DFA-9A41-9A88A78A0BEB}"/>
              </a:ext>
            </a:extLst>
          </p:cNvPr>
          <p:cNvSpPr>
            <a:spLocks xmlns:a="http://schemas.openxmlformats.org/drawingml/2006/main" noGrp="1"/>
          </p:cNvSpPr>
          <p:nvPr/>
        </p:nvSpPr>
        <p:spPr>
          <a:xfrm xmlns:a="http://schemas.openxmlformats.org/drawingml/2006/main">
            <a:off x="15491460" y="5478780"/>
            <a:ext cx="358140" cy="76200"/>
          </a:xfrm>
          <a:custGeom xmlns:a="http://schemas.openxmlformats.org/drawingml/2006/main">
            <a:pathLst>
              <a:path w="358140" h="76200">
                <a:moveTo>
                  <a:pt x="0" y="76200"/>
                </a:moveTo>
                <a:lnTo>
                  <a:pt x="358140" y="0"/>
                </a:lnTo>
              </a:path>
            </a:pathLst>
          </a:custGeom>
          <a:noFill xmlns:a="http://schemas.openxmlformats.org/drawingml/2006/main"/>
          <a:ln xmlns:a="http://schemas.openxmlformats.org/drawingml/2006/main" w="11430">
            <a:solidFill>
              <a:srgbClr val="7399C6"/>
            </a:solidFill>
          </a:ln>
        </p:spPr>
      </p:sp>
      <p:sp>
        <p:nvSpPr>
          <p:cNvPr id="389" name="Diagram path">
            <a:extLst xmlns:a="http://schemas.openxmlformats.org/drawingml/2006/main">
              <a:ext uri="{FF2B5EF4-FFF2-40B4-BE49-F238E27FC236}">
                <a16:creationId xmlns:a16="http://schemas.microsoft.com/office/drawing/2014/main" id="{B86425BE-E43D-4E0F-BB9D-FCB8A1AB676B}"/>
              </a:ext>
            </a:extLst>
          </p:cNvPr>
          <p:cNvSpPr>
            <a:spLocks xmlns:a="http://schemas.openxmlformats.org/drawingml/2006/main" noGrp="1"/>
          </p:cNvSpPr>
          <p:nvPr/>
        </p:nvSpPr>
        <p:spPr>
          <a:xfrm xmlns:a="http://schemas.openxmlformats.org/drawingml/2006/main">
            <a:off x="15491460" y="5554980"/>
            <a:ext cx="358140" cy="160020"/>
          </a:xfrm>
          <a:custGeom xmlns:a="http://schemas.openxmlformats.org/drawingml/2006/main">
            <a:pathLst>
              <a:path w="358140" h="160020">
                <a:moveTo>
                  <a:pt x="0" y="0"/>
                </a:moveTo>
                <a:lnTo>
                  <a:pt x="358140" y="160020"/>
                </a:lnTo>
              </a:path>
            </a:pathLst>
          </a:custGeom>
          <a:noFill xmlns:a="http://schemas.openxmlformats.org/drawingml/2006/main"/>
          <a:ln xmlns:a="http://schemas.openxmlformats.org/drawingml/2006/main" w="11430">
            <a:solidFill>
              <a:srgbClr val="7399C6"/>
            </a:solidFill>
          </a:ln>
        </p:spPr>
      </p:sp>
      <p:sp>
        <p:nvSpPr>
          <p:cNvPr id="390" name="Diagram path">
            <a:extLst xmlns:a="http://schemas.openxmlformats.org/drawingml/2006/main">
              <a:ext uri="{FF2B5EF4-FFF2-40B4-BE49-F238E27FC236}">
                <a16:creationId xmlns:a16="http://schemas.microsoft.com/office/drawing/2014/main" id="{F78D8FD7-9E94-462F-8BF4-25B59E1B2BD8}"/>
              </a:ext>
            </a:extLst>
          </p:cNvPr>
          <p:cNvSpPr>
            <a:spLocks xmlns:a="http://schemas.openxmlformats.org/drawingml/2006/main" noGrp="1"/>
          </p:cNvSpPr>
          <p:nvPr/>
        </p:nvSpPr>
        <p:spPr>
          <a:xfrm xmlns:a="http://schemas.openxmlformats.org/drawingml/2006/main">
            <a:off x="15491460" y="5554980"/>
            <a:ext cx="358140" cy="373380"/>
          </a:xfrm>
          <a:custGeom xmlns:a="http://schemas.openxmlformats.org/drawingml/2006/main">
            <a:pathLst>
              <a:path w="358140" h="373380">
                <a:moveTo>
                  <a:pt x="0" y="0"/>
                </a:moveTo>
                <a:lnTo>
                  <a:pt x="358140" y="373380"/>
                </a:lnTo>
              </a:path>
            </a:pathLst>
          </a:custGeom>
          <a:noFill xmlns:a="http://schemas.openxmlformats.org/drawingml/2006/main"/>
          <a:ln xmlns:a="http://schemas.openxmlformats.org/drawingml/2006/main" w="11430">
            <a:solidFill>
              <a:srgbClr val="7399C6"/>
            </a:solidFill>
          </a:ln>
        </p:spPr>
      </p:sp>
      <p:sp>
        <p:nvSpPr>
          <p:cNvPr id="391" name="Diagram path">
            <a:extLst xmlns:a="http://schemas.openxmlformats.org/drawingml/2006/main">
              <a:ext uri="{FF2B5EF4-FFF2-40B4-BE49-F238E27FC236}">
                <a16:creationId xmlns:a16="http://schemas.microsoft.com/office/drawing/2014/main" id="{488C9305-A3BC-41A7-B6B7-B3E71AD0AE30}"/>
              </a:ext>
            </a:extLst>
          </p:cNvPr>
          <p:cNvSpPr>
            <a:spLocks xmlns:a="http://schemas.openxmlformats.org/drawingml/2006/main" noGrp="1"/>
          </p:cNvSpPr>
          <p:nvPr/>
        </p:nvSpPr>
        <p:spPr>
          <a:xfrm xmlns:a="http://schemas.openxmlformats.org/drawingml/2006/main">
            <a:off x="15491460" y="5478780"/>
            <a:ext cx="358140" cy="350520"/>
          </a:xfrm>
          <a:custGeom xmlns:a="http://schemas.openxmlformats.org/drawingml/2006/main">
            <a:pathLst>
              <a:path w="358140" h="350520">
                <a:moveTo>
                  <a:pt x="0" y="350520"/>
                </a:moveTo>
                <a:lnTo>
                  <a:pt x="358140" y="0"/>
                </a:lnTo>
              </a:path>
            </a:pathLst>
          </a:custGeom>
          <a:noFill xmlns:a="http://schemas.openxmlformats.org/drawingml/2006/main"/>
          <a:ln xmlns:a="http://schemas.openxmlformats.org/drawingml/2006/main" w="11430">
            <a:solidFill>
              <a:srgbClr val="7399C6"/>
            </a:solidFill>
          </a:ln>
        </p:spPr>
      </p:sp>
      <p:sp>
        <p:nvSpPr>
          <p:cNvPr id="392" name="Diagram path">
            <a:extLst xmlns:a="http://schemas.openxmlformats.org/drawingml/2006/main">
              <a:ext uri="{FF2B5EF4-FFF2-40B4-BE49-F238E27FC236}">
                <a16:creationId xmlns:a16="http://schemas.microsoft.com/office/drawing/2014/main" id="{12DEFEBB-ADAA-4FEE-A280-A55238089A8C}"/>
              </a:ext>
            </a:extLst>
          </p:cNvPr>
          <p:cNvSpPr>
            <a:spLocks xmlns:a="http://schemas.openxmlformats.org/drawingml/2006/main" noGrp="1"/>
          </p:cNvSpPr>
          <p:nvPr/>
        </p:nvSpPr>
        <p:spPr>
          <a:xfrm xmlns:a="http://schemas.openxmlformats.org/drawingml/2006/main">
            <a:off x="15491460" y="5715000"/>
            <a:ext cx="358140" cy="114300"/>
          </a:xfrm>
          <a:custGeom xmlns:a="http://schemas.openxmlformats.org/drawingml/2006/main">
            <a:pathLst>
              <a:path w="358140" h="114300">
                <a:moveTo>
                  <a:pt x="0" y="114300"/>
                </a:moveTo>
                <a:lnTo>
                  <a:pt x="358140" y="0"/>
                </a:lnTo>
              </a:path>
            </a:pathLst>
          </a:custGeom>
          <a:noFill xmlns:a="http://schemas.openxmlformats.org/drawingml/2006/main"/>
          <a:ln xmlns:a="http://schemas.openxmlformats.org/drawingml/2006/main" w="11430">
            <a:solidFill>
              <a:srgbClr val="7399C6"/>
            </a:solidFill>
          </a:ln>
        </p:spPr>
      </p:sp>
      <p:sp>
        <p:nvSpPr>
          <p:cNvPr id="393" name="Diagram path">
            <a:extLst xmlns:a="http://schemas.openxmlformats.org/drawingml/2006/main">
              <a:ext uri="{FF2B5EF4-FFF2-40B4-BE49-F238E27FC236}">
                <a16:creationId xmlns:a16="http://schemas.microsoft.com/office/drawing/2014/main" id="{69AFAD99-9B27-4796-88A7-AF8515D90D09}"/>
              </a:ext>
            </a:extLst>
          </p:cNvPr>
          <p:cNvSpPr>
            <a:spLocks xmlns:a="http://schemas.openxmlformats.org/drawingml/2006/main" noGrp="1"/>
          </p:cNvSpPr>
          <p:nvPr/>
        </p:nvSpPr>
        <p:spPr>
          <a:xfrm xmlns:a="http://schemas.openxmlformats.org/drawingml/2006/main">
            <a:off x="15491460" y="5829300"/>
            <a:ext cx="358140" cy="99060"/>
          </a:xfrm>
          <a:custGeom xmlns:a="http://schemas.openxmlformats.org/drawingml/2006/main">
            <a:pathLst>
              <a:path w="358140" h="99060">
                <a:moveTo>
                  <a:pt x="0" y="0"/>
                </a:moveTo>
                <a:lnTo>
                  <a:pt x="358140" y="99060"/>
                </a:lnTo>
              </a:path>
            </a:pathLst>
          </a:custGeom>
          <a:noFill xmlns:a="http://schemas.openxmlformats.org/drawingml/2006/main"/>
          <a:ln xmlns:a="http://schemas.openxmlformats.org/drawingml/2006/main" w="11430">
            <a:solidFill>
              <a:srgbClr val="7399C6"/>
            </a:solidFill>
          </a:ln>
        </p:spPr>
      </p:sp>
      <p:sp>
        <p:nvSpPr>
          <p:cNvPr id="394" name="Diagram path">
            <a:extLst xmlns:a="http://schemas.openxmlformats.org/drawingml/2006/main">
              <a:ext uri="{FF2B5EF4-FFF2-40B4-BE49-F238E27FC236}">
                <a16:creationId xmlns:a16="http://schemas.microsoft.com/office/drawing/2014/main" id="{1875FE2C-53CD-4A1F-BD6E-931AC8673D13}"/>
              </a:ext>
            </a:extLst>
          </p:cNvPr>
          <p:cNvSpPr>
            <a:spLocks xmlns:a="http://schemas.openxmlformats.org/drawingml/2006/main" noGrp="1"/>
          </p:cNvSpPr>
          <p:nvPr/>
        </p:nvSpPr>
        <p:spPr>
          <a:xfrm xmlns:a="http://schemas.openxmlformats.org/drawingml/2006/main">
            <a:off x="15849600" y="5478780"/>
            <a:ext cx="335280" cy="220980"/>
          </a:xfrm>
          <a:custGeom xmlns:a="http://schemas.openxmlformats.org/drawingml/2006/main">
            <a:pathLst>
              <a:path w="335280" h="220980">
                <a:moveTo>
                  <a:pt x="0" y="0"/>
                </a:moveTo>
                <a:lnTo>
                  <a:pt x="335280" y="220980"/>
                </a:lnTo>
              </a:path>
            </a:pathLst>
          </a:custGeom>
          <a:noFill xmlns:a="http://schemas.openxmlformats.org/drawingml/2006/main"/>
          <a:ln xmlns:a="http://schemas.openxmlformats.org/drawingml/2006/main" w="11430">
            <a:solidFill>
              <a:srgbClr val="7399C6"/>
            </a:solidFill>
          </a:ln>
        </p:spPr>
      </p:sp>
      <p:sp>
        <p:nvSpPr>
          <p:cNvPr id="395" name="Diagram path">
            <a:extLst xmlns:a="http://schemas.openxmlformats.org/drawingml/2006/main">
              <a:ext uri="{FF2B5EF4-FFF2-40B4-BE49-F238E27FC236}">
                <a16:creationId xmlns:a16="http://schemas.microsoft.com/office/drawing/2014/main" id="{D03C2268-0DB6-411A-9B79-908F31901CAA}"/>
              </a:ext>
            </a:extLst>
          </p:cNvPr>
          <p:cNvSpPr>
            <a:spLocks xmlns:a="http://schemas.openxmlformats.org/drawingml/2006/main" noGrp="1"/>
          </p:cNvSpPr>
          <p:nvPr/>
        </p:nvSpPr>
        <p:spPr>
          <a:xfrm xmlns:a="http://schemas.openxmlformats.org/drawingml/2006/main">
            <a:off x="15849600" y="5699760"/>
            <a:ext cx="335280" cy="15240"/>
          </a:xfrm>
          <a:custGeom xmlns:a="http://schemas.openxmlformats.org/drawingml/2006/main">
            <a:pathLst>
              <a:path w="335280" h="15240">
                <a:moveTo>
                  <a:pt x="0" y="15240"/>
                </a:moveTo>
                <a:lnTo>
                  <a:pt x="335280" y="0"/>
                </a:lnTo>
              </a:path>
            </a:pathLst>
          </a:custGeom>
          <a:noFill xmlns:a="http://schemas.openxmlformats.org/drawingml/2006/main"/>
          <a:ln xmlns:a="http://schemas.openxmlformats.org/drawingml/2006/main" w="11430">
            <a:solidFill>
              <a:srgbClr val="7399C6"/>
            </a:solidFill>
          </a:ln>
        </p:spPr>
      </p:sp>
      <p:sp>
        <p:nvSpPr>
          <p:cNvPr id="396" name="Diagram path">
            <a:extLst xmlns:a="http://schemas.openxmlformats.org/drawingml/2006/main">
              <a:ext uri="{FF2B5EF4-FFF2-40B4-BE49-F238E27FC236}">
                <a16:creationId xmlns:a16="http://schemas.microsoft.com/office/drawing/2014/main" id="{387A20BE-F6F9-4D74-8F78-61D50E8379EE}"/>
              </a:ext>
            </a:extLst>
          </p:cNvPr>
          <p:cNvSpPr>
            <a:spLocks xmlns:a="http://schemas.openxmlformats.org/drawingml/2006/main" noGrp="1"/>
          </p:cNvSpPr>
          <p:nvPr/>
        </p:nvSpPr>
        <p:spPr>
          <a:xfrm xmlns:a="http://schemas.openxmlformats.org/drawingml/2006/main">
            <a:off x="15849600" y="5699760"/>
            <a:ext cx="335280" cy="228600"/>
          </a:xfrm>
          <a:custGeom xmlns:a="http://schemas.openxmlformats.org/drawingml/2006/main">
            <a:pathLst>
              <a:path w="335280" h="228600">
                <a:moveTo>
                  <a:pt x="0" y="228600"/>
                </a:moveTo>
                <a:lnTo>
                  <a:pt x="335280" y="0"/>
                </a:lnTo>
              </a:path>
            </a:pathLst>
          </a:custGeom>
          <a:noFill xmlns:a="http://schemas.openxmlformats.org/drawingml/2006/main"/>
          <a:ln xmlns:a="http://schemas.openxmlformats.org/drawingml/2006/main" w="11430">
            <a:solidFill>
              <a:srgbClr val="7399C6"/>
            </a:solidFill>
          </a:ln>
        </p:spPr>
      </p:sp>
      <p:sp>
        <p:nvSpPr>
          <p:cNvPr id="397" name="">
            <a:extLst xmlns:a="http://schemas.openxmlformats.org/drawingml/2006/main">
              <a:ext uri="{FF2B5EF4-FFF2-40B4-BE49-F238E27FC236}">
                <a16:creationId xmlns:a16="http://schemas.microsoft.com/office/drawing/2014/main" id="{C589A8C9-B0F1-47B4-ABB4-E345775CE573}"/>
              </a:ext>
            </a:extLst>
          </p:cNvPr>
          <p:cNvSpPr>
            <a:spLocks xmlns:a="http://schemas.openxmlformats.org/drawingml/2006/main" noGrp="1"/>
          </p:cNvSpPr>
          <p:nvPr/>
        </p:nvSpPr>
        <p:spPr>
          <a:xfrm xmlns:a="http://schemas.openxmlformats.org/drawingml/2006/main">
            <a:off x="15453360" y="551688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98" name="">
            <a:extLst xmlns:a="http://schemas.openxmlformats.org/drawingml/2006/main">
              <a:ext uri="{FF2B5EF4-FFF2-40B4-BE49-F238E27FC236}">
                <a16:creationId xmlns:a16="http://schemas.microsoft.com/office/drawing/2014/main" id="{0CF22149-E834-44AE-A1F0-B697663D5F63}"/>
              </a:ext>
            </a:extLst>
          </p:cNvPr>
          <p:cNvSpPr>
            <a:spLocks xmlns:a="http://schemas.openxmlformats.org/drawingml/2006/main" noGrp="1"/>
          </p:cNvSpPr>
          <p:nvPr/>
        </p:nvSpPr>
        <p:spPr>
          <a:xfrm xmlns:a="http://schemas.openxmlformats.org/drawingml/2006/main">
            <a:off x="15453360" y="57912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99" name="">
            <a:extLst xmlns:a="http://schemas.openxmlformats.org/drawingml/2006/main">
              <a:ext uri="{FF2B5EF4-FFF2-40B4-BE49-F238E27FC236}">
                <a16:creationId xmlns:a16="http://schemas.microsoft.com/office/drawing/2014/main" id="{50D7CE9B-D793-4E6E-980A-4AA04B27D778}"/>
              </a:ext>
            </a:extLst>
          </p:cNvPr>
          <p:cNvSpPr>
            <a:spLocks xmlns:a="http://schemas.openxmlformats.org/drawingml/2006/main" noGrp="1"/>
          </p:cNvSpPr>
          <p:nvPr/>
        </p:nvSpPr>
        <p:spPr>
          <a:xfrm xmlns:a="http://schemas.openxmlformats.org/drawingml/2006/main">
            <a:off x="15811500" y="544068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400" name="">
            <a:extLst xmlns:a="http://schemas.openxmlformats.org/drawingml/2006/main">
              <a:ext uri="{FF2B5EF4-FFF2-40B4-BE49-F238E27FC236}">
                <a16:creationId xmlns:a16="http://schemas.microsoft.com/office/drawing/2014/main" id="{CC31269F-5181-4F8C-B590-34734DE5F50F}"/>
              </a:ext>
            </a:extLst>
          </p:cNvPr>
          <p:cNvSpPr>
            <a:spLocks xmlns:a="http://schemas.openxmlformats.org/drawingml/2006/main" noGrp="1"/>
          </p:cNvSpPr>
          <p:nvPr/>
        </p:nvSpPr>
        <p:spPr>
          <a:xfrm xmlns:a="http://schemas.openxmlformats.org/drawingml/2006/main">
            <a:off x="15811500" y="56769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401" name="">
            <a:extLst xmlns:a="http://schemas.openxmlformats.org/drawingml/2006/main">
              <a:ext uri="{FF2B5EF4-FFF2-40B4-BE49-F238E27FC236}">
                <a16:creationId xmlns:a16="http://schemas.microsoft.com/office/drawing/2014/main" id="{64622356-2819-46A7-B852-6DD78C989A68}"/>
              </a:ext>
            </a:extLst>
          </p:cNvPr>
          <p:cNvSpPr>
            <a:spLocks xmlns:a="http://schemas.openxmlformats.org/drawingml/2006/main" noGrp="1"/>
          </p:cNvSpPr>
          <p:nvPr/>
        </p:nvSpPr>
        <p:spPr>
          <a:xfrm xmlns:a="http://schemas.openxmlformats.org/drawingml/2006/main">
            <a:off x="15811500" y="589026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402" name="">
            <a:extLst xmlns:a="http://schemas.openxmlformats.org/drawingml/2006/main">
              <a:ext uri="{FF2B5EF4-FFF2-40B4-BE49-F238E27FC236}">
                <a16:creationId xmlns:a16="http://schemas.microsoft.com/office/drawing/2014/main" id="{8C049EDC-3E54-4FA3-A01D-C0FFEB598429}"/>
              </a:ext>
            </a:extLst>
          </p:cNvPr>
          <p:cNvSpPr>
            <a:spLocks xmlns:a="http://schemas.openxmlformats.org/drawingml/2006/main" noGrp="1"/>
          </p:cNvSpPr>
          <p:nvPr/>
        </p:nvSpPr>
        <p:spPr>
          <a:xfrm xmlns:a="http://schemas.openxmlformats.org/drawingml/2006/main">
            <a:off x="16146780" y="566166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403" name="Diagram path">
            <a:extLst xmlns:a="http://schemas.openxmlformats.org/drawingml/2006/main">
              <a:ext uri="{FF2B5EF4-FFF2-40B4-BE49-F238E27FC236}">
                <a16:creationId xmlns:a16="http://schemas.microsoft.com/office/drawing/2014/main" id="{DE9076FC-ED79-4A44-8B1C-086C0FF98BAC}"/>
              </a:ext>
            </a:extLst>
          </p:cNvPr>
          <p:cNvSpPr>
            <a:spLocks xmlns:a="http://schemas.openxmlformats.org/drawingml/2006/main" noGrp="1"/>
          </p:cNvSpPr>
          <p:nvPr/>
        </p:nvSpPr>
        <p:spPr>
          <a:xfrm xmlns:a="http://schemas.openxmlformats.org/drawingml/2006/main">
            <a:off x="16527780" y="5745480"/>
            <a:ext cx="213360" cy="762"/>
          </a:xfrm>
          <a:custGeom xmlns:a="http://schemas.openxmlformats.org/drawingml/2006/main">
            <a:pathLst>
              <a:path w="213360" h="762">
                <a:moveTo>
                  <a:pt x="0" y="0"/>
                </a:moveTo>
                <a:lnTo>
                  <a:pt x="213360" y="0"/>
                </a:lnTo>
              </a:path>
            </a:pathLst>
          </a:custGeom>
          <a:noFill xmlns:a="http://schemas.openxmlformats.org/drawingml/2006/main"/>
          <a:ln xmlns:a="http://schemas.openxmlformats.org/drawingml/2006/main" w="19050">
            <a:solidFill>
              <a:srgbClr val="7399C6"/>
            </a:solidFill>
          </a:ln>
        </p:spPr>
      </p:sp>
      <p:sp>
        <p:nvSpPr>
          <p:cNvPr id="404" name="Diagram path">
            <a:extLst xmlns:a="http://schemas.openxmlformats.org/drawingml/2006/main">
              <a:ext uri="{FF2B5EF4-FFF2-40B4-BE49-F238E27FC236}">
                <a16:creationId xmlns:a16="http://schemas.microsoft.com/office/drawing/2014/main" id="{FEEA52DB-B493-49AD-91F7-9AF2EC7D59A1}"/>
              </a:ext>
            </a:extLst>
          </p:cNvPr>
          <p:cNvSpPr>
            <a:spLocks xmlns:a="http://schemas.openxmlformats.org/drawingml/2006/main" noGrp="1"/>
          </p:cNvSpPr>
          <p:nvPr/>
        </p:nvSpPr>
        <p:spPr>
          <a:xfrm xmlns:a="http://schemas.openxmlformats.org/drawingml/2006/main">
            <a:off x="16682674" y="5709634"/>
            <a:ext cx="58466" cy="71692"/>
          </a:xfrm>
          <a:custGeom xmlns:a="http://schemas.openxmlformats.org/drawingml/2006/main">
            <a:pathLst>
              <a:path w="58466" h="71692">
                <a:moveTo>
                  <a:pt x="58466" y="35846"/>
                </a:moveTo>
                <a:lnTo>
                  <a:pt x="0" y="71692"/>
                </a:lnTo>
                <a:lnTo>
                  <a:pt x="0" y="0"/>
                </a:lnTo>
                <a:close/>
              </a:path>
            </a:pathLst>
          </a:custGeom>
          <a:solidFill xmlns:a="http://schemas.openxmlformats.org/drawingml/2006/main">
            <a:srgbClr val="7399C6"/>
          </a:solidFill>
          <a:ln xmlns:a="http://schemas.openxmlformats.org/drawingml/2006/main" w="0">
            <a:noFill/>
          </a:ln>
        </p:spPr>
      </p:sp>
      <p:sp>
        <p:nvSpPr>
          <p:cNvPr id="405" name="Next">
            <a:extLst xmlns:a="http://schemas.openxmlformats.org/drawingml/2006/main">
              <a:ext uri="{FF2B5EF4-FFF2-40B4-BE49-F238E27FC236}">
                <a16:creationId xmlns:a16="http://schemas.microsoft.com/office/drawing/2014/main" id="{B4AFFB9D-F2A4-4885-8BE0-7FB3019C6890}"/>
              </a:ext>
            </a:extLst>
          </p:cNvPr>
          <p:cNvSpPr>
            <a:spLocks xmlns:a="http://schemas.openxmlformats.org/drawingml/2006/main" noGrp="1"/>
          </p:cNvSpPr>
          <p:nvPr/>
        </p:nvSpPr>
        <p:spPr>
          <a:xfrm xmlns:a="http://schemas.openxmlformats.org/drawingml/2006/main">
            <a:off x="16779240" y="5455920"/>
            <a:ext cx="533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Next</a:t>
            </a:r>
          </a:p>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DNA</a:t>
            </a:r>
          </a:p>
        </p:txBody>
      </p:sp>
      <p:sp>
        <p:nvSpPr>
          <p:cNvPr id="406" name="Flat experiment component">
            <a:extLst xmlns:a="http://schemas.openxmlformats.org/drawingml/2006/main">
              <a:ext uri="{FF2B5EF4-FFF2-40B4-BE49-F238E27FC236}">
                <a16:creationId xmlns:a16="http://schemas.microsoft.com/office/drawing/2014/main" id="{BC2EC9EA-941E-456B-9CB7-34E8325A90C5}"/>
              </a:ext>
            </a:extLst>
          </p:cNvPr>
          <p:cNvSpPr>
            <a:spLocks xmlns:a="http://schemas.openxmlformats.org/drawingml/2006/main" noGrp="1"/>
          </p:cNvSpPr>
          <p:nvPr/>
        </p:nvSpPr>
        <p:spPr>
          <a:xfrm xmlns:a="http://schemas.openxmlformats.org/drawingml/2006/main">
            <a:off x="16931640" y="5935980"/>
            <a:ext cx="175260" cy="68580"/>
          </a:xfrm>
          <a:prstGeom xmlns:a="http://schemas.openxmlformats.org/drawingml/2006/main" prst="roundRect">
            <a:avLst>
              <a:gd name="adj" fmla="val 22222"/>
            </a:avLst>
          </a:prstGeom>
          <a:solidFill xmlns:a="http://schemas.openxmlformats.org/drawingml/2006/main">
            <a:srgbClr val="7399C6"/>
          </a:solidFill>
          <a:ln xmlns:a="http://schemas.openxmlformats.org/drawingml/2006/main" w="13716">
            <a:solidFill>
              <a:srgbClr val="00355F"/>
            </a:solidFill>
          </a:ln>
        </p:spPr>
      </p:sp>
      <p:sp>
        <p:nvSpPr>
          <p:cNvPr id="407" name="Diagram path">
            <a:extLst xmlns:a="http://schemas.openxmlformats.org/drawingml/2006/main">
              <a:ext uri="{FF2B5EF4-FFF2-40B4-BE49-F238E27FC236}">
                <a16:creationId xmlns:a16="http://schemas.microsoft.com/office/drawing/2014/main" id="{C8E024E5-31D3-4ED3-A078-1136E1E840C8}"/>
              </a:ext>
            </a:extLst>
          </p:cNvPr>
          <p:cNvSpPr>
            <a:spLocks xmlns:a="http://schemas.openxmlformats.org/drawingml/2006/main" noGrp="1"/>
          </p:cNvSpPr>
          <p:nvPr/>
        </p:nvSpPr>
        <p:spPr>
          <a:xfrm xmlns:a="http://schemas.openxmlformats.org/drawingml/2006/main">
            <a:off x="16954500" y="6004560"/>
            <a:ext cx="129540" cy="274320"/>
          </a:xfrm>
          <a:custGeom xmlns:a="http://schemas.openxmlformats.org/drawingml/2006/main">
            <a:pathLst>
              <a:path w="129540" h="274320">
                <a:moveTo>
                  <a:pt x="0" y="0"/>
                </a:moveTo>
                <a:lnTo>
                  <a:pt x="129540" y="0"/>
                </a:lnTo>
                <a:lnTo>
                  <a:pt x="129540" y="175260"/>
                </a:lnTo>
                <a:lnTo>
                  <a:pt x="68580" y="274320"/>
                </a:lnTo>
                <a:lnTo>
                  <a:pt x="0" y="175260"/>
                </a:lnTo>
                <a:close/>
              </a:path>
            </a:pathLst>
          </a:custGeom>
          <a:solidFill xmlns:a="http://schemas.openxmlformats.org/drawingml/2006/main">
            <a:srgbClr val="FFFFFF"/>
          </a:solidFill>
          <a:ln xmlns:a="http://schemas.openxmlformats.org/drawingml/2006/main" w="15240">
            <a:solidFill>
              <a:srgbClr val="00355F"/>
            </a:solidFill>
          </a:ln>
        </p:spPr>
      </p:sp>
      <p:sp>
        <p:nvSpPr>
          <p:cNvPr id="408" name="Diagram path">
            <a:extLst xmlns:a="http://schemas.openxmlformats.org/drawingml/2006/main">
              <a:ext uri="{FF2B5EF4-FFF2-40B4-BE49-F238E27FC236}">
                <a16:creationId xmlns:a16="http://schemas.microsoft.com/office/drawing/2014/main" id="{013AEC87-C2AD-424A-98FF-97A7CE3A25BF}"/>
              </a:ext>
            </a:extLst>
          </p:cNvPr>
          <p:cNvSpPr>
            <a:spLocks xmlns:a="http://schemas.openxmlformats.org/drawingml/2006/main" noGrp="1"/>
          </p:cNvSpPr>
          <p:nvPr/>
        </p:nvSpPr>
        <p:spPr>
          <a:xfrm xmlns:a="http://schemas.openxmlformats.org/drawingml/2006/main">
            <a:off x="16969740" y="6114288"/>
            <a:ext cx="99060" cy="134112"/>
          </a:xfrm>
          <a:custGeom xmlns:a="http://schemas.openxmlformats.org/drawingml/2006/main">
            <a:pathLst>
              <a:path w="99060" h="134112">
                <a:moveTo>
                  <a:pt x="0" y="0"/>
                </a:moveTo>
                <a:lnTo>
                  <a:pt x="99060" y="0"/>
                </a:lnTo>
                <a:lnTo>
                  <a:pt x="99060" y="57912"/>
                </a:lnTo>
                <a:lnTo>
                  <a:pt x="53340" y="134112"/>
                </a:lnTo>
                <a:lnTo>
                  <a:pt x="0" y="57912"/>
                </a:lnTo>
                <a:close/>
              </a:path>
            </a:pathLst>
          </a:custGeom>
          <a:solidFill xmlns:a="http://schemas.openxmlformats.org/drawingml/2006/main">
            <a:srgbClr val="ACD4F1"/>
          </a:solidFill>
          <a:ln xmlns:a="http://schemas.openxmlformats.org/drawingml/2006/main" w="0">
            <a:noFill/>
          </a:ln>
        </p:spPr>
      </p:sp>
      <p:sp>
        <p:nvSpPr>
          <p:cNvPr id="409" name="Model-guided design">
            <a:extLst xmlns:a="http://schemas.openxmlformats.org/drawingml/2006/main">
              <a:ext uri="{FF2B5EF4-FFF2-40B4-BE49-F238E27FC236}">
                <a16:creationId xmlns:a16="http://schemas.microsoft.com/office/drawing/2014/main" id="{BEFA2AE9-BA11-45E3-B5AB-5B7C2662D8DD}"/>
              </a:ext>
            </a:extLst>
          </p:cNvPr>
          <p:cNvSpPr>
            <a:spLocks xmlns:a="http://schemas.openxmlformats.org/drawingml/2006/main" noGrp="1"/>
          </p:cNvSpPr>
          <p:nvPr/>
        </p:nvSpPr>
        <p:spPr>
          <a:xfrm xmlns:a="http://schemas.openxmlformats.org/drawingml/2006/main">
            <a:off x="15057120" y="6370320"/>
            <a:ext cx="14554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020" b="1">
                <a:solidFill>
                  <a:srgbClr val="00355F"/>
                </a:solidFill>
                <a:latin typeface="Arial"/>
                <a:ea typeface="Arial"/>
                <a:cs typeface="Arial"/>
              </a:defRPr>
            </a:defPPr>
          </a:lstStyle>
          <a:p xmlns:a="http://schemas.openxmlformats.org/drawingml/2006/main">
            <a:pPr algn="ctr">
              <a:lnSpc>
                <a:spcPct val="100000"/>
              </a:lnSpc>
              <a:buNone/>
              <a:defRPr sz="1020" b="1">
                <a:solidFill>
                  <a:srgbClr val="00355F"/>
                </a:solidFill>
                <a:latin typeface="Arial"/>
                <a:ea typeface="Arial"/>
                <a:cs typeface="Arial"/>
              </a:defRPr>
            </a:pPr>
            <a:r>
              <a:rPr sz="1020" b="1">
                <a:solidFill>
                  <a:srgbClr val="00355F"/>
                </a:solidFill>
                <a:latin typeface="Arial"/>
                <a:ea typeface="Arial"/>
                <a:cs typeface="Arial"/>
              </a:rPr>
              <a:t>Model-guided design</a:t>
            </a:r>
          </a:p>
        </p:txBody>
      </p:sp>
      <p:sp>
        <p:nvSpPr>
          <p:cNvPr id="410" name="Flat experiment component">
            <a:extLst xmlns:a="http://schemas.openxmlformats.org/drawingml/2006/main">
              <a:ext uri="{FF2B5EF4-FFF2-40B4-BE49-F238E27FC236}">
                <a16:creationId xmlns:a16="http://schemas.microsoft.com/office/drawing/2014/main" id="{AA2B8A7C-4829-46D2-A1F5-DBCEBA6DAC88}"/>
              </a:ext>
            </a:extLst>
          </p:cNvPr>
          <p:cNvSpPr>
            <a:spLocks xmlns:a="http://schemas.openxmlformats.org/drawingml/2006/main" noGrp="1"/>
          </p:cNvSpPr>
          <p:nvPr/>
        </p:nvSpPr>
        <p:spPr>
          <a:xfrm xmlns:a="http://schemas.openxmlformats.org/drawingml/2006/main">
            <a:off x="15011400" y="6758940"/>
            <a:ext cx="2362200" cy="373380"/>
          </a:xfrm>
          <a:prstGeom xmlns:a="http://schemas.openxmlformats.org/drawingml/2006/main" prst="roundRect">
            <a:avLst>
              <a:gd name="adj" fmla="val 10204"/>
            </a:avLst>
          </a:prstGeom>
          <a:solidFill xmlns:a="http://schemas.openxmlformats.org/drawingml/2006/main">
            <a:srgbClr val="ACD4F1"/>
          </a:solidFill>
          <a:ln xmlns:a="http://schemas.openxmlformats.org/drawingml/2006/main" w="0">
            <a:noFill/>
          </a:ln>
        </p:spPr>
      </p:sp>
      <p:sp>
        <p:nvSpPr>
          <p:cNvPr id="411" name="Traceable training data">
            <a:extLst xmlns:a="http://schemas.openxmlformats.org/drawingml/2006/main">
              <a:ext uri="{FF2B5EF4-FFF2-40B4-BE49-F238E27FC236}">
                <a16:creationId xmlns:a16="http://schemas.microsoft.com/office/drawing/2014/main" id="{7FBDA2E9-A816-4706-94C7-8C23E06F4FE6}"/>
              </a:ext>
            </a:extLst>
          </p:cNvPr>
          <p:cNvSpPr>
            <a:spLocks xmlns:a="http://schemas.openxmlformats.org/drawingml/2006/main" noGrp="1"/>
          </p:cNvSpPr>
          <p:nvPr/>
        </p:nvSpPr>
        <p:spPr>
          <a:xfrm xmlns:a="http://schemas.openxmlformats.org/drawingml/2006/main">
            <a:off x="15079980" y="6858000"/>
            <a:ext cx="2225040" cy="198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Traceable training data</a:t>
            </a:r>
          </a:p>
        </p:txBody>
      </p:sp>
      <p:sp>
        <p:nvSpPr>
          <p:cNvPr id="412" name="Diagram path">
            <a:extLst xmlns:a="http://schemas.openxmlformats.org/drawingml/2006/main">
              <a:ext uri="{FF2B5EF4-FFF2-40B4-BE49-F238E27FC236}">
                <a16:creationId xmlns:a16="http://schemas.microsoft.com/office/drawing/2014/main" id="{0974848C-3D84-44F0-9CBF-671C406BCA66}"/>
              </a:ext>
            </a:extLst>
          </p:cNvPr>
          <p:cNvSpPr>
            <a:spLocks xmlns:a="http://schemas.openxmlformats.org/drawingml/2006/main" noGrp="1"/>
          </p:cNvSpPr>
          <p:nvPr/>
        </p:nvSpPr>
        <p:spPr>
          <a:xfrm xmlns:a="http://schemas.openxmlformats.org/drawingml/2006/main">
            <a:off x="15026640" y="7284720"/>
            <a:ext cx="2331720" cy="762"/>
          </a:xfrm>
          <a:custGeom xmlns:a="http://schemas.openxmlformats.org/drawingml/2006/main">
            <a:pathLst>
              <a:path w="2331720" h="762">
                <a:moveTo>
                  <a:pt x="0" y="0"/>
                </a:moveTo>
                <a:lnTo>
                  <a:pt x="2331720" y="0"/>
                </a:lnTo>
              </a:path>
            </a:pathLst>
          </a:custGeom>
          <a:noFill xmlns:a="http://schemas.openxmlformats.org/drawingml/2006/main"/>
          <a:ln xmlns:a="http://schemas.openxmlformats.org/drawingml/2006/main" w="7620">
            <a:solidFill>
              <a:srgbClr val="A5A5A5"/>
            </a:solidFill>
          </a:ln>
        </p:spPr>
      </p:sp>
      <p:sp>
        <p:nvSpPr>
          <p:cNvPr id="413" name="REPRESENTATIVE SUPPLIERS">
            <a:extLst xmlns:a="http://schemas.openxmlformats.org/drawingml/2006/main">
              <a:ext uri="{FF2B5EF4-FFF2-40B4-BE49-F238E27FC236}">
                <a16:creationId xmlns:a16="http://schemas.microsoft.com/office/drawing/2014/main" id="{1713F082-8D57-45DF-BA23-0D4F9BED569C}"/>
              </a:ext>
            </a:extLst>
          </p:cNvPr>
          <p:cNvSpPr>
            <a:spLocks xmlns:a="http://schemas.openxmlformats.org/drawingml/2006/main" noGrp="1"/>
          </p:cNvSpPr>
          <p:nvPr/>
        </p:nvSpPr>
        <p:spPr>
          <a:xfrm xmlns:a="http://schemas.openxmlformats.org/drawingml/2006/main">
            <a:off x="15026640" y="7437120"/>
            <a:ext cx="233172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00355F"/>
                </a:solidFill>
                <a:latin typeface="Arial"/>
                <a:ea typeface="Arial"/>
                <a:cs typeface="Arial"/>
              </a:defRPr>
            </a:defPPr>
          </a:lstStyle>
          <a:p xmlns:a="http://schemas.openxmlformats.org/drawingml/2006/main">
            <a:pPr algn="l">
              <a:lnSpc>
                <a:spcPct val="100000"/>
              </a:lnSpc>
              <a:buNone/>
              <a:defRPr sz="900" b="1">
                <a:solidFill>
                  <a:srgbClr val="00355F"/>
                </a:solidFill>
                <a:latin typeface="Arial"/>
                <a:ea typeface="Arial"/>
                <a:cs typeface="Arial"/>
              </a:defRPr>
            </a:pPr>
            <a:r>
              <a:rPr sz="900" b="1">
                <a:solidFill>
                  <a:srgbClr val="00355F"/>
                </a:solidFill>
                <a:latin typeface="Arial"/>
                <a:ea typeface="Arial"/>
                <a:cs typeface="Arial"/>
              </a:rPr>
              <a:t>REPRESENTATIVE SUPPLIERS</a:t>
            </a:r>
          </a:p>
        </p:txBody>
      </p:sp>
      <p:sp>
        <p:nvSpPr>
          <p:cNvPr id="414" name="Automation">
            <a:extLst xmlns:a="http://schemas.openxmlformats.org/drawingml/2006/main">
              <a:ext uri="{FF2B5EF4-FFF2-40B4-BE49-F238E27FC236}">
                <a16:creationId xmlns:a16="http://schemas.microsoft.com/office/drawing/2014/main" id="{42999957-15EC-4A3C-ABB1-9D845E39EA3A}"/>
              </a:ext>
            </a:extLst>
          </p:cNvPr>
          <p:cNvSpPr>
            <a:spLocks xmlns:a="http://schemas.openxmlformats.org/drawingml/2006/main" noGrp="1"/>
          </p:cNvSpPr>
          <p:nvPr/>
        </p:nvSpPr>
        <p:spPr>
          <a:xfrm xmlns:a="http://schemas.openxmlformats.org/drawingml/2006/main">
            <a:off x="15026640" y="77038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Automation</a:t>
            </a:r>
          </a:p>
        </p:txBody>
      </p:sp>
      <p:sp>
        <p:nvSpPr>
          <p:cNvPr id="415" name="Tecan · Hamilton">
            <a:extLst xmlns:a="http://schemas.openxmlformats.org/drawingml/2006/main">
              <a:ext uri="{FF2B5EF4-FFF2-40B4-BE49-F238E27FC236}">
                <a16:creationId xmlns:a16="http://schemas.microsoft.com/office/drawing/2014/main" id="{0DF82EEC-614F-453D-BDCF-4186EC8A4BC5}"/>
              </a:ext>
            </a:extLst>
          </p:cNvPr>
          <p:cNvSpPr>
            <a:spLocks xmlns:a="http://schemas.openxmlformats.org/drawingml/2006/main" noGrp="1"/>
          </p:cNvSpPr>
          <p:nvPr/>
        </p:nvSpPr>
        <p:spPr>
          <a:xfrm xmlns:a="http://schemas.openxmlformats.org/drawingml/2006/main">
            <a:off x="15026640" y="78714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Tecan · Hamilton</a:t>
            </a:r>
          </a:p>
        </p:txBody>
      </p:sp>
      <p:sp>
        <p:nvSpPr>
          <p:cNvPr id="416" name="ELN / LIMS / data">
            <a:extLst xmlns:a="http://schemas.openxmlformats.org/drawingml/2006/main">
              <a:ext uri="{FF2B5EF4-FFF2-40B4-BE49-F238E27FC236}">
                <a16:creationId xmlns:a16="http://schemas.microsoft.com/office/drawing/2014/main" id="{4D46AE95-6B11-486B-8F42-6BFF9C2C68E0}"/>
              </a:ext>
            </a:extLst>
          </p:cNvPr>
          <p:cNvSpPr>
            <a:spLocks xmlns:a="http://schemas.openxmlformats.org/drawingml/2006/main" noGrp="1"/>
          </p:cNvSpPr>
          <p:nvPr/>
        </p:nvSpPr>
        <p:spPr>
          <a:xfrm xmlns:a="http://schemas.openxmlformats.org/drawingml/2006/main">
            <a:off x="15026640" y="8122920"/>
            <a:ext cx="233172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00" b="1">
                <a:solidFill>
                  <a:srgbClr val="7399C6"/>
                </a:solidFill>
                <a:latin typeface="Arial"/>
                <a:ea typeface="Arial"/>
                <a:cs typeface="Arial"/>
              </a:defRPr>
            </a:defPPr>
          </a:lstStyle>
          <a:p xmlns:a="http://schemas.openxmlformats.org/drawingml/2006/main">
            <a:pPr algn="l">
              <a:lnSpc>
                <a:spcPct val="100000"/>
              </a:lnSpc>
              <a:buNone/>
              <a:defRPr sz="900" b="1">
                <a:solidFill>
                  <a:srgbClr val="7399C6"/>
                </a:solidFill>
                <a:latin typeface="Arial"/>
                <a:ea typeface="Arial"/>
                <a:cs typeface="Arial"/>
              </a:defRPr>
            </a:pPr>
            <a:r>
              <a:rPr sz="900" b="1">
                <a:solidFill>
                  <a:srgbClr val="7399C6"/>
                </a:solidFill>
                <a:latin typeface="Arial"/>
                <a:ea typeface="Arial"/>
                <a:cs typeface="Arial"/>
              </a:rPr>
              <a:t>ELN / LIMS / data</a:t>
            </a:r>
          </a:p>
        </p:txBody>
      </p:sp>
      <p:sp>
        <p:nvSpPr>
          <p:cNvPr id="417" name="Benchling · Genedata">
            <a:extLst xmlns:a="http://schemas.openxmlformats.org/drawingml/2006/main">
              <a:ext uri="{FF2B5EF4-FFF2-40B4-BE49-F238E27FC236}">
                <a16:creationId xmlns:a16="http://schemas.microsoft.com/office/drawing/2014/main" id="{FDA1CC7E-C1E1-4F53-980D-6D3812DD373A}"/>
              </a:ext>
            </a:extLst>
          </p:cNvPr>
          <p:cNvSpPr>
            <a:spLocks xmlns:a="http://schemas.openxmlformats.org/drawingml/2006/main" noGrp="1"/>
          </p:cNvSpPr>
          <p:nvPr/>
        </p:nvSpPr>
        <p:spPr>
          <a:xfrm xmlns:a="http://schemas.openxmlformats.org/drawingml/2006/main">
            <a:off x="15026640" y="8290560"/>
            <a:ext cx="233172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Benchling · Genedata</a:t>
            </a:r>
          </a:p>
        </p:txBody>
      </p:sp>
      <p:sp>
        <p:nvSpPr>
          <p:cNvPr id="418" name="Diagram path">
            <a:extLst xmlns:a="http://schemas.openxmlformats.org/drawingml/2006/main">
              <a:ext uri="{FF2B5EF4-FFF2-40B4-BE49-F238E27FC236}">
                <a16:creationId xmlns:a16="http://schemas.microsoft.com/office/drawing/2014/main" id="{7934FEB6-830B-4795-BD6E-412CA0485E1B}"/>
              </a:ext>
            </a:extLst>
          </p:cNvPr>
          <p:cNvSpPr>
            <a:spLocks xmlns:a="http://schemas.openxmlformats.org/drawingml/2006/main" noGrp="1"/>
          </p:cNvSpPr>
          <p:nvPr/>
        </p:nvSpPr>
        <p:spPr>
          <a:xfrm xmlns:a="http://schemas.openxmlformats.org/drawingml/2006/main">
            <a:off x="2110740" y="8724900"/>
            <a:ext cx="14081760" cy="175260"/>
          </a:xfrm>
          <a:custGeom xmlns:a="http://schemas.openxmlformats.org/drawingml/2006/main">
            <a:pathLst>
              <a:path w="14081760" h="175260">
                <a:moveTo>
                  <a:pt x="14081760" y="0"/>
                </a:moveTo>
                <a:lnTo>
                  <a:pt x="14081760" y="175260"/>
                </a:lnTo>
                <a:lnTo>
                  <a:pt x="0" y="175260"/>
                </a:lnTo>
                <a:lnTo>
                  <a:pt x="0" y="0"/>
                </a:lnTo>
              </a:path>
            </a:pathLst>
          </a:custGeom>
          <a:noFill xmlns:a="http://schemas.openxmlformats.org/drawingml/2006/main"/>
          <a:ln xmlns:a="http://schemas.openxmlformats.org/drawingml/2006/main" w="15240">
            <a:solidFill>
              <a:srgbClr val="7399C6"/>
            </a:solidFill>
          </a:ln>
        </p:spPr>
      </p:sp>
      <p:sp>
        <p:nvSpPr>
          <p:cNvPr id="419" name="Diagram path">
            <a:extLst xmlns:a="http://schemas.openxmlformats.org/drawingml/2006/main">
              <a:ext uri="{FF2B5EF4-FFF2-40B4-BE49-F238E27FC236}">
                <a16:creationId xmlns:a16="http://schemas.microsoft.com/office/drawing/2014/main" id="{9ACD5311-897A-4F07-BB63-5FB0E8B27523}"/>
              </a:ext>
            </a:extLst>
          </p:cNvPr>
          <p:cNvSpPr>
            <a:spLocks xmlns:a="http://schemas.openxmlformats.org/drawingml/2006/main" noGrp="1"/>
          </p:cNvSpPr>
          <p:nvPr/>
        </p:nvSpPr>
        <p:spPr>
          <a:xfrm xmlns:a="http://schemas.openxmlformats.org/drawingml/2006/main">
            <a:off x="2065020" y="8694420"/>
            <a:ext cx="91440" cy="76200"/>
          </a:xfrm>
          <a:custGeom xmlns:a="http://schemas.openxmlformats.org/drawingml/2006/main">
            <a:pathLst>
              <a:path w="91440" h="76200">
                <a:moveTo>
                  <a:pt x="45720" y="0"/>
                </a:moveTo>
                <a:lnTo>
                  <a:pt x="0" y="76200"/>
                </a:lnTo>
                <a:lnTo>
                  <a:pt x="91440" y="76200"/>
                </a:lnTo>
                <a:close/>
              </a:path>
            </a:pathLst>
          </a:custGeom>
          <a:solidFill xmlns:a="http://schemas.openxmlformats.org/drawingml/2006/main">
            <a:srgbClr val="7399C6"/>
          </a:solidFill>
          <a:ln xmlns:a="http://schemas.openxmlformats.org/drawingml/2006/main" w="0">
            <a:noFill/>
          </a:ln>
        </p:spPr>
      </p:sp>
      <p:sp>
        <p:nvSpPr>
          <p:cNvPr id="420" name="Flat experiment component">
            <a:extLst xmlns:a="http://schemas.openxmlformats.org/drawingml/2006/main">
              <a:ext uri="{FF2B5EF4-FFF2-40B4-BE49-F238E27FC236}">
                <a16:creationId xmlns:a16="http://schemas.microsoft.com/office/drawing/2014/main" id="{9FED8159-F14A-4F47-9AC8-12EFD705916F}"/>
              </a:ext>
            </a:extLst>
          </p:cNvPr>
          <p:cNvSpPr>
            <a:spLocks xmlns:a="http://schemas.openxmlformats.org/drawingml/2006/main" noGrp="1"/>
          </p:cNvSpPr>
          <p:nvPr/>
        </p:nvSpPr>
        <p:spPr>
          <a:xfrm xmlns:a="http://schemas.openxmlformats.org/drawingml/2006/main">
            <a:off x="6370320" y="8740140"/>
            <a:ext cx="5471160" cy="304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21" name="Linked results → next design → next experiment">
            <a:extLst xmlns:a="http://schemas.openxmlformats.org/drawingml/2006/main">
              <a:ext uri="{FF2B5EF4-FFF2-40B4-BE49-F238E27FC236}">
                <a16:creationId xmlns:a16="http://schemas.microsoft.com/office/drawing/2014/main" id="{AD25628F-9300-47DC-A910-C0E62DD28FEF}"/>
              </a:ext>
            </a:extLst>
          </p:cNvPr>
          <p:cNvSpPr>
            <a:spLocks xmlns:a="http://schemas.openxmlformats.org/drawingml/2006/main" noGrp="1"/>
          </p:cNvSpPr>
          <p:nvPr/>
        </p:nvSpPr>
        <p:spPr>
          <a:xfrm xmlns:a="http://schemas.openxmlformats.org/drawingml/2006/main">
            <a:off x="6446520" y="8778240"/>
            <a:ext cx="531876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80" b="1">
                <a:solidFill>
                  <a:srgbClr val="00355F"/>
                </a:solidFill>
                <a:latin typeface="Arial"/>
                <a:ea typeface="Arial"/>
                <a:cs typeface="Arial"/>
              </a:defRPr>
            </a:defPPr>
          </a:lstStyle>
          <a:p xmlns:a="http://schemas.openxmlformats.org/drawingml/2006/main">
            <a:pPr algn="ctr">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Linked results → next design → next experiment</a:t>
            </a:r>
          </a:p>
        </p:txBody>
      </p:sp>
      <p:sp>
        <p:nvSpPr>
          <p:cNvPr id="422" name="Flat experiment component">
            <a:extLst xmlns:a="http://schemas.openxmlformats.org/drawingml/2006/main">
              <a:ext uri="{FF2B5EF4-FFF2-40B4-BE49-F238E27FC236}">
                <a16:creationId xmlns:a16="http://schemas.microsoft.com/office/drawing/2014/main" id="{DE5AC5E9-39A1-456D-9705-1F0BDF63A677}"/>
              </a:ext>
            </a:extLst>
          </p:cNvPr>
          <p:cNvSpPr>
            <a:spLocks xmlns:a="http://schemas.openxmlformats.org/drawingml/2006/main" noGrp="1"/>
          </p:cNvSpPr>
          <p:nvPr/>
        </p:nvSpPr>
        <p:spPr>
          <a:xfrm xmlns:a="http://schemas.openxmlformats.org/drawingml/2006/main">
            <a:off x="762000" y="9182100"/>
            <a:ext cx="16764000" cy="449580"/>
          </a:xfrm>
          <a:prstGeom xmlns:a="http://schemas.openxmlformats.org/drawingml/2006/main" prst="roundRect">
            <a:avLst>
              <a:gd name="adj" fmla="val 13559"/>
            </a:avLst>
          </a:prstGeom>
          <a:solidFill xmlns:a="http://schemas.openxmlformats.org/drawingml/2006/main">
            <a:srgbClr val="00355F"/>
          </a:solidFill>
          <a:ln xmlns:a="http://schemas.openxmlformats.org/drawingml/2006/main" w="0">
            <a:noFill/>
          </a:ln>
        </p:spPr>
      </p:sp>
      <p:sp>
        <p:nvSpPr>
          <p:cNvPr id="423" name="Automation + data orchestration span every step">
            <a:extLst xmlns:a="http://schemas.openxmlformats.org/drawingml/2006/main">
              <a:ext uri="{FF2B5EF4-FFF2-40B4-BE49-F238E27FC236}">
                <a16:creationId xmlns:a16="http://schemas.microsoft.com/office/drawing/2014/main" id="{9F438B76-BD4E-4A2D-A3D7-1FE67C36FCE4}"/>
              </a:ext>
            </a:extLst>
          </p:cNvPr>
          <p:cNvSpPr>
            <a:spLocks xmlns:a="http://schemas.openxmlformats.org/drawingml/2006/main" noGrp="1"/>
          </p:cNvSpPr>
          <p:nvPr/>
        </p:nvSpPr>
        <p:spPr>
          <a:xfrm xmlns:a="http://schemas.openxmlformats.org/drawingml/2006/main">
            <a:off x="975360" y="9273540"/>
            <a:ext cx="16337280" cy="281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60" b="1">
                <a:solidFill>
                  <a:srgbClr val="FFFFFF"/>
                </a:solidFill>
                <a:latin typeface="Arial"/>
                <a:ea typeface="Arial"/>
                <a:cs typeface="Arial"/>
              </a:defRPr>
            </a:defPPr>
          </a:lstStyle>
          <a:p xmlns:a="http://schemas.openxmlformats.org/drawingml/2006/main">
            <a:pPr algn="ctr">
              <a:lnSpc>
                <a:spcPct val="100000"/>
              </a:lnSpc>
              <a:buNone/>
              <a:defRPr sz="1860" b="1">
                <a:solidFill>
                  <a:srgbClr val="FFFFFF"/>
                </a:solidFill>
                <a:latin typeface="Arial"/>
                <a:ea typeface="Arial"/>
                <a:cs typeface="Arial"/>
              </a:defRPr>
            </a:pPr>
            <a:r>
              <a:rPr sz="1860" b="1">
                <a:solidFill>
                  <a:srgbClr val="FFFFFF"/>
                </a:solidFill>
                <a:latin typeface="Arial"/>
                <a:ea typeface="Arial"/>
                <a:cs typeface="Arial"/>
              </a:rPr>
              <a:t>Automation + data orchestration span every step</a:t>
            </a:r>
          </a:p>
        </p:txBody>
      </p:sp>
      <p:sp>
        <p:nvSpPr>
          <p:cNvPr id="424" name="Representative experiments, not a fixed protocol. Assays may run in parallel. LC-MS is shown for analytical QC.">
            <a:extLst xmlns:a="http://schemas.openxmlformats.org/drawingml/2006/main">
              <a:ext uri="{FF2B5EF4-FFF2-40B4-BE49-F238E27FC236}">
                <a16:creationId xmlns:a16="http://schemas.microsoft.com/office/drawing/2014/main" id="{EA5F0188-7D5D-4C29-AA99-1DA0887E09C0}"/>
              </a:ext>
            </a:extLst>
          </p:cNvPr>
          <p:cNvSpPr>
            <a:spLocks xmlns:a="http://schemas.openxmlformats.org/drawingml/2006/main" noGrp="1"/>
          </p:cNvSpPr>
          <p:nvPr/>
        </p:nvSpPr>
        <p:spPr>
          <a:xfrm xmlns:a="http://schemas.openxmlformats.org/drawingml/2006/main">
            <a:off x="762000" y="9784080"/>
            <a:ext cx="1676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Representative experiments, not a fixed protocol. Assays may run in parallel. LC-MS is shown for analytical QC.</a:t>
            </a:r>
          </a:p>
        </p:txBody>
      </p:sp>
      <p:sp>
        <p:nvSpPr>
          <p:cNvPr id="425" name="*Waters Biosciences is the former BD Biosciences portfolio. Flat schematics and text are editable; supplier examples and sources: workflow/SOURCES.md.">
            <a:extLst xmlns:a="http://schemas.openxmlformats.org/drawingml/2006/main">
              <a:ext uri="{FF2B5EF4-FFF2-40B4-BE49-F238E27FC236}">
                <a16:creationId xmlns:a16="http://schemas.microsoft.com/office/drawing/2014/main" id="{E02A2902-619E-4719-82A4-172F7706915E}"/>
              </a:ext>
            </a:extLst>
          </p:cNvPr>
          <p:cNvSpPr>
            <a:spLocks xmlns:a="http://schemas.openxmlformats.org/drawingml/2006/main" noGrp="1"/>
          </p:cNvSpPr>
          <p:nvPr/>
        </p:nvSpPr>
        <p:spPr>
          <a:xfrm xmlns:a="http://schemas.openxmlformats.org/drawingml/2006/main">
            <a:off x="762000" y="10027920"/>
            <a:ext cx="16764000" cy="167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*Waters Biosciences is the former BD Biosciences portfolio. Flat schematics and text are editable; supplier examples and sources: workflow/SOURCES.md.</a:t>
            </a:r>
          </a:p>
        </p:txBody>
      </p:sp>
    </p:spTree>
    <p:extLst>
      <p:ext uri="{BB962C8B-B14F-4D97-AF65-F5344CB8AC3E}">
        <p14:creationId xmlns:p14="http://schemas.microsoft.com/office/powerpoint/2010/main" val="13720521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9" name="">
            <a:extLst xmlns:a="http://schemas.openxmlformats.org/drawingml/2006/main">
              <a:ext uri="{FF2B5EF4-FFF2-40B4-BE49-F238E27FC236}">
                <a16:creationId xmlns:a16="http://schemas.microsoft.com/office/drawing/2014/main" id="{2D6E5CD8-F5C7-4C01-869C-2C772C98CF3D}"/>
              </a:ext>
            </a:extLst>
          </p:cNvPr>
          <p:cNvPicPr>
            <a:picLocks xmlns:a="http://schemas.openxmlformats.org/drawingml/2006/main" noChangeAspect="1"/>
          </p:cNvPicPr>
          <p:nvPr/>
        </p:nvPicPr>
        <p:blipFill>
          <a:blip xmlns:r="http://schemas.openxmlformats.org/officeDocument/2006/relationships" xmlns:a="http://schemas.openxmlformats.org/drawingml/2006/main" r:embed="R9be7e356ce32466e"/>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6 label 1 line 1">
            <a:extLst xmlns:a="http://schemas.openxmlformats.org/drawingml/2006/main">
              <a:ext uri="{FF2B5EF4-FFF2-40B4-BE49-F238E27FC236}">
                <a16:creationId xmlns:a16="http://schemas.microsoft.com/office/drawing/2014/main" id="{03AA0101-681F-4311-A608-7B82633AE390}"/>
              </a:ext>
            </a:extLst>
          </p:cNvPr>
          <p:cNvSpPr>
            <a:spLocks xmlns:a="http://schemas.openxmlformats.org/drawingml/2006/main" noGrp="1"/>
          </p:cNvSpPr>
          <p:nvPr/>
        </p:nvSpPr>
        <p:spPr>
          <a:xfrm xmlns:a="http://schemas.openxmlformats.org/drawingml/2006/main" rot="0">
            <a:off x="1057351" y="288341"/>
            <a:ext cx="8251579"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RSI: AI design and biological validation</a:t>
            </a:r>
          </a:p>
        </p:txBody>
      </p:sp>
      <p:sp>
        <p:nvSpPr>
          <p:cNvPr id="3" name="Figure 16 label 2 line 1">
            <a:extLst xmlns:a="http://schemas.openxmlformats.org/drawingml/2006/main">
              <a:ext uri="{FF2B5EF4-FFF2-40B4-BE49-F238E27FC236}">
                <a16:creationId xmlns:a16="http://schemas.microsoft.com/office/drawing/2014/main" id="{FF675803-66E2-421A-A03C-B1CFE60D96F5}"/>
              </a:ext>
            </a:extLst>
          </p:cNvPr>
          <p:cNvSpPr>
            <a:spLocks xmlns:a="http://schemas.openxmlformats.org/drawingml/2006/main" noGrp="1"/>
          </p:cNvSpPr>
          <p:nvPr/>
        </p:nvSpPr>
        <p:spPr>
          <a:xfrm xmlns:a="http://schemas.openxmlformats.org/drawingml/2006/main" rot="0">
            <a:off x="1065581" y="964387"/>
            <a:ext cx="9209353"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How experimental feedback could improve both biological designs and the AI design process</a:t>
            </a:r>
          </a:p>
        </p:txBody>
      </p:sp>
      <p:sp>
        <p:nvSpPr>
          <p:cNvPr id="4" name="Figure 16 label 3 line 1">
            <a:extLst xmlns:a="http://schemas.openxmlformats.org/drawingml/2006/main">
              <a:ext uri="{FF2B5EF4-FFF2-40B4-BE49-F238E27FC236}">
                <a16:creationId xmlns:a16="http://schemas.microsoft.com/office/drawing/2014/main" id="{540319F2-CBA3-4731-8BE0-1C676625D268}"/>
              </a:ext>
            </a:extLst>
          </p:cNvPr>
          <p:cNvSpPr>
            <a:spLocks xmlns:a="http://schemas.openxmlformats.org/drawingml/2006/main" noGrp="1"/>
          </p:cNvSpPr>
          <p:nvPr/>
        </p:nvSpPr>
        <p:spPr>
          <a:xfrm xmlns:a="http://schemas.openxmlformats.org/drawingml/2006/main" rot="0">
            <a:off x="1068324" y="1362456"/>
            <a:ext cx="4778514"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RECURSIVE SELF-IMPROVEMENT  ·  CONCEPTUAL MECHANISM</a:t>
            </a:r>
          </a:p>
        </p:txBody>
      </p:sp>
      <p:sp>
        <p:nvSpPr>
          <p:cNvPr id="5" name="Figure 16 label 4 line 1">
            <a:extLst xmlns:a="http://schemas.openxmlformats.org/drawingml/2006/main">
              <a:ext uri="{FF2B5EF4-FFF2-40B4-BE49-F238E27FC236}">
                <a16:creationId xmlns:a16="http://schemas.microsoft.com/office/drawing/2014/main" id="{04580B1E-3E17-4E46-BDE0-450BD4AAF2F7}"/>
              </a:ext>
            </a:extLst>
          </p:cNvPr>
          <p:cNvSpPr>
            <a:spLocks xmlns:a="http://schemas.openxmlformats.org/drawingml/2006/main" noGrp="1"/>
          </p:cNvSpPr>
          <p:nvPr/>
        </p:nvSpPr>
        <p:spPr>
          <a:xfrm xmlns:a="http://schemas.openxmlformats.org/drawingml/2006/main" rot="0">
            <a:off x="1517294" y="2042770"/>
            <a:ext cx="180397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1">
                <a:solidFill>
                  <a:srgbClr val="00355F"/>
                </a:solidFill>
                <a:latin typeface="Arial"/>
                <a:ea typeface="Arial"/>
                <a:cs typeface="Arial"/>
              </a:defRPr>
            </a:defPPr>
          </a:lstStyle>
          <a:p xmlns:a="http://schemas.openxmlformats.org/drawingml/2006/main">
            <a:pPr algn="l">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DIGITAL CAPABILITY</a:t>
            </a:r>
          </a:p>
        </p:txBody>
      </p:sp>
      <p:sp>
        <p:nvSpPr>
          <p:cNvPr id="6" name="Figure 16 label 5 line 1">
            <a:extLst xmlns:a="http://schemas.openxmlformats.org/drawingml/2006/main">
              <a:ext uri="{FF2B5EF4-FFF2-40B4-BE49-F238E27FC236}">
                <a16:creationId xmlns:a16="http://schemas.microsoft.com/office/drawing/2014/main" id="{6E6CD17E-2F5F-418B-883F-62B0B4985768}"/>
              </a:ext>
            </a:extLst>
          </p:cNvPr>
          <p:cNvSpPr>
            <a:spLocks xmlns:a="http://schemas.openxmlformats.org/drawingml/2006/main" noGrp="1"/>
          </p:cNvSpPr>
          <p:nvPr/>
        </p:nvSpPr>
        <p:spPr>
          <a:xfrm xmlns:a="http://schemas.openxmlformats.org/drawingml/2006/main" rot="0">
            <a:off x="7270394" y="2042770"/>
            <a:ext cx="235374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1">
                <a:solidFill>
                  <a:srgbClr val="00355F"/>
                </a:solidFill>
                <a:latin typeface="Arial"/>
                <a:ea typeface="Arial"/>
                <a:cs typeface="Arial"/>
              </a:defRPr>
            </a:defPPr>
          </a:lstStyle>
          <a:p xmlns:a="http://schemas.openxmlformats.org/drawingml/2006/main">
            <a:pPr algn="l">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EXPERIMENTAL STRATEGY</a:t>
            </a:r>
          </a:p>
        </p:txBody>
      </p:sp>
      <p:sp>
        <p:nvSpPr>
          <p:cNvPr id="7" name="Figure 16 label 6 line 1">
            <a:extLst xmlns:a="http://schemas.openxmlformats.org/drawingml/2006/main">
              <a:ext uri="{FF2B5EF4-FFF2-40B4-BE49-F238E27FC236}">
                <a16:creationId xmlns:a16="http://schemas.microsoft.com/office/drawing/2014/main" id="{AE72D652-CB33-4F85-B96F-AD4CFE4ED368}"/>
              </a:ext>
            </a:extLst>
          </p:cNvPr>
          <p:cNvSpPr>
            <a:spLocks xmlns:a="http://schemas.openxmlformats.org/drawingml/2006/main" noGrp="1"/>
          </p:cNvSpPr>
          <p:nvPr/>
        </p:nvSpPr>
        <p:spPr>
          <a:xfrm xmlns:a="http://schemas.openxmlformats.org/drawingml/2006/main" rot="0">
            <a:off x="13023494" y="2042770"/>
            <a:ext cx="204328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1">
                <a:solidFill>
                  <a:srgbClr val="00355F"/>
                </a:solidFill>
                <a:latin typeface="Arial"/>
                <a:ea typeface="Arial"/>
                <a:cs typeface="Arial"/>
              </a:defRPr>
            </a:defPPr>
          </a:lstStyle>
          <a:p xmlns:a="http://schemas.openxmlformats.org/drawingml/2006/main">
            <a:pPr algn="l">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PHYSICAL GROUNDING</a:t>
            </a:r>
          </a:p>
        </p:txBody>
      </p:sp>
      <p:sp>
        <p:nvSpPr>
          <p:cNvPr id="8" name="Figure 16 label 7 line 1">
            <a:extLst xmlns:a="http://schemas.openxmlformats.org/drawingml/2006/main">
              <a:ext uri="{FF2B5EF4-FFF2-40B4-BE49-F238E27FC236}">
                <a16:creationId xmlns:a16="http://schemas.microsoft.com/office/drawing/2014/main" id="{5732EEC4-B6CC-42CD-966A-897CBCC94577}"/>
              </a:ext>
            </a:extLst>
          </p:cNvPr>
          <p:cNvSpPr>
            <a:spLocks xmlns:a="http://schemas.openxmlformats.org/drawingml/2006/main" noGrp="1"/>
          </p:cNvSpPr>
          <p:nvPr/>
        </p:nvSpPr>
        <p:spPr>
          <a:xfrm xmlns:a="http://schemas.openxmlformats.org/drawingml/2006/main" rot="0">
            <a:off x="1731721" y="2540051"/>
            <a:ext cx="875062"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01  /  MODEL</a:t>
            </a:r>
          </a:p>
        </p:txBody>
      </p:sp>
      <p:sp>
        <p:nvSpPr>
          <p:cNvPr id="9" name="Figure 16 label 8 line 1">
            <a:extLst xmlns:a="http://schemas.openxmlformats.org/drawingml/2006/main">
              <a:ext uri="{FF2B5EF4-FFF2-40B4-BE49-F238E27FC236}">
                <a16:creationId xmlns:a16="http://schemas.microsoft.com/office/drawing/2014/main" id="{E52B0FCE-3138-41BD-82D4-32E03A75D7FD}"/>
              </a:ext>
            </a:extLst>
          </p:cNvPr>
          <p:cNvSpPr>
            <a:spLocks xmlns:a="http://schemas.openxmlformats.org/drawingml/2006/main" noGrp="1"/>
          </p:cNvSpPr>
          <p:nvPr/>
        </p:nvSpPr>
        <p:spPr>
          <a:xfrm xmlns:a="http://schemas.openxmlformats.org/drawingml/2006/main" rot="0">
            <a:off x="1727911" y="2886761"/>
            <a:ext cx="245040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AI scientist · Model t</a:t>
            </a:r>
          </a:p>
        </p:txBody>
      </p:sp>
      <p:sp>
        <p:nvSpPr>
          <p:cNvPr id="10" name="Figure 16 label 9 line 1">
            <a:extLst xmlns:a="http://schemas.openxmlformats.org/drawingml/2006/main">
              <a:ext uri="{FF2B5EF4-FFF2-40B4-BE49-F238E27FC236}">
                <a16:creationId xmlns:a16="http://schemas.microsoft.com/office/drawing/2014/main" id="{D69D9FF3-6B88-413A-9CDD-8794B8788E1B}"/>
              </a:ext>
            </a:extLst>
          </p:cNvPr>
          <p:cNvSpPr>
            <a:spLocks xmlns:a="http://schemas.openxmlformats.org/drawingml/2006/main" noGrp="1"/>
          </p:cNvSpPr>
          <p:nvPr/>
        </p:nvSpPr>
        <p:spPr>
          <a:xfrm xmlns:a="http://schemas.openxmlformats.org/drawingml/2006/main" rot="0">
            <a:off x="1730502" y="3321558"/>
            <a:ext cx="26751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Predict properties and uncertainty</a:t>
            </a:r>
          </a:p>
        </p:txBody>
      </p:sp>
      <p:sp>
        <p:nvSpPr>
          <p:cNvPr id="11" name="Figure 16 label 9 line 2">
            <a:extLst xmlns:a="http://schemas.openxmlformats.org/drawingml/2006/main">
              <a:ext uri="{FF2B5EF4-FFF2-40B4-BE49-F238E27FC236}">
                <a16:creationId xmlns:a16="http://schemas.microsoft.com/office/drawing/2014/main" id="{B7629264-936E-44E6-AAA6-7029E9313CC3}"/>
              </a:ext>
            </a:extLst>
          </p:cNvPr>
          <p:cNvSpPr>
            <a:spLocks xmlns:a="http://schemas.openxmlformats.org/drawingml/2006/main" noGrp="1"/>
          </p:cNvSpPr>
          <p:nvPr/>
        </p:nvSpPr>
        <p:spPr>
          <a:xfrm xmlns:a="http://schemas.openxmlformats.org/drawingml/2006/main" rot="0">
            <a:off x="1730502" y="3535871"/>
            <a:ext cx="26751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Use the current model / policy</a:t>
            </a:r>
          </a:p>
        </p:txBody>
      </p:sp>
      <p:sp>
        <p:nvSpPr>
          <p:cNvPr id="12" name="Figure 16 label 10 line 1">
            <a:extLst xmlns:a="http://schemas.openxmlformats.org/drawingml/2006/main">
              <a:ext uri="{FF2B5EF4-FFF2-40B4-BE49-F238E27FC236}">
                <a16:creationId xmlns:a16="http://schemas.microsoft.com/office/drawing/2014/main" id="{6DB6CF1A-BDED-44DE-97A8-58DE919ED9CF}"/>
              </a:ext>
            </a:extLst>
          </p:cNvPr>
          <p:cNvSpPr>
            <a:spLocks xmlns:a="http://schemas.openxmlformats.org/drawingml/2006/main" noGrp="1"/>
          </p:cNvSpPr>
          <p:nvPr/>
        </p:nvSpPr>
        <p:spPr>
          <a:xfrm xmlns:a="http://schemas.openxmlformats.org/drawingml/2006/main" rot="0">
            <a:off x="7484821" y="2540051"/>
            <a:ext cx="906464"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02  /  DESIGN</a:t>
            </a:r>
          </a:p>
        </p:txBody>
      </p:sp>
      <p:sp>
        <p:nvSpPr>
          <p:cNvPr id="13" name="Figure 16 label 11 line 1">
            <a:extLst xmlns:a="http://schemas.openxmlformats.org/drawingml/2006/main">
              <a:ext uri="{FF2B5EF4-FFF2-40B4-BE49-F238E27FC236}">
                <a16:creationId xmlns:a16="http://schemas.microsoft.com/office/drawing/2014/main" id="{24500EE1-3EDC-4AE9-BA6B-EA9A4F04D05E}"/>
              </a:ext>
            </a:extLst>
          </p:cNvPr>
          <p:cNvSpPr>
            <a:spLocks xmlns:a="http://schemas.openxmlformats.org/drawingml/2006/main" noGrp="1"/>
          </p:cNvSpPr>
          <p:nvPr/>
        </p:nvSpPr>
        <p:spPr>
          <a:xfrm xmlns:a="http://schemas.openxmlformats.org/drawingml/2006/main" rot="0">
            <a:off x="7481011" y="2886761"/>
            <a:ext cx="224056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Design &amp; prioritize</a:t>
            </a:r>
          </a:p>
        </p:txBody>
      </p:sp>
      <p:sp>
        <p:nvSpPr>
          <p:cNvPr id="14" name="Figure 16 label 12 line 1">
            <a:extLst xmlns:a="http://schemas.openxmlformats.org/drawingml/2006/main">
              <a:ext uri="{FF2B5EF4-FFF2-40B4-BE49-F238E27FC236}">
                <a16:creationId xmlns:a16="http://schemas.microsoft.com/office/drawing/2014/main" id="{4468DE2D-1FB0-47A5-9490-092B075DB94D}"/>
              </a:ext>
            </a:extLst>
          </p:cNvPr>
          <p:cNvSpPr>
            <a:spLocks xmlns:a="http://schemas.openxmlformats.org/drawingml/2006/main" noGrp="1"/>
          </p:cNvSpPr>
          <p:nvPr/>
        </p:nvSpPr>
        <p:spPr>
          <a:xfrm xmlns:a="http://schemas.openxmlformats.org/drawingml/2006/main" rot="0">
            <a:off x="7483602" y="3321558"/>
            <a:ext cx="249433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Choose candidates and assays</a:t>
            </a:r>
          </a:p>
        </p:txBody>
      </p:sp>
      <p:sp>
        <p:nvSpPr>
          <p:cNvPr id="15" name="Figure 16 label 12 line 2">
            <a:extLst xmlns:a="http://schemas.openxmlformats.org/drawingml/2006/main">
              <a:ext uri="{FF2B5EF4-FFF2-40B4-BE49-F238E27FC236}">
                <a16:creationId xmlns:a16="http://schemas.microsoft.com/office/drawing/2014/main" id="{4BA63698-2ABA-4BFE-A5C7-82A83CFAA364}"/>
              </a:ext>
            </a:extLst>
          </p:cNvPr>
          <p:cNvSpPr>
            <a:spLocks xmlns:a="http://schemas.openxmlformats.org/drawingml/2006/main" noGrp="1"/>
          </p:cNvSpPr>
          <p:nvPr/>
        </p:nvSpPr>
        <p:spPr>
          <a:xfrm xmlns:a="http://schemas.openxmlformats.org/drawingml/2006/main" rot="0">
            <a:off x="7483602" y="3535871"/>
            <a:ext cx="249433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for function and information</a:t>
            </a:r>
          </a:p>
        </p:txBody>
      </p:sp>
      <p:sp>
        <p:nvSpPr>
          <p:cNvPr id="16" name="Figure 16 label 13 line 1">
            <a:extLst xmlns:a="http://schemas.openxmlformats.org/drawingml/2006/main">
              <a:ext uri="{FF2B5EF4-FFF2-40B4-BE49-F238E27FC236}">
                <a16:creationId xmlns:a16="http://schemas.microsoft.com/office/drawing/2014/main" id="{9ED119C8-18B7-43CE-A80F-430D90B2F146}"/>
              </a:ext>
            </a:extLst>
          </p:cNvPr>
          <p:cNvSpPr>
            <a:spLocks xmlns:a="http://schemas.openxmlformats.org/drawingml/2006/main" noGrp="1"/>
          </p:cNvSpPr>
          <p:nvPr/>
        </p:nvSpPr>
        <p:spPr>
          <a:xfrm xmlns:a="http://schemas.openxmlformats.org/drawingml/2006/main" rot="0">
            <a:off x="13237921" y="2540051"/>
            <a:ext cx="796629"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03  /  BUILD</a:t>
            </a:r>
          </a:p>
        </p:txBody>
      </p:sp>
      <p:sp>
        <p:nvSpPr>
          <p:cNvPr id="17" name="Figure 16 label 14 line 1">
            <a:extLst xmlns:a="http://schemas.openxmlformats.org/drawingml/2006/main">
              <a:ext uri="{FF2B5EF4-FFF2-40B4-BE49-F238E27FC236}">
                <a16:creationId xmlns:a16="http://schemas.microsoft.com/office/drawing/2014/main" id="{BACA2345-9BA4-408A-85FA-865A297D515D}"/>
              </a:ext>
            </a:extLst>
          </p:cNvPr>
          <p:cNvSpPr>
            <a:spLocks xmlns:a="http://schemas.openxmlformats.org/drawingml/2006/main" noGrp="1"/>
          </p:cNvSpPr>
          <p:nvPr/>
        </p:nvSpPr>
        <p:spPr>
          <a:xfrm xmlns:a="http://schemas.openxmlformats.org/drawingml/2006/main" rot="0">
            <a:off x="13234111" y="2886761"/>
            <a:ext cx="297606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Build physical molecules</a:t>
            </a:r>
          </a:p>
        </p:txBody>
      </p:sp>
      <p:sp>
        <p:nvSpPr>
          <p:cNvPr id="18" name="Figure 16 label 15 line 1">
            <a:extLst xmlns:a="http://schemas.openxmlformats.org/drawingml/2006/main">
              <a:ext uri="{FF2B5EF4-FFF2-40B4-BE49-F238E27FC236}">
                <a16:creationId xmlns:a16="http://schemas.microsoft.com/office/drawing/2014/main" id="{1BF6EEFE-66DC-4915-ACAC-BA2A1BF4BBB1}"/>
              </a:ext>
            </a:extLst>
          </p:cNvPr>
          <p:cNvSpPr>
            <a:spLocks xmlns:a="http://schemas.openxmlformats.org/drawingml/2006/main" noGrp="1"/>
          </p:cNvSpPr>
          <p:nvPr/>
        </p:nvSpPr>
        <p:spPr>
          <a:xfrm xmlns:a="http://schemas.openxmlformats.org/drawingml/2006/main" rot="0">
            <a:off x="13236702" y="3321558"/>
            <a:ext cx="307520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DNA synthesis, expression, purification</a:t>
            </a:r>
          </a:p>
        </p:txBody>
      </p:sp>
      <p:sp>
        <p:nvSpPr>
          <p:cNvPr id="19" name="Figure 16 label 15 line 2">
            <a:extLst xmlns:a="http://schemas.openxmlformats.org/drawingml/2006/main">
              <a:ext uri="{FF2B5EF4-FFF2-40B4-BE49-F238E27FC236}">
                <a16:creationId xmlns:a16="http://schemas.microsoft.com/office/drawing/2014/main" id="{7EF59387-E7CD-4C32-9689-EA5438F1BB9C}"/>
              </a:ext>
            </a:extLst>
          </p:cNvPr>
          <p:cNvSpPr>
            <a:spLocks xmlns:a="http://schemas.openxmlformats.org/drawingml/2006/main" noGrp="1"/>
          </p:cNvSpPr>
          <p:nvPr/>
        </p:nvSpPr>
        <p:spPr>
          <a:xfrm xmlns:a="http://schemas.openxmlformats.org/drawingml/2006/main" rot="0">
            <a:off x="13236702" y="3535871"/>
            <a:ext cx="307520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Prepare samples for actual assays</a:t>
            </a:r>
          </a:p>
        </p:txBody>
      </p:sp>
      <p:sp>
        <p:nvSpPr>
          <p:cNvPr id="20" name="Figure 16 label 16 line 1">
            <a:extLst xmlns:a="http://schemas.openxmlformats.org/drawingml/2006/main">
              <a:ext uri="{FF2B5EF4-FFF2-40B4-BE49-F238E27FC236}">
                <a16:creationId xmlns:a16="http://schemas.microsoft.com/office/drawing/2014/main" id="{B0DE2894-672A-4660-A8EA-2CB88A7F7D9F}"/>
              </a:ext>
            </a:extLst>
          </p:cNvPr>
          <p:cNvSpPr>
            <a:spLocks xmlns:a="http://schemas.openxmlformats.org/drawingml/2006/main" noGrp="1"/>
          </p:cNvSpPr>
          <p:nvPr/>
        </p:nvSpPr>
        <p:spPr>
          <a:xfrm xmlns:a="http://schemas.openxmlformats.org/drawingml/2006/main" rot="0">
            <a:off x="13237921" y="5588051"/>
            <a:ext cx="726234"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04  /  TEST</a:t>
            </a:r>
          </a:p>
        </p:txBody>
      </p:sp>
      <p:sp>
        <p:nvSpPr>
          <p:cNvPr id="21" name="Figure 16 label 17 line 1">
            <a:extLst xmlns:a="http://schemas.openxmlformats.org/drawingml/2006/main">
              <a:ext uri="{FF2B5EF4-FFF2-40B4-BE49-F238E27FC236}">
                <a16:creationId xmlns:a16="http://schemas.microsoft.com/office/drawing/2014/main" id="{60B7DC17-7D8D-45BD-8394-8877AFD52452}"/>
              </a:ext>
            </a:extLst>
          </p:cNvPr>
          <p:cNvSpPr>
            <a:spLocks xmlns:a="http://schemas.openxmlformats.org/drawingml/2006/main" noGrp="1"/>
          </p:cNvSpPr>
          <p:nvPr/>
        </p:nvSpPr>
        <p:spPr>
          <a:xfrm xmlns:a="http://schemas.openxmlformats.org/drawingml/2006/main" rot="0">
            <a:off x="13234111" y="5934761"/>
            <a:ext cx="2227463"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Validate in biology</a:t>
            </a:r>
          </a:p>
        </p:txBody>
      </p:sp>
      <p:sp>
        <p:nvSpPr>
          <p:cNvPr id="22" name="Figure 16 label 18 line 1">
            <a:extLst xmlns:a="http://schemas.openxmlformats.org/drawingml/2006/main">
              <a:ext uri="{FF2B5EF4-FFF2-40B4-BE49-F238E27FC236}">
                <a16:creationId xmlns:a16="http://schemas.microsoft.com/office/drawing/2014/main" id="{48870E22-554D-42DB-90B4-218C1D33981E}"/>
              </a:ext>
            </a:extLst>
          </p:cNvPr>
          <p:cNvSpPr>
            <a:spLocks xmlns:a="http://schemas.openxmlformats.org/drawingml/2006/main" noGrp="1"/>
          </p:cNvSpPr>
          <p:nvPr/>
        </p:nvSpPr>
        <p:spPr>
          <a:xfrm xmlns:a="http://schemas.openxmlformats.org/drawingml/2006/main" rot="0">
            <a:off x="13236702" y="6369558"/>
            <a:ext cx="272263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Binding, stability and cell function</a:t>
            </a:r>
          </a:p>
        </p:txBody>
      </p:sp>
      <p:sp>
        <p:nvSpPr>
          <p:cNvPr id="23" name="Figure 16 label 18 line 2">
            <a:extLst xmlns:a="http://schemas.openxmlformats.org/drawingml/2006/main">
              <a:ext uri="{FF2B5EF4-FFF2-40B4-BE49-F238E27FC236}">
                <a16:creationId xmlns:a16="http://schemas.microsoft.com/office/drawing/2014/main" id="{19A32E4E-3236-49A3-8C62-FDB170F7BD0C}"/>
              </a:ext>
            </a:extLst>
          </p:cNvPr>
          <p:cNvSpPr>
            <a:spLocks xmlns:a="http://schemas.openxmlformats.org/drawingml/2006/main" noGrp="1"/>
          </p:cNvSpPr>
          <p:nvPr/>
        </p:nvSpPr>
        <p:spPr>
          <a:xfrm xmlns:a="http://schemas.openxmlformats.org/drawingml/2006/main" rot="0">
            <a:off x="13236702" y="6583871"/>
            <a:ext cx="272263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Keep failures as informative labels</a:t>
            </a:r>
          </a:p>
        </p:txBody>
      </p:sp>
      <p:sp>
        <p:nvSpPr>
          <p:cNvPr id="24" name="Figure 16 label 19 line 1">
            <a:extLst xmlns:a="http://schemas.openxmlformats.org/drawingml/2006/main">
              <a:ext uri="{FF2B5EF4-FFF2-40B4-BE49-F238E27FC236}">
                <a16:creationId xmlns:a16="http://schemas.microsoft.com/office/drawing/2014/main" id="{0CC33D53-0D22-44F1-8E6B-91B794B52F6D}"/>
              </a:ext>
            </a:extLst>
          </p:cNvPr>
          <p:cNvSpPr>
            <a:spLocks xmlns:a="http://schemas.openxmlformats.org/drawingml/2006/main" noGrp="1"/>
          </p:cNvSpPr>
          <p:nvPr/>
        </p:nvSpPr>
        <p:spPr>
          <a:xfrm xmlns:a="http://schemas.openxmlformats.org/drawingml/2006/main" rot="0">
            <a:off x="7484821" y="5588051"/>
            <a:ext cx="736652"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05  /  DATA</a:t>
            </a:r>
          </a:p>
        </p:txBody>
      </p:sp>
      <p:sp>
        <p:nvSpPr>
          <p:cNvPr id="25" name="Figure 16 label 20 line 1">
            <a:extLst xmlns:a="http://schemas.openxmlformats.org/drawingml/2006/main">
              <a:ext uri="{FF2B5EF4-FFF2-40B4-BE49-F238E27FC236}">
                <a16:creationId xmlns:a16="http://schemas.microsoft.com/office/drawing/2014/main" id="{42087019-2E6D-44CF-9A54-4F01AAB4A466}"/>
              </a:ext>
            </a:extLst>
          </p:cNvPr>
          <p:cNvSpPr>
            <a:spLocks xmlns:a="http://schemas.openxmlformats.org/drawingml/2006/main" noGrp="1"/>
          </p:cNvSpPr>
          <p:nvPr/>
        </p:nvSpPr>
        <p:spPr>
          <a:xfrm xmlns:a="http://schemas.openxmlformats.org/drawingml/2006/main" rot="0">
            <a:off x="7481011" y="5934761"/>
            <a:ext cx="297621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Curate experimental data</a:t>
            </a:r>
          </a:p>
        </p:txBody>
      </p:sp>
      <p:sp>
        <p:nvSpPr>
          <p:cNvPr id="26" name="Figure 16 label 21 line 1">
            <a:extLst xmlns:a="http://schemas.openxmlformats.org/drawingml/2006/main">
              <a:ext uri="{FF2B5EF4-FFF2-40B4-BE49-F238E27FC236}">
                <a16:creationId xmlns:a16="http://schemas.microsoft.com/office/drawing/2014/main" id="{7EE4678D-EAFF-4298-B936-A94177AEF224}"/>
              </a:ext>
            </a:extLst>
          </p:cNvPr>
          <p:cNvSpPr>
            <a:spLocks xmlns:a="http://schemas.openxmlformats.org/drawingml/2006/main" noGrp="1"/>
          </p:cNvSpPr>
          <p:nvPr/>
        </p:nvSpPr>
        <p:spPr>
          <a:xfrm xmlns:a="http://schemas.openxmlformats.org/drawingml/2006/main" rot="0">
            <a:off x="7483602" y="6369558"/>
            <a:ext cx="318057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Link sequence, target and assay context</a:t>
            </a:r>
          </a:p>
        </p:txBody>
      </p:sp>
      <p:sp>
        <p:nvSpPr>
          <p:cNvPr id="27" name="Figure 16 label 21 line 2">
            <a:extLst xmlns:a="http://schemas.openxmlformats.org/drawingml/2006/main">
              <a:ext uri="{FF2B5EF4-FFF2-40B4-BE49-F238E27FC236}">
                <a16:creationId xmlns:a16="http://schemas.microsoft.com/office/drawing/2014/main" id="{307EF485-946B-4C9F-84EA-48997B95041D}"/>
              </a:ext>
            </a:extLst>
          </p:cNvPr>
          <p:cNvSpPr>
            <a:spLocks xmlns:a="http://schemas.openxmlformats.org/drawingml/2006/main" noGrp="1"/>
          </p:cNvSpPr>
          <p:nvPr/>
        </p:nvSpPr>
        <p:spPr>
          <a:xfrm xmlns:a="http://schemas.openxmlformats.org/drawingml/2006/main" rot="0">
            <a:off x="7483602" y="6583871"/>
            <a:ext cx="318057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Retain replicates, raw data and failures</a:t>
            </a:r>
          </a:p>
        </p:txBody>
      </p:sp>
      <p:sp>
        <p:nvSpPr>
          <p:cNvPr id="28" name="Figure 16 label 22 line 1">
            <a:extLst xmlns:a="http://schemas.openxmlformats.org/drawingml/2006/main">
              <a:ext uri="{FF2B5EF4-FFF2-40B4-BE49-F238E27FC236}">
                <a16:creationId xmlns:a16="http://schemas.microsoft.com/office/drawing/2014/main" id="{4BFB6F73-9CEA-440E-B5E5-CB9637FC8A3A}"/>
              </a:ext>
            </a:extLst>
          </p:cNvPr>
          <p:cNvSpPr>
            <a:spLocks xmlns:a="http://schemas.openxmlformats.org/drawingml/2006/main" noGrp="1"/>
          </p:cNvSpPr>
          <p:nvPr/>
        </p:nvSpPr>
        <p:spPr>
          <a:xfrm xmlns:a="http://schemas.openxmlformats.org/drawingml/2006/main" rot="0">
            <a:off x="1731721" y="5588051"/>
            <a:ext cx="851547"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06  /  LEARN</a:t>
            </a:r>
          </a:p>
        </p:txBody>
      </p:sp>
      <p:sp>
        <p:nvSpPr>
          <p:cNvPr id="29" name="Figure 16 label 23 line 1">
            <a:extLst xmlns:a="http://schemas.openxmlformats.org/drawingml/2006/main">
              <a:ext uri="{FF2B5EF4-FFF2-40B4-BE49-F238E27FC236}">
                <a16:creationId xmlns:a16="http://schemas.microsoft.com/office/drawing/2014/main" id="{A0C2A317-5A64-4661-9EAD-2C5483D7DA04}"/>
              </a:ext>
            </a:extLst>
          </p:cNvPr>
          <p:cNvSpPr>
            <a:spLocks xmlns:a="http://schemas.openxmlformats.org/drawingml/2006/main" noGrp="1"/>
          </p:cNvSpPr>
          <p:nvPr/>
        </p:nvSpPr>
        <p:spPr>
          <a:xfrm xmlns:a="http://schemas.openxmlformats.org/drawingml/2006/main" rot="0">
            <a:off x="1727911" y="5934761"/>
            <a:ext cx="278556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Improve model + policy</a:t>
            </a:r>
          </a:p>
        </p:txBody>
      </p:sp>
      <p:sp>
        <p:nvSpPr>
          <p:cNvPr id="30" name="Figure 16 label 24 line 1">
            <a:extLst xmlns:a="http://schemas.openxmlformats.org/drawingml/2006/main">
              <a:ext uri="{FF2B5EF4-FFF2-40B4-BE49-F238E27FC236}">
                <a16:creationId xmlns:a16="http://schemas.microsoft.com/office/drawing/2014/main" id="{0A6E2FA5-A8E5-4CDE-920A-AE105E4A689C}"/>
              </a:ext>
            </a:extLst>
          </p:cNvPr>
          <p:cNvSpPr>
            <a:spLocks xmlns:a="http://schemas.openxmlformats.org/drawingml/2006/main" noGrp="1"/>
          </p:cNvSpPr>
          <p:nvPr/>
        </p:nvSpPr>
        <p:spPr>
          <a:xfrm xmlns:a="http://schemas.openxmlformats.org/drawingml/2006/main" rot="0">
            <a:off x="1730502" y="6369558"/>
            <a:ext cx="289452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Retrain / adapt models and selection</a:t>
            </a:r>
          </a:p>
        </p:txBody>
      </p:sp>
      <p:sp>
        <p:nvSpPr>
          <p:cNvPr id="31" name="Figure 16 label 24 line 2">
            <a:extLst xmlns:a="http://schemas.openxmlformats.org/drawingml/2006/main">
              <a:ext uri="{FF2B5EF4-FFF2-40B4-BE49-F238E27FC236}">
                <a16:creationId xmlns:a16="http://schemas.microsoft.com/office/drawing/2014/main" id="{CA391251-4800-4C6F-8B31-CA0A8DD7E672}"/>
              </a:ext>
            </a:extLst>
          </p:cNvPr>
          <p:cNvSpPr>
            <a:spLocks xmlns:a="http://schemas.openxmlformats.org/drawingml/2006/main" noGrp="1"/>
          </p:cNvSpPr>
          <p:nvPr/>
        </p:nvSpPr>
        <p:spPr>
          <a:xfrm xmlns:a="http://schemas.openxmlformats.org/drawingml/2006/main" rot="0">
            <a:off x="1730502" y="6583871"/>
            <a:ext cx="289452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Benchmark on held-out experiments</a:t>
            </a:r>
          </a:p>
        </p:txBody>
      </p:sp>
      <p:sp>
        <p:nvSpPr>
          <p:cNvPr id="32" name="Figure 16 label 25 line 1">
            <a:extLst xmlns:a="http://schemas.openxmlformats.org/drawingml/2006/main">
              <a:ext uri="{FF2B5EF4-FFF2-40B4-BE49-F238E27FC236}">
                <a16:creationId xmlns:a16="http://schemas.microsoft.com/office/drawing/2014/main" id="{5559A759-806B-4195-A072-EA4D5D90948C}"/>
              </a:ext>
            </a:extLst>
          </p:cNvPr>
          <p:cNvSpPr>
            <a:spLocks xmlns:a="http://schemas.openxmlformats.org/drawingml/2006/main" noGrp="1"/>
          </p:cNvSpPr>
          <p:nvPr/>
        </p:nvSpPr>
        <p:spPr>
          <a:xfrm xmlns:a="http://schemas.openxmlformats.org/drawingml/2006/main" rot="0">
            <a:off x="5799029" y="2810256"/>
            <a:ext cx="776823"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Proposals</a:t>
            </a:r>
          </a:p>
        </p:txBody>
      </p:sp>
      <p:sp>
        <p:nvSpPr>
          <p:cNvPr id="33" name="Figure 16 label 26 line 1">
            <a:extLst xmlns:a="http://schemas.openxmlformats.org/drawingml/2006/main">
              <a:ext uri="{FF2B5EF4-FFF2-40B4-BE49-F238E27FC236}">
                <a16:creationId xmlns:a16="http://schemas.microsoft.com/office/drawing/2014/main" id="{3A67F071-D79C-4C95-ABC1-29A4C0B54FCF}"/>
              </a:ext>
            </a:extLst>
          </p:cNvPr>
          <p:cNvSpPr>
            <a:spLocks xmlns:a="http://schemas.openxmlformats.org/drawingml/2006/main" noGrp="1"/>
          </p:cNvSpPr>
          <p:nvPr/>
        </p:nvSpPr>
        <p:spPr>
          <a:xfrm xmlns:a="http://schemas.openxmlformats.org/drawingml/2006/main" rot="0">
            <a:off x="11607627" y="2810256"/>
            <a:ext cx="734407"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Protocols</a:t>
            </a:r>
          </a:p>
        </p:txBody>
      </p:sp>
      <p:sp>
        <p:nvSpPr>
          <p:cNvPr id="34" name="Figure 16 label 27 line 1">
            <a:extLst xmlns:a="http://schemas.openxmlformats.org/drawingml/2006/main">
              <a:ext uri="{FF2B5EF4-FFF2-40B4-BE49-F238E27FC236}">
                <a16:creationId xmlns:a16="http://schemas.microsoft.com/office/drawing/2014/main" id="{E7B4C99D-FC37-47D0-8742-D1D66EB1F522}"/>
              </a:ext>
            </a:extLst>
          </p:cNvPr>
          <p:cNvSpPr>
            <a:spLocks xmlns:a="http://schemas.openxmlformats.org/drawingml/2006/main" noGrp="1"/>
          </p:cNvSpPr>
          <p:nvPr/>
        </p:nvSpPr>
        <p:spPr>
          <a:xfrm xmlns:a="http://schemas.openxmlformats.org/drawingml/2006/main" rot="0">
            <a:off x="11425104" y="5850636"/>
            <a:ext cx="1107073"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Measurements</a:t>
            </a:r>
          </a:p>
        </p:txBody>
      </p:sp>
      <p:sp>
        <p:nvSpPr>
          <p:cNvPr id="35" name="Figure 16 label 28 line 1">
            <a:extLst xmlns:a="http://schemas.openxmlformats.org/drawingml/2006/main">
              <a:ext uri="{FF2B5EF4-FFF2-40B4-BE49-F238E27FC236}">
                <a16:creationId xmlns:a16="http://schemas.microsoft.com/office/drawing/2014/main" id="{5B0E7358-AA2E-48D8-AC25-88263521508D}"/>
              </a:ext>
            </a:extLst>
          </p:cNvPr>
          <p:cNvSpPr>
            <a:spLocks xmlns:a="http://schemas.openxmlformats.org/drawingml/2006/main" noGrp="1"/>
          </p:cNvSpPr>
          <p:nvPr/>
        </p:nvSpPr>
        <p:spPr>
          <a:xfrm xmlns:a="http://schemas.openxmlformats.org/drawingml/2006/main" rot="0">
            <a:off x="5577349" y="5850636"/>
            <a:ext cx="129638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Training evidence</a:t>
            </a:r>
          </a:p>
        </p:txBody>
      </p:sp>
      <p:sp>
        <p:nvSpPr>
          <p:cNvPr id="36" name="Figure 16 label 29 line 1">
            <a:extLst xmlns:a="http://schemas.openxmlformats.org/drawingml/2006/main">
              <a:ext uri="{FF2B5EF4-FFF2-40B4-BE49-F238E27FC236}">
                <a16:creationId xmlns:a16="http://schemas.microsoft.com/office/drawing/2014/main" id="{47610779-1D6F-4D01-92E9-2A98F5B3E32C}"/>
              </a:ext>
            </a:extLst>
          </p:cNvPr>
          <p:cNvSpPr>
            <a:spLocks xmlns:a="http://schemas.openxmlformats.org/drawingml/2006/main" noGrp="1"/>
          </p:cNvSpPr>
          <p:nvPr/>
        </p:nvSpPr>
        <p:spPr>
          <a:xfrm xmlns:a="http://schemas.openxmlformats.org/drawingml/2006/main" rot="0">
            <a:off x="1600810" y="4204106"/>
            <a:ext cx="13119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Deploy only</a:t>
            </a:r>
          </a:p>
        </p:txBody>
      </p:sp>
      <p:sp>
        <p:nvSpPr>
          <p:cNvPr id="37" name="Figure 16 label 29 line 2">
            <a:extLst xmlns:a="http://schemas.openxmlformats.org/drawingml/2006/main">
              <a:ext uri="{FF2B5EF4-FFF2-40B4-BE49-F238E27FC236}">
                <a16:creationId xmlns:a16="http://schemas.microsoft.com/office/drawing/2014/main" id="{9D82213A-5F16-456A-861B-0D73AC4EDEA2}"/>
              </a:ext>
            </a:extLst>
          </p:cNvPr>
          <p:cNvSpPr>
            <a:spLocks xmlns:a="http://schemas.openxmlformats.org/drawingml/2006/main" noGrp="1"/>
          </p:cNvSpPr>
          <p:nvPr/>
        </p:nvSpPr>
        <p:spPr>
          <a:xfrm xmlns:a="http://schemas.openxmlformats.org/drawingml/2006/main" rot="0">
            <a:off x="1600810" y="4423181"/>
            <a:ext cx="13119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verified</a:t>
            </a:r>
          </a:p>
        </p:txBody>
      </p:sp>
      <p:sp>
        <p:nvSpPr>
          <p:cNvPr id="38" name="Figure 16 label 29 line 3">
            <a:extLst xmlns:a="http://schemas.openxmlformats.org/drawingml/2006/main">
              <a:ext uri="{FF2B5EF4-FFF2-40B4-BE49-F238E27FC236}">
                <a16:creationId xmlns:a16="http://schemas.microsoft.com/office/drawing/2014/main" id="{F4796CEB-A569-476C-A3D0-99A188F2424C}"/>
              </a:ext>
            </a:extLst>
          </p:cNvPr>
          <p:cNvSpPr>
            <a:spLocks xmlns:a="http://schemas.openxmlformats.org/drawingml/2006/main" noGrp="1"/>
          </p:cNvSpPr>
          <p:nvPr/>
        </p:nvSpPr>
        <p:spPr>
          <a:xfrm xmlns:a="http://schemas.openxmlformats.org/drawingml/2006/main" rot="0">
            <a:off x="1600810" y="4642256"/>
            <a:ext cx="13119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improvements</a:t>
            </a:r>
          </a:p>
        </p:txBody>
      </p:sp>
      <p:sp>
        <p:nvSpPr>
          <p:cNvPr id="39" name="Figure 16 label 30 line 1">
            <a:extLst xmlns:a="http://schemas.openxmlformats.org/drawingml/2006/main">
              <a:ext uri="{FF2B5EF4-FFF2-40B4-BE49-F238E27FC236}">
                <a16:creationId xmlns:a16="http://schemas.microsoft.com/office/drawing/2014/main" id="{31A89A9B-5618-448A-A438-B8DAD2B83A25}"/>
              </a:ext>
            </a:extLst>
          </p:cNvPr>
          <p:cNvSpPr>
            <a:spLocks xmlns:a="http://schemas.openxmlformats.org/drawingml/2006/main" noGrp="1"/>
          </p:cNvSpPr>
          <p:nvPr/>
        </p:nvSpPr>
        <p:spPr>
          <a:xfrm xmlns:a="http://schemas.openxmlformats.org/drawingml/2006/main" rot="0">
            <a:off x="15232990" y="4211726"/>
            <a:ext cx="124397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Throughput</a:t>
            </a:r>
          </a:p>
        </p:txBody>
      </p:sp>
      <p:sp>
        <p:nvSpPr>
          <p:cNvPr id="40" name="Figure 16 label 30 line 2">
            <a:extLst xmlns:a="http://schemas.openxmlformats.org/drawingml/2006/main">
              <a:ext uri="{FF2B5EF4-FFF2-40B4-BE49-F238E27FC236}">
                <a16:creationId xmlns:a16="http://schemas.microsoft.com/office/drawing/2014/main" id="{7C52DAB8-74F9-4ED6-83BD-50339EC8C67B}"/>
              </a:ext>
            </a:extLst>
          </p:cNvPr>
          <p:cNvSpPr>
            <a:spLocks xmlns:a="http://schemas.openxmlformats.org/drawingml/2006/main" noGrp="1"/>
          </p:cNvSpPr>
          <p:nvPr/>
        </p:nvSpPr>
        <p:spPr>
          <a:xfrm xmlns:a="http://schemas.openxmlformats.org/drawingml/2006/main" rot="0">
            <a:off x="15232990" y="4430801"/>
            <a:ext cx="124397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Assay quality</a:t>
            </a:r>
          </a:p>
        </p:txBody>
      </p:sp>
      <p:sp>
        <p:nvSpPr>
          <p:cNvPr id="41" name="Figure 16 label 30 line 3">
            <a:extLst xmlns:a="http://schemas.openxmlformats.org/drawingml/2006/main">
              <a:ext uri="{FF2B5EF4-FFF2-40B4-BE49-F238E27FC236}">
                <a16:creationId xmlns:a16="http://schemas.microsoft.com/office/drawing/2014/main" id="{1F8AE0AF-A96C-4A15-98F8-69E4BBF5DF3D}"/>
              </a:ext>
            </a:extLst>
          </p:cNvPr>
          <p:cNvSpPr>
            <a:spLocks xmlns:a="http://schemas.openxmlformats.org/drawingml/2006/main" noGrp="1"/>
          </p:cNvSpPr>
          <p:nvPr/>
        </p:nvSpPr>
        <p:spPr>
          <a:xfrm xmlns:a="http://schemas.openxmlformats.org/drawingml/2006/main" rot="0">
            <a:off x="15232990" y="4649876"/>
            <a:ext cx="124397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Money + time</a:t>
            </a:r>
          </a:p>
        </p:txBody>
      </p:sp>
      <p:sp>
        <p:nvSpPr>
          <p:cNvPr id="42" name="Figure 16 label 31 line 1">
            <a:extLst xmlns:a="http://schemas.openxmlformats.org/drawingml/2006/main">
              <a:ext uri="{FF2B5EF4-FFF2-40B4-BE49-F238E27FC236}">
                <a16:creationId xmlns:a16="http://schemas.microsoft.com/office/drawing/2014/main" id="{15E5477E-4E25-43B7-89A7-04EDCBF19B5C}"/>
              </a:ext>
            </a:extLst>
          </p:cNvPr>
          <p:cNvSpPr>
            <a:spLocks xmlns:a="http://schemas.openxmlformats.org/drawingml/2006/main" noGrp="1"/>
          </p:cNvSpPr>
          <p:nvPr/>
        </p:nvSpPr>
        <p:spPr>
          <a:xfrm xmlns:a="http://schemas.openxmlformats.org/drawingml/2006/main" rot="0">
            <a:off x="6912126" y="4071518"/>
            <a:ext cx="4425648"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80" b="1">
                <a:solidFill>
                  <a:srgbClr val="00355F"/>
                </a:solidFill>
                <a:latin typeface="Arial"/>
                <a:ea typeface="Arial"/>
                <a:cs typeface="Arial"/>
              </a:defRPr>
            </a:defPPr>
          </a:lstStyle>
          <a:p xmlns:a="http://schemas.openxmlformats.org/drawingml/2006/main">
            <a:pPr algn="ctr">
              <a:lnSpc>
                <a:spcPct val="100000"/>
              </a:lnSpc>
              <a:buNone/>
              <a:defRPr sz="2280" b="1">
                <a:solidFill>
                  <a:srgbClr val="00355F"/>
                </a:solidFill>
                <a:latin typeface="Arial"/>
                <a:ea typeface="Arial"/>
                <a:cs typeface="Arial"/>
              </a:defRPr>
            </a:pPr>
            <a:r>
              <a:rPr sz="2280" b="1">
                <a:solidFill>
                  <a:srgbClr val="00355F"/>
                </a:solidFill>
                <a:latin typeface="Arial"/>
                <a:ea typeface="Arial"/>
                <a:cs typeface="Arial"/>
              </a:rPr>
              <a:t>Better AI → better experiments</a:t>
            </a:r>
          </a:p>
        </p:txBody>
      </p:sp>
      <p:sp>
        <p:nvSpPr>
          <p:cNvPr id="43" name="Figure 16 label 31 line 2">
            <a:extLst xmlns:a="http://schemas.openxmlformats.org/drawingml/2006/main">
              <a:ext uri="{FF2B5EF4-FFF2-40B4-BE49-F238E27FC236}">
                <a16:creationId xmlns:a16="http://schemas.microsoft.com/office/drawing/2014/main" id="{72AC0069-2195-4642-AE92-40CBA588E618}"/>
              </a:ext>
            </a:extLst>
          </p:cNvPr>
          <p:cNvSpPr>
            <a:spLocks xmlns:a="http://schemas.openxmlformats.org/drawingml/2006/main" noGrp="1"/>
          </p:cNvSpPr>
          <p:nvPr/>
        </p:nvSpPr>
        <p:spPr>
          <a:xfrm xmlns:a="http://schemas.openxmlformats.org/drawingml/2006/main" rot="0">
            <a:off x="6912126" y="4433468"/>
            <a:ext cx="4425648"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80" b="1">
                <a:solidFill>
                  <a:srgbClr val="00355F"/>
                </a:solidFill>
                <a:latin typeface="Arial"/>
                <a:ea typeface="Arial"/>
                <a:cs typeface="Arial"/>
              </a:defRPr>
            </a:defPPr>
          </a:lstStyle>
          <a:p xmlns:a="http://schemas.openxmlformats.org/drawingml/2006/main">
            <a:pPr algn="ctr">
              <a:lnSpc>
                <a:spcPct val="100000"/>
              </a:lnSpc>
              <a:buNone/>
              <a:defRPr sz="2280" b="1">
                <a:solidFill>
                  <a:srgbClr val="00355F"/>
                </a:solidFill>
                <a:latin typeface="Arial"/>
                <a:ea typeface="Arial"/>
                <a:cs typeface="Arial"/>
              </a:defRPr>
            </a:pPr>
            <a:r>
              <a:rPr sz="2280" b="1">
                <a:solidFill>
                  <a:srgbClr val="00355F"/>
                </a:solidFill>
                <a:latin typeface="Arial"/>
                <a:ea typeface="Arial"/>
                <a:cs typeface="Arial"/>
              </a:rPr>
              <a:t>→ better AI</a:t>
            </a:r>
          </a:p>
        </p:txBody>
      </p:sp>
      <p:sp>
        <p:nvSpPr>
          <p:cNvPr id="44" name="Figure 16 label 32 line 1">
            <a:extLst xmlns:a="http://schemas.openxmlformats.org/drawingml/2006/main">
              <a:ext uri="{FF2B5EF4-FFF2-40B4-BE49-F238E27FC236}">
                <a16:creationId xmlns:a16="http://schemas.microsoft.com/office/drawing/2014/main" id="{AA5A4E8D-69A5-4C71-9285-2BC7E14356CE}"/>
              </a:ext>
            </a:extLst>
          </p:cNvPr>
          <p:cNvSpPr>
            <a:spLocks xmlns:a="http://schemas.openxmlformats.org/drawingml/2006/main" noGrp="1"/>
          </p:cNvSpPr>
          <p:nvPr/>
        </p:nvSpPr>
        <p:spPr>
          <a:xfrm xmlns:a="http://schemas.openxmlformats.org/drawingml/2006/main" rot="0">
            <a:off x="7369882" y="4907890"/>
            <a:ext cx="351013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0">
                <a:solidFill>
                  <a:srgbClr val="00355F"/>
                </a:solidFill>
                <a:latin typeface="Arial"/>
                <a:ea typeface="Arial"/>
                <a:cs typeface="Arial"/>
              </a:defRPr>
            </a:defPPr>
          </a:lstStyle>
          <a:p xmlns:a="http://schemas.openxmlformats.org/drawingml/2006/main">
            <a:pPr algn="ctr">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Potential recursive gains need comparable,</a:t>
            </a:r>
          </a:p>
        </p:txBody>
      </p:sp>
      <p:sp>
        <p:nvSpPr>
          <p:cNvPr id="45" name="Figure 16 label 32 line 2">
            <a:extLst xmlns:a="http://schemas.openxmlformats.org/drawingml/2006/main">
              <a:ext uri="{FF2B5EF4-FFF2-40B4-BE49-F238E27FC236}">
                <a16:creationId xmlns:a16="http://schemas.microsoft.com/office/drawing/2014/main" id="{B5621731-CEF8-4B81-A34D-901D9BC42577}"/>
              </a:ext>
            </a:extLst>
          </p:cNvPr>
          <p:cNvSpPr>
            <a:spLocks xmlns:a="http://schemas.openxmlformats.org/drawingml/2006/main" noGrp="1"/>
          </p:cNvSpPr>
          <p:nvPr/>
        </p:nvSpPr>
        <p:spPr>
          <a:xfrm xmlns:a="http://schemas.openxmlformats.org/drawingml/2006/main" rot="0">
            <a:off x="7369882" y="5117440"/>
            <a:ext cx="351013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0">
                <a:solidFill>
                  <a:srgbClr val="00355F"/>
                </a:solidFill>
                <a:latin typeface="Arial"/>
                <a:ea typeface="Arial"/>
                <a:cs typeface="Arial"/>
              </a:defRPr>
            </a:defPPr>
          </a:lstStyle>
          <a:p xmlns:a="http://schemas.openxmlformats.org/drawingml/2006/main">
            <a:pPr algn="ctr">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reproducible evidence from the physical world</a:t>
            </a:r>
          </a:p>
        </p:txBody>
      </p:sp>
      <p:sp>
        <p:nvSpPr>
          <p:cNvPr id="46" name="Figure 16 label 33 line 1">
            <a:extLst xmlns:a="http://schemas.openxmlformats.org/drawingml/2006/main">
              <a:ext uri="{FF2B5EF4-FFF2-40B4-BE49-F238E27FC236}">
                <a16:creationId xmlns:a16="http://schemas.microsoft.com/office/drawing/2014/main" id="{7EA40130-F642-41DC-8FC3-14B70AF9D1E2}"/>
              </a:ext>
            </a:extLst>
          </p:cNvPr>
          <p:cNvSpPr>
            <a:spLocks xmlns:a="http://schemas.openxmlformats.org/drawingml/2006/main" noGrp="1"/>
          </p:cNvSpPr>
          <p:nvPr/>
        </p:nvSpPr>
        <p:spPr>
          <a:xfrm xmlns:a="http://schemas.openxmlformats.org/drawingml/2006/main" rot="0">
            <a:off x="753466" y="7131710"/>
            <a:ext cx="4798046"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LST supports every return to physical biology</a:t>
            </a:r>
          </a:p>
        </p:txBody>
      </p:sp>
      <p:sp>
        <p:nvSpPr>
          <p:cNvPr id="47" name="Figure 16 label 34 line 1">
            <a:extLst xmlns:a="http://schemas.openxmlformats.org/drawingml/2006/main">
              <a:ext uri="{FF2B5EF4-FFF2-40B4-BE49-F238E27FC236}">
                <a16:creationId xmlns:a16="http://schemas.microsoft.com/office/drawing/2014/main" id="{51178DC3-11CA-48A9-8979-F7ECE87CB7D3}"/>
              </a:ext>
            </a:extLst>
          </p:cNvPr>
          <p:cNvSpPr>
            <a:spLocks xmlns:a="http://schemas.openxmlformats.org/drawingml/2006/main" noGrp="1"/>
          </p:cNvSpPr>
          <p:nvPr/>
        </p:nvSpPr>
        <p:spPr>
          <a:xfrm xmlns:a="http://schemas.openxmlformats.org/drawingml/2006/main" rot="0">
            <a:off x="1334110" y="7686446"/>
            <a:ext cx="649403"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BUILD</a:t>
            </a:r>
          </a:p>
        </p:txBody>
      </p:sp>
      <p:sp>
        <p:nvSpPr>
          <p:cNvPr id="48" name="Figure 16 label 35 line 1">
            <a:extLst xmlns:a="http://schemas.openxmlformats.org/drawingml/2006/main">
              <a:ext uri="{FF2B5EF4-FFF2-40B4-BE49-F238E27FC236}">
                <a16:creationId xmlns:a16="http://schemas.microsoft.com/office/drawing/2014/main" id="{BB1E8550-4651-4E80-9CEA-9D611AAF171A}"/>
              </a:ext>
            </a:extLst>
          </p:cNvPr>
          <p:cNvSpPr>
            <a:spLocks xmlns:a="http://schemas.openxmlformats.org/drawingml/2006/main" noGrp="1"/>
          </p:cNvSpPr>
          <p:nvPr/>
        </p:nvSpPr>
        <p:spPr>
          <a:xfrm xmlns:a="http://schemas.openxmlformats.org/drawingml/2006/main" rot="0">
            <a:off x="946099" y="8034833"/>
            <a:ext cx="297669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DNA synthesis · expression · purification</a:t>
            </a:r>
          </a:p>
        </p:txBody>
      </p:sp>
      <p:sp>
        <p:nvSpPr>
          <p:cNvPr id="49" name="Figure 16 label 36 line 1">
            <a:extLst xmlns:a="http://schemas.openxmlformats.org/drawingml/2006/main">
              <a:ext uri="{FF2B5EF4-FFF2-40B4-BE49-F238E27FC236}">
                <a16:creationId xmlns:a16="http://schemas.microsoft.com/office/drawing/2014/main" id="{819AFB11-CEEB-41C5-B2E8-A109F3E6B027}"/>
              </a:ext>
            </a:extLst>
          </p:cNvPr>
          <p:cNvSpPr>
            <a:spLocks xmlns:a="http://schemas.openxmlformats.org/drawingml/2006/main" noGrp="1"/>
          </p:cNvSpPr>
          <p:nvPr/>
        </p:nvSpPr>
        <p:spPr>
          <a:xfrm xmlns:a="http://schemas.openxmlformats.org/drawingml/2006/main" rot="0">
            <a:off x="6858610" y="7686446"/>
            <a:ext cx="561892"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TEST</a:t>
            </a:r>
          </a:p>
        </p:txBody>
      </p:sp>
      <p:sp>
        <p:nvSpPr>
          <p:cNvPr id="50" name="Figure 16 label 37 line 1">
            <a:extLst xmlns:a="http://schemas.openxmlformats.org/drawingml/2006/main">
              <a:ext uri="{FF2B5EF4-FFF2-40B4-BE49-F238E27FC236}">
                <a16:creationId xmlns:a16="http://schemas.microsoft.com/office/drawing/2014/main" id="{B7FCCAF3-1E08-4ED3-8080-DC7DE3E8B540}"/>
              </a:ext>
            </a:extLst>
          </p:cNvPr>
          <p:cNvSpPr>
            <a:spLocks xmlns:a="http://schemas.openxmlformats.org/drawingml/2006/main" noGrp="1"/>
          </p:cNvSpPr>
          <p:nvPr/>
        </p:nvSpPr>
        <p:spPr>
          <a:xfrm xmlns:a="http://schemas.openxmlformats.org/drawingml/2006/main" rot="0">
            <a:off x="6470599" y="8027213"/>
            <a:ext cx="305676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Proteins · biosensors · analytical columns</a:t>
            </a:r>
          </a:p>
        </p:txBody>
      </p:sp>
      <p:sp>
        <p:nvSpPr>
          <p:cNvPr id="51" name="Figure 16 label 37 line 2">
            <a:extLst xmlns:a="http://schemas.openxmlformats.org/drawingml/2006/main">
              <a:ext uri="{FF2B5EF4-FFF2-40B4-BE49-F238E27FC236}">
                <a16:creationId xmlns:a16="http://schemas.microsoft.com/office/drawing/2014/main" id="{B0C6B5A6-095F-4A79-AFE8-DB4FB87B3B43}"/>
              </a:ext>
            </a:extLst>
          </p:cNvPr>
          <p:cNvSpPr>
            <a:spLocks xmlns:a="http://schemas.openxmlformats.org/drawingml/2006/main" noGrp="1"/>
          </p:cNvSpPr>
          <p:nvPr/>
        </p:nvSpPr>
        <p:spPr>
          <a:xfrm xmlns:a="http://schemas.openxmlformats.org/drawingml/2006/main" rot="0">
            <a:off x="6470599" y="8227238"/>
            <a:ext cx="305676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Cell assays · measurement platforms</a:t>
            </a:r>
          </a:p>
        </p:txBody>
      </p:sp>
      <p:sp>
        <p:nvSpPr>
          <p:cNvPr id="52" name="Figure 16 label 38 line 1">
            <a:extLst xmlns:a="http://schemas.openxmlformats.org/drawingml/2006/main">
              <a:ext uri="{FF2B5EF4-FFF2-40B4-BE49-F238E27FC236}">
                <a16:creationId xmlns:a16="http://schemas.microsoft.com/office/drawing/2014/main" id="{8770F605-EA67-4210-B4D4-E150ECD25909}"/>
              </a:ext>
            </a:extLst>
          </p:cNvPr>
          <p:cNvSpPr>
            <a:spLocks xmlns:a="http://schemas.openxmlformats.org/drawingml/2006/main" noGrp="1"/>
          </p:cNvSpPr>
          <p:nvPr/>
        </p:nvSpPr>
        <p:spPr>
          <a:xfrm xmlns:a="http://schemas.openxmlformats.org/drawingml/2006/main" rot="0">
            <a:off x="12497410" y="7686446"/>
            <a:ext cx="1774246"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CONNECT + SCALE</a:t>
            </a:r>
          </a:p>
        </p:txBody>
      </p:sp>
      <p:sp>
        <p:nvSpPr>
          <p:cNvPr id="53" name="Figure 16 label 39 line 1">
            <a:extLst xmlns:a="http://schemas.openxmlformats.org/drawingml/2006/main">
              <a:ext uri="{FF2B5EF4-FFF2-40B4-BE49-F238E27FC236}">
                <a16:creationId xmlns:a16="http://schemas.microsoft.com/office/drawing/2014/main" id="{D26743C8-B597-476F-BD54-DD7E89E2F6EA}"/>
              </a:ext>
            </a:extLst>
          </p:cNvPr>
          <p:cNvSpPr>
            <a:spLocks xmlns:a="http://schemas.openxmlformats.org/drawingml/2006/main" noGrp="1"/>
          </p:cNvSpPr>
          <p:nvPr/>
        </p:nvSpPr>
        <p:spPr>
          <a:xfrm xmlns:a="http://schemas.openxmlformats.org/drawingml/2006/main" rot="0">
            <a:off x="12109399" y="8027213"/>
            <a:ext cx="280807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Labware · automation · data platforms</a:t>
            </a:r>
          </a:p>
        </p:txBody>
      </p:sp>
      <p:sp>
        <p:nvSpPr>
          <p:cNvPr id="54" name="Figure 16 label 39 line 2">
            <a:extLst xmlns:a="http://schemas.openxmlformats.org/drawingml/2006/main">
              <a:ext uri="{FF2B5EF4-FFF2-40B4-BE49-F238E27FC236}">
                <a16:creationId xmlns:a16="http://schemas.microsoft.com/office/drawing/2014/main" id="{7C89FCE0-FBA7-4D42-BB44-E7035EB46184}"/>
              </a:ext>
            </a:extLst>
          </p:cNvPr>
          <p:cNvSpPr>
            <a:spLocks xmlns:a="http://schemas.openxmlformats.org/drawingml/2006/main" noGrp="1"/>
          </p:cNvSpPr>
          <p:nvPr/>
        </p:nvSpPr>
        <p:spPr>
          <a:xfrm xmlns:a="http://schemas.openxmlformats.org/drawingml/2006/main" rot="0">
            <a:off x="12109399" y="8227238"/>
            <a:ext cx="280807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Comparable records across batches</a:t>
            </a:r>
          </a:p>
        </p:txBody>
      </p:sp>
      <p:sp>
        <p:nvSpPr>
          <p:cNvPr id="55" name="Figure 16 label 40 line 1">
            <a:extLst xmlns:a="http://schemas.openxmlformats.org/drawingml/2006/main">
              <a:ext uri="{FF2B5EF4-FFF2-40B4-BE49-F238E27FC236}">
                <a16:creationId xmlns:a16="http://schemas.microsoft.com/office/drawing/2014/main" id="{E03EC338-40C4-41A4-8F21-97732852C761}"/>
              </a:ext>
            </a:extLst>
          </p:cNvPr>
          <p:cNvSpPr>
            <a:spLocks xmlns:a="http://schemas.openxmlformats.org/drawingml/2006/main" noGrp="1"/>
          </p:cNvSpPr>
          <p:nvPr/>
        </p:nvSpPr>
        <p:spPr>
          <a:xfrm xmlns:a="http://schemas.openxmlformats.org/drawingml/2006/main" rot="0">
            <a:off x="4572524" y="8759038"/>
            <a:ext cx="9142952"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920" b="1">
                <a:solidFill>
                  <a:srgbClr val="FFFFFF"/>
                </a:solidFill>
                <a:latin typeface="Arial"/>
                <a:ea typeface="Arial"/>
                <a:cs typeface="Arial"/>
              </a:defRPr>
            </a:defPPr>
          </a:lstStyle>
          <a:p xmlns:a="http://schemas.openxmlformats.org/drawingml/2006/main">
            <a:pPr algn="ctr">
              <a:lnSpc>
                <a:spcPct val="100000"/>
              </a:lnSpc>
              <a:buNone/>
              <a:defRPr sz="1920" b="1">
                <a:solidFill>
                  <a:srgbClr val="FFFFFF"/>
                </a:solidFill>
                <a:latin typeface="Arial"/>
                <a:ea typeface="Arial"/>
                <a:cs typeface="Arial"/>
              </a:defRPr>
            </a:pPr>
            <a:r>
              <a:rPr sz="1920" b="1">
                <a:solidFill>
                  <a:srgbClr val="FFFFFF"/>
                </a:solidFill>
                <a:latin typeface="Arial"/>
                <a:ea typeface="Arial"/>
                <a:cs typeface="Arial"/>
              </a:rPr>
              <a:t>The pace of improvement depends on useful experimental evidence per cycle</a:t>
            </a:r>
          </a:p>
        </p:txBody>
      </p:sp>
      <p:sp>
        <p:nvSpPr>
          <p:cNvPr id="56" name="Figure 16 label 41 line 1">
            <a:extLst xmlns:a="http://schemas.openxmlformats.org/drawingml/2006/main">
              <a:ext uri="{FF2B5EF4-FFF2-40B4-BE49-F238E27FC236}">
                <a16:creationId xmlns:a16="http://schemas.microsoft.com/office/drawing/2014/main" id="{E8D68BE1-3242-4989-873D-95E5397137CC}"/>
              </a:ext>
            </a:extLst>
          </p:cNvPr>
          <p:cNvSpPr>
            <a:spLocks xmlns:a="http://schemas.openxmlformats.org/drawingml/2006/main" noGrp="1"/>
          </p:cNvSpPr>
          <p:nvPr/>
        </p:nvSpPr>
        <p:spPr>
          <a:xfrm xmlns:a="http://schemas.openxmlformats.org/drawingml/2006/main" rot="0">
            <a:off x="753161" y="9369247"/>
            <a:ext cx="809984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1">
                <a:solidFill>
                  <a:srgbClr val="00355F"/>
                </a:solidFill>
                <a:latin typeface="Arial"/>
                <a:ea typeface="Arial"/>
                <a:cs typeface="Arial"/>
              </a:defRPr>
            </a:defPPr>
          </a:lstStyle>
          <a:p xmlns:a="http://schemas.openxmlformats.org/drawingml/2006/main">
            <a:pPr algn="l">
              <a:lnSpc>
                <a:spcPct val="100000"/>
              </a:lnSpc>
              <a:buNone/>
              <a:defRPr sz="1740" b="1">
                <a:solidFill>
                  <a:srgbClr val="00355F"/>
                </a:solidFill>
                <a:latin typeface="Arial"/>
                <a:ea typeface="Arial"/>
                <a:cs typeface="Arial"/>
              </a:defRPr>
            </a:pPr>
            <a:r>
              <a:rPr sz="1740" b="1">
                <a:solidFill>
                  <a:srgbClr val="00355F"/>
                </a:solidFill>
                <a:latin typeface="Arial"/>
                <a:ea typeface="Arial"/>
                <a:cs typeface="Arial"/>
              </a:rPr>
              <a:t>Potential LST demand ∝ funded cycles × assay depth × net inputs per assay</a:t>
            </a:r>
          </a:p>
        </p:txBody>
      </p:sp>
      <p:sp>
        <p:nvSpPr>
          <p:cNvPr id="57" name="Figure 16 label 42 line 1">
            <a:extLst xmlns:a="http://schemas.openxmlformats.org/drawingml/2006/main">
              <a:ext uri="{FF2B5EF4-FFF2-40B4-BE49-F238E27FC236}">
                <a16:creationId xmlns:a16="http://schemas.microsoft.com/office/drawing/2014/main" id="{1F7A712E-C7E8-456E-B1EB-C0E65BB7AE52}"/>
              </a:ext>
            </a:extLst>
          </p:cNvPr>
          <p:cNvSpPr>
            <a:spLocks xmlns:a="http://schemas.openxmlformats.org/drawingml/2006/main" noGrp="1"/>
          </p:cNvSpPr>
          <p:nvPr/>
        </p:nvSpPr>
        <p:spPr>
          <a:xfrm xmlns:a="http://schemas.openxmlformats.org/drawingml/2006/main" rot="0">
            <a:off x="755904" y="9736836"/>
            <a:ext cx="685898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Automation and miniaturization can reduce inputs per measurement; instrument CAPEX is separate.</a:t>
            </a:r>
          </a:p>
        </p:txBody>
      </p:sp>
      <p:sp>
        <p:nvSpPr>
          <p:cNvPr id="58" name="Figure 16 label 43 line 1">
            <a:extLst xmlns:a="http://schemas.openxmlformats.org/drawingml/2006/main">
              <a:ext uri="{FF2B5EF4-FFF2-40B4-BE49-F238E27FC236}">
                <a16:creationId xmlns:a16="http://schemas.microsoft.com/office/drawing/2014/main" id="{496A9F14-7740-4909-9551-A6CA5F0AD0D0}"/>
              </a:ext>
            </a:extLst>
          </p:cNvPr>
          <p:cNvSpPr>
            <a:spLocks xmlns:a="http://schemas.openxmlformats.org/drawingml/2006/main" noGrp="1"/>
          </p:cNvSpPr>
          <p:nvPr/>
        </p:nvSpPr>
        <p:spPr>
          <a:xfrm xmlns:a="http://schemas.openxmlformats.org/drawingml/2006/main" rot="0">
            <a:off x="757123" y="10037369"/>
            <a:ext cx="7147244"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60" b="0">
                <a:solidFill>
                  <a:srgbClr val="00355F"/>
                </a:solidFill>
                <a:latin typeface="Arial"/>
                <a:ea typeface="Arial"/>
                <a:cs typeface="Arial"/>
              </a:defRPr>
            </a:defPPr>
          </a:lstStyle>
          <a:p xmlns:a="http://schemas.openxmlformats.org/drawingml/2006/main">
            <a:pPr algn="l">
              <a:lnSpc>
                <a:spcPct val="100000"/>
              </a:lnSpc>
              <a:buNone/>
              <a:defRPr sz="960" b="0">
                <a:solidFill>
                  <a:srgbClr val="00355F"/>
                </a:solidFill>
                <a:latin typeface="Arial"/>
                <a:ea typeface="Arial"/>
                <a:cs typeface="Arial"/>
              </a:defRPr>
            </a:pPr>
            <a:r>
              <a:rPr sz="960" b="0">
                <a:solidFill>
                  <a:srgbClr val="00355F"/>
                </a:solidFill>
                <a:latin typeface="Arial"/>
                <a:ea typeface="Arial"/>
                <a:cs typeface="Arial"/>
              </a:rPr>
              <a:t>Conceptual RSI mechanism. Closed-loop learning does not establish sustained autonomous RSI. Primary sources: SOURCES.md.</a:t>
            </a:r>
          </a:p>
        </p:txBody>
      </p:sp>
    </p:spTree>
    <p:extLst>
      <p:ext uri="{BB962C8B-B14F-4D97-AF65-F5344CB8AC3E}">
        <p14:creationId xmlns:p14="http://schemas.microsoft.com/office/powerpoint/2010/main" val="10255995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2026-10-13T11:39:04.8820000Z</dcterms:created>
  <dcterms:modified xsi:type="dcterms:W3CDTF">2026-10-13T11:39:04.8820000Z</dcterms:modified>
</coreProperties>
</file>