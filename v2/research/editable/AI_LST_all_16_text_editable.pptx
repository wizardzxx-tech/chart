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60ca7573724c79" /><Relationship Type="http://schemas.openxmlformats.org/officeDocument/2006/relationships/extended-properties" Target="/docProps/app.xml" Id="R8664a6f952c04df3" /><Relationship Type="http://schemas.openxmlformats.org/officeDocument/2006/relationships/officeDocument" Target="/ppt/presentation.xml" Id="R06d26619293f48c1" /></Relationships>
</file>

<file path=ppt/presentation.xml><?xml version="1.0" encoding="utf-8"?>
<p:presentation xmlns:p="http://schemas.openxmlformats.org/presentationml/2006/main">
  <p:sldMasterIdLst>
    <p:sldMasterId xmlns:r="http://schemas.openxmlformats.org/officeDocument/2006/relationships" id="2147483648" r:id="Rc991343ae46448ca"/>
  </p:sldMasterIdLst>
  <p:notesMasterIdLst>
    <p:notesMasterId xmlns:r="http://schemas.openxmlformats.org/officeDocument/2006/relationships" r:id="R186ea23afb8a4df0"/>
  </p:notesMasterIdLst>
  <p:sldIdLst>
    <p:sldId xmlns:r="http://schemas.openxmlformats.org/officeDocument/2006/relationships" id="256" r:id="R825a8185ed2f4da0"/>
    <p:sldId xmlns:r="http://schemas.openxmlformats.org/officeDocument/2006/relationships" id="257" r:id="Rfd13adb585e44202"/>
    <p:sldId xmlns:r="http://schemas.openxmlformats.org/officeDocument/2006/relationships" id="258" r:id="Rcf3eeb829e03498f"/>
    <p:sldId xmlns:r="http://schemas.openxmlformats.org/officeDocument/2006/relationships" id="259" r:id="Rf16f4452f5404dc3"/>
    <p:sldId xmlns:r="http://schemas.openxmlformats.org/officeDocument/2006/relationships" id="260" r:id="Rd82baf4fd26146f9"/>
    <p:sldId xmlns:r="http://schemas.openxmlformats.org/officeDocument/2006/relationships" id="261" r:id="R22eda5f473af4966"/>
    <p:sldId xmlns:r="http://schemas.openxmlformats.org/officeDocument/2006/relationships" id="262" r:id="Reb5e2c59e6434b49"/>
    <p:sldId xmlns:r="http://schemas.openxmlformats.org/officeDocument/2006/relationships" id="263" r:id="R9f693aac39cd4328"/>
    <p:sldId xmlns:r="http://schemas.openxmlformats.org/officeDocument/2006/relationships" id="264" r:id="R451dcf197cad4e2c"/>
    <p:sldId xmlns:r="http://schemas.openxmlformats.org/officeDocument/2006/relationships" id="265" r:id="Rf3baadbe367d40ec"/>
    <p:sldId xmlns:r="http://schemas.openxmlformats.org/officeDocument/2006/relationships" id="266" r:id="R96848e19be10495c"/>
    <p:sldId xmlns:r="http://schemas.openxmlformats.org/officeDocument/2006/relationships" id="267" r:id="R5122f58e27b04a8c"/>
    <p:sldId xmlns:r="http://schemas.openxmlformats.org/officeDocument/2006/relationships" id="268" r:id="Rdb7d18ac171c4788"/>
    <p:sldId xmlns:r="http://schemas.openxmlformats.org/officeDocument/2006/relationships" id="269" r:id="Rd1e30e63db144992"/>
    <p:sldId xmlns:r="http://schemas.openxmlformats.org/officeDocument/2006/relationships" id="270" r:id="R41263c04ccf04561"/>
    <p:sldId xmlns:r="http://schemas.openxmlformats.org/officeDocument/2006/relationships" id="271" r:id="R2626a237576e470a"/>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e374fa9081646ea" /><Relationship Type="http://schemas.openxmlformats.org/officeDocument/2006/relationships/slideMaster" Target="/ppt/slideMasters/slideMaster1.xml" Id="Rc991343ae46448ca" /><Relationship Type="http://schemas.openxmlformats.org/officeDocument/2006/relationships/notesMaster" Target="/ppt/notesMasters/notesMaster1.xml" Id="R186ea23afb8a4df0" /><Relationship Type="http://schemas.openxmlformats.org/officeDocument/2006/relationships/presProps" Target="/ppt/presProps.xml" Id="Rcb651e6ef25b4115" /><Relationship Type="http://schemas.openxmlformats.org/officeDocument/2006/relationships/tableStyles" Target="/ppt/tableStyles.xml" Id="R0a4698490b9b451c" /><Relationship Type="http://schemas.openxmlformats.org/officeDocument/2006/relationships/slide" Target="/ppt/slides/slide1.xml" Id="R825a8185ed2f4da0" /><Relationship Type="http://schemas.openxmlformats.org/officeDocument/2006/relationships/slide" Target="/ppt/slides/slide2.xml" Id="Rfd13adb585e44202" /><Relationship Type="http://schemas.openxmlformats.org/officeDocument/2006/relationships/slide" Target="/ppt/slides/slide3.xml" Id="Rcf3eeb829e03498f" /><Relationship Type="http://schemas.openxmlformats.org/officeDocument/2006/relationships/slide" Target="/ppt/slides/slide4.xml" Id="Rf16f4452f5404dc3" /><Relationship Type="http://schemas.openxmlformats.org/officeDocument/2006/relationships/slide" Target="/ppt/slides/slide5.xml" Id="Rd82baf4fd26146f9" /><Relationship Type="http://schemas.openxmlformats.org/officeDocument/2006/relationships/slide" Target="/ppt/slides/slide6.xml" Id="R22eda5f473af4966" /><Relationship Type="http://schemas.openxmlformats.org/officeDocument/2006/relationships/slide" Target="/ppt/slides/slide7.xml" Id="Reb5e2c59e6434b49" /><Relationship Type="http://schemas.openxmlformats.org/officeDocument/2006/relationships/slide" Target="/ppt/slides/slide8.xml" Id="R9f693aac39cd4328" /><Relationship Type="http://schemas.openxmlformats.org/officeDocument/2006/relationships/slide" Target="/ppt/slides/slide9.xml" Id="R451dcf197cad4e2c" /><Relationship Type="http://schemas.openxmlformats.org/officeDocument/2006/relationships/slide" Target="/ppt/slides/slide10.xml" Id="Rf3baadbe367d40ec" /><Relationship Type="http://schemas.openxmlformats.org/officeDocument/2006/relationships/slide" Target="/ppt/slides/slide11.xml" Id="R96848e19be10495c" /><Relationship Type="http://schemas.openxmlformats.org/officeDocument/2006/relationships/slide" Target="/ppt/slides/slide12.xml" Id="R5122f58e27b04a8c" /><Relationship Type="http://schemas.openxmlformats.org/officeDocument/2006/relationships/slide" Target="/ppt/slides/slide13.xml" Id="Rdb7d18ac171c4788" /><Relationship Type="http://schemas.openxmlformats.org/officeDocument/2006/relationships/slide" Target="/ppt/slides/slide14.xml" Id="Rd1e30e63db144992" /><Relationship Type="http://schemas.openxmlformats.org/officeDocument/2006/relationships/slide" Target="/ppt/slides/slide15.xml" Id="R41263c04ccf04561" /><Relationship Type="http://schemas.openxmlformats.org/officeDocument/2006/relationships/slide" Target="/ppt/slides/slide16.xml" Id="R2626a237576e470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1dc42ea1524a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94035b87d74d14" /><Relationship Type="http://schemas.openxmlformats.org/officeDocument/2006/relationships/notesMaster" Target="/ppt/notesMasters/notesMaster1.xml" Id="R1bb89108111544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d12343dd9a4b4c" /><Relationship Type="http://schemas.openxmlformats.org/officeDocument/2006/relationships/notesMaster" Target="/ppt/notesMasters/notesMaster1.xml" Id="R6d607ff4a3e74e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4139f818404d65" /><Relationship Type="http://schemas.openxmlformats.org/officeDocument/2006/relationships/notesMaster" Target="/ppt/notesMasters/notesMaster1.xml" Id="R182e50c64b5941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9a6839bcd1483c" /><Relationship Type="http://schemas.openxmlformats.org/officeDocument/2006/relationships/notesMaster" Target="/ppt/notesMasters/notesMaster1.xml" Id="Redacb553f56b41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2973cb626246f7" /><Relationship Type="http://schemas.openxmlformats.org/officeDocument/2006/relationships/notesMaster" Target="/ppt/notesMasters/notesMaster1.xml" Id="Rfb7618d9603541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592af01b354e93" /><Relationship Type="http://schemas.openxmlformats.org/officeDocument/2006/relationships/notesMaster" Target="/ppt/notesMasters/notesMaster1.xml" Id="R4c0144dd154e47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7f2473b069400e" /><Relationship Type="http://schemas.openxmlformats.org/officeDocument/2006/relationships/notesMaster" Target="/ppt/notesMasters/notesMaster1.xml" Id="R2e11dfbde10648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f9ddeb1a4b4fe3" /><Relationship Type="http://schemas.openxmlformats.org/officeDocument/2006/relationships/notesMaster" Target="/ppt/notesMasters/notesMaster1.xml" Id="R761932a1c87b4a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bec456b76d4215" /><Relationship Type="http://schemas.openxmlformats.org/officeDocument/2006/relationships/notesMaster" Target="/ppt/notesMasters/notesMaster1.xml" Id="R7ebab3c20b9d4c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1aad1d3c7240cd" /><Relationship Type="http://schemas.openxmlformats.org/officeDocument/2006/relationships/notesMaster" Target="/ppt/notesMasters/notesMaster1.xml" Id="R2446e2049d884a7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765163000a48b8" /><Relationship Type="http://schemas.openxmlformats.org/officeDocument/2006/relationships/notesMaster" Target="/ppt/notesMasters/notesMaster1.xml" Id="Rdf2bc7be13044f9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ed88caefa85492b" /><Relationship Type="http://schemas.openxmlformats.org/officeDocument/2006/relationships/notesMaster" Target="/ppt/notesMasters/notesMaster1.xml" Id="R79add5da27f849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bf02a34c0de4989" /><Relationship Type="http://schemas.openxmlformats.org/officeDocument/2006/relationships/notesMaster" Target="/ppt/notesMasters/notesMaster1.xml" Id="R934bf92c3d74436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fc999ca81b4e9e" /><Relationship Type="http://schemas.openxmlformats.org/officeDocument/2006/relationships/notesMaster" Target="/ppt/notesMasters/notesMaster1.xml" Id="R479fb4958ef24e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4e4925dc1040c9" /><Relationship Type="http://schemas.openxmlformats.org/officeDocument/2006/relationships/notesMaster" Target="/ppt/notesMasters/notesMaster1.xml" Id="R22258055c74d448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5812a855fb4df8" /><Relationship Type="http://schemas.openxmlformats.org/officeDocument/2006/relationships/notesMaster" Target="/ppt/notesMasters/notesMaster1.xml" Id="R612c3e8ffd4f49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 The life science tools framework</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2: 2025 LST under one F&amp;S definition</a:t>
            </a:r>
          </a:p>
          <a:p xmlns:a="http://schemas.openxmlformats.org/drawingml/2006/main">
            <a:r>
              <a:t>Evidence status: Historical estimate</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3: Customer workflows across life science tools</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4: AI discovery and its LST touchpoints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5: Which tools have more demand elasticity?</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6: Quantities and prices in miniaturization</a:t>
            </a:r>
          </a:p>
          <a:p xmlns:a="http://schemas.openxmlformats.org/drawingml/2006/main">
            <a:r>
              <a:t>Evidence status: Illustrative scenario</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7: Funding-to-LST purchase sensitivity</a:t>
            </a:r>
          </a:p>
          <a:p xmlns:a="http://schemas.openxmlformats.org/drawingml/2006/main">
            <a:r>
              <a:t>Evidence status: Illustrative scenario</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8: Potential supply constraints over 12–24 months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9: Mapping Chinese listed LST suppliers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10: From AI funding to LST shareholder returns</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11: Workflow comparison and clinical benchmarks</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12: Modality-aware AI discovery and LST ecosystem</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Figure 13 numerical illustration</a:t>
            </a:r>
          </a:p>
          <a:p xmlns:a="http://schemas.openxmlformats.org/drawingml/2006/main">
            <a:r>
              <a:t/>
            </a:r>
          </a:p>
          <a:p xmlns:a="http://schemas.openxmlformats.org/drawingml/2006/main">
            <a:r>
              <a:t>The former coverage-dot table now displays synthetic integers from 1 to 10,000, with a monotonic linear blue scale. These are invented visualization values, not measured kinetics, temperatures, yields or potency. No common biological unit or drug-quality ranking is implied. The webpage label guide defines all nine properties, their real units, assay context and interpretation limits. Epitope is normally categorical/site-specific, and KD/kon/koff can share one kinetic experiment.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13: Fewer molecules. Deeper experimental data.</a:t>
            </a:r>
          </a:p>
          <a:p xmlns:a="http://schemas.openxmlformats.org/drawingml/2006/main">
            <a:r>
              <a:t>Evidence status: Illustrative scenario</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14: Experimental data density and the LST ecosystem</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15: Typical protein / antibody screening workflow</a:t>
            </a:r>
          </a:p>
          <a:p xmlns:a="http://schemas.openxmlformats.org/drawingml/2006/main">
            <a:r>
              <a:t>Evidence status: Framework</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16: RSI: AI design and biological validation</a:t>
            </a:r>
          </a:p>
          <a:p xmlns:a="http://schemas.openxmlformats.org/drawingml/2006/main">
            <a:r>
              <a:t>Evidence status: Research hypothesis</a:t>
            </a:r>
          </a:p>
          <a:p xmlns:a="http://schemas.openxmlformats.org/drawingml/2006/main">
            <a:r>
              <a:t/>
            </a:r>
          </a:p>
          <a:p xmlns:a="http://schemas.openxmlformats.org/drawingml/2006/main">
            <a:r>
              <a:t># Evidence review and implemented corrections</a:t>
            </a:r>
          </a:p>
          <a:p xmlns:a="http://schemas.openxmlformats.org/drawingml/2006/main">
            <a:r>
              <a:t/>
            </a:r>
          </a:p>
          <a:p xmlns:a="http://schemas.openxmlformats.org/drawingml/2006/main">
            <a:r>
              <a:t>Reviewed 13 October 2026. The website, affected figures and their PPT/PDF exports distinguish verified quotations from independently measured markets, analyst scenarios and unresolved source checks. The investment thesis is conditional on funded experiments and supplier orders.</a:t>
            </a:r>
          </a:p>
          <a:p xmlns:a="http://schemas.openxmlformats.org/drawingml/2006/main">
            <a:r>
              <a:t/>
            </a:r>
          </a:p>
          <a:p xmlns:a="http://schemas.openxmlformats.org/drawingml/2006/main">
            <a:r>
              <a:t>## Implemented changes</a:t>
            </a:r>
          </a:p>
          <a:p xmlns:a="http://schemas.openxmlformats.org/drawingml/2006/main">
            <a:r>
              <a:t/>
            </a:r>
          </a:p>
          <a:p xmlns:a="http://schemas.openxmlformats.org/drawingml/2006/main">
            <a:r>
              <a:t>- Figures 11–12 and the interactive funnel no longer present universal pre-AI/AI molecule counts or a synthetic cohort per clinical entrant. The page distinguishes small molecules from proteins/antibodies and uses 1× / 2× / 5× / 10× measurement-workload sensitivities. These are model inputs, not forecasts of fully profiled candidates.</a:t>
            </a:r>
          </a:p>
          <a:p xmlns:a="http://schemas.openxmlformats.org/drawingml/2006/main">
            <a:r>
              <a:t>- Figure 03 replaces unsupported customer spending percentages with a qualitative product-use map. Research hospitals are explicit. Food, environmental and industrial-chemical uses are outside this life-science scope; clinical IVD analyzers are not included in research-instrument examples.</a:t>
            </a:r>
          </a:p>
          <a:p xmlns:a="http://schemas.openxmlformats.org/drawingml/2006/main">
            <a:r>
              <a:t>- Figure 06 and the calculator separate physical quantities from spending. Price ratios, usable wells and reagent overhead are explicit scenario inputs.</a:t>
            </a:r>
          </a:p>
          <a:p xmlns:a="http://schemas.openxmlformats.org/drawingml/2006/main">
            <a:r>
              <a:t>- Figure 07 replaces the unsupported 100% funding allocation with hypothetical total funding × 5% / 10% / 20% tool-purchase capture. These are cumulative sensitivities without a fixed horizon, not observed capital raised, vendor orders or annual TAM.</a:t>
            </a:r>
          </a:p>
          <a:p xmlns:a="http://schemas.openxmlformats.org/drawingml/2006/main">
            <a:r>
              <a:t>- Figure 02 retains the quoted F&amp;S values and correct arithmetic but labels the issuer-commissioned scope. The China/global ratio is not multinational suppliers’ China revenue exposure.</a:t>
            </a:r>
          </a:p>
          <a:p xmlns:a="http://schemas.openxmlformats.org/drawingml/2006/main">
            <a:r>
              <a:t>- Figure 12 retains the source-confirmed supplier/ticker map, labels recombinant-protein market disagreement and withholds the two Duoning headline market values pending source recovery.</a:t>
            </a:r>
          </a:p>
          <a:p xmlns:a="http://schemas.openxmlformats.org/drawingml/2006/main">
            <a:r>
              <a:t/>
            </a:r>
          </a:p>
          <a:p xmlns:a="http://schemas.openxmlformats.org/drawingml/2006/main">
            <a:r>
              <a:t>## Market quotations and remaining limitations</a:t>
            </a:r>
          </a:p>
          <a:p xmlns:a="http://schemas.openxmlformats.org/drawingml/2006/main">
            <a:r>
              <a:t/>
            </a:r>
          </a:p>
          <a:p xmlns:a="http://schemas.openxmlformats.org/drawingml/2006/main">
            <a:r>
              <a:t>### Four quoted anchors checked against their primary issuer documents</a:t>
            </a:r>
          </a:p>
          <a:p xmlns:a="http://schemas.openxmlformats.org/drawingml/2006/main">
            <a:r>
              <a:t/>
            </a:r>
          </a:p>
          <a:p xmlns:a="http://schemas.openxmlformats.org/drawingml/2006/main">
            <a:r>
              <a:t>1. China DNA-synthesis services, 2025: RMB1.33bn = RMB0.53bn oligonucleotide services + RMB0.80bn long-fragment services. Equipment, molecular reagents and sequencing are excluded. Tsingke prospectus, printed 1-1-158 / PDF159. [Primary filing](https://static.sse.com.cn/stock/disclosure/announcement/c/202606/002233_20260630_Z9LA.pdf).</a:t>
            </a:r>
          </a:p>
          <a:p xmlns:a="http://schemas.openxmlformats.org/drawingml/2006/main">
            <a:r>
              <a:t>2. Global research-grade recombinant-protein reagents, 2025: US$3.5bn; China approximately US$0.4bn. ACRO filing, printed p.71 / PDF80. The issuer commissioned F&amp;S for RMB530,000, disclosed on printed p.63 / PDF72. This confirms the quotation and commissioning, not independent market measurement. [Primary filing](https://www1.hkexnews.hk/app/sehk/2026/108910/documents/sehk26093002651_c.pdf).</a:t>
            </a:r>
          </a:p>
          <a:p xmlns:a="http://schemas.openxmlformats.org/drawingml/2006/main">
            <a:r>
              <a:t>3. China disposable plastic biological laboratory consumables, 2024: approximately RMB23bn. JET Biofil’s annual-report summary, PDF6, cites industry research. The broad scope includes research, clinical and industrial applications. A constant CAGR extrapolated from 2020 is not an independent validation. [Primary disclosure](https://static.cninfo.com.cn/finalpage/2026-04-30/1225255989.PDF).</a:t>
            </a:r>
          </a:p>
          <a:p xmlns:a="http://schemas.openxmlformats.org/drawingml/2006/main">
            <a:r>
              <a:t>4. China sequencing instruments and consumables, 2024: RMB4.3bn. MGI annual report, pp.41–42, cites CIC/company/conference sources. The total includes clinical applications and does not size LC-MS, flow or imaging. Summing selected issuers’ China revenues is not a market check without harmonized product and geography definitions. [Primary disclosure](https://static.cninfo.com.cn/finalpage/2025-04-30/1223427376.PDF).</a:t>
            </a:r>
          </a:p>
          <a:p xmlns:a="http://schemas.openxmlformats.org/drawingml/2006/main">
            <a:r>
              <a:t/>
            </a:r>
          </a:p>
          <a:p xmlns:a="http://schemas.openxmlformats.org/drawingml/2006/main">
            <a:r>
              <a:t>### Protein estimates disagree; no harmonized range</a:t>
            </a:r>
          </a:p>
          <a:p xmlns:a="http://schemas.openxmlformats.org/drawingml/2006/main">
            <a:r>
              <a:t/>
            </a:r>
          </a:p>
          <a:p xmlns:a="http://schemas.openxmlformats.org/drawingml/2006/main">
            <a:r>
              <a:t>- F&amp;S/ACRO: US$3.5bn in 2025 for research-grade protein reagents, issuer commissioned.</a:t>
            </a:r>
          </a:p>
          <a:p xmlns:a="http://schemas.openxmlformats.org/drawingml/2006/main">
            <a:r>
              <a:t>- MarketsandMarkets: US$1.11bn in 2026 for finished off-the-shelf research-use protein consumables. [Original release](https://www.marketsandmarkets.com/PressReleases/research-use-recombinant-protein.asp), [scope definition](https://www.marketsandmarkets.com/Market-Reports/research-use-recombinant-protein-market-156810846.html).</a:t>
            </a:r>
          </a:p>
          <a:p xmlns:a="http://schemas.openxmlformats.org/drawingml/2006/main">
            <a:r>
              <a:t>- Global Market Insights: approximately US$2.5bn in 2025 for broader protein inputs and outsourced production services, including therapeutic and diagnostic uses. [Original report page](https://www.gminsights.com/industry-analysis/recombinant-proteins-market).</a:t>
            </a:r>
          </a:p>
          <a:p xmlns:a="http://schemas.openxmlformats.org/drawingml/2006/main">
            <a:r>
              <a:t/>
            </a:r>
          </a:p>
          <a:p xmlns:a="http://schemas.openxmlformats.org/drawingml/2006/main">
            <a:r>
              <a:t>Different years, product boundaries and methods prevent treating these figures as endpoints of a confidence interval. The disagreement warrants lower confidence in absolute TAM. It does not by itself prove F&amp;S inflated the market or identify one correct number. The source-specific historical series is not spliced with alternative providers.</a:t>
            </a:r>
          </a:p>
          <a:p xmlns:a="http://schemas.openxmlformats.org/drawingml/2006/main">
            <a:r>
              <a:t/>
            </a:r>
          </a:p>
          <a:p xmlns:a="http://schemas.openxmlformats.org/drawingml/2006/main">
            <a:r>
              <a:t>### Duoning values withheld from headlines</a:t>
            </a:r>
          </a:p>
          <a:p xmlns:a="http://schemas.openxmlformats.org/drawingml/2006/main">
            <a:r>
              <a:t/>
            </a:r>
          </a:p>
          <a:p xmlns:a="http://schemas.openxmlformats.org/drawingml/2006/main">
            <a:r>
              <a:t>Previous source notes cited China 2024 bioprocess media US$323.5m and bioprocess resins US$578.2m from the January2026 Duoning application, printed pp.126 and132. Its original Chinese and English full PDFs return404. The official index marks the application lapsed and no longer exposes full download links. Values and detailed exclusions have not been directly reverified in this review. They remain in source history as unverified prior citations, while headline cards and the funnel show “Source pending.” A search excerpt, derivative report, or assumed Protein A share does not restore original verification. [Official application index](https://www1.hkexnews.hk/app/appyearlyindex.html?lang=en&amp;year=2026).</a:t>
            </a:r>
          </a:p>
          <a:p xmlns:a="http://schemas.openxmlformats.org/drawingml/2006/main">
            <a:r>
              <a:t/>
            </a:r>
          </a:p>
          <a:p xmlns:a="http://schemas.openxmlformats.org/drawingml/2006/main">
            <a:r>
              <a:t>### Figure 02 uses one F&amp;S definition</a:t>
            </a:r>
          </a:p>
          <a:p xmlns:a="http://schemas.openxmlformats.org/drawingml/2006/main">
            <a:r>
              <a:t/>
            </a:r>
          </a:p>
          <a:p xmlns:a="http://schemas.openxmlformats.org/drawingml/2006/main">
            <a:r>
              <a:t>Quoted 2025 global/China LST estimates are US$41.5bn / US$7.7bn; research biological reagents US$26.4bn / US$4.6bn. Residual other tools are US$15.1bn / US$3.1bn. China/global = 7.7 /41.5 =18.554%, rounded18.6%. The residual is calculated and has not been split independently into instruments and consumables. Source: ACRO filing, printed pp.64–65 and67; commissioning p.63. Much larger broad tools/services estimates have different boundaries. Those boundaries have not been reconciled, and neither a broad-market alternative nor Western issuer geography percentages are replacement denominators.</a:t>
            </a:r>
          </a:p>
          <a:p xmlns:a="http://schemas.openxmlformats.org/drawingml/2006/main">
            <a:r>
              <a:t/>
            </a:r>
          </a:p>
          <a:p xmlns:a="http://schemas.openxmlformats.org/drawingml/2006/main">
            <a:r>
              <a:t>## Workflow and clinical evidence</a:t>
            </a:r>
          </a:p>
          <a:p xmlns:a="http://schemas.openxmlformats.org/drawingml/2006/main">
            <a:r>
              <a:t/>
            </a:r>
          </a:p>
          <a:p xmlns:a="http://schemas.openxmlformats.org/drawingml/2006/main">
            <a:r>
              <a:t>- Classical docking evaluated170 million compounds in2019 and synthesized/tested44 and549 for two targets. This is a study-level example, not a clinical-entrant cohort. [Lyu et al., Nature2019](https://www.nature.com/articles/s41586-019-0917-9).</a:t>
            </a:r>
          </a:p>
          <a:p xmlns:a="http://schemas.openxmlformats.org/drawingml/2006/main">
            <a:r>
              <a:t>- A classical docking platform screened approximately1.3 billion compounds in2020. “Pre-AI” is not a universal cutoff; the distinction is method and workflow. [Gorgulla et al., Nature2020](https://pmc.ncbi.nlm.nih.gov/articles/PMC8352709/).</a:t>
            </a:r>
          </a:p>
          <a:p xmlns:a="http://schemas.openxmlformats.org/drawingml/2006/main">
            <a:r>
              <a:t>- DSP-1181 was the350th compound synthesized in one company-reported program. [Sumitomo technical report2021, PDF4](https://www.sumitomo-chem.co.jp/english/rd/report/2021E_3.pdf).</a:t>
            </a:r>
          </a:p>
          <a:p xmlns:a="http://schemas.openxmlformats.org/drawingml/2006/main">
            <a:r>
              <a:t>- REC-617 optimization synthesized136 novel compounds, according to company reporting. This is not a controlled industry-wide comparison. [Recursion2024 annual report](https://www.sec.gov/Archives/edgar/data/1601830/000160183025000064/rxrxannualreport2024.pdf).</a:t>
            </a:r>
          </a:p>
          <a:p xmlns:a="http://schemas.openxmlformats.org/drawingml/2006/main">
            <a:r>
              <a:t>- Insilico’s78-molecule statement is company-reported and not used as a generic funnel parameter. The78 in a prominent Nature trial description refers to participants; these units must not be confused. [Company case study](https://insilico.com/casestudy).</a:t>
            </a:r>
          </a:p>
          <a:p xmlns:a="http://schemas.openxmlformats.org/drawingml/2006/main">
            <a:r>
              <a:t>- Pooled protein screens and purified individual profiles are distinct. Bennett et al. screened approximately80,000 pooled designs then confirmed selected binders individually; substantial pooled protein screening also existed in2017. [Bennett et al.2023](https://www.nature.com/articles/s41467-023-38328-5), [Chevalier et al.2017](https://www.nature.com/articles/nature23912).</a:t>
            </a:r>
          </a:p>
          <a:p xmlns:a="http://schemas.openxmlformats.org/drawingml/2006/main">
            <a:r>
              <a:t>- BIO’s7.9% Phase I-to-approval estimate covers2011–2020. Wong et al.’s13.8% covers2000–2015 with different data/methods. The two-study span is not a confidence interval, current consensus or an AI comparison. Neither is an expected output of the removed synthetic funnel. [BIO report](https://go.bio.org/rs/490-EHZ-999/images/ClinicalDevelopmentSuccessRates2011_2020.pdf), [Wong et al.](https://doi.org/10.1093/biostatistics/kxx069).</a:t>
            </a:r>
          </a:p>
          <a:p xmlns:a="http://schemas.openxmlformats.org/drawingml/2006/main">
            <a:r>
              <a:t/>
            </a:r>
          </a:p>
          <a:p xmlns:a="http://schemas.openxmlformats.org/drawingml/2006/main">
            <a:r>
              <a:t>## Unit-economics calculations</a:t>
            </a:r>
          </a:p>
          <a:p xmlns:a="http://schemas.openxmlformats.org/drawingml/2006/main">
            <a:r>
              <a:t/>
            </a:r>
          </a:p>
          <a:p xmlns:a="http://schemas.openxmlformats.org/drawingml/2006/main">
            <a:r>
              <a:t>Baseline:100,000 tests ×100µL =10L; ceil(100,000 /96)=1,042 destination plates;100,000 tips at1/test.</a:t>
            </a:r>
          </a:p>
          <a:p xmlns:a="http://schemas.openxmlformats.org/drawingml/2006/main">
            <a:r>
              <a:t/>
            </a:r>
          </a:p>
          <a:p xmlns:a="http://schemas.openxmlformats.org/drawingml/2006/main">
            <a:r>
              <a:t>Example:1,000,000 tests ×5µL =5L; ceil(1,000,000 /1,536)=652 destination plates;100,000 tips at0.1/test.</a:t>
            </a:r>
          </a:p>
          <a:p xmlns:a="http://schemas.openxmlformats.org/drawingml/2006/main">
            <a:r>
              <a:t/>
            </a:r>
          </a:p>
          <a:p xmlns:a="http://schemas.openxmlformats.org/drawingml/2006/main">
            <a:r>
              <a:t>Plate-count ratio =652/1,042 =0.625720. Plate-spend ratio =0.625720 × comparable plate ASP ratio. Break-even ASP =1,042/652 =1.598160. At1×/2×/4× ASP, spend ratios are0.625720 /1.251440 /2.502879. These price multipliers are scenario inputs, not vendor quotes. The review’s “plastic spend probably rises” is not established without equivalent product quotes and consumption scope.</a:t>
            </a:r>
          </a:p>
          <a:p xmlns:a="http://schemas.openxmlformats.org/drawingml/2006/main">
            <a:r>
              <a:t/>
            </a:r>
          </a:p>
          <a:p xmlns:a="http://schemas.openxmlformats.org/drawingml/2006/main">
            <a:r>
              <a:t>Calculator reagent volume =tests ×usable assay µL ×(1 + case-specific extra-reagent overhead)/1,000,000. The baseline uses its own overhead input. New destination plates =ceil(tests /floor(wells ×usable-well fraction)); baseline plates assume100% usable wells. Price ratios multiply quantity ratios separately for reagent, plate and tip spend. Real workflows can also require source plates, reservoirs, controls, retests and instrument capital. [Beckman’s source-container and dead-volume documentation](https://www.beckman.com/supplies/echo-qualified-supplies). Average tips/test is a model input, not a recommendation to reuse biological-sample tips.</a:t>
            </a:r>
          </a:p>
          <a:p xmlns:a="http://schemas.openxmlformats.org/drawingml/2006/main">
            <a:r>
              <a:t/>
            </a:r>
          </a:p>
          <a:p xmlns:a="http://schemas.openxmlformats.org/drawingml/2006/main">
            <a:r>
              <a:t>Funding scenarios:US$50/100/200bn ×5%/10%/20% capture imply cumulative tool purchases of [2.5,5,10] / [5,10,20] / [10,20,40] US$bn. No fixed time horizon or empirical capture share is asserted. Exclude labor, clinical execution, compute/data/software, facilities and funding not spent on tools. CRO fees and embedded vendor-input purchases must not be added together. [Recursion2025 10-K](https://www.sec.gov/Archives/edgar/data/1601830/000160183026000039/rxrx-20251231.htm), pp.147–148, illustrates diverse R&amp;D cost categories, not universal cash shares.</a:t>
            </a:r>
          </a:p>
          <a:p xmlns:a="http://schemas.openxmlformats.org/drawingml/2006/main">
            <a:r>
              <a:t/>
            </a:r>
          </a:p>
          <a:p xmlns:a="http://schemas.openxmlformats.org/drawingml/2006/main">
            <a:r>
              <a:t>An incremental equipment budget need not resemble the composition of existing annual tool sales. The reviewer’s30% equipment versus64% market-reagents comparison alone is not an arithmetic contradiction. Unsupported allocation shares were removed because their evidential basis was missing.</a:t>
            </a:r>
          </a:p>
          <a:p xmlns:a="http://schemas.openxmlformats.org/drawingml/2006/main">
            <a:r>
              <a:t/>
            </a:r>
          </a:p>
          <a:p xmlns:a="http://schemas.openxmlformats.org/drawingml/2006/main">
            <a:r>
              <a:t>## Current sequencing-policy correction</a:t>
            </a:r>
          </a:p>
          <a:p xmlns:a="http://schemas.openxmlformats.org/drawingml/2006/main">
            <a:r>
              <a:t/>
            </a:r>
          </a:p>
          <a:p xmlns:a="http://schemas.openxmlformats.org/drawingml/2006/main">
            <a:r>
              <a:t>China’s blanket Illumina sequencer-export prohibition introduced on4March2025 ended on10November2025. Illumina remained on the Unreliable Entity List and instrument purchases required government approval, confirmed in its2026-filed annual report. The reviewer’s ongoing blanket-ban statement is outdated. The2024 anchor remains a dated source estimate rather than a current policy-adjusted TAM. [Illumina announcement](https://www.illumina.com/company/news-center/press-releases/2025/97cd0e7b-b018-4ab8-beb0-0f538b164ae6.html), [MOFCOM update](https://exportcontrol.mofcom.gov.cn/article/gndt/202511/1187.html), [2025 annual report filed2026](https://www.sec.gov/Archives/edgar/data/1110803/000111080326000024/ilmn-20251228.htm).</a:t>
            </a:r>
          </a:p>
          <a:p xmlns:a="http://schemas.openxmlformats.org/drawingml/2006/main">
            <a:r>
              <a:t/>
            </a:r>
          </a:p>
          <a:p xmlns:a="http://schemas.openxmlformats.org/drawingml/2006/main">
            <a:r>
              <a:t>BD/Waters ownership and verified supplier tickers remain as previously sourced in palette/TICKER_SOURCES.md. This review does not establish any supplier’s AI-attributable revenue, market share or valuation upside.</a:t>
            </a:r>
          </a:p>
          <a:p xmlns:a="http://schemas.openxmlformats.org/drawingml/2006/main">
            <a:r>
              <a:t/>
            </a:r>
          </a:p>
          <a:p xmlns:a="http://schemas.openxmlformats.org/drawingml/2006/main">
            <a:r>
              <a:t/>
            </a:r>
          </a:p>
          <a:p xmlns:a="http://schemas.openxmlformats.org/drawingml/2006/main">
            <a:r>
              <a:t>## Superseded source history</a:t>
            </a:r>
          </a:p>
          <a:p xmlns:a="http://schemas.openxmlformats.org/drawingml/2006/main">
            <a:r>
              <a:t/>
            </a:r>
          </a:p>
          <a:p xmlns:a="http://schemas.openxmlformats.org/drawingml/2006/main">
            <a:r>
              <a:t>The following preserves prior citation history. Its universal molecule counts, customer-percentage assumptions, funding allocation and Duoning headline figures were superseded by the review above and must not be used as current inputs.</a:t>
            </a:r>
          </a:p>
          <a:p xmlns:a="http://schemas.openxmlformats.org/drawingml/2006/main">
            <a:r>
              <a:t/>
            </a:r>
          </a:p>
          <a:p xmlns:a="http://schemas.openxmlformats.org/drawingml/2006/main">
            <a:r>
              <a:t># Sources, assumptions and market boundaries</a:t>
            </a:r>
          </a:p>
          <a:p xmlns:a="http://schemas.openxmlformats.org/drawingml/2006/main">
            <a:r>
              <a:t/>
            </a:r>
          </a:p>
          <a:p xmlns:a="http://schemas.openxmlformats.org/drawingml/2006/main">
            <a:r>
              <a:t>Research date: 12 October 2026. This package visualizes the supplied research framework and selected anchors from the preceding primary-source research. Historical industry numbers are consultant or company-cited estimates, rather than administrative census measurements.</a:t>
            </a:r>
          </a:p>
          <a:p xmlns:a="http://schemas.openxmlformats.org/drawingml/2006/main">
            <a:r>
              <a:t/>
            </a:r>
          </a:p>
          <a:p xmlns:a="http://schemas.openxmlformats.org/drawingml/2006/main">
            <a:r>
              <a:t>## Stage table and funnel</a:t>
            </a:r>
          </a:p>
          <a:p xmlns:a="http://schemas.openxmlformats.org/drawingml/2006/main">
            <a:r>
              <a:t/>
            </a:r>
          </a:p>
          <a:p xmlns:a="http://schemas.openxmlformats.org/drawingml/2006/main">
            <a:r>
              <a:t>The supplied stage table uses virtual designs ~1,000 before AI versus 100,000–1 billion in the AI scenario; physical candidates ~1,000 versus 1,000–10,000; wet-lab profiling ~50 versus an illustrative 50→500 expansion; clinical entry 1 versus 1; expected approvals ~0.14 versus unknown. These are user-supplied assumptions, not empirical cohort statistics.</a:t>
            </a:r>
          </a:p>
          <a:p xmlns:a="http://schemas.openxmlformats.org/drawingml/2006/main">
            <a:r>
              <a:t/>
            </a:r>
          </a:p>
          <a:p xmlns:a="http://schemas.openxmlformats.org/drawingml/2006/main">
            <a:r>
              <a:t>The denominator is one clinical entrant. The second reference image uses a different denominator, per approved drug; its counts are not mixed into this table. ~0.14 is an illustrative expected count, not an independently validated success probability. DNA-encoded libraries are not equivalent to fully characterized discrete candidates. Virtual design has costs and quality constraints. The diagram states a working capacity-gate hypothesis, not that design quality or clinical biology cease to matter.</a:t>
            </a:r>
          </a:p>
          <a:p xmlns:a="http://schemas.openxmlformats.org/drawingml/2006/main">
            <a:r>
              <a:t/>
            </a:r>
          </a:p>
          <a:p xmlns:a="http://schemas.openxmlformats.org/drawingml/2006/main">
            <a:r>
              <a:t>## Market anchors in the enlarged ecosystem</a:t>
            </a:r>
          </a:p>
          <a:p xmlns:a="http://schemas.openxmlformats.org/drawingml/2006/main">
            <a:r>
              <a:t/>
            </a:r>
          </a:p>
          <a:p xmlns:a="http://schemas.openxmlformats.org/drawingml/2006/main">
            <a:r>
              <a:t>| Anchor | Geography / year | Value | Scope and evidence |</a:t>
            </a:r>
          </a:p>
          <a:p xmlns:a="http://schemas.openxmlformats.org/drawingml/2006/main">
            <a:r>
              <a:t>|---|---|---|---|</a:t>
            </a:r>
          </a:p>
          <a:p xmlns:a="http://schemas.openxmlformats.org/drawingml/2006/main">
            <a:r>
              <a:t>| DNA synthesis services | China / 2025 | RMB1.33bn | Oligonucleotide RMB0.53bn + long-fragment RMB0.80bn. Midstream services only. Tsingke 2026 IPO filing, pp.156–158. [Primary filing](https://static.sse.com.cn/stock/disclosure/announcement/c/202606/002233_20260630_Z9LA.pdf). |</a:t>
            </a:r>
          </a:p>
          <a:p xmlns:a="http://schemas.openxmlformats.org/drawingml/2006/main">
            <a:r>
              <a:t>| Research-use recombinant proteins | Global / 2025 | US$3.5bn | Research use; not therapeutic protein manufacturing. China ~US$0.4bn is rounded to US$0.1bn precision. ACROBiosystems 2026 HKEX application, printed p.71 / PDF p.80. [Primary filing](https://www1.hkexnews.hk/app/sehk/2026/108910/documents/sehk26093002651_c.pdf). |</a:t>
            </a:r>
          </a:p>
          <a:p xmlns:a="http://schemas.openxmlformats.org/drawingml/2006/main">
            <a:r>
              <a:t>| Bioprocess culture media | China / 2024 | US$323.5m* | Selected media market; not all cellular tools. F&amp;S in Duoning 2026 filing, printed p.126. Excludes the COVID impact on vaccine products. [Filing URL](https://www.hkexnews.hk/app/sehk/2026/108106/documents/sehk26011800033_c.pdf). |</a:t>
            </a:r>
          </a:p>
          <a:p xmlns:a="http://schemas.openxmlformats.org/drawingml/2006/main">
            <a:r>
              <a:t>| Disposable plastic biological laboratory consumables | China / 2024 | ~RMB23bn | Includes research, clinical and industrial uses. JET Biofil 2025 annual-report summary, PDF p.6; company cites F&amp;S and industry research. Direct primary PDF rechecked on 12 Oct 2026. [Primary disclosure](https://static.cninfo.com.cn/finalpage/2026-04-30/1225255989.PDF). |</a:t>
            </a:r>
          </a:p>
          <a:p xmlns:a="http://schemas.openxmlformats.org/drawingml/2006/main">
            <a:r>
              <a:t>| Sequencing instruments and consumables | China / 2024 | RMB4.3bn | Includes clinical sequencing; not instruments alone, and not a combined LC/MS market. MGI 2024 annual report pp.41–42, citing CIC. [Primary disclosure](https://static.cninfo.com.cn/finalpage/2025-04-30/1223427376.PDF). |</a:t>
            </a:r>
          </a:p>
          <a:p xmlns:a="http://schemas.openxmlformats.org/drawingml/2006/main">
            <a:r>
              <a:t>| Bioprocess chromatography resins | China / 2024 | US$578.2m* | Biological process resins; not all analytical columns, chemical adsorption resins or purification hardware. F&amp;S in Duoning 2026 filing, printed p.132. [Filing URL](https://www.hkexnews.hk/app/sehk/2026/108106/documents/sehk26011800033_c.pdf). |</a:t>
            </a:r>
          </a:p>
          <a:p xmlns:a="http://schemas.openxmlformats.org/drawingml/2006/main">
            <a:r>
              <a:t/>
            </a:r>
          </a:p>
          <a:p xmlns:a="http://schemas.openxmlformats.org/drawingml/2006/main">
            <a:r>
              <a:t>*The Duoning figures were checked against the publicly indexed official filing during the preceding research on 9–10 October 2026. Direct PDF access now returns 404. They carry lower source-access confidence than directly downloaded filings. The 2025 values in that filing remain forecasts and are deliberately not presented as 2025 actual results here.*</a:t>
            </a:r>
          </a:p>
          <a:p xmlns:a="http://schemas.openxmlformats.org/drawingml/2006/main">
            <a:r>
              <a:t/>
            </a:r>
          </a:p>
          <a:p xmlns:a="http://schemas.openxmlformats.org/drawingml/2006/main">
            <a:r>
              <a:t>These anchors cannot be added. Their geography, currency, year and boundary differ, and tools can be used across the six product families. Each headline sizes the stated subset, not the full box. In particular, the culture-media figure is a bioprocess anchor and cannot be generalized to all research media and cell models. Automation, mass spectrometry, flow cytometry, imaging and analytical columns are shown as tool families but are not assigned an unsupported combined TAM.</a:t>
            </a:r>
          </a:p>
          <a:p xmlns:a="http://schemas.openxmlformats.org/drawingml/2006/main">
            <a:r>
              <a:t/>
            </a:r>
          </a:p>
          <a:p xmlns:a="http://schemas.openxmlformats.org/drawingml/2006/main">
            <a:r>
              <a:t>## Supporting figure 02: consistent-scope LST comparison</a:t>
            </a:r>
          </a:p>
          <a:p xmlns:a="http://schemas.openxmlformats.org/drawingml/2006/main">
            <a:r>
              <a:t/>
            </a:r>
          </a:p>
          <a:p xmlns:a="http://schemas.openxmlformats.org/drawingml/2006/main">
            <a:r>
              <a:t>The ACROBiosystems HKEX filing of 30 Sep 2026 reports 2025 global LST US$41.5bn and China US$7.7bn under its F&amp;S scope, printed p.65 / PDF p.74. Research biological reagents are global US$26.4bn and China US$4.6bn, printed p.67 / PDF p.76. The residual other-tool values are derived: 41.5−26.4 =15.1 and 7.7−4.6 =3.1, in US$bn. China/global share is 7.7÷41.5 =18.6% rounded. This scope does not reconcile automatically to broader laboratory or manufacturing markets. [Primary filing](https://www1.hkexnews.hk/app/sehk/2026/108910/documents/sehk26093002651_c.pdf).</a:t>
            </a:r>
          </a:p>
          <a:p xmlns:a="http://schemas.openxmlformats.org/drawingml/2006/main">
            <a:r>
              <a:t/>
            </a:r>
          </a:p>
          <a:p xmlns:a="http://schemas.openxmlformats.org/drawingml/2006/main">
            <a:r>
              <a:t>## Illustrative and qualitative figures</a:t>
            </a:r>
          </a:p>
          <a:p xmlns:a="http://schemas.openxmlformats.org/drawingml/2006/main">
            <a:r>
              <a:t/>
            </a:r>
          </a:p>
          <a:p xmlns:a="http://schemas.openxmlformats.org/drawingml/2006/main">
            <a:r>
              <a:t>Figure 03 uses the supplied customer mixes: reagents 30/25/15/10/20%, consumables 20/20/15/30/15%, and instruments 25/20/10/15/30%, for academia, biotech/pharma R&amp;D, CRO/CDMO, pharma-owned production and IVD development. These are illustrative purchasing shares. Hospitals are not independently modeled, and distributors are not an end-customer category.</a:t>
            </a:r>
          </a:p>
          <a:p xmlns:a="http://schemas.openxmlformats.org/drawingml/2006/main">
            <a:r>
              <a:t/>
            </a:r>
          </a:p>
          <a:p xmlns:a="http://schemas.openxmlformats.org/drawingml/2006/main">
            <a:r>
              <a:t>Figure 06 compares 100,000 tests at 100µL in 96-well plates with 1,000,000 tests at 5µL in 1,536-well plates. Reagents fall from 10L to 5L; full-plate counts are ceiling(100,000/96)=1,042 and ceiling(1,000,000/1,536)=652. Tips per test are assumed to fall from 1 to 0.1, giving 100,000 tips in both cases. Volume index 1,000; reagent index 50; plate index 62.6; tip index 100, against a baseline of 100. Dead volume, controls, retests, ASP and service spending are excluded. The two panels use different y-axis scales.</a:t>
            </a:r>
          </a:p>
          <a:p xmlns:a="http://schemas.openxmlformats.org/drawingml/2006/main">
            <a:r>
              <a:t/>
            </a:r>
          </a:p>
          <a:p xmlns:a="http://schemas.openxmlformats.org/drawingml/2006/main">
            <a:r>
              <a:t>Figure 07 uses illustrative cumulative funding pools of US$50bn, US$100bn and US$200bn. No time horizon is specified. Allocations are 30% research equipment/automation, 25% research reagents, 20% research consumables, 15% manufacturing bioprocess tools and 10% services/other. Research-use and manufacturing-use allocations are mutually exclusive. These are not realized financing, annual TAM or a company revenue forecast.</a:t>
            </a:r>
          </a:p>
          <a:p xmlns:a="http://schemas.openxmlformats.org/drawingml/2006/main">
            <a:r>
              <a:t/>
            </a:r>
          </a:p>
          <a:p xmlns:a="http://schemas.openxmlformats.org/drawingml/2006/main">
            <a:r>
              <a:t>Figures 05, 08 and 09 use qualitative analyst positions. Bubble area in figure 05 is schematic relative opportunity, not measured TAM. Axis positions and the gold emphasis on ACROBiosystems and NanoMicro are not numerical scores, stock recommendations, market-share estimates or measured AI revenue. Supply barriers do not establish a current shortage.</a:t>
            </a:r>
          </a:p>
          <a:p xmlns:a="http://schemas.openxmlformats.org/drawingml/2006/main">
            <a:r>
              <a:t/>
            </a:r>
          </a:p>
          <a:p xmlns:a="http://schemas.openxmlformats.org/drawingml/2006/main">
            <a:r>
              <a:t>Figures 04 and 10 describe a conditional mechanism: funded projects → physical experimentation → net tool consumption and purchasing → company share → profit and cash flow. AI funding announcements alone do not establish LST orders. Miniaturization, faster candidate triage, resin reuse and pricing can offset higher experiment counts.</a:t>
            </a:r>
          </a:p>
          <a:p xmlns:a="http://schemas.openxmlformats.org/drawingml/2006/main">
            <a:r>
              <a:t/>
            </a:r>
          </a:p>
          <a:p xmlns:a="http://schemas.openxmlformats.org/drawingml/2006/main">
            <a:r>
              <a:t>## Representative-company product evidence</a:t>
            </a:r>
          </a:p>
          <a:p xmlns:a="http://schemas.openxmlformats.org/drawingml/2006/main">
            <a:r>
              <a:t/>
            </a:r>
          </a:p>
          <a:p xmlns:a="http://schemas.openxmlformats.org/drawingml/2006/main">
            <a:r>
              <a:t>- [ACROBiosystems HKEX application, 30 Sep 2026](https://www1.hkexnews.hk/app/sehk/2026/108910/documents/sehk26093002651_c.pdf): Printed pp. 65, 67 and 71 (PDF pp. 74, 76, 80); defined LST scope, research reagents and recombinant proteins.</a:t>
            </a:r>
          </a:p>
          <a:p xmlns:a="http://schemas.openxmlformats.org/drawingml/2006/main">
            <a:r>
              <a:t>- [Vazyme 2024 annual report](https://static.cninfo.com.cn/finalpage/2025-04-10/1223046699.PDF): Product and business evidence; matrix positions are analyst assumptions.</a:t>
            </a:r>
          </a:p>
          <a:p xmlns:a="http://schemas.openxmlformats.org/drawingml/2006/main">
            <a:r>
              <a:t>- [ACROBiosystems filing: recombinant protein competitive landscape](https://www1.hkexnews.hk/app/sehk/2026/108910/documents/sehk26093002651_c.pdf): Product and business evidence; matrix positions are analyst assumptions.</a:t>
            </a:r>
          </a:p>
          <a:p xmlns:a="http://schemas.openxmlformats.org/drawingml/2006/main">
            <a:r>
              <a:t>- [Novoprotein official product catalog](https://www.novoprotein.com.cn/products): Product and business evidence; matrix positions are analyst assumptions.</a:t>
            </a:r>
          </a:p>
          <a:p xmlns:a="http://schemas.openxmlformats.org/drawingml/2006/main">
            <a:r>
              <a:t>- [NanoMicro 2025 annual report](https://static.cninfo.com.cn/finalpage/2026-04-16/1225107014.PDF): Product and business evidence; matrix positions are analyst assumptions.</a:t>
            </a:r>
          </a:p>
          <a:p xmlns:a="http://schemas.openxmlformats.org/drawingml/2006/main">
            <a:r>
              <a:t>- [Sepax IPO prospectus, Jan 2025](https://static.cninfo.com.cn/finalpage/2025-01-06/1222238930.PDF): Product and business evidence; matrix positions are analyst assumptions.</a:t>
            </a:r>
          </a:p>
          <a:p xmlns:a="http://schemas.openxmlformats.org/drawingml/2006/main">
            <a:r>
              <a:t>- [JET Biofil 2025 interim report](https://stockmc.xueqiu.com/202508/688026_20250830_4FZX.pdf): Product and business evidence; matrix positions are analyst assumptions.</a:t>
            </a:r>
          </a:p>
          <a:p xmlns:a="http://schemas.openxmlformats.org/drawingml/2006/main">
            <a:r>
              <a:t>- [Changhong official website](https://cn.sz-changhong.com/): Product and business evidence; matrix positions are analyst assumptions.</a:t>
            </a:r>
          </a:p>
          <a:p xmlns:a="http://schemas.openxmlformats.org/drawingml/2006/main">
            <a:r>
              <a:t>- [Bide Pharmatech official catalog](https://www.bidepharm.com/): Product and business evidence; matrix positions are analyst assumptions.</a:t>
            </a:r>
          </a:p>
          <a:p xmlns:a="http://schemas.openxmlformats.org/drawingml/2006/main">
            <a:r>
              <a:t>- [ChemExpress official website](https://www.chemexpress.com.cn/): Product and business evidence; matrix positions are analyst assumptions.</a:t>
            </a:r>
          </a:p>
          <a:p xmlns:a="http://schemas.openxmlformats.org/drawingml/2006/main">
            <a:r>
              <a:t>- [MGI 2025 annual report](https://static.cninfo.com.cn/finalpage/2026-04-25/1225194780.PDF): Product and business evidence; matrix positions are analyst assumptions.</a:t>
            </a:r>
          </a:p>
          <a:p xmlns:a="http://schemas.openxmlformats.org/drawingml/2006/main">
            <a:r>
              <a:t>- [OPM Biosciences 2025 annual report](https://pdf.dfcfw.com/pdf/H2_AN202604221821449851_1.pdf): Product and business evidence; matrix positions are analyst assumptions.</a:t>
            </a:r>
          </a:p>
          <a:p xmlns:a="http://schemas.openxmlformats.org/drawingml/2006/main">
            <a:r>
              <a:t/>
            </a:r>
          </a:p>
          <a:p xmlns:a="http://schemas.openxmlformats.org/drawingml/2006/main">
            <a:r>
              <a:t>The primary distinction in this research is product exposure: ACROBiosystems supplies recombinant proteins and assay tools used in expression and functional validation; NanoMicro supplies purification and chromatography products used in analytical/process development and manufacturing. A broad increase in virtual candidates does not establish either company's incremental orders. Manufacturing demand also depends on successful clinical translation and drug output.</a:t>
            </a:r>
          </a:p>
          <a:p xmlns:a="http://schemas.openxmlformats.org/drawingml/2006/main">
            <a:r>
              <a:t/>
            </a:r>
          </a:p>
          <a:p xmlns:a="http://schemas.openxmlformats.org/drawingml/2006/main">
            <a:r>
              <a:t>## Logo and icon assets</a:t>
            </a:r>
          </a:p>
          <a:p xmlns:a="http://schemas.openxmlformats.org/drawingml/2006/main">
            <a:r>
              <a:t/>
            </a:r>
          </a:p>
          <a:p xmlns:a="http://schemas.openxmlformats.org/drawingml/2006/main">
            <a:r>
              <a:t>Logo files identify representative suppliers. `assets/sources.json` gives source URLs and modifications. Where whitespace was trimmed, the brand artwork is unchanged. NanoMicro uses its circular emblem alongside a separate editable English company label, keeping all visible labels English. JET uses an English brand asset from a supplier listing. Company names remain editable even when a logo is embedded. Supplier lists are examples and are not rankings or endorsements.</a:t>
            </a:r>
          </a:p>
          <a:p xmlns:a="http://schemas.openxmlformats.org/drawingml/2006/main">
            <a:r>
              <a:t/>
            </a:r>
          </a:p>
          <a:p xmlns:a="http://schemas.openxmlformats.org/drawingml/2006/main">
            <a:r>
              <a:t>Lucide icons are sourced from the project's official GitHub repository, recolored teal for the graphic and provided under the ISC license. The full license is included in `assets/icons/LICENSE`.</a:t>
            </a:r>
          </a:p>
          <a:p xmlns:a="http://schemas.openxmlformats.org/drawingml/2006/main">
            <a:r>
              <a:t/>
            </a:r>
          </a:p>
          <a:p xmlns:a="http://schemas.openxmlformats.org/drawingml/2006/main">
            <a:r>
              <a:t/>
            </a:r>
          </a:p>
          <a:p xmlns:a="http://schemas.openxmlformats.org/drawingml/2006/main">
            <a:r>
              <a:t># Supplier tickers and current BD exposure</a:t>
            </a:r>
          </a:p>
          <a:p xmlns:a="http://schemas.openxmlformats.org/drawingml/2006/main">
            <a:r>
              <a:t/>
            </a:r>
          </a:p>
          <a:p xmlns:a="http://schemas.openxmlformats.org/drawingml/2006/main">
            <a:r>
              <a:t>Updated 13 October 2026. Rows identify representative suppliers or their listed parents, not market shares or investment recommendations. China/HK and US groups refer to listing venues; they do not imply legal domicile, headquarters or pure-play exposure.</a:t>
            </a:r>
          </a:p>
          <a:p xmlns:a="http://schemas.openxmlformats.org/drawingml/2006/main">
            <a:r>
              <a:t/>
            </a:r>
          </a:p>
          <a:p xmlns:a="http://schemas.openxmlformats.org/drawingml/2006/main">
            <a:r>
              <a:t>BD (NYSE:BDX) remains relevant to specimen collection and preanalytical sample handling. Its former Biosciences and Diagnostic Solutions business, including flow cytometry, moved to Waters (NYSE:WAT) on 9 February 2026.</a:t>
            </a:r>
          </a:p>
          <a:p xmlns:a="http://schemas.openxmlformats.org/drawingml/2006/main">
            <a:r>
              <a:t/>
            </a:r>
          </a:p>
          <a:p xmlns:a="http://schemas.openxmlformats.org/drawingml/2006/main">
            <a:r>
              <a:t>- [BD completion release](https://investors.bd.com/news-events/press-releases/detail/937/bd-completes-combination-of-biosciences-diagnostic-solutions-business-with-waters-corporation)</a:t>
            </a:r>
          </a:p>
          <a:p xmlns:a="http://schemas.openxmlformats.org/drawingml/2006/main">
            <a:r>
              <a:t>- [Waters current transaction disclosure](https://www.waters.com/nextgen/us/en/about-waters/corporate-governance/legal-and-privacy-notices/bdtransaction.html)</a:t>
            </a:r>
          </a:p>
          <a:p xmlns:a="http://schemas.openxmlformats.org/drawingml/2006/main">
            <a:r>
              <a:t>- [Current BD Vacutainer portfolio](https://go.bd.com/vacutainer-product-updates-TY.html): specimen-collection / sample-management products.</a:t>
            </a:r>
          </a:p>
          <a:p xmlns:a="http://schemas.openxmlformats.org/drawingml/2006/main">
            <a:r>
              <a:t/>
            </a:r>
          </a:p>
          <a:p xmlns:a="http://schemas.openxmlformats.org/drawingml/2006/main">
            <a:r>
              <a:t>Gibco is shown with Thermo Fisher (TMO); Cytiva and HyClone with Danaher (DHR). The underlying business exposure is narrower than the parent company's total revenue. Tsingke's code 874813 is a NEEQ code, not an A-share exchange listing; its IPO application is a separate filing. Suzhou Sepax is 688758.SH; the graphic refers to the China-listed issuer's chromatography portfolio.</a:t>
            </a:r>
          </a:p>
          <a:p xmlns:a="http://schemas.openxmlformats.org/drawingml/2006/main">
            <a:r>
              <a:t/>
            </a:r>
          </a:p>
          <a:p xmlns:a="http://schemas.openxmlformats.org/drawingml/2006/main">
            <a:r>
              <a:t>| Supplier / parent | Exchange | Ticker | Product pathway | Primary listing / business source |</a:t>
            </a:r>
          </a:p>
          <a:p xmlns:a="http://schemas.openxmlformats.org/drawingml/2006/main">
            <a:r>
              <a:t>|---|---|---|---|---|</a:t>
            </a:r>
          </a:p>
          <a:p xmlns:a="http://schemas.openxmlformats.org/drawingml/2006/main">
            <a:r>
              <a:t>| GenScript | HKEX | 1548 | Molecular construction | [Source](https://www.genscript.com/genscript-biotech-demonstrates-profitable-scale-and-strategic-leadership-in-h1-2025.html) |</a:t>
            </a:r>
          </a:p>
          <a:p xmlns:a="http://schemas.openxmlformats.org/drawingml/2006/main">
            <a:r>
              <a:t>| Vazyme | SSE | 688105 | Molecular construction | [Source](https://www.vazyme.us/AboutUs/OurStrories/) |</a:t>
            </a:r>
          </a:p>
          <a:p xmlns:a="http://schemas.openxmlformats.org/drawingml/2006/main">
            <a:r>
              <a:t>| Tsingke | NEEQ | 874813 | DNA synthesis; NEEQ-listed, A-share IPO application is separate | [Source](https://static.sse.com.cn/stock/disclosure/announcement/c/202606/002233_20260630_Z9LA.pdf) |</a:t>
            </a:r>
          </a:p>
          <a:p xmlns:a="http://schemas.openxmlformats.org/drawingml/2006/main">
            <a:r>
              <a:t>| ACROBiosystems | SZSE | 301080 | Proteins / functional cells | [Source](https://www1.hkexnews.hk/app/sehk/2026/108910/documents/sehk26093002651_c.pdf) |</a:t>
            </a:r>
          </a:p>
          <a:p xmlns:a="http://schemas.openxmlformats.org/drawingml/2006/main">
            <a:r>
              <a:t>| Sino Biological | SZSE | 301047 | Research proteins / antibodies | [Source](https://disc.static.szse.cn/disc/disk03/finalpage/2026-08-26/cd4ea950-7931-4164-bcec-20c03b8236e1.PDF) |</a:t>
            </a:r>
          </a:p>
          <a:p xmlns:a="http://schemas.openxmlformats.org/drawingml/2006/main">
            <a:r>
              <a:t>| OPM Biosciences | SSE | 688293 | Cell culture media | [Source](https://opmbiosciences.com/) |</a:t>
            </a:r>
          </a:p>
          <a:p xmlns:a="http://schemas.openxmlformats.org/drawingml/2006/main">
            <a:r>
              <a:t>| JET Biofil | SSE | 688026 | Plastic laboratory consumables | [Source](https://static.cninfo.com.cn/finalpage/2026-04-30/1225255989.PDF) |</a:t>
            </a:r>
          </a:p>
          <a:p xmlns:a="http://schemas.openxmlformats.org/drawingml/2006/main">
            <a:r>
              <a:t>| Changhong | SZSE | 300151 | Life science / medical plastic consumables | [Source](https://static.cninfo.com.cn/finalpage/2025-10-30/1224764410.PDF) |</a:t>
            </a:r>
          </a:p>
          <a:p xmlns:a="http://schemas.openxmlformats.org/drawingml/2006/main">
            <a:r>
              <a:t>| MGI | SSE | 688114 | Sequencing instruments / consumables | [Source](https://static.cninfo.com.cn/finalpage/2025-04-30/1223427376.PDF) |</a:t>
            </a:r>
          </a:p>
          <a:p xmlns:a="http://schemas.openxmlformats.org/drawingml/2006/main">
            <a:r>
              <a:t>| NanoMicro | SSE | 688690 | Chromatography materials and analytical separation / purification | [Source](https://static.cninfo.com.cn/finalpage/2026-09-22/1225575593.PDF) |</a:t>
            </a:r>
          </a:p>
          <a:p xmlns:a="http://schemas.openxmlformats.org/drawingml/2006/main">
            <a:r>
              <a:t>| Suzhou Sepax | SSE | 688758 | Chromatography columns / process media | [Source](https://www.sepax-tech.com.cn/skin/default/investorpdf/%E8%8B%8F%E5%B7%9E%E8%B5%9B%E5%88%86%E7%A7%91%E6%8A%80%E8%82%A1%E4%BB%BD%E6%9C%89%E9%99%90%E5%85%AC%E5%8F%B82025%E5%B9%B4%E7%AC%AC%E4%B8%80%E6%AC%A1%E4%B8%B4%E6%97%B6%E8%82%A1%E4%B8%9C%E4%BC%9A%E4%BC%9A%E8%AE%AE%E8%B5%84%E6%96%99.pdf) |</a:t>
            </a:r>
          </a:p>
          <a:p xmlns:a="http://schemas.openxmlformats.org/drawingml/2006/main">
            <a:r>
              <a:t>| Twist Bioscience | NASDAQ | TWST | DNA synthesis | [Source](https://investors.twistbioscience.com/static-files/8c1d5bed-df6f-48d5-832f-eb2f32717c27) |</a:t>
            </a:r>
          </a:p>
          <a:p xmlns:a="http://schemas.openxmlformats.org/drawingml/2006/main">
            <a:r>
              <a:t>| Thermo Fisher / Gibco | NYSE | TMO | Molecular tools, proteins, media and instruments; parent ticker | [Source](https://ir.thermofisher.com/investors/news-events/news/news-details/2026/Thermo-Fisher-Scientific-Reports-Second-Quarter-2026-Results/) |</a:t>
            </a:r>
          </a:p>
          <a:p xmlns:a="http://schemas.openxmlformats.org/drawingml/2006/main">
            <a:r>
              <a:t>| Bio-Techne | NASDAQ | TECH | Proteins / functional assay reagents | [Source](https://investors.bio-techne.com/stock-data) |</a:t>
            </a:r>
          </a:p>
          <a:p xmlns:a="http://schemas.openxmlformats.org/drawingml/2006/main">
            <a:r>
              <a:t>| Danaher / Cytiva / HyClone | NYSE | DHR | Culture and purification; parent ticker | [Source](https://www.danaher.com/our-businesses/biotechnology) |</a:t>
            </a:r>
          </a:p>
          <a:p xmlns:a="http://schemas.openxmlformats.org/drawingml/2006/main">
            <a:r>
              <a:t>| Corning | NYSE | GLW | Laboratory plastics / cell culture | [Source](https://www.corning.com/content/dam/corning/media/worldwide/global/documents/corning_10-k_2025.pdf) |</a:t>
            </a:r>
          </a:p>
          <a:p xmlns:a="http://schemas.openxmlformats.org/drawingml/2006/main">
            <a:r>
              <a:t>| BD | NYSE | BDX | Current specimen collection / preanalytics; ex-BD flow is WAT | [Source](https://investors.bd.com/news-events/press-releases/detail/937/bd-completes-combination-of-biosciences-diagnostic-solutions-business-with-waters-corporation) |</a:t>
            </a:r>
          </a:p>
          <a:p xmlns:a="http://schemas.openxmlformats.org/drawingml/2006/main">
            <a:r>
              <a:t>| Illumina | NASDAQ | ILMN | Sequencing instruments / consumables | [Source](https://investor.illumina.com/static-files/eb129ea4-1f1a-408f-b87a-44eaee93c63d) |</a:t>
            </a:r>
          </a:p>
          <a:p xmlns:a="http://schemas.openxmlformats.org/drawingml/2006/main">
            <a:r>
              <a:t>| Agilent | NYSE | A | Chromatography / analytical instruments | [Source](https://www.investor.agilent.com/stock-info/stock-quote-and-chart/) |</a:t>
            </a:r>
          </a:p>
          <a:p xmlns:a="http://schemas.openxmlformats.org/drawingml/2006/main">
            <a:r>
              <a:t>| Waters / former BD Biosciences | NYSE | WAT | LC-MS / chromatography and ex-BD flow cytometry | [Source](https://www.waters.com/nextgen/us/en/about-waters/corporate-governance/legal-and-privacy-notices/bdtransaction.html) |</a:t>
            </a:r>
          </a:p>
          <a:p xmlns:a="http://schemas.openxmlformats.org/drawingml/2006/main">
            <a:r>
              <a:t>| Repligen | NASDAQ | RGEN | Bioprocess purification / filtration tools | [Source](https://investors.repligen.com/stock-info/default.aspx) |</a:t>
            </a:r>
          </a:p>
          <a:p xmlns:a="http://schemas.openxmlformats.org/drawingml/2006/main">
            <a:r>
              <a:t>| Tecan | SIX | TECN | Laboratory automation; Swiss-listed | [Source](https://www.tecan.com/hubfs/HubDB/Te-PrArc/180323_Tecan_KeplerCheuvreux.pdf) |</a:t>
            </a:r>
          </a:p>
          <a:p xmlns:a="http://schemas.openxmlformats.org/drawingml/2006/main">
            <a:r>
              <a:t/>
            </a:r>
          </a:p>
          <a:p xmlns:a="http://schemas.openxmlformats.org/drawingml/2006/main">
            <a:r>
              <a:t>The market anchors retain their original scope and sources. Adding a supplier does not broaden or update the displayed TAM. The labware family includes a clinical/preanalytical adjacency for BD; the displayed anchor continues to be the selected China plastic laboratory-consumables estimate. The analytics anchor remains China sequencing instruments plus consumables; it does not size flow cytometry.</a:t>
            </a:r>
          </a:p>
          <a:p xmlns:a="http://schemas.openxmlformats.org/drawingml/2006/main">
            <a:r>
              <a:t/>
            </a:r>
          </a:p>
          <a:p xmlns:a="http://schemas.openxmlformats.org/drawingml/2006/main">
            <a:r>
              <a:t>Original BD logo: https://news.bd.com/images/header-bd-logo.svg. Original company marks retain their colors; chart/UI colors use the user-supplied palette. The second RGB value was explicitly confirmed by the user as 172:212:241.</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088621e14f475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57a76ec36be457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8774e44206044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a54b41e9283427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530da3d3ec6435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b5692cbca2d4b0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2E1A65-86A8-4688-91D8-D0D02702C8A5}"/>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B9D0205-028E-48B7-92C7-120C64FD06E0}"/>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4D6F17-617C-488A-90B1-8994D6CB2D78}"/>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A9F931-38BA-4362-B94C-90E8CE9ECDFA}"/>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D2106D2-C4F4-4FA0-B850-F4608E74074B}"/>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10DEFDA-E3D0-4AB8-A990-4F01B48EFDA6}"/>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B08ADF-9B5B-4A1F-B2A9-BFB0C6A86F8C}"/>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6C5C954-A3B8-4052-957D-9CCB2143334B}"/>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611EDA-85E7-4421-8D02-B52ED55C3A03}"/>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CC854A-12DD-483D-ACF2-0FD50751B250}"/>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8262eed4a14fc4" /><Relationship Type="http://schemas.openxmlformats.org/officeDocument/2006/relationships/slideLayout" Target="/ppt/slideLayouts/slideLayout1.xml" Id="Ra6450efd9b684105" /><Relationship Type="http://schemas.openxmlformats.org/officeDocument/2006/relationships/slideLayout" Target="/ppt/slideLayouts/slideLayout2.xml" Id="Red1c6977974644a4" /><Relationship Type="http://schemas.openxmlformats.org/officeDocument/2006/relationships/slideLayout" Target="/ppt/slideLayouts/slideLayout3.xml" Id="Rec78401918004075" /><Relationship Type="http://schemas.openxmlformats.org/officeDocument/2006/relationships/slideLayout" Target="/ppt/slideLayouts/slideLayout4.xml" Id="Ra91c3afc1a934e3f" /><Relationship Type="http://schemas.openxmlformats.org/officeDocument/2006/relationships/slideLayout" Target="/ppt/slideLayouts/slideLayout5.xml" Id="R603e6803ba1245be" /><Relationship Type="http://schemas.openxmlformats.org/officeDocument/2006/relationships/slideLayout" Target="/ppt/slideLayouts/slideLayout6.xml" Id="Rcff77472a8244e8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450efd9b684105"/>
    <p:sldLayoutId xmlns:r="http://schemas.openxmlformats.org/officeDocument/2006/relationships" id="2147483650" r:id="Red1c6977974644a4"/>
    <p:sldLayoutId xmlns:r="http://schemas.openxmlformats.org/officeDocument/2006/relationships" id="2147483651" r:id="Rec78401918004075"/>
    <p:sldLayoutId xmlns:r="http://schemas.openxmlformats.org/officeDocument/2006/relationships" id="2147483652" r:id="Ra91c3afc1a934e3f"/>
    <p:sldLayoutId xmlns:r="http://schemas.openxmlformats.org/officeDocument/2006/relationships" id="2147483653" r:id="R603e6803ba1245be"/>
    <p:sldLayoutId xmlns:r="http://schemas.openxmlformats.org/officeDocument/2006/relationships" id="2147483654" r:id="Rcff77472a8244e8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708ab467744f71" /><Relationship Type="http://schemas.openxmlformats.org/officeDocument/2006/relationships/image" Target="/ppt/media/image.png" Id="Rea3d83997d1e43fc" /><Relationship Type="http://schemas.openxmlformats.org/officeDocument/2006/relationships/notesSlide" Target="/ppt/notesSlides/notesSlide1.xml" Id="R5dd88443fcc044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39d8c875cf14983" /><Relationship Type="http://schemas.openxmlformats.org/officeDocument/2006/relationships/image" Target="/ppt/media/image2.png" Id="R03bb3027918c4931" /><Relationship Type="http://schemas.openxmlformats.org/officeDocument/2006/relationships/notesSlide" Target="/ppt/notesSlides/notesSlide2.xml" Id="R5c9f4b860a2a41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737b828031401a" /><Relationship Type="http://schemas.openxmlformats.org/officeDocument/2006/relationships/image" Target="/ppt/media/image3.png" Id="R22ae6b533ce24627" /><Relationship Type="http://schemas.openxmlformats.org/officeDocument/2006/relationships/notesSlide" Target="/ppt/notesSlides/notesSlide3.xml" Id="Rdc81802fe7a24d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b56108b01bd47c7" /><Relationship Type="http://schemas.openxmlformats.org/officeDocument/2006/relationships/image" Target="/ppt/media/image4.png" Id="Rc32047126a34427f" /><Relationship Type="http://schemas.openxmlformats.org/officeDocument/2006/relationships/notesSlide" Target="/ppt/notesSlides/notesSlide4.xml" Id="Rc062d3d0951641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01dfb7e22af402b" /><Relationship Type="http://schemas.openxmlformats.org/officeDocument/2006/relationships/image" Target="/ppt/media/image5.png" Id="R938d21289c1f4f18" /><Relationship Type="http://schemas.openxmlformats.org/officeDocument/2006/relationships/notesSlide" Target="/ppt/notesSlides/notesSlide5.xml" Id="R7aee8f1d3d1344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0b35b34d1d04838" /><Relationship Type="http://schemas.openxmlformats.org/officeDocument/2006/relationships/image" Target="/ppt/media/image6.png" Id="Re9fe230639ad439a" /><Relationship Type="http://schemas.openxmlformats.org/officeDocument/2006/relationships/notesSlide" Target="/ppt/notesSlides/notesSlide6.xml" Id="Ra26a17752c104a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d707caa7c7d4344" /><Relationship Type="http://schemas.openxmlformats.org/officeDocument/2006/relationships/image" Target="/ppt/media/image7.png" Id="R9b9e7c677e8d4660" /><Relationship Type="http://schemas.openxmlformats.org/officeDocument/2006/relationships/notesSlide" Target="/ppt/notesSlides/notesSlide7.xml" Id="R004ef4f393ec45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8396e0b469a46ec" /><Relationship Type="http://schemas.openxmlformats.org/officeDocument/2006/relationships/image" Target="/ppt/media/image8.png" Id="R034262faf57d4efb" /><Relationship Type="http://schemas.openxmlformats.org/officeDocument/2006/relationships/notesSlide" Target="/ppt/notesSlides/notesSlide8.xml" Id="Rea46b6bc01004c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13df8c1c7444525" /><Relationship Type="http://schemas.openxmlformats.org/officeDocument/2006/relationships/image" Target="/ppt/media/image9.png" Id="Rba1f8e800a8a4607" /><Relationship Type="http://schemas.openxmlformats.org/officeDocument/2006/relationships/notesSlide" Target="/ppt/notesSlides/notesSlide9.xml" Id="R22d57721520d4c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143b622bbe94a68" /><Relationship Type="http://schemas.openxmlformats.org/officeDocument/2006/relationships/image" Target="/ppt/media/image10.png" Id="Rcc4b214c9abc4a2d" /><Relationship Type="http://schemas.openxmlformats.org/officeDocument/2006/relationships/notesSlide" Target="/ppt/notesSlides/notesSlide10.xml" Id="R0c82a1d3025440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5d76f95b9624f54" /><Relationship Type="http://schemas.openxmlformats.org/officeDocument/2006/relationships/image" Target="/ppt/media/image11.png" Id="R53cdebada31e4027" /><Relationship Type="http://schemas.openxmlformats.org/officeDocument/2006/relationships/notesSlide" Target="/ppt/notesSlides/notesSlide11.xml" Id="R52fa5c66127542f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09253d3dd9949e6" /><Relationship Type="http://schemas.openxmlformats.org/officeDocument/2006/relationships/image" Target="/ppt/media/image12.png" Id="Rde9ba6fd3ebf4d38" /><Relationship Type="http://schemas.openxmlformats.org/officeDocument/2006/relationships/notesSlide" Target="/ppt/notesSlides/notesSlide12.xml" Id="Ree54e2ced49f4b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597abf94cc04e85" /><Relationship Type="http://schemas.openxmlformats.org/officeDocument/2006/relationships/image" Target="/ppt/media/image13.png" Id="Rccd3555e85314e1f" /><Relationship Type="http://schemas.openxmlformats.org/officeDocument/2006/relationships/notesSlide" Target="/ppt/notesSlides/notesSlide13.xml" Id="R995e936bde5944d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e75bd8db67541bb" /><Relationship Type="http://schemas.openxmlformats.org/officeDocument/2006/relationships/image" Target="/ppt/media/image14.png" Id="Re2d3e40458b94a69" /><Relationship Type="http://schemas.openxmlformats.org/officeDocument/2006/relationships/notesSlide" Target="/ppt/notesSlides/notesSlide14.xml" Id="Rcd3175fa0a9242c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6862aa0f93549ad" /><Relationship Type="http://schemas.openxmlformats.org/officeDocument/2006/relationships/image" Target="/ppt/media/image15.png" Id="Rb14c244fc5c64a7c" /><Relationship Type="http://schemas.openxmlformats.org/officeDocument/2006/relationships/notesSlide" Target="/ppt/notesSlides/notesSlide15.xml" Id="R6ca4629d789845a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5ecbc9c1da44703" /><Relationship Type="http://schemas.openxmlformats.org/officeDocument/2006/relationships/image" Target="/ppt/media/image16.png" Id="R9be7e356ce32466e" /><Relationship Type="http://schemas.openxmlformats.org/officeDocument/2006/relationships/notesSlide" Target="/ppt/notesSlides/notesSlide16.xml" Id="Rda5d03d8842c452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5" name="">
            <a:extLst xmlns:a="http://schemas.openxmlformats.org/drawingml/2006/main">
              <a:ext uri="{FF2B5EF4-FFF2-40B4-BE49-F238E27FC236}">
                <a16:creationId xmlns:a16="http://schemas.microsoft.com/office/drawing/2014/main" id="{4F9D4FAE-D79B-4B61-A068-C20295930E94}"/>
              </a:ext>
            </a:extLst>
          </p:cNvPr>
          <p:cNvPicPr>
            <a:picLocks xmlns:a="http://schemas.openxmlformats.org/drawingml/2006/main" noChangeAspect="1"/>
          </p:cNvPicPr>
          <p:nvPr/>
        </p:nvPicPr>
        <p:blipFill>
          <a:blip xmlns:r="http://schemas.openxmlformats.org/officeDocument/2006/relationships" xmlns:a="http://schemas.openxmlformats.org/drawingml/2006/main" r:embed="Rea3d83997d1e43fc"/>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 label 1 line 1">
            <a:extLst xmlns:a="http://schemas.openxmlformats.org/drawingml/2006/main">
              <a:ext uri="{FF2B5EF4-FFF2-40B4-BE49-F238E27FC236}">
                <a16:creationId xmlns:a16="http://schemas.microsoft.com/office/drawing/2014/main" id="{194C6ABF-0BB5-4930-B983-8CB5A3240CC0}"/>
              </a:ext>
            </a:extLst>
          </p:cNvPr>
          <p:cNvSpPr>
            <a:spLocks xmlns:a="http://schemas.openxmlformats.org/drawingml/2006/main" noGrp="1"/>
          </p:cNvSpPr>
          <p:nvPr/>
        </p:nvSpPr>
        <p:spPr>
          <a:xfrm xmlns:a="http://schemas.openxmlformats.org/drawingml/2006/main" rot="0">
            <a:off x="991870" y="421675"/>
            <a:ext cx="570001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01  The life science tools framework</a:t>
            </a:r>
          </a:p>
        </p:txBody>
      </p:sp>
      <p:sp>
        <p:nvSpPr>
          <p:cNvPr id="3" name="Figure 1 label 2 line 1">
            <a:extLst xmlns:a="http://schemas.openxmlformats.org/drawingml/2006/main">
              <a:ext uri="{FF2B5EF4-FFF2-40B4-BE49-F238E27FC236}">
                <a16:creationId xmlns:a16="http://schemas.microsoft.com/office/drawing/2014/main" id="{86CB8AD4-1D1A-4350-88B2-E83EF8AFE2E5}"/>
              </a:ext>
            </a:extLst>
          </p:cNvPr>
          <p:cNvSpPr>
            <a:spLocks xmlns:a="http://schemas.openxmlformats.org/drawingml/2006/main" noGrp="1"/>
          </p:cNvSpPr>
          <p:nvPr/>
        </p:nvSpPr>
        <p:spPr>
          <a:xfrm xmlns:a="http://schemas.openxmlformats.org/drawingml/2006/main" rot="0">
            <a:off x="15683161" y="661601"/>
            <a:ext cx="109487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FRAMEWORK</a:t>
            </a:r>
          </a:p>
        </p:txBody>
      </p:sp>
      <p:sp>
        <p:nvSpPr>
          <p:cNvPr id="4" name="Figure 1 label 3 line 1">
            <a:extLst xmlns:a="http://schemas.openxmlformats.org/drawingml/2006/main">
              <a:ext uri="{FF2B5EF4-FFF2-40B4-BE49-F238E27FC236}">
                <a16:creationId xmlns:a16="http://schemas.microsoft.com/office/drawing/2014/main" id="{520D4EFC-16DE-4495-9672-B1E38285AAB2}"/>
              </a:ext>
            </a:extLst>
          </p:cNvPr>
          <p:cNvSpPr>
            <a:spLocks xmlns:a="http://schemas.openxmlformats.org/drawingml/2006/main" noGrp="1"/>
          </p:cNvSpPr>
          <p:nvPr/>
        </p:nvSpPr>
        <p:spPr>
          <a:xfrm xmlns:a="http://schemas.openxmlformats.org/drawingml/2006/main" rot="0">
            <a:off x="998220" y="1249487"/>
            <a:ext cx="844629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 product framework spanning academic research, biotech, pharma, CRDMOs and manufacturing.</a:t>
            </a:r>
          </a:p>
        </p:txBody>
      </p:sp>
      <p:sp>
        <p:nvSpPr>
          <p:cNvPr id="5" name="Figure 1 label 4 line 1">
            <a:extLst xmlns:a="http://schemas.openxmlformats.org/drawingml/2006/main">
              <a:ext uri="{FF2B5EF4-FFF2-40B4-BE49-F238E27FC236}">
                <a16:creationId xmlns:a16="http://schemas.microsoft.com/office/drawing/2014/main" id="{DE2B99D2-5EDC-4C07-8F2E-21A770578E6C}"/>
              </a:ext>
            </a:extLst>
          </p:cNvPr>
          <p:cNvSpPr>
            <a:spLocks xmlns:a="http://schemas.openxmlformats.org/drawingml/2006/main" noGrp="1"/>
          </p:cNvSpPr>
          <p:nvPr/>
        </p:nvSpPr>
        <p:spPr>
          <a:xfrm xmlns:a="http://schemas.openxmlformats.org/drawingml/2006/main" rot="0">
            <a:off x="999173" y="9256035"/>
            <a:ext cx="671408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Classify products separately from their use cases. Chromatography resins can be reused.</a:t>
            </a:r>
          </a:p>
        </p:txBody>
      </p:sp>
      <p:sp>
        <p:nvSpPr>
          <p:cNvPr id="6" name="Figure 1 label 5 line 1">
            <a:extLst xmlns:a="http://schemas.openxmlformats.org/drawingml/2006/main">
              <a:ext uri="{FF2B5EF4-FFF2-40B4-BE49-F238E27FC236}">
                <a16:creationId xmlns:a16="http://schemas.microsoft.com/office/drawing/2014/main" id="{1BC2DE0A-B738-484F-9D77-505F24669A9A}"/>
              </a:ext>
            </a:extLst>
          </p:cNvPr>
          <p:cNvSpPr>
            <a:spLocks xmlns:a="http://schemas.openxmlformats.org/drawingml/2006/main" noGrp="1"/>
          </p:cNvSpPr>
          <p:nvPr/>
        </p:nvSpPr>
        <p:spPr>
          <a:xfrm xmlns:a="http://schemas.openxmlformats.org/drawingml/2006/main" rot="0">
            <a:off x="1000316" y="9675546"/>
            <a:ext cx="6311087"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prior product research. Existing TAMs do not automatically reconcile.</a:t>
            </a:r>
          </a:p>
        </p:txBody>
      </p:sp>
      <p:sp>
        <p:nvSpPr>
          <p:cNvPr id="7" name="Figure 1 label 6 line 1">
            <a:extLst xmlns:a="http://schemas.openxmlformats.org/drawingml/2006/main">
              <a:ext uri="{FF2B5EF4-FFF2-40B4-BE49-F238E27FC236}">
                <a16:creationId xmlns:a16="http://schemas.microsoft.com/office/drawing/2014/main" id="{EDE6EF1F-9967-4D7B-BD83-BEE9AAB26821}"/>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8" name="Figure 1 label 7 line 1">
            <a:extLst xmlns:a="http://schemas.openxmlformats.org/drawingml/2006/main">
              <a:ext uri="{FF2B5EF4-FFF2-40B4-BE49-F238E27FC236}">
                <a16:creationId xmlns:a16="http://schemas.microsoft.com/office/drawing/2014/main" id="{8073DC07-73D8-4AF7-8416-5027F7352261}"/>
              </a:ext>
            </a:extLst>
          </p:cNvPr>
          <p:cNvSpPr>
            <a:spLocks xmlns:a="http://schemas.openxmlformats.org/drawingml/2006/main" noGrp="1"/>
          </p:cNvSpPr>
          <p:nvPr/>
        </p:nvSpPr>
        <p:spPr>
          <a:xfrm xmlns:a="http://schemas.openxmlformats.org/drawingml/2006/main" rot="0">
            <a:off x="1394206" y="2415470"/>
            <a:ext cx="1721842"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FFFFFF"/>
                </a:solidFill>
                <a:latin typeface="Arial Unicode MS"/>
                <a:ea typeface="Arial Unicode MS"/>
                <a:cs typeface="Arial Unicode MS"/>
              </a:defRPr>
            </a:defPPr>
          </a:lstStyle>
          <a:p xmlns:a="http://schemas.openxmlformats.org/drawingml/2006/main">
            <a:pPr algn="l">
              <a:lnSpc>
                <a:spcPct val="100000"/>
              </a:lnSpc>
              <a:buNone/>
              <a:defRPr sz="2750" b="1">
                <a:solidFill>
                  <a:srgbClr val="FFFFFF"/>
                </a:solidFill>
                <a:latin typeface="Arial Unicode MS"/>
                <a:ea typeface="Arial Unicode MS"/>
                <a:cs typeface="Arial Unicode MS"/>
              </a:defRPr>
            </a:pPr>
            <a:r>
              <a:rPr sz="2750" b="1">
                <a:solidFill>
                  <a:srgbClr val="FFFFFF"/>
                </a:solidFill>
                <a:latin typeface="Arial Unicode MS"/>
                <a:ea typeface="Arial Unicode MS"/>
                <a:cs typeface="Arial Unicode MS"/>
              </a:rPr>
              <a:t>Reagents</a:t>
            </a:r>
          </a:p>
        </p:txBody>
      </p:sp>
      <p:sp>
        <p:nvSpPr>
          <p:cNvPr id="9" name="Figure 1 label 8 line 1">
            <a:extLst xmlns:a="http://schemas.openxmlformats.org/drawingml/2006/main">
              <a:ext uri="{FF2B5EF4-FFF2-40B4-BE49-F238E27FC236}">
                <a16:creationId xmlns:a16="http://schemas.microsoft.com/office/drawing/2014/main" id="{2A1172BF-66E6-44F5-AEEB-3692F7A83D4C}"/>
              </a:ext>
            </a:extLst>
          </p:cNvPr>
          <p:cNvSpPr>
            <a:spLocks xmlns:a="http://schemas.openxmlformats.org/drawingml/2006/main" noGrp="1"/>
          </p:cNvSpPr>
          <p:nvPr/>
        </p:nvSpPr>
        <p:spPr>
          <a:xfrm xmlns:a="http://schemas.openxmlformats.org/drawingml/2006/main" rot="0">
            <a:off x="1401509"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01</a:t>
            </a:r>
          </a:p>
        </p:txBody>
      </p:sp>
      <p:sp>
        <p:nvSpPr>
          <p:cNvPr id="10" name="Figure 1 label 9 line 1">
            <a:extLst xmlns:a="http://schemas.openxmlformats.org/drawingml/2006/main">
              <a:ext uri="{FF2B5EF4-FFF2-40B4-BE49-F238E27FC236}">
                <a16:creationId xmlns:a16="http://schemas.microsoft.com/office/drawing/2014/main" id="{37971B67-CE07-464D-9408-09DC60BC1584}"/>
              </a:ext>
            </a:extLst>
          </p:cNvPr>
          <p:cNvSpPr>
            <a:spLocks xmlns:a="http://schemas.openxmlformats.org/drawingml/2006/main" noGrp="1"/>
          </p:cNvSpPr>
          <p:nvPr/>
        </p:nvSpPr>
        <p:spPr>
          <a:xfrm xmlns:a="http://schemas.openxmlformats.org/drawingml/2006/main" rot="0">
            <a:off x="2022348" y="3625649"/>
            <a:ext cx="300424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Recombinant proteins / antibodies</a:t>
            </a:r>
          </a:p>
        </p:txBody>
      </p:sp>
      <p:sp>
        <p:nvSpPr>
          <p:cNvPr id="11" name="Figure 1 label 10 line 1">
            <a:extLst xmlns:a="http://schemas.openxmlformats.org/drawingml/2006/main">
              <a:ext uri="{FF2B5EF4-FFF2-40B4-BE49-F238E27FC236}">
                <a16:creationId xmlns:a16="http://schemas.microsoft.com/office/drawing/2014/main" id="{033DA2BF-EA20-406A-BAA5-FA3ADFF50EE6}"/>
              </a:ext>
            </a:extLst>
          </p:cNvPr>
          <p:cNvSpPr>
            <a:spLocks xmlns:a="http://schemas.openxmlformats.org/drawingml/2006/main" noGrp="1"/>
          </p:cNvSpPr>
          <p:nvPr/>
        </p:nvSpPr>
        <p:spPr>
          <a:xfrm xmlns:a="http://schemas.openxmlformats.org/drawingml/2006/main" rot="0">
            <a:off x="1401509"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02</a:t>
            </a:r>
          </a:p>
        </p:txBody>
      </p:sp>
      <p:sp>
        <p:nvSpPr>
          <p:cNvPr id="12" name="Figure 1 label 11 line 1">
            <a:extLst xmlns:a="http://schemas.openxmlformats.org/drawingml/2006/main">
              <a:ext uri="{FF2B5EF4-FFF2-40B4-BE49-F238E27FC236}">
                <a16:creationId xmlns:a16="http://schemas.microsoft.com/office/drawing/2014/main" id="{198DA0AD-D9BA-43FB-AC74-FFB63512B5DE}"/>
              </a:ext>
            </a:extLst>
          </p:cNvPr>
          <p:cNvSpPr>
            <a:spLocks xmlns:a="http://schemas.openxmlformats.org/drawingml/2006/main" noGrp="1"/>
          </p:cNvSpPr>
          <p:nvPr/>
        </p:nvSpPr>
        <p:spPr>
          <a:xfrm xmlns:a="http://schemas.openxmlformats.org/drawingml/2006/main" rot="0">
            <a:off x="2022348" y="4345874"/>
            <a:ext cx="30990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Enzymes / PCR and NGS reagents</a:t>
            </a:r>
          </a:p>
        </p:txBody>
      </p:sp>
      <p:sp>
        <p:nvSpPr>
          <p:cNvPr id="13" name="Figure 1 label 12 line 1">
            <a:extLst xmlns:a="http://schemas.openxmlformats.org/drawingml/2006/main">
              <a:ext uri="{FF2B5EF4-FFF2-40B4-BE49-F238E27FC236}">
                <a16:creationId xmlns:a16="http://schemas.microsoft.com/office/drawing/2014/main" id="{CBF8DD96-B06E-4F6F-BA03-6D56E5F70793}"/>
              </a:ext>
            </a:extLst>
          </p:cNvPr>
          <p:cNvSpPr>
            <a:spLocks xmlns:a="http://schemas.openxmlformats.org/drawingml/2006/main" noGrp="1"/>
          </p:cNvSpPr>
          <p:nvPr/>
        </p:nvSpPr>
        <p:spPr>
          <a:xfrm xmlns:a="http://schemas.openxmlformats.org/drawingml/2006/main" rot="0">
            <a:off x="1401509"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03</a:t>
            </a:r>
          </a:p>
        </p:txBody>
      </p:sp>
      <p:sp>
        <p:nvSpPr>
          <p:cNvPr id="14" name="Figure 1 label 13 line 1">
            <a:extLst xmlns:a="http://schemas.openxmlformats.org/drawingml/2006/main">
              <a:ext uri="{FF2B5EF4-FFF2-40B4-BE49-F238E27FC236}">
                <a16:creationId xmlns:a16="http://schemas.microsoft.com/office/drawing/2014/main" id="{59001F34-5D7C-4952-97FB-CB0A35C59A52}"/>
              </a:ext>
            </a:extLst>
          </p:cNvPr>
          <p:cNvSpPr>
            <a:spLocks xmlns:a="http://schemas.openxmlformats.org/drawingml/2006/main" noGrp="1"/>
          </p:cNvSpPr>
          <p:nvPr/>
        </p:nvSpPr>
        <p:spPr>
          <a:xfrm xmlns:a="http://schemas.openxmlformats.org/drawingml/2006/main" rot="0">
            <a:off x="2022348" y="5064803"/>
            <a:ext cx="33001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DNA / RNA / chemical building blocks</a:t>
            </a:r>
          </a:p>
        </p:txBody>
      </p:sp>
      <p:sp>
        <p:nvSpPr>
          <p:cNvPr id="15" name="Figure 1 label 14 line 1">
            <a:extLst xmlns:a="http://schemas.openxmlformats.org/drawingml/2006/main">
              <a:ext uri="{FF2B5EF4-FFF2-40B4-BE49-F238E27FC236}">
                <a16:creationId xmlns:a16="http://schemas.microsoft.com/office/drawing/2014/main" id="{88EAA52A-4DC4-480D-BA82-8D1A834A465A}"/>
              </a:ext>
            </a:extLst>
          </p:cNvPr>
          <p:cNvSpPr>
            <a:spLocks xmlns:a="http://schemas.openxmlformats.org/drawingml/2006/main" noGrp="1"/>
          </p:cNvSpPr>
          <p:nvPr/>
        </p:nvSpPr>
        <p:spPr>
          <a:xfrm xmlns:a="http://schemas.openxmlformats.org/drawingml/2006/main" rot="0">
            <a:off x="1401509"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04</a:t>
            </a:r>
          </a:p>
        </p:txBody>
      </p:sp>
      <p:sp>
        <p:nvSpPr>
          <p:cNvPr id="16" name="Figure 1 label 15 line 1">
            <a:extLst xmlns:a="http://schemas.openxmlformats.org/drawingml/2006/main">
              <a:ext uri="{FF2B5EF4-FFF2-40B4-BE49-F238E27FC236}">
                <a16:creationId xmlns:a16="http://schemas.microsoft.com/office/drawing/2014/main" id="{80B3D6CC-7EC3-422C-A898-E642AEB1651B}"/>
              </a:ext>
            </a:extLst>
          </p:cNvPr>
          <p:cNvSpPr>
            <a:spLocks xmlns:a="http://schemas.openxmlformats.org/drawingml/2006/main" noGrp="1"/>
          </p:cNvSpPr>
          <p:nvPr/>
        </p:nvSpPr>
        <p:spPr>
          <a:xfrm xmlns:a="http://schemas.openxmlformats.org/drawingml/2006/main" rot="0">
            <a:off x="2022348" y="5785920"/>
            <a:ext cx="21990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Cell lines / culture media</a:t>
            </a:r>
          </a:p>
        </p:txBody>
      </p:sp>
      <p:sp>
        <p:nvSpPr>
          <p:cNvPr id="17" name="Figure 1 label 16 line 1">
            <a:extLst xmlns:a="http://schemas.openxmlformats.org/drawingml/2006/main">
              <a:ext uri="{FF2B5EF4-FFF2-40B4-BE49-F238E27FC236}">
                <a16:creationId xmlns:a16="http://schemas.microsoft.com/office/drawing/2014/main" id="{4C3C6E22-9219-41C7-BB6C-DE738D5619C8}"/>
              </a:ext>
            </a:extLst>
          </p:cNvPr>
          <p:cNvSpPr>
            <a:spLocks xmlns:a="http://schemas.openxmlformats.org/drawingml/2006/main" noGrp="1"/>
          </p:cNvSpPr>
          <p:nvPr/>
        </p:nvSpPr>
        <p:spPr>
          <a:xfrm xmlns:a="http://schemas.openxmlformats.org/drawingml/2006/main" rot="0">
            <a:off x="1401509"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05</a:t>
            </a:r>
          </a:p>
        </p:txBody>
      </p:sp>
      <p:sp>
        <p:nvSpPr>
          <p:cNvPr id="18" name="Figure 1 label 17 line 1">
            <a:extLst xmlns:a="http://schemas.openxmlformats.org/drawingml/2006/main">
              <a:ext uri="{FF2B5EF4-FFF2-40B4-BE49-F238E27FC236}">
                <a16:creationId xmlns:a16="http://schemas.microsoft.com/office/drawing/2014/main" id="{BDE95155-1A5F-4F70-8CCD-440EFCD6A3F6}"/>
              </a:ext>
            </a:extLst>
          </p:cNvPr>
          <p:cNvSpPr>
            <a:spLocks xmlns:a="http://schemas.openxmlformats.org/drawingml/2006/main" noGrp="1"/>
          </p:cNvSpPr>
          <p:nvPr/>
        </p:nvSpPr>
        <p:spPr>
          <a:xfrm xmlns:a="http://schemas.openxmlformats.org/drawingml/2006/main" rot="0">
            <a:off x="2022348" y="6506143"/>
            <a:ext cx="287669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Assay reagents for R&amp;D and QC</a:t>
            </a:r>
          </a:p>
        </p:txBody>
      </p:sp>
      <p:sp>
        <p:nvSpPr>
          <p:cNvPr id="19" name="Figure 1 label 18 line 1">
            <a:extLst xmlns:a="http://schemas.openxmlformats.org/drawingml/2006/main">
              <a:ext uri="{FF2B5EF4-FFF2-40B4-BE49-F238E27FC236}">
                <a16:creationId xmlns:a16="http://schemas.microsoft.com/office/drawing/2014/main" id="{5A0EA396-C4EB-4A78-9031-1F34BC77A899}"/>
              </a:ext>
            </a:extLst>
          </p:cNvPr>
          <p:cNvSpPr>
            <a:spLocks xmlns:a="http://schemas.openxmlformats.org/drawingml/2006/main" noGrp="1"/>
          </p:cNvSpPr>
          <p:nvPr/>
        </p:nvSpPr>
        <p:spPr>
          <a:xfrm xmlns:a="http://schemas.openxmlformats.org/drawingml/2006/main" rot="0">
            <a:off x="1401318" y="7440635"/>
            <a:ext cx="22843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Tests × dose per test × price</a:t>
            </a:r>
          </a:p>
        </p:txBody>
      </p:sp>
      <p:sp>
        <p:nvSpPr>
          <p:cNvPr id="20" name="Figure 1 label 19 line 1">
            <a:extLst xmlns:a="http://schemas.openxmlformats.org/drawingml/2006/main">
              <a:ext uri="{FF2B5EF4-FFF2-40B4-BE49-F238E27FC236}">
                <a16:creationId xmlns:a16="http://schemas.microsoft.com/office/drawing/2014/main" id="{7352A643-FCDC-4D4C-B9EA-AC324DFDED44}"/>
              </a:ext>
            </a:extLst>
          </p:cNvPr>
          <p:cNvSpPr>
            <a:spLocks xmlns:a="http://schemas.openxmlformats.org/drawingml/2006/main" noGrp="1"/>
          </p:cNvSpPr>
          <p:nvPr/>
        </p:nvSpPr>
        <p:spPr>
          <a:xfrm xmlns:a="http://schemas.openxmlformats.org/drawingml/2006/main" rot="0">
            <a:off x="6953758" y="2417353"/>
            <a:ext cx="236210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Consumables</a:t>
            </a:r>
          </a:p>
        </p:txBody>
      </p:sp>
      <p:sp>
        <p:nvSpPr>
          <p:cNvPr id="21" name="Figure 1 label 20 line 1">
            <a:extLst xmlns:a="http://schemas.openxmlformats.org/drawingml/2006/main">
              <a:ext uri="{FF2B5EF4-FFF2-40B4-BE49-F238E27FC236}">
                <a16:creationId xmlns:a16="http://schemas.microsoft.com/office/drawing/2014/main" id="{DCDF3BED-F726-47AC-B09E-C3464067B67C}"/>
              </a:ext>
            </a:extLst>
          </p:cNvPr>
          <p:cNvSpPr>
            <a:spLocks xmlns:a="http://schemas.openxmlformats.org/drawingml/2006/main" noGrp="1"/>
          </p:cNvSpPr>
          <p:nvPr/>
        </p:nvSpPr>
        <p:spPr>
          <a:xfrm xmlns:a="http://schemas.openxmlformats.org/drawingml/2006/main" rot="0">
            <a:off x="6961060"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01</a:t>
            </a:r>
          </a:p>
        </p:txBody>
      </p:sp>
      <p:sp>
        <p:nvSpPr>
          <p:cNvPr id="22" name="Figure 1 label 21 line 1">
            <a:extLst xmlns:a="http://schemas.openxmlformats.org/drawingml/2006/main">
              <a:ext uri="{FF2B5EF4-FFF2-40B4-BE49-F238E27FC236}">
                <a16:creationId xmlns:a16="http://schemas.microsoft.com/office/drawing/2014/main" id="{74696B8E-0C02-4FB8-8E73-C3C247BD9334}"/>
              </a:ext>
            </a:extLst>
          </p:cNvPr>
          <p:cNvSpPr>
            <a:spLocks xmlns:a="http://schemas.openxmlformats.org/drawingml/2006/main" noGrp="1"/>
          </p:cNvSpPr>
          <p:nvPr/>
        </p:nvSpPr>
        <p:spPr>
          <a:xfrm xmlns:a="http://schemas.openxmlformats.org/drawingml/2006/main" rot="0">
            <a:off x="7581900" y="3625649"/>
            <a:ext cx="161657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Tips / microplates</a:t>
            </a:r>
          </a:p>
        </p:txBody>
      </p:sp>
      <p:sp>
        <p:nvSpPr>
          <p:cNvPr id="23" name="Figure 1 label 22 line 1">
            <a:extLst xmlns:a="http://schemas.openxmlformats.org/drawingml/2006/main">
              <a:ext uri="{FF2B5EF4-FFF2-40B4-BE49-F238E27FC236}">
                <a16:creationId xmlns:a16="http://schemas.microsoft.com/office/drawing/2014/main" id="{EFC17286-EE6E-4C61-B2F6-541FA77CD1FD}"/>
              </a:ext>
            </a:extLst>
          </p:cNvPr>
          <p:cNvSpPr>
            <a:spLocks xmlns:a="http://schemas.openxmlformats.org/drawingml/2006/main" noGrp="1"/>
          </p:cNvSpPr>
          <p:nvPr/>
        </p:nvSpPr>
        <p:spPr>
          <a:xfrm xmlns:a="http://schemas.openxmlformats.org/drawingml/2006/main" rot="0">
            <a:off x="6961060"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02</a:t>
            </a:r>
          </a:p>
        </p:txBody>
      </p:sp>
      <p:sp>
        <p:nvSpPr>
          <p:cNvPr id="24" name="Figure 1 label 23 line 1">
            <a:extLst xmlns:a="http://schemas.openxmlformats.org/drawingml/2006/main">
              <a:ext uri="{FF2B5EF4-FFF2-40B4-BE49-F238E27FC236}">
                <a16:creationId xmlns:a16="http://schemas.microsoft.com/office/drawing/2014/main" id="{AFB8BC37-F3B7-4F11-B28B-90CC0967112A}"/>
              </a:ext>
            </a:extLst>
          </p:cNvPr>
          <p:cNvSpPr>
            <a:spLocks xmlns:a="http://schemas.openxmlformats.org/drawingml/2006/main" noGrp="1"/>
          </p:cNvSpPr>
          <p:nvPr/>
        </p:nvSpPr>
        <p:spPr>
          <a:xfrm xmlns:a="http://schemas.openxmlformats.org/drawingml/2006/main" rot="0">
            <a:off x="7581900" y="4345874"/>
            <a:ext cx="279216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Culture flasks / centrifuge tubes</a:t>
            </a:r>
          </a:p>
        </p:txBody>
      </p:sp>
      <p:sp>
        <p:nvSpPr>
          <p:cNvPr id="25" name="Figure 1 label 24 line 1">
            <a:extLst xmlns:a="http://schemas.openxmlformats.org/drawingml/2006/main">
              <a:ext uri="{FF2B5EF4-FFF2-40B4-BE49-F238E27FC236}">
                <a16:creationId xmlns:a16="http://schemas.microsoft.com/office/drawing/2014/main" id="{D7F8B789-5930-472F-B687-1262BB25AE87}"/>
              </a:ext>
            </a:extLst>
          </p:cNvPr>
          <p:cNvSpPr>
            <a:spLocks xmlns:a="http://schemas.openxmlformats.org/drawingml/2006/main" noGrp="1"/>
          </p:cNvSpPr>
          <p:nvPr/>
        </p:nvSpPr>
        <p:spPr>
          <a:xfrm xmlns:a="http://schemas.openxmlformats.org/drawingml/2006/main" rot="0">
            <a:off x="6961060"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03</a:t>
            </a:r>
          </a:p>
        </p:txBody>
      </p:sp>
      <p:sp>
        <p:nvSpPr>
          <p:cNvPr id="26" name="Figure 1 label 25 line 1">
            <a:extLst xmlns:a="http://schemas.openxmlformats.org/drawingml/2006/main">
              <a:ext uri="{FF2B5EF4-FFF2-40B4-BE49-F238E27FC236}">
                <a16:creationId xmlns:a16="http://schemas.microsoft.com/office/drawing/2014/main" id="{E31E46E9-C41E-475C-914B-03A11C7C307C}"/>
              </a:ext>
            </a:extLst>
          </p:cNvPr>
          <p:cNvSpPr>
            <a:spLocks xmlns:a="http://schemas.openxmlformats.org/drawingml/2006/main" noGrp="1"/>
          </p:cNvSpPr>
          <p:nvPr/>
        </p:nvSpPr>
        <p:spPr>
          <a:xfrm xmlns:a="http://schemas.openxmlformats.org/drawingml/2006/main" rot="0">
            <a:off x="7581900" y="5065830"/>
            <a:ext cx="267593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Membranes / functional beads</a:t>
            </a:r>
          </a:p>
        </p:txBody>
      </p:sp>
      <p:sp>
        <p:nvSpPr>
          <p:cNvPr id="27" name="Figure 1 label 26 line 1">
            <a:extLst xmlns:a="http://schemas.openxmlformats.org/drawingml/2006/main">
              <a:ext uri="{FF2B5EF4-FFF2-40B4-BE49-F238E27FC236}">
                <a16:creationId xmlns:a16="http://schemas.microsoft.com/office/drawing/2014/main" id="{16D97208-FCCF-47A2-8CF7-46D84B04B354}"/>
              </a:ext>
            </a:extLst>
          </p:cNvPr>
          <p:cNvSpPr>
            <a:spLocks xmlns:a="http://schemas.openxmlformats.org/drawingml/2006/main" noGrp="1"/>
          </p:cNvSpPr>
          <p:nvPr/>
        </p:nvSpPr>
        <p:spPr>
          <a:xfrm xmlns:a="http://schemas.openxmlformats.org/drawingml/2006/main" rot="0">
            <a:off x="6961060"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04</a:t>
            </a:r>
          </a:p>
        </p:txBody>
      </p:sp>
      <p:sp>
        <p:nvSpPr>
          <p:cNvPr id="28" name="Figure 1 label 27 line 1">
            <a:extLst xmlns:a="http://schemas.openxmlformats.org/drawingml/2006/main">
              <a:ext uri="{FF2B5EF4-FFF2-40B4-BE49-F238E27FC236}">
                <a16:creationId xmlns:a16="http://schemas.microsoft.com/office/drawing/2014/main" id="{ED0852A0-9A9E-4A77-A542-1302141E90CD}"/>
              </a:ext>
            </a:extLst>
          </p:cNvPr>
          <p:cNvSpPr>
            <a:spLocks xmlns:a="http://schemas.openxmlformats.org/drawingml/2006/main" noGrp="1"/>
          </p:cNvSpPr>
          <p:nvPr/>
        </p:nvSpPr>
        <p:spPr>
          <a:xfrm xmlns:a="http://schemas.openxmlformats.org/drawingml/2006/main" rot="0">
            <a:off x="7581900" y="5786054"/>
            <a:ext cx="29719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Columns / chromatography resins</a:t>
            </a:r>
          </a:p>
        </p:txBody>
      </p:sp>
      <p:sp>
        <p:nvSpPr>
          <p:cNvPr id="29" name="Figure 1 label 28 line 1">
            <a:extLst xmlns:a="http://schemas.openxmlformats.org/drawingml/2006/main">
              <a:ext uri="{FF2B5EF4-FFF2-40B4-BE49-F238E27FC236}">
                <a16:creationId xmlns:a16="http://schemas.microsoft.com/office/drawing/2014/main" id="{7793A31A-F159-42CE-9B5F-9AC06EABE203}"/>
              </a:ext>
            </a:extLst>
          </p:cNvPr>
          <p:cNvSpPr>
            <a:spLocks xmlns:a="http://schemas.openxmlformats.org/drawingml/2006/main" noGrp="1"/>
          </p:cNvSpPr>
          <p:nvPr/>
        </p:nvSpPr>
        <p:spPr>
          <a:xfrm xmlns:a="http://schemas.openxmlformats.org/drawingml/2006/main" rot="0">
            <a:off x="6961060"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05</a:t>
            </a:r>
          </a:p>
        </p:txBody>
      </p:sp>
      <p:sp>
        <p:nvSpPr>
          <p:cNvPr id="30" name="Figure 1 label 29 line 1">
            <a:extLst xmlns:a="http://schemas.openxmlformats.org/drawingml/2006/main">
              <a:ext uri="{FF2B5EF4-FFF2-40B4-BE49-F238E27FC236}">
                <a16:creationId xmlns:a16="http://schemas.microsoft.com/office/drawing/2014/main" id="{07DC9327-00FC-49E2-B355-683A88064671}"/>
              </a:ext>
            </a:extLst>
          </p:cNvPr>
          <p:cNvSpPr>
            <a:spLocks xmlns:a="http://schemas.openxmlformats.org/drawingml/2006/main" noGrp="1"/>
          </p:cNvSpPr>
          <p:nvPr/>
        </p:nvSpPr>
        <p:spPr>
          <a:xfrm xmlns:a="http://schemas.openxmlformats.org/drawingml/2006/main" rot="0">
            <a:off x="7581900" y="6507171"/>
            <a:ext cx="24321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Gels / process components</a:t>
            </a:r>
          </a:p>
        </p:txBody>
      </p:sp>
      <p:sp>
        <p:nvSpPr>
          <p:cNvPr id="31" name="Figure 1 label 30 line 1">
            <a:extLst xmlns:a="http://schemas.openxmlformats.org/drawingml/2006/main">
              <a:ext uri="{FF2B5EF4-FFF2-40B4-BE49-F238E27FC236}">
                <a16:creationId xmlns:a16="http://schemas.microsoft.com/office/drawing/2014/main" id="{BAE8E85A-19BD-4AC0-A285-21C7568F51D2}"/>
              </a:ext>
            </a:extLst>
          </p:cNvPr>
          <p:cNvSpPr>
            <a:spLocks xmlns:a="http://schemas.openxmlformats.org/drawingml/2006/main" noGrp="1"/>
          </p:cNvSpPr>
          <p:nvPr/>
        </p:nvSpPr>
        <p:spPr>
          <a:xfrm xmlns:a="http://schemas.openxmlformats.org/drawingml/2006/main" rot="0">
            <a:off x="6960870" y="7439711"/>
            <a:ext cx="277025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Tests or batches × intensity × price</a:t>
            </a:r>
          </a:p>
        </p:txBody>
      </p:sp>
      <p:sp>
        <p:nvSpPr>
          <p:cNvPr id="32" name="Figure 1 label 31 line 1">
            <a:extLst xmlns:a="http://schemas.openxmlformats.org/drawingml/2006/main">
              <a:ext uri="{FF2B5EF4-FFF2-40B4-BE49-F238E27FC236}">
                <a16:creationId xmlns:a16="http://schemas.microsoft.com/office/drawing/2014/main" id="{EC5CD266-483C-4A1D-BE70-51DF139BB740}"/>
              </a:ext>
            </a:extLst>
          </p:cNvPr>
          <p:cNvSpPr>
            <a:spLocks xmlns:a="http://schemas.openxmlformats.org/drawingml/2006/main" noGrp="1"/>
          </p:cNvSpPr>
          <p:nvPr/>
        </p:nvSpPr>
        <p:spPr>
          <a:xfrm xmlns:a="http://schemas.openxmlformats.org/drawingml/2006/main" rot="0">
            <a:off x="12513310" y="2417353"/>
            <a:ext cx="205134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Instruments</a:t>
            </a:r>
          </a:p>
        </p:txBody>
      </p:sp>
      <p:sp>
        <p:nvSpPr>
          <p:cNvPr id="33" name="Figure 1 label 32 line 1">
            <a:extLst xmlns:a="http://schemas.openxmlformats.org/drawingml/2006/main">
              <a:ext uri="{FF2B5EF4-FFF2-40B4-BE49-F238E27FC236}">
                <a16:creationId xmlns:a16="http://schemas.microsoft.com/office/drawing/2014/main" id="{32A7612F-EE9C-43F9-B75F-04BFDA22E514}"/>
              </a:ext>
            </a:extLst>
          </p:cNvPr>
          <p:cNvSpPr>
            <a:spLocks xmlns:a="http://schemas.openxmlformats.org/drawingml/2006/main" noGrp="1"/>
          </p:cNvSpPr>
          <p:nvPr/>
        </p:nvSpPr>
        <p:spPr>
          <a:xfrm xmlns:a="http://schemas.openxmlformats.org/drawingml/2006/main" rot="0">
            <a:off x="12520612" y="364950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01</a:t>
            </a:r>
          </a:p>
        </p:txBody>
      </p:sp>
      <p:sp>
        <p:nvSpPr>
          <p:cNvPr id="34" name="Figure 1 label 33 line 1">
            <a:extLst xmlns:a="http://schemas.openxmlformats.org/drawingml/2006/main">
              <a:ext uri="{FF2B5EF4-FFF2-40B4-BE49-F238E27FC236}">
                <a16:creationId xmlns:a16="http://schemas.microsoft.com/office/drawing/2014/main" id="{16EAD44B-72EA-4333-BAF0-67F692A04CAA}"/>
              </a:ext>
            </a:extLst>
          </p:cNvPr>
          <p:cNvSpPr>
            <a:spLocks xmlns:a="http://schemas.openxmlformats.org/drawingml/2006/main" noGrp="1"/>
          </p:cNvSpPr>
          <p:nvPr/>
        </p:nvSpPr>
        <p:spPr>
          <a:xfrm xmlns:a="http://schemas.openxmlformats.org/drawingml/2006/main" rot="0">
            <a:off x="13141452" y="3626811"/>
            <a:ext cx="25278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Sequencers / liquid handlers</a:t>
            </a:r>
          </a:p>
        </p:txBody>
      </p:sp>
      <p:sp>
        <p:nvSpPr>
          <p:cNvPr id="35" name="Figure 1 label 34 line 1">
            <a:extLst xmlns:a="http://schemas.openxmlformats.org/drawingml/2006/main">
              <a:ext uri="{FF2B5EF4-FFF2-40B4-BE49-F238E27FC236}">
                <a16:creationId xmlns:a16="http://schemas.microsoft.com/office/drawing/2014/main" id="{2FD964B2-B1B5-4CD0-B571-71454094A5C2}"/>
              </a:ext>
            </a:extLst>
          </p:cNvPr>
          <p:cNvSpPr>
            <a:spLocks xmlns:a="http://schemas.openxmlformats.org/drawingml/2006/main" noGrp="1"/>
          </p:cNvSpPr>
          <p:nvPr/>
        </p:nvSpPr>
        <p:spPr>
          <a:xfrm xmlns:a="http://schemas.openxmlformats.org/drawingml/2006/main" rot="0">
            <a:off x="12520612" y="436959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02</a:t>
            </a:r>
          </a:p>
        </p:txBody>
      </p:sp>
      <p:sp>
        <p:nvSpPr>
          <p:cNvPr id="36" name="Figure 1 label 35 line 1">
            <a:extLst xmlns:a="http://schemas.openxmlformats.org/drawingml/2006/main">
              <a:ext uri="{FF2B5EF4-FFF2-40B4-BE49-F238E27FC236}">
                <a16:creationId xmlns:a16="http://schemas.microsoft.com/office/drawing/2014/main" id="{2B3339B8-0352-4D4C-A41C-34207BF8E5DA}"/>
              </a:ext>
            </a:extLst>
          </p:cNvPr>
          <p:cNvSpPr>
            <a:spLocks xmlns:a="http://schemas.openxmlformats.org/drawingml/2006/main" noGrp="1"/>
          </p:cNvSpPr>
          <p:nvPr/>
        </p:nvSpPr>
        <p:spPr>
          <a:xfrm xmlns:a="http://schemas.openxmlformats.org/drawingml/2006/main" rot="0">
            <a:off x="13141452" y="4346900"/>
            <a:ext cx="29926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LC / LC-MS / mass spectrometers</a:t>
            </a:r>
          </a:p>
        </p:txBody>
      </p:sp>
      <p:sp>
        <p:nvSpPr>
          <p:cNvPr id="37" name="Figure 1 label 36 line 1">
            <a:extLst xmlns:a="http://schemas.openxmlformats.org/drawingml/2006/main">
              <a:ext uri="{FF2B5EF4-FFF2-40B4-BE49-F238E27FC236}">
                <a16:creationId xmlns:a16="http://schemas.microsoft.com/office/drawing/2014/main" id="{69A73A74-3C5B-4E78-98E7-DBF5604E94A5}"/>
              </a:ext>
            </a:extLst>
          </p:cNvPr>
          <p:cNvSpPr>
            <a:spLocks xmlns:a="http://schemas.openxmlformats.org/drawingml/2006/main" noGrp="1"/>
          </p:cNvSpPr>
          <p:nvPr/>
        </p:nvSpPr>
        <p:spPr>
          <a:xfrm xmlns:a="http://schemas.openxmlformats.org/drawingml/2006/main" rot="0">
            <a:off x="12520612" y="508968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03</a:t>
            </a:r>
          </a:p>
        </p:txBody>
      </p:sp>
      <p:sp>
        <p:nvSpPr>
          <p:cNvPr id="38" name="Figure 1 label 37 line 1">
            <a:extLst xmlns:a="http://schemas.openxmlformats.org/drawingml/2006/main">
              <a:ext uri="{FF2B5EF4-FFF2-40B4-BE49-F238E27FC236}">
                <a16:creationId xmlns:a16="http://schemas.microsoft.com/office/drawing/2014/main" id="{5B6E9C8D-B59A-484E-9F9A-82D5366FE330}"/>
              </a:ext>
            </a:extLst>
          </p:cNvPr>
          <p:cNvSpPr>
            <a:spLocks xmlns:a="http://schemas.openxmlformats.org/drawingml/2006/main" noGrp="1"/>
          </p:cNvSpPr>
          <p:nvPr/>
        </p:nvSpPr>
        <p:spPr>
          <a:xfrm xmlns:a="http://schemas.openxmlformats.org/drawingml/2006/main" rot="0">
            <a:off x="13141452" y="5064803"/>
            <a:ext cx="151060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Flow cytometers</a:t>
            </a:r>
          </a:p>
        </p:txBody>
      </p:sp>
      <p:sp>
        <p:nvSpPr>
          <p:cNvPr id="39" name="Figure 1 label 38 line 1">
            <a:extLst xmlns:a="http://schemas.openxmlformats.org/drawingml/2006/main">
              <a:ext uri="{FF2B5EF4-FFF2-40B4-BE49-F238E27FC236}">
                <a16:creationId xmlns:a16="http://schemas.microsoft.com/office/drawing/2014/main" id="{18DA2678-78A6-4F3E-8E4D-61818F25DBD2}"/>
              </a:ext>
            </a:extLst>
          </p:cNvPr>
          <p:cNvSpPr>
            <a:spLocks xmlns:a="http://schemas.openxmlformats.org/drawingml/2006/main" noGrp="1"/>
          </p:cNvSpPr>
          <p:nvPr/>
        </p:nvSpPr>
        <p:spPr>
          <a:xfrm xmlns:a="http://schemas.openxmlformats.org/drawingml/2006/main" rot="0">
            <a:off x="12520612" y="580977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04</a:t>
            </a:r>
          </a:p>
        </p:txBody>
      </p:sp>
      <p:sp>
        <p:nvSpPr>
          <p:cNvPr id="40" name="Figure 1 label 39 line 1">
            <a:extLst xmlns:a="http://schemas.openxmlformats.org/drawingml/2006/main">
              <a:ext uri="{FF2B5EF4-FFF2-40B4-BE49-F238E27FC236}">
                <a16:creationId xmlns:a16="http://schemas.microsoft.com/office/drawing/2014/main" id="{0FDD435D-4817-433E-856A-A586C0A59E08}"/>
              </a:ext>
            </a:extLst>
          </p:cNvPr>
          <p:cNvSpPr>
            <a:spLocks xmlns:a="http://schemas.openxmlformats.org/drawingml/2006/main" noGrp="1"/>
          </p:cNvSpPr>
          <p:nvPr/>
        </p:nvSpPr>
        <p:spPr>
          <a:xfrm xmlns:a="http://schemas.openxmlformats.org/drawingml/2006/main" rot="0">
            <a:off x="13141452" y="5784892"/>
            <a:ext cx="267548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High-content imaging systems</a:t>
            </a:r>
          </a:p>
        </p:txBody>
      </p:sp>
      <p:sp>
        <p:nvSpPr>
          <p:cNvPr id="41" name="Figure 1 label 40 line 1">
            <a:extLst xmlns:a="http://schemas.openxmlformats.org/drawingml/2006/main">
              <a:ext uri="{FF2B5EF4-FFF2-40B4-BE49-F238E27FC236}">
                <a16:creationId xmlns:a16="http://schemas.microsoft.com/office/drawing/2014/main" id="{E30ED8FC-01A7-4D7F-84A8-8C9B07349719}"/>
              </a:ext>
            </a:extLst>
          </p:cNvPr>
          <p:cNvSpPr>
            <a:spLocks xmlns:a="http://schemas.openxmlformats.org/drawingml/2006/main" noGrp="1"/>
          </p:cNvSpPr>
          <p:nvPr/>
        </p:nvSpPr>
        <p:spPr>
          <a:xfrm xmlns:a="http://schemas.openxmlformats.org/drawingml/2006/main" rot="0">
            <a:off x="12520612" y="6529863"/>
            <a:ext cx="293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05</a:t>
            </a:r>
          </a:p>
        </p:txBody>
      </p:sp>
      <p:sp>
        <p:nvSpPr>
          <p:cNvPr id="42" name="Figure 1 label 41 line 1">
            <a:extLst xmlns:a="http://schemas.openxmlformats.org/drawingml/2006/main">
              <a:ext uri="{FF2B5EF4-FFF2-40B4-BE49-F238E27FC236}">
                <a16:creationId xmlns:a16="http://schemas.microsoft.com/office/drawing/2014/main" id="{82B3AB2C-C0A0-4C23-9539-C609B3366DF2}"/>
              </a:ext>
            </a:extLst>
          </p:cNvPr>
          <p:cNvSpPr>
            <a:spLocks xmlns:a="http://schemas.openxmlformats.org/drawingml/2006/main" noGrp="1"/>
          </p:cNvSpPr>
          <p:nvPr/>
        </p:nvSpPr>
        <p:spPr>
          <a:xfrm xmlns:a="http://schemas.openxmlformats.org/drawingml/2006/main" rot="0">
            <a:off x="13141452" y="6506010"/>
            <a:ext cx="21989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Cell-culture workstations</a:t>
            </a:r>
          </a:p>
        </p:txBody>
      </p:sp>
      <p:sp>
        <p:nvSpPr>
          <p:cNvPr id="43" name="Figure 1 label 42 line 1">
            <a:extLst xmlns:a="http://schemas.openxmlformats.org/drawingml/2006/main">
              <a:ext uri="{FF2B5EF4-FFF2-40B4-BE49-F238E27FC236}">
                <a16:creationId xmlns:a16="http://schemas.microsoft.com/office/drawing/2014/main" id="{5255D7CF-B21A-4C08-9015-11C6B0D22537}"/>
              </a:ext>
            </a:extLst>
          </p:cNvPr>
          <p:cNvSpPr>
            <a:spLocks xmlns:a="http://schemas.openxmlformats.org/drawingml/2006/main" noGrp="1"/>
          </p:cNvSpPr>
          <p:nvPr/>
        </p:nvSpPr>
        <p:spPr>
          <a:xfrm xmlns:a="http://schemas.openxmlformats.org/drawingml/2006/main" rot="0">
            <a:off x="12520422" y="7440635"/>
            <a:ext cx="327523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New installations + replacement + service</a:t>
            </a:r>
          </a:p>
        </p:txBody>
      </p:sp>
      <p:sp>
        <p:nvSpPr>
          <p:cNvPr id="44" name="Figure 1 label 43 line 1">
            <a:extLst xmlns:a="http://schemas.openxmlformats.org/drawingml/2006/main">
              <a:ext uri="{FF2B5EF4-FFF2-40B4-BE49-F238E27FC236}">
                <a16:creationId xmlns:a16="http://schemas.microsoft.com/office/drawing/2014/main" id="{E7CB2B47-0413-4657-AF65-DEBF573C4380}"/>
              </a:ext>
            </a:extLst>
          </p:cNvPr>
          <p:cNvSpPr>
            <a:spLocks xmlns:a="http://schemas.openxmlformats.org/drawingml/2006/main" noGrp="1"/>
          </p:cNvSpPr>
          <p:nvPr/>
        </p:nvSpPr>
        <p:spPr>
          <a:xfrm xmlns:a="http://schemas.openxmlformats.org/drawingml/2006/main" rot="0">
            <a:off x="5393531" y="8413000"/>
            <a:ext cx="7500938"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Use one product taxonomy; retain the scope of each market estimate.</a:t>
            </a:r>
          </a:p>
        </p:txBody>
      </p:sp>
    </p:spTree>
    <p:extLst>
      <p:ext uri="{BB962C8B-B14F-4D97-AF65-F5344CB8AC3E}">
        <p14:creationId xmlns:p14="http://schemas.microsoft.com/office/powerpoint/2010/main" val="5361927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1" name="">
            <a:extLst xmlns:a="http://schemas.openxmlformats.org/drawingml/2006/main">
              <a:ext uri="{FF2B5EF4-FFF2-40B4-BE49-F238E27FC236}">
                <a16:creationId xmlns:a16="http://schemas.microsoft.com/office/drawing/2014/main" id="{F0A9685B-EB92-4069-AFDB-E1D263019FF6}"/>
              </a:ext>
            </a:extLst>
          </p:cNvPr>
          <p:cNvPicPr>
            <a:picLocks xmlns:a="http://schemas.openxmlformats.org/drawingml/2006/main" noChangeAspect="1"/>
          </p:cNvPicPr>
          <p:nvPr/>
        </p:nvPicPr>
        <p:blipFill>
          <a:blip xmlns:r="http://schemas.openxmlformats.org/officeDocument/2006/relationships" xmlns:a="http://schemas.openxmlformats.org/drawingml/2006/main" r:embed="R03bb3027918c4931"/>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2 label 1 line 1">
            <a:extLst xmlns:a="http://schemas.openxmlformats.org/drawingml/2006/main">
              <a:ext uri="{FF2B5EF4-FFF2-40B4-BE49-F238E27FC236}">
                <a16:creationId xmlns:a16="http://schemas.microsoft.com/office/drawing/2014/main" id="{62E26964-D0C3-4CFE-8596-441A3CD0F669}"/>
              </a:ext>
            </a:extLst>
          </p:cNvPr>
          <p:cNvSpPr>
            <a:spLocks xmlns:a="http://schemas.openxmlformats.org/drawingml/2006/main" noGrp="1"/>
          </p:cNvSpPr>
          <p:nvPr/>
        </p:nvSpPr>
        <p:spPr>
          <a:xfrm xmlns:a="http://schemas.openxmlformats.org/drawingml/2006/main" rot="0">
            <a:off x="3894019" y="7907353"/>
            <a:ext cx="1256209"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0">
                <a:solidFill>
                  <a:srgbClr val="00355F"/>
                </a:solidFill>
                <a:latin typeface="Arial Unicode MS"/>
                <a:ea typeface="Arial Unicode MS"/>
                <a:cs typeface="Arial Unicode MS"/>
              </a:defRPr>
            </a:pPr>
            <a:r>
              <a:rPr sz="1750" b="0">
                <a:solidFill>
                  <a:srgbClr val="00355F"/>
                </a:solidFill>
                <a:latin typeface="Arial Unicode MS"/>
                <a:ea typeface="Arial Unicode MS"/>
                <a:cs typeface="Arial Unicode MS"/>
              </a:rPr>
              <a:t>Global LST</a:t>
            </a:r>
          </a:p>
        </p:txBody>
      </p:sp>
      <p:sp>
        <p:nvSpPr>
          <p:cNvPr id="3" name="Figure 2 label 2 line 1">
            <a:extLst xmlns:a="http://schemas.openxmlformats.org/drawingml/2006/main">
              <a:ext uri="{FF2B5EF4-FFF2-40B4-BE49-F238E27FC236}">
                <a16:creationId xmlns:a16="http://schemas.microsoft.com/office/drawing/2014/main" id="{2E998E7F-6EE5-4578-910E-F795F5D366E0}"/>
              </a:ext>
            </a:extLst>
          </p:cNvPr>
          <p:cNvSpPr>
            <a:spLocks xmlns:a="http://schemas.openxmlformats.org/drawingml/2006/main" noGrp="1"/>
          </p:cNvSpPr>
          <p:nvPr/>
        </p:nvSpPr>
        <p:spPr>
          <a:xfrm xmlns:a="http://schemas.openxmlformats.org/drawingml/2006/main" rot="0">
            <a:off x="8413774" y="7907353"/>
            <a:ext cx="1194445"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0">
                <a:solidFill>
                  <a:srgbClr val="00355F"/>
                </a:solidFill>
                <a:latin typeface="Arial Unicode MS"/>
                <a:ea typeface="Arial Unicode MS"/>
                <a:cs typeface="Arial Unicode MS"/>
              </a:defRPr>
            </a:pPr>
            <a:r>
              <a:rPr sz="1750" b="0">
                <a:solidFill>
                  <a:srgbClr val="00355F"/>
                </a:solidFill>
                <a:latin typeface="Arial Unicode MS"/>
                <a:ea typeface="Arial Unicode MS"/>
                <a:cs typeface="Arial Unicode MS"/>
              </a:rPr>
              <a:t>China LST</a:t>
            </a:r>
          </a:p>
        </p:txBody>
      </p:sp>
      <p:sp>
        <p:nvSpPr>
          <p:cNvPr id="4" name="Figure 2 label 3 line 1">
            <a:extLst xmlns:a="http://schemas.openxmlformats.org/drawingml/2006/main">
              <a:ext uri="{FF2B5EF4-FFF2-40B4-BE49-F238E27FC236}">
                <a16:creationId xmlns:a16="http://schemas.microsoft.com/office/drawing/2014/main" id="{A34CE007-7DA7-4835-A757-B2ACDF84803E}"/>
              </a:ext>
            </a:extLst>
          </p:cNvPr>
          <p:cNvSpPr>
            <a:spLocks xmlns:a="http://schemas.openxmlformats.org/drawingml/2006/main" noGrp="1"/>
          </p:cNvSpPr>
          <p:nvPr/>
        </p:nvSpPr>
        <p:spPr>
          <a:xfrm xmlns:a="http://schemas.openxmlformats.org/drawingml/2006/main" rot="0">
            <a:off x="1440259" y="7697703"/>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5" name="Figure 2 label 4 line 1">
            <a:extLst xmlns:a="http://schemas.openxmlformats.org/drawingml/2006/main">
              <a:ext uri="{FF2B5EF4-FFF2-40B4-BE49-F238E27FC236}">
                <a16:creationId xmlns:a16="http://schemas.microsoft.com/office/drawing/2014/main" id="{D3A73CE0-3720-4A97-993E-5098B9DDB78F}"/>
              </a:ext>
            </a:extLst>
          </p:cNvPr>
          <p:cNvSpPr>
            <a:spLocks xmlns:a="http://schemas.openxmlformats.org/drawingml/2006/main" noGrp="1"/>
          </p:cNvSpPr>
          <p:nvPr/>
        </p:nvSpPr>
        <p:spPr>
          <a:xfrm xmlns:a="http://schemas.openxmlformats.org/drawingml/2006/main" rot="0">
            <a:off x="1334294" y="6523643"/>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a:t>
            </a:r>
          </a:p>
        </p:txBody>
      </p:sp>
      <p:sp>
        <p:nvSpPr>
          <p:cNvPr id="6" name="Figure 2 label 5 line 1">
            <a:extLst xmlns:a="http://schemas.openxmlformats.org/drawingml/2006/main">
              <a:ext uri="{FF2B5EF4-FFF2-40B4-BE49-F238E27FC236}">
                <a16:creationId xmlns:a16="http://schemas.microsoft.com/office/drawing/2014/main" id="{16A8C618-CDDD-4EBF-9EFE-3D97A503920A}"/>
              </a:ext>
            </a:extLst>
          </p:cNvPr>
          <p:cNvSpPr>
            <a:spLocks xmlns:a="http://schemas.openxmlformats.org/drawingml/2006/main" noGrp="1"/>
          </p:cNvSpPr>
          <p:nvPr/>
        </p:nvSpPr>
        <p:spPr>
          <a:xfrm xmlns:a="http://schemas.openxmlformats.org/drawingml/2006/main" rot="0">
            <a:off x="1334294" y="534958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a:t>
            </a:r>
          </a:p>
        </p:txBody>
      </p:sp>
      <p:sp>
        <p:nvSpPr>
          <p:cNvPr id="7" name="Figure 2 label 6 line 1">
            <a:extLst xmlns:a="http://schemas.openxmlformats.org/drawingml/2006/main">
              <a:ext uri="{FF2B5EF4-FFF2-40B4-BE49-F238E27FC236}">
                <a16:creationId xmlns:a16="http://schemas.microsoft.com/office/drawing/2014/main" id="{2B49DD2B-FBC5-4A87-A9C2-55288B635E67}"/>
              </a:ext>
            </a:extLst>
          </p:cNvPr>
          <p:cNvSpPr>
            <a:spLocks xmlns:a="http://schemas.openxmlformats.org/drawingml/2006/main" noGrp="1"/>
          </p:cNvSpPr>
          <p:nvPr/>
        </p:nvSpPr>
        <p:spPr>
          <a:xfrm xmlns:a="http://schemas.openxmlformats.org/drawingml/2006/main" rot="0">
            <a:off x="1334294" y="417552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30</a:t>
            </a:r>
          </a:p>
        </p:txBody>
      </p:sp>
      <p:sp>
        <p:nvSpPr>
          <p:cNvPr id="8" name="Figure 2 label 7 line 1">
            <a:extLst xmlns:a="http://schemas.openxmlformats.org/drawingml/2006/main">
              <a:ext uri="{FF2B5EF4-FFF2-40B4-BE49-F238E27FC236}">
                <a16:creationId xmlns:a16="http://schemas.microsoft.com/office/drawing/2014/main" id="{5CA7B9B9-99C9-4396-B9A4-28A174FC4FF8}"/>
              </a:ext>
            </a:extLst>
          </p:cNvPr>
          <p:cNvSpPr>
            <a:spLocks xmlns:a="http://schemas.openxmlformats.org/drawingml/2006/main" noGrp="1"/>
          </p:cNvSpPr>
          <p:nvPr/>
        </p:nvSpPr>
        <p:spPr>
          <a:xfrm xmlns:a="http://schemas.openxmlformats.org/drawingml/2006/main" rot="0">
            <a:off x="1334294" y="300146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40</a:t>
            </a:r>
          </a:p>
        </p:txBody>
      </p:sp>
      <p:sp>
        <p:nvSpPr>
          <p:cNvPr id="9" name="Figure 2 label 8 line 1">
            <a:extLst xmlns:a="http://schemas.openxmlformats.org/drawingml/2006/main">
              <a:ext uri="{FF2B5EF4-FFF2-40B4-BE49-F238E27FC236}">
                <a16:creationId xmlns:a16="http://schemas.microsoft.com/office/drawing/2014/main" id="{77B49DBC-B4FB-48F8-817F-9874B5DDD0CA}"/>
              </a:ext>
            </a:extLst>
          </p:cNvPr>
          <p:cNvSpPr>
            <a:spLocks xmlns:a="http://schemas.openxmlformats.org/drawingml/2006/main" noGrp="1"/>
          </p:cNvSpPr>
          <p:nvPr/>
        </p:nvSpPr>
        <p:spPr>
          <a:xfrm xmlns:a="http://schemas.openxmlformats.org/drawingml/2006/main" rot="16200000">
            <a:off x="962600" y="4970145"/>
            <a:ext cx="70633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US$bn</a:t>
            </a:r>
          </a:p>
        </p:txBody>
      </p:sp>
      <p:sp>
        <p:nvSpPr>
          <p:cNvPr id="10" name="Figure 2 label 9 line 1">
            <a:extLst xmlns:a="http://schemas.openxmlformats.org/drawingml/2006/main">
              <a:ext uri="{FF2B5EF4-FFF2-40B4-BE49-F238E27FC236}">
                <a16:creationId xmlns:a16="http://schemas.microsoft.com/office/drawing/2014/main" id="{B68EAB71-CCDB-4023-A0A3-8158A3839363}"/>
              </a:ext>
            </a:extLst>
          </p:cNvPr>
          <p:cNvSpPr>
            <a:spLocks xmlns:a="http://schemas.openxmlformats.org/drawingml/2006/main" noGrp="1"/>
          </p:cNvSpPr>
          <p:nvPr/>
        </p:nvSpPr>
        <p:spPr>
          <a:xfrm xmlns:a="http://schemas.openxmlformats.org/drawingml/2006/main" rot="0">
            <a:off x="4171807" y="6049458"/>
            <a:ext cx="70063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FFFFFF"/>
                </a:solidFill>
                <a:latin typeface="Arial Unicode MS"/>
                <a:ea typeface="Arial Unicode MS"/>
                <a:cs typeface="Arial Unicode MS"/>
              </a:defRPr>
            </a:defPPr>
          </a:lstStyle>
          <a:p xmlns:a="http://schemas.openxmlformats.org/drawingml/2006/main">
            <a:pPr algn="ctr">
              <a:lnSpc>
                <a:spcPct val="100000"/>
              </a:lnSpc>
              <a:buNone/>
              <a:defRPr sz="2125" b="1">
                <a:solidFill>
                  <a:srgbClr val="FFFFFF"/>
                </a:solidFill>
                <a:latin typeface="Arial Unicode MS"/>
                <a:ea typeface="Arial Unicode MS"/>
                <a:cs typeface="Arial Unicode MS"/>
              </a:defRPr>
            </a:pPr>
            <a:r>
              <a:rPr sz="2125" b="1">
                <a:solidFill>
                  <a:srgbClr val="FFFFFF"/>
                </a:solidFill>
                <a:latin typeface="Arial Unicode MS"/>
                <a:ea typeface="Arial Unicode MS"/>
                <a:cs typeface="Arial Unicode MS"/>
              </a:rPr>
              <a:t>26.4</a:t>
            </a:r>
          </a:p>
        </p:txBody>
      </p:sp>
      <p:sp>
        <p:nvSpPr>
          <p:cNvPr id="11" name="Figure 2 label 10 line 1">
            <a:extLst xmlns:a="http://schemas.openxmlformats.org/drawingml/2006/main">
              <a:ext uri="{FF2B5EF4-FFF2-40B4-BE49-F238E27FC236}">
                <a16:creationId xmlns:a16="http://schemas.microsoft.com/office/drawing/2014/main" id="{0F579165-B472-4E8A-BAF6-886BE89FCC18}"/>
              </a:ext>
            </a:extLst>
          </p:cNvPr>
          <p:cNvSpPr>
            <a:spLocks xmlns:a="http://schemas.openxmlformats.org/drawingml/2006/main" noGrp="1"/>
          </p:cNvSpPr>
          <p:nvPr/>
        </p:nvSpPr>
        <p:spPr>
          <a:xfrm xmlns:a="http://schemas.openxmlformats.org/drawingml/2006/main" rot="0">
            <a:off x="4212933" y="3645088"/>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15.1</a:t>
            </a:r>
          </a:p>
        </p:txBody>
      </p:sp>
      <p:sp>
        <p:nvSpPr>
          <p:cNvPr id="12" name="Figure 2 label 11 line 1">
            <a:extLst xmlns:a="http://schemas.openxmlformats.org/drawingml/2006/main">
              <a:ext uri="{FF2B5EF4-FFF2-40B4-BE49-F238E27FC236}">
                <a16:creationId xmlns:a16="http://schemas.microsoft.com/office/drawing/2014/main" id="{7E3CAB94-502D-4E72-8FED-0CD8F8E9140B}"/>
              </a:ext>
            </a:extLst>
          </p:cNvPr>
          <p:cNvSpPr>
            <a:spLocks xmlns:a="http://schemas.openxmlformats.org/drawingml/2006/main" noGrp="1"/>
          </p:cNvSpPr>
          <p:nvPr/>
        </p:nvSpPr>
        <p:spPr>
          <a:xfrm xmlns:a="http://schemas.openxmlformats.org/drawingml/2006/main" rot="0">
            <a:off x="4109969" y="2416499"/>
            <a:ext cx="824309" cy="39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0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500" b="1">
                <a:solidFill>
                  <a:srgbClr val="00355F"/>
                </a:solidFill>
                <a:latin typeface="Arial Unicode MS"/>
                <a:ea typeface="Arial Unicode MS"/>
                <a:cs typeface="Arial Unicode MS"/>
              </a:defRPr>
            </a:pPr>
            <a:r>
              <a:rPr sz="2500" b="1">
                <a:solidFill>
                  <a:srgbClr val="00355F"/>
                </a:solidFill>
                <a:latin typeface="Arial Unicode MS"/>
                <a:ea typeface="Arial Unicode MS"/>
                <a:cs typeface="Arial Unicode MS"/>
              </a:rPr>
              <a:t>41.5</a:t>
            </a:r>
          </a:p>
        </p:txBody>
      </p:sp>
      <p:sp>
        <p:nvSpPr>
          <p:cNvPr id="13" name="Figure 2 label 12 line 1">
            <a:extLst xmlns:a="http://schemas.openxmlformats.org/drawingml/2006/main">
              <a:ext uri="{FF2B5EF4-FFF2-40B4-BE49-F238E27FC236}">
                <a16:creationId xmlns:a16="http://schemas.microsoft.com/office/drawing/2014/main" id="{57A9B226-876D-49A7-904C-07E89BF14742}"/>
              </a:ext>
            </a:extLst>
          </p:cNvPr>
          <p:cNvSpPr>
            <a:spLocks xmlns:a="http://schemas.openxmlformats.org/drawingml/2006/main" noGrp="1"/>
          </p:cNvSpPr>
          <p:nvPr/>
        </p:nvSpPr>
        <p:spPr>
          <a:xfrm xmlns:a="http://schemas.openxmlformats.org/drawingml/2006/main" rot="0">
            <a:off x="8735690" y="7329182"/>
            <a:ext cx="550614"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FFFFFF"/>
                </a:solidFill>
                <a:latin typeface="Arial Unicode MS"/>
                <a:ea typeface="Arial Unicode MS"/>
                <a:cs typeface="Arial Unicode MS"/>
              </a:defRPr>
            </a:defPPr>
          </a:lstStyle>
          <a:p xmlns:a="http://schemas.openxmlformats.org/drawingml/2006/main">
            <a:pPr algn="ctr">
              <a:lnSpc>
                <a:spcPct val="100000"/>
              </a:lnSpc>
              <a:buNone/>
              <a:defRPr sz="2125" b="1">
                <a:solidFill>
                  <a:srgbClr val="FFFFFF"/>
                </a:solidFill>
                <a:latin typeface="Arial Unicode MS"/>
                <a:ea typeface="Arial Unicode MS"/>
                <a:cs typeface="Arial Unicode MS"/>
              </a:defRPr>
            </a:pPr>
            <a:r>
              <a:rPr sz="2125" b="1">
                <a:solidFill>
                  <a:srgbClr val="FFFFFF"/>
                </a:solidFill>
                <a:latin typeface="Arial Unicode MS"/>
                <a:ea typeface="Arial Unicode MS"/>
                <a:cs typeface="Arial Unicode MS"/>
              </a:rPr>
              <a:t>4.6</a:t>
            </a:r>
          </a:p>
        </p:txBody>
      </p:sp>
      <p:sp>
        <p:nvSpPr>
          <p:cNvPr id="14" name="Figure 2 label 13 line 1">
            <a:extLst xmlns:a="http://schemas.openxmlformats.org/drawingml/2006/main">
              <a:ext uri="{FF2B5EF4-FFF2-40B4-BE49-F238E27FC236}">
                <a16:creationId xmlns:a16="http://schemas.microsoft.com/office/drawing/2014/main" id="{97665B5D-F25C-4B97-9C6E-6C59E3028463}"/>
              </a:ext>
            </a:extLst>
          </p:cNvPr>
          <p:cNvSpPr>
            <a:spLocks xmlns:a="http://schemas.openxmlformats.org/drawingml/2006/main" noGrp="1"/>
          </p:cNvSpPr>
          <p:nvPr/>
        </p:nvSpPr>
        <p:spPr>
          <a:xfrm xmlns:a="http://schemas.openxmlformats.org/drawingml/2006/main" rot="0">
            <a:off x="8768035" y="6908974"/>
            <a:ext cx="485924"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3.1</a:t>
            </a:r>
          </a:p>
        </p:txBody>
      </p:sp>
      <p:sp>
        <p:nvSpPr>
          <p:cNvPr id="15" name="Figure 2 label 14 line 1">
            <a:extLst xmlns:a="http://schemas.openxmlformats.org/drawingml/2006/main">
              <a:ext uri="{FF2B5EF4-FFF2-40B4-BE49-F238E27FC236}">
                <a16:creationId xmlns:a16="http://schemas.microsoft.com/office/drawing/2014/main" id="{937176E5-F91B-4E79-8D03-FF09B73E8F1D}"/>
              </a:ext>
            </a:extLst>
          </p:cNvPr>
          <p:cNvSpPr>
            <a:spLocks xmlns:a="http://schemas.openxmlformats.org/drawingml/2006/main" noGrp="1"/>
          </p:cNvSpPr>
          <p:nvPr/>
        </p:nvSpPr>
        <p:spPr>
          <a:xfrm xmlns:a="http://schemas.openxmlformats.org/drawingml/2006/main" rot="0">
            <a:off x="8687098" y="6384822"/>
            <a:ext cx="647799" cy="39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50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500" b="1">
                <a:solidFill>
                  <a:srgbClr val="00355F"/>
                </a:solidFill>
                <a:latin typeface="Arial Unicode MS"/>
                <a:ea typeface="Arial Unicode MS"/>
                <a:cs typeface="Arial Unicode MS"/>
              </a:defRPr>
            </a:pPr>
            <a:r>
              <a:rPr sz="2500" b="1">
                <a:solidFill>
                  <a:srgbClr val="00355F"/>
                </a:solidFill>
                <a:latin typeface="Arial Unicode MS"/>
                <a:ea typeface="Arial Unicode MS"/>
                <a:cs typeface="Arial Unicode MS"/>
              </a:rPr>
              <a:t>7.7</a:t>
            </a:r>
          </a:p>
        </p:txBody>
      </p:sp>
      <p:sp>
        <p:nvSpPr>
          <p:cNvPr id="16" name="Figure 2 label 15 line 1">
            <a:extLst xmlns:a="http://schemas.openxmlformats.org/drawingml/2006/main">
              <a:ext uri="{FF2B5EF4-FFF2-40B4-BE49-F238E27FC236}">
                <a16:creationId xmlns:a16="http://schemas.microsoft.com/office/drawing/2014/main" id="{429FE002-9D8F-45FA-8A5E-6F9CE3D363E0}"/>
              </a:ext>
            </a:extLst>
          </p:cNvPr>
          <p:cNvSpPr>
            <a:spLocks xmlns:a="http://schemas.openxmlformats.org/drawingml/2006/main" noGrp="1"/>
          </p:cNvSpPr>
          <p:nvPr/>
        </p:nvSpPr>
        <p:spPr>
          <a:xfrm xmlns:a="http://schemas.openxmlformats.org/drawingml/2006/main" rot="0">
            <a:off x="2438876" y="2096130"/>
            <a:ext cx="225816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Research biological reagents</a:t>
            </a:r>
          </a:p>
        </p:txBody>
      </p:sp>
      <p:sp>
        <p:nvSpPr>
          <p:cNvPr id="17" name="Figure 2 label 16 line 1">
            <a:extLst xmlns:a="http://schemas.openxmlformats.org/drawingml/2006/main">
              <a:ext uri="{FF2B5EF4-FFF2-40B4-BE49-F238E27FC236}">
                <a16:creationId xmlns:a16="http://schemas.microsoft.com/office/drawing/2014/main" id="{61988831-81DA-4CD0-BC35-7085C191A7EA}"/>
              </a:ext>
            </a:extLst>
          </p:cNvPr>
          <p:cNvSpPr>
            <a:spLocks xmlns:a="http://schemas.openxmlformats.org/drawingml/2006/main" noGrp="1"/>
          </p:cNvSpPr>
          <p:nvPr/>
        </p:nvSpPr>
        <p:spPr>
          <a:xfrm xmlns:a="http://schemas.openxmlformats.org/drawingml/2006/main" rot="0">
            <a:off x="5388516" y="2096130"/>
            <a:ext cx="304993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Other tools: instruments + consumables</a:t>
            </a:r>
          </a:p>
        </p:txBody>
      </p:sp>
      <p:sp>
        <p:nvSpPr>
          <p:cNvPr id="18" name="Figure 2 label 17 line 1">
            <a:extLst xmlns:a="http://schemas.openxmlformats.org/drawingml/2006/main">
              <a:ext uri="{FF2B5EF4-FFF2-40B4-BE49-F238E27FC236}">
                <a16:creationId xmlns:a16="http://schemas.microsoft.com/office/drawing/2014/main" id="{C63CE155-E6DD-4C3F-9BF5-072AA54851C2}"/>
              </a:ext>
            </a:extLst>
          </p:cNvPr>
          <p:cNvSpPr>
            <a:spLocks xmlns:a="http://schemas.openxmlformats.org/drawingml/2006/main" noGrp="1"/>
          </p:cNvSpPr>
          <p:nvPr/>
        </p:nvSpPr>
        <p:spPr>
          <a:xfrm xmlns:a="http://schemas.openxmlformats.org/drawingml/2006/main" rot="0">
            <a:off x="991870" y="421675"/>
            <a:ext cx="6167338"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02  2025 LST under one F&amp;S definition</a:t>
            </a:r>
          </a:p>
        </p:txBody>
      </p:sp>
      <p:sp>
        <p:nvSpPr>
          <p:cNvPr id="19" name="Figure 2 label 18 line 1">
            <a:extLst xmlns:a="http://schemas.openxmlformats.org/drawingml/2006/main">
              <a:ext uri="{FF2B5EF4-FFF2-40B4-BE49-F238E27FC236}">
                <a16:creationId xmlns:a16="http://schemas.microsoft.com/office/drawing/2014/main" id="{62DB92C9-BE29-4B7D-B429-DF773C88B07E}"/>
              </a:ext>
            </a:extLst>
          </p:cNvPr>
          <p:cNvSpPr>
            <a:spLocks xmlns:a="http://schemas.openxmlformats.org/drawingml/2006/main" noGrp="1"/>
          </p:cNvSpPr>
          <p:nvPr/>
        </p:nvSpPr>
        <p:spPr>
          <a:xfrm xmlns:a="http://schemas.openxmlformats.org/drawingml/2006/main" rot="0">
            <a:off x="15729149" y="661601"/>
            <a:ext cx="100290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HISTORICAL</a:t>
            </a:r>
          </a:p>
        </p:txBody>
      </p:sp>
      <p:sp>
        <p:nvSpPr>
          <p:cNvPr id="20" name="Figure 2 label 19 line 1">
            <a:extLst xmlns:a="http://schemas.openxmlformats.org/drawingml/2006/main">
              <a:ext uri="{FF2B5EF4-FFF2-40B4-BE49-F238E27FC236}">
                <a16:creationId xmlns:a16="http://schemas.microsoft.com/office/drawing/2014/main" id="{14DFE54C-5C08-4EBC-841E-B518616B9567}"/>
              </a:ext>
            </a:extLst>
          </p:cNvPr>
          <p:cNvSpPr>
            <a:spLocks xmlns:a="http://schemas.openxmlformats.org/drawingml/2006/main" noGrp="1"/>
          </p:cNvSpPr>
          <p:nvPr/>
        </p:nvSpPr>
        <p:spPr>
          <a:xfrm xmlns:a="http://schemas.openxmlformats.org/drawingml/2006/main" rot="0">
            <a:off x="998220" y="1249487"/>
            <a:ext cx="83507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2025 F&amp;S estimates commissioned for ACRO’s filing. A defined scope, not a broad-industry TAM.</a:t>
            </a:r>
          </a:p>
        </p:txBody>
      </p:sp>
      <p:sp>
        <p:nvSpPr>
          <p:cNvPr id="21" name="Figure 2 label 20 line 1">
            <a:extLst xmlns:a="http://schemas.openxmlformats.org/drawingml/2006/main">
              <a:ext uri="{FF2B5EF4-FFF2-40B4-BE49-F238E27FC236}">
                <a16:creationId xmlns:a16="http://schemas.microsoft.com/office/drawing/2014/main" id="{F169A2AA-CC41-4904-852D-35C069642714}"/>
              </a:ext>
            </a:extLst>
          </p:cNvPr>
          <p:cNvSpPr>
            <a:spLocks xmlns:a="http://schemas.openxmlformats.org/drawingml/2006/main" noGrp="1"/>
          </p:cNvSpPr>
          <p:nvPr/>
        </p:nvSpPr>
        <p:spPr>
          <a:xfrm xmlns:a="http://schemas.openxmlformats.org/drawingml/2006/main" rot="0">
            <a:off x="999173" y="9256035"/>
            <a:ext cx="789131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Other tools are the residual. Comparable instrument and consumable splits were not separately available.</a:t>
            </a:r>
          </a:p>
        </p:txBody>
      </p:sp>
      <p:sp>
        <p:nvSpPr>
          <p:cNvPr id="22" name="Figure 2 label 21 line 1">
            <a:extLst xmlns:a="http://schemas.openxmlformats.org/drawingml/2006/main">
              <a:ext uri="{FF2B5EF4-FFF2-40B4-BE49-F238E27FC236}">
                <a16:creationId xmlns:a16="http://schemas.microsoft.com/office/drawing/2014/main" id="{59C0B74B-3173-4CA9-AABD-486A4CC151EF}"/>
              </a:ext>
            </a:extLst>
          </p:cNvPr>
          <p:cNvSpPr>
            <a:spLocks xmlns:a="http://schemas.openxmlformats.org/drawingml/2006/main" noGrp="1"/>
          </p:cNvSpPr>
          <p:nvPr/>
        </p:nvSpPr>
        <p:spPr>
          <a:xfrm xmlns:a="http://schemas.openxmlformats.org/drawingml/2006/main" rot="0">
            <a:off x="1000316" y="9675546"/>
            <a:ext cx="6549212"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ACROBiosystems HKEX application, 30 Sep 2026, printed pp. 65 and 67; links in SOURCES.md.</a:t>
            </a:r>
          </a:p>
        </p:txBody>
      </p:sp>
      <p:sp>
        <p:nvSpPr>
          <p:cNvPr id="23" name="Figure 2 label 22 line 1">
            <a:extLst xmlns:a="http://schemas.openxmlformats.org/drawingml/2006/main">
              <a:ext uri="{FF2B5EF4-FFF2-40B4-BE49-F238E27FC236}">
                <a16:creationId xmlns:a16="http://schemas.microsoft.com/office/drawing/2014/main" id="{F6B9CFA7-D85F-4C67-848E-0C4BA1AD239E}"/>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24" name="Figure 2 label 23 line 1">
            <a:extLst xmlns:a="http://schemas.openxmlformats.org/drawingml/2006/main">
              <a:ext uri="{FF2B5EF4-FFF2-40B4-BE49-F238E27FC236}">
                <a16:creationId xmlns:a16="http://schemas.microsoft.com/office/drawing/2014/main" id="{C80497CE-44CC-4505-A978-7E37D22EABB1}"/>
              </a:ext>
            </a:extLst>
          </p:cNvPr>
          <p:cNvSpPr>
            <a:spLocks xmlns:a="http://schemas.openxmlformats.org/drawingml/2006/main" noGrp="1"/>
          </p:cNvSpPr>
          <p:nvPr/>
        </p:nvSpPr>
        <p:spPr>
          <a:xfrm xmlns:a="http://schemas.openxmlformats.org/drawingml/2006/main" rot="0">
            <a:off x="13159106" y="3178951"/>
            <a:ext cx="2897882"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0">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China share within F&amp;S scope</a:t>
            </a:r>
          </a:p>
        </p:txBody>
      </p:sp>
      <p:sp>
        <p:nvSpPr>
          <p:cNvPr id="25" name="Figure 2 label 24 line 1">
            <a:extLst xmlns:a="http://schemas.openxmlformats.org/drawingml/2006/main">
              <a:ext uri="{FF2B5EF4-FFF2-40B4-BE49-F238E27FC236}">
                <a16:creationId xmlns:a16="http://schemas.microsoft.com/office/drawing/2014/main" id="{5729EF95-C0FF-494D-BF77-891B3C22C95D}"/>
              </a:ext>
            </a:extLst>
          </p:cNvPr>
          <p:cNvSpPr>
            <a:spLocks xmlns:a="http://schemas.openxmlformats.org/drawingml/2006/main" noGrp="1"/>
          </p:cNvSpPr>
          <p:nvPr/>
        </p:nvSpPr>
        <p:spPr>
          <a:xfrm xmlns:a="http://schemas.openxmlformats.org/drawingml/2006/main" rot="0">
            <a:off x="13143866" y="3660147"/>
            <a:ext cx="2047180" cy="734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4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4625" b="1">
                <a:solidFill>
                  <a:srgbClr val="00355F"/>
                </a:solidFill>
                <a:latin typeface="Arial Unicode MS"/>
                <a:ea typeface="Arial Unicode MS"/>
                <a:cs typeface="Arial Unicode MS"/>
              </a:defRPr>
            </a:pPr>
            <a:r>
              <a:rPr sz="4625" b="1">
                <a:solidFill>
                  <a:srgbClr val="00355F"/>
                </a:solidFill>
                <a:latin typeface="Arial Unicode MS"/>
                <a:ea typeface="Arial Unicode MS"/>
                <a:cs typeface="Arial Unicode MS"/>
              </a:rPr>
              <a:t>18.6%</a:t>
            </a:r>
          </a:p>
        </p:txBody>
      </p:sp>
      <p:sp>
        <p:nvSpPr>
          <p:cNvPr id="26" name="Figure 2 label 25 line 1">
            <a:extLst xmlns:a="http://schemas.openxmlformats.org/drawingml/2006/main">
              <a:ext uri="{FF2B5EF4-FFF2-40B4-BE49-F238E27FC236}">
                <a16:creationId xmlns:a16="http://schemas.microsoft.com/office/drawing/2014/main" id="{F33AE224-BEE2-4B6E-8262-1991C99051AC}"/>
              </a:ext>
            </a:extLst>
          </p:cNvPr>
          <p:cNvSpPr>
            <a:spLocks xmlns:a="http://schemas.openxmlformats.org/drawingml/2006/main" noGrp="1"/>
          </p:cNvSpPr>
          <p:nvPr/>
        </p:nvSpPr>
        <p:spPr>
          <a:xfrm xmlns:a="http://schemas.openxmlformats.org/drawingml/2006/main" rot="0">
            <a:off x="13159740" y="4882744"/>
            <a:ext cx="91827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7.7 / 41.5</a:t>
            </a:r>
          </a:p>
        </p:txBody>
      </p:sp>
      <p:sp>
        <p:nvSpPr>
          <p:cNvPr id="27" name="Figure 2 label 26 line 1">
            <a:extLst xmlns:a="http://schemas.openxmlformats.org/drawingml/2006/main">
              <a:ext uri="{FF2B5EF4-FFF2-40B4-BE49-F238E27FC236}">
                <a16:creationId xmlns:a16="http://schemas.microsoft.com/office/drawing/2014/main" id="{E3A6B18D-E0D3-40BB-A642-A52A3DE1E72B}"/>
              </a:ext>
            </a:extLst>
          </p:cNvPr>
          <p:cNvSpPr>
            <a:spLocks xmlns:a="http://schemas.openxmlformats.org/drawingml/2006/main" noGrp="1"/>
          </p:cNvSpPr>
          <p:nvPr/>
        </p:nvSpPr>
        <p:spPr>
          <a:xfrm xmlns:a="http://schemas.openxmlformats.org/drawingml/2006/main" rot="0">
            <a:off x="13159740" y="5084323"/>
            <a:ext cx="263366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Not vendor revenue exposure</a:t>
            </a:r>
          </a:p>
        </p:txBody>
      </p:sp>
      <p:sp>
        <p:nvSpPr>
          <p:cNvPr id="28" name="Figure 2 label 27 line 1">
            <a:extLst xmlns:a="http://schemas.openxmlformats.org/drawingml/2006/main">
              <a:ext uri="{FF2B5EF4-FFF2-40B4-BE49-F238E27FC236}">
                <a16:creationId xmlns:a16="http://schemas.microsoft.com/office/drawing/2014/main" id="{DAAB13B3-826F-44EC-A711-C7727F578597}"/>
              </a:ext>
            </a:extLst>
          </p:cNvPr>
          <p:cNvSpPr>
            <a:spLocks xmlns:a="http://schemas.openxmlformats.org/drawingml/2006/main" noGrp="1"/>
          </p:cNvSpPr>
          <p:nvPr/>
        </p:nvSpPr>
        <p:spPr>
          <a:xfrm xmlns:a="http://schemas.openxmlformats.org/drawingml/2006/main" rot="0">
            <a:off x="12885420" y="6436769"/>
            <a:ext cx="274945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Issuer-commissioned estimate.</a:t>
            </a:r>
          </a:p>
        </p:txBody>
      </p:sp>
      <p:sp>
        <p:nvSpPr>
          <p:cNvPr id="29" name="Figure 2 label 28 line 1">
            <a:extLst xmlns:a="http://schemas.openxmlformats.org/drawingml/2006/main">
              <a:ext uri="{FF2B5EF4-FFF2-40B4-BE49-F238E27FC236}">
                <a16:creationId xmlns:a16="http://schemas.microsoft.com/office/drawing/2014/main" id="{80A734C8-B15A-4177-8CA2-F9E063130715}"/>
              </a:ext>
            </a:extLst>
          </p:cNvPr>
          <p:cNvSpPr>
            <a:spLocks xmlns:a="http://schemas.openxmlformats.org/drawingml/2006/main" noGrp="1"/>
          </p:cNvSpPr>
          <p:nvPr/>
        </p:nvSpPr>
        <p:spPr>
          <a:xfrm xmlns:a="http://schemas.openxmlformats.org/drawingml/2006/main" rot="0">
            <a:off x="12885420" y="6638348"/>
            <a:ext cx="25381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Broader markets and vendor</a:t>
            </a:r>
          </a:p>
        </p:txBody>
      </p:sp>
      <p:sp>
        <p:nvSpPr>
          <p:cNvPr id="30" name="Figure 2 label 29 line 1">
            <a:extLst xmlns:a="http://schemas.openxmlformats.org/drawingml/2006/main">
              <a:ext uri="{FF2B5EF4-FFF2-40B4-BE49-F238E27FC236}">
                <a16:creationId xmlns:a16="http://schemas.microsoft.com/office/drawing/2014/main" id="{49B6C9A6-B075-4DFF-A583-B4FCE373AC74}"/>
              </a:ext>
            </a:extLst>
          </p:cNvPr>
          <p:cNvSpPr>
            <a:spLocks xmlns:a="http://schemas.openxmlformats.org/drawingml/2006/main" noGrp="1"/>
          </p:cNvSpPr>
          <p:nvPr/>
        </p:nvSpPr>
        <p:spPr>
          <a:xfrm xmlns:a="http://schemas.openxmlformats.org/drawingml/2006/main" rot="0">
            <a:off x="12885420" y="6842713"/>
            <a:ext cx="30148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China revenues use other scopes.</a:t>
            </a:r>
          </a:p>
        </p:txBody>
      </p:sp>
    </p:spTree>
    <p:extLst>
      <p:ext uri="{BB962C8B-B14F-4D97-AF65-F5344CB8AC3E}">
        <p14:creationId xmlns:p14="http://schemas.microsoft.com/office/powerpoint/2010/main" val="9847526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8" name="">
            <a:extLst xmlns:a="http://schemas.openxmlformats.org/drawingml/2006/main">
              <a:ext uri="{FF2B5EF4-FFF2-40B4-BE49-F238E27FC236}">
                <a16:creationId xmlns:a16="http://schemas.microsoft.com/office/drawing/2014/main" id="{9F1C91A3-D18B-4DD4-84CB-02E61DE863BC}"/>
              </a:ext>
            </a:extLst>
          </p:cNvPr>
          <p:cNvPicPr>
            <a:picLocks xmlns:a="http://schemas.openxmlformats.org/drawingml/2006/main" noChangeAspect="1"/>
          </p:cNvPicPr>
          <p:nvPr/>
        </p:nvPicPr>
        <p:blipFill>
          <a:blip xmlns:r="http://schemas.openxmlformats.org/officeDocument/2006/relationships" xmlns:a="http://schemas.openxmlformats.org/drawingml/2006/main" r:embed="R22ae6b533ce2462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3 label 1 line 1">
            <a:extLst xmlns:a="http://schemas.openxmlformats.org/drawingml/2006/main">
              <a:ext uri="{FF2B5EF4-FFF2-40B4-BE49-F238E27FC236}">
                <a16:creationId xmlns:a16="http://schemas.microsoft.com/office/drawing/2014/main" id="{E116C924-FFF1-4AE2-840D-A552BBE587E8}"/>
              </a:ext>
            </a:extLst>
          </p:cNvPr>
          <p:cNvSpPr>
            <a:spLocks xmlns:a="http://schemas.openxmlformats.org/drawingml/2006/main" noGrp="1"/>
          </p:cNvSpPr>
          <p:nvPr/>
        </p:nvSpPr>
        <p:spPr>
          <a:xfrm xmlns:a="http://schemas.openxmlformats.org/drawingml/2006/main" rot="0">
            <a:off x="991870" y="421675"/>
            <a:ext cx="764029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03  Customer workflows across life science tools</a:t>
            </a:r>
          </a:p>
        </p:txBody>
      </p:sp>
      <p:sp>
        <p:nvSpPr>
          <p:cNvPr id="3" name="Figure 3 label 2 line 1">
            <a:extLst xmlns:a="http://schemas.openxmlformats.org/drawingml/2006/main">
              <a:ext uri="{FF2B5EF4-FFF2-40B4-BE49-F238E27FC236}">
                <a16:creationId xmlns:a16="http://schemas.microsoft.com/office/drawing/2014/main" id="{5F063855-827D-49B2-B71F-EA42B54331EE}"/>
              </a:ext>
            </a:extLst>
          </p:cNvPr>
          <p:cNvSpPr>
            <a:spLocks xmlns:a="http://schemas.openxmlformats.org/drawingml/2006/main" noGrp="1"/>
          </p:cNvSpPr>
          <p:nvPr/>
        </p:nvSpPr>
        <p:spPr>
          <a:xfrm xmlns:a="http://schemas.openxmlformats.org/drawingml/2006/main" rot="0">
            <a:off x="15842184" y="661601"/>
            <a:ext cx="77683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USE MAP</a:t>
            </a:r>
          </a:p>
        </p:txBody>
      </p:sp>
      <p:sp>
        <p:nvSpPr>
          <p:cNvPr id="4" name="Figure 3 label 3 line 1">
            <a:extLst xmlns:a="http://schemas.openxmlformats.org/drawingml/2006/main">
              <a:ext uri="{FF2B5EF4-FFF2-40B4-BE49-F238E27FC236}">
                <a16:creationId xmlns:a16="http://schemas.microsoft.com/office/drawing/2014/main" id="{2567D29B-267B-4761-9737-780819972CF3}"/>
              </a:ext>
            </a:extLst>
          </p:cNvPr>
          <p:cNvSpPr>
            <a:spLocks xmlns:a="http://schemas.openxmlformats.org/drawingml/2006/main" noGrp="1"/>
          </p:cNvSpPr>
          <p:nvPr/>
        </p:nvSpPr>
        <p:spPr>
          <a:xfrm xmlns:a="http://schemas.openxmlformats.org/drawingml/2006/main" rot="0">
            <a:off x="998220" y="1249487"/>
            <a:ext cx="72503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 qualitative workflow map. Customer purchasing shares have not been established.</a:t>
            </a:r>
          </a:p>
        </p:txBody>
      </p:sp>
      <p:sp>
        <p:nvSpPr>
          <p:cNvPr id="5" name="Figure 3 label 4 line 1">
            <a:extLst xmlns:a="http://schemas.openxmlformats.org/drawingml/2006/main">
              <a:ext uri="{FF2B5EF4-FFF2-40B4-BE49-F238E27FC236}">
                <a16:creationId xmlns:a16="http://schemas.microsoft.com/office/drawing/2014/main" id="{68DEBB3B-2BBF-482B-82E8-06369881B6BE}"/>
              </a:ext>
            </a:extLst>
          </p:cNvPr>
          <p:cNvSpPr>
            <a:spLocks xmlns:a="http://schemas.openxmlformats.org/drawingml/2006/main" noGrp="1"/>
          </p:cNvSpPr>
          <p:nvPr/>
        </p:nvSpPr>
        <p:spPr>
          <a:xfrm xmlns:a="http://schemas.openxmlformats.org/drawingml/2006/main" rot="0">
            <a:off x="999173" y="9255019"/>
            <a:ext cx="843751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Food, environmental and chemical-analysis uses excluded. Research instruments exclude clinical IVD analyzers.</a:t>
            </a:r>
          </a:p>
        </p:txBody>
      </p:sp>
      <p:sp>
        <p:nvSpPr>
          <p:cNvPr id="6" name="Figure 3 label 5 line 1">
            <a:extLst xmlns:a="http://schemas.openxmlformats.org/drawingml/2006/main">
              <a:ext uri="{FF2B5EF4-FFF2-40B4-BE49-F238E27FC236}">
                <a16:creationId xmlns:a16="http://schemas.microsoft.com/office/drawing/2014/main" id="{1C0A2FD1-2E7D-4215-B484-1DCE4E696C30}"/>
              </a:ext>
            </a:extLst>
          </p:cNvPr>
          <p:cNvSpPr>
            <a:spLocks xmlns:a="http://schemas.openxmlformats.org/drawingml/2006/main" noGrp="1"/>
          </p:cNvSpPr>
          <p:nvPr/>
        </p:nvSpPr>
        <p:spPr>
          <a:xfrm xmlns:a="http://schemas.openxmlformats.org/drawingml/2006/main" rot="0">
            <a:off x="1000316" y="9676290"/>
            <a:ext cx="6088886"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representative supplier product uses; a role map, not an estimated customer revenue mix.</a:t>
            </a:r>
          </a:p>
        </p:txBody>
      </p:sp>
      <p:sp>
        <p:nvSpPr>
          <p:cNvPr id="7" name="Figure 3 label 6 line 1">
            <a:extLst xmlns:a="http://schemas.openxmlformats.org/drawingml/2006/main">
              <a:ext uri="{FF2B5EF4-FFF2-40B4-BE49-F238E27FC236}">
                <a16:creationId xmlns:a16="http://schemas.microsoft.com/office/drawing/2014/main" id="{76362181-E1D4-4673-ACA1-23B2F65547A5}"/>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8" name="Figure 3 label 7 line 1">
            <a:extLst xmlns:a="http://schemas.openxmlformats.org/drawingml/2006/main">
              <a:ext uri="{FF2B5EF4-FFF2-40B4-BE49-F238E27FC236}">
                <a16:creationId xmlns:a16="http://schemas.microsoft.com/office/drawing/2014/main" id="{3699F541-FC62-45A4-92EA-A507409476E7}"/>
              </a:ext>
            </a:extLst>
          </p:cNvPr>
          <p:cNvSpPr>
            <a:spLocks xmlns:a="http://schemas.openxmlformats.org/drawingml/2006/main" noGrp="1"/>
          </p:cNvSpPr>
          <p:nvPr/>
        </p:nvSpPr>
        <p:spPr>
          <a:xfrm xmlns:a="http://schemas.openxmlformats.org/drawingml/2006/main" rot="0">
            <a:off x="1253617" y="2714778"/>
            <a:ext cx="131479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CUSTOMER</a:t>
            </a:r>
          </a:p>
        </p:txBody>
      </p:sp>
      <p:sp>
        <p:nvSpPr>
          <p:cNvPr id="9" name="Figure 3 label 8 line 1">
            <a:extLst xmlns:a="http://schemas.openxmlformats.org/drawingml/2006/main">
              <a:ext uri="{FF2B5EF4-FFF2-40B4-BE49-F238E27FC236}">
                <a16:creationId xmlns:a16="http://schemas.microsoft.com/office/drawing/2014/main" id="{3B7E4863-0C99-4102-9DDD-246586A50017}"/>
              </a:ext>
            </a:extLst>
          </p:cNvPr>
          <p:cNvSpPr>
            <a:spLocks xmlns:a="http://schemas.openxmlformats.org/drawingml/2006/main" noGrp="1"/>
          </p:cNvSpPr>
          <p:nvPr/>
        </p:nvSpPr>
        <p:spPr>
          <a:xfrm xmlns:a="http://schemas.openxmlformats.org/drawingml/2006/main" rot="0">
            <a:off x="5130674" y="2714778"/>
            <a:ext cx="126910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REAGENTS</a:t>
            </a:r>
          </a:p>
        </p:txBody>
      </p:sp>
      <p:sp>
        <p:nvSpPr>
          <p:cNvPr id="10" name="Figure 3 label 9 line 1">
            <a:extLst xmlns:a="http://schemas.openxmlformats.org/drawingml/2006/main">
              <a:ext uri="{FF2B5EF4-FFF2-40B4-BE49-F238E27FC236}">
                <a16:creationId xmlns:a16="http://schemas.microsoft.com/office/drawing/2014/main" id="{A5CBE299-08E0-47E7-9116-CC4A32C56761}"/>
              </a:ext>
            </a:extLst>
          </p:cNvPr>
          <p:cNvSpPr>
            <a:spLocks xmlns:a="http://schemas.openxmlformats.org/drawingml/2006/main" noGrp="1"/>
          </p:cNvSpPr>
          <p:nvPr/>
        </p:nvSpPr>
        <p:spPr>
          <a:xfrm xmlns:a="http://schemas.openxmlformats.org/drawingml/2006/main" rot="0">
            <a:off x="9117457" y="2714778"/>
            <a:ext cx="1716336"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CONSUMABLES</a:t>
            </a:r>
          </a:p>
        </p:txBody>
      </p:sp>
      <p:sp>
        <p:nvSpPr>
          <p:cNvPr id="11" name="Figure 3 label 10 line 1">
            <a:extLst xmlns:a="http://schemas.openxmlformats.org/drawingml/2006/main">
              <a:ext uri="{FF2B5EF4-FFF2-40B4-BE49-F238E27FC236}">
                <a16:creationId xmlns:a16="http://schemas.microsoft.com/office/drawing/2014/main" id="{E82FE114-2DDB-4F85-A3F0-72CAE3A98450}"/>
              </a:ext>
            </a:extLst>
          </p:cNvPr>
          <p:cNvSpPr>
            <a:spLocks xmlns:a="http://schemas.openxmlformats.org/drawingml/2006/main" noGrp="1"/>
          </p:cNvSpPr>
          <p:nvPr/>
        </p:nvSpPr>
        <p:spPr>
          <a:xfrm xmlns:a="http://schemas.openxmlformats.org/drawingml/2006/main" rot="0">
            <a:off x="13104242" y="2714778"/>
            <a:ext cx="162421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FFFFFF"/>
                </a:solidFill>
                <a:latin typeface="Arial Unicode MS"/>
                <a:ea typeface="Arial Unicode MS"/>
                <a:cs typeface="Arial Unicode MS"/>
              </a:defRPr>
            </a:defPPr>
          </a:lstStyle>
          <a:p xmlns:a="http://schemas.openxmlformats.org/drawingml/2006/main">
            <a:pPr algn="l">
              <a:lnSpc>
                <a:spcPct val="100000"/>
              </a:lnSpc>
              <a:buNone/>
              <a:defRPr sz="1625" b="1">
                <a:solidFill>
                  <a:srgbClr val="FFFFFF"/>
                </a:solidFill>
                <a:latin typeface="Arial Unicode MS"/>
                <a:ea typeface="Arial Unicode MS"/>
                <a:cs typeface="Arial Unicode MS"/>
              </a:defRPr>
            </a:pPr>
            <a:r>
              <a:rPr sz="1625" b="1">
                <a:solidFill>
                  <a:srgbClr val="FFFFFF"/>
                </a:solidFill>
                <a:latin typeface="Arial Unicode MS"/>
                <a:ea typeface="Arial Unicode MS"/>
                <a:cs typeface="Arial Unicode MS"/>
              </a:rPr>
              <a:t>INSTRUMENTS</a:t>
            </a:r>
          </a:p>
        </p:txBody>
      </p:sp>
      <p:sp>
        <p:nvSpPr>
          <p:cNvPr id="12" name="Figure 3 label 11 line 1">
            <a:extLst xmlns:a="http://schemas.openxmlformats.org/drawingml/2006/main">
              <a:ext uri="{FF2B5EF4-FFF2-40B4-BE49-F238E27FC236}">
                <a16:creationId xmlns:a16="http://schemas.microsoft.com/office/drawing/2014/main" id="{400455D5-334F-4F18-B713-40F7EB86A5C1}"/>
              </a:ext>
            </a:extLst>
          </p:cNvPr>
          <p:cNvSpPr>
            <a:spLocks xmlns:a="http://schemas.openxmlformats.org/drawingml/2006/main" noGrp="1"/>
          </p:cNvSpPr>
          <p:nvPr/>
        </p:nvSpPr>
        <p:spPr>
          <a:xfrm xmlns:a="http://schemas.openxmlformats.org/drawingml/2006/main" rot="0">
            <a:off x="1253934" y="3627985"/>
            <a:ext cx="2786757"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Academia / research hospitals</a:t>
            </a:r>
          </a:p>
        </p:txBody>
      </p:sp>
      <p:sp>
        <p:nvSpPr>
          <p:cNvPr id="13" name="Figure 3 label 12 line 1">
            <a:extLst xmlns:a="http://schemas.openxmlformats.org/drawingml/2006/main">
              <a:ext uri="{FF2B5EF4-FFF2-40B4-BE49-F238E27FC236}">
                <a16:creationId xmlns:a16="http://schemas.microsoft.com/office/drawing/2014/main" id="{2CA767AA-D1D0-4E46-8964-6A38278FE47D}"/>
              </a:ext>
            </a:extLst>
          </p:cNvPr>
          <p:cNvSpPr>
            <a:spLocks xmlns:a="http://schemas.openxmlformats.org/drawingml/2006/main" noGrp="1"/>
          </p:cNvSpPr>
          <p:nvPr/>
        </p:nvSpPr>
        <p:spPr>
          <a:xfrm xmlns:a="http://schemas.openxmlformats.org/drawingml/2006/main" rot="0">
            <a:off x="5131308" y="3523894"/>
            <a:ext cx="16908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Targets, enzymes,</a:t>
            </a:r>
          </a:p>
        </p:txBody>
      </p:sp>
      <p:sp>
        <p:nvSpPr>
          <p:cNvPr id="14" name="Figure 3 label 13 line 1">
            <a:extLst xmlns:a="http://schemas.openxmlformats.org/drawingml/2006/main">
              <a:ext uri="{FF2B5EF4-FFF2-40B4-BE49-F238E27FC236}">
                <a16:creationId xmlns:a16="http://schemas.microsoft.com/office/drawing/2014/main" id="{88C8608F-1BB5-442D-B1B0-7A3E21C0D0EC}"/>
              </a:ext>
            </a:extLst>
          </p:cNvPr>
          <p:cNvSpPr>
            <a:spLocks xmlns:a="http://schemas.openxmlformats.org/drawingml/2006/main" noGrp="1"/>
          </p:cNvSpPr>
          <p:nvPr/>
        </p:nvSpPr>
        <p:spPr>
          <a:xfrm xmlns:a="http://schemas.openxmlformats.org/drawingml/2006/main" rot="0">
            <a:off x="5131308" y="3747979"/>
            <a:ext cx="9815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cell media</a:t>
            </a:r>
          </a:p>
        </p:txBody>
      </p:sp>
      <p:sp>
        <p:nvSpPr>
          <p:cNvPr id="15" name="Figure 3 label 14 line 1">
            <a:extLst xmlns:a="http://schemas.openxmlformats.org/drawingml/2006/main">
              <a:ext uri="{FF2B5EF4-FFF2-40B4-BE49-F238E27FC236}">
                <a16:creationId xmlns:a16="http://schemas.microsoft.com/office/drawing/2014/main" id="{BF0CF27A-476F-46A8-8027-0374C4302602}"/>
              </a:ext>
            </a:extLst>
          </p:cNvPr>
          <p:cNvSpPr>
            <a:spLocks xmlns:a="http://schemas.openxmlformats.org/drawingml/2006/main" noGrp="1"/>
          </p:cNvSpPr>
          <p:nvPr/>
        </p:nvSpPr>
        <p:spPr>
          <a:xfrm xmlns:a="http://schemas.openxmlformats.org/drawingml/2006/main" rot="0">
            <a:off x="9118092" y="3524920"/>
            <a:ext cx="1108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Plates, tips,</a:t>
            </a:r>
          </a:p>
        </p:txBody>
      </p:sp>
      <p:sp>
        <p:nvSpPr>
          <p:cNvPr id="16" name="Figure 3 label 15 line 1">
            <a:extLst xmlns:a="http://schemas.openxmlformats.org/drawingml/2006/main">
              <a:ext uri="{FF2B5EF4-FFF2-40B4-BE49-F238E27FC236}">
                <a16:creationId xmlns:a16="http://schemas.microsoft.com/office/drawing/2014/main" id="{BDD5A2F5-5BC2-43C8-A192-C1D32C6DFA9C}"/>
              </a:ext>
            </a:extLst>
          </p:cNvPr>
          <p:cNvSpPr>
            <a:spLocks xmlns:a="http://schemas.openxmlformats.org/drawingml/2006/main" noGrp="1"/>
          </p:cNvSpPr>
          <p:nvPr/>
        </p:nvSpPr>
        <p:spPr>
          <a:xfrm xmlns:a="http://schemas.openxmlformats.org/drawingml/2006/main" rot="0">
            <a:off x="9118092" y="3746953"/>
            <a:ext cx="1108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cultureware</a:t>
            </a:r>
          </a:p>
        </p:txBody>
      </p:sp>
      <p:sp>
        <p:nvSpPr>
          <p:cNvPr id="17" name="Figure 3 label 16 line 1">
            <a:extLst xmlns:a="http://schemas.openxmlformats.org/drawingml/2006/main">
              <a:ext uri="{FF2B5EF4-FFF2-40B4-BE49-F238E27FC236}">
                <a16:creationId xmlns:a16="http://schemas.microsoft.com/office/drawing/2014/main" id="{A8C6657F-3DF5-4DC8-8314-9CEE6D4035F8}"/>
              </a:ext>
            </a:extLst>
          </p:cNvPr>
          <p:cNvSpPr>
            <a:spLocks xmlns:a="http://schemas.openxmlformats.org/drawingml/2006/main" noGrp="1"/>
          </p:cNvSpPr>
          <p:nvPr/>
        </p:nvSpPr>
        <p:spPr>
          <a:xfrm xmlns:a="http://schemas.openxmlformats.org/drawingml/2006/main" rot="0">
            <a:off x="13104876" y="3525054"/>
            <a:ext cx="19560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Sequencing, imaging,</a:t>
            </a:r>
          </a:p>
        </p:txBody>
      </p:sp>
      <p:sp>
        <p:nvSpPr>
          <p:cNvPr id="18" name="Figure 3 label 17 line 1">
            <a:extLst xmlns:a="http://schemas.openxmlformats.org/drawingml/2006/main">
              <a:ext uri="{FF2B5EF4-FFF2-40B4-BE49-F238E27FC236}">
                <a16:creationId xmlns:a16="http://schemas.microsoft.com/office/drawing/2014/main" id="{0CA1A207-C34D-4C21-8D31-3B472373BDD7}"/>
              </a:ext>
            </a:extLst>
          </p:cNvPr>
          <p:cNvSpPr>
            <a:spLocks xmlns:a="http://schemas.openxmlformats.org/drawingml/2006/main" noGrp="1"/>
          </p:cNvSpPr>
          <p:nvPr/>
        </p:nvSpPr>
        <p:spPr>
          <a:xfrm xmlns:a="http://schemas.openxmlformats.org/drawingml/2006/main" rot="0">
            <a:off x="13104876" y="3749141"/>
            <a:ext cx="71660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LC-MS</a:t>
            </a:r>
          </a:p>
        </p:txBody>
      </p:sp>
      <p:sp>
        <p:nvSpPr>
          <p:cNvPr id="19" name="Figure 3 label 18 line 1">
            <a:extLst xmlns:a="http://schemas.openxmlformats.org/drawingml/2006/main">
              <a:ext uri="{FF2B5EF4-FFF2-40B4-BE49-F238E27FC236}">
                <a16:creationId xmlns:a16="http://schemas.microsoft.com/office/drawing/2014/main" id="{B79B93BD-8FA4-49ED-A32D-1F2E30175F0B}"/>
              </a:ext>
            </a:extLst>
          </p:cNvPr>
          <p:cNvSpPr>
            <a:spLocks xmlns:a="http://schemas.openxmlformats.org/drawingml/2006/main" noGrp="1"/>
          </p:cNvSpPr>
          <p:nvPr/>
        </p:nvSpPr>
        <p:spPr>
          <a:xfrm xmlns:a="http://schemas.openxmlformats.org/drawingml/2006/main" rot="0">
            <a:off x="1253934" y="4534450"/>
            <a:ext cx="2102892"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Biotech / pharma R&amp;D</a:t>
            </a:r>
          </a:p>
        </p:txBody>
      </p:sp>
      <p:sp>
        <p:nvSpPr>
          <p:cNvPr id="20" name="Figure 3 label 19 line 1">
            <a:extLst xmlns:a="http://schemas.openxmlformats.org/drawingml/2006/main">
              <a:ext uri="{FF2B5EF4-FFF2-40B4-BE49-F238E27FC236}">
                <a16:creationId xmlns:a16="http://schemas.microsoft.com/office/drawing/2014/main" id="{A513C17E-CE7E-479F-8B38-7C2C0618B077}"/>
              </a:ext>
            </a:extLst>
          </p:cNvPr>
          <p:cNvSpPr>
            <a:spLocks xmlns:a="http://schemas.openxmlformats.org/drawingml/2006/main" noGrp="1"/>
          </p:cNvSpPr>
          <p:nvPr/>
        </p:nvSpPr>
        <p:spPr>
          <a:xfrm xmlns:a="http://schemas.openxmlformats.org/drawingml/2006/main" rot="0">
            <a:off x="5131308" y="4428123"/>
            <a:ext cx="209341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Proteins, assay panels,</a:t>
            </a:r>
          </a:p>
        </p:txBody>
      </p:sp>
      <p:sp>
        <p:nvSpPr>
          <p:cNvPr id="21" name="Figure 3 label 20 line 1">
            <a:extLst xmlns:a="http://schemas.openxmlformats.org/drawingml/2006/main">
              <a:ext uri="{FF2B5EF4-FFF2-40B4-BE49-F238E27FC236}">
                <a16:creationId xmlns:a16="http://schemas.microsoft.com/office/drawing/2014/main" id="{3E70DEB9-2EF6-402F-BDF2-40AA6F195E15}"/>
              </a:ext>
            </a:extLst>
          </p:cNvPr>
          <p:cNvSpPr>
            <a:spLocks xmlns:a="http://schemas.openxmlformats.org/drawingml/2006/main" noGrp="1"/>
          </p:cNvSpPr>
          <p:nvPr/>
        </p:nvSpPr>
        <p:spPr>
          <a:xfrm xmlns:a="http://schemas.openxmlformats.org/drawingml/2006/main" rot="0">
            <a:off x="5131308" y="4652209"/>
            <a:ext cx="183936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expression reagents</a:t>
            </a:r>
          </a:p>
        </p:txBody>
      </p:sp>
      <p:sp>
        <p:nvSpPr>
          <p:cNvPr id="22" name="Figure 3 label 21 line 1">
            <a:extLst xmlns:a="http://schemas.openxmlformats.org/drawingml/2006/main">
              <a:ext uri="{FF2B5EF4-FFF2-40B4-BE49-F238E27FC236}">
                <a16:creationId xmlns:a16="http://schemas.microsoft.com/office/drawing/2014/main" id="{9C1AA06A-8740-426E-9521-4D0546641CC1}"/>
              </a:ext>
            </a:extLst>
          </p:cNvPr>
          <p:cNvSpPr>
            <a:spLocks xmlns:a="http://schemas.openxmlformats.org/drawingml/2006/main" noGrp="1"/>
          </p:cNvSpPr>
          <p:nvPr/>
        </p:nvSpPr>
        <p:spPr>
          <a:xfrm xmlns:a="http://schemas.openxmlformats.org/drawingml/2006/main" rot="0">
            <a:off x="9118092" y="4430177"/>
            <a:ext cx="169083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Sensors, columns,</a:t>
            </a:r>
          </a:p>
        </p:txBody>
      </p:sp>
      <p:sp>
        <p:nvSpPr>
          <p:cNvPr id="23" name="Figure 3 label 22 line 1">
            <a:extLst xmlns:a="http://schemas.openxmlformats.org/drawingml/2006/main">
              <a:ext uri="{FF2B5EF4-FFF2-40B4-BE49-F238E27FC236}">
                <a16:creationId xmlns:a16="http://schemas.microsoft.com/office/drawing/2014/main" id="{DF8E3E66-3557-4C3F-9D3F-DF7EB13C6EA5}"/>
              </a:ext>
            </a:extLst>
          </p:cNvPr>
          <p:cNvSpPr>
            <a:spLocks xmlns:a="http://schemas.openxmlformats.org/drawingml/2006/main" noGrp="1"/>
          </p:cNvSpPr>
          <p:nvPr/>
        </p:nvSpPr>
        <p:spPr>
          <a:xfrm xmlns:a="http://schemas.openxmlformats.org/drawingml/2006/main" rot="0">
            <a:off x="9118092" y="4652209"/>
            <a:ext cx="79087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filtration</a:t>
            </a:r>
          </a:p>
        </p:txBody>
      </p:sp>
      <p:sp>
        <p:nvSpPr>
          <p:cNvPr id="24" name="Figure 3 label 23 line 1">
            <a:extLst xmlns:a="http://schemas.openxmlformats.org/drawingml/2006/main">
              <a:ext uri="{FF2B5EF4-FFF2-40B4-BE49-F238E27FC236}">
                <a16:creationId xmlns:a16="http://schemas.microsoft.com/office/drawing/2014/main" id="{0E6D00F7-CC63-4C45-9FB4-2CC844FD8531}"/>
              </a:ext>
            </a:extLst>
          </p:cNvPr>
          <p:cNvSpPr>
            <a:spLocks xmlns:a="http://schemas.openxmlformats.org/drawingml/2006/main" noGrp="1"/>
          </p:cNvSpPr>
          <p:nvPr/>
        </p:nvSpPr>
        <p:spPr>
          <a:xfrm xmlns:a="http://schemas.openxmlformats.org/drawingml/2006/main" rot="0">
            <a:off x="13104876" y="4427582"/>
            <a:ext cx="206156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BLI / SPR, automation,</a:t>
            </a:r>
          </a:p>
        </p:txBody>
      </p:sp>
      <p:sp>
        <p:nvSpPr>
          <p:cNvPr id="25" name="Figure 3 label 24 line 1">
            <a:extLst xmlns:a="http://schemas.openxmlformats.org/drawingml/2006/main">
              <a:ext uri="{FF2B5EF4-FFF2-40B4-BE49-F238E27FC236}">
                <a16:creationId xmlns:a16="http://schemas.microsoft.com/office/drawing/2014/main" id="{13C1EDDD-A253-4887-9DC3-63901CCFA457}"/>
              </a:ext>
            </a:extLst>
          </p:cNvPr>
          <p:cNvSpPr>
            <a:spLocks xmlns:a="http://schemas.openxmlformats.org/drawingml/2006/main" noGrp="1"/>
          </p:cNvSpPr>
          <p:nvPr/>
        </p:nvSpPr>
        <p:spPr>
          <a:xfrm xmlns:a="http://schemas.openxmlformats.org/drawingml/2006/main" rot="0">
            <a:off x="13104876" y="4652749"/>
            <a:ext cx="13412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flow cytometry</a:t>
            </a:r>
          </a:p>
        </p:txBody>
      </p:sp>
      <p:sp>
        <p:nvSpPr>
          <p:cNvPr id="26" name="Figure 3 label 25 line 1">
            <a:extLst xmlns:a="http://schemas.openxmlformats.org/drawingml/2006/main">
              <a:ext uri="{FF2B5EF4-FFF2-40B4-BE49-F238E27FC236}">
                <a16:creationId xmlns:a16="http://schemas.microsoft.com/office/drawing/2014/main" id="{302698D1-62CD-4ECE-80C1-C1B79CD7E6D6}"/>
              </a:ext>
            </a:extLst>
          </p:cNvPr>
          <p:cNvSpPr>
            <a:spLocks xmlns:a="http://schemas.openxmlformats.org/drawingml/2006/main" noGrp="1"/>
          </p:cNvSpPr>
          <p:nvPr/>
        </p:nvSpPr>
        <p:spPr>
          <a:xfrm xmlns:a="http://schemas.openxmlformats.org/drawingml/2006/main" rot="0">
            <a:off x="1253934" y="5438497"/>
            <a:ext cx="1341487"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CRO / CDMO</a:t>
            </a:r>
          </a:p>
        </p:txBody>
      </p:sp>
      <p:sp>
        <p:nvSpPr>
          <p:cNvPr id="27" name="Figure 3 label 26 line 1">
            <a:extLst xmlns:a="http://schemas.openxmlformats.org/drawingml/2006/main">
              <a:ext uri="{FF2B5EF4-FFF2-40B4-BE49-F238E27FC236}">
                <a16:creationId xmlns:a16="http://schemas.microsoft.com/office/drawing/2014/main" id="{490F4260-FFDA-492B-892F-B5B7D35774C0}"/>
              </a:ext>
            </a:extLst>
          </p:cNvPr>
          <p:cNvSpPr>
            <a:spLocks xmlns:a="http://schemas.openxmlformats.org/drawingml/2006/main" noGrp="1"/>
          </p:cNvSpPr>
          <p:nvPr/>
        </p:nvSpPr>
        <p:spPr>
          <a:xfrm xmlns:a="http://schemas.openxmlformats.org/drawingml/2006/main" rot="0">
            <a:off x="5131308" y="5333379"/>
            <a:ext cx="13308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Discovery and</a:t>
            </a:r>
          </a:p>
        </p:txBody>
      </p:sp>
      <p:sp>
        <p:nvSpPr>
          <p:cNvPr id="28" name="Figure 3 label 27 line 1">
            <a:extLst xmlns:a="http://schemas.openxmlformats.org/drawingml/2006/main">
              <a:ext uri="{FF2B5EF4-FFF2-40B4-BE49-F238E27FC236}">
                <a16:creationId xmlns:a16="http://schemas.microsoft.com/office/drawing/2014/main" id="{3B848FE9-BBDA-421A-9902-CBBA06C3538B}"/>
              </a:ext>
            </a:extLst>
          </p:cNvPr>
          <p:cNvSpPr>
            <a:spLocks xmlns:a="http://schemas.openxmlformats.org/drawingml/2006/main" noGrp="1"/>
          </p:cNvSpPr>
          <p:nvPr/>
        </p:nvSpPr>
        <p:spPr>
          <a:xfrm xmlns:a="http://schemas.openxmlformats.org/drawingml/2006/main" rot="0">
            <a:off x="5131308" y="5557464"/>
            <a:ext cx="158516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process reagents</a:t>
            </a:r>
          </a:p>
        </p:txBody>
      </p:sp>
      <p:sp>
        <p:nvSpPr>
          <p:cNvPr id="29" name="Figure 3 label 28 line 1">
            <a:extLst xmlns:a="http://schemas.openxmlformats.org/drawingml/2006/main">
              <a:ext uri="{FF2B5EF4-FFF2-40B4-BE49-F238E27FC236}">
                <a16:creationId xmlns:a16="http://schemas.microsoft.com/office/drawing/2014/main" id="{31795862-5258-4373-A746-DCF3F0A50513}"/>
              </a:ext>
            </a:extLst>
          </p:cNvPr>
          <p:cNvSpPr>
            <a:spLocks xmlns:a="http://schemas.openxmlformats.org/drawingml/2006/main" noGrp="1"/>
          </p:cNvSpPr>
          <p:nvPr/>
        </p:nvSpPr>
        <p:spPr>
          <a:xfrm xmlns:a="http://schemas.openxmlformats.org/drawingml/2006/main" rot="0">
            <a:off x="9118092" y="5333865"/>
            <a:ext cx="15216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Labware, resins,</a:t>
            </a:r>
          </a:p>
        </p:txBody>
      </p:sp>
      <p:sp>
        <p:nvSpPr>
          <p:cNvPr id="30" name="Figure 3 label 29 line 1">
            <a:extLst xmlns:a="http://schemas.openxmlformats.org/drawingml/2006/main">
              <a:ext uri="{FF2B5EF4-FFF2-40B4-BE49-F238E27FC236}">
                <a16:creationId xmlns:a16="http://schemas.microsoft.com/office/drawing/2014/main" id="{2C5D1470-7AC7-4F22-9CEB-1110ECCFF7EF}"/>
              </a:ext>
            </a:extLst>
          </p:cNvPr>
          <p:cNvSpPr>
            <a:spLocks xmlns:a="http://schemas.openxmlformats.org/drawingml/2006/main" noGrp="1"/>
          </p:cNvSpPr>
          <p:nvPr/>
        </p:nvSpPr>
        <p:spPr>
          <a:xfrm xmlns:a="http://schemas.openxmlformats.org/drawingml/2006/main" rot="0">
            <a:off x="9118092" y="5559032"/>
            <a:ext cx="182850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scale-specific inputs</a:t>
            </a:r>
          </a:p>
        </p:txBody>
      </p:sp>
      <p:sp>
        <p:nvSpPr>
          <p:cNvPr id="31" name="Figure 3 label 30 line 1">
            <a:extLst xmlns:a="http://schemas.openxmlformats.org/drawingml/2006/main">
              <a:ext uri="{FF2B5EF4-FFF2-40B4-BE49-F238E27FC236}">
                <a16:creationId xmlns:a16="http://schemas.microsoft.com/office/drawing/2014/main" id="{B756C171-2B4A-46D1-AE17-C3D71DE2D96A}"/>
              </a:ext>
            </a:extLst>
          </p:cNvPr>
          <p:cNvSpPr>
            <a:spLocks xmlns:a="http://schemas.openxmlformats.org/drawingml/2006/main" noGrp="1"/>
          </p:cNvSpPr>
          <p:nvPr/>
        </p:nvSpPr>
        <p:spPr>
          <a:xfrm xmlns:a="http://schemas.openxmlformats.org/drawingml/2006/main" rot="0">
            <a:off x="13104876" y="5332838"/>
            <a:ext cx="178623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Assay, process and</a:t>
            </a:r>
          </a:p>
        </p:txBody>
      </p:sp>
      <p:sp>
        <p:nvSpPr>
          <p:cNvPr id="32" name="Figure 3 label 31 line 1">
            <a:extLst xmlns:a="http://schemas.openxmlformats.org/drawingml/2006/main">
              <a:ext uri="{FF2B5EF4-FFF2-40B4-BE49-F238E27FC236}">
                <a16:creationId xmlns:a16="http://schemas.microsoft.com/office/drawing/2014/main" id="{B22B21BF-3E2C-4C85-B1D5-B99017A7FB8A}"/>
              </a:ext>
            </a:extLst>
          </p:cNvPr>
          <p:cNvSpPr>
            <a:spLocks xmlns:a="http://schemas.openxmlformats.org/drawingml/2006/main" noGrp="1"/>
          </p:cNvSpPr>
          <p:nvPr/>
        </p:nvSpPr>
        <p:spPr>
          <a:xfrm xmlns:a="http://schemas.openxmlformats.org/drawingml/2006/main" rot="0">
            <a:off x="13104876" y="5560059"/>
            <a:ext cx="12459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QC platforms</a:t>
            </a:r>
          </a:p>
        </p:txBody>
      </p:sp>
      <p:sp>
        <p:nvSpPr>
          <p:cNvPr id="33" name="Figure 3 label 32 line 1">
            <a:extLst xmlns:a="http://schemas.openxmlformats.org/drawingml/2006/main">
              <a:ext uri="{FF2B5EF4-FFF2-40B4-BE49-F238E27FC236}">
                <a16:creationId xmlns:a16="http://schemas.microsoft.com/office/drawing/2014/main" id="{D871494A-D6FF-47C8-8267-7C8EBE4849E7}"/>
              </a:ext>
            </a:extLst>
          </p:cNvPr>
          <p:cNvSpPr>
            <a:spLocks xmlns:a="http://schemas.openxmlformats.org/drawingml/2006/main" noGrp="1"/>
          </p:cNvSpPr>
          <p:nvPr/>
        </p:nvSpPr>
        <p:spPr>
          <a:xfrm xmlns:a="http://schemas.openxmlformats.org/drawingml/2006/main" rot="0">
            <a:off x="1253934" y="6343893"/>
            <a:ext cx="1673076"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Biomanufacturing</a:t>
            </a:r>
          </a:p>
        </p:txBody>
      </p:sp>
      <p:sp>
        <p:nvSpPr>
          <p:cNvPr id="34" name="Figure 3 label 33 line 1">
            <a:extLst xmlns:a="http://schemas.openxmlformats.org/drawingml/2006/main">
              <a:ext uri="{FF2B5EF4-FFF2-40B4-BE49-F238E27FC236}">
                <a16:creationId xmlns:a16="http://schemas.microsoft.com/office/drawing/2014/main" id="{1E4581E1-4351-4098-8BDD-24944BA66769}"/>
              </a:ext>
            </a:extLst>
          </p:cNvPr>
          <p:cNvSpPr>
            <a:spLocks xmlns:a="http://schemas.openxmlformats.org/drawingml/2006/main" noGrp="1"/>
          </p:cNvSpPr>
          <p:nvPr/>
        </p:nvSpPr>
        <p:spPr>
          <a:xfrm xmlns:a="http://schemas.openxmlformats.org/drawingml/2006/main" rot="0">
            <a:off x="5131308" y="6238094"/>
            <a:ext cx="165928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Production media,</a:t>
            </a:r>
          </a:p>
        </p:txBody>
      </p:sp>
      <p:sp>
        <p:nvSpPr>
          <p:cNvPr id="35" name="Figure 3 label 34 line 1">
            <a:extLst xmlns:a="http://schemas.openxmlformats.org/drawingml/2006/main">
              <a:ext uri="{FF2B5EF4-FFF2-40B4-BE49-F238E27FC236}">
                <a16:creationId xmlns:a16="http://schemas.microsoft.com/office/drawing/2014/main" id="{C9DEABC8-C92B-4B5A-89A2-DBE9909C81FC}"/>
              </a:ext>
            </a:extLst>
          </p:cNvPr>
          <p:cNvSpPr>
            <a:spLocks xmlns:a="http://schemas.openxmlformats.org/drawingml/2006/main" noGrp="1"/>
          </p:cNvSpPr>
          <p:nvPr/>
        </p:nvSpPr>
        <p:spPr>
          <a:xfrm xmlns:a="http://schemas.openxmlformats.org/drawingml/2006/main" rot="0">
            <a:off x="5131308" y="6463261"/>
            <a:ext cx="177581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feeds and enzymes</a:t>
            </a:r>
          </a:p>
        </p:txBody>
      </p:sp>
      <p:sp>
        <p:nvSpPr>
          <p:cNvPr id="36" name="Figure 3 label 35 line 1">
            <a:extLst xmlns:a="http://schemas.openxmlformats.org/drawingml/2006/main">
              <a:ext uri="{FF2B5EF4-FFF2-40B4-BE49-F238E27FC236}">
                <a16:creationId xmlns:a16="http://schemas.microsoft.com/office/drawing/2014/main" id="{2F14399C-D2F2-44C8-A6CB-FAE4B76D234C}"/>
              </a:ext>
            </a:extLst>
          </p:cNvPr>
          <p:cNvSpPr>
            <a:spLocks xmlns:a="http://schemas.openxmlformats.org/drawingml/2006/main" noGrp="1"/>
          </p:cNvSpPr>
          <p:nvPr/>
        </p:nvSpPr>
        <p:spPr>
          <a:xfrm xmlns:a="http://schemas.openxmlformats.org/drawingml/2006/main" rot="0">
            <a:off x="9118092" y="6239662"/>
            <a:ext cx="132010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Resins, filters,</a:t>
            </a:r>
          </a:p>
        </p:txBody>
      </p:sp>
      <p:sp>
        <p:nvSpPr>
          <p:cNvPr id="37" name="Figure 3 label 36 line 1">
            <a:extLst xmlns:a="http://schemas.openxmlformats.org/drawingml/2006/main">
              <a:ext uri="{FF2B5EF4-FFF2-40B4-BE49-F238E27FC236}">
                <a16:creationId xmlns:a16="http://schemas.microsoft.com/office/drawing/2014/main" id="{500CAA10-14DA-4989-AD29-2A183FB5E1DF}"/>
              </a:ext>
            </a:extLst>
          </p:cNvPr>
          <p:cNvSpPr>
            <a:spLocks xmlns:a="http://schemas.openxmlformats.org/drawingml/2006/main" noGrp="1"/>
          </p:cNvSpPr>
          <p:nvPr/>
        </p:nvSpPr>
        <p:spPr>
          <a:xfrm xmlns:a="http://schemas.openxmlformats.org/drawingml/2006/main" rot="0">
            <a:off x="9118092" y="6461694"/>
            <a:ext cx="199801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single-use assemblies</a:t>
            </a:r>
          </a:p>
        </p:txBody>
      </p:sp>
      <p:sp>
        <p:nvSpPr>
          <p:cNvPr id="38" name="Figure 3 label 37 line 1">
            <a:extLst xmlns:a="http://schemas.openxmlformats.org/drawingml/2006/main">
              <a:ext uri="{FF2B5EF4-FFF2-40B4-BE49-F238E27FC236}">
                <a16:creationId xmlns:a16="http://schemas.microsoft.com/office/drawing/2014/main" id="{ECEF3A8F-260A-4691-BA39-A5A9200C8960}"/>
              </a:ext>
            </a:extLst>
          </p:cNvPr>
          <p:cNvSpPr>
            <a:spLocks xmlns:a="http://schemas.openxmlformats.org/drawingml/2006/main" noGrp="1"/>
          </p:cNvSpPr>
          <p:nvPr/>
        </p:nvSpPr>
        <p:spPr>
          <a:xfrm xmlns:a="http://schemas.openxmlformats.org/drawingml/2006/main" rot="0">
            <a:off x="13104876" y="6239662"/>
            <a:ext cx="26226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Bioreactors, chromatography,</a:t>
            </a:r>
          </a:p>
        </p:txBody>
      </p:sp>
      <p:sp>
        <p:nvSpPr>
          <p:cNvPr id="39" name="Figure 3 label 38 line 1">
            <a:extLst xmlns:a="http://schemas.openxmlformats.org/drawingml/2006/main">
              <a:ext uri="{FF2B5EF4-FFF2-40B4-BE49-F238E27FC236}">
                <a16:creationId xmlns:a16="http://schemas.microsoft.com/office/drawing/2014/main" id="{FA3CB8E8-514C-42F4-91CC-5ADF360C3492}"/>
              </a:ext>
            </a:extLst>
          </p:cNvPr>
          <p:cNvSpPr>
            <a:spLocks xmlns:a="http://schemas.openxmlformats.org/drawingml/2006/main" noGrp="1"/>
          </p:cNvSpPr>
          <p:nvPr/>
        </p:nvSpPr>
        <p:spPr>
          <a:xfrm xmlns:a="http://schemas.openxmlformats.org/drawingml/2006/main" rot="0">
            <a:off x="13104876" y="6463748"/>
            <a:ext cx="14472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QC instruments</a:t>
            </a:r>
          </a:p>
        </p:txBody>
      </p:sp>
      <p:sp>
        <p:nvSpPr>
          <p:cNvPr id="40" name="Figure 3 label 39 line 1">
            <a:extLst xmlns:a="http://schemas.openxmlformats.org/drawingml/2006/main">
              <a:ext uri="{FF2B5EF4-FFF2-40B4-BE49-F238E27FC236}">
                <a16:creationId xmlns:a16="http://schemas.microsoft.com/office/drawing/2014/main" id="{3AFD90CE-809A-44BD-B348-F6E77C72823D}"/>
              </a:ext>
            </a:extLst>
          </p:cNvPr>
          <p:cNvSpPr>
            <a:spLocks xmlns:a="http://schemas.openxmlformats.org/drawingml/2006/main" noGrp="1"/>
          </p:cNvSpPr>
          <p:nvPr/>
        </p:nvSpPr>
        <p:spPr>
          <a:xfrm xmlns:a="http://schemas.openxmlformats.org/drawingml/2006/main" rot="0">
            <a:off x="1253934" y="7249010"/>
            <a:ext cx="1651050" cy="2480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3" b="1">
                <a:solidFill>
                  <a:srgbClr val="00355F"/>
                </a:solidFill>
                <a:latin typeface="Arial Unicode MS"/>
                <a:ea typeface="Arial Unicode MS"/>
                <a:cs typeface="Arial Unicode MS"/>
              </a:defRPr>
            </a:defPPr>
          </a:lstStyle>
          <a:p xmlns:a="http://schemas.openxmlformats.org/drawingml/2006/main">
            <a:pPr algn="l">
              <a:lnSpc>
                <a:spcPct val="100000"/>
              </a:lnSpc>
              <a:buNone/>
              <a:defRPr sz="1563" b="1">
                <a:solidFill>
                  <a:srgbClr val="00355F"/>
                </a:solidFill>
                <a:latin typeface="Arial Unicode MS"/>
                <a:ea typeface="Arial Unicode MS"/>
                <a:cs typeface="Arial Unicode MS"/>
              </a:defRPr>
            </a:pPr>
            <a:r>
              <a:rPr sz="1563" b="1">
                <a:solidFill>
                  <a:srgbClr val="00355F"/>
                </a:solidFill>
                <a:latin typeface="Arial Unicode MS"/>
                <a:ea typeface="Arial Unicode MS"/>
                <a:cs typeface="Arial Unicode MS"/>
              </a:rPr>
              <a:t>IVD development</a:t>
            </a:r>
          </a:p>
        </p:txBody>
      </p:sp>
      <p:sp>
        <p:nvSpPr>
          <p:cNvPr id="41" name="Figure 3 label 40 line 1">
            <a:extLst xmlns:a="http://schemas.openxmlformats.org/drawingml/2006/main">
              <a:ext uri="{FF2B5EF4-FFF2-40B4-BE49-F238E27FC236}">
                <a16:creationId xmlns:a16="http://schemas.microsoft.com/office/drawing/2014/main" id="{F92D45B8-9EF7-4214-9959-3CFD2BEE59D9}"/>
              </a:ext>
            </a:extLst>
          </p:cNvPr>
          <p:cNvSpPr>
            <a:spLocks xmlns:a="http://schemas.openxmlformats.org/drawingml/2006/main" noGrp="1"/>
          </p:cNvSpPr>
          <p:nvPr/>
        </p:nvSpPr>
        <p:spPr>
          <a:xfrm xmlns:a="http://schemas.openxmlformats.org/drawingml/2006/main" rot="0">
            <a:off x="5131308" y="7143890"/>
            <a:ext cx="189249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Antigens, antibodies,</a:t>
            </a:r>
          </a:p>
        </p:txBody>
      </p:sp>
      <p:sp>
        <p:nvSpPr>
          <p:cNvPr id="42" name="Figure 3 label 41 line 1">
            <a:extLst xmlns:a="http://schemas.openxmlformats.org/drawingml/2006/main">
              <a:ext uri="{FF2B5EF4-FFF2-40B4-BE49-F238E27FC236}">
                <a16:creationId xmlns:a16="http://schemas.microsoft.com/office/drawing/2014/main" id="{421ED99A-31FD-4822-B326-B3C1F99219DB}"/>
              </a:ext>
            </a:extLst>
          </p:cNvPr>
          <p:cNvSpPr>
            <a:spLocks xmlns:a="http://schemas.openxmlformats.org/drawingml/2006/main" noGrp="1"/>
          </p:cNvSpPr>
          <p:nvPr/>
        </p:nvSpPr>
        <p:spPr>
          <a:xfrm xmlns:a="http://schemas.openxmlformats.org/drawingml/2006/main" rot="0">
            <a:off x="5131308" y="7367977"/>
            <a:ext cx="124628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tool enzymes</a:t>
            </a:r>
          </a:p>
        </p:txBody>
      </p:sp>
      <p:sp>
        <p:nvSpPr>
          <p:cNvPr id="43" name="Figure 3 label 42 line 1">
            <a:extLst xmlns:a="http://schemas.openxmlformats.org/drawingml/2006/main">
              <a:ext uri="{FF2B5EF4-FFF2-40B4-BE49-F238E27FC236}">
                <a16:creationId xmlns:a16="http://schemas.microsoft.com/office/drawing/2014/main" id="{0A8D18B7-B199-4F3D-9ABF-191DE58010D4}"/>
              </a:ext>
            </a:extLst>
          </p:cNvPr>
          <p:cNvSpPr>
            <a:spLocks xmlns:a="http://schemas.openxmlformats.org/drawingml/2006/main" noGrp="1"/>
          </p:cNvSpPr>
          <p:nvPr/>
        </p:nvSpPr>
        <p:spPr>
          <a:xfrm xmlns:a="http://schemas.openxmlformats.org/drawingml/2006/main" rot="0">
            <a:off x="9118092" y="7143890"/>
            <a:ext cx="125685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Assay plates,</a:t>
            </a:r>
          </a:p>
        </p:txBody>
      </p:sp>
      <p:sp>
        <p:nvSpPr>
          <p:cNvPr id="44" name="Figure 3 label 43 line 1">
            <a:extLst xmlns:a="http://schemas.openxmlformats.org/drawingml/2006/main">
              <a:ext uri="{FF2B5EF4-FFF2-40B4-BE49-F238E27FC236}">
                <a16:creationId xmlns:a16="http://schemas.microsoft.com/office/drawing/2014/main" id="{9EC6A424-2DE2-4344-B057-6CF9B29D2066}"/>
              </a:ext>
            </a:extLst>
          </p:cNvPr>
          <p:cNvSpPr>
            <a:spLocks xmlns:a="http://schemas.openxmlformats.org/drawingml/2006/main" noGrp="1"/>
          </p:cNvSpPr>
          <p:nvPr/>
        </p:nvSpPr>
        <p:spPr>
          <a:xfrm xmlns:a="http://schemas.openxmlformats.org/drawingml/2006/main" rot="0">
            <a:off x="9118092" y="7367977"/>
            <a:ext cx="146878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magnetic beads</a:t>
            </a:r>
          </a:p>
        </p:txBody>
      </p:sp>
      <p:sp>
        <p:nvSpPr>
          <p:cNvPr id="45" name="Figure 3 label 44 line 1">
            <a:extLst xmlns:a="http://schemas.openxmlformats.org/drawingml/2006/main">
              <a:ext uri="{FF2B5EF4-FFF2-40B4-BE49-F238E27FC236}">
                <a16:creationId xmlns:a16="http://schemas.microsoft.com/office/drawing/2014/main" id="{7CF21C5B-15FA-42C6-ABBE-C4156297B637}"/>
              </a:ext>
            </a:extLst>
          </p:cNvPr>
          <p:cNvSpPr>
            <a:spLocks xmlns:a="http://schemas.openxmlformats.org/drawingml/2006/main" noGrp="1"/>
          </p:cNvSpPr>
          <p:nvPr/>
        </p:nvSpPr>
        <p:spPr>
          <a:xfrm xmlns:a="http://schemas.openxmlformats.org/drawingml/2006/main" rot="0">
            <a:off x="13104876" y="7145945"/>
            <a:ext cx="130998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Research and</a:t>
            </a:r>
          </a:p>
        </p:txBody>
      </p:sp>
      <p:sp>
        <p:nvSpPr>
          <p:cNvPr id="46" name="Figure 3 label 45 line 1">
            <a:extLst xmlns:a="http://schemas.openxmlformats.org/drawingml/2006/main">
              <a:ext uri="{FF2B5EF4-FFF2-40B4-BE49-F238E27FC236}">
                <a16:creationId xmlns:a16="http://schemas.microsoft.com/office/drawing/2014/main" id="{FBB9FF86-F567-43B1-A2C9-0369CFA3C5E1}"/>
              </a:ext>
            </a:extLst>
          </p:cNvPr>
          <p:cNvSpPr>
            <a:spLocks xmlns:a="http://schemas.openxmlformats.org/drawingml/2006/main" noGrp="1"/>
          </p:cNvSpPr>
          <p:nvPr/>
        </p:nvSpPr>
        <p:spPr>
          <a:xfrm xmlns:a="http://schemas.openxmlformats.org/drawingml/2006/main" rot="0">
            <a:off x="13104876" y="7367977"/>
            <a:ext cx="14472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QC instruments</a:t>
            </a:r>
          </a:p>
        </p:txBody>
      </p:sp>
      <p:sp>
        <p:nvSpPr>
          <p:cNvPr id="47" name="Figure 3 label 46 line 1">
            <a:extLst xmlns:a="http://schemas.openxmlformats.org/drawingml/2006/main">
              <a:ext uri="{FF2B5EF4-FFF2-40B4-BE49-F238E27FC236}">
                <a16:creationId xmlns:a16="http://schemas.microsoft.com/office/drawing/2014/main" id="{FDDD823D-98FC-42EF-8DA4-63DA94E1781B}"/>
              </a:ext>
            </a:extLst>
          </p:cNvPr>
          <p:cNvSpPr>
            <a:spLocks xmlns:a="http://schemas.openxmlformats.org/drawingml/2006/main" noGrp="1"/>
          </p:cNvSpPr>
          <p:nvPr/>
        </p:nvSpPr>
        <p:spPr>
          <a:xfrm xmlns:a="http://schemas.openxmlformats.org/drawingml/2006/main" rot="0">
            <a:off x="4735388" y="8326469"/>
            <a:ext cx="8817223"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00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000" b="1">
                <a:solidFill>
                  <a:srgbClr val="00355F"/>
                </a:solidFill>
                <a:latin typeface="Arial Unicode MS"/>
                <a:ea typeface="Arial Unicode MS"/>
                <a:cs typeface="Arial Unicode MS"/>
              </a:defRPr>
            </a:pPr>
            <a:r>
              <a:rPr sz="2000" b="1">
                <a:solidFill>
                  <a:srgbClr val="00355F"/>
                </a:solidFill>
                <a:latin typeface="Arial Unicode MS"/>
                <a:ea typeface="Arial Unicode MS"/>
                <a:cs typeface="Arial Unicode MS"/>
              </a:rPr>
              <a:t>An instrument supplier’s total China sales are not its China life-science sales.</a:t>
            </a:r>
          </a:p>
        </p:txBody>
      </p:sp>
    </p:spTree>
    <p:extLst>
      <p:ext uri="{BB962C8B-B14F-4D97-AF65-F5344CB8AC3E}">
        <p14:creationId xmlns:p14="http://schemas.microsoft.com/office/powerpoint/2010/main" val="35573641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7" name="">
            <a:extLst xmlns:a="http://schemas.openxmlformats.org/drawingml/2006/main">
              <a:ext uri="{FF2B5EF4-FFF2-40B4-BE49-F238E27FC236}">
                <a16:creationId xmlns:a16="http://schemas.microsoft.com/office/drawing/2014/main" id="{4327453F-46AF-4CC3-909E-918D5EB25524}"/>
              </a:ext>
            </a:extLst>
          </p:cNvPr>
          <p:cNvPicPr>
            <a:picLocks xmlns:a="http://schemas.openxmlformats.org/drawingml/2006/main" noChangeAspect="1"/>
          </p:cNvPicPr>
          <p:nvPr/>
        </p:nvPicPr>
        <p:blipFill>
          <a:blip xmlns:r="http://schemas.openxmlformats.org/officeDocument/2006/relationships" xmlns:a="http://schemas.openxmlformats.org/drawingml/2006/main" r:embed="Rc32047126a34427f"/>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4 label 1 line 1">
            <a:extLst xmlns:a="http://schemas.openxmlformats.org/drawingml/2006/main">
              <a:ext uri="{FF2B5EF4-FFF2-40B4-BE49-F238E27FC236}">
                <a16:creationId xmlns:a16="http://schemas.microsoft.com/office/drawing/2014/main" id="{C927FACB-4EAD-40BF-A63D-515992F5C16A}"/>
              </a:ext>
            </a:extLst>
          </p:cNvPr>
          <p:cNvSpPr>
            <a:spLocks xmlns:a="http://schemas.openxmlformats.org/drawingml/2006/main" noGrp="1"/>
          </p:cNvSpPr>
          <p:nvPr/>
        </p:nvSpPr>
        <p:spPr>
          <a:xfrm xmlns:a="http://schemas.openxmlformats.org/drawingml/2006/main" rot="0">
            <a:off x="991870" y="421920"/>
            <a:ext cx="6360517"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04  AI discovery and its LST touchpoints</a:t>
            </a:r>
          </a:p>
        </p:txBody>
      </p:sp>
      <p:sp>
        <p:nvSpPr>
          <p:cNvPr id="3" name="Figure 4 label 2 line 1">
            <a:extLst xmlns:a="http://schemas.openxmlformats.org/drawingml/2006/main">
              <a:ext uri="{FF2B5EF4-FFF2-40B4-BE49-F238E27FC236}">
                <a16:creationId xmlns:a16="http://schemas.microsoft.com/office/drawing/2014/main" id="{064048E6-82A2-44E2-8E3F-FAF0CB181EAD}"/>
              </a:ext>
            </a:extLst>
          </p:cNvPr>
          <p:cNvSpPr>
            <a:spLocks xmlns:a="http://schemas.openxmlformats.org/drawingml/2006/main" noGrp="1"/>
          </p:cNvSpPr>
          <p:nvPr/>
        </p:nvSpPr>
        <p:spPr>
          <a:xfrm xmlns:a="http://schemas.openxmlformats.org/drawingml/2006/main" rot="0">
            <a:off x="15720815" y="661601"/>
            <a:ext cx="1019572"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MECHANISM</a:t>
            </a:r>
          </a:p>
        </p:txBody>
      </p:sp>
      <p:sp>
        <p:nvSpPr>
          <p:cNvPr id="4" name="Figure 4 label 3 line 1">
            <a:extLst xmlns:a="http://schemas.openxmlformats.org/drawingml/2006/main">
              <a:ext uri="{FF2B5EF4-FFF2-40B4-BE49-F238E27FC236}">
                <a16:creationId xmlns:a16="http://schemas.microsoft.com/office/drawing/2014/main" id="{AB58178B-CA78-4958-B3E9-131958E56C1E}"/>
              </a:ext>
            </a:extLst>
          </p:cNvPr>
          <p:cNvSpPr>
            <a:spLocks xmlns:a="http://schemas.openxmlformats.org/drawingml/2006/main" noGrp="1"/>
          </p:cNvSpPr>
          <p:nvPr/>
        </p:nvSpPr>
        <p:spPr>
          <a:xfrm xmlns:a="http://schemas.openxmlformats.org/drawingml/2006/main" rot="0">
            <a:off x="998220" y="1249487"/>
            <a:ext cx="896644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AI candidates need physical construction and experimental feedback. Orders depend on funded projects.</a:t>
            </a:r>
          </a:p>
        </p:txBody>
      </p:sp>
      <p:sp>
        <p:nvSpPr>
          <p:cNvPr id="5" name="Figure 4 label 4 line 1">
            <a:extLst xmlns:a="http://schemas.openxmlformats.org/drawingml/2006/main">
              <a:ext uri="{FF2B5EF4-FFF2-40B4-BE49-F238E27FC236}">
                <a16:creationId xmlns:a16="http://schemas.microsoft.com/office/drawing/2014/main" id="{9D0481EA-D100-4A01-8F6D-30CED58D31C2}"/>
              </a:ext>
            </a:extLst>
          </p:cNvPr>
          <p:cNvSpPr>
            <a:spLocks xmlns:a="http://schemas.openxmlformats.org/drawingml/2006/main" noGrp="1"/>
          </p:cNvSpPr>
          <p:nvPr/>
        </p:nvSpPr>
        <p:spPr>
          <a:xfrm xmlns:a="http://schemas.openxmlformats.org/drawingml/2006/main" rot="0">
            <a:off x="999173" y="9256035"/>
            <a:ext cx="770617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Stages 2–3 have more direct exposure. Clinical and manufacturing demand face attrition and time lags.</a:t>
            </a:r>
          </a:p>
        </p:txBody>
      </p:sp>
      <p:sp>
        <p:nvSpPr>
          <p:cNvPr id="6" name="Figure 4 label 5 line 1">
            <a:extLst xmlns:a="http://schemas.openxmlformats.org/drawingml/2006/main">
              <a:ext uri="{FF2B5EF4-FFF2-40B4-BE49-F238E27FC236}">
                <a16:creationId xmlns:a16="http://schemas.microsoft.com/office/drawing/2014/main" id="{4A4EE31A-77D6-4B4E-B360-5F8326CB413F}"/>
              </a:ext>
            </a:extLst>
          </p:cNvPr>
          <p:cNvSpPr>
            <a:spLocks xmlns:a="http://schemas.openxmlformats.org/drawingml/2006/main" noGrp="1"/>
          </p:cNvSpPr>
          <p:nvPr/>
        </p:nvSpPr>
        <p:spPr>
          <a:xfrm xmlns:a="http://schemas.openxmlformats.org/drawingml/2006/main" rot="0">
            <a:off x="1000316" y="9676290"/>
            <a:ext cx="6595050"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product-use research. Arrows describe a mechanism, not realized orders.</a:t>
            </a:r>
          </a:p>
        </p:txBody>
      </p:sp>
      <p:sp>
        <p:nvSpPr>
          <p:cNvPr id="7" name="Figure 4 label 6 line 1">
            <a:extLst xmlns:a="http://schemas.openxmlformats.org/drawingml/2006/main">
              <a:ext uri="{FF2B5EF4-FFF2-40B4-BE49-F238E27FC236}">
                <a16:creationId xmlns:a16="http://schemas.microsoft.com/office/drawing/2014/main" id="{4329BA06-4C1D-474A-A0B8-E1E7310D06EA}"/>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8" name="Figure 4 label 7 line 1">
            <a:extLst xmlns:a="http://schemas.openxmlformats.org/drawingml/2006/main">
              <a:ext uri="{FF2B5EF4-FFF2-40B4-BE49-F238E27FC236}">
                <a16:creationId xmlns:a16="http://schemas.microsoft.com/office/drawing/2014/main" id="{92B4E161-E2F4-4743-94ED-4388CA103988}"/>
              </a:ext>
            </a:extLst>
          </p:cNvPr>
          <p:cNvSpPr>
            <a:spLocks xmlns:a="http://schemas.openxmlformats.org/drawingml/2006/main" noGrp="1"/>
          </p:cNvSpPr>
          <p:nvPr/>
        </p:nvSpPr>
        <p:spPr>
          <a:xfrm xmlns:a="http://schemas.openxmlformats.org/drawingml/2006/main" rot="0">
            <a:off x="1054227"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0</a:t>
            </a:r>
          </a:p>
        </p:txBody>
      </p:sp>
      <p:sp>
        <p:nvSpPr>
          <p:cNvPr id="9" name="Figure 4 label 8 line 1">
            <a:extLst xmlns:a="http://schemas.openxmlformats.org/drawingml/2006/main">
              <a:ext uri="{FF2B5EF4-FFF2-40B4-BE49-F238E27FC236}">
                <a16:creationId xmlns:a16="http://schemas.microsoft.com/office/drawing/2014/main" id="{29AD1958-ABD6-4569-9609-A122F1AD10FF}"/>
              </a:ext>
            </a:extLst>
          </p:cNvPr>
          <p:cNvSpPr>
            <a:spLocks xmlns:a="http://schemas.openxmlformats.org/drawingml/2006/main" noGrp="1"/>
          </p:cNvSpPr>
          <p:nvPr/>
        </p:nvSpPr>
        <p:spPr>
          <a:xfrm xmlns:a="http://schemas.openxmlformats.org/drawingml/2006/main" rot="0">
            <a:off x="1372985" y="3438342"/>
            <a:ext cx="1478558"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Data / targets</a:t>
            </a:r>
          </a:p>
        </p:txBody>
      </p:sp>
      <p:sp>
        <p:nvSpPr>
          <p:cNvPr id="10" name="Figure 4 label 9 line 1">
            <a:extLst xmlns:a="http://schemas.openxmlformats.org/drawingml/2006/main">
              <a:ext uri="{FF2B5EF4-FFF2-40B4-BE49-F238E27FC236}">
                <a16:creationId xmlns:a16="http://schemas.microsoft.com/office/drawing/2014/main" id="{EFB745BD-D362-4593-8CD0-862E4C0E215A}"/>
              </a:ext>
            </a:extLst>
          </p:cNvPr>
          <p:cNvSpPr>
            <a:spLocks xmlns:a="http://schemas.openxmlformats.org/drawingml/2006/main" noGrp="1"/>
          </p:cNvSpPr>
          <p:nvPr/>
        </p:nvSpPr>
        <p:spPr>
          <a:xfrm xmlns:a="http://schemas.openxmlformats.org/drawingml/2006/main" rot="0">
            <a:off x="998982" y="5252960"/>
            <a:ext cx="199858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Sequencing / proteomics</a:t>
            </a:r>
          </a:p>
        </p:txBody>
      </p:sp>
      <p:sp>
        <p:nvSpPr>
          <p:cNvPr id="11" name="Figure 4 label 10 line 1">
            <a:extLst xmlns:a="http://schemas.openxmlformats.org/drawingml/2006/main">
              <a:ext uri="{FF2B5EF4-FFF2-40B4-BE49-F238E27FC236}">
                <a16:creationId xmlns:a16="http://schemas.microsoft.com/office/drawing/2014/main" id="{5D52BE4C-6141-4060-A286-5C11F8285748}"/>
              </a:ext>
            </a:extLst>
          </p:cNvPr>
          <p:cNvSpPr>
            <a:spLocks xmlns:a="http://schemas.openxmlformats.org/drawingml/2006/main" noGrp="1"/>
          </p:cNvSpPr>
          <p:nvPr/>
        </p:nvSpPr>
        <p:spPr>
          <a:xfrm xmlns:a="http://schemas.openxmlformats.org/drawingml/2006/main" rot="0">
            <a:off x="998982" y="5551066"/>
            <a:ext cx="155031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CRISPR screening</a:t>
            </a:r>
          </a:p>
        </p:txBody>
      </p:sp>
      <p:sp>
        <p:nvSpPr>
          <p:cNvPr id="12" name="Figure 4 label 11 line 1">
            <a:extLst xmlns:a="http://schemas.openxmlformats.org/drawingml/2006/main">
              <a:ext uri="{FF2B5EF4-FFF2-40B4-BE49-F238E27FC236}">
                <a16:creationId xmlns:a16="http://schemas.microsoft.com/office/drawing/2014/main" id="{B62DF07E-8B37-45D6-8BF2-90207D1AB694}"/>
              </a:ext>
            </a:extLst>
          </p:cNvPr>
          <p:cNvSpPr>
            <a:spLocks xmlns:a="http://schemas.openxmlformats.org/drawingml/2006/main" noGrp="1"/>
          </p:cNvSpPr>
          <p:nvPr/>
        </p:nvSpPr>
        <p:spPr>
          <a:xfrm xmlns:a="http://schemas.openxmlformats.org/drawingml/2006/main" rot="0">
            <a:off x="998982" y="5844784"/>
            <a:ext cx="202700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Research data resources</a:t>
            </a:r>
          </a:p>
        </p:txBody>
      </p:sp>
      <p:sp>
        <p:nvSpPr>
          <p:cNvPr id="13" name="Figure 4 label 12 line 1">
            <a:extLst xmlns:a="http://schemas.openxmlformats.org/drawingml/2006/main">
              <a:ext uri="{FF2B5EF4-FFF2-40B4-BE49-F238E27FC236}">
                <a16:creationId xmlns:a16="http://schemas.microsoft.com/office/drawing/2014/main" id="{0DA94588-DBE0-445B-AABB-D6E6B52F675C}"/>
              </a:ext>
            </a:extLst>
          </p:cNvPr>
          <p:cNvSpPr>
            <a:spLocks xmlns:a="http://schemas.openxmlformats.org/drawingml/2006/main" noGrp="1"/>
          </p:cNvSpPr>
          <p:nvPr/>
        </p:nvSpPr>
        <p:spPr>
          <a:xfrm xmlns:a="http://schemas.openxmlformats.org/drawingml/2006/main" rot="0">
            <a:off x="1581196" y="6998393"/>
            <a:ext cx="1062137"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Generate data</a:t>
            </a:r>
          </a:p>
        </p:txBody>
      </p:sp>
      <p:sp>
        <p:nvSpPr>
          <p:cNvPr id="14" name="Figure 4 label 13 line 1">
            <a:extLst xmlns:a="http://schemas.openxmlformats.org/drawingml/2006/main">
              <a:ext uri="{FF2B5EF4-FFF2-40B4-BE49-F238E27FC236}">
                <a16:creationId xmlns:a16="http://schemas.microsoft.com/office/drawing/2014/main" id="{7D06DB46-EC0A-4558-B484-600021872377}"/>
              </a:ext>
            </a:extLst>
          </p:cNvPr>
          <p:cNvSpPr>
            <a:spLocks xmlns:a="http://schemas.openxmlformats.org/drawingml/2006/main" noGrp="1"/>
          </p:cNvSpPr>
          <p:nvPr/>
        </p:nvSpPr>
        <p:spPr>
          <a:xfrm xmlns:a="http://schemas.openxmlformats.org/drawingml/2006/main" rot="0">
            <a:off x="3870579"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1</a:t>
            </a:r>
          </a:p>
        </p:txBody>
      </p:sp>
      <p:sp>
        <p:nvSpPr>
          <p:cNvPr id="15" name="Figure 4 label 14 line 1">
            <a:extLst xmlns:a="http://schemas.openxmlformats.org/drawingml/2006/main">
              <a:ext uri="{FF2B5EF4-FFF2-40B4-BE49-F238E27FC236}">
                <a16:creationId xmlns:a16="http://schemas.microsoft.com/office/drawing/2014/main" id="{AFF0C172-2919-4DA4-BC67-E31C79046371}"/>
              </a:ext>
            </a:extLst>
          </p:cNvPr>
          <p:cNvSpPr>
            <a:spLocks xmlns:a="http://schemas.openxmlformats.org/drawingml/2006/main" noGrp="1"/>
          </p:cNvSpPr>
          <p:nvPr/>
        </p:nvSpPr>
        <p:spPr>
          <a:xfrm xmlns:a="http://schemas.openxmlformats.org/drawingml/2006/main" rot="0">
            <a:off x="4183160" y="3438342"/>
            <a:ext cx="1490911"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Virtual design</a:t>
            </a:r>
          </a:p>
        </p:txBody>
      </p:sp>
      <p:sp>
        <p:nvSpPr>
          <p:cNvPr id="16" name="Figure 4 label 15 line 1">
            <a:extLst xmlns:a="http://schemas.openxmlformats.org/drawingml/2006/main">
              <a:ext uri="{FF2B5EF4-FFF2-40B4-BE49-F238E27FC236}">
                <a16:creationId xmlns:a16="http://schemas.microsoft.com/office/drawing/2014/main" id="{0F9D3564-6279-4603-90DC-BC203382941B}"/>
              </a:ext>
            </a:extLst>
          </p:cNvPr>
          <p:cNvSpPr>
            <a:spLocks xmlns:a="http://schemas.openxmlformats.org/drawingml/2006/main" noGrp="1"/>
          </p:cNvSpPr>
          <p:nvPr/>
        </p:nvSpPr>
        <p:spPr>
          <a:xfrm xmlns:a="http://schemas.openxmlformats.org/drawingml/2006/main" rot="0">
            <a:off x="3815334" y="5251915"/>
            <a:ext cx="216988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Models / compute / ranking</a:t>
            </a:r>
          </a:p>
        </p:txBody>
      </p:sp>
      <p:sp>
        <p:nvSpPr>
          <p:cNvPr id="17" name="Figure 4 label 16 line 1">
            <a:extLst xmlns:a="http://schemas.openxmlformats.org/drawingml/2006/main">
              <a:ext uri="{FF2B5EF4-FFF2-40B4-BE49-F238E27FC236}">
                <a16:creationId xmlns:a16="http://schemas.microsoft.com/office/drawing/2014/main" id="{432EFE43-A704-4213-A894-17C7CD0E9BDD}"/>
              </a:ext>
            </a:extLst>
          </p:cNvPr>
          <p:cNvSpPr>
            <a:spLocks xmlns:a="http://schemas.openxmlformats.org/drawingml/2006/main" noGrp="1"/>
          </p:cNvSpPr>
          <p:nvPr/>
        </p:nvSpPr>
        <p:spPr>
          <a:xfrm xmlns:a="http://schemas.openxmlformats.org/drawingml/2006/main" rot="0">
            <a:off x="3815334" y="5545633"/>
            <a:ext cx="196985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Less direct LST demand</a:t>
            </a:r>
          </a:p>
        </p:txBody>
      </p:sp>
      <p:sp>
        <p:nvSpPr>
          <p:cNvPr id="18" name="Figure 4 label 17 line 1">
            <a:extLst xmlns:a="http://schemas.openxmlformats.org/drawingml/2006/main">
              <a:ext uri="{FF2B5EF4-FFF2-40B4-BE49-F238E27FC236}">
                <a16:creationId xmlns:a16="http://schemas.microsoft.com/office/drawing/2014/main" id="{C8A2CE83-00CD-4D38-8649-52CE4B8DC3F0}"/>
              </a:ext>
            </a:extLst>
          </p:cNvPr>
          <p:cNvSpPr>
            <a:spLocks xmlns:a="http://schemas.openxmlformats.org/drawingml/2006/main" noGrp="1"/>
          </p:cNvSpPr>
          <p:nvPr/>
        </p:nvSpPr>
        <p:spPr>
          <a:xfrm xmlns:a="http://schemas.openxmlformats.org/drawingml/2006/main" rot="0">
            <a:off x="3815334" y="5841891"/>
            <a:ext cx="136963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Candidate triage</a:t>
            </a:r>
          </a:p>
        </p:txBody>
      </p:sp>
      <p:sp>
        <p:nvSpPr>
          <p:cNvPr id="19" name="Figure 4 label 18 line 1">
            <a:extLst xmlns:a="http://schemas.openxmlformats.org/drawingml/2006/main">
              <a:ext uri="{FF2B5EF4-FFF2-40B4-BE49-F238E27FC236}">
                <a16:creationId xmlns:a16="http://schemas.microsoft.com/office/drawing/2014/main" id="{0242DB53-6560-4FD2-A535-BA4EAB8CD5DD}"/>
              </a:ext>
            </a:extLst>
          </p:cNvPr>
          <p:cNvSpPr>
            <a:spLocks xmlns:a="http://schemas.openxmlformats.org/drawingml/2006/main" noGrp="1"/>
          </p:cNvSpPr>
          <p:nvPr/>
        </p:nvSpPr>
        <p:spPr>
          <a:xfrm xmlns:a="http://schemas.openxmlformats.org/drawingml/2006/main" rot="0">
            <a:off x="4259286" y="6997580"/>
            <a:ext cx="133865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Design candidates</a:t>
            </a:r>
          </a:p>
        </p:txBody>
      </p:sp>
      <p:sp>
        <p:nvSpPr>
          <p:cNvPr id="20" name="Figure 4 label 19 line 1">
            <a:extLst xmlns:a="http://schemas.openxmlformats.org/drawingml/2006/main">
              <a:ext uri="{FF2B5EF4-FFF2-40B4-BE49-F238E27FC236}">
                <a16:creationId xmlns:a16="http://schemas.microsoft.com/office/drawing/2014/main" id="{42C8AD88-1B5B-46BE-987E-8401B2AFAECA}"/>
              </a:ext>
            </a:extLst>
          </p:cNvPr>
          <p:cNvSpPr>
            <a:spLocks xmlns:a="http://schemas.openxmlformats.org/drawingml/2006/main" noGrp="1"/>
          </p:cNvSpPr>
          <p:nvPr/>
        </p:nvSpPr>
        <p:spPr>
          <a:xfrm xmlns:a="http://schemas.openxmlformats.org/drawingml/2006/main" rot="0">
            <a:off x="6686931"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2</a:t>
            </a:r>
          </a:p>
        </p:txBody>
      </p:sp>
      <p:sp>
        <p:nvSpPr>
          <p:cNvPr id="21" name="Figure 4 label 20 line 1">
            <a:extLst xmlns:a="http://schemas.openxmlformats.org/drawingml/2006/main">
              <a:ext uri="{FF2B5EF4-FFF2-40B4-BE49-F238E27FC236}">
                <a16:creationId xmlns:a16="http://schemas.microsoft.com/office/drawing/2014/main" id="{5C6D415F-E5F0-4A4E-95B2-43211B9EE85D}"/>
              </a:ext>
            </a:extLst>
          </p:cNvPr>
          <p:cNvSpPr>
            <a:spLocks xmlns:a="http://schemas.openxmlformats.org/drawingml/2006/main" noGrp="1"/>
          </p:cNvSpPr>
          <p:nvPr/>
        </p:nvSpPr>
        <p:spPr>
          <a:xfrm xmlns:a="http://schemas.openxmlformats.org/drawingml/2006/main" rot="0">
            <a:off x="6993337" y="3438342"/>
            <a:ext cx="1503263"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Physical build</a:t>
            </a:r>
          </a:p>
        </p:txBody>
      </p:sp>
      <p:sp>
        <p:nvSpPr>
          <p:cNvPr id="22" name="Figure 4 label 21 line 1">
            <a:extLst xmlns:a="http://schemas.openxmlformats.org/drawingml/2006/main">
              <a:ext uri="{FF2B5EF4-FFF2-40B4-BE49-F238E27FC236}">
                <a16:creationId xmlns:a16="http://schemas.microsoft.com/office/drawing/2014/main" id="{1434A54C-16F2-4DCA-8854-6DAF45AF1A18}"/>
              </a:ext>
            </a:extLst>
          </p:cNvPr>
          <p:cNvSpPr>
            <a:spLocks xmlns:a="http://schemas.openxmlformats.org/drawingml/2006/main" noGrp="1"/>
          </p:cNvSpPr>
          <p:nvPr/>
        </p:nvSpPr>
        <p:spPr>
          <a:xfrm xmlns:a="http://schemas.openxmlformats.org/drawingml/2006/main" rot="0">
            <a:off x="6631686" y="5253185"/>
            <a:ext cx="17600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Building blocks / DNA</a:t>
            </a:r>
          </a:p>
        </p:txBody>
      </p:sp>
      <p:sp>
        <p:nvSpPr>
          <p:cNvPr id="23" name="Figure 4 label 22 line 1">
            <a:extLst xmlns:a="http://schemas.openxmlformats.org/drawingml/2006/main">
              <a:ext uri="{FF2B5EF4-FFF2-40B4-BE49-F238E27FC236}">
                <a16:creationId xmlns:a16="http://schemas.microsoft.com/office/drawing/2014/main" id="{67D5BD9B-D30E-4D19-A579-3947322001AE}"/>
              </a:ext>
            </a:extLst>
          </p:cNvPr>
          <p:cNvSpPr>
            <a:spLocks xmlns:a="http://schemas.openxmlformats.org/drawingml/2006/main" noGrp="1"/>
          </p:cNvSpPr>
          <p:nvPr/>
        </p:nvSpPr>
        <p:spPr>
          <a:xfrm xmlns:a="http://schemas.openxmlformats.org/drawingml/2006/main" rot="0">
            <a:off x="6631686" y="5546903"/>
            <a:ext cx="156936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Enzymes / proteins</a:t>
            </a:r>
          </a:p>
        </p:txBody>
      </p:sp>
      <p:sp>
        <p:nvSpPr>
          <p:cNvPr id="24" name="Figure 4 label 23 line 1">
            <a:extLst xmlns:a="http://schemas.openxmlformats.org/drawingml/2006/main">
              <a:ext uri="{FF2B5EF4-FFF2-40B4-BE49-F238E27FC236}">
                <a16:creationId xmlns:a16="http://schemas.microsoft.com/office/drawing/2014/main" id="{D3267365-E16A-4B5F-9F07-4B8F1CDAAF98}"/>
              </a:ext>
            </a:extLst>
          </p:cNvPr>
          <p:cNvSpPr>
            <a:spLocks xmlns:a="http://schemas.openxmlformats.org/drawingml/2006/main" noGrp="1"/>
          </p:cNvSpPr>
          <p:nvPr/>
        </p:nvSpPr>
        <p:spPr>
          <a:xfrm xmlns:a="http://schemas.openxmlformats.org/drawingml/2006/main" rot="0">
            <a:off x="6631686" y="5840621"/>
            <a:ext cx="213178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Analytical chromatography</a:t>
            </a:r>
          </a:p>
        </p:txBody>
      </p:sp>
      <p:sp>
        <p:nvSpPr>
          <p:cNvPr id="25" name="Figure 4 label 24 line 1">
            <a:extLst xmlns:a="http://schemas.openxmlformats.org/drawingml/2006/main">
              <a:ext uri="{FF2B5EF4-FFF2-40B4-BE49-F238E27FC236}">
                <a16:creationId xmlns:a16="http://schemas.microsoft.com/office/drawing/2014/main" id="{BB55453A-6C24-4C95-9253-B6B67F42191C}"/>
              </a:ext>
            </a:extLst>
          </p:cNvPr>
          <p:cNvSpPr>
            <a:spLocks xmlns:a="http://schemas.openxmlformats.org/drawingml/2006/main" noGrp="1"/>
          </p:cNvSpPr>
          <p:nvPr/>
        </p:nvSpPr>
        <p:spPr>
          <a:xfrm xmlns:a="http://schemas.openxmlformats.org/drawingml/2006/main" rot="0">
            <a:off x="7142686" y="6998393"/>
            <a:ext cx="120456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Build candidates</a:t>
            </a:r>
          </a:p>
        </p:txBody>
      </p:sp>
      <p:sp>
        <p:nvSpPr>
          <p:cNvPr id="26" name="Figure 4 label 25 line 1">
            <a:extLst xmlns:a="http://schemas.openxmlformats.org/drawingml/2006/main">
              <a:ext uri="{FF2B5EF4-FFF2-40B4-BE49-F238E27FC236}">
                <a16:creationId xmlns:a16="http://schemas.microsoft.com/office/drawing/2014/main" id="{04D8C061-268A-4C37-8F40-CC3E63F2220A}"/>
              </a:ext>
            </a:extLst>
          </p:cNvPr>
          <p:cNvSpPr>
            <a:spLocks xmlns:a="http://schemas.openxmlformats.org/drawingml/2006/main" noGrp="1"/>
          </p:cNvSpPr>
          <p:nvPr/>
        </p:nvSpPr>
        <p:spPr>
          <a:xfrm xmlns:a="http://schemas.openxmlformats.org/drawingml/2006/main" rot="0">
            <a:off x="9503283"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3</a:t>
            </a:r>
          </a:p>
        </p:txBody>
      </p:sp>
      <p:sp>
        <p:nvSpPr>
          <p:cNvPr id="27" name="Figure 4 label 26 line 1">
            <a:extLst xmlns:a="http://schemas.openxmlformats.org/drawingml/2006/main">
              <a:ext uri="{FF2B5EF4-FFF2-40B4-BE49-F238E27FC236}">
                <a16:creationId xmlns:a16="http://schemas.microsoft.com/office/drawing/2014/main" id="{4C5BA493-53E5-4B38-B2DD-60C5B0677CE1}"/>
              </a:ext>
            </a:extLst>
          </p:cNvPr>
          <p:cNvSpPr>
            <a:spLocks xmlns:a="http://schemas.openxmlformats.org/drawingml/2006/main" noGrp="1"/>
          </p:cNvSpPr>
          <p:nvPr/>
        </p:nvSpPr>
        <p:spPr>
          <a:xfrm xmlns:a="http://schemas.openxmlformats.org/drawingml/2006/main" rot="0">
            <a:off x="9840720" y="3439540"/>
            <a:ext cx="1441202"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Wet-lab tests</a:t>
            </a:r>
          </a:p>
        </p:txBody>
      </p:sp>
      <p:sp>
        <p:nvSpPr>
          <p:cNvPr id="28" name="Figure 4 label 27 line 1">
            <a:extLst xmlns:a="http://schemas.openxmlformats.org/drawingml/2006/main">
              <a:ext uri="{FF2B5EF4-FFF2-40B4-BE49-F238E27FC236}">
                <a16:creationId xmlns:a16="http://schemas.microsoft.com/office/drawing/2014/main" id="{AAB5912A-C40F-47E2-A11E-EF21F81846D6}"/>
              </a:ext>
            </a:extLst>
          </p:cNvPr>
          <p:cNvSpPr>
            <a:spLocks xmlns:a="http://schemas.openxmlformats.org/drawingml/2006/main" noGrp="1"/>
          </p:cNvSpPr>
          <p:nvPr/>
        </p:nvSpPr>
        <p:spPr>
          <a:xfrm xmlns:a="http://schemas.openxmlformats.org/drawingml/2006/main" rot="0">
            <a:off x="9448038" y="5254230"/>
            <a:ext cx="177891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Cells / media / assays</a:t>
            </a:r>
          </a:p>
        </p:txBody>
      </p:sp>
      <p:sp>
        <p:nvSpPr>
          <p:cNvPr id="29" name="Figure 4 label 28 line 1">
            <a:extLst xmlns:a="http://schemas.openxmlformats.org/drawingml/2006/main">
              <a:ext uri="{FF2B5EF4-FFF2-40B4-BE49-F238E27FC236}">
                <a16:creationId xmlns:a16="http://schemas.microsoft.com/office/drawing/2014/main" id="{A57AB434-1F0D-4F65-87ED-0464F93ED851}"/>
              </a:ext>
            </a:extLst>
          </p:cNvPr>
          <p:cNvSpPr>
            <a:spLocks xmlns:a="http://schemas.openxmlformats.org/drawingml/2006/main" noGrp="1"/>
          </p:cNvSpPr>
          <p:nvPr/>
        </p:nvSpPr>
        <p:spPr>
          <a:xfrm xmlns:a="http://schemas.openxmlformats.org/drawingml/2006/main" rot="0">
            <a:off x="9448038" y="5547948"/>
            <a:ext cx="18271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Plates / liquid handling</a:t>
            </a:r>
          </a:p>
        </p:txBody>
      </p:sp>
      <p:sp>
        <p:nvSpPr>
          <p:cNvPr id="30" name="Figure 4 label 29 line 1">
            <a:extLst xmlns:a="http://schemas.openxmlformats.org/drawingml/2006/main">
              <a:ext uri="{FF2B5EF4-FFF2-40B4-BE49-F238E27FC236}">
                <a16:creationId xmlns:a16="http://schemas.microsoft.com/office/drawing/2014/main" id="{39488D9A-9356-4E6D-97BB-78C7FC4613D3}"/>
              </a:ext>
            </a:extLst>
          </p:cNvPr>
          <p:cNvSpPr>
            <a:spLocks xmlns:a="http://schemas.openxmlformats.org/drawingml/2006/main" noGrp="1"/>
          </p:cNvSpPr>
          <p:nvPr/>
        </p:nvSpPr>
        <p:spPr>
          <a:xfrm xmlns:a="http://schemas.openxmlformats.org/drawingml/2006/main" rot="0">
            <a:off x="9448038" y="5841666"/>
            <a:ext cx="198905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High-throughput imaging</a:t>
            </a:r>
          </a:p>
        </p:txBody>
      </p:sp>
      <p:sp>
        <p:nvSpPr>
          <p:cNvPr id="31" name="Figure 4 label 30 line 1">
            <a:extLst xmlns:a="http://schemas.openxmlformats.org/drawingml/2006/main">
              <a:ext uri="{FF2B5EF4-FFF2-40B4-BE49-F238E27FC236}">
                <a16:creationId xmlns:a16="http://schemas.microsoft.com/office/drawing/2014/main" id="{D217E6BC-9D3E-44D1-9098-3036211FAAA4}"/>
              </a:ext>
            </a:extLst>
          </p:cNvPr>
          <p:cNvSpPr>
            <a:spLocks xmlns:a="http://schemas.openxmlformats.org/drawingml/2006/main" noGrp="1"/>
          </p:cNvSpPr>
          <p:nvPr/>
        </p:nvSpPr>
        <p:spPr>
          <a:xfrm xmlns:a="http://schemas.openxmlformats.org/drawingml/2006/main" rot="0">
            <a:off x="9959038" y="6998393"/>
            <a:ext cx="120456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Create feedback</a:t>
            </a:r>
          </a:p>
        </p:txBody>
      </p:sp>
      <p:sp>
        <p:nvSpPr>
          <p:cNvPr id="32" name="Figure 4 label 31 line 1">
            <a:extLst xmlns:a="http://schemas.openxmlformats.org/drawingml/2006/main">
              <a:ext uri="{FF2B5EF4-FFF2-40B4-BE49-F238E27FC236}">
                <a16:creationId xmlns:a16="http://schemas.microsoft.com/office/drawing/2014/main" id="{AD087CEF-76AC-4129-BD25-16DC0ABCFE8F}"/>
              </a:ext>
            </a:extLst>
          </p:cNvPr>
          <p:cNvSpPr>
            <a:spLocks xmlns:a="http://schemas.openxmlformats.org/drawingml/2006/main" noGrp="1"/>
          </p:cNvSpPr>
          <p:nvPr/>
        </p:nvSpPr>
        <p:spPr>
          <a:xfrm xmlns:a="http://schemas.openxmlformats.org/drawingml/2006/main" rot="0">
            <a:off x="12319635"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4</a:t>
            </a:r>
          </a:p>
        </p:txBody>
      </p:sp>
      <p:sp>
        <p:nvSpPr>
          <p:cNvPr id="33" name="Figure 4 label 32 line 1">
            <a:extLst xmlns:a="http://schemas.openxmlformats.org/drawingml/2006/main">
              <a:ext uri="{FF2B5EF4-FFF2-40B4-BE49-F238E27FC236}">
                <a16:creationId xmlns:a16="http://schemas.microsoft.com/office/drawing/2014/main" id="{D2EB8C8A-677B-4C91-A6E1-9D86D44FC1CC}"/>
              </a:ext>
            </a:extLst>
          </p:cNvPr>
          <p:cNvSpPr>
            <a:spLocks xmlns:a="http://schemas.openxmlformats.org/drawingml/2006/main" noGrp="1"/>
          </p:cNvSpPr>
          <p:nvPr/>
        </p:nvSpPr>
        <p:spPr>
          <a:xfrm xmlns:a="http://schemas.openxmlformats.org/drawingml/2006/main" rot="0">
            <a:off x="12447001" y="3439540"/>
            <a:ext cx="186134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Clinical validation</a:t>
            </a:r>
          </a:p>
        </p:txBody>
      </p:sp>
      <p:sp>
        <p:nvSpPr>
          <p:cNvPr id="34" name="Figure 4 label 33 line 1">
            <a:extLst xmlns:a="http://schemas.openxmlformats.org/drawingml/2006/main">
              <a:ext uri="{FF2B5EF4-FFF2-40B4-BE49-F238E27FC236}">
                <a16:creationId xmlns:a16="http://schemas.microsoft.com/office/drawing/2014/main" id="{80B490B9-99DF-4A1C-B9E4-968695201E72}"/>
              </a:ext>
            </a:extLst>
          </p:cNvPr>
          <p:cNvSpPr>
            <a:spLocks xmlns:a="http://schemas.openxmlformats.org/drawingml/2006/main" noGrp="1"/>
          </p:cNvSpPr>
          <p:nvPr/>
        </p:nvSpPr>
        <p:spPr>
          <a:xfrm xmlns:a="http://schemas.openxmlformats.org/drawingml/2006/main" rot="0">
            <a:off x="12264390" y="5252036"/>
            <a:ext cx="185541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Sequencing / IVD R&amp;D</a:t>
            </a:r>
          </a:p>
        </p:txBody>
      </p:sp>
      <p:sp>
        <p:nvSpPr>
          <p:cNvPr id="35" name="Figure 4 label 34 line 1">
            <a:extLst xmlns:a="http://schemas.openxmlformats.org/drawingml/2006/main">
              <a:ext uri="{FF2B5EF4-FFF2-40B4-BE49-F238E27FC236}">
                <a16:creationId xmlns:a16="http://schemas.microsoft.com/office/drawing/2014/main" id="{CC5DB725-0669-4D39-B601-02513B6C1C8F}"/>
              </a:ext>
            </a:extLst>
          </p:cNvPr>
          <p:cNvSpPr>
            <a:spLocks xmlns:a="http://schemas.openxmlformats.org/drawingml/2006/main" noGrp="1"/>
          </p:cNvSpPr>
          <p:nvPr/>
        </p:nvSpPr>
        <p:spPr>
          <a:xfrm xmlns:a="http://schemas.openxmlformats.org/drawingml/2006/main" rot="0">
            <a:off x="12264390" y="5550142"/>
            <a:ext cx="196033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Clinical sample handling</a:t>
            </a:r>
          </a:p>
        </p:txBody>
      </p:sp>
      <p:sp>
        <p:nvSpPr>
          <p:cNvPr id="36" name="Figure 4 label 35 line 1">
            <a:extLst xmlns:a="http://schemas.openxmlformats.org/drawingml/2006/main">
              <a:ext uri="{FF2B5EF4-FFF2-40B4-BE49-F238E27FC236}">
                <a16:creationId xmlns:a16="http://schemas.microsoft.com/office/drawing/2014/main" id="{B818C816-CC40-4ACC-A5E8-23DD54549EF4}"/>
              </a:ext>
            </a:extLst>
          </p:cNvPr>
          <p:cNvSpPr>
            <a:spLocks xmlns:a="http://schemas.openxmlformats.org/drawingml/2006/main" noGrp="1"/>
          </p:cNvSpPr>
          <p:nvPr/>
        </p:nvSpPr>
        <p:spPr>
          <a:xfrm xmlns:a="http://schemas.openxmlformats.org/drawingml/2006/main" rot="0">
            <a:off x="12264390" y="5843860"/>
            <a:ext cx="149346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Automated testing</a:t>
            </a:r>
          </a:p>
        </p:txBody>
      </p:sp>
      <p:sp>
        <p:nvSpPr>
          <p:cNvPr id="37" name="Figure 4 label 36 line 1">
            <a:extLst xmlns:a="http://schemas.openxmlformats.org/drawingml/2006/main">
              <a:ext uri="{FF2B5EF4-FFF2-40B4-BE49-F238E27FC236}">
                <a16:creationId xmlns:a16="http://schemas.microsoft.com/office/drawing/2014/main" id="{08BF9077-5CE6-4813-B3D6-E8F23F8438DD}"/>
              </a:ext>
            </a:extLst>
          </p:cNvPr>
          <p:cNvSpPr>
            <a:spLocks xmlns:a="http://schemas.openxmlformats.org/drawingml/2006/main" noGrp="1"/>
          </p:cNvSpPr>
          <p:nvPr/>
        </p:nvSpPr>
        <p:spPr>
          <a:xfrm xmlns:a="http://schemas.openxmlformats.org/drawingml/2006/main" rot="0">
            <a:off x="12863496" y="6997580"/>
            <a:ext cx="1028353"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Validate utility</a:t>
            </a:r>
          </a:p>
        </p:txBody>
      </p:sp>
      <p:sp>
        <p:nvSpPr>
          <p:cNvPr id="38" name="Figure 4 label 37 line 1">
            <a:extLst xmlns:a="http://schemas.openxmlformats.org/drawingml/2006/main">
              <a:ext uri="{FF2B5EF4-FFF2-40B4-BE49-F238E27FC236}">
                <a16:creationId xmlns:a16="http://schemas.microsoft.com/office/drawing/2014/main" id="{8F1512CA-4BAD-4BFB-86DE-01A84D452C75}"/>
              </a:ext>
            </a:extLst>
          </p:cNvPr>
          <p:cNvSpPr>
            <a:spLocks xmlns:a="http://schemas.openxmlformats.org/drawingml/2006/main" noGrp="1"/>
          </p:cNvSpPr>
          <p:nvPr/>
        </p:nvSpPr>
        <p:spPr>
          <a:xfrm xmlns:a="http://schemas.openxmlformats.org/drawingml/2006/main" rot="0">
            <a:off x="15135987" y="2923897"/>
            <a:ext cx="78926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STAGE 5</a:t>
            </a:r>
          </a:p>
        </p:txBody>
      </p:sp>
      <p:sp>
        <p:nvSpPr>
          <p:cNvPr id="39" name="Figure 4 label 38 line 1">
            <a:extLst xmlns:a="http://schemas.openxmlformats.org/drawingml/2006/main">
              <a:ext uri="{FF2B5EF4-FFF2-40B4-BE49-F238E27FC236}">
                <a16:creationId xmlns:a16="http://schemas.microsoft.com/office/drawing/2014/main" id="{A67CD62E-0F24-405F-951C-B5C5EEEE3EA5}"/>
              </a:ext>
            </a:extLst>
          </p:cNvPr>
          <p:cNvSpPr>
            <a:spLocks xmlns:a="http://schemas.openxmlformats.org/drawingml/2006/main" noGrp="1"/>
          </p:cNvSpPr>
          <p:nvPr/>
        </p:nvSpPr>
        <p:spPr>
          <a:xfrm xmlns:a="http://schemas.openxmlformats.org/drawingml/2006/main" rot="0">
            <a:off x="15481001" y="3319286"/>
            <a:ext cx="155267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Manufacturing</a:t>
            </a:r>
          </a:p>
        </p:txBody>
      </p:sp>
      <p:sp>
        <p:nvSpPr>
          <p:cNvPr id="40" name="Figure 4 label 39 line 1">
            <a:extLst xmlns:a="http://schemas.openxmlformats.org/drawingml/2006/main">
              <a:ext uri="{FF2B5EF4-FFF2-40B4-BE49-F238E27FC236}">
                <a16:creationId xmlns:a16="http://schemas.microsoft.com/office/drawing/2014/main" id="{115F6F85-6772-435E-9F44-65F2679D99E6}"/>
              </a:ext>
            </a:extLst>
          </p:cNvPr>
          <p:cNvSpPr>
            <a:spLocks xmlns:a="http://schemas.openxmlformats.org/drawingml/2006/main" noGrp="1"/>
          </p:cNvSpPr>
          <p:nvPr/>
        </p:nvSpPr>
        <p:spPr>
          <a:xfrm xmlns:a="http://schemas.openxmlformats.org/drawingml/2006/main" rot="0">
            <a:off x="15505934" y="3560107"/>
            <a:ext cx="1502817"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(if successful)</a:t>
            </a:r>
          </a:p>
        </p:txBody>
      </p:sp>
      <p:sp>
        <p:nvSpPr>
          <p:cNvPr id="41" name="Figure 4 label 40 line 1">
            <a:extLst xmlns:a="http://schemas.openxmlformats.org/drawingml/2006/main">
              <a:ext uri="{FF2B5EF4-FFF2-40B4-BE49-F238E27FC236}">
                <a16:creationId xmlns:a16="http://schemas.microsoft.com/office/drawing/2014/main" id="{07353467-0AB9-4E47-9162-A3217FEA9A52}"/>
              </a:ext>
            </a:extLst>
          </p:cNvPr>
          <p:cNvSpPr>
            <a:spLocks xmlns:a="http://schemas.openxmlformats.org/drawingml/2006/main" noGrp="1"/>
          </p:cNvSpPr>
          <p:nvPr/>
        </p:nvSpPr>
        <p:spPr>
          <a:xfrm xmlns:a="http://schemas.openxmlformats.org/drawingml/2006/main" rot="0">
            <a:off x="15080742" y="5252840"/>
            <a:ext cx="117868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Media / resins</a:t>
            </a:r>
          </a:p>
        </p:txBody>
      </p:sp>
      <p:sp>
        <p:nvSpPr>
          <p:cNvPr id="42" name="Figure 4 label 41 line 1">
            <a:extLst xmlns:a="http://schemas.openxmlformats.org/drawingml/2006/main">
              <a:ext uri="{FF2B5EF4-FFF2-40B4-BE49-F238E27FC236}">
                <a16:creationId xmlns:a16="http://schemas.microsoft.com/office/drawing/2014/main" id="{105AD047-FA88-4B21-A64F-DDBDB2B9626C}"/>
              </a:ext>
            </a:extLst>
          </p:cNvPr>
          <p:cNvSpPr>
            <a:spLocks xmlns:a="http://schemas.openxmlformats.org/drawingml/2006/main" noGrp="1"/>
          </p:cNvSpPr>
          <p:nvPr/>
        </p:nvSpPr>
        <p:spPr>
          <a:xfrm xmlns:a="http://schemas.openxmlformats.org/drawingml/2006/main" rot="0">
            <a:off x="15080742" y="5544709"/>
            <a:ext cx="216021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Filtration / process labware</a:t>
            </a:r>
          </a:p>
        </p:txBody>
      </p:sp>
      <p:sp>
        <p:nvSpPr>
          <p:cNvPr id="43" name="Figure 4 label 42 line 1">
            <a:extLst xmlns:a="http://schemas.openxmlformats.org/drawingml/2006/main">
              <a:ext uri="{FF2B5EF4-FFF2-40B4-BE49-F238E27FC236}">
                <a16:creationId xmlns:a16="http://schemas.microsoft.com/office/drawing/2014/main" id="{7E338235-B3C2-4100-81DD-330EDDE650DA}"/>
              </a:ext>
            </a:extLst>
          </p:cNvPr>
          <p:cNvSpPr>
            <a:spLocks xmlns:a="http://schemas.openxmlformats.org/drawingml/2006/main" noGrp="1"/>
          </p:cNvSpPr>
          <p:nvPr/>
        </p:nvSpPr>
        <p:spPr>
          <a:xfrm xmlns:a="http://schemas.openxmlformats.org/drawingml/2006/main" rot="0">
            <a:off x="15080742" y="5840967"/>
            <a:ext cx="220813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Single-use bioprocess tools</a:t>
            </a:r>
          </a:p>
        </p:txBody>
      </p:sp>
      <p:sp>
        <p:nvSpPr>
          <p:cNvPr id="44" name="Figure 4 label 43 line 1">
            <a:extLst xmlns:a="http://schemas.openxmlformats.org/drawingml/2006/main">
              <a:ext uri="{FF2B5EF4-FFF2-40B4-BE49-F238E27FC236}">
                <a16:creationId xmlns:a16="http://schemas.microsoft.com/office/drawing/2014/main" id="{BDAE9A7F-6E9C-4D33-955B-955E4C44344B}"/>
              </a:ext>
            </a:extLst>
          </p:cNvPr>
          <p:cNvSpPr>
            <a:spLocks xmlns:a="http://schemas.openxmlformats.org/drawingml/2006/main" noGrp="1"/>
          </p:cNvSpPr>
          <p:nvPr/>
        </p:nvSpPr>
        <p:spPr>
          <a:xfrm xmlns:a="http://schemas.openxmlformats.org/drawingml/2006/main" rot="0">
            <a:off x="15654622" y="6997580"/>
            <a:ext cx="107880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Produce drugs</a:t>
            </a:r>
          </a:p>
        </p:txBody>
      </p:sp>
      <p:sp>
        <p:nvSpPr>
          <p:cNvPr id="45" name="Figure 4 label 44 line 1">
            <a:extLst xmlns:a="http://schemas.openxmlformats.org/drawingml/2006/main">
              <a:ext uri="{FF2B5EF4-FFF2-40B4-BE49-F238E27FC236}">
                <a16:creationId xmlns:a16="http://schemas.microsoft.com/office/drawing/2014/main" id="{EF60E9B1-E6E2-44A4-916E-E95B724D49A6}"/>
              </a:ext>
            </a:extLst>
          </p:cNvPr>
          <p:cNvSpPr>
            <a:spLocks xmlns:a="http://schemas.openxmlformats.org/drawingml/2006/main" noGrp="1"/>
          </p:cNvSpPr>
          <p:nvPr/>
        </p:nvSpPr>
        <p:spPr>
          <a:xfrm xmlns:a="http://schemas.openxmlformats.org/drawingml/2006/main" rot="0">
            <a:off x="5851000" y="2044848"/>
            <a:ext cx="329416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13"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Experimental feedback → next design cycle</a:t>
            </a:r>
          </a:p>
        </p:txBody>
      </p:sp>
      <p:sp>
        <p:nvSpPr>
          <p:cNvPr id="46" name="Figure 4 label 45 line 1">
            <a:extLst xmlns:a="http://schemas.openxmlformats.org/drawingml/2006/main">
              <a:ext uri="{FF2B5EF4-FFF2-40B4-BE49-F238E27FC236}">
                <a16:creationId xmlns:a16="http://schemas.microsoft.com/office/drawing/2014/main" id="{712538E2-3146-483A-A708-E5EC1FE0EC12}"/>
              </a:ext>
            </a:extLst>
          </p:cNvPr>
          <p:cNvSpPr>
            <a:spLocks xmlns:a="http://schemas.openxmlformats.org/drawingml/2006/main" noGrp="1"/>
          </p:cNvSpPr>
          <p:nvPr/>
        </p:nvSpPr>
        <p:spPr>
          <a:xfrm xmlns:a="http://schemas.openxmlformats.org/drawingml/2006/main" rot="0">
            <a:off x="5122143" y="8227834"/>
            <a:ext cx="8043714"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The most direct potential uplift comes from building and testing candidates.</a:t>
            </a:r>
          </a:p>
        </p:txBody>
      </p:sp>
    </p:spTree>
    <p:extLst>
      <p:ext uri="{BB962C8B-B14F-4D97-AF65-F5344CB8AC3E}">
        <p14:creationId xmlns:p14="http://schemas.microsoft.com/office/powerpoint/2010/main" val="12250649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4" name="">
            <a:extLst xmlns:a="http://schemas.openxmlformats.org/drawingml/2006/main">
              <a:ext uri="{FF2B5EF4-FFF2-40B4-BE49-F238E27FC236}">
                <a16:creationId xmlns:a16="http://schemas.microsoft.com/office/drawing/2014/main" id="{930ED1D5-FA37-4F1F-97F4-EF316CF7A7AF}"/>
              </a:ext>
            </a:extLst>
          </p:cNvPr>
          <p:cNvPicPr>
            <a:picLocks xmlns:a="http://schemas.openxmlformats.org/drawingml/2006/main" noChangeAspect="1"/>
          </p:cNvPicPr>
          <p:nvPr/>
        </p:nvPicPr>
        <p:blipFill>
          <a:blip xmlns:r="http://schemas.openxmlformats.org/officeDocument/2006/relationships" xmlns:a="http://schemas.openxmlformats.org/drawingml/2006/main" r:embed="R938d21289c1f4f1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5 label 1 line 1">
            <a:extLst xmlns:a="http://schemas.openxmlformats.org/drawingml/2006/main">
              <a:ext uri="{FF2B5EF4-FFF2-40B4-BE49-F238E27FC236}">
                <a16:creationId xmlns:a16="http://schemas.microsoft.com/office/drawing/2014/main" id="{4AD5A792-9803-4289-9FC4-6013C0E6A5A6}"/>
              </a:ext>
            </a:extLst>
          </p:cNvPr>
          <p:cNvSpPr>
            <a:spLocks xmlns:a="http://schemas.openxmlformats.org/drawingml/2006/main" noGrp="1"/>
          </p:cNvSpPr>
          <p:nvPr/>
        </p:nvSpPr>
        <p:spPr>
          <a:xfrm xmlns:a="http://schemas.openxmlformats.org/drawingml/2006/main" rot="0">
            <a:off x="26162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3" name="Figure 5 label 2 line 1">
            <a:extLst xmlns:a="http://schemas.openxmlformats.org/drawingml/2006/main">
              <a:ext uri="{FF2B5EF4-FFF2-40B4-BE49-F238E27FC236}">
                <a16:creationId xmlns:a16="http://schemas.microsoft.com/office/drawing/2014/main" id="{17F2697F-4B15-469B-885F-AF7F6411D72E}"/>
              </a:ext>
            </a:extLst>
          </p:cNvPr>
          <p:cNvSpPr>
            <a:spLocks xmlns:a="http://schemas.openxmlformats.org/drawingml/2006/main" noGrp="1"/>
          </p:cNvSpPr>
          <p:nvPr/>
        </p:nvSpPr>
        <p:spPr>
          <a:xfrm xmlns:a="http://schemas.openxmlformats.org/drawingml/2006/main" rot="0">
            <a:off x="801176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4" name="Figure 5 label 3 line 1">
            <a:extLst xmlns:a="http://schemas.openxmlformats.org/drawingml/2006/main">
              <a:ext uri="{FF2B5EF4-FFF2-40B4-BE49-F238E27FC236}">
                <a16:creationId xmlns:a16="http://schemas.microsoft.com/office/drawing/2014/main" id="{FAFAA15F-DBF1-4CE4-9092-712067F1C446}"/>
              </a:ext>
            </a:extLst>
          </p:cNvPr>
          <p:cNvSpPr>
            <a:spLocks xmlns:a="http://schemas.openxmlformats.org/drawingml/2006/main" noGrp="1"/>
          </p:cNvSpPr>
          <p:nvPr/>
        </p:nvSpPr>
        <p:spPr>
          <a:xfrm xmlns:a="http://schemas.openxmlformats.org/drawingml/2006/main" rot="0">
            <a:off x="1371418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5" name="Figure 5 label 4 line 1">
            <a:extLst xmlns:a="http://schemas.openxmlformats.org/drawingml/2006/main">
              <a:ext uri="{FF2B5EF4-FFF2-40B4-BE49-F238E27FC236}">
                <a16:creationId xmlns:a16="http://schemas.microsoft.com/office/drawing/2014/main" id="{F7AB72B0-A647-45CB-A1BE-0A36BD9D97E7}"/>
              </a:ext>
            </a:extLst>
          </p:cNvPr>
          <p:cNvSpPr>
            <a:spLocks xmlns:a="http://schemas.openxmlformats.org/drawingml/2006/main" noGrp="1"/>
          </p:cNvSpPr>
          <p:nvPr/>
        </p:nvSpPr>
        <p:spPr>
          <a:xfrm xmlns:a="http://schemas.openxmlformats.org/drawingml/2006/main" rot="0">
            <a:off x="7276772" y="8291493"/>
            <a:ext cx="227141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Experimental necessity →</a:t>
            </a:r>
          </a:p>
        </p:txBody>
      </p:sp>
      <p:sp>
        <p:nvSpPr>
          <p:cNvPr id="6" name="Figure 5 label 5 line 1">
            <a:extLst xmlns:a="http://schemas.openxmlformats.org/drawingml/2006/main">
              <a:ext uri="{FF2B5EF4-FFF2-40B4-BE49-F238E27FC236}">
                <a16:creationId xmlns:a16="http://schemas.microsoft.com/office/drawing/2014/main" id="{88C0F8CD-5737-41BA-9844-C7D5FFFFE204}"/>
              </a:ext>
            </a:extLst>
          </p:cNvPr>
          <p:cNvSpPr>
            <a:spLocks xmlns:a="http://schemas.openxmlformats.org/drawingml/2006/main" noGrp="1"/>
          </p:cNvSpPr>
          <p:nvPr/>
        </p:nvSpPr>
        <p:spPr>
          <a:xfrm xmlns:a="http://schemas.openxmlformats.org/drawingml/2006/main" rot="0">
            <a:off x="83086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7" name="Figure 5 label 6 line 1">
            <a:extLst xmlns:a="http://schemas.openxmlformats.org/drawingml/2006/main">
              <a:ext uri="{FF2B5EF4-FFF2-40B4-BE49-F238E27FC236}">
                <a16:creationId xmlns:a16="http://schemas.microsoft.com/office/drawing/2014/main" id="{54D710C5-A61C-4C09-B58A-E326E45AD189}"/>
              </a:ext>
            </a:extLst>
          </p:cNvPr>
          <p:cNvSpPr>
            <a:spLocks xmlns:a="http://schemas.openxmlformats.org/drawingml/2006/main" noGrp="1"/>
          </p:cNvSpPr>
          <p:nvPr/>
        </p:nvSpPr>
        <p:spPr>
          <a:xfrm xmlns:a="http://schemas.openxmlformats.org/drawingml/2006/main" rot="0">
            <a:off x="50285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8" name="Figure 5 label 7 line 1">
            <a:extLst xmlns:a="http://schemas.openxmlformats.org/drawingml/2006/main">
              <a:ext uri="{FF2B5EF4-FFF2-40B4-BE49-F238E27FC236}">
                <a16:creationId xmlns:a16="http://schemas.microsoft.com/office/drawing/2014/main" id="{B3977702-F0DA-4923-834D-95C901684175}"/>
              </a:ext>
            </a:extLst>
          </p:cNvPr>
          <p:cNvSpPr>
            <a:spLocks xmlns:a="http://schemas.openxmlformats.org/drawingml/2006/main" noGrp="1"/>
          </p:cNvSpPr>
          <p:nvPr/>
        </p:nvSpPr>
        <p:spPr>
          <a:xfrm xmlns:a="http://schemas.openxmlformats.org/drawingml/2006/main" rot="0">
            <a:off x="78860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9" name="Figure 5 label 8 line 1">
            <a:extLst xmlns:a="http://schemas.openxmlformats.org/drawingml/2006/main">
              <a:ext uri="{FF2B5EF4-FFF2-40B4-BE49-F238E27FC236}">
                <a16:creationId xmlns:a16="http://schemas.microsoft.com/office/drawing/2014/main" id="{6055770A-D2F6-4924-A9E3-46E8365F23CA}"/>
              </a:ext>
            </a:extLst>
          </p:cNvPr>
          <p:cNvSpPr>
            <a:spLocks xmlns:a="http://schemas.openxmlformats.org/drawingml/2006/main" noGrp="1"/>
          </p:cNvSpPr>
          <p:nvPr/>
        </p:nvSpPr>
        <p:spPr>
          <a:xfrm xmlns:a="http://schemas.openxmlformats.org/drawingml/2006/main" rot="16200000">
            <a:off x="-1479297" y="4918710"/>
            <a:ext cx="373275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Revenue elasticity to experiment volume →</a:t>
            </a:r>
          </a:p>
        </p:txBody>
      </p:sp>
      <p:sp>
        <p:nvSpPr>
          <p:cNvPr id="10" name="Figure 5 label 9 line 1">
            <a:extLst xmlns:a="http://schemas.openxmlformats.org/drawingml/2006/main">
              <a:ext uri="{FF2B5EF4-FFF2-40B4-BE49-F238E27FC236}">
                <a16:creationId xmlns:a16="http://schemas.microsoft.com/office/drawing/2014/main" id="{3564890C-D1DB-49EE-B8C9-151A95B25520}"/>
              </a:ext>
            </a:extLst>
          </p:cNvPr>
          <p:cNvSpPr>
            <a:spLocks xmlns:a="http://schemas.openxmlformats.org/drawingml/2006/main" noGrp="1"/>
          </p:cNvSpPr>
          <p:nvPr/>
        </p:nvSpPr>
        <p:spPr>
          <a:xfrm xmlns:a="http://schemas.openxmlformats.org/drawingml/2006/main" rot="0">
            <a:off x="2012455" y="2407644"/>
            <a:ext cx="3468162"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Project expansion and substitution both matter</a:t>
            </a:r>
          </a:p>
        </p:txBody>
      </p:sp>
      <p:sp>
        <p:nvSpPr>
          <p:cNvPr id="11" name="Figure 5 label 10 line 1">
            <a:extLst xmlns:a="http://schemas.openxmlformats.org/drawingml/2006/main">
              <a:ext uri="{FF2B5EF4-FFF2-40B4-BE49-F238E27FC236}">
                <a16:creationId xmlns:a16="http://schemas.microsoft.com/office/drawing/2014/main" id="{EC37FC2A-9316-444F-ACBE-98FC941EA743}"/>
              </a:ext>
            </a:extLst>
          </p:cNvPr>
          <p:cNvSpPr>
            <a:spLocks xmlns:a="http://schemas.openxmlformats.org/drawingml/2006/main" noGrp="1"/>
          </p:cNvSpPr>
          <p:nvPr/>
        </p:nvSpPr>
        <p:spPr>
          <a:xfrm xmlns:a="http://schemas.openxmlformats.org/drawingml/2006/main" rot="0">
            <a:off x="11880532" y="2274154"/>
            <a:ext cx="130373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High-throughput</a:t>
            </a:r>
          </a:p>
        </p:txBody>
      </p:sp>
      <p:sp>
        <p:nvSpPr>
          <p:cNvPr id="12" name="Figure 5 label 11 line 1">
            <a:extLst xmlns:a="http://schemas.openxmlformats.org/drawingml/2006/main">
              <a:ext uri="{FF2B5EF4-FFF2-40B4-BE49-F238E27FC236}">
                <a16:creationId xmlns:a16="http://schemas.microsoft.com/office/drawing/2014/main" id="{4111434B-3D57-4D37-A515-2427593B0DD1}"/>
              </a:ext>
            </a:extLst>
          </p:cNvPr>
          <p:cNvSpPr>
            <a:spLocks xmlns:a="http://schemas.openxmlformats.org/drawingml/2006/main" noGrp="1"/>
          </p:cNvSpPr>
          <p:nvPr/>
        </p:nvSpPr>
        <p:spPr>
          <a:xfrm xmlns:a="http://schemas.openxmlformats.org/drawingml/2006/main" rot="0">
            <a:off x="11880532" y="2452333"/>
            <a:ext cx="627162"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assays</a:t>
            </a:r>
          </a:p>
        </p:txBody>
      </p:sp>
      <p:sp>
        <p:nvSpPr>
          <p:cNvPr id="13" name="Figure 5 label 12 line 1">
            <a:extLst xmlns:a="http://schemas.openxmlformats.org/drawingml/2006/main">
              <a:ext uri="{FF2B5EF4-FFF2-40B4-BE49-F238E27FC236}">
                <a16:creationId xmlns:a16="http://schemas.microsoft.com/office/drawing/2014/main" id="{82A219B6-0B48-4806-BC84-0E8EF303F52A}"/>
              </a:ext>
            </a:extLst>
          </p:cNvPr>
          <p:cNvSpPr>
            <a:spLocks xmlns:a="http://schemas.openxmlformats.org/drawingml/2006/main" noGrp="1"/>
          </p:cNvSpPr>
          <p:nvPr/>
        </p:nvSpPr>
        <p:spPr>
          <a:xfrm xmlns:a="http://schemas.openxmlformats.org/drawingml/2006/main" rot="0">
            <a:off x="13752695" y="4146375"/>
            <a:ext cx="129406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Enzymes / NGS</a:t>
            </a:r>
          </a:p>
        </p:txBody>
      </p:sp>
      <p:sp>
        <p:nvSpPr>
          <p:cNvPr id="14" name="Figure 5 label 13 line 1">
            <a:extLst xmlns:a="http://schemas.openxmlformats.org/drawingml/2006/main">
              <a:ext uri="{FF2B5EF4-FFF2-40B4-BE49-F238E27FC236}">
                <a16:creationId xmlns:a16="http://schemas.microsoft.com/office/drawing/2014/main" id="{D7BF6059-CC4B-4CA1-AD0A-32C275FDA2C5}"/>
              </a:ext>
            </a:extLst>
          </p:cNvPr>
          <p:cNvSpPr>
            <a:spLocks xmlns:a="http://schemas.openxmlformats.org/drawingml/2006/main" noGrp="1"/>
          </p:cNvSpPr>
          <p:nvPr/>
        </p:nvSpPr>
        <p:spPr>
          <a:xfrm xmlns:a="http://schemas.openxmlformats.org/drawingml/2006/main" rot="0">
            <a:off x="14104588" y="4324554"/>
            <a:ext cx="94223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library prep</a:t>
            </a:r>
          </a:p>
        </p:txBody>
      </p:sp>
      <p:sp>
        <p:nvSpPr>
          <p:cNvPr id="15" name="Figure 5 label 14 line 1">
            <a:extLst xmlns:a="http://schemas.openxmlformats.org/drawingml/2006/main">
              <a:ext uri="{FF2B5EF4-FFF2-40B4-BE49-F238E27FC236}">
                <a16:creationId xmlns:a16="http://schemas.microsoft.com/office/drawing/2014/main" id="{D2395C05-E8CF-4901-928B-CC76BDB73F85}"/>
              </a:ext>
            </a:extLst>
          </p:cNvPr>
          <p:cNvSpPr>
            <a:spLocks xmlns:a="http://schemas.openxmlformats.org/drawingml/2006/main" noGrp="1"/>
          </p:cNvSpPr>
          <p:nvPr/>
        </p:nvSpPr>
        <p:spPr>
          <a:xfrm xmlns:a="http://schemas.openxmlformats.org/drawingml/2006/main" rot="0">
            <a:off x="10351656" y="3156519"/>
            <a:ext cx="109061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Recombinant</a:t>
            </a:r>
          </a:p>
        </p:txBody>
      </p:sp>
      <p:sp>
        <p:nvSpPr>
          <p:cNvPr id="16" name="Figure 5 label 15 line 1">
            <a:extLst xmlns:a="http://schemas.openxmlformats.org/drawingml/2006/main">
              <a:ext uri="{FF2B5EF4-FFF2-40B4-BE49-F238E27FC236}">
                <a16:creationId xmlns:a16="http://schemas.microsoft.com/office/drawing/2014/main" id="{9B86C916-73E6-4903-B1C2-93190AF01B3E}"/>
              </a:ext>
            </a:extLst>
          </p:cNvPr>
          <p:cNvSpPr>
            <a:spLocks xmlns:a="http://schemas.openxmlformats.org/drawingml/2006/main" noGrp="1"/>
          </p:cNvSpPr>
          <p:nvPr/>
        </p:nvSpPr>
        <p:spPr>
          <a:xfrm xmlns:a="http://schemas.openxmlformats.org/drawingml/2006/main" rot="0">
            <a:off x="10351656" y="3332900"/>
            <a:ext cx="70142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proteins</a:t>
            </a:r>
          </a:p>
        </p:txBody>
      </p:sp>
      <p:sp>
        <p:nvSpPr>
          <p:cNvPr id="17" name="Figure 5 label 16 line 1">
            <a:extLst xmlns:a="http://schemas.openxmlformats.org/drawingml/2006/main">
              <a:ext uri="{FF2B5EF4-FFF2-40B4-BE49-F238E27FC236}">
                <a16:creationId xmlns:a16="http://schemas.microsoft.com/office/drawing/2014/main" id="{E63BEA2E-F27A-4274-82D6-3496CD0EAA58}"/>
              </a:ext>
            </a:extLst>
          </p:cNvPr>
          <p:cNvSpPr>
            <a:spLocks xmlns:a="http://schemas.openxmlformats.org/drawingml/2006/main" noGrp="1"/>
          </p:cNvSpPr>
          <p:nvPr/>
        </p:nvSpPr>
        <p:spPr>
          <a:xfrm xmlns:a="http://schemas.openxmlformats.org/drawingml/2006/main" rot="0">
            <a:off x="8822779" y="2577748"/>
            <a:ext cx="80322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Chemical</a:t>
            </a:r>
          </a:p>
        </p:txBody>
      </p:sp>
      <p:sp>
        <p:nvSpPr>
          <p:cNvPr id="18" name="Figure 5 label 17 line 1">
            <a:extLst xmlns:a="http://schemas.openxmlformats.org/drawingml/2006/main">
              <a:ext uri="{FF2B5EF4-FFF2-40B4-BE49-F238E27FC236}">
                <a16:creationId xmlns:a16="http://schemas.microsoft.com/office/drawing/2014/main" id="{7B56CBE8-1079-4939-A08E-8D3BF156AFE3}"/>
              </a:ext>
            </a:extLst>
          </p:cNvPr>
          <p:cNvSpPr>
            <a:spLocks xmlns:a="http://schemas.openxmlformats.org/drawingml/2006/main" noGrp="1"/>
          </p:cNvSpPr>
          <p:nvPr/>
        </p:nvSpPr>
        <p:spPr>
          <a:xfrm xmlns:a="http://schemas.openxmlformats.org/drawingml/2006/main" rot="0">
            <a:off x="8822779" y="2754130"/>
            <a:ext cx="1201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building blocks</a:t>
            </a:r>
          </a:p>
        </p:txBody>
      </p:sp>
      <p:sp>
        <p:nvSpPr>
          <p:cNvPr id="19" name="Figure 5 label 18 line 1">
            <a:extLst xmlns:a="http://schemas.openxmlformats.org/drawingml/2006/main">
              <a:ext uri="{FF2B5EF4-FFF2-40B4-BE49-F238E27FC236}">
                <a16:creationId xmlns:a16="http://schemas.microsoft.com/office/drawing/2014/main" id="{FF66FBBC-9B88-41BA-A6AB-244CB7FA213A}"/>
              </a:ext>
            </a:extLst>
          </p:cNvPr>
          <p:cNvSpPr>
            <a:spLocks xmlns:a="http://schemas.openxmlformats.org/drawingml/2006/main" noGrp="1"/>
          </p:cNvSpPr>
          <p:nvPr/>
        </p:nvSpPr>
        <p:spPr>
          <a:xfrm xmlns:a="http://schemas.openxmlformats.org/drawingml/2006/main" rot="0">
            <a:off x="12366993" y="3431696"/>
            <a:ext cx="95160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Automation</a:t>
            </a:r>
          </a:p>
        </p:txBody>
      </p:sp>
      <p:sp>
        <p:nvSpPr>
          <p:cNvPr id="20" name="Figure 5 label 19 line 1">
            <a:extLst xmlns:a="http://schemas.openxmlformats.org/drawingml/2006/main">
              <a:ext uri="{FF2B5EF4-FFF2-40B4-BE49-F238E27FC236}">
                <a16:creationId xmlns:a16="http://schemas.microsoft.com/office/drawing/2014/main" id="{7295C85B-85B8-41D5-83C8-F660E9231A67}"/>
              </a:ext>
            </a:extLst>
          </p:cNvPr>
          <p:cNvSpPr>
            <a:spLocks xmlns:a="http://schemas.openxmlformats.org/drawingml/2006/main" noGrp="1"/>
          </p:cNvSpPr>
          <p:nvPr/>
        </p:nvSpPr>
        <p:spPr>
          <a:xfrm xmlns:a="http://schemas.openxmlformats.org/drawingml/2006/main" rot="0">
            <a:off x="12366993" y="3608077"/>
            <a:ext cx="95160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plates / tips</a:t>
            </a:r>
          </a:p>
        </p:txBody>
      </p:sp>
      <p:sp>
        <p:nvSpPr>
          <p:cNvPr id="21" name="Figure 5 label 20 line 1">
            <a:extLst xmlns:a="http://schemas.openxmlformats.org/drawingml/2006/main">
              <a:ext uri="{FF2B5EF4-FFF2-40B4-BE49-F238E27FC236}">
                <a16:creationId xmlns:a16="http://schemas.microsoft.com/office/drawing/2014/main" id="{6FEF5A26-30AC-485F-9BAE-152D64677B54}"/>
              </a:ext>
            </a:extLst>
          </p:cNvPr>
          <p:cNvSpPr>
            <a:spLocks xmlns:a="http://schemas.openxmlformats.org/drawingml/2006/main" noGrp="1"/>
          </p:cNvSpPr>
          <p:nvPr/>
        </p:nvSpPr>
        <p:spPr>
          <a:xfrm xmlns:a="http://schemas.openxmlformats.org/drawingml/2006/main" rot="0">
            <a:off x="6043003" y="6073398"/>
            <a:ext cx="69205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Generic</a:t>
            </a:r>
          </a:p>
        </p:txBody>
      </p:sp>
      <p:sp>
        <p:nvSpPr>
          <p:cNvPr id="22" name="Figure 5 label 21 line 1">
            <a:extLst xmlns:a="http://schemas.openxmlformats.org/drawingml/2006/main">
              <a:ext uri="{FF2B5EF4-FFF2-40B4-BE49-F238E27FC236}">
                <a16:creationId xmlns:a16="http://schemas.microsoft.com/office/drawing/2014/main" id="{3B114201-C813-4818-A7F1-8391EBFE596E}"/>
              </a:ext>
            </a:extLst>
          </p:cNvPr>
          <p:cNvSpPr>
            <a:spLocks xmlns:a="http://schemas.openxmlformats.org/drawingml/2006/main" noGrp="1"/>
          </p:cNvSpPr>
          <p:nvPr/>
        </p:nvSpPr>
        <p:spPr>
          <a:xfrm xmlns:a="http://schemas.openxmlformats.org/drawingml/2006/main" rot="0">
            <a:off x="6043003" y="6249779"/>
            <a:ext cx="121086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plastic labware</a:t>
            </a:r>
          </a:p>
        </p:txBody>
      </p:sp>
      <p:sp>
        <p:nvSpPr>
          <p:cNvPr id="23" name="Figure 5 label 22 line 1">
            <a:extLst xmlns:a="http://schemas.openxmlformats.org/drawingml/2006/main">
              <a:ext uri="{FF2B5EF4-FFF2-40B4-BE49-F238E27FC236}">
                <a16:creationId xmlns:a16="http://schemas.microsoft.com/office/drawing/2014/main" id="{63747BB5-C6A6-4511-85B2-04DB984AC331}"/>
              </a:ext>
            </a:extLst>
          </p:cNvPr>
          <p:cNvSpPr>
            <a:spLocks xmlns:a="http://schemas.openxmlformats.org/drawingml/2006/main" noGrp="1"/>
          </p:cNvSpPr>
          <p:nvPr/>
        </p:nvSpPr>
        <p:spPr>
          <a:xfrm xmlns:a="http://schemas.openxmlformats.org/drawingml/2006/main" rot="0">
            <a:off x="9517723" y="4724130"/>
            <a:ext cx="82182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Analytical</a:t>
            </a:r>
          </a:p>
        </p:txBody>
      </p:sp>
      <p:sp>
        <p:nvSpPr>
          <p:cNvPr id="24" name="Figure 5 label 23 line 1">
            <a:extLst xmlns:a="http://schemas.openxmlformats.org/drawingml/2006/main">
              <a:ext uri="{FF2B5EF4-FFF2-40B4-BE49-F238E27FC236}">
                <a16:creationId xmlns:a16="http://schemas.microsoft.com/office/drawing/2014/main" id="{B80BB4AA-5982-430B-9367-9E159EDC854B}"/>
              </a:ext>
            </a:extLst>
          </p:cNvPr>
          <p:cNvSpPr>
            <a:spLocks xmlns:a="http://schemas.openxmlformats.org/drawingml/2006/main" noGrp="1"/>
          </p:cNvSpPr>
          <p:nvPr/>
        </p:nvSpPr>
        <p:spPr>
          <a:xfrm xmlns:a="http://schemas.openxmlformats.org/drawingml/2006/main" rot="0">
            <a:off x="9517723" y="4902309"/>
            <a:ext cx="72910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columns</a:t>
            </a:r>
          </a:p>
        </p:txBody>
      </p:sp>
      <p:sp>
        <p:nvSpPr>
          <p:cNvPr id="25" name="Figure 5 label 24 line 1">
            <a:extLst xmlns:a="http://schemas.openxmlformats.org/drawingml/2006/main">
              <a:ext uri="{FF2B5EF4-FFF2-40B4-BE49-F238E27FC236}">
                <a16:creationId xmlns:a16="http://schemas.microsoft.com/office/drawing/2014/main" id="{0960B984-9DEB-4823-B6D3-92EB1FB20161}"/>
              </a:ext>
            </a:extLst>
          </p:cNvPr>
          <p:cNvSpPr>
            <a:spLocks xmlns:a="http://schemas.openxmlformats.org/drawingml/2006/main" noGrp="1"/>
          </p:cNvSpPr>
          <p:nvPr/>
        </p:nvSpPr>
        <p:spPr>
          <a:xfrm xmlns:a="http://schemas.openxmlformats.org/drawingml/2006/main" rot="0">
            <a:off x="11741544" y="5963444"/>
            <a:ext cx="116472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Manufacturing</a:t>
            </a:r>
          </a:p>
        </p:txBody>
      </p:sp>
      <p:sp>
        <p:nvSpPr>
          <p:cNvPr id="26" name="Figure 5 label 25 line 1">
            <a:extLst xmlns:a="http://schemas.openxmlformats.org/drawingml/2006/main">
              <a:ext uri="{FF2B5EF4-FFF2-40B4-BE49-F238E27FC236}">
                <a16:creationId xmlns:a16="http://schemas.microsoft.com/office/drawing/2014/main" id="{0D1CDA02-A97F-45DA-B802-3C7097E85BB7}"/>
              </a:ext>
            </a:extLst>
          </p:cNvPr>
          <p:cNvSpPr>
            <a:spLocks xmlns:a="http://schemas.openxmlformats.org/drawingml/2006/main" noGrp="1"/>
          </p:cNvSpPr>
          <p:nvPr/>
        </p:nvSpPr>
        <p:spPr>
          <a:xfrm xmlns:a="http://schemas.openxmlformats.org/drawingml/2006/main" rot="0">
            <a:off x="11741544" y="6141622"/>
            <a:ext cx="55304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resins</a:t>
            </a:r>
          </a:p>
        </p:txBody>
      </p:sp>
      <p:sp>
        <p:nvSpPr>
          <p:cNvPr id="27" name="Figure 5 label 26 line 1">
            <a:extLst xmlns:a="http://schemas.openxmlformats.org/drawingml/2006/main">
              <a:ext uri="{FF2B5EF4-FFF2-40B4-BE49-F238E27FC236}">
                <a16:creationId xmlns:a16="http://schemas.microsoft.com/office/drawing/2014/main" id="{71711A6F-06AA-47E3-AAD6-28DE10C2230E}"/>
              </a:ext>
            </a:extLst>
          </p:cNvPr>
          <p:cNvSpPr>
            <a:spLocks xmlns:a="http://schemas.openxmlformats.org/drawingml/2006/main" noGrp="1"/>
          </p:cNvSpPr>
          <p:nvPr/>
        </p:nvSpPr>
        <p:spPr>
          <a:xfrm xmlns:a="http://schemas.openxmlformats.org/drawingml/2006/main" rot="0">
            <a:off x="6529464" y="3982168"/>
            <a:ext cx="98896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Sequencing</a:t>
            </a:r>
          </a:p>
        </p:txBody>
      </p:sp>
      <p:sp>
        <p:nvSpPr>
          <p:cNvPr id="28" name="Figure 5 label 27 line 1">
            <a:extLst xmlns:a="http://schemas.openxmlformats.org/drawingml/2006/main">
              <a:ext uri="{FF2B5EF4-FFF2-40B4-BE49-F238E27FC236}">
                <a16:creationId xmlns:a16="http://schemas.microsoft.com/office/drawing/2014/main" id="{4713767B-D502-476A-9EA0-05C2D49D1495}"/>
              </a:ext>
            </a:extLst>
          </p:cNvPr>
          <p:cNvSpPr>
            <a:spLocks xmlns:a="http://schemas.openxmlformats.org/drawingml/2006/main" noGrp="1"/>
          </p:cNvSpPr>
          <p:nvPr/>
        </p:nvSpPr>
        <p:spPr>
          <a:xfrm xmlns:a="http://schemas.openxmlformats.org/drawingml/2006/main" rot="0">
            <a:off x="6529464" y="4160347"/>
            <a:ext cx="46047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tools</a:t>
            </a:r>
          </a:p>
        </p:txBody>
      </p:sp>
      <p:sp>
        <p:nvSpPr>
          <p:cNvPr id="29" name="Figure 5 label 28 line 1">
            <a:extLst xmlns:a="http://schemas.openxmlformats.org/drawingml/2006/main">
              <a:ext uri="{FF2B5EF4-FFF2-40B4-BE49-F238E27FC236}">
                <a16:creationId xmlns:a16="http://schemas.microsoft.com/office/drawing/2014/main" id="{F3B6B565-B935-4FEA-87D4-F12FA0CA0FDA}"/>
              </a:ext>
            </a:extLst>
          </p:cNvPr>
          <p:cNvSpPr>
            <a:spLocks xmlns:a="http://schemas.openxmlformats.org/drawingml/2006/main" noGrp="1"/>
          </p:cNvSpPr>
          <p:nvPr/>
        </p:nvSpPr>
        <p:spPr>
          <a:xfrm xmlns:a="http://schemas.openxmlformats.org/drawingml/2006/main" rot="0">
            <a:off x="5973509" y="3376661"/>
            <a:ext cx="553343"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Liquid</a:t>
            </a:r>
          </a:p>
        </p:txBody>
      </p:sp>
      <p:sp>
        <p:nvSpPr>
          <p:cNvPr id="30" name="Figure 5 label 29 line 1">
            <a:extLst xmlns:a="http://schemas.openxmlformats.org/drawingml/2006/main">
              <a:ext uri="{FF2B5EF4-FFF2-40B4-BE49-F238E27FC236}">
                <a16:creationId xmlns:a16="http://schemas.microsoft.com/office/drawing/2014/main" id="{129BCEFC-2E79-456A-87DE-5BC1979ED14A}"/>
              </a:ext>
            </a:extLst>
          </p:cNvPr>
          <p:cNvSpPr>
            <a:spLocks xmlns:a="http://schemas.openxmlformats.org/drawingml/2006/main" noGrp="1"/>
          </p:cNvSpPr>
          <p:nvPr/>
        </p:nvSpPr>
        <p:spPr>
          <a:xfrm xmlns:a="http://schemas.openxmlformats.org/drawingml/2006/main" rot="0">
            <a:off x="5973509" y="3553042"/>
            <a:ext cx="74786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handlers</a:t>
            </a:r>
          </a:p>
        </p:txBody>
      </p:sp>
      <p:sp>
        <p:nvSpPr>
          <p:cNvPr id="31" name="Figure 5 label 30 line 1">
            <a:extLst xmlns:a="http://schemas.openxmlformats.org/drawingml/2006/main">
              <a:ext uri="{FF2B5EF4-FFF2-40B4-BE49-F238E27FC236}">
                <a16:creationId xmlns:a16="http://schemas.microsoft.com/office/drawing/2014/main" id="{E743A705-BDD7-4A16-84F9-22AB82277779}"/>
              </a:ext>
            </a:extLst>
          </p:cNvPr>
          <p:cNvSpPr>
            <a:spLocks xmlns:a="http://schemas.openxmlformats.org/drawingml/2006/main" noGrp="1"/>
          </p:cNvSpPr>
          <p:nvPr/>
        </p:nvSpPr>
        <p:spPr>
          <a:xfrm xmlns:a="http://schemas.openxmlformats.org/drawingml/2006/main" rot="0">
            <a:off x="991870" y="421920"/>
            <a:ext cx="7253040"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05  Which tools have more demand elasticity?</a:t>
            </a:r>
          </a:p>
        </p:txBody>
      </p:sp>
      <p:sp>
        <p:nvSpPr>
          <p:cNvPr id="32" name="Figure 5 label 31 line 1">
            <a:extLst xmlns:a="http://schemas.openxmlformats.org/drawingml/2006/main">
              <a:ext uri="{FF2B5EF4-FFF2-40B4-BE49-F238E27FC236}">
                <a16:creationId xmlns:a16="http://schemas.microsoft.com/office/drawing/2014/main" id="{1F9E3C1D-B48F-4A70-ACA7-1E47D6C54B23}"/>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HYPOTHESIS</a:t>
            </a:r>
          </a:p>
        </p:txBody>
      </p:sp>
      <p:sp>
        <p:nvSpPr>
          <p:cNvPr id="33" name="Figure 5 label 32 line 1">
            <a:extLst xmlns:a="http://schemas.openxmlformats.org/drawingml/2006/main">
              <a:ext uri="{FF2B5EF4-FFF2-40B4-BE49-F238E27FC236}">
                <a16:creationId xmlns:a16="http://schemas.microsoft.com/office/drawing/2014/main" id="{959E21AE-FAC9-4763-A56F-35CE43D257E9}"/>
              </a:ext>
            </a:extLst>
          </p:cNvPr>
          <p:cNvSpPr>
            <a:spLocks xmlns:a="http://schemas.openxmlformats.org/drawingml/2006/main" noGrp="1"/>
          </p:cNvSpPr>
          <p:nvPr/>
        </p:nvSpPr>
        <p:spPr>
          <a:xfrm xmlns:a="http://schemas.openxmlformats.org/drawingml/2006/main" rot="0">
            <a:off x="998220" y="1248326"/>
            <a:ext cx="880675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Positions and bubble areas are qualitative research judgments, not measured scores or additive TAMs.</a:t>
            </a:r>
          </a:p>
        </p:txBody>
      </p:sp>
      <p:sp>
        <p:nvSpPr>
          <p:cNvPr id="34" name="Figure 5 label 33 line 1">
            <a:extLst xmlns:a="http://schemas.openxmlformats.org/drawingml/2006/main">
              <a:ext uri="{FF2B5EF4-FFF2-40B4-BE49-F238E27FC236}">
                <a16:creationId xmlns:a16="http://schemas.microsoft.com/office/drawing/2014/main" id="{1DC8D052-67D2-46BE-8829-0EAD325E51BC}"/>
              </a:ext>
            </a:extLst>
          </p:cNvPr>
          <p:cNvSpPr>
            <a:spLocks xmlns:a="http://schemas.openxmlformats.org/drawingml/2006/main" noGrp="1"/>
          </p:cNvSpPr>
          <p:nvPr/>
        </p:nvSpPr>
        <p:spPr>
          <a:xfrm xmlns:a="http://schemas.openxmlformats.org/drawingml/2006/main" rot="0">
            <a:off x="999173" y="9256035"/>
            <a:ext cx="864170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Small-molecule synthesis can fall per project. Modality, assay depth, unit use and funded projects determine orders.</a:t>
            </a:r>
          </a:p>
        </p:txBody>
      </p:sp>
      <p:sp>
        <p:nvSpPr>
          <p:cNvPr id="35" name="Figure 5 label 34 line 1">
            <a:extLst xmlns:a="http://schemas.openxmlformats.org/drawingml/2006/main">
              <a:ext uri="{FF2B5EF4-FFF2-40B4-BE49-F238E27FC236}">
                <a16:creationId xmlns:a16="http://schemas.microsoft.com/office/drawing/2014/main" id="{83A936AC-625E-4D25-AB16-5F90B2C476D1}"/>
              </a:ext>
            </a:extLst>
          </p:cNvPr>
          <p:cNvSpPr>
            <a:spLocks xmlns:a="http://schemas.openxmlformats.org/drawingml/2006/main" noGrp="1"/>
          </p:cNvSpPr>
          <p:nvPr/>
        </p:nvSpPr>
        <p:spPr>
          <a:xfrm xmlns:a="http://schemas.openxmlformats.org/drawingml/2006/main" rot="0">
            <a:off x="1000316" y="9675546"/>
            <a:ext cx="6173569"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analyst assumptions. Edit positions and relative areas in data.json.</a:t>
            </a:r>
          </a:p>
        </p:txBody>
      </p:sp>
      <p:sp>
        <p:nvSpPr>
          <p:cNvPr id="36" name="Figure 5 label 35 line 1">
            <a:extLst xmlns:a="http://schemas.openxmlformats.org/drawingml/2006/main">
              <a:ext uri="{FF2B5EF4-FFF2-40B4-BE49-F238E27FC236}">
                <a16:creationId xmlns:a16="http://schemas.microsoft.com/office/drawing/2014/main" id="{8CB8D52A-EB5D-40E8-8956-6EF3DAAFC2CD}"/>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37" name="Figure 5 label 36 line 1">
            <a:extLst xmlns:a="http://schemas.openxmlformats.org/drawingml/2006/main">
              <a:ext uri="{FF2B5EF4-FFF2-40B4-BE49-F238E27FC236}">
                <a16:creationId xmlns:a16="http://schemas.microsoft.com/office/drawing/2014/main" id="{0D753AB3-DF99-481E-AAB9-C5047E61D40A}"/>
              </a:ext>
            </a:extLst>
          </p:cNvPr>
          <p:cNvSpPr>
            <a:spLocks xmlns:a="http://schemas.openxmlformats.org/drawingml/2006/main" noGrp="1"/>
          </p:cNvSpPr>
          <p:nvPr/>
        </p:nvSpPr>
        <p:spPr>
          <a:xfrm xmlns:a="http://schemas.openxmlformats.org/drawingml/2006/main" rot="0">
            <a:off x="15812135" y="3271220"/>
            <a:ext cx="1055142"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Bubble area</a:t>
            </a:r>
          </a:p>
        </p:txBody>
      </p:sp>
      <p:sp>
        <p:nvSpPr>
          <p:cNvPr id="38" name="Figure 5 label 37 line 1">
            <a:extLst xmlns:a="http://schemas.openxmlformats.org/drawingml/2006/main">
              <a:ext uri="{FF2B5EF4-FFF2-40B4-BE49-F238E27FC236}">
                <a16:creationId xmlns:a16="http://schemas.microsoft.com/office/drawing/2014/main" id="{21C4F41B-42A4-4506-8F9B-1AE3A54EE642}"/>
              </a:ext>
            </a:extLst>
          </p:cNvPr>
          <p:cNvSpPr>
            <a:spLocks xmlns:a="http://schemas.openxmlformats.org/drawingml/2006/main" noGrp="1"/>
          </p:cNvSpPr>
          <p:nvPr/>
        </p:nvSpPr>
        <p:spPr>
          <a:xfrm xmlns:a="http://schemas.openxmlformats.org/drawingml/2006/main" rot="0">
            <a:off x="15812325" y="3764919"/>
            <a:ext cx="1611491"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Relative opportunity</a:t>
            </a:r>
          </a:p>
        </p:txBody>
      </p:sp>
      <p:sp>
        <p:nvSpPr>
          <p:cNvPr id="39" name="Figure 5 label 38 line 1">
            <a:extLst xmlns:a="http://schemas.openxmlformats.org/drawingml/2006/main">
              <a:ext uri="{FF2B5EF4-FFF2-40B4-BE49-F238E27FC236}">
                <a16:creationId xmlns:a16="http://schemas.microsoft.com/office/drawing/2014/main" id="{8048FA6A-97F5-46BD-BED2-B388A4DE7238}"/>
              </a:ext>
            </a:extLst>
          </p:cNvPr>
          <p:cNvSpPr>
            <a:spLocks xmlns:a="http://schemas.openxmlformats.org/drawingml/2006/main" noGrp="1"/>
          </p:cNvSpPr>
          <p:nvPr/>
        </p:nvSpPr>
        <p:spPr>
          <a:xfrm xmlns:a="http://schemas.openxmlformats.org/drawingml/2006/main" rot="0">
            <a:off x="15812325" y="4007283"/>
            <a:ext cx="1205488"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illustration; not</a:t>
            </a:r>
          </a:p>
        </p:txBody>
      </p:sp>
      <p:sp>
        <p:nvSpPr>
          <p:cNvPr id="40" name="Figure 5 label 39 line 1">
            <a:extLst xmlns:a="http://schemas.openxmlformats.org/drawingml/2006/main">
              <a:ext uri="{FF2B5EF4-FFF2-40B4-BE49-F238E27FC236}">
                <a16:creationId xmlns:a16="http://schemas.microsoft.com/office/drawing/2014/main" id="{88AE3BEB-58FD-42B5-95DC-ECB1E15B998D}"/>
              </a:ext>
            </a:extLst>
          </p:cNvPr>
          <p:cNvSpPr>
            <a:spLocks xmlns:a="http://schemas.openxmlformats.org/drawingml/2006/main" noGrp="1"/>
          </p:cNvSpPr>
          <p:nvPr/>
        </p:nvSpPr>
        <p:spPr>
          <a:xfrm xmlns:a="http://schemas.openxmlformats.org/drawingml/2006/main" rot="0">
            <a:off x="15812325" y="4247817"/>
            <a:ext cx="1271419"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measured TAM</a:t>
            </a:r>
          </a:p>
        </p:txBody>
      </p:sp>
      <p:sp>
        <p:nvSpPr>
          <p:cNvPr id="41" name="Figure 5 label 40 line 1">
            <a:extLst xmlns:a="http://schemas.openxmlformats.org/drawingml/2006/main">
              <a:ext uri="{FF2B5EF4-FFF2-40B4-BE49-F238E27FC236}">
                <a16:creationId xmlns:a16="http://schemas.microsoft.com/office/drawing/2014/main" id="{DCF44DA8-9277-4091-AEBC-4B5D731305AB}"/>
              </a:ext>
            </a:extLst>
          </p:cNvPr>
          <p:cNvSpPr>
            <a:spLocks xmlns:a="http://schemas.openxmlformats.org/drawingml/2006/main" noGrp="1"/>
          </p:cNvSpPr>
          <p:nvPr/>
        </p:nvSpPr>
        <p:spPr>
          <a:xfrm xmlns:a="http://schemas.openxmlformats.org/drawingml/2006/main" rot="0">
            <a:off x="15812325" y="6254373"/>
            <a:ext cx="1469807"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Potential elasticity</a:t>
            </a:r>
          </a:p>
        </p:txBody>
      </p:sp>
      <p:sp>
        <p:nvSpPr>
          <p:cNvPr id="42" name="Figure 5 label 41 line 1">
            <a:extLst xmlns:a="http://schemas.openxmlformats.org/drawingml/2006/main">
              <a:ext uri="{FF2B5EF4-FFF2-40B4-BE49-F238E27FC236}">
                <a16:creationId xmlns:a16="http://schemas.microsoft.com/office/drawing/2014/main" id="{9A2437A2-40A3-44D6-B8D6-C5ECE5B6E111}"/>
              </a:ext>
            </a:extLst>
          </p:cNvPr>
          <p:cNvSpPr>
            <a:spLocks xmlns:a="http://schemas.openxmlformats.org/drawingml/2006/main" noGrp="1"/>
          </p:cNvSpPr>
          <p:nvPr/>
        </p:nvSpPr>
        <p:spPr>
          <a:xfrm xmlns:a="http://schemas.openxmlformats.org/drawingml/2006/main" rot="0">
            <a:off x="15812325" y="6496737"/>
            <a:ext cx="1602413"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needs paid demand</a:t>
            </a:r>
          </a:p>
        </p:txBody>
      </p:sp>
      <p:sp>
        <p:nvSpPr>
          <p:cNvPr id="43" name="Figure 5 label 42 line 1">
            <a:extLst xmlns:a="http://schemas.openxmlformats.org/drawingml/2006/main">
              <a:ext uri="{FF2B5EF4-FFF2-40B4-BE49-F238E27FC236}">
                <a16:creationId xmlns:a16="http://schemas.microsoft.com/office/drawing/2014/main" id="{28D41FFE-E9D1-4814-9EB7-BD536C0BF678}"/>
              </a:ext>
            </a:extLst>
          </p:cNvPr>
          <p:cNvSpPr>
            <a:spLocks xmlns:a="http://schemas.openxmlformats.org/drawingml/2006/main" noGrp="1"/>
          </p:cNvSpPr>
          <p:nvPr/>
        </p:nvSpPr>
        <p:spPr>
          <a:xfrm xmlns:a="http://schemas.openxmlformats.org/drawingml/2006/main" rot="0">
            <a:off x="15812325" y="6737270"/>
            <a:ext cx="1451203"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and repeat orders</a:t>
            </a:r>
          </a:p>
        </p:txBody>
      </p:sp>
    </p:spTree>
    <p:extLst>
      <p:ext uri="{BB962C8B-B14F-4D97-AF65-F5344CB8AC3E}">
        <p14:creationId xmlns:p14="http://schemas.microsoft.com/office/powerpoint/2010/main" val="7339537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2" name="">
            <a:extLst xmlns:a="http://schemas.openxmlformats.org/drawingml/2006/main">
              <a:ext uri="{FF2B5EF4-FFF2-40B4-BE49-F238E27FC236}">
                <a16:creationId xmlns:a16="http://schemas.microsoft.com/office/drawing/2014/main" id="{5C0AA266-6C24-4143-B515-FDF88DD5191C}"/>
              </a:ext>
            </a:extLst>
          </p:cNvPr>
          <p:cNvPicPr>
            <a:picLocks xmlns:a="http://schemas.openxmlformats.org/drawingml/2006/main" noChangeAspect="1"/>
          </p:cNvPicPr>
          <p:nvPr/>
        </p:nvPicPr>
        <p:blipFill>
          <a:blip xmlns:r="http://schemas.openxmlformats.org/officeDocument/2006/relationships" xmlns:a="http://schemas.openxmlformats.org/drawingml/2006/main" r:embed="Re9fe230639ad439a"/>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6 label 1 line 1">
            <a:extLst xmlns:a="http://schemas.openxmlformats.org/drawingml/2006/main">
              <a:ext uri="{FF2B5EF4-FFF2-40B4-BE49-F238E27FC236}">
                <a16:creationId xmlns:a16="http://schemas.microsoft.com/office/drawing/2014/main" id="{533C06AA-E81B-453A-89CC-8D7DC049E5B4}"/>
              </a:ext>
            </a:extLst>
          </p:cNvPr>
          <p:cNvSpPr>
            <a:spLocks xmlns:a="http://schemas.openxmlformats.org/drawingml/2006/main" noGrp="1"/>
          </p:cNvSpPr>
          <p:nvPr/>
        </p:nvSpPr>
        <p:spPr>
          <a:xfrm xmlns:a="http://schemas.openxmlformats.org/drawingml/2006/main" rot="0">
            <a:off x="1961036" y="7564586"/>
            <a:ext cx="151120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Reagent volume</a:t>
            </a:r>
          </a:p>
        </p:txBody>
      </p:sp>
      <p:sp>
        <p:nvSpPr>
          <p:cNvPr id="3" name="Figure 6 label 2 line 1">
            <a:extLst xmlns:a="http://schemas.openxmlformats.org/drawingml/2006/main">
              <a:ext uri="{FF2B5EF4-FFF2-40B4-BE49-F238E27FC236}">
                <a16:creationId xmlns:a16="http://schemas.microsoft.com/office/drawing/2014/main" id="{C444DDCA-91BB-467A-9C55-31DFF829C422}"/>
              </a:ext>
            </a:extLst>
          </p:cNvPr>
          <p:cNvSpPr>
            <a:spLocks xmlns:a="http://schemas.openxmlformats.org/drawingml/2006/main" noGrp="1"/>
          </p:cNvSpPr>
          <p:nvPr/>
        </p:nvSpPr>
        <p:spPr>
          <a:xfrm xmlns:a="http://schemas.openxmlformats.org/drawingml/2006/main" rot="0">
            <a:off x="4490665" y="7564586"/>
            <a:ext cx="107706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Plate count</a:t>
            </a:r>
          </a:p>
        </p:txBody>
      </p:sp>
      <p:sp>
        <p:nvSpPr>
          <p:cNvPr id="4" name="Figure 6 label 3 line 1">
            <a:extLst xmlns:a="http://schemas.openxmlformats.org/drawingml/2006/main">
              <a:ext uri="{FF2B5EF4-FFF2-40B4-BE49-F238E27FC236}">
                <a16:creationId xmlns:a16="http://schemas.microsoft.com/office/drawing/2014/main" id="{124170BB-894B-4722-BD3B-CBB77835BDF6}"/>
              </a:ext>
            </a:extLst>
          </p:cNvPr>
          <p:cNvSpPr>
            <a:spLocks xmlns:a="http://schemas.openxmlformats.org/drawingml/2006/main" noGrp="1"/>
          </p:cNvSpPr>
          <p:nvPr/>
        </p:nvSpPr>
        <p:spPr>
          <a:xfrm xmlns:a="http://schemas.openxmlformats.org/drawingml/2006/main" rot="0">
            <a:off x="6888061" y="7564586"/>
            <a:ext cx="90740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Tip count</a:t>
            </a:r>
          </a:p>
        </p:txBody>
      </p:sp>
      <p:sp>
        <p:nvSpPr>
          <p:cNvPr id="5" name="Figure 6 label 4 line 1">
            <a:extLst xmlns:a="http://schemas.openxmlformats.org/drawingml/2006/main">
              <a:ext uri="{FF2B5EF4-FFF2-40B4-BE49-F238E27FC236}">
                <a16:creationId xmlns:a16="http://schemas.microsoft.com/office/drawing/2014/main" id="{F049AC47-BAD4-491D-84DF-4AC554056694}"/>
              </a:ext>
            </a:extLst>
          </p:cNvPr>
          <p:cNvSpPr>
            <a:spLocks xmlns:a="http://schemas.openxmlformats.org/drawingml/2006/main" noGrp="1"/>
          </p:cNvSpPr>
          <p:nvPr/>
        </p:nvSpPr>
        <p:spPr>
          <a:xfrm xmlns:a="http://schemas.openxmlformats.org/drawingml/2006/main" rot="0">
            <a:off x="1257379" y="7337658"/>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6" name="Figure 6 label 5 line 1">
            <a:extLst xmlns:a="http://schemas.openxmlformats.org/drawingml/2006/main">
              <a:ext uri="{FF2B5EF4-FFF2-40B4-BE49-F238E27FC236}">
                <a16:creationId xmlns:a16="http://schemas.microsoft.com/office/drawing/2014/main" id="{C4C51BAA-048E-4FFB-8482-36A98E2E627F}"/>
              </a:ext>
            </a:extLst>
          </p:cNvPr>
          <p:cNvSpPr>
            <a:spLocks xmlns:a="http://schemas.openxmlformats.org/drawingml/2006/main" noGrp="1"/>
          </p:cNvSpPr>
          <p:nvPr/>
        </p:nvSpPr>
        <p:spPr>
          <a:xfrm xmlns:a="http://schemas.openxmlformats.org/drawingml/2006/main" rot="0">
            <a:off x="1151414" y="6802734"/>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a:t>
            </a:r>
          </a:p>
        </p:txBody>
      </p:sp>
      <p:sp>
        <p:nvSpPr>
          <p:cNvPr id="7" name="Figure 6 label 6 line 1">
            <a:extLst xmlns:a="http://schemas.openxmlformats.org/drawingml/2006/main">
              <a:ext uri="{FF2B5EF4-FFF2-40B4-BE49-F238E27FC236}">
                <a16:creationId xmlns:a16="http://schemas.microsoft.com/office/drawing/2014/main" id="{06FF4F93-E16A-4DE1-9DC1-4527B00342C9}"/>
              </a:ext>
            </a:extLst>
          </p:cNvPr>
          <p:cNvSpPr>
            <a:spLocks xmlns:a="http://schemas.openxmlformats.org/drawingml/2006/main" noGrp="1"/>
          </p:cNvSpPr>
          <p:nvPr/>
        </p:nvSpPr>
        <p:spPr>
          <a:xfrm xmlns:a="http://schemas.openxmlformats.org/drawingml/2006/main" rot="0">
            <a:off x="1151414" y="6267810"/>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40</a:t>
            </a:r>
          </a:p>
        </p:txBody>
      </p:sp>
      <p:sp>
        <p:nvSpPr>
          <p:cNvPr id="8" name="Figure 6 label 7 line 1">
            <a:extLst xmlns:a="http://schemas.openxmlformats.org/drawingml/2006/main">
              <a:ext uri="{FF2B5EF4-FFF2-40B4-BE49-F238E27FC236}">
                <a16:creationId xmlns:a16="http://schemas.microsoft.com/office/drawing/2014/main" id="{32E3CA25-EC92-40DF-B22C-D9186BD29BE0}"/>
              </a:ext>
            </a:extLst>
          </p:cNvPr>
          <p:cNvSpPr>
            <a:spLocks xmlns:a="http://schemas.openxmlformats.org/drawingml/2006/main" noGrp="1"/>
          </p:cNvSpPr>
          <p:nvPr/>
        </p:nvSpPr>
        <p:spPr>
          <a:xfrm xmlns:a="http://schemas.openxmlformats.org/drawingml/2006/main" rot="0">
            <a:off x="1151414" y="5732886"/>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60</a:t>
            </a:r>
          </a:p>
        </p:txBody>
      </p:sp>
      <p:sp>
        <p:nvSpPr>
          <p:cNvPr id="9" name="Figure 6 label 8 line 1">
            <a:extLst xmlns:a="http://schemas.openxmlformats.org/drawingml/2006/main">
              <a:ext uri="{FF2B5EF4-FFF2-40B4-BE49-F238E27FC236}">
                <a16:creationId xmlns:a16="http://schemas.microsoft.com/office/drawing/2014/main" id="{840FA642-A7EB-4A9A-BF4A-FD84669D9B30}"/>
              </a:ext>
            </a:extLst>
          </p:cNvPr>
          <p:cNvSpPr>
            <a:spLocks xmlns:a="http://schemas.openxmlformats.org/drawingml/2006/main" noGrp="1"/>
          </p:cNvSpPr>
          <p:nvPr/>
        </p:nvSpPr>
        <p:spPr>
          <a:xfrm xmlns:a="http://schemas.openxmlformats.org/drawingml/2006/main" rot="0">
            <a:off x="1151414" y="5197962"/>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80</a:t>
            </a:r>
          </a:p>
        </p:txBody>
      </p:sp>
      <p:sp>
        <p:nvSpPr>
          <p:cNvPr id="10" name="Figure 6 label 9 line 1">
            <a:extLst xmlns:a="http://schemas.openxmlformats.org/drawingml/2006/main">
              <a:ext uri="{FF2B5EF4-FFF2-40B4-BE49-F238E27FC236}">
                <a16:creationId xmlns:a16="http://schemas.microsoft.com/office/drawing/2014/main" id="{00799E87-901A-45D9-84A7-15317E29F90A}"/>
              </a:ext>
            </a:extLst>
          </p:cNvPr>
          <p:cNvSpPr>
            <a:spLocks xmlns:a="http://schemas.openxmlformats.org/drawingml/2006/main" noGrp="1"/>
          </p:cNvSpPr>
          <p:nvPr/>
        </p:nvSpPr>
        <p:spPr>
          <a:xfrm xmlns:a="http://schemas.openxmlformats.org/drawingml/2006/main" rot="0">
            <a:off x="1045448" y="4663038"/>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100</a:t>
            </a:r>
          </a:p>
        </p:txBody>
      </p:sp>
      <p:sp>
        <p:nvSpPr>
          <p:cNvPr id="11" name="Figure 6 label 10 line 1">
            <a:extLst xmlns:a="http://schemas.openxmlformats.org/drawingml/2006/main">
              <a:ext uri="{FF2B5EF4-FFF2-40B4-BE49-F238E27FC236}">
                <a16:creationId xmlns:a16="http://schemas.microsoft.com/office/drawing/2014/main" id="{9545ED9D-FD93-4306-96E1-2B69BCB599A9}"/>
              </a:ext>
            </a:extLst>
          </p:cNvPr>
          <p:cNvSpPr>
            <a:spLocks xmlns:a="http://schemas.openxmlformats.org/drawingml/2006/main" noGrp="1"/>
          </p:cNvSpPr>
          <p:nvPr/>
        </p:nvSpPr>
        <p:spPr>
          <a:xfrm xmlns:a="http://schemas.openxmlformats.org/drawingml/2006/main" rot="0">
            <a:off x="1045448" y="4128114"/>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120</a:t>
            </a:r>
          </a:p>
        </p:txBody>
      </p:sp>
      <p:sp>
        <p:nvSpPr>
          <p:cNvPr id="12" name="Figure 6 label 11 line 1">
            <a:extLst xmlns:a="http://schemas.openxmlformats.org/drawingml/2006/main">
              <a:ext uri="{FF2B5EF4-FFF2-40B4-BE49-F238E27FC236}">
                <a16:creationId xmlns:a16="http://schemas.microsoft.com/office/drawing/2014/main" id="{D50C1C17-89FA-47A4-88EB-0F73E4B5ED61}"/>
              </a:ext>
            </a:extLst>
          </p:cNvPr>
          <p:cNvSpPr>
            <a:spLocks xmlns:a="http://schemas.openxmlformats.org/drawingml/2006/main" noGrp="1"/>
          </p:cNvSpPr>
          <p:nvPr/>
        </p:nvSpPr>
        <p:spPr>
          <a:xfrm xmlns:a="http://schemas.openxmlformats.org/drawingml/2006/main" rot="0">
            <a:off x="1045448" y="3593190"/>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140</a:t>
            </a:r>
          </a:p>
        </p:txBody>
      </p:sp>
      <p:sp>
        <p:nvSpPr>
          <p:cNvPr id="13" name="Figure 6 label 12 line 1">
            <a:extLst xmlns:a="http://schemas.openxmlformats.org/drawingml/2006/main">
              <a:ext uri="{FF2B5EF4-FFF2-40B4-BE49-F238E27FC236}">
                <a16:creationId xmlns:a16="http://schemas.microsoft.com/office/drawing/2014/main" id="{9B1AB241-9019-4347-917F-9973E9E45C4D}"/>
              </a:ext>
            </a:extLst>
          </p:cNvPr>
          <p:cNvSpPr>
            <a:spLocks xmlns:a="http://schemas.openxmlformats.org/drawingml/2006/main" noGrp="1"/>
          </p:cNvSpPr>
          <p:nvPr/>
        </p:nvSpPr>
        <p:spPr>
          <a:xfrm xmlns:a="http://schemas.openxmlformats.org/drawingml/2006/main" rot="16200000">
            <a:off x="354057" y="5304472"/>
            <a:ext cx="134168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Quantity index</a:t>
            </a:r>
          </a:p>
        </p:txBody>
      </p:sp>
      <p:sp>
        <p:nvSpPr>
          <p:cNvPr id="14" name="Figure 6 label 13 line 1">
            <a:extLst xmlns:a="http://schemas.openxmlformats.org/drawingml/2006/main">
              <a:ext uri="{FF2B5EF4-FFF2-40B4-BE49-F238E27FC236}">
                <a16:creationId xmlns:a16="http://schemas.microsoft.com/office/drawing/2014/main" id="{2A74F4FB-3012-4D70-8A86-213204C8CDEC}"/>
              </a:ext>
            </a:extLst>
          </p:cNvPr>
          <p:cNvSpPr>
            <a:spLocks xmlns:a="http://schemas.openxmlformats.org/drawingml/2006/main" noGrp="1"/>
          </p:cNvSpPr>
          <p:nvPr/>
        </p:nvSpPr>
        <p:spPr>
          <a:xfrm xmlns:a="http://schemas.openxmlformats.org/drawingml/2006/main" rot="0">
            <a:off x="2800582" y="5765178"/>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50.0</a:t>
            </a:r>
          </a:p>
        </p:txBody>
      </p:sp>
      <p:sp>
        <p:nvSpPr>
          <p:cNvPr id="15" name="Figure 6 label 14 line 1">
            <a:extLst xmlns:a="http://schemas.openxmlformats.org/drawingml/2006/main">
              <a:ext uri="{FF2B5EF4-FFF2-40B4-BE49-F238E27FC236}">
                <a16:creationId xmlns:a16="http://schemas.microsoft.com/office/drawing/2014/main" id="{249E058E-BA47-4667-A061-5BC076AD0865}"/>
              </a:ext>
            </a:extLst>
          </p:cNvPr>
          <p:cNvSpPr>
            <a:spLocks xmlns:a="http://schemas.openxmlformats.org/drawingml/2006/main" noGrp="1"/>
          </p:cNvSpPr>
          <p:nvPr/>
        </p:nvSpPr>
        <p:spPr>
          <a:xfrm xmlns:a="http://schemas.openxmlformats.org/drawingml/2006/main" rot="0">
            <a:off x="5113145" y="5428925"/>
            <a:ext cx="618381"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62.6</a:t>
            </a:r>
          </a:p>
        </p:txBody>
      </p:sp>
      <p:sp>
        <p:nvSpPr>
          <p:cNvPr id="16" name="Figure 6 label 15 line 1">
            <a:extLst xmlns:a="http://schemas.openxmlformats.org/drawingml/2006/main">
              <a:ext uri="{FF2B5EF4-FFF2-40B4-BE49-F238E27FC236}">
                <a16:creationId xmlns:a16="http://schemas.microsoft.com/office/drawing/2014/main" id="{FE747CFF-B9B5-422E-ACFC-EBE868011462}"/>
              </a:ext>
            </a:extLst>
          </p:cNvPr>
          <p:cNvSpPr>
            <a:spLocks xmlns:a="http://schemas.openxmlformats.org/drawingml/2006/main" noGrp="1"/>
          </p:cNvSpPr>
          <p:nvPr/>
        </p:nvSpPr>
        <p:spPr>
          <a:xfrm xmlns:a="http://schemas.openxmlformats.org/drawingml/2006/main" rot="0">
            <a:off x="7359555" y="4427868"/>
            <a:ext cx="750689"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0">
                <a:solidFill>
                  <a:srgbClr val="00355F"/>
                </a:solidFill>
                <a:latin typeface="Arial Unicode MS"/>
                <a:ea typeface="Arial Unicode MS"/>
                <a:cs typeface="Arial Unicode MS"/>
              </a:defRPr>
            </a:pPr>
            <a:r>
              <a:rPr sz="1875" b="0">
                <a:solidFill>
                  <a:srgbClr val="00355F"/>
                </a:solidFill>
                <a:latin typeface="Arial Unicode MS"/>
                <a:ea typeface="Arial Unicode MS"/>
                <a:cs typeface="Arial Unicode MS"/>
              </a:rPr>
              <a:t>100.0</a:t>
            </a:r>
          </a:p>
        </p:txBody>
      </p:sp>
      <p:sp>
        <p:nvSpPr>
          <p:cNvPr id="17" name="Figure 6 label 16 line 1">
            <a:extLst xmlns:a="http://schemas.openxmlformats.org/drawingml/2006/main">
              <a:ext uri="{FF2B5EF4-FFF2-40B4-BE49-F238E27FC236}">
                <a16:creationId xmlns:a16="http://schemas.microsoft.com/office/drawing/2014/main" id="{B96D8483-5DDC-4E1C-A3D9-6A06B5C1EE05}"/>
              </a:ext>
            </a:extLst>
          </p:cNvPr>
          <p:cNvSpPr>
            <a:spLocks xmlns:a="http://schemas.openxmlformats.org/drawingml/2006/main" noGrp="1"/>
          </p:cNvSpPr>
          <p:nvPr/>
        </p:nvSpPr>
        <p:spPr>
          <a:xfrm xmlns:a="http://schemas.openxmlformats.org/drawingml/2006/main" rot="0">
            <a:off x="4041526" y="2935288"/>
            <a:ext cx="1975346"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0">
                <a:solidFill>
                  <a:srgbClr val="00355F"/>
                </a:solidFill>
                <a:latin typeface="Arial Unicode MS"/>
                <a:ea typeface="Arial Unicode MS"/>
                <a:cs typeface="Arial Unicode MS"/>
              </a:defRPr>
            </a:pPr>
            <a:r>
              <a:rPr sz="2125" b="0">
                <a:solidFill>
                  <a:srgbClr val="00355F"/>
                </a:solidFill>
                <a:latin typeface="Arial Unicode MS"/>
                <a:ea typeface="Arial Unicode MS"/>
                <a:cs typeface="Arial Unicode MS"/>
              </a:rPr>
              <a:t>Physical inputs</a:t>
            </a:r>
          </a:p>
        </p:txBody>
      </p:sp>
      <p:sp>
        <p:nvSpPr>
          <p:cNvPr id="18" name="Figure 6 label 17 line 1">
            <a:extLst xmlns:a="http://schemas.openxmlformats.org/drawingml/2006/main">
              <a:ext uri="{FF2B5EF4-FFF2-40B4-BE49-F238E27FC236}">
                <a16:creationId xmlns:a16="http://schemas.microsoft.com/office/drawing/2014/main" id="{F68927C4-86AC-4E07-9505-6773F2F17101}"/>
              </a:ext>
            </a:extLst>
          </p:cNvPr>
          <p:cNvSpPr>
            <a:spLocks xmlns:a="http://schemas.openxmlformats.org/drawingml/2006/main" noGrp="1"/>
          </p:cNvSpPr>
          <p:nvPr/>
        </p:nvSpPr>
        <p:spPr>
          <a:xfrm xmlns:a="http://schemas.openxmlformats.org/drawingml/2006/main" rot="0">
            <a:off x="7208560" y="3554060"/>
            <a:ext cx="1157635" cy="1984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250" b="0">
                <a:solidFill>
                  <a:srgbClr val="00355F"/>
                </a:solidFill>
                <a:latin typeface="Arial Unicode MS"/>
                <a:ea typeface="Arial Unicode MS"/>
                <a:cs typeface="Arial Unicode MS"/>
              </a:defRPr>
            </a:pPr>
            <a:r>
              <a:rPr sz="1250" b="0">
                <a:solidFill>
                  <a:srgbClr val="00355F"/>
                </a:solidFill>
                <a:latin typeface="Arial Unicode MS"/>
                <a:ea typeface="Arial Unicode MS"/>
                <a:cs typeface="Arial Unicode MS"/>
              </a:rPr>
              <a:t>Baseline = 100</a:t>
            </a:r>
          </a:p>
        </p:txBody>
      </p:sp>
      <p:sp>
        <p:nvSpPr>
          <p:cNvPr id="19" name="Figure 6 label 18 line 1">
            <a:extLst xmlns:a="http://schemas.openxmlformats.org/drawingml/2006/main">
              <a:ext uri="{FF2B5EF4-FFF2-40B4-BE49-F238E27FC236}">
                <a16:creationId xmlns:a16="http://schemas.microsoft.com/office/drawing/2014/main" id="{D8EC9582-ED11-419B-8D3F-13F35A94EB84}"/>
              </a:ext>
            </a:extLst>
          </p:cNvPr>
          <p:cNvSpPr>
            <a:spLocks xmlns:a="http://schemas.openxmlformats.org/drawingml/2006/main" noGrp="1"/>
          </p:cNvSpPr>
          <p:nvPr/>
        </p:nvSpPr>
        <p:spPr>
          <a:xfrm xmlns:a="http://schemas.openxmlformats.org/drawingml/2006/main" rot="0">
            <a:off x="7208560" y="3778692"/>
            <a:ext cx="751632" cy="1984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250" b="0">
                <a:solidFill>
                  <a:srgbClr val="00355F"/>
                </a:solidFill>
                <a:latin typeface="Arial Unicode MS"/>
                <a:ea typeface="Arial Unicode MS"/>
                <a:cs typeface="Arial Unicode MS"/>
              </a:defRPr>
            </a:pPr>
            <a:r>
              <a:rPr sz="1250" b="0">
                <a:solidFill>
                  <a:srgbClr val="00355F"/>
                </a:solidFill>
                <a:latin typeface="Arial Unicode MS"/>
                <a:ea typeface="Arial Unicode MS"/>
                <a:cs typeface="Arial Unicode MS"/>
              </a:rPr>
              <a:t>10× tests</a:t>
            </a:r>
          </a:p>
        </p:txBody>
      </p:sp>
      <p:sp>
        <p:nvSpPr>
          <p:cNvPr id="20" name="Figure 6 label 19 line 1">
            <a:extLst xmlns:a="http://schemas.openxmlformats.org/drawingml/2006/main">
              <a:ext uri="{FF2B5EF4-FFF2-40B4-BE49-F238E27FC236}">
                <a16:creationId xmlns:a16="http://schemas.microsoft.com/office/drawing/2014/main" id="{F199CA87-6DD0-4214-B3DD-FF2EE838DEDE}"/>
              </a:ext>
            </a:extLst>
          </p:cNvPr>
          <p:cNvSpPr>
            <a:spLocks xmlns:a="http://schemas.openxmlformats.org/drawingml/2006/main" noGrp="1"/>
          </p:cNvSpPr>
          <p:nvPr/>
        </p:nvSpPr>
        <p:spPr>
          <a:xfrm xmlns:a="http://schemas.openxmlformats.org/drawingml/2006/main" rot="0">
            <a:off x="10651444" y="7566908"/>
            <a:ext cx="12412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 plate ASP</a:t>
            </a:r>
          </a:p>
        </p:txBody>
      </p:sp>
      <p:sp>
        <p:nvSpPr>
          <p:cNvPr id="21" name="Figure 6 label 20 line 1">
            <a:extLst xmlns:a="http://schemas.openxmlformats.org/drawingml/2006/main">
              <a:ext uri="{FF2B5EF4-FFF2-40B4-BE49-F238E27FC236}">
                <a16:creationId xmlns:a16="http://schemas.microsoft.com/office/drawing/2014/main" id="{123C54A0-9FDE-442A-A1C7-904C3A7C5E9A}"/>
              </a:ext>
            </a:extLst>
          </p:cNvPr>
          <p:cNvSpPr>
            <a:spLocks xmlns:a="http://schemas.openxmlformats.org/drawingml/2006/main" noGrp="1"/>
          </p:cNvSpPr>
          <p:nvPr/>
        </p:nvSpPr>
        <p:spPr>
          <a:xfrm xmlns:a="http://schemas.openxmlformats.org/drawingml/2006/main" rot="0">
            <a:off x="12912507" y="7566908"/>
            <a:ext cx="12412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 plate ASP</a:t>
            </a:r>
          </a:p>
        </p:txBody>
      </p:sp>
      <p:sp>
        <p:nvSpPr>
          <p:cNvPr id="22" name="Figure 6 label 21 line 1">
            <a:extLst xmlns:a="http://schemas.openxmlformats.org/drawingml/2006/main">
              <a:ext uri="{FF2B5EF4-FFF2-40B4-BE49-F238E27FC236}">
                <a16:creationId xmlns:a16="http://schemas.microsoft.com/office/drawing/2014/main" id="{D1FF2AE9-70B8-431E-92E6-150F756F75DE}"/>
              </a:ext>
            </a:extLst>
          </p:cNvPr>
          <p:cNvSpPr>
            <a:spLocks xmlns:a="http://schemas.openxmlformats.org/drawingml/2006/main" noGrp="1"/>
          </p:cNvSpPr>
          <p:nvPr/>
        </p:nvSpPr>
        <p:spPr>
          <a:xfrm xmlns:a="http://schemas.openxmlformats.org/drawingml/2006/main" rot="0">
            <a:off x="15173569" y="7566908"/>
            <a:ext cx="124122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 plate ASP</a:t>
            </a:r>
          </a:p>
        </p:txBody>
      </p:sp>
      <p:sp>
        <p:nvSpPr>
          <p:cNvPr id="23" name="Figure 6 label 22 line 1">
            <a:extLst xmlns:a="http://schemas.openxmlformats.org/drawingml/2006/main">
              <a:ext uri="{FF2B5EF4-FFF2-40B4-BE49-F238E27FC236}">
                <a16:creationId xmlns:a16="http://schemas.microsoft.com/office/drawing/2014/main" id="{E617C682-80FF-4006-A665-BE7540742DCC}"/>
              </a:ext>
            </a:extLst>
          </p:cNvPr>
          <p:cNvSpPr>
            <a:spLocks xmlns:a="http://schemas.openxmlformats.org/drawingml/2006/main" noGrp="1"/>
          </p:cNvSpPr>
          <p:nvPr/>
        </p:nvSpPr>
        <p:spPr>
          <a:xfrm xmlns:a="http://schemas.openxmlformats.org/drawingml/2006/main" rot="0">
            <a:off x="10035619" y="7337658"/>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24" name="Figure 6 label 23 line 1">
            <a:extLst xmlns:a="http://schemas.openxmlformats.org/drawingml/2006/main">
              <a:ext uri="{FF2B5EF4-FFF2-40B4-BE49-F238E27FC236}">
                <a16:creationId xmlns:a16="http://schemas.microsoft.com/office/drawing/2014/main" id="{CF007D2A-58CE-44F1-972C-0E1DB923EF5D}"/>
              </a:ext>
            </a:extLst>
          </p:cNvPr>
          <p:cNvSpPr>
            <a:spLocks xmlns:a="http://schemas.openxmlformats.org/drawingml/2006/main" noGrp="1"/>
          </p:cNvSpPr>
          <p:nvPr/>
        </p:nvSpPr>
        <p:spPr>
          <a:xfrm xmlns:a="http://schemas.openxmlformats.org/drawingml/2006/main" rot="0">
            <a:off x="9929653" y="6645946"/>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50</a:t>
            </a:r>
          </a:p>
        </p:txBody>
      </p:sp>
      <p:sp>
        <p:nvSpPr>
          <p:cNvPr id="25" name="Figure 6 label 24 line 1">
            <a:extLst xmlns:a="http://schemas.openxmlformats.org/drawingml/2006/main">
              <a:ext uri="{FF2B5EF4-FFF2-40B4-BE49-F238E27FC236}">
                <a16:creationId xmlns:a16="http://schemas.microsoft.com/office/drawing/2014/main" id="{6642BB07-923D-4372-AF07-31F4CBA8CE94}"/>
              </a:ext>
            </a:extLst>
          </p:cNvPr>
          <p:cNvSpPr>
            <a:spLocks xmlns:a="http://schemas.openxmlformats.org/drawingml/2006/main" noGrp="1"/>
          </p:cNvSpPr>
          <p:nvPr/>
        </p:nvSpPr>
        <p:spPr>
          <a:xfrm xmlns:a="http://schemas.openxmlformats.org/drawingml/2006/main" rot="0">
            <a:off x="9823688" y="5954234"/>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100</a:t>
            </a:r>
          </a:p>
        </p:txBody>
      </p:sp>
      <p:sp>
        <p:nvSpPr>
          <p:cNvPr id="26" name="Figure 6 label 25 line 1">
            <a:extLst xmlns:a="http://schemas.openxmlformats.org/drawingml/2006/main">
              <a:ext uri="{FF2B5EF4-FFF2-40B4-BE49-F238E27FC236}">
                <a16:creationId xmlns:a16="http://schemas.microsoft.com/office/drawing/2014/main" id="{604B2026-8F25-4418-8B46-EFCA1ED97761}"/>
              </a:ext>
            </a:extLst>
          </p:cNvPr>
          <p:cNvSpPr>
            <a:spLocks xmlns:a="http://schemas.openxmlformats.org/drawingml/2006/main" noGrp="1"/>
          </p:cNvSpPr>
          <p:nvPr/>
        </p:nvSpPr>
        <p:spPr>
          <a:xfrm xmlns:a="http://schemas.openxmlformats.org/drawingml/2006/main" rot="0">
            <a:off x="9823688" y="5262522"/>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150</a:t>
            </a:r>
          </a:p>
        </p:txBody>
      </p:sp>
      <p:sp>
        <p:nvSpPr>
          <p:cNvPr id="27" name="Figure 6 label 26 line 1">
            <a:extLst xmlns:a="http://schemas.openxmlformats.org/drawingml/2006/main">
              <a:ext uri="{FF2B5EF4-FFF2-40B4-BE49-F238E27FC236}">
                <a16:creationId xmlns:a16="http://schemas.microsoft.com/office/drawing/2014/main" id="{4D8DE3F6-C496-4F8C-A577-83988DCA60D6}"/>
              </a:ext>
            </a:extLst>
          </p:cNvPr>
          <p:cNvSpPr>
            <a:spLocks xmlns:a="http://schemas.openxmlformats.org/drawingml/2006/main" noGrp="1"/>
          </p:cNvSpPr>
          <p:nvPr/>
        </p:nvSpPr>
        <p:spPr>
          <a:xfrm xmlns:a="http://schemas.openxmlformats.org/drawingml/2006/main" rot="0">
            <a:off x="9823688" y="4570810"/>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200</a:t>
            </a:r>
          </a:p>
        </p:txBody>
      </p:sp>
      <p:sp>
        <p:nvSpPr>
          <p:cNvPr id="28" name="Figure 6 label 27 line 1">
            <a:extLst xmlns:a="http://schemas.openxmlformats.org/drawingml/2006/main">
              <a:ext uri="{FF2B5EF4-FFF2-40B4-BE49-F238E27FC236}">
                <a16:creationId xmlns:a16="http://schemas.microsoft.com/office/drawing/2014/main" id="{BF6D3764-9F5A-4CBE-AFE0-F3BDC8F50FC6}"/>
              </a:ext>
            </a:extLst>
          </p:cNvPr>
          <p:cNvSpPr>
            <a:spLocks xmlns:a="http://schemas.openxmlformats.org/drawingml/2006/main" noGrp="1"/>
          </p:cNvSpPr>
          <p:nvPr/>
        </p:nvSpPr>
        <p:spPr>
          <a:xfrm xmlns:a="http://schemas.openxmlformats.org/drawingml/2006/main" rot="0">
            <a:off x="9823688" y="3879098"/>
            <a:ext cx="4417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250</a:t>
            </a:r>
          </a:p>
        </p:txBody>
      </p:sp>
      <p:sp>
        <p:nvSpPr>
          <p:cNvPr id="29" name="Figure 6 label 28 line 1">
            <a:extLst xmlns:a="http://schemas.openxmlformats.org/drawingml/2006/main">
              <a:ext uri="{FF2B5EF4-FFF2-40B4-BE49-F238E27FC236}">
                <a16:creationId xmlns:a16="http://schemas.microsoft.com/office/drawing/2014/main" id="{8508030A-C35A-4026-8314-2A4A9D919464}"/>
              </a:ext>
            </a:extLst>
          </p:cNvPr>
          <p:cNvSpPr>
            <a:spLocks xmlns:a="http://schemas.openxmlformats.org/drawingml/2006/main" noGrp="1"/>
          </p:cNvSpPr>
          <p:nvPr/>
        </p:nvSpPr>
        <p:spPr>
          <a:xfrm xmlns:a="http://schemas.openxmlformats.org/drawingml/2006/main" rot="16200000">
            <a:off x="8985969" y="5304473"/>
            <a:ext cx="16384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Plate spend index</a:t>
            </a:r>
          </a:p>
        </p:txBody>
      </p:sp>
      <p:sp>
        <p:nvSpPr>
          <p:cNvPr id="30" name="Figure 6 label 29 line 1">
            <a:extLst xmlns:a="http://schemas.openxmlformats.org/drawingml/2006/main">
              <a:ext uri="{FF2B5EF4-FFF2-40B4-BE49-F238E27FC236}">
                <a16:creationId xmlns:a16="http://schemas.microsoft.com/office/drawing/2014/main" id="{52E458CB-931C-45DE-98A0-5610B513F110}"/>
              </a:ext>
            </a:extLst>
          </p:cNvPr>
          <p:cNvSpPr>
            <a:spLocks xmlns:a="http://schemas.openxmlformats.org/drawingml/2006/main" noGrp="1"/>
          </p:cNvSpPr>
          <p:nvPr/>
        </p:nvSpPr>
        <p:spPr>
          <a:xfrm xmlns:a="http://schemas.openxmlformats.org/drawingml/2006/main" rot="0">
            <a:off x="10921741" y="6220826"/>
            <a:ext cx="700633"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62.6</a:t>
            </a:r>
          </a:p>
        </p:txBody>
      </p:sp>
      <p:sp>
        <p:nvSpPr>
          <p:cNvPr id="31" name="Figure 6 label 30 line 1">
            <a:extLst xmlns:a="http://schemas.openxmlformats.org/drawingml/2006/main">
              <a:ext uri="{FF2B5EF4-FFF2-40B4-BE49-F238E27FC236}">
                <a16:creationId xmlns:a16="http://schemas.microsoft.com/office/drawing/2014/main" id="{5C4A7D36-B6AB-4A67-A621-657CCEE07AEA}"/>
              </a:ext>
            </a:extLst>
          </p:cNvPr>
          <p:cNvSpPr>
            <a:spLocks xmlns:a="http://schemas.openxmlformats.org/drawingml/2006/main" noGrp="1"/>
          </p:cNvSpPr>
          <p:nvPr/>
        </p:nvSpPr>
        <p:spPr>
          <a:xfrm xmlns:a="http://schemas.openxmlformats.org/drawingml/2006/main" rot="0">
            <a:off x="13107720" y="5355190"/>
            <a:ext cx="850801"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125.1</a:t>
            </a:r>
          </a:p>
        </p:txBody>
      </p:sp>
      <p:sp>
        <p:nvSpPr>
          <p:cNvPr id="32" name="Figure 6 label 31 line 1">
            <a:extLst xmlns:a="http://schemas.openxmlformats.org/drawingml/2006/main">
              <a:ext uri="{FF2B5EF4-FFF2-40B4-BE49-F238E27FC236}">
                <a16:creationId xmlns:a16="http://schemas.microsoft.com/office/drawing/2014/main" id="{2BF94DA0-ABF4-407A-9D24-0573F6DEB11A}"/>
              </a:ext>
            </a:extLst>
          </p:cNvPr>
          <p:cNvSpPr>
            <a:spLocks xmlns:a="http://schemas.openxmlformats.org/drawingml/2006/main" noGrp="1"/>
          </p:cNvSpPr>
          <p:nvPr/>
        </p:nvSpPr>
        <p:spPr>
          <a:xfrm xmlns:a="http://schemas.openxmlformats.org/drawingml/2006/main" rot="0">
            <a:off x="15368782" y="3623919"/>
            <a:ext cx="850801"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250.3</a:t>
            </a:r>
          </a:p>
        </p:txBody>
      </p:sp>
      <p:sp>
        <p:nvSpPr>
          <p:cNvPr id="33" name="Figure 6 label 32 line 1">
            <a:extLst xmlns:a="http://schemas.openxmlformats.org/drawingml/2006/main">
              <a:ext uri="{FF2B5EF4-FFF2-40B4-BE49-F238E27FC236}">
                <a16:creationId xmlns:a16="http://schemas.microsoft.com/office/drawing/2014/main" id="{91F89966-A918-4AE0-8DE2-1EF5FE2F0122}"/>
              </a:ext>
            </a:extLst>
          </p:cNvPr>
          <p:cNvSpPr>
            <a:spLocks xmlns:a="http://schemas.openxmlformats.org/drawingml/2006/main" noGrp="1"/>
          </p:cNvSpPr>
          <p:nvPr/>
        </p:nvSpPr>
        <p:spPr>
          <a:xfrm xmlns:a="http://schemas.openxmlformats.org/drawingml/2006/main" rot="0">
            <a:off x="11788135" y="2935288"/>
            <a:ext cx="3489970"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0">
                <a:solidFill>
                  <a:srgbClr val="00355F"/>
                </a:solidFill>
                <a:latin typeface="Arial Unicode MS"/>
                <a:ea typeface="Arial Unicode MS"/>
                <a:cs typeface="Arial Unicode MS"/>
              </a:defRPr>
            </a:pPr>
            <a:r>
              <a:rPr sz="2125" b="0">
                <a:solidFill>
                  <a:srgbClr val="00355F"/>
                </a:solidFill>
                <a:latin typeface="Arial Unicode MS"/>
                <a:ea typeface="Arial Unicode MS"/>
                <a:cs typeface="Arial Unicode MS"/>
              </a:rPr>
              <a:t>Fewer plates can cost more</a:t>
            </a:r>
          </a:p>
        </p:txBody>
      </p:sp>
      <p:sp>
        <p:nvSpPr>
          <p:cNvPr id="34" name="Figure 6 label 33 line 1">
            <a:extLst xmlns:a="http://schemas.openxmlformats.org/drawingml/2006/main">
              <a:ext uri="{FF2B5EF4-FFF2-40B4-BE49-F238E27FC236}">
                <a16:creationId xmlns:a16="http://schemas.microsoft.com/office/drawing/2014/main" id="{3985FD5F-4779-4A44-95CA-77C2EF277053}"/>
              </a:ext>
            </a:extLst>
          </p:cNvPr>
          <p:cNvSpPr>
            <a:spLocks xmlns:a="http://schemas.openxmlformats.org/drawingml/2006/main" noGrp="1"/>
          </p:cNvSpPr>
          <p:nvPr/>
        </p:nvSpPr>
        <p:spPr>
          <a:xfrm xmlns:a="http://schemas.openxmlformats.org/drawingml/2006/main" rot="0">
            <a:off x="991870" y="423803"/>
            <a:ext cx="6709817"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06  Quantities and prices in miniaturization</a:t>
            </a:r>
          </a:p>
        </p:txBody>
      </p:sp>
      <p:sp>
        <p:nvSpPr>
          <p:cNvPr id="35" name="Figure 6 label 34 line 1">
            <a:extLst xmlns:a="http://schemas.openxmlformats.org/drawingml/2006/main">
              <a:ext uri="{FF2B5EF4-FFF2-40B4-BE49-F238E27FC236}">
                <a16:creationId xmlns:a16="http://schemas.microsoft.com/office/drawing/2014/main" id="{8222D3FC-900A-42DD-814A-BB0D498888B2}"/>
              </a:ext>
            </a:extLst>
          </p:cNvPr>
          <p:cNvSpPr>
            <a:spLocks xmlns:a="http://schemas.openxmlformats.org/drawingml/2006/main" noGrp="1"/>
          </p:cNvSpPr>
          <p:nvPr/>
        </p:nvSpPr>
        <p:spPr>
          <a:xfrm xmlns:a="http://schemas.openxmlformats.org/drawingml/2006/main" rot="0">
            <a:off x="15720740" y="661601"/>
            <a:ext cx="1019721"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SENSITIVITY</a:t>
            </a:r>
          </a:p>
        </p:txBody>
      </p:sp>
      <p:sp>
        <p:nvSpPr>
          <p:cNvPr id="36" name="Figure 6 label 35 line 1">
            <a:extLst xmlns:a="http://schemas.openxmlformats.org/drawingml/2006/main">
              <a:ext uri="{FF2B5EF4-FFF2-40B4-BE49-F238E27FC236}">
                <a16:creationId xmlns:a16="http://schemas.microsoft.com/office/drawing/2014/main" id="{DFECD49A-7C29-4CE3-9E52-4115A5FA51F6}"/>
              </a:ext>
            </a:extLst>
          </p:cNvPr>
          <p:cNvSpPr>
            <a:spLocks xmlns:a="http://schemas.openxmlformats.org/drawingml/2006/main" noGrp="1"/>
          </p:cNvSpPr>
          <p:nvPr/>
        </p:nvSpPr>
        <p:spPr>
          <a:xfrm xmlns:a="http://schemas.openxmlformats.org/drawingml/2006/main" rot="0">
            <a:off x="998220" y="1248653"/>
            <a:ext cx="74521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 tests: 10 L → 5 L reagent; 1,042 → 652 plates; 100k → 100k tips. Full usable plates.</a:t>
            </a:r>
          </a:p>
        </p:txBody>
      </p:sp>
      <p:sp>
        <p:nvSpPr>
          <p:cNvPr id="37" name="Figure 6 label 36 line 1">
            <a:extLst xmlns:a="http://schemas.openxmlformats.org/drawingml/2006/main">
              <a:ext uri="{FF2B5EF4-FFF2-40B4-BE49-F238E27FC236}">
                <a16:creationId xmlns:a16="http://schemas.microsoft.com/office/drawing/2014/main" id="{3998A6AD-6264-4BA6-8932-0839F5075089}"/>
              </a:ext>
            </a:extLst>
          </p:cNvPr>
          <p:cNvSpPr>
            <a:spLocks xmlns:a="http://schemas.openxmlformats.org/drawingml/2006/main" noGrp="1"/>
          </p:cNvSpPr>
          <p:nvPr/>
        </p:nvSpPr>
        <p:spPr>
          <a:xfrm xmlns:a="http://schemas.openxmlformats.org/drawingml/2006/main" rot="0">
            <a:off x="999173" y="9256035"/>
            <a:ext cx="9114681"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Price ratios are analyst inputs, not quoted ASPs. Dead volume, controls, usable wells and retesting can change quantities.</a:t>
            </a:r>
          </a:p>
        </p:txBody>
      </p:sp>
      <p:sp>
        <p:nvSpPr>
          <p:cNvPr id="38" name="Figure 6 label 37 line 1">
            <a:extLst xmlns:a="http://schemas.openxmlformats.org/drawingml/2006/main">
              <a:ext uri="{FF2B5EF4-FFF2-40B4-BE49-F238E27FC236}">
                <a16:creationId xmlns:a16="http://schemas.microsoft.com/office/drawing/2014/main" id="{CE314C02-5689-4775-B565-C9B239AE941B}"/>
              </a:ext>
            </a:extLst>
          </p:cNvPr>
          <p:cNvSpPr>
            <a:spLocks xmlns:a="http://schemas.openxmlformats.org/drawingml/2006/main" noGrp="1"/>
          </p:cNvSpPr>
          <p:nvPr/>
        </p:nvSpPr>
        <p:spPr>
          <a:xfrm xmlns:a="http://schemas.openxmlformats.org/drawingml/2006/main" rot="0">
            <a:off x="1000316" y="9676290"/>
            <a:ext cx="7147054"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transparent arithmetic from supplied test volumes and well counts. Units and sensitivities in SOURCES.md.</a:t>
            </a:r>
          </a:p>
        </p:txBody>
      </p:sp>
      <p:sp>
        <p:nvSpPr>
          <p:cNvPr id="39" name="Figure 6 label 38 line 1">
            <a:extLst xmlns:a="http://schemas.openxmlformats.org/drawingml/2006/main">
              <a:ext uri="{FF2B5EF4-FFF2-40B4-BE49-F238E27FC236}">
                <a16:creationId xmlns:a16="http://schemas.microsoft.com/office/drawing/2014/main" id="{A77B81F1-A087-48BC-BA9F-24FA300218D3}"/>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40" name="Figure 6 label 39 line 1">
            <a:extLst xmlns:a="http://schemas.openxmlformats.org/drawingml/2006/main">
              <a:ext uri="{FF2B5EF4-FFF2-40B4-BE49-F238E27FC236}">
                <a16:creationId xmlns:a16="http://schemas.microsoft.com/office/drawing/2014/main" id="{1C511B06-B7CF-43A0-85EE-57983EBC85DE}"/>
              </a:ext>
            </a:extLst>
          </p:cNvPr>
          <p:cNvSpPr>
            <a:spLocks xmlns:a="http://schemas.openxmlformats.org/drawingml/2006/main" noGrp="1"/>
          </p:cNvSpPr>
          <p:nvPr/>
        </p:nvSpPr>
        <p:spPr>
          <a:xfrm xmlns:a="http://schemas.openxmlformats.org/drawingml/2006/main" rot="0">
            <a:off x="6060803" y="2357719"/>
            <a:ext cx="6166396"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250" b="1">
                <a:solidFill>
                  <a:srgbClr val="00355F"/>
                </a:solidFill>
                <a:latin typeface="Arial Unicode MS"/>
                <a:ea typeface="Arial Unicode MS"/>
                <a:cs typeface="Arial Unicode MS"/>
              </a:defRPr>
            </a:pPr>
            <a:r>
              <a:rPr sz="2250" b="1">
                <a:solidFill>
                  <a:srgbClr val="00355F"/>
                </a:solidFill>
                <a:latin typeface="Arial Unicode MS"/>
                <a:ea typeface="Arial Unicode MS"/>
                <a:cs typeface="Arial Unicode MS"/>
              </a:rPr>
              <a:t>Quantities × net unit prices determine spending</a:t>
            </a:r>
          </a:p>
        </p:txBody>
      </p:sp>
      <p:sp>
        <p:nvSpPr>
          <p:cNvPr id="41" name="Figure 6 label 40 line 1">
            <a:extLst xmlns:a="http://schemas.openxmlformats.org/drawingml/2006/main">
              <a:ext uri="{FF2B5EF4-FFF2-40B4-BE49-F238E27FC236}">
                <a16:creationId xmlns:a16="http://schemas.microsoft.com/office/drawing/2014/main" id="{7A7B0330-FAD6-414B-9A98-34B7FD78C286}"/>
              </a:ext>
            </a:extLst>
          </p:cNvPr>
          <p:cNvSpPr>
            <a:spLocks xmlns:a="http://schemas.openxmlformats.org/drawingml/2006/main" noGrp="1"/>
          </p:cNvSpPr>
          <p:nvPr/>
        </p:nvSpPr>
        <p:spPr>
          <a:xfrm xmlns:a="http://schemas.openxmlformats.org/drawingml/2006/main" rot="0">
            <a:off x="4859635" y="8329783"/>
            <a:ext cx="8568730" cy="337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2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125" b="1">
                <a:solidFill>
                  <a:srgbClr val="00355F"/>
                </a:solidFill>
                <a:latin typeface="Arial Unicode MS"/>
                <a:ea typeface="Arial Unicode MS"/>
                <a:cs typeface="Arial Unicode MS"/>
              </a:defRPr>
            </a:pPr>
            <a:r>
              <a:rPr sz="2125" b="1">
                <a:solidFill>
                  <a:srgbClr val="00355F"/>
                </a:solidFill>
                <a:latin typeface="Arial Unicode MS"/>
                <a:ea typeface="Arial Unicode MS"/>
                <a:cs typeface="Arial Unicode MS"/>
              </a:rPr>
              <a:t>Plate spending exceeds baseline if the plate ASP ratio is above 1.60×.</a:t>
            </a:r>
          </a:p>
        </p:txBody>
      </p:sp>
    </p:spTree>
    <p:extLst>
      <p:ext uri="{BB962C8B-B14F-4D97-AF65-F5344CB8AC3E}">
        <p14:creationId xmlns:p14="http://schemas.microsoft.com/office/powerpoint/2010/main" val="19763983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7" name="">
            <a:extLst xmlns:a="http://schemas.openxmlformats.org/drawingml/2006/main">
              <a:ext uri="{FF2B5EF4-FFF2-40B4-BE49-F238E27FC236}">
                <a16:creationId xmlns:a16="http://schemas.microsoft.com/office/drawing/2014/main" id="{6BA8A9E7-3DE5-4DEA-AE95-60BD92F1471B}"/>
              </a:ext>
            </a:extLst>
          </p:cNvPr>
          <p:cNvPicPr>
            <a:picLocks xmlns:a="http://schemas.openxmlformats.org/drawingml/2006/main" noChangeAspect="1"/>
          </p:cNvPicPr>
          <p:nvPr/>
        </p:nvPicPr>
        <p:blipFill>
          <a:blip xmlns:r="http://schemas.openxmlformats.org/officeDocument/2006/relationships" xmlns:a="http://schemas.openxmlformats.org/drawingml/2006/main" r:embed="R9b9e7c677e8d466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7 label 1 line 1">
            <a:extLst xmlns:a="http://schemas.openxmlformats.org/drawingml/2006/main">
              <a:ext uri="{FF2B5EF4-FFF2-40B4-BE49-F238E27FC236}">
                <a16:creationId xmlns:a16="http://schemas.microsoft.com/office/drawing/2014/main" id="{A704ECC0-7CCD-4478-841E-220491F83A3B}"/>
              </a:ext>
            </a:extLst>
          </p:cNvPr>
          <p:cNvSpPr>
            <a:spLocks xmlns:a="http://schemas.openxmlformats.org/drawingml/2006/main" noGrp="1"/>
          </p:cNvSpPr>
          <p:nvPr/>
        </p:nvSpPr>
        <p:spPr>
          <a:xfrm xmlns:a="http://schemas.openxmlformats.org/drawingml/2006/main" rot="0">
            <a:off x="2388045" y="7790563"/>
            <a:ext cx="1841401"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US$50bn total funding</a:t>
            </a:r>
          </a:p>
        </p:txBody>
      </p:sp>
      <p:sp>
        <p:nvSpPr>
          <p:cNvPr id="3" name="Figure 7 label 2 line 1">
            <a:extLst xmlns:a="http://schemas.openxmlformats.org/drawingml/2006/main">
              <a:ext uri="{FF2B5EF4-FFF2-40B4-BE49-F238E27FC236}">
                <a16:creationId xmlns:a16="http://schemas.microsoft.com/office/drawing/2014/main" id="{B6E107E2-74B2-4D19-A268-09AFA84FB1B0}"/>
              </a:ext>
            </a:extLst>
          </p:cNvPr>
          <p:cNvSpPr>
            <a:spLocks xmlns:a="http://schemas.openxmlformats.org/drawingml/2006/main" noGrp="1"/>
          </p:cNvSpPr>
          <p:nvPr/>
        </p:nvSpPr>
        <p:spPr>
          <a:xfrm xmlns:a="http://schemas.openxmlformats.org/drawingml/2006/main" rot="0">
            <a:off x="5888708" y="7790563"/>
            <a:ext cx="193858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US$100bn total funding</a:t>
            </a:r>
          </a:p>
        </p:txBody>
      </p:sp>
      <p:sp>
        <p:nvSpPr>
          <p:cNvPr id="4" name="Figure 7 label 3 line 1">
            <a:extLst xmlns:a="http://schemas.openxmlformats.org/drawingml/2006/main">
              <a:ext uri="{FF2B5EF4-FFF2-40B4-BE49-F238E27FC236}">
                <a16:creationId xmlns:a16="http://schemas.microsoft.com/office/drawing/2014/main" id="{207D6783-3CC5-4428-BC7B-F1F376370B65}"/>
              </a:ext>
            </a:extLst>
          </p:cNvPr>
          <p:cNvSpPr>
            <a:spLocks xmlns:a="http://schemas.openxmlformats.org/drawingml/2006/main" noGrp="1"/>
          </p:cNvSpPr>
          <p:nvPr/>
        </p:nvSpPr>
        <p:spPr>
          <a:xfrm xmlns:a="http://schemas.openxmlformats.org/drawingml/2006/main" rot="0">
            <a:off x="9437962" y="7790563"/>
            <a:ext cx="193858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7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US$200bn total funding</a:t>
            </a:r>
          </a:p>
        </p:txBody>
      </p:sp>
      <p:sp>
        <p:nvSpPr>
          <p:cNvPr id="5" name="Figure 7 label 4 line 1">
            <a:extLst xmlns:a="http://schemas.openxmlformats.org/drawingml/2006/main">
              <a:ext uri="{FF2B5EF4-FFF2-40B4-BE49-F238E27FC236}">
                <a16:creationId xmlns:a16="http://schemas.microsoft.com/office/drawing/2014/main" id="{145310B2-EFD1-45A1-848D-041FEFB952AB}"/>
              </a:ext>
            </a:extLst>
          </p:cNvPr>
          <p:cNvSpPr>
            <a:spLocks xmlns:a="http://schemas.openxmlformats.org/drawingml/2006/main" noGrp="1"/>
          </p:cNvSpPr>
          <p:nvPr/>
        </p:nvSpPr>
        <p:spPr>
          <a:xfrm xmlns:a="http://schemas.openxmlformats.org/drawingml/2006/main" rot="0">
            <a:off x="1257379" y="7543398"/>
            <a:ext cx="22979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0</a:t>
            </a:r>
          </a:p>
        </p:txBody>
      </p:sp>
      <p:sp>
        <p:nvSpPr>
          <p:cNvPr id="6" name="Figure 7 label 5 line 1">
            <a:extLst xmlns:a="http://schemas.openxmlformats.org/drawingml/2006/main">
              <a:ext uri="{FF2B5EF4-FFF2-40B4-BE49-F238E27FC236}">
                <a16:creationId xmlns:a16="http://schemas.microsoft.com/office/drawing/2014/main" id="{AE87CC62-AF60-445F-BE2D-F49137355722}"/>
              </a:ext>
            </a:extLst>
          </p:cNvPr>
          <p:cNvSpPr>
            <a:spLocks xmlns:a="http://schemas.openxmlformats.org/drawingml/2006/main" noGrp="1"/>
          </p:cNvSpPr>
          <p:nvPr/>
        </p:nvSpPr>
        <p:spPr>
          <a:xfrm xmlns:a="http://schemas.openxmlformats.org/drawingml/2006/main" rot="0">
            <a:off x="1151414" y="6447609"/>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10</a:t>
            </a:r>
          </a:p>
        </p:txBody>
      </p:sp>
      <p:sp>
        <p:nvSpPr>
          <p:cNvPr id="7" name="Figure 7 label 6 line 1">
            <a:extLst xmlns:a="http://schemas.openxmlformats.org/drawingml/2006/main">
              <a:ext uri="{FF2B5EF4-FFF2-40B4-BE49-F238E27FC236}">
                <a16:creationId xmlns:a16="http://schemas.microsoft.com/office/drawing/2014/main" id="{211C4B43-E41C-4FCF-9867-E87A95728B5C}"/>
              </a:ext>
            </a:extLst>
          </p:cNvPr>
          <p:cNvSpPr>
            <a:spLocks xmlns:a="http://schemas.openxmlformats.org/drawingml/2006/main" noGrp="1"/>
          </p:cNvSpPr>
          <p:nvPr/>
        </p:nvSpPr>
        <p:spPr>
          <a:xfrm xmlns:a="http://schemas.openxmlformats.org/drawingml/2006/main" rot="0">
            <a:off x="1151414" y="5351820"/>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20</a:t>
            </a:r>
          </a:p>
        </p:txBody>
      </p:sp>
      <p:sp>
        <p:nvSpPr>
          <p:cNvPr id="8" name="Figure 7 label 7 line 1">
            <a:extLst xmlns:a="http://schemas.openxmlformats.org/drawingml/2006/main">
              <a:ext uri="{FF2B5EF4-FFF2-40B4-BE49-F238E27FC236}">
                <a16:creationId xmlns:a16="http://schemas.microsoft.com/office/drawing/2014/main" id="{8E3A4B72-E8B5-45CD-A48B-1079E66F8F9A}"/>
              </a:ext>
            </a:extLst>
          </p:cNvPr>
          <p:cNvSpPr>
            <a:spLocks xmlns:a="http://schemas.openxmlformats.org/drawingml/2006/main" noGrp="1"/>
          </p:cNvSpPr>
          <p:nvPr/>
        </p:nvSpPr>
        <p:spPr>
          <a:xfrm xmlns:a="http://schemas.openxmlformats.org/drawingml/2006/main" rot="0">
            <a:off x="1151414" y="4256031"/>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30</a:t>
            </a:r>
          </a:p>
        </p:txBody>
      </p:sp>
      <p:sp>
        <p:nvSpPr>
          <p:cNvPr id="9" name="Figure 7 label 8 line 1">
            <a:extLst xmlns:a="http://schemas.openxmlformats.org/drawingml/2006/main">
              <a:ext uri="{FF2B5EF4-FFF2-40B4-BE49-F238E27FC236}">
                <a16:creationId xmlns:a16="http://schemas.microsoft.com/office/drawing/2014/main" id="{095FC706-9604-48EA-948B-0678CC6DC7EC}"/>
              </a:ext>
            </a:extLst>
          </p:cNvPr>
          <p:cNvSpPr>
            <a:spLocks xmlns:a="http://schemas.openxmlformats.org/drawingml/2006/main" noGrp="1"/>
          </p:cNvSpPr>
          <p:nvPr/>
        </p:nvSpPr>
        <p:spPr>
          <a:xfrm xmlns:a="http://schemas.openxmlformats.org/drawingml/2006/main" rot="0">
            <a:off x="1151414" y="3160242"/>
            <a:ext cx="33575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40</a:t>
            </a:r>
          </a:p>
        </p:txBody>
      </p:sp>
      <p:sp>
        <p:nvSpPr>
          <p:cNvPr id="10" name="Figure 7 label 9 line 1">
            <a:extLst xmlns:a="http://schemas.openxmlformats.org/drawingml/2006/main">
              <a:ext uri="{FF2B5EF4-FFF2-40B4-BE49-F238E27FC236}">
                <a16:creationId xmlns:a16="http://schemas.microsoft.com/office/drawing/2014/main" id="{BBFA2D50-B0B1-4C98-8AB2-61CA59A84966}"/>
              </a:ext>
            </a:extLst>
          </p:cNvPr>
          <p:cNvSpPr>
            <a:spLocks xmlns:a="http://schemas.openxmlformats.org/drawingml/2006/main" noGrp="1"/>
          </p:cNvSpPr>
          <p:nvPr/>
        </p:nvSpPr>
        <p:spPr>
          <a:xfrm xmlns:a="http://schemas.openxmlformats.org/drawingml/2006/main" rot="16200000">
            <a:off x="-455746" y="4995862"/>
            <a:ext cx="317316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Cumulative LST purchases (US$bn)</a:t>
            </a:r>
          </a:p>
        </p:txBody>
      </p:sp>
      <p:sp>
        <p:nvSpPr>
          <p:cNvPr id="11" name="Figure 7 label 10 line 1">
            <a:extLst xmlns:a="http://schemas.openxmlformats.org/drawingml/2006/main">
              <a:ext uri="{FF2B5EF4-FFF2-40B4-BE49-F238E27FC236}">
                <a16:creationId xmlns:a16="http://schemas.microsoft.com/office/drawing/2014/main" id="{8A6C1F7A-4B58-4A3A-8074-0CF81E604FA8}"/>
              </a:ext>
            </a:extLst>
          </p:cNvPr>
          <p:cNvSpPr>
            <a:spLocks xmlns:a="http://schemas.openxmlformats.org/drawingml/2006/main" noGrp="1"/>
          </p:cNvSpPr>
          <p:nvPr/>
        </p:nvSpPr>
        <p:spPr>
          <a:xfrm xmlns:a="http://schemas.openxmlformats.org/drawingml/2006/main" rot="0">
            <a:off x="2281875" y="7115523"/>
            <a:ext cx="421084"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2.5</a:t>
            </a:r>
          </a:p>
        </p:txBody>
      </p:sp>
      <p:sp>
        <p:nvSpPr>
          <p:cNvPr id="12" name="Figure 7 label 11 line 1">
            <a:extLst xmlns:a="http://schemas.openxmlformats.org/drawingml/2006/main">
              <a:ext uri="{FF2B5EF4-FFF2-40B4-BE49-F238E27FC236}">
                <a16:creationId xmlns:a16="http://schemas.microsoft.com/office/drawing/2014/main" id="{CA8FB795-B8D9-4645-BBB2-0974930FC4C1}"/>
              </a:ext>
            </a:extLst>
          </p:cNvPr>
          <p:cNvSpPr>
            <a:spLocks xmlns:a="http://schemas.openxmlformats.org/drawingml/2006/main" noGrp="1"/>
          </p:cNvSpPr>
          <p:nvPr/>
        </p:nvSpPr>
        <p:spPr>
          <a:xfrm xmlns:a="http://schemas.openxmlformats.org/drawingml/2006/main" rot="0">
            <a:off x="5917227" y="6841576"/>
            <a:ext cx="248890"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5</a:t>
            </a:r>
          </a:p>
        </p:txBody>
      </p:sp>
      <p:sp>
        <p:nvSpPr>
          <p:cNvPr id="13" name="Figure 7 label 12 line 1">
            <a:extLst xmlns:a="http://schemas.openxmlformats.org/drawingml/2006/main">
              <a:ext uri="{FF2B5EF4-FFF2-40B4-BE49-F238E27FC236}">
                <a16:creationId xmlns:a16="http://schemas.microsoft.com/office/drawing/2014/main" id="{03262B7D-055D-4398-9746-A7C8A280AE9E}"/>
              </a:ext>
            </a:extLst>
          </p:cNvPr>
          <p:cNvSpPr>
            <a:spLocks xmlns:a="http://schemas.openxmlformats.org/drawingml/2006/main" noGrp="1"/>
          </p:cNvSpPr>
          <p:nvPr/>
        </p:nvSpPr>
        <p:spPr>
          <a:xfrm xmlns:a="http://schemas.openxmlformats.org/drawingml/2006/main" rot="0">
            <a:off x="9409108" y="629368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10</a:t>
            </a:r>
          </a:p>
        </p:txBody>
      </p:sp>
      <p:sp>
        <p:nvSpPr>
          <p:cNvPr id="14" name="Figure 7 label 13 line 1">
            <a:extLst xmlns:a="http://schemas.openxmlformats.org/drawingml/2006/main">
              <a:ext uri="{FF2B5EF4-FFF2-40B4-BE49-F238E27FC236}">
                <a16:creationId xmlns:a16="http://schemas.microsoft.com/office/drawing/2014/main" id="{551F6FEA-4B4A-452B-B5EE-DCF1963B0541}"/>
              </a:ext>
            </a:extLst>
          </p:cNvPr>
          <p:cNvSpPr>
            <a:spLocks xmlns:a="http://schemas.openxmlformats.org/drawingml/2006/main" noGrp="1"/>
          </p:cNvSpPr>
          <p:nvPr/>
        </p:nvSpPr>
        <p:spPr>
          <a:xfrm xmlns:a="http://schemas.openxmlformats.org/drawingml/2006/main" rot="0">
            <a:off x="3184301" y="6841576"/>
            <a:ext cx="248890"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5</a:t>
            </a:r>
          </a:p>
        </p:txBody>
      </p:sp>
      <p:sp>
        <p:nvSpPr>
          <p:cNvPr id="15" name="Figure 7 label 14 line 1">
            <a:extLst xmlns:a="http://schemas.openxmlformats.org/drawingml/2006/main">
              <a:ext uri="{FF2B5EF4-FFF2-40B4-BE49-F238E27FC236}">
                <a16:creationId xmlns:a16="http://schemas.microsoft.com/office/drawing/2014/main" id="{02FB9D47-4E61-480D-AA8D-F7785AF5A7CB}"/>
              </a:ext>
            </a:extLst>
          </p:cNvPr>
          <p:cNvSpPr>
            <a:spLocks xmlns:a="http://schemas.openxmlformats.org/drawingml/2006/main" noGrp="1"/>
          </p:cNvSpPr>
          <p:nvPr/>
        </p:nvSpPr>
        <p:spPr>
          <a:xfrm xmlns:a="http://schemas.openxmlformats.org/drawingml/2006/main" rot="0">
            <a:off x="6676182" y="629368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10</a:t>
            </a:r>
          </a:p>
        </p:txBody>
      </p:sp>
      <p:sp>
        <p:nvSpPr>
          <p:cNvPr id="16" name="Figure 7 label 15 line 1">
            <a:extLst xmlns:a="http://schemas.openxmlformats.org/drawingml/2006/main">
              <a:ext uri="{FF2B5EF4-FFF2-40B4-BE49-F238E27FC236}">
                <a16:creationId xmlns:a16="http://schemas.microsoft.com/office/drawing/2014/main" id="{01B1B999-26A3-4D80-A9BC-ABF57E92486C}"/>
              </a:ext>
            </a:extLst>
          </p:cNvPr>
          <p:cNvSpPr>
            <a:spLocks xmlns:a="http://schemas.openxmlformats.org/drawingml/2006/main" noGrp="1"/>
          </p:cNvSpPr>
          <p:nvPr/>
        </p:nvSpPr>
        <p:spPr>
          <a:xfrm xmlns:a="http://schemas.openxmlformats.org/drawingml/2006/main" rot="0">
            <a:off x="10225437" y="5197892"/>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20</a:t>
            </a:r>
          </a:p>
        </p:txBody>
      </p:sp>
      <p:sp>
        <p:nvSpPr>
          <p:cNvPr id="17" name="Figure 7 label 16 line 1">
            <a:extLst xmlns:a="http://schemas.openxmlformats.org/drawingml/2006/main">
              <a:ext uri="{FF2B5EF4-FFF2-40B4-BE49-F238E27FC236}">
                <a16:creationId xmlns:a16="http://schemas.microsoft.com/office/drawing/2014/main" id="{40BD82F6-3BA4-4EAF-AB2A-05449E9B2CA3}"/>
              </a:ext>
            </a:extLst>
          </p:cNvPr>
          <p:cNvSpPr>
            <a:spLocks xmlns:a="http://schemas.openxmlformats.org/drawingml/2006/main" noGrp="1"/>
          </p:cNvSpPr>
          <p:nvPr/>
        </p:nvSpPr>
        <p:spPr>
          <a:xfrm xmlns:a="http://schemas.openxmlformats.org/drawingml/2006/main" rot="0">
            <a:off x="3943256" y="6293681"/>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10</a:t>
            </a:r>
          </a:p>
        </p:txBody>
      </p:sp>
      <p:sp>
        <p:nvSpPr>
          <p:cNvPr id="18" name="Figure 7 label 17 line 1">
            <a:extLst xmlns:a="http://schemas.openxmlformats.org/drawingml/2006/main">
              <a:ext uri="{FF2B5EF4-FFF2-40B4-BE49-F238E27FC236}">
                <a16:creationId xmlns:a16="http://schemas.microsoft.com/office/drawing/2014/main" id="{24A803AA-7ABC-465F-AC5C-0976A1A93F24}"/>
              </a:ext>
            </a:extLst>
          </p:cNvPr>
          <p:cNvSpPr>
            <a:spLocks xmlns:a="http://schemas.openxmlformats.org/drawingml/2006/main" noGrp="1"/>
          </p:cNvSpPr>
          <p:nvPr/>
        </p:nvSpPr>
        <p:spPr>
          <a:xfrm xmlns:a="http://schemas.openxmlformats.org/drawingml/2006/main" rot="0">
            <a:off x="7492511" y="5197892"/>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20</a:t>
            </a:r>
          </a:p>
        </p:txBody>
      </p:sp>
      <p:sp>
        <p:nvSpPr>
          <p:cNvPr id="19" name="Figure 7 label 18 line 1">
            <a:extLst xmlns:a="http://schemas.openxmlformats.org/drawingml/2006/main">
              <a:ext uri="{FF2B5EF4-FFF2-40B4-BE49-F238E27FC236}">
                <a16:creationId xmlns:a16="http://schemas.microsoft.com/office/drawing/2014/main" id="{BCB9BD98-4399-4C0A-B8D0-A706E6EF7A1D}"/>
              </a:ext>
            </a:extLst>
          </p:cNvPr>
          <p:cNvSpPr>
            <a:spLocks xmlns:a="http://schemas.openxmlformats.org/drawingml/2006/main" noGrp="1"/>
          </p:cNvSpPr>
          <p:nvPr/>
        </p:nvSpPr>
        <p:spPr>
          <a:xfrm xmlns:a="http://schemas.openxmlformats.org/drawingml/2006/main" rot="0">
            <a:off x="11041765" y="3006314"/>
            <a:ext cx="363637"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625" b="0">
                <a:solidFill>
                  <a:srgbClr val="00355F"/>
                </a:solidFill>
                <a:latin typeface="Arial Unicode MS"/>
                <a:ea typeface="Arial Unicode MS"/>
                <a:cs typeface="Arial Unicode MS"/>
              </a:defRPr>
            </a:pPr>
            <a:r>
              <a:rPr sz="1625" b="0">
                <a:solidFill>
                  <a:srgbClr val="00355F"/>
                </a:solidFill>
                <a:latin typeface="Arial Unicode MS"/>
                <a:ea typeface="Arial Unicode MS"/>
                <a:cs typeface="Arial Unicode MS"/>
              </a:rPr>
              <a:t>40</a:t>
            </a:r>
          </a:p>
        </p:txBody>
      </p:sp>
      <p:sp>
        <p:nvSpPr>
          <p:cNvPr id="20" name="Figure 7 label 19 line 1">
            <a:extLst xmlns:a="http://schemas.openxmlformats.org/drawingml/2006/main">
              <a:ext uri="{FF2B5EF4-FFF2-40B4-BE49-F238E27FC236}">
                <a16:creationId xmlns:a16="http://schemas.microsoft.com/office/drawing/2014/main" id="{28971FB2-9497-4200-9B4C-6C7A77F76866}"/>
              </a:ext>
            </a:extLst>
          </p:cNvPr>
          <p:cNvSpPr>
            <a:spLocks xmlns:a="http://schemas.openxmlformats.org/drawingml/2006/main" noGrp="1"/>
          </p:cNvSpPr>
          <p:nvPr/>
        </p:nvSpPr>
        <p:spPr>
          <a:xfrm xmlns:a="http://schemas.openxmlformats.org/drawingml/2006/main" rot="0">
            <a:off x="2244376" y="2734787"/>
            <a:ext cx="1996103"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5% LST purchase capture</a:t>
            </a:r>
          </a:p>
        </p:txBody>
      </p:sp>
      <p:sp>
        <p:nvSpPr>
          <p:cNvPr id="21" name="Figure 7 label 20 line 1">
            <a:extLst xmlns:a="http://schemas.openxmlformats.org/drawingml/2006/main">
              <a:ext uri="{FF2B5EF4-FFF2-40B4-BE49-F238E27FC236}">
                <a16:creationId xmlns:a16="http://schemas.microsoft.com/office/drawing/2014/main" id="{BFDC4E56-AB70-4679-9935-B12EAFF1B6FF}"/>
              </a:ext>
            </a:extLst>
          </p:cNvPr>
          <p:cNvSpPr>
            <a:spLocks xmlns:a="http://schemas.openxmlformats.org/drawingml/2006/main" noGrp="1"/>
          </p:cNvSpPr>
          <p:nvPr/>
        </p:nvSpPr>
        <p:spPr>
          <a:xfrm xmlns:a="http://schemas.openxmlformats.org/drawingml/2006/main" rot="0">
            <a:off x="2244376" y="2968150"/>
            <a:ext cx="2087037"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10% LST purchase capture</a:t>
            </a:r>
          </a:p>
        </p:txBody>
      </p:sp>
      <p:sp>
        <p:nvSpPr>
          <p:cNvPr id="22" name="Figure 7 label 21 line 1">
            <a:extLst xmlns:a="http://schemas.openxmlformats.org/drawingml/2006/main">
              <a:ext uri="{FF2B5EF4-FFF2-40B4-BE49-F238E27FC236}">
                <a16:creationId xmlns:a16="http://schemas.microsoft.com/office/drawing/2014/main" id="{F63833FA-EC89-4019-9526-A39E722D526B}"/>
              </a:ext>
            </a:extLst>
          </p:cNvPr>
          <p:cNvSpPr>
            <a:spLocks xmlns:a="http://schemas.openxmlformats.org/drawingml/2006/main" noGrp="1"/>
          </p:cNvSpPr>
          <p:nvPr/>
        </p:nvSpPr>
        <p:spPr>
          <a:xfrm xmlns:a="http://schemas.openxmlformats.org/drawingml/2006/main" rot="0">
            <a:off x="2244376" y="3201514"/>
            <a:ext cx="2087037"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20% LST purchase capture</a:t>
            </a:r>
          </a:p>
        </p:txBody>
      </p:sp>
      <p:sp>
        <p:nvSpPr>
          <p:cNvPr id="23" name="Figure 7 label 22 line 1">
            <a:extLst xmlns:a="http://schemas.openxmlformats.org/drawingml/2006/main">
              <a:ext uri="{FF2B5EF4-FFF2-40B4-BE49-F238E27FC236}">
                <a16:creationId xmlns:a16="http://schemas.microsoft.com/office/drawing/2014/main" id="{70B3B675-46DE-4D75-8308-A3CDE1943BE8}"/>
              </a:ext>
            </a:extLst>
          </p:cNvPr>
          <p:cNvSpPr>
            <a:spLocks xmlns:a="http://schemas.openxmlformats.org/drawingml/2006/main" noGrp="1"/>
          </p:cNvSpPr>
          <p:nvPr/>
        </p:nvSpPr>
        <p:spPr>
          <a:xfrm xmlns:a="http://schemas.openxmlformats.org/drawingml/2006/main" rot="0">
            <a:off x="991870" y="421920"/>
            <a:ext cx="628253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07  Funding-to-LST purchase sensitivity</a:t>
            </a:r>
          </a:p>
        </p:txBody>
      </p:sp>
      <p:sp>
        <p:nvSpPr>
          <p:cNvPr id="24" name="Figure 7 label 23 line 1">
            <a:extLst xmlns:a="http://schemas.openxmlformats.org/drawingml/2006/main">
              <a:ext uri="{FF2B5EF4-FFF2-40B4-BE49-F238E27FC236}">
                <a16:creationId xmlns:a16="http://schemas.microsoft.com/office/drawing/2014/main" id="{04F6A083-FFE3-4648-86AF-DBD0BDA67457}"/>
              </a:ext>
            </a:extLst>
          </p:cNvPr>
          <p:cNvSpPr>
            <a:spLocks xmlns:a="http://schemas.openxmlformats.org/drawingml/2006/main" noGrp="1"/>
          </p:cNvSpPr>
          <p:nvPr/>
        </p:nvSpPr>
        <p:spPr>
          <a:xfrm xmlns:a="http://schemas.openxmlformats.org/drawingml/2006/main" rot="0">
            <a:off x="15720740" y="661601"/>
            <a:ext cx="1019721"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SENSITIVITY</a:t>
            </a:r>
          </a:p>
        </p:txBody>
      </p:sp>
      <p:sp>
        <p:nvSpPr>
          <p:cNvPr id="25" name="Figure 7 label 24 line 1">
            <a:extLst xmlns:a="http://schemas.openxmlformats.org/drawingml/2006/main">
              <a:ext uri="{FF2B5EF4-FFF2-40B4-BE49-F238E27FC236}">
                <a16:creationId xmlns:a16="http://schemas.microsoft.com/office/drawing/2014/main" id="{FF1A7F78-4DD9-4C35-9965-C1073F90208E}"/>
              </a:ext>
            </a:extLst>
          </p:cNvPr>
          <p:cNvSpPr>
            <a:spLocks xmlns:a="http://schemas.openxmlformats.org/drawingml/2006/main" noGrp="1"/>
          </p:cNvSpPr>
          <p:nvPr/>
        </p:nvSpPr>
        <p:spPr>
          <a:xfrm xmlns:a="http://schemas.openxmlformats.org/drawingml/2006/main" rot="0">
            <a:off x="998220" y="1249487"/>
            <a:ext cx="756776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Hypothetical total funding pools. Only a fraction becomes purchases from LST suppliers.</a:t>
            </a:r>
          </a:p>
        </p:txBody>
      </p:sp>
      <p:sp>
        <p:nvSpPr>
          <p:cNvPr id="26" name="Figure 7 label 25 line 1">
            <a:extLst xmlns:a="http://schemas.openxmlformats.org/drawingml/2006/main">
              <a:ext uri="{FF2B5EF4-FFF2-40B4-BE49-F238E27FC236}">
                <a16:creationId xmlns:a16="http://schemas.microsoft.com/office/drawing/2014/main" id="{0F2CFD2E-0FBA-4F00-B948-BBD2B6E259A9}"/>
              </a:ext>
            </a:extLst>
          </p:cNvPr>
          <p:cNvSpPr>
            <a:spLocks xmlns:a="http://schemas.openxmlformats.org/drawingml/2006/main" noGrp="1"/>
          </p:cNvSpPr>
          <p:nvPr/>
        </p:nvSpPr>
        <p:spPr>
          <a:xfrm xmlns:a="http://schemas.openxmlformats.org/drawingml/2006/main" rot="0">
            <a:off x="999173" y="9256035"/>
            <a:ext cx="938316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5% / 10% / 20% capture rates are model inputs. Cumulative scenarios, no fixed horizon; not observed funding or annual TAM.</a:t>
            </a:r>
          </a:p>
        </p:txBody>
      </p:sp>
      <p:sp>
        <p:nvSpPr>
          <p:cNvPr id="27" name="Figure 7 label 26 line 1">
            <a:extLst xmlns:a="http://schemas.openxmlformats.org/drawingml/2006/main">
              <a:ext uri="{FF2B5EF4-FFF2-40B4-BE49-F238E27FC236}">
                <a16:creationId xmlns:a16="http://schemas.microsoft.com/office/drawing/2014/main" id="{B7540034-AD24-4D44-A0D8-C07E7B3E0B14}"/>
              </a:ext>
            </a:extLst>
          </p:cNvPr>
          <p:cNvSpPr>
            <a:spLocks xmlns:a="http://schemas.openxmlformats.org/drawingml/2006/main" noGrp="1"/>
          </p:cNvSpPr>
          <p:nvPr/>
        </p:nvSpPr>
        <p:spPr>
          <a:xfrm xmlns:a="http://schemas.openxmlformats.org/drawingml/2006/main" rot="0">
            <a:off x="1000316" y="9675546"/>
            <a:ext cx="7078593"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analyst funding-to-purchase sensitivity. No empirical budget shares or equipment/reagent split is asserted.</a:t>
            </a:r>
          </a:p>
        </p:txBody>
      </p:sp>
      <p:sp>
        <p:nvSpPr>
          <p:cNvPr id="28" name="Figure 7 label 27 line 1">
            <a:extLst xmlns:a="http://schemas.openxmlformats.org/drawingml/2006/main">
              <a:ext uri="{FF2B5EF4-FFF2-40B4-BE49-F238E27FC236}">
                <a16:creationId xmlns:a16="http://schemas.microsoft.com/office/drawing/2014/main" id="{C6109314-18FD-4FD7-AA1D-AC8976D1897E}"/>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2026-10-13</a:t>
            </a:r>
          </a:p>
        </p:txBody>
      </p:sp>
      <p:sp>
        <p:nvSpPr>
          <p:cNvPr id="29" name="Figure 7 label 28 line 1">
            <a:extLst xmlns:a="http://schemas.openxmlformats.org/drawingml/2006/main">
              <a:ext uri="{FF2B5EF4-FFF2-40B4-BE49-F238E27FC236}">
                <a16:creationId xmlns:a16="http://schemas.microsoft.com/office/drawing/2014/main" id="{11E5D0A9-3E7D-4C53-A56C-9CD73AE27130}"/>
              </a:ext>
            </a:extLst>
          </p:cNvPr>
          <p:cNvSpPr>
            <a:spLocks xmlns:a="http://schemas.openxmlformats.org/drawingml/2006/main" noGrp="1"/>
          </p:cNvSpPr>
          <p:nvPr/>
        </p:nvSpPr>
        <p:spPr>
          <a:xfrm xmlns:a="http://schemas.openxmlformats.org/drawingml/2006/main" rot="0">
            <a:off x="13194411" y="3062309"/>
            <a:ext cx="2866132"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Unicode MS"/>
                <a:ea typeface="Arial Unicode MS"/>
                <a:cs typeface="Arial Unicode MS"/>
              </a:defRPr>
            </a:defPPr>
          </a:lstStyle>
          <a:p xmlns:a="http://schemas.openxmlformats.org/drawingml/2006/main">
            <a:pPr algn="l">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Funding → tool purchases</a:t>
            </a:r>
          </a:p>
        </p:txBody>
      </p:sp>
      <p:sp>
        <p:nvSpPr>
          <p:cNvPr id="30" name="Figure 7 label 29 line 1">
            <a:extLst xmlns:a="http://schemas.openxmlformats.org/drawingml/2006/main">
              <a:ext uri="{FF2B5EF4-FFF2-40B4-BE49-F238E27FC236}">
                <a16:creationId xmlns:a16="http://schemas.microsoft.com/office/drawing/2014/main" id="{5A6E7DE6-F08F-4B7A-B88B-EAC7A495C936}"/>
              </a:ext>
            </a:extLst>
          </p:cNvPr>
          <p:cNvSpPr>
            <a:spLocks xmlns:a="http://schemas.openxmlformats.org/drawingml/2006/main" noGrp="1"/>
          </p:cNvSpPr>
          <p:nvPr/>
        </p:nvSpPr>
        <p:spPr>
          <a:xfrm xmlns:a="http://schemas.openxmlformats.org/drawingml/2006/main" rot="0">
            <a:off x="13196316" y="3659198"/>
            <a:ext cx="257026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R&amp;D and production budgets</a:t>
            </a:r>
          </a:p>
        </p:txBody>
      </p:sp>
      <p:sp>
        <p:nvSpPr>
          <p:cNvPr id="31" name="Figure 7 label 30 line 1">
            <a:extLst xmlns:a="http://schemas.openxmlformats.org/drawingml/2006/main">
              <a:ext uri="{FF2B5EF4-FFF2-40B4-BE49-F238E27FC236}">
                <a16:creationId xmlns:a16="http://schemas.microsoft.com/office/drawing/2014/main" id="{F5421352-05AB-4AC7-AEC1-8D1F9CA152A8}"/>
              </a:ext>
            </a:extLst>
          </p:cNvPr>
          <p:cNvSpPr>
            <a:spLocks xmlns:a="http://schemas.openxmlformats.org/drawingml/2006/main" noGrp="1"/>
          </p:cNvSpPr>
          <p:nvPr/>
        </p:nvSpPr>
        <p:spPr>
          <a:xfrm xmlns:a="http://schemas.openxmlformats.org/drawingml/2006/main" rot="0">
            <a:off x="13196316" y="3944645"/>
            <a:ext cx="196646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exclude people, trials,</a:t>
            </a:r>
          </a:p>
        </p:txBody>
      </p:sp>
      <p:sp>
        <p:nvSpPr>
          <p:cNvPr id="32" name="Figure 7 label 31 line 1">
            <a:extLst xmlns:a="http://schemas.openxmlformats.org/drawingml/2006/main">
              <a:ext uri="{FF2B5EF4-FFF2-40B4-BE49-F238E27FC236}">
                <a16:creationId xmlns:a16="http://schemas.microsoft.com/office/drawing/2014/main" id="{2191274A-F930-4E31-A7B0-75F76A1AF3E5}"/>
              </a:ext>
            </a:extLst>
          </p:cNvPr>
          <p:cNvSpPr>
            <a:spLocks xmlns:a="http://schemas.openxmlformats.org/drawingml/2006/main" noGrp="1"/>
          </p:cNvSpPr>
          <p:nvPr/>
        </p:nvSpPr>
        <p:spPr>
          <a:xfrm xmlns:a="http://schemas.openxmlformats.org/drawingml/2006/main" rot="0">
            <a:off x="13196316" y="4232216"/>
            <a:ext cx="245372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software and unspent cash.</a:t>
            </a:r>
          </a:p>
        </p:txBody>
      </p:sp>
      <p:sp>
        <p:nvSpPr>
          <p:cNvPr id="33" name="Figure 7 label 32 line 1">
            <a:extLst xmlns:a="http://schemas.openxmlformats.org/drawingml/2006/main">
              <a:ext uri="{FF2B5EF4-FFF2-40B4-BE49-F238E27FC236}">
                <a16:creationId xmlns:a16="http://schemas.microsoft.com/office/drawing/2014/main" id="{1D497958-D162-4DC6-8E38-D6998218444D}"/>
              </a:ext>
            </a:extLst>
          </p:cNvPr>
          <p:cNvSpPr>
            <a:spLocks xmlns:a="http://schemas.openxmlformats.org/drawingml/2006/main" noGrp="1"/>
          </p:cNvSpPr>
          <p:nvPr/>
        </p:nvSpPr>
        <p:spPr>
          <a:xfrm xmlns:a="http://schemas.openxmlformats.org/drawingml/2006/main" rot="0">
            <a:off x="13196634" y="5106929"/>
            <a:ext cx="2725986" cy="2282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438" b="0">
                <a:solidFill>
                  <a:srgbClr val="00355F"/>
                </a:solidFill>
                <a:latin typeface="Arial Unicode MS"/>
                <a:ea typeface="Arial Unicode MS"/>
                <a:cs typeface="Arial Unicode MS"/>
              </a:defRPr>
            </a:pPr>
            <a:r>
              <a:rPr sz="1438" b="0">
                <a:solidFill>
                  <a:srgbClr val="00355F"/>
                </a:solidFill>
                <a:latin typeface="Arial Unicode MS"/>
                <a:ea typeface="Arial Unicode MS"/>
                <a:cs typeface="Arial Unicode MS"/>
              </a:rPr>
              <a:t>Capture includes tool purchases</a:t>
            </a:r>
          </a:p>
        </p:txBody>
      </p:sp>
      <p:sp>
        <p:nvSpPr>
          <p:cNvPr id="34" name="Figure 7 label 33 line 1">
            <a:extLst xmlns:a="http://schemas.openxmlformats.org/drawingml/2006/main">
              <a:ext uri="{FF2B5EF4-FFF2-40B4-BE49-F238E27FC236}">
                <a16:creationId xmlns:a16="http://schemas.microsoft.com/office/drawing/2014/main" id="{1C825F5F-A4A5-4B1E-8292-439A6DE649CB}"/>
              </a:ext>
            </a:extLst>
          </p:cNvPr>
          <p:cNvSpPr>
            <a:spLocks xmlns:a="http://schemas.openxmlformats.org/drawingml/2006/main" noGrp="1"/>
          </p:cNvSpPr>
          <p:nvPr/>
        </p:nvSpPr>
        <p:spPr>
          <a:xfrm xmlns:a="http://schemas.openxmlformats.org/drawingml/2006/main" rot="0">
            <a:off x="13196634" y="5382519"/>
            <a:ext cx="2644130" cy="2282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438" b="0">
                <a:solidFill>
                  <a:srgbClr val="00355F"/>
                </a:solidFill>
                <a:latin typeface="Arial Unicode MS"/>
                <a:ea typeface="Arial Unicode MS"/>
                <a:cs typeface="Arial Unicode MS"/>
              </a:defRPr>
            </a:pPr>
            <a:r>
              <a:rPr sz="1438" b="0">
                <a:solidFill>
                  <a:srgbClr val="00355F"/>
                </a:solidFill>
                <a:latin typeface="Arial Unicode MS"/>
                <a:ea typeface="Arial Unicode MS"/>
                <a:cs typeface="Arial Unicode MS"/>
              </a:rPr>
              <a:t>only. Count CRO/CDMO inputs</a:t>
            </a:r>
          </a:p>
        </p:txBody>
      </p:sp>
      <p:sp>
        <p:nvSpPr>
          <p:cNvPr id="35" name="Figure 7 label 34 line 1">
            <a:extLst xmlns:a="http://schemas.openxmlformats.org/drawingml/2006/main">
              <a:ext uri="{FF2B5EF4-FFF2-40B4-BE49-F238E27FC236}">
                <a16:creationId xmlns:a16="http://schemas.microsoft.com/office/drawing/2014/main" id="{4CF436B5-5C08-4635-9F51-BFD9236FE862}"/>
              </a:ext>
            </a:extLst>
          </p:cNvPr>
          <p:cNvSpPr>
            <a:spLocks xmlns:a="http://schemas.openxmlformats.org/drawingml/2006/main" noGrp="1"/>
          </p:cNvSpPr>
          <p:nvPr/>
        </p:nvSpPr>
        <p:spPr>
          <a:xfrm xmlns:a="http://schemas.openxmlformats.org/drawingml/2006/main" rot="0">
            <a:off x="13196634" y="5660077"/>
            <a:ext cx="2816920" cy="2282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438" b="0">
                <a:solidFill>
                  <a:srgbClr val="00355F"/>
                </a:solidFill>
                <a:latin typeface="Arial Unicode MS"/>
                <a:ea typeface="Arial Unicode MS"/>
                <a:cs typeface="Arial Unicode MS"/>
              </a:defRPr>
            </a:pPr>
            <a:r>
              <a:rPr sz="1438" b="0">
                <a:solidFill>
                  <a:srgbClr val="00355F"/>
                </a:solidFill>
                <a:latin typeface="Arial Unicode MS"/>
                <a:ea typeface="Arial Unicode MS"/>
                <a:cs typeface="Arial Unicode MS"/>
              </a:rPr>
              <a:t>once, separate from service fees.</a:t>
            </a:r>
          </a:p>
        </p:txBody>
      </p:sp>
      <p:sp>
        <p:nvSpPr>
          <p:cNvPr id="36" name="Figure 7 label 35 line 1">
            <a:extLst xmlns:a="http://schemas.openxmlformats.org/drawingml/2006/main">
              <a:ext uri="{FF2B5EF4-FFF2-40B4-BE49-F238E27FC236}">
                <a16:creationId xmlns:a16="http://schemas.microsoft.com/office/drawing/2014/main" id="{8AA3900B-26EC-49F5-8C1E-569F579C1EEC}"/>
              </a:ext>
            </a:extLst>
          </p:cNvPr>
          <p:cNvSpPr>
            <a:spLocks xmlns:a="http://schemas.openxmlformats.org/drawingml/2006/main" noGrp="1"/>
          </p:cNvSpPr>
          <p:nvPr/>
        </p:nvSpPr>
        <p:spPr>
          <a:xfrm xmlns:a="http://schemas.openxmlformats.org/drawingml/2006/main" rot="0">
            <a:off x="5667896" y="8282830"/>
            <a:ext cx="6952208" cy="357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50" b="1">
                <a:solidFill>
                  <a:srgbClr val="00355F"/>
                </a:solidFill>
                <a:latin typeface="Arial Unicode MS"/>
                <a:ea typeface="Arial Unicode MS"/>
                <a:cs typeface="Arial Unicode MS"/>
              </a:defRPr>
            </a:defPPr>
          </a:lstStyle>
          <a:p xmlns:a="http://schemas.openxmlformats.org/drawingml/2006/main">
            <a:pPr algn="ctr">
              <a:lnSpc>
                <a:spcPct val="100000"/>
              </a:lnSpc>
              <a:buNone/>
              <a:defRPr sz="2250" b="1">
                <a:solidFill>
                  <a:srgbClr val="00355F"/>
                </a:solidFill>
                <a:latin typeface="Arial Unicode MS"/>
                <a:ea typeface="Arial Unicode MS"/>
                <a:cs typeface="Arial Unicode MS"/>
              </a:defRPr>
            </a:pPr>
            <a:r>
              <a:rPr sz="2250" b="1">
                <a:solidFill>
                  <a:srgbClr val="00355F"/>
                </a:solidFill>
                <a:latin typeface="Arial Unicode MS"/>
                <a:ea typeface="Arial Unicode MS"/>
                <a:cs typeface="Arial Unicode MS"/>
              </a:rPr>
              <a:t>Total capital raised is not an addressable tool market.</a:t>
            </a:r>
          </a:p>
        </p:txBody>
      </p:sp>
    </p:spTree>
    <p:extLst>
      <p:ext uri="{BB962C8B-B14F-4D97-AF65-F5344CB8AC3E}">
        <p14:creationId xmlns:p14="http://schemas.microsoft.com/office/powerpoint/2010/main" val="8358386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4" name="">
            <a:extLst xmlns:a="http://schemas.openxmlformats.org/drawingml/2006/main">
              <a:ext uri="{FF2B5EF4-FFF2-40B4-BE49-F238E27FC236}">
                <a16:creationId xmlns:a16="http://schemas.microsoft.com/office/drawing/2014/main" id="{8031B11A-CEF0-4C29-A36F-3824C508E2D6}"/>
              </a:ext>
            </a:extLst>
          </p:cNvPr>
          <p:cNvPicPr>
            <a:picLocks xmlns:a="http://schemas.openxmlformats.org/drawingml/2006/main" noChangeAspect="1"/>
          </p:cNvPicPr>
          <p:nvPr/>
        </p:nvPicPr>
        <p:blipFill>
          <a:blip xmlns:r="http://schemas.openxmlformats.org/officeDocument/2006/relationships" xmlns:a="http://schemas.openxmlformats.org/drawingml/2006/main" r:embed="R034262faf57d4efb"/>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8 label 1 line 1">
            <a:extLst xmlns:a="http://schemas.openxmlformats.org/drawingml/2006/main">
              <a:ext uri="{FF2B5EF4-FFF2-40B4-BE49-F238E27FC236}">
                <a16:creationId xmlns:a16="http://schemas.microsoft.com/office/drawing/2014/main" id="{C855AEF4-B0AF-4D32-899B-075CA2EBEE8A}"/>
              </a:ext>
            </a:extLst>
          </p:cNvPr>
          <p:cNvSpPr>
            <a:spLocks xmlns:a="http://schemas.openxmlformats.org/drawingml/2006/main" noGrp="1"/>
          </p:cNvSpPr>
          <p:nvPr/>
        </p:nvSpPr>
        <p:spPr>
          <a:xfrm xmlns:a="http://schemas.openxmlformats.org/drawingml/2006/main" rot="0">
            <a:off x="26162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3" name="Figure 8 label 2 line 1">
            <a:extLst xmlns:a="http://schemas.openxmlformats.org/drawingml/2006/main">
              <a:ext uri="{FF2B5EF4-FFF2-40B4-BE49-F238E27FC236}">
                <a16:creationId xmlns:a16="http://schemas.microsoft.com/office/drawing/2014/main" id="{59CCE66E-C8AD-428B-8017-3198DCF4788D}"/>
              </a:ext>
            </a:extLst>
          </p:cNvPr>
          <p:cNvSpPr>
            <a:spLocks xmlns:a="http://schemas.openxmlformats.org/drawingml/2006/main" noGrp="1"/>
          </p:cNvSpPr>
          <p:nvPr/>
        </p:nvSpPr>
        <p:spPr>
          <a:xfrm xmlns:a="http://schemas.openxmlformats.org/drawingml/2006/main" rot="0">
            <a:off x="801176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4" name="Figure 8 label 3 line 1">
            <a:extLst xmlns:a="http://schemas.openxmlformats.org/drawingml/2006/main">
              <a:ext uri="{FF2B5EF4-FFF2-40B4-BE49-F238E27FC236}">
                <a16:creationId xmlns:a16="http://schemas.microsoft.com/office/drawing/2014/main" id="{CE39E001-9EDA-4435-9FD1-748AA6FAEBF9}"/>
              </a:ext>
            </a:extLst>
          </p:cNvPr>
          <p:cNvSpPr>
            <a:spLocks xmlns:a="http://schemas.openxmlformats.org/drawingml/2006/main" noGrp="1"/>
          </p:cNvSpPr>
          <p:nvPr/>
        </p:nvSpPr>
        <p:spPr>
          <a:xfrm xmlns:a="http://schemas.openxmlformats.org/drawingml/2006/main" rot="0">
            <a:off x="1371418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5" name="Figure 8 label 4 line 1">
            <a:extLst xmlns:a="http://schemas.openxmlformats.org/drawingml/2006/main">
              <a:ext uri="{FF2B5EF4-FFF2-40B4-BE49-F238E27FC236}">
                <a16:creationId xmlns:a16="http://schemas.microsoft.com/office/drawing/2014/main" id="{A0059818-AFE1-475F-932D-79F4436A77AD}"/>
              </a:ext>
            </a:extLst>
          </p:cNvPr>
          <p:cNvSpPr>
            <a:spLocks xmlns:a="http://schemas.openxmlformats.org/drawingml/2006/main" noGrp="1"/>
          </p:cNvSpPr>
          <p:nvPr/>
        </p:nvSpPr>
        <p:spPr>
          <a:xfrm xmlns:a="http://schemas.openxmlformats.org/drawingml/2006/main" rot="0">
            <a:off x="6651992" y="8293814"/>
            <a:ext cx="352097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Expansion difficulty / qualification time →</a:t>
            </a:r>
          </a:p>
        </p:txBody>
      </p:sp>
      <p:sp>
        <p:nvSpPr>
          <p:cNvPr id="6" name="Figure 8 label 5 line 1">
            <a:extLst xmlns:a="http://schemas.openxmlformats.org/drawingml/2006/main">
              <a:ext uri="{FF2B5EF4-FFF2-40B4-BE49-F238E27FC236}">
                <a16:creationId xmlns:a16="http://schemas.microsoft.com/office/drawing/2014/main" id="{9F8F68E7-0F0A-4D0C-8302-7430B5D754FC}"/>
              </a:ext>
            </a:extLst>
          </p:cNvPr>
          <p:cNvSpPr>
            <a:spLocks xmlns:a="http://schemas.openxmlformats.org/drawingml/2006/main" noGrp="1"/>
          </p:cNvSpPr>
          <p:nvPr/>
        </p:nvSpPr>
        <p:spPr>
          <a:xfrm xmlns:a="http://schemas.openxmlformats.org/drawingml/2006/main" rot="0">
            <a:off x="83086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7" name="Figure 8 label 6 line 1">
            <a:extLst xmlns:a="http://schemas.openxmlformats.org/drawingml/2006/main">
              <a:ext uri="{FF2B5EF4-FFF2-40B4-BE49-F238E27FC236}">
                <a16:creationId xmlns:a16="http://schemas.microsoft.com/office/drawing/2014/main" id="{4F0D41BE-C4D2-4965-B9FE-0F536243EE60}"/>
              </a:ext>
            </a:extLst>
          </p:cNvPr>
          <p:cNvSpPr>
            <a:spLocks xmlns:a="http://schemas.openxmlformats.org/drawingml/2006/main" noGrp="1"/>
          </p:cNvSpPr>
          <p:nvPr/>
        </p:nvSpPr>
        <p:spPr>
          <a:xfrm xmlns:a="http://schemas.openxmlformats.org/drawingml/2006/main" rot="0">
            <a:off x="50285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8" name="Figure 8 label 7 line 1">
            <a:extLst xmlns:a="http://schemas.openxmlformats.org/drawingml/2006/main">
              <a:ext uri="{FF2B5EF4-FFF2-40B4-BE49-F238E27FC236}">
                <a16:creationId xmlns:a16="http://schemas.microsoft.com/office/drawing/2014/main" id="{4A8D44C1-EB95-4AB1-89D0-DF1D89F051A9}"/>
              </a:ext>
            </a:extLst>
          </p:cNvPr>
          <p:cNvSpPr>
            <a:spLocks xmlns:a="http://schemas.openxmlformats.org/drawingml/2006/main" noGrp="1"/>
          </p:cNvSpPr>
          <p:nvPr/>
        </p:nvSpPr>
        <p:spPr>
          <a:xfrm xmlns:a="http://schemas.openxmlformats.org/drawingml/2006/main" rot="0">
            <a:off x="78860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9" name="Figure 8 label 8 line 1">
            <a:extLst xmlns:a="http://schemas.openxmlformats.org/drawingml/2006/main">
              <a:ext uri="{FF2B5EF4-FFF2-40B4-BE49-F238E27FC236}">
                <a16:creationId xmlns:a16="http://schemas.microsoft.com/office/drawing/2014/main" id="{1EEE48DD-EE2B-4702-8D6A-7F71821AA663}"/>
              </a:ext>
            </a:extLst>
          </p:cNvPr>
          <p:cNvSpPr>
            <a:spLocks xmlns:a="http://schemas.openxmlformats.org/drawingml/2006/main" noGrp="1"/>
          </p:cNvSpPr>
          <p:nvPr/>
        </p:nvSpPr>
        <p:spPr>
          <a:xfrm xmlns:a="http://schemas.openxmlformats.org/drawingml/2006/main" rot="16200000">
            <a:off x="-1498674" y="4918710"/>
            <a:ext cx="377562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Potential benefit from demand expansion →</a:t>
            </a:r>
          </a:p>
        </p:txBody>
      </p:sp>
      <p:sp>
        <p:nvSpPr>
          <p:cNvPr id="10" name="Figure 8 label 9 line 1">
            <a:extLst xmlns:a="http://schemas.openxmlformats.org/drawingml/2006/main">
              <a:ext uri="{FF2B5EF4-FFF2-40B4-BE49-F238E27FC236}">
                <a16:creationId xmlns:a16="http://schemas.microsoft.com/office/drawing/2014/main" id="{57B3018F-BFC8-4526-A1A6-897B85859681}"/>
              </a:ext>
            </a:extLst>
          </p:cNvPr>
          <p:cNvSpPr>
            <a:spLocks xmlns:a="http://schemas.openxmlformats.org/drawingml/2006/main" noGrp="1"/>
          </p:cNvSpPr>
          <p:nvPr/>
        </p:nvSpPr>
        <p:spPr>
          <a:xfrm xmlns:a="http://schemas.openxmlformats.org/drawingml/2006/main" rot="0">
            <a:off x="2012455" y="2407644"/>
            <a:ext cx="3477240" cy="2043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288" b="0">
                <a:solidFill>
                  <a:srgbClr val="00355F"/>
                </a:solidFill>
                <a:latin typeface="Arial Unicode MS"/>
                <a:ea typeface="Arial Unicode MS"/>
                <a:cs typeface="Arial Unicode MS"/>
              </a:defRPr>
            </a:pPr>
            <a:r>
              <a:rPr sz="1288" b="0">
                <a:solidFill>
                  <a:srgbClr val="00355F"/>
                </a:solidFill>
                <a:latin typeface="Arial Unicode MS"/>
                <a:ea typeface="Arial Unicode MS"/>
                <a:cs typeface="Arial Unicode MS"/>
              </a:rPr>
              <a:t>Verify demand and supply constraints together</a:t>
            </a:r>
          </a:p>
        </p:txBody>
      </p:sp>
      <p:sp>
        <p:nvSpPr>
          <p:cNvPr id="11" name="Figure 8 label 10 line 1">
            <a:extLst xmlns:a="http://schemas.openxmlformats.org/drawingml/2006/main">
              <a:ext uri="{FF2B5EF4-FFF2-40B4-BE49-F238E27FC236}">
                <a16:creationId xmlns:a16="http://schemas.microsoft.com/office/drawing/2014/main" id="{E22EDCE3-DE4A-42D7-BB6E-26BBDCF171DD}"/>
              </a:ext>
            </a:extLst>
          </p:cNvPr>
          <p:cNvSpPr>
            <a:spLocks xmlns:a="http://schemas.openxmlformats.org/drawingml/2006/main" noGrp="1"/>
          </p:cNvSpPr>
          <p:nvPr/>
        </p:nvSpPr>
        <p:spPr>
          <a:xfrm xmlns:a="http://schemas.openxmlformats.org/drawingml/2006/main" rot="0">
            <a:off x="11185779" y="2671608"/>
            <a:ext cx="1221462"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Automation tips</a:t>
            </a:r>
          </a:p>
        </p:txBody>
      </p:sp>
      <p:sp>
        <p:nvSpPr>
          <p:cNvPr id="12" name="Figure 8 label 11 line 1">
            <a:extLst xmlns:a="http://schemas.openxmlformats.org/drawingml/2006/main">
              <a:ext uri="{FF2B5EF4-FFF2-40B4-BE49-F238E27FC236}">
                <a16:creationId xmlns:a16="http://schemas.microsoft.com/office/drawing/2014/main" id="{0FFF95B6-BF52-4BC4-82F5-F31060FA0085}"/>
              </a:ext>
            </a:extLst>
          </p:cNvPr>
          <p:cNvSpPr>
            <a:spLocks xmlns:a="http://schemas.openxmlformats.org/drawingml/2006/main" noGrp="1"/>
          </p:cNvSpPr>
          <p:nvPr/>
        </p:nvSpPr>
        <p:spPr>
          <a:xfrm xmlns:a="http://schemas.openxmlformats.org/drawingml/2006/main" rot="0">
            <a:off x="8128026" y="3359665"/>
            <a:ext cx="123947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Specialty plates</a:t>
            </a:r>
          </a:p>
        </p:txBody>
      </p:sp>
      <p:sp>
        <p:nvSpPr>
          <p:cNvPr id="13" name="Figure 8 label 12 line 1">
            <a:extLst xmlns:a="http://schemas.openxmlformats.org/drawingml/2006/main">
              <a:ext uri="{FF2B5EF4-FFF2-40B4-BE49-F238E27FC236}">
                <a16:creationId xmlns:a16="http://schemas.microsoft.com/office/drawing/2014/main" id="{2D312C17-088E-4108-A2E5-F5D2871266EF}"/>
              </a:ext>
            </a:extLst>
          </p:cNvPr>
          <p:cNvSpPr>
            <a:spLocks xmlns:a="http://schemas.openxmlformats.org/drawingml/2006/main" noGrp="1"/>
          </p:cNvSpPr>
          <p:nvPr/>
        </p:nvSpPr>
        <p:spPr>
          <a:xfrm xmlns:a="http://schemas.openxmlformats.org/drawingml/2006/main" rot="0">
            <a:off x="11741734" y="3965928"/>
            <a:ext cx="159025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Custom components</a:t>
            </a:r>
          </a:p>
        </p:txBody>
      </p:sp>
      <p:sp>
        <p:nvSpPr>
          <p:cNvPr id="14" name="Figure 8 label 13 line 1">
            <a:extLst xmlns:a="http://schemas.openxmlformats.org/drawingml/2006/main">
              <a:ext uri="{FF2B5EF4-FFF2-40B4-BE49-F238E27FC236}">
                <a16:creationId xmlns:a16="http://schemas.microsoft.com/office/drawing/2014/main" id="{61294960-CC0C-4AEA-AE1C-96C14391B638}"/>
              </a:ext>
            </a:extLst>
          </p:cNvPr>
          <p:cNvSpPr>
            <a:spLocks xmlns:a="http://schemas.openxmlformats.org/drawingml/2006/main" noGrp="1"/>
          </p:cNvSpPr>
          <p:nvPr/>
        </p:nvSpPr>
        <p:spPr>
          <a:xfrm xmlns:a="http://schemas.openxmlformats.org/drawingml/2006/main" rot="0">
            <a:off x="9517914" y="4515295"/>
            <a:ext cx="133859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Functional beads</a:t>
            </a:r>
          </a:p>
        </p:txBody>
      </p:sp>
      <p:sp>
        <p:nvSpPr>
          <p:cNvPr id="15" name="Figure 8 label 14 line 1">
            <a:extLst xmlns:a="http://schemas.openxmlformats.org/drawingml/2006/main">
              <a:ext uri="{FF2B5EF4-FFF2-40B4-BE49-F238E27FC236}">
                <a16:creationId xmlns:a16="http://schemas.microsoft.com/office/drawing/2014/main" id="{6CECD00D-B93C-4AB3-B850-17F096E66C61}"/>
              </a:ext>
            </a:extLst>
          </p:cNvPr>
          <p:cNvSpPr>
            <a:spLocks xmlns:a="http://schemas.openxmlformats.org/drawingml/2006/main" noGrp="1"/>
          </p:cNvSpPr>
          <p:nvPr/>
        </p:nvSpPr>
        <p:spPr>
          <a:xfrm xmlns:a="http://schemas.openxmlformats.org/drawingml/2006/main" rot="0">
            <a:off x="7850048" y="2670735"/>
            <a:ext cx="181543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High-throughput assays</a:t>
            </a:r>
          </a:p>
        </p:txBody>
      </p:sp>
      <p:sp>
        <p:nvSpPr>
          <p:cNvPr id="16" name="Figure 8 label 15 line 1">
            <a:extLst xmlns:a="http://schemas.openxmlformats.org/drawingml/2006/main">
              <a:ext uri="{FF2B5EF4-FFF2-40B4-BE49-F238E27FC236}">
                <a16:creationId xmlns:a16="http://schemas.microsoft.com/office/drawing/2014/main" id="{33908B1C-8A61-45F1-9664-87C3F6BCD369}"/>
              </a:ext>
            </a:extLst>
          </p:cNvPr>
          <p:cNvSpPr>
            <a:spLocks xmlns:a="http://schemas.openxmlformats.org/drawingml/2006/main" noGrp="1"/>
          </p:cNvSpPr>
          <p:nvPr/>
        </p:nvSpPr>
        <p:spPr>
          <a:xfrm xmlns:a="http://schemas.openxmlformats.org/drawingml/2006/main" rot="0">
            <a:off x="6251677" y="4157679"/>
            <a:ext cx="186946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Specialty building blocks</a:t>
            </a:r>
          </a:p>
        </p:txBody>
      </p:sp>
      <p:sp>
        <p:nvSpPr>
          <p:cNvPr id="17" name="Figure 8 label 16 line 1">
            <a:extLst xmlns:a="http://schemas.openxmlformats.org/drawingml/2006/main">
              <a:ext uri="{FF2B5EF4-FFF2-40B4-BE49-F238E27FC236}">
                <a16:creationId xmlns:a16="http://schemas.microsoft.com/office/drawing/2014/main" id="{6418652A-90FA-423F-8005-1DE470513C5A}"/>
              </a:ext>
            </a:extLst>
          </p:cNvPr>
          <p:cNvSpPr>
            <a:spLocks xmlns:a="http://schemas.openxmlformats.org/drawingml/2006/main" noGrp="1"/>
          </p:cNvSpPr>
          <p:nvPr/>
        </p:nvSpPr>
        <p:spPr>
          <a:xfrm xmlns:a="http://schemas.openxmlformats.org/drawingml/2006/main" rot="0">
            <a:off x="3124429" y="6193877"/>
            <a:ext cx="128426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Generic labware</a:t>
            </a:r>
          </a:p>
        </p:txBody>
      </p:sp>
      <p:sp>
        <p:nvSpPr>
          <p:cNvPr id="18" name="Figure 8 label 17 line 1">
            <a:extLst xmlns:a="http://schemas.openxmlformats.org/drawingml/2006/main">
              <a:ext uri="{FF2B5EF4-FFF2-40B4-BE49-F238E27FC236}">
                <a16:creationId xmlns:a16="http://schemas.microsoft.com/office/drawing/2014/main" id="{957207DB-306D-4D64-929E-54D80B60DEEF}"/>
              </a:ext>
            </a:extLst>
          </p:cNvPr>
          <p:cNvSpPr>
            <a:spLocks xmlns:a="http://schemas.openxmlformats.org/drawingml/2006/main" noGrp="1"/>
          </p:cNvSpPr>
          <p:nvPr/>
        </p:nvSpPr>
        <p:spPr>
          <a:xfrm xmlns:a="http://schemas.openxmlformats.org/drawingml/2006/main" rot="0">
            <a:off x="12575667" y="5203353"/>
            <a:ext cx="1635800"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Sequencing reagents</a:t>
            </a:r>
          </a:p>
        </p:txBody>
      </p:sp>
      <p:sp>
        <p:nvSpPr>
          <p:cNvPr id="19" name="Figure 8 label 18 line 1">
            <a:extLst xmlns:a="http://schemas.openxmlformats.org/drawingml/2006/main">
              <a:ext uri="{FF2B5EF4-FFF2-40B4-BE49-F238E27FC236}">
                <a16:creationId xmlns:a16="http://schemas.microsoft.com/office/drawing/2014/main" id="{90F7D97E-BC64-447A-8A1A-0851756ECF5B}"/>
              </a:ext>
            </a:extLst>
          </p:cNvPr>
          <p:cNvSpPr>
            <a:spLocks xmlns:a="http://schemas.openxmlformats.org/drawingml/2006/main" noGrp="1"/>
          </p:cNvSpPr>
          <p:nvPr/>
        </p:nvSpPr>
        <p:spPr>
          <a:xfrm xmlns:a="http://schemas.openxmlformats.org/drawingml/2006/main" rot="0">
            <a:off x="12089206" y="6056402"/>
            <a:ext cx="160841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275" b="0">
                <a:solidFill>
                  <a:srgbClr val="00355F"/>
                </a:solidFill>
                <a:latin typeface="Arial Unicode MS"/>
                <a:ea typeface="Arial Unicode MS"/>
                <a:cs typeface="Arial Unicode MS"/>
              </a:defRPr>
            </a:pPr>
            <a:r>
              <a:rPr sz="1275" b="0">
                <a:solidFill>
                  <a:srgbClr val="00355F"/>
                </a:solidFill>
                <a:latin typeface="Arial Unicode MS"/>
                <a:ea typeface="Arial Unicode MS"/>
                <a:cs typeface="Arial Unicode MS"/>
              </a:rPr>
              <a:t>Manufacturing resins</a:t>
            </a:r>
          </a:p>
        </p:txBody>
      </p:sp>
      <p:sp>
        <p:nvSpPr>
          <p:cNvPr id="20" name="Figure 8 label 19 line 1">
            <a:extLst xmlns:a="http://schemas.openxmlformats.org/drawingml/2006/main">
              <a:ext uri="{FF2B5EF4-FFF2-40B4-BE49-F238E27FC236}">
                <a16:creationId xmlns:a16="http://schemas.microsoft.com/office/drawing/2014/main" id="{DD6C7954-EBAF-4E90-8ACC-DF149532806F}"/>
              </a:ext>
            </a:extLst>
          </p:cNvPr>
          <p:cNvSpPr>
            <a:spLocks xmlns:a="http://schemas.openxmlformats.org/drawingml/2006/main" noGrp="1"/>
          </p:cNvSpPr>
          <p:nvPr/>
        </p:nvSpPr>
        <p:spPr>
          <a:xfrm xmlns:a="http://schemas.openxmlformats.org/drawingml/2006/main" rot="0">
            <a:off x="991870" y="420392"/>
            <a:ext cx="8030071"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08  Potential supply constraints over 12–24 months</a:t>
            </a:r>
          </a:p>
        </p:txBody>
      </p:sp>
      <p:sp>
        <p:nvSpPr>
          <p:cNvPr id="21" name="Figure 8 label 20 line 1">
            <a:extLst xmlns:a="http://schemas.openxmlformats.org/drawingml/2006/main">
              <a:ext uri="{FF2B5EF4-FFF2-40B4-BE49-F238E27FC236}">
                <a16:creationId xmlns:a16="http://schemas.microsoft.com/office/drawing/2014/main" id="{767E5A3E-2069-4443-945D-B5F01AC0D9F0}"/>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HYPOTHESIS</a:t>
            </a:r>
          </a:p>
        </p:txBody>
      </p:sp>
      <p:sp>
        <p:nvSpPr>
          <p:cNvPr id="22" name="Figure 8 label 21 line 1">
            <a:extLst xmlns:a="http://schemas.openxmlformats.org/drawingml/2006/main">
              <a:ext uri="{FF2B5EF4-FFF2-40B4-BE49-F238E27FC236}">
                <a16:creationId xmlns:a16="http://schemas.microsoft.com/office/drawing/2014/main" id="{60A4A541-BFDE-4677-B5A2-8074A72EE8C6}"/>
              </a:ext>
            </a:extLst>
          </p:cNvPr>
          <p:cNvSpPr>
            <a:spLocks xmlns:a="http://schemas.openxmlformats.org/drawingml/2006/main" noGrp="1"/>
          </p:cNvSpPr>
          <p:nvPr/>
        </p:nvSpPr>
        <p:spPr>
          <a:xfrm xmlns:a="http://schemas.openxmlformats.org/drawingml/2006/main" rot="0">
            <a:off x="998220" y="1249487"/>
            <a:ext cx="911438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Relative expansion and qualification constraints over 12–24 months; current shortages are not established.</a:t>
            </a:r>
          </a:p>
        </p:txBody>
      </p:sp>
      <p:sp>
        <p:nvSpPr>
          <p:cNvPr id="23" name="Figure 8 label 22 line 1">
            <a:extLst xmlns:a="http://schemas.openxmlformats.org/drawingml/2006/main">
              <a:ext uri="{FF2B5EF4-FFF2-40B4-BE49-F238E27FC236}">
                <a16:creationId xmlns:a16="http://schemas.microsoft.com/office/drawing/2014/main" id="{D23C9BEF-235D-4C6A-9A9B-62CD14B744DE}"/>
              </a:ext>
            </a:extLst>
          </p:cNvPr>
          <p:cNvSpPr>
            <a:spLocks xmlns:a="http://schemas.openxmlformats.org/drawingml/2006/main" noGrp="1"/>
          </p:cNvSpPr>
          <p:nvPr/>
        </p:nvSpPr>
        <p:spPr>
          <a:xfrm xmlns:a="http://schemas.openxmlformats.org/drawingml/2006/main" rot="0">
            <a:off x="999173" y="9256035"/>
            <a:ext cx="809505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Track lead times, stockouts, qualification, yields and prices. Manufacturing resins have a longer demand lag.</a:t>
            </a:r>
          </a:p>
        </p:txBody>
      </p:sp>
      <p:sp>
        <p:nvSpPr>
          <p:cNvPr id="24" name="Figure 8 label 23 line 1">
            <a:extLst xmlns:a="http://schemas.openxmlformats.org/drawingml/2006/main">
              <a:ext uri="{FF2B5EF4-FFF2-40B4-BE49-F238E27FC236}">
                <a16:creationId xmlns:a16="http://schemas.microsoft.com/office/drawing/2014/main" id="{22B28AD2-29EC-4E3F-9F8C-E88035EC5EED}"/>
              </a:ext>
            </a:extLst>
          </p:cNvPr>
          <p:cNvSpPr>
            <a:spLocks xmlns:a="http://schemas.openxmlformats.org/drawingml/2006/main" noGrp="1"/>
          </p:cNvSpPr>
          <p:nvPr/>
        </p:nvSpPr>
        <p:spPr>
          <a:xfrm xmlns:a="http://schemas.openxmlformats.org/drawingml/2006/main" rot="0">
            <a:off x="1000316" y="9675546"/>
            <a:ext cx="6633895"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analyst hypotheses. Technical barriers do not prove a capacity bottleneck.</a:t>
            </a:r>
          </a:p>
        </p:txBody>
      </p:sp>
      <p:sp>
        <p:nvSpPr>
          <p:cNvPr id="25" name="Figure 8 label 24 line 1">
            <a:extLst xmlns:a="http://schemas.openxmlformats.org/drawingml/2006/main">
              <a:ext uri="{FF2B5EF4-FFF2-40B4-BE49-F238E27FC236}">
                <a16:creationId xmlns:a16="http://schemas.microsoft.com/office/drawing/2014/main" id="{0C269D72-1A3A-475F-8780-0FE72B348BE7}"/>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26" name="Figure 8 label 25 line 1">
            <a:extLst xmlns:a="http://schemas.openxmlformats.org/drawingml/2006/main">
              <a:ext uri="{FF2B5EF4-FFF2-40B4-BE49-F238E27FC236}">
                <a16:creationId xmlns:a16="http://schemas.microsoft.com/office/drawing/2014/main" id="{FC0ADF4E-4965-4F2B-B8AE-FBFB1CA7075D}"/>
              </a:ext>
            </a:extLst>
          </p:cNvPr>
          <p:cNvSpPr>
            <a:spLocks xmlns:a="http://schemas.openxmlformats.org/drawingml/2006/main" noGrp="1"/>
          </p:cNvSpPr>
          <p:nvPr/>
        </p:nvSpPr>
        <p:spPr>
          <a:xfrm xmlns:a="http://schemas.openxmlformats.org/drawingml/2006/main" rot="0">
            <a:off x="15811500" y="3274865"/>
            <a:ext cx="186064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1">
                <a:solidFill>
                  <a:srgbClr val="00355F"/>
                </a:solidFill>
                <a:latin typeface="Arial Unicode MS"/>
                <a:ea typeface="Arial Unicode MS"/>
                <a:cs typeface="Arial Unicode MS"/>
              </a:defRPr>
            </a:pPr>
            <a:r>
              <a:rPr sz="1500" b="1">
                <a:solidFill>
                  <a:srgbClr val="00355F"/>
                </a:solidFill>
                <a:latin typeface="Arial Unicode MS"/>
                <a:ea typeface="Arial Unicode MS"/>
                <a:cs typeface="Arial Unicode MS"/>
              </a:rPr>
              <a:t>Potential opportunity</a:t>
            </a:r>
          </a:p>
        </p:txBody>
      </p:sp>
      <p:sp>
        <p:nvSpPr>
          <p:cNvPr id="27" name="Figure 8 label 26 line 1">
            <a:extLst xmlns:a="http://schemas.openxmlformats.org/drawingml/2006/main">
              <a:ext uri="{FF2B5EF4-FFF2-40B4-BE49-F238E27FC236}">
                <a16:creationId xmlns:a16="http://schemas.microsoft.com/office/drawing/2014/main" id="{FEF13909-D896-475A-8FD9-F56264B4456A}"/>
              </a:ext>
            </a:extLst>
          </p:cNvPr>
          <p:cNvSpPr>
            <a:spLocks xmlns:a="http://schemas.openxmlformats.org/drawingml/2006/main" noGrp="1"/>
          </p:cNvSpPr>
          <p:nvPr/>
        </p:nvSpPr>
        <p:spPr>
          <a:xfrm xmlns:a="http://schemas.openxmlformats.org/drawingml/2006/main" rot="0">
            <a:off x="15812135" y="4388424"/>
            <a:ext cx="1307406"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Strong demand</a:t>
            </a:r>
          </a:p>
        </p:txBody>
      </p:sp>
      <p:sp>
        <p:nvSpPr>
          <p:cNvPr id="28" name="Figure 8 label 27 line 1">
            <a:extLst xmlns:a="http://schemas.openxmlformats.org/drawingml/2006/main">
              <a:ext uri="{FF2B5EF4-FFF2-40B4-BE49-F238E27FC236}">
                <a16:creationId xmlns:a16="http://schemas.microsoft.com/office/drawing/2014/main" id="{E5531E4D-B378-43FC-BECC-2F6138556E0E}"/>
              </a:ext>
            </a:extLst>
          </p:cNvPr>
          <p:cNvSpPr>
            <a:spLocks xmlns:a="http://schemas.openxmlformats.org/drawingml/2006/main" noGrp="1"/>
          </p:cNvSpPr>
          <p:nvPr/>
        </p:nvSpPr>
        <p:spPr>
          <a:xfrm xmlns:a="http://schemas.openxmlformats.org/drawingml/2006/main" rot="0">
            <a:off x="15812135" y="4641202"/>
            <a:ext cx="1336427"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Slow expansion</a:t>
            </a:r>
          </a:p>
        </p:txBody>
      </p:sp>
      <p:sp>
        <p:nvSpPr>
          <p:cNvPr id="29" name="Figure 8 label 28 line 1">
            <a:extLst xmlns:a="http://schemas.openxmlformats.org/drawingml/2006/main">
              <a:ext uri="{FF2B5EF4-FFF2-40B4-BE49-F238E27FC236}">
                <a16:creationId xmlns:a16="http://schemas.microsoft.com/office/drawing/2014/main" id="{71E8341F-BDB6-4B46-B884-0240325A349E}"/>
              </a:ext>
            </a:extLst>
          </p:cNvPr>
          <p:cNvSpPr>
            <a:spLocks xmlns:a="http://schemas.openxmlformats.org/drawingml/2006/main" noGrp="1"/>
          </p:cNvSpPr>
          <p:nvPr/>
        </p:nvSpPr>
        <p:spPr>
          <a:xfrm xmlns:a="http://schemas.openxmlformats.org/drawingml/2006/main" rot="0">
            <a:off x="15812135" y="4892097"/>
            <a:ext cx="1462633"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Slow qualification</a:t>
            </a:r>
          </a:p>
        </p:txBody>
      </p:sp>
      <p:sp>
        <p:nvSpPr>
          <p:cNvPr id="30" name="Figure 8 label 29 line 1">
            <a:extLst xmlns:a="http://schemas.openxmlformats.org/drawingml/2006/main">
              <a:ext uri="{FF2B5EF4-FFF2-40B4-BE49-F238E27FC236}">
                <a16:creationId xmlns:a16="http://schemas.microsoft.com/office/drawing/2014/main" id="{49FE2D25-E5FE-4C86-8CD9-D0AA9F523CAC}"/>
              </a:ext>
            </a:extLst>
          </p:cNvPr>
          <p:cNvSpPr>
            <a:spLocks xmlns:a="http://schemas.openxmlformats.org/drawingml/2006/main" noGrp="1"/>
          </p:cNvSpPr>
          <p:nvPr/>
        </p:nvSpPr>
        <p:spPr>
          <a:xfrm xmlns:a="http://schemas.openxmlformats.org/drawingml/2006/main" rot="0">
            <a:off x="15812135" y="5139374"/>
            <a:ext cx="1491952" cy="218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75" b="0">
                <a:solidFill>
                  <a:srgbClr val="00355F"/>
                </a:solidFill>
                <a:latin typeface="Arial Unicode MS"/>
                <a:ea typeface="Arial Unicode MS"/>
                <a:cs typeface="Arial Unicode MS"/>
              </a:defRPr>
            </a:defPPr>
          </a:lstStyle>
          <a:p xmlns:a="http://schemas.openxmlformats.org/drawingml/2006/main">
            <a:pPr algn="l">
              <a:lnSpc>
                <a:spcPct val="100000"/>
              </a:lnSpc>
              <a:buNone/>
              <a:defRPr sz="1375" b="0">
                <a:solidFill>
                  <a:srgbClr val="00355F"/>
                </a:solidFill>
                <a:latin typeface="Arial Unicode MS"/>
                <a:ea typeface="Arial Unicode MS"/>
                <a:cs typeface="Arial Unicode MS"/>
              </a:defRPr>
            </a:pPr>
            <a:r>
              <a:rPr sz="1375" b="0">
                <a:solidFill>
                  <a:srgbClr val="00355F"/>
                </a:solidFill>
                <a:latin typeface="Arial Unicode MS"/>
                <a:ea typeface="Arial Unicode MS"/>
                <a:cs typeface="Arial Unicode MS"/>
              </a:rPr>
              <a:t>All need evidence</a:t>
            </a:r>
          </a:p>
        </p:txBody>
      </p:sp>
      <p:sp>
        <p:nvSpPr>
          <p:cNvPr id="31" name="Figure 8 label 30 line 1">
            <a:extLst xmlns:a="http://schemas.openxmlformats.org/drawingml/2006/main">
              <a:ext uri="{FF2B5EF4-FFF2-40B4-BE49-F238E27FC236}">
                <a16:creationId xmlns:a16="http://schemas.microsoft.com/office/drawing/2014/main" id="{93CCBC8E-9123-46A5-839D-C05B09DCA9C5}"/>
              </a:ext>
            </a:extLst>
          </p:cNvPr>
          <p:cNvSpPr>
            <a:spLocks xmlns:a="http://schemas.openxmlformats.org/drawingml/2006/main" noGrp="1"/>
          </p:cNvSpPr>
          <p:nvPr/>
        </p:nvSpPr>
        <p:spPr>
          <a:xfrm xmlns:a="http://schemas.openxmlformats.org/drawingml/2006/main" rot="0">
            <a:off x="15812262" y="6652643"/>
            <a:ext cx="15218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Check inventories,</a:t>
            </a:r>
          </a:p>
        </p:txBody>
      </p:sp>
      <p:sp>
        <p:nvSpPr>
          <p:cNvPr id="32" name="Figure 8 label 31 line 1">
            <a:extLst xmlns:a="http://schemas.openxmlformats.org/drawingml/2006/main">
              <a:ext uri="{FF2B5EF4-FFF2-40B4-BE49-F238E27FC236}">
                <a16:creationId xmlns:a16="http://schemas.microsoft.com/office/drawing/2014/main" id="{DCFE0165-74E8-48CE-B150-FBD2DD24BDEE}"/>
              </a:ext>
            </a:extLst>
          </p:cNvPr>
          <p:cNvSpPr>
            <a:spLocks xmlns:a="http://schemas.openxmlformats.org/drawingml/2006/main" noGrp="1"/>
          </p:cNvSpPr>
          <p:nvPr/>
        </p:nvSpPr>
        <p:spPr>
          <a:xfrm xmlns:a="http://schemas.openxmlformats.org/drawingml/2006/main" rot="0">
            <a:off x="15812262" y="6895424"/>
            <a:ext cx="93118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orders and</a:t>
            </a:r>
          </a:p>
        </p:txBody>
      </p:sp>
      <p:sp>
        <p:nvSpPr>
          <p:cNvPr id="33" name="Figure 8 label 32 line 1">
            <a:extLst xmlns:a="http://schemas.openxmlformats.org/drawingml/2006/main">
              <a:ext uri="{FF2B5EF4-FFF2-40B4-BE49-F238E27FC236}">
                <a16:creationId xmlns:a16="http://schemas.microsoft.com/office/drawing/2014/main" id="{18125421-7C16-4826-A70A-191867BB7055}"/>
              </a:ext>
            </a:extLst>
          </p:cNvPr>
          <p:cNvSpPr>
            <a:spLocks xmlns:a="http://schemas.openxmlformats.org/drawingml/2006/main" noGrp="1"/>
          </p:cNvSpPr>
          <p:nvPr/>
        </p:nvSpPr>
        <p:spPr>
          <a:xfrm xmlns:a="http://schemas.openxmlformats.org/drawingml/2006/main" rot="0">
            <a:off x="15812262" y="7138206"/>
            <a:ext cx="8929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lead times</a:t>
            </a:r>
          </a:p>
        </p:txBody>
      </p:sp>
    </p:spTree>
    <p:extLst>
      <p:ext uri="{BB962C8B-B14F-4D97-AF65-F5344CB8AC3E}">
        <p14:creationId xmlns:p14="http://schemas.microsoft.com/office/powerpoint/2010/main" val="13463918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7" name="">
            <a:extLst xmlns:a="http://schemas.openxmlformats.org/drawingml/2006/main">
              <a:ext uri="{FF2B5EF4-FFF2-40B4-BE49-F238E27FC236}">
                <a16:creationId xmlns:a16="http://schemas.microsoft.com/office/drawing/2014/main" id="{DFED05C8-9613-42A0-B66B-B7F9B8EBEDAD}"/>
              </a:ext>
            </a:extLst>
          </p:cNvPr>
          <p:cNvPicPr>
            <a:picLocks xmlns:a="http://schemas.openxmlformats.org/drawingml/2006/main" noChangeAspect="1"/>
          </p:cNvPicPr>
          <p:nvPr/>
        </p:nvPicPr>
        <p:blipFill>
          <a:blip xmlns:r="http://schemas.openxmlformats.org/officeDocument/2006/relationships" xmlns:a="http://schemas.openxmlformats.org/drawingml/2006/main" r:embed="Rba1f8e800a8a460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9 label 1 line 1">
            <a:extLst xmlns:a="http://schemas.openxmlformats.org/drawingml/2006/main">
              <a:ext uri="{FF2B5EF4-FFF2-40B4-BE49-F238E27FC236}">
                <a16:creationId xmlns:a16="http://schemas.microsoft.com/office/drawing/2014/main" id="{2D9C2BF4-E421-4B55-B512-4FB0609E441E}"/>
              </a:ext>
            </a:extLst>
          </p:cNvPr>
          <p:cNvSpPr>
            <a:spLocks xmlns:a="http://schemas.openxmlformats.org/drawingml/2006/main" noGrp="1"/>
          </p:cNvSpPr>
          <p:nvPr/>
        </p:nvSpPr>
        <p:spPr>
          <a:xfrm xmlns:a="http://schemas.openxmlformats.org/drawingml/2006/main" rot="0">
            <a:off x="2387617" y="7924632"/>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3" name="Figure 9 label 2 line 1">
            <a:extLst xmlns:a="http://schemas.openxmlformats.org/drawingml/2006/main">
              <a:ext uri="{FF2B5EF4-FFF2-40B4-BE49-F238E27FC236}">
                <a16:creationId xmlns:a16="http://schemas.microsoft.com/office/drawing/2014/main" id="{D295369B-6273-4EA4-8FE9-967790D8325A}"/>
              </a:ext>
            </a:extLst>
          </p:cNvPr>
          <p:cNvSpPr>
            <a:spLocks xmlns:a="http://schemas.openxmlformats.org/drawingml/2006/main" noGrp="1"/>
          </p:cNvSpPr>
          <p:nvPr/>
        </p:nvSpPr>
        <p:spPr>
          <a:xfrm xmlns:a="http://schemas.openxmlformats.org/drawingml/2006/main" rot="0">
            <a:off x="6503000" y="7924632"/>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4" name="Figure 9 label 3 line 1">
            <a:extLst xmlns:a="http://schemas.openxmlformats.org/drawingml/2006/main">
              <a:ext uri="{FF2B5EF4-FFF2-40B4-BE49-F238E27FC236}">
                <a16:creationId xmlns:a16="http://schemas.microsoft.com/office/drawing/2014/main" id="{DD66AFED-CAF4-44A7-9F28-C9460B0031F8}"/>
              </a:ext>
            </a:extLst>
          </p:cNvPr>
          <p:cNvSpPr>
            <a:spLocks xmlns:a="http://schemas.openxmlformats.org/drawingml/2006/main" noGrp="1"/>
          </p:cNvSpPr>
          <p:nvPr/>
        </p:nvSpPr>
        <p:spPr>
          <a:xfrm xmlns:a="http://schemas.openxmlformats.org/drawingml/2006/main" rot="0">
            <a:off x="10925268" y="7924632"/>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5" name="Figure 9 label 4 line 1">
            <a:extLst xmlns:a="http://schemas.openxmlformats.org/drawingml/2006/main">
              <a:ext uri="{FF2B5EF4-FFF2-40B4-BE49-F238E27FC236}">
                <a16:creationId xmlns:a16="http://schemas.microsoft.com/office/drawing/2014/main" id="{39F39841-4481-4F34-9257-F0003A10FF8C}"/>
              </a:ext>
            </a:extLst>
          </p:cNvPr>
          <p:cNvSpPr>
            <a:spLocks xmlns:a="http://schemas.openxmlformats.org/drawingml/2006/main" noGrp="1"/>
          </p:cNvSpPr>
          <p:nvPr/>
        </p:nvSpPr>
        <p:spPr>
          <a:xfrm xmlns:a="http://schemas.openxmlformats.org/drawingml/2006/main" rot="0">
            <a:off x="4883750" y="8291493"/>
            <a:ext cx="403994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Direct exposure to AI build-and-test demand →</a:t>
            </a:r>
          </a:p>
        </p:txBody>
      </p:sp>
      <p:sp>
        <p:nvSpPr>
          <p:cNvPr id="6" name="Figure 9 label 5 line 1">
            <a:extLst xmlns:a="http://schemas.openxmlformats.org/drawingml/2006/main">
              <a:ext uri="{FF2B5EF4-FFF2-40B4-BE49-F238E27FC236}">
                <a16:creationId xmlns:a16="http://schemas.microsoft.com/office/drawing/2014/main" id="{36C6CF8C-4BB2-4954-99EE-036E7B1433AE}"/>
              </a:ext>
            </a:extLst>
          </p:cNvPr>
          <p:cNvSpPr>
            <a:spLocks xmlns:a="http://schemas.openxmlformats.org/drawingml/2006/main" noGrp="1"/>
          </p:cNvSpPr>
          <p:nvPr/>
        </p:nvSpPr>
        <p:spPr>
          <a:xfrm xmlns:a="http://schemas.openxmlformats.org/drawingml/2006/main" rot="0">
            <a:off x="922308" y="7147349"/>
            <a:ext cx="473422"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Low</a:t>
            </a:r>
          </a:p>
        </p:txBody>
      </p:sp>
      <p:sp>
        <p:nvSpPr>
          <p:cNvPr id="7" name="Figure 9 label 6 line 1">
            <a:extLst xmlns:a="http://schemas.openxmlformats.org/drawingml/2006/main">
              <a:ext uri="{FF2B5EF4-FFF2-40B4-BE49-F238E27FC236}">
                <a16:creationId xmlns:a16="http://schemas.microsoft.com/office/drawing/2014/main" id="{1906DF89-DDF8-4644-B7F4-940FF87A8DA8}"/>
              </a:ext>
            </a:extLst>
          </p:cNvPr>
          <p:cNvSpPr>
            <a:spLocks xmlns:a="http://schemas.openxmlformats.org/drawingml/2006/main" noGrp="1"/>
          </p:cNvSpPr>
          <p:nvPr/>
        </p:nvSpPr>
        <p:spPr>
          <a:xfrm xmlns:a="http://schemas.openxmlformats.org/drawingml/2006/main" rot="0">
            <a:off x="594291" y="4945931"/>
            <a:ext cx="8014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Medium</a:t>
            </a:r>
          </a:p>
        </p:txBody>
      </p:sp>
      <p:sp>
        <p:nvSpPr>
          <p:cNvPr id="8" name="Figure 9 label 7 line 1">
            <a:extLst xmlns:a="http://schemas.openxmlformats.org/drawingml/2006/main">
              <a:ext uri="{FF2B5EF4-FFF2-40B4-BE49-F238E27FC236}">
                <a16:creationId xmlns:a16="http://schemas.microsoft.com/office/drawing/2014/main" id="{418B3720-3E1C-4AD6-B069-E3D2199B5110}"/>
              </a:ext>
            </a:extLst>
          </p:cNvPr>
          <p:cNvSpPr>
            <a:spLocks xmlns:a="http://schemas.openxmlformats.org/drawingml/2006/main" noGrp="1"/>
          </p:cNvSpPr>
          <p:nvPr/>
        </p:nvSpPr>
        <p:spPr>
          <a:xfrm xmlns:a="http://schemas.openxmlformats.org/drawingml/2006/main" rot="0">
            <a:off x="880041" y="2744513"/>
            <a:ext cx="51568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500" b="0">
                <a:solidFill>
                  <a:srgbClr val="00355F"/>
                </a:solidFill>
                <a:latin typeface="Arial Unicode MS"/>
                <a:ea typeface="Arial Unicode MS"/>
                <a:cs typeface="Arial Unicode MS"/>
              </a:defRPr>
            </a:defPPr>
          </a:lstStyle>
          <a:p xmlns:a="http://schemas.openxmlformats.org/drawingml/2006/main">
            <a:pPr algn="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High</a:t>
            </a:r>
          </a:p>
        </p:txBody>
      </p:sp>
      <p:sp>
        <p:nvSpPr>
          <p:cNvPr id="9" name="Figure 9 label 8 line 1">
            <a:extLst xmlns:a="http://schemas.openxmlformats.org/drawingml/2006/main">
              <a:ext uri="{FF2B5EF4-FFF2-40B4-BE49-F238E27FC236}">
                <a16:creationId xmlns:a16="http://schemas.microsoft.com/office/drawing/2014/main" id="{1488CB10-00C1-45E8-9C1E-2B74DE495562}"/>
              </a:ext>
            </a:extLst>
          </p:cNvPr>
          <p:cNvSpPr>
            <a:spLocks xmlns:a="http://schemas.openxmlformats.org/drawingml/2006/main" noGrp="1"/>
          </p:cNvSpPr>
          <p:nvPr/>
        </p:nvSpPr>
        <p:spPr>
          <a:xfrm xmlns:a="http://schemas.openxmlformats.org/drawingml/2006/main" rot="16200000">
            <a:off x="-1393066" y="4918710"/>
            <a:ext cx="374317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Supply barriers / global customer access →</a:t>
            </a:r>
          </a:p>
        </p:txBody>
      </p:sp>
      <p:sp>
        <p:nvSpPr>
          <p:cNvPr id="10" name="Figure 9 label 9 line 1">
            <a:extLst xmlns:a="http://schemas.openxmlformats.org/drawingml/2006/main">
              <a:ext uri="{FF2B5EF4-FFF2-40B4-BE49-F238E27FC236}">
                <a16:creationId xmlns:a16="http://schemas.microsoft.com/office/drawing/2014/main" id="{10677C39-47AE-4270-8EDD-9A246EA135C0}"/>
              </a:ext>
            </a:extLst>
          </p:cNvPr>
          <p:cNvSpPr>
            <a:spLocks xmlns:a="http://schemas.openxmlformats.org/drawingml/2006/main" noGrp="1"/>
          </p:cNvSpPr>
          <p:nvPr/>
        </p:nvSpPr>
        <p:spPr>
          <a:xfrm xmlns:a="http://schemas.openxmlformats.org/drawingml/2006/main" rot="0">
            <a:off x="9366521" y="2832061"/>
            <a:ext cx="144214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00355F"/>
                </a:solidFill>
                <a:latin typeface="Arial Unicode MS"/>
                <a:ea typeface="Arial Unicode MS"/>
                <a:cs typeface="Arial Unicode MS"/>
              </a:defRPr>
            </a:defPPr>
          </a:lstStyle>
          <a:p xmlns:a="http://schemas.openxmlformats.org/drawingml/2006/main">
            <a:pPr algn="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ACROBiosystems</a:t>
            </a:r>
          </a:p>
        </p:txBody>
      </p:sp>
      <p:sp>
        <p:nvSpPr>
          <p:cNvPr id="11" name="Figure 9 label 10 line 1">
            <a:extLst xmlns:a="http://schemas.openxmlformats.org/drawingml/2006/main">
              <a:ext uri="{FF2B5EF4-FFF2-40B4-BE49-F238E27FC236}">
                <a16:creationId xmlns:a16="http://schemas.microsoft.com/office/drawing/2014/main" id="{4D0C39A6-C50E-41D0-A402-7A922912E75E}"/>
              </a:ext>
            </a:extLst>
          </p:cNvPr>
          <p:cNvSpPr>
            <a:spLocks xmlns:a="http://schemas.openxmlformats.org/drawingml/2006/main" noGrp="1"/>
          </p:cNvSpPr>
          <p:nvPr/>
        </p:nvSpPr>
        <p:spPr>
          <a:xfrm xmlns:a="http://schemas.openxmlformats.org/drawingml/2006/main" rot="0">
            <a:off x="11007531" y="3656577"/>
            <a:ext cx="71050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00355F"/>
                </a:solidFill>
                <a:latin typeface="Arial Unicode MS"/>
                <a:ea typeface="Arial Unicode MS"/>
                <a:cs typeface="Arial Unicode MS"/>
              </a:defRPr>
            </a:defPPr>
          </a:lstStyle>
          <a:p xmlns:a="http://schemas.openxmlformats.org/drawingml/2006/main">
            <a:pPr algn="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Vazyme</a:t>
            </a:r>
          </a:p>
        </p:txBody>
      </p:sp>
      <p:sp>
        <p:nvSpPr>
          <p:cNvPr id="12" name="Figure 9 label 11 line 1">
            <a:extLst xmlns:a="http://schemas.openxmlformats.org/drawingml/2006/main">
              <a:ext uri="{FF2B5EF4-FFF2-40B4-BE49-F238E27FC236}">
                <a16:creationId xmlns:a16="http://schemas.microsoft.com/office/drawing/2014/main" id="{338D6C23-3CFE-4A90-B49E-D1D705671274}"/>
              </a:ext>
            </a:extLst>
          </p:cNvPr>
          <p:cNvSpPr>
            <a:spLocks xmlns:a="http://schemas.openxmlformats.org/drawingml/2006/main" noGrp="1"/>
          </p:cNvSpPr>
          <p:nvPr/>
        </p:nvSpPr>
        <p:spPr>
          <a:xfrm xmlns:a="http://schemas.openxmlformats.org/drawingml/2006/main" rot="0">
            <a:off x="8394840" y="3492487"/>
            <a:ext cx="120178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Sino Biological</a:t>
            </a:r>
          </a:p>
        </p:txBody>
      </p:sp>
      <p:sp>
        <p:nvSpPr>
          <p:cNvPr id="13" name="Figure 9 label 12 line 1">
            <a:extLst xmlns:a="http://schemas.openxmlformats.org/drawingml/2006/main">
              <a:ext uri="{FF2B5EF4-FFF2-40B4-BE49-F238E27FC236}">
                <a16:creationId xmlns:a16="http://schemas.microsoft.com/office/drawing/2014/main" id="{DDDD1860-D6D2-4A94-833A-413FFCBF5713}"/>
              </a:ext>
            </a:extLst>
          </p:cNvPr>
          <p:cNvSpPr>
            <a:spLocks xmlns:a="http://schemas.openxmlformats.org/drawingml/2006/main" noGrp="1"/>
          </p:cNvSpPr>
          <p:nvPr/>
        </p:nvSpPr>
        <p:spPr>
          <a:xfrm xmlns:a="http://schemas.openxmlformats.org/drawingml/2006/main" rot="0">
            <a:off x="8180871" y="4400454"/>
            <a:ext cx="100726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Novoprotein</a:t>
            </a:r>
          </a:p>
        </p:txBody>
      </p:sp>
      <p:sp>
        <p:nvSpPr>
          <p:cNvPr id="14" name="Figure 9 label 13 line 1">
            <a:extLst xmlns:a="http://schemas.openxmlformats.org/drawingml/2006/main">
              <a:ext uri="{FF2B5EF4-FFF2-40B4-BE49-F238E27FC236}">
                <a16:creationId xmlns:a16="http://schemas.microsoft.com/office/drawing/2014/main" id="{D2BD2FED-D42E-48F3-B47B-7200D628F3E0}"/>
              </a:ext>
            </a:extLst>
          </p:cNvPr>
          <p:cNvSpPr>
            <a:spLocks xmlns:a="http://schemas.openxmlformats.org/drawingml/2006/main" noGrp="1"/>
          </p:cNvSpPr>
          <p:nvPr/>
        </p:nvSpPr>
        <p:spPr>
          <a:xfrm xmlns:a="http://schemas.openxmlformats.org/drawingml/2006/main" rot="0">
            <a:off x="5238788" y="3409816"/>
            <a:ext cx="914400"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NanoMicro</a:t>
            </a:r>
          </a:p>
        </p:txBody>
      </p:sp>
      <p:sp>
        <p:nvSpPr>
          <p:cNvPr id="15" name="Figure 9 label 14 line 1">
            <a:extLst xmlns:a="http://schemas.openxmlformats.org/drawingml/2006/main">
              <a:ext uri="{FF2B5EF4-FFF2-40B4-BE49-F238E27FC236}">
                <a16:creationId xmlns:a16="http://schemas.microsoft.com/office/drawing/2014/main" id="{F28BFDA6-190F-4478-A517-F5621B8C70CE}"/>
              </a:ext>
            </a:extLst>
          </p:cNvPr>
          <p:cNvSpPr>
            <a:spLocks xmlns:a="http://schemas.openxmlformats.org/drawingml/2006/main" noGrp="1"/>
          </p:cNvSpPr>
          <p:nvPr/>
        </p:nvSpPr>
        <p:spPr>
          <a:xfrm xmlns:a="http://schemas.openxmlformats.org/drawingml/2006/main" rot="0">
            <a:off x="5773712" y="4153810"/>
            <a:ext cx="58102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Sepax</a:t>
            </a:r>
          </a:p>
        </p:txBody>
      </p:sp>
      <p:sp>
        <p:nvSpPr>
          <p:cNvPr id="16" name="Figure 9 label 15 line 1">
            <a:extLst xmlns:a="http://schemas.openxmlformats.org/drawingml/2006/main">
              <a:ext uri="{FF2B5EF4-FFF2-40B4-BE49-F238E27FC236}">
                <a16:creationId xmlns:a16="http://schemas.microsoft.com/office/drawing/2014/main" id="{22DCCA95-4A71-4099-A697-E3A617F6CFEB}"/>
              </a:ext>
            </a:extLst>
          </p:cNvPr>
          <p:cNvSpPr>
            <a:spLocks xmlns:a="http://schemas.openxmlformats.org/drawingml/2006/main" noGrp="1"/>
          </p:cNvSpPr>
          <p:nvPr/>
        </p:nvSpPr>
        <p:spPr>
          <a:xfrm xmlns:a="http://schemas.openxmlformats.org/drawingml/2006/main" rot="0">
            <a:off x="8662301" y="5336057"/>
            <a:ext cx="81230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JET Biofil</a:t>
            </a:r>
          </a:p>
        </p:txBody>
      </p:sp>
      <p:sp>
        <p:nvSpPr>
          <p:cNvPr id="17" name="Figure 9 label 16 line 1">
            <a:extLst xmlns:a="http://schemas.openxmlformats.org/drawingml/2006/main">
              <a:ext uri="{FF2B5EF4-FFF2-40B4-BE49-F238E27FC236}">
                <a16:creationId xmlns:a16="http://schemas.microsoft.com/office/drawing/2014/main" id="{47DAD412-19CA-487D-8205-29F5A38140A4}"/>
              </a:ext>
            </a:extLst>
          </p:cNvPr>
          <p:cNvSpPr>
            <a:spLocks xmlns:a="http://schemas.openxmlformats.org/drawingml/2006/main" noGrp="1"/>
          </p:cNvSpPr>
          <p:nvPr/>
        </p:nvSpPr>
        <p:spPr>
          <a:xfrm xmlns:a="http://schemas.openxmlformats.org/drawingml/2006/main" rot="0">
            <a:off x="7271500" y="3795182"/>
            <a:ext cx="97035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Changhong</a:t>
            </a:r>
          </a:p>
        </p:txBody>
      </p:sp>
      <p:sp>
        <p:nvSpPr>
          <p:cNvPr id="18" name="Figure 9 label 17 line 1">
            <a:extLst xmlns:a="http://schemas.openxmlformats.org/drawingml/2006/main">
              <a:ext uri="{FF2B5EF4-FFF2-40B4-BE49-F238E27FC236}">
                <a16:creationId xmlns:a16="http://schemas.microsoft.com/office/drawing/2014/main" id="{A42FF9A8-0174-4230-BC33-1536472D22A2}"/>
              </a:ext>
            </a:extLst>
          </p:cNvPr>
          <p:cNvSpPr>
            <a:spLocks xmlns:a="http://schemas.openxmlformats.org/drawingml/2006/main" noGrp="1"/>
          </p:cNvSpPr>
          <p:nvPr/>
        </p:nvSpPr>
        <p:spPr>
          <a:xfrm xmlns:a="http://schemas.openxmlformats.org/drawingml/2006/main" rot="0">
            <a:off x="9732150" y="4593078"/>
            <a:ext cx="1387078"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Bide Pharmatech</a:t>
            </a:r>
          </a:p>
        </p:txBody>
      </p:sp>
      <p:sp>
        <p:nvSpPr>
          <p:cNvPr id="19" name="Figure 9 label 18 line 1">
            <a:extLst xmlns:a="http://schemas.openxmlformats.org/drawingml/2006/main">
              <a:ext uri="{FF2B5EF4-FFF2-40B4-BE49-F238E27FC236}">
                <a16:creationId xmlns:a16="http://schemas.microsoft.com/office/drawing/2014/main" id="{5C169BDF-F546-4A33-8D13-84F46A6A6C1C}"/>
              </a:ext>
            </a:extLst>
          </p:cNvPr>
          <p:cNvSpPr>
            <a:spLocks xmlns:a="http://schemas.openxmlformats.org/drawingml/2006/main" noGrp="1"/>
          </p:cNvSpPr>
          <p:nvPr/>
        </p:nvSpPr>
        <p:spPr>
          <a:xfrm xmlns:a="http://schemas.openxmlformats.org/drawingml/2006/main" rot="0">
            <a:off x="10669817" y="5337072"/>
            <a:ext cx="1155204"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313" b="0">
                <a:solidFill>
                  <a:srgbClr val="00355F"/>
                </a:solidFill>
                <a:latin typeface="Arial Unicode MS"/>
                <a:ea typeface="Arial Unicode MS"/>
                <a:cs typeface="Arial Unicode MS"/>
              </a:defRPr>
            </a:defPPr>
          </a:lstStyle>
          <a:p xmlns:a="http://schemas.openxmlformats.org/drawingml/2006/main">
            <a:pPr algn="r">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ChemExpress</a:t>
            </a:r>
          </a:p>
        </p:txBody>
      </p:sp>
      <p:sp>
        <p:nvSpPr>
          <p:cNvPr id="20" name="Figure 9 label 19 line 1">
            <a:extLst xmlns:a="http://schemas.openxmlformats.org/drawingml/2006/main">
              <a:ext uri="{FF2B5EF4-FFF2-40B4-BE49-F238E27FC236}">
                <a16:creationId xmlns:a16="http://schemas.microsoft.com/office/drawing/2014/main" id="{A0F55331-4194-4C80-9D10-429AF3E43247}"/>
              </a:ext>
            </a:extLst>
          </p:cNvPr>
          <p:cNvSpPr>
            <a:spLocks xmlns:a="http://schemas.openxmlformats.org/drawingml/2006/main" noGrp="1"/>
          </p:cNvSpPr>
          <p:nvPr/>
        </p:nvSpPr>
        <p:spPr>
          <a:xfrm xmlns:a="http://schemas.openxmlformats.org/drawingml/2006/main" rot="0">
            <a:off x="6041174" y="2721873"/>
            <a:ext cx="42326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MGI</a:t>
            </a:r>
          </a:p>
        </p:txBody>
      </p:sp>
      <p:sp>
        <p:nvSpPr>
          <p:cNvPr id="21" name="Figure 9 label 20 line 1">
            <a:extLst xmlns:a="http://schemas.openxmlformats.org/drawingml/2006/main">
              <a:ext uri="{FF2B5EF4-FFF2-40B4-BE49-F238E27FC236}">
                <a16:creationId xmlns:a16="http://schemas.microsoft.com/office/drawing/2014/main" id="{1FE9B638-6D44-4953-A6D4-48519D8129DB}"/>
              </a:ext>
            </a:extLst>
          </p:cNvPr>
          <p:cNvSpPr>
            <a:spLocks xmlns:a="http://schemas.openxmlformats.org/drawingml/2006/main" noGrp="1"/>
          </p:cNvSpPr>
          <p:nvPr/>
        </p:nvSpPr>
        <p:spPr>
          <a:xfrm xmlns:a="http://schemas.openxmlformats.org/drawingml/2006/main" rot="0">
            <a:off x="4757357" y="4868255"/>
            <a:ext cx="1423839"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OPM Biosciences</a:t>
            </a:r>
          </a:p>
        </p:txBody>
      </p:sp>
      <p:sp>
        <p:nvSpPr>
          <p:cNvPr id="22" name="Figure 9 label 21 line 1">
            <a:extLst xmlns:a="http://schemas.openxmlformats.org/drawingml/2006/main">
              <a:ext uri="{FF2B5EF4-FFF2-40B4-BE49-F238E27FC236}">
                <a16:creationId xmlns:a16="http://schemas.microsoft.com/office/drawing/2014/main" id="{27C0A093-9918-4FD6-B762-307AA8C5F8D2}"/>
              </a:ext>
            </a:extLst>
          </p:cNvPr>
          <p:cNvSpPr>
            <a:spLocks xmlns:a="http://schemas.openxmlformats.org/drawingml/2006/main" noGrp="1"/>
          </p:cNvSpPr>
          <p:nvPr/>
        </p:nvSpPr>
        <p:spPr>
          <a:xfrm xmlns:a="http://schemas.openxmlformats.org/drawingml/2006/main" rot="0">
            <a:off x="991870" y="421920"/>
            <a:ext cx="6574235"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09  Mapping Chinese listed LST suppliers</a:t>
            </a:r>
          </a:p>
        </p:txBody>
      </p:sp>
      <p:sp>
        <p:nvSpPr>
          <p:cNvPr id="23" name="Figure 9 label 22 line 1">
            <a:extLst xmlns:a="http://schemas.openxmlformats.org/drawingml/2006/main">
              <a:ext uri="{FF2B5EF4-FFF2-40B4-BE49-F238E27FC236}">
                <a16:creationId xmlns:a16="http://schemas.microsoft.com/office/drawing/2014/main" id="{CF431B8D-8B89-41D0-AFCF-ADFA132571BE}"/>
              </a:ext>
            </a:extLst>
          </p:cNvPr>
          <p:cNvSpPr>
            <a:spLocks xmlns:a="http://schemas.openxmlformats.org/drawingml/2006/main" noGrp="1"/>
          </p:cNvSpPr>
          <p:nvPr/>
        </p:nvSpPr>
        <p:spPr>
          <a:xfrm xmlns:a="http://schemas.openxmlformats.org/drawingml/2006/main" rot="0">
            <a:off x="15695588" y="661601"/>
            <a:ext cx="1070025"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HYPOTHESIS</a:t>
            </a:r>
          </a:p>
        </p:txBody>
      </p:sp>
      <p:sp>
        <p:nvSpPr>
          <p:cNvPr id="24" name="Figure 9 label 23 line 1">
            <a:extLst xmlns:a="http://schemas.openxmlformats.org/drawingml/2006/main">
              <a:ext uri="{FF2B5EF4-FFF2-40B4-BE49-F238E27FC236}">
                <a16:creationId xmlns:a16="http://schemas.microsoft.com/office/drawing/2014/main" id="{9203F4E3-26BC-4B31-B375-2725A588B62A}"/>
              </a:ext>
            </a:extLst>
          </p:cNvPr>
          <p:cNvSpPr>
            <a:spLocks xmlns:a="http://schemas.openxmlformats.org/drawingml/2006/main" noGrp="1"/>
          </p:cNvSpPr>
          <p:nvPr/>
        </p:nvSpPr>
        <p:spPr>
          <a:xfrm xmlns:a="http://schemas.openxmlformats.org/drawingml/2006/main" rot="0">
            <a:off x="998220" y="1248326"/>
            <a:ext cx="92940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Product exposure to AI build-and-test stages; positions do not measure AI revenue share or investment rank.</a:t>
            </a:r>
          </a:p>
        </p:txBody>
      </p:sp>
      <p:sp>
        <p:nvSpPr>
          <p:cNvPr id="25" name="Figure 9 label 24 line 1">
            <a:extLst xmlns:a="http://schemas.openxmlformats.org/drawingml/2006/main">
              <a:ext uri="{FF2B5EF4-FFF2-40B4-BE49-F238E27FC236}">
                <a16:creationId xmlns:a16="http://schemas.microsoft.com/office/drawing/2014/main" id="{427915D9-CDAA-46BC-8D0C-BD56D275325E}"/>
              </a:ext>
            </a:extLst>
          </p:cNvPr>
          <p:cNvSpPr>
            <a:spLocks xmlns:a="http://schemas.openxmlformats.org/drawingml/2006/main" noGrp="1"/>
          </p:cNvSpPr>
          <p:nvPr/>
        </p:nvSpPr>
        <p:spPr>
          <a:xfrm xmlns:a="http://schemas.openxmlformats.org/drawingml/2006/main" rot="0">
            <a:off x="999173" y="9256035"/>
            <a:ext cx="8039547"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Axes are qualitative judgments. Qualification, global customer access and paid orders still require evidence.</a:t>
            </a:r>
          </a:p>
        </p:txBody>
      </p:sp>
      <p:sp>
        <p:nvSpPr>
          <p:cNvPr id="26" name="Figure 9 label 25 line 1">
            <a:extLst xmlns:a="http://schemas.openxmlformats.org/drawingml/2006/main">
              <a:ext uri="{FF2B5EF4-FFF2-40B4-BE49-F238E27FC236}">
                <a16:creationId xmlns:a16="http://schemas.microsoft.com/office/drawing/2014/main" id="{F9EF40C1-EAAE-4312-960F-77044B65EB14}"/>
              </a:ext>
            </a:extLst>
          </p:cNvPr>
          <p:cNvSpPr>
            <a:spLocks xmlns:a="http://schemas.openxmlformats.org/drawingml/2006/main" noGrp="1"/>
          </p:cNvSpPr>
          <p:nvPr/>
        </p:nvSpPr>
        <p:spPr>
          <a:xfrm xmlns:a="http://schemas.openxmlformats.org/drawingml/2006/main" rot="0">
            <a:off x="1000316" y="9675546"/>
            <a:ext cx="6595646"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Sources: company filings and official product catalogs. Product rationale and assumptions are in data.json.</a:t>
            </a:r>
          </a:p>
        </p:txBody>
      </p:sp>
      <p:sp>
        <p:nvSpPr>
          <p:cNvPr id="27" name="Figure 9 label 26 line 1">
            <a:extLst xmlns:a="http://schemas.openxmlformats.org/drawingml/2006/main">
              <a:ext uri="{FF2B5EF4-FFF2-40B4-BE49-F238E27FC236}">
                <a16:creationId xmlns:a16="http://schemas.microsoft.com/office/drawing/2014/main" id="{B8352218-EF7A-4AFD-9237-42A5B32BDF0E}"/>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28" name="Figure 9 label 27 line 1">
            <a:extLst xmlns:a="http://schemas.openxmlformats.org/drawingml/2006/main">
              <a:ext uri="{FF2B5EF4-FFF2-40B4-BE49-F238E27FC236}">
                <a16:creationId xmlns:a16="http://schemas.microsoft.com/office/drawing/2014/main" id="{ED5FADBA-9C67-4B91-AD98-4AA4852D763D}"/>
              </a:ext>
            </a:extLst>
          </p:cNvPr>
          <p:cNvSpPr>
            <a:spLocks xmlns:a="http://schemas.openxmlformats.org/drawingml/2006/main" noGrp="1"/>
          </p:cNvSpPr>
          <p:nvPr/>
        </p:nvSpPr>
        <p:spPr>
          <a:xfrm xmlns:a="http://schemas.openxmlformats.org/drawingml/2006/main" rot="0">
            <a:off x="13250545" y="2538787"/>
            <a:ext cx="1017439"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1">
                <a:solidFill>
                  <a:srgbClr val="00355F"/>
                </a:solidFill>
                <a:latin typeface="Arial Unicode MS"/>
                <a:ea typeface="Arial Unicode MS"/>
                <a:cs typeface="Arial Unicode MS"/>
              </a:defRPr>
            </a:pPr>
            <a:r>
              <a:rPr sz="1625" b="1">
                <a:solidFill>
                  <a:srgbClr val="00355F"/>
                </a:solidFill>
                <a:latin typeface="Arial Unicode MS"/>
                <a:ea typeface="Arial Unicode MS"/>
                <a:cs typeface="Arial Unicode MS"/>
              </a:rPr>
              <a:t>Reagents</a:t>
            </a:r>
          </a:p>
        </p:txBody>
      </p:sp>
      <p:sp>
        <p:nvSpPr>
          <p:cNvPr id="29" name="Figure 9 label 28 line 1">
            <a:extLst xmlns:a="http://schemas.openxmlformats.org/drawingml/2006/main">
              <a:ext uri="{FF2B5EF4-FFF2-40B4-BE49-F238E27FC236}">
                <a16:creationId xmlns:a16="http://schemas.microsoft.com/office/drawing/2014/main" id="{F6E69FC5-E47C-4886-A45F-610D762B1BF8}"/>
              </a:ext>
            </a:extLst>
          </p:cNvPr>
          <p:cNvSpPr>
            <a:spLocks xmlns:a="http://schemas.openxmlformats.org/drawingml/2006/main" noGrp="1"/>
          </p:cNvSpPr>
          <p:nvPr/>
        </p:nvSpPr>
        <p:spPr>
          <a:xfrm xmlns:a="http://schemas.openxmlformats.org/drawingml/2006/main" rot="0">
            <a:off x="13252133" y="3010811"/>
            <a:ext cx="259124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Proteins, enzymes, blocks, media</a:t>
            </a:r>
          </a:p>
        </p:txBody>
      </p:sp>
      <p:sp>
        <p:nvSpPr>
          <p:cNvPr id="30" name="Figure 9 label 29 line 1">
            <a:extLst xmlns:a="http://schemas.openxmlformats.org/drawingml/2006/main">
              <a:ext uri="{FF2B5EF4-FFF2-40B4-BE49-F238E27FC236}">
                <a16:creationId xmlns:a16="http://schemas.microsoft.com/office/drawing/2014/main" id="{E75F61AA-2616-4B27-B451-A2D2AA87CD3C}"/>
              </a:ext>
            </a:extLst>
          </p:cNvPr>
          <p:cNvSpPr>
            <a:spLocks xmlns:a="http://schemas.openxmlformats.org/drawingml/2006/main" noGrp="1"/>
          </p:cNvSpPr>
          <p:nvPr/>
        </p:nvSpPr>
        <p:spPr>
          <a:xfrm xmlns:a="http://schemas.openxmlformats.org/drawingml/2006/main" rot="0">
            <a:off x="13250545" y="3620034"/>
            <a:ext cx="1395611"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1">
                <a:solidFill>
                  <a:srgbClr val="00355F"/>
                </a:solidFill>
                <a:latin typeface="Arial Unicode MS"/>
                <a:ea typeface="Arial Unicode MS"/>
                <a:cs typeface="Arial Unicode MS"/>
              </a:defRPr>
            </a:pPr>
            <a:r>
              <a:rPr sz="1625" b="1">
                <a:solidFill>
                  <a:srgbClr val="00355F"/>
                </a:solidFill>
                <a:latin typeface="Arial Unicode MS"/>
                <a:ea typeface="Arial Unicode MS"/>
                <a:cs typeface="Arial Unicode MS"/>
              </a:rPr>
              <a:t>Consumables</a:t>
            </a:r>
          </a:p>
        </p:txBody>
      </p:sp>
      <p:sp>
        <p:nvSpPr>
          <p:cNvPr id="31" name="Figure 9 label 30 line 1">
            <a:extLst xmlns:a="http://schemas.openxmlformats.org/drawingml/2006/main">
              <a:ext uri="{FF2B5EF4-FFF2-40B4-BE49-F238E27FC236}">
                <a16:creationId xmlns:a16="http://schemas.microsoft.com/office/drawing/2014/main" id="{B3AF8006-70B7-4499-B409-A50E89484B73}"/>
              </a:ext>
            </a:extLst>
          </p:cNvPr>
          <p:cNvSpPr>
            <a:spLocks xmlns:a="http://schemas.openxmlformats.org/drawingml/2006/main" noGrp="1"/>
          </p:cNvSpPr>
          <p:nvPr/>
        </p:nvSpPr>
        <p:spPr>
          <a:xfrm xmlns:a="http://schemas.openxmlformats.org/drawingml/2006/main" rot="0">
            <a:off x="13252133" y="4091844"/>
            <a:ext cx="1998315"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Labware, columns, resins</a:t>
            </a:r>
          </a:p>
        </p:txBody>
      </p:sp>
      <p:sp>
        <p:nvSpPr>
          <p:cNvPr id="32" name="Figure 9 label 31 line 1">
            <a:extLst xmlns:a="http://schemas.openxmlformats.org/drawingml/2006/main">
              <a:ext uri="{FF2B5EF4-FFF2-40B4-BE49-F238E27FC236}">
                <a16:creationId xmlns:a16="http://schemas.microsoft.com/office/drawing/2014/main" id="{FEE41338-886A-4183-AF0F-17D1BD66DB0D}"/>
              </a:ext>
            </a:extLst>
          </p:cNvPr>
          <p:cNvSpPr>
            <a:spLocks xmlns:a="http://schemas.openxmlformats.org/drawingml/2006/main" noGrp="1"/>
          </p:cNvSpPr>
          <p:nvPr/>
        </p:nvSpPr>
        <p:spPr>
          <a:xfrm xmlns:a="http://schemas.openxmlformats.org/drawingml/2006/main" rot="0">
            <a:off x="13250545" y="4701427"/>
            <a:ext cx="2232323" cy="2579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25" b="1">
                <a:solidFill>
                  <a:srgbClr val="00355F"/>
                </a:solidFill>
                <a:latin typeface="Arial Unicode MS"/>
                <a:ea typeface="Arial Unicode MS"/>
                <a:cs typeface="Arial Unicode MS"/>
              </a:defRPr>
            </a:defPPr>
          </a:lstStyle>
          <a:p xmlns:a="http://schemas.openxmlformats.org/drawingml/2006/main">
            <a:pPr algn="l">
              <a:lnSpc>
                <a:spcPct val="100000"/>
              </a:lnSpc>
              <a:buNone/>
              <a:defRPr sz="1625" b="1">
                <a:solidFill>
                  <a:srgbClr val="00355F"/>
                </a:solidFill>
                <a:latin typeface="Arial Unicode MS"/>
                <a:ea typeface="Arial Unicode MS"/>
                <a:cs typeface="Arial Unicode MS"/>
              </a:defRPr>
            </a:pPr>
            <a:r>
              <a:rPr sz="1625" b="1">
                <a:solidFill>
                  <a:srgbClr val="00355F"/>
                </a:solidFill>
                <a:latin typeface="Arial Unicode MS"/>
                <a:ea typeface="Arial Unicode MS"/>
                <a:cs typeface="Arial Unicode MS"/>
              </a:rPr>
              <a:t>Instruments / platforms</a:t>
            </a:r>
          </a:p>
        </p:txBody>
      </p:sp>
      <p:sp>
        <p:nvSpPr>
          <p:cNvPr id="33" name="Figure 9 label 32 line 1">
            <a:extLst xmlns:a="http://schemas.openxmlformats.org/drawingml/2006/main">
              <a:ext uri="{FF2B5EF4-FFF2-40B4-BE49-F238E27FC236}">
                <a16:creationId xmlns:a16="http://schemas.microsoft.com/office/drawing/2014/main" id="{9575E91D-B272-43E0-B43B-C49C0D40257A}"/>
              </a:ext>
            </a:extLst>
          </p:cNvPr>
          <p:cNvSpPr>
            <a:spLocks xmlns:a="http://schemas.openxmlformats.org/drawingml/2006/main" noGrp="1"/>
          </p:cNvSpPr>
          <p:nvPr/>
        </p:nvSpPr>
        <p:spPr>
          <a:xfrm xmlns:a="http://schemas.openxmlformats.org/drawingml/2006/main" rot="0">
            <a:off x="13252133" y="5172097"/>
            <a:ext cx="2184350"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Sequencing and automation</a:t>
            </a:r>
          </a:p>
        </p:txBody>
      </p:sp>
      <p:sp>
        <p:nvSpPr>
          <p:cNvPr id="34" name="Figure 9 label 33 line 1">
            <a:extLst xmlns:a="http://schemas.openxmlformats.org/drawingml/2006/main">
              <a:ext uri="{FF2B5EF4-FFF2-40B4-BE49-F238E27FC236}">
                <a16:creationId xmlns:a16="http://schemas.microsoft.com/office/drawing/2014/main" id="{9B1B1044-CC46-41A5-8B5F-AC6302065108}"/>
              </a:ext>
            </a:extLst>
          </p:cNvPr>
          <p:cNvSpPr>
            <a:spLocks xmlns:a="http://schemas.openxmlformats.org/drawingml/2006/main" noGrp="1"/>
          </p:cNvSpPr>
          <p:nvPr/>
        </p:nvSpPr>
        <p:spPr>
          <a:xfrm xmlns:a="http://schemas.openxmlformats.org/drawingml/2006/main" rot="0">
            <a:off x="13342620" y="6238682"/>
            <a:ext cx="282416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1">
                <a:solidFill>
                  <a:srgbClr val="00355F"/>
                </a:solidFill>
                <a:latin typeface="Arial Unicode MS"/>
                <a:ea typeface="Arial Unicode MS"/>
                <a:cs typeface="Arial Unicode MS"/>
              </a:defRPr>
            </a:pPr>
            <a:r>
              <a:rPr sz="1500" b="1">
                <a:solidFill>
                  <a:srgbClr val="00355F"/>
                </a:solidFill>
                <a:latin typeface="Arial Unicode MS"/>
                <a:ea typeface="Arial Unicode MS"/>
                <a:cs typeface="Arial Unicode MS"/>
              </a:rPr>
              <a:t>Two different demand pathways</a:t>
            </a:r>
          </a:p>
        </p:txBody>
      </p:sp>
      <p:sp>
        <p:nvSpPr>
          <p:cNvPr id="35" name="Figure 9 label 34 line 1">
            <a:extLst xmlns:a="http://schemas.openxmlformats.org/drawingml/2006/main">
              <a:ext uri="{FF2B5EF4-FFF2-40B4-BE49-F238E27FC236}">
                <a16:creationId xmlns:a16="http://schemas.microsoft.com/office/drawing/2014/main" id="{F3B2E0AC-266C-41F8-847C-0514FCD811F9}"/>
              </a:ext>
            </a:extLst>
          </p:cNvPr>
          <p:cNvSpPr>
            <a:spLocks xmlns:a="http://schemas.openxmlformats.org/drawingml/2006/main" noGrp="1"/>
          </p:cNvSpPr>
          <p:nvPr/>
        </p:nvSpPr>
        <p:spPr>
          <a:xfrm xmlns:a="http://schemas.openxmlformats.org/drawingml/2006/main" rot="0">
            <a:off x="13343446" y="6645481"/>
            <a:ext cx="2961065"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ACRO: expression / functional assays</a:t>
            </a:r>
          </a:p>
        </p:txBody>
      </p:sp>
      <p:sp>
        <p:nvSpPr>
          <p:cNvPr id="36" name="Figure 9 label 35 line 1">
            <a:extLst xmlns:a="http://schemas.openxmlformats.org/drawingml/2006/main">
              <a:ext uri="{FF2B5EF4-FFF2-40B4-BE49-F238E27FC236}">
                <a16:creationId xmlns:a16="http://schemas.microsoft.com/office/drawing/2014/main" id="{B4834C4A-ACD0-4D7B-9834-24DA8D503DC1}"/>
              </a:ext>
            </a:extLst>
          </p:cNvPr>
          <p:cNvSpPr>
            <a:spLocks xmlns:a="http://schemas.openxmlformats.org/drawingml/2006/main" noGrp="1"/>
          </p:cNvSpPr>
          <p:nvPr/>
        </p:nvSpPr>
        <p:spPr>
          <a:xfrm xmlns:a="http://schemas.openxmlformats.org/drawingml/2006/main" rot="0">
            <a:off x="13343446" y="6903730"/>
            <a:ext cx="2682756" cy="212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38" b="0">
                <a:solidFill>
                  <a:srgbClr val="00355F"/>
                </a:solidFill>
                <a:latin typeface="Arial Unicode MS"/>
                <a:ea typeface="Arial Unicode MS"/>
                <a:cs typeface="Arial Unicode MS"/>
              </a:defRPr>
            </a:defPPr>
          </a:lstStyle>
          <a:p xmlns:a="http://schemas.openxmlformats.org/drawingml/2006/main">
            <a:pPr algn="l">
              <a:lnSpc>
                <a:spcPct val="100000"/>
              </a:lnSpc>
              <a:buNone/>
              <a:defRPr sz="1338" b="0">
                <a:solidFill>
                  <a:srgbClr val="00355F"/>
                </a:solidFill>
                <a:latin typeface="Arial Unicode MS"/>
                <a:ea typeface="Arial Unicode MS"/>
                <a:cs typeface="Arial Unicode MS"/>
              </a:defRPr>
            </a:pPr>
            <a:r>
              <a:rPr sz="1338" b="0">
                <a:solidFill>
                  <a:srgbClr val="00355F"/>
                </a:solidFill>
                <a:latin typeface="Arial Unicode MS"/>
                <a:ea typeface="Arial Unicode MS"/>
                <a:cs typeface="Arial Unicode MS"/>
              </a:rPr>
              <a:t>NanoMicro: purification + scale-up</a:t>
            </a:r>
          </a:p>
        </p:txBody>
      </p:sp>
    </p:spTree>
    <p:extLst>
      <p:ext uri="{BB962C8B-B14F-4D97-AF65-F5344CB8AC3E}">
        <p14:creationId xmlns:p14="http://schemas.microsoft.com/office/powerpoint/2010/main" val="3083394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9" name="">
            <a:extLst xmlns:a="http://schemas.openxmlformats.org/drawingml/2006/main">
              <a:ext uri="{FF2B5EF4-FFF2-40B4-BE49-F238E27FC236}">
                <a16:creationId xmlns:a16="http://schemas.microsoft.com/office/drawing/2014/main" id="{2919A834-A8CC-4D84-9BB9-C5D6C5629A1B}"/>
              </a:ext>
            </a:extLst>
          </p:cNvPr>
          <p:cNvPicPr>
            <a:picLocks xmlns:a="http://schemas.openxmlformats.org/drawingml/2006/main" noChangeAspect="1"/>
          </p:cNvPicPr>
          <p:nvPr/>
        </p:nvPicPr>
        <p:blipFill>
          <a:blip xmlns:r="http://schemas.openxmlformats.org/officeDocument/2006/relationships" xmlns:a="http://schemas.openxmlformats.org/drawingml/2006/main" r:embed="Rcc4b214c9abc4a2d"/>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0 label 1 line 1">
            <a:extLst xmlns:a="http://schemas.openxmlformats.org/drawingml/2006/main">
              <a:ext uri="{FF2B5EF4-FFF2-40B4-BE49-F238E27FC236}">
                <a16:creationId xmlns:a16="http://schemas.microsoft.com/office/drawing/2014/main" id="{ED4E626A-DB29-4A88-A001-BAD627DF3677}"/>
              </a:ext>
            </a:extLst>
          </p:cNvPr>
          <p:cNvSpPr>
            <a:spLocks xmlns:a="http://schemas.openxmlformats.org/drawingml/2006/main" noGrp="1"/>
          </p:cNvSpPr>
          <p:nvPr/>
        </p:nvSpPr>
        <p:spPr>
          <a:xfrm xmlns:a="http://schemas.openxmlformats.org/drawingml/2006/main" rot="0">
            <a:off x="991870" y="421920"/>
            <a:ext cx="7447260" cy="4365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2750" b="1">
                <a:solidFill>
                  <a:srgbClr val="00355F"/>
                </a:solidFill>
                <a:latin typeface="Arial Unicode MS"/>
                <a:ea typeface="Arial Unicode MS"/>
                <a:cs typeface="Arial Unicode MS"/>
              </a:defRPr>
            </a:pPr>
            <a:r>
              <a:rPr sz="2750" b="1">
                <a:solidFill>
                  <a:srgbClr val="00355F"/>
                </a:solidFill>
                <a:latin typeface="Arial Unicode MS"/>
                <a:ea typeface="Arial Unicode MS"/>
                <a:cs typeface="Arial Unicode MS"/>
              </a:rPr>
              <a:t>10  From AI funding to LST shareholder returns</a:t>
            </a:r>
          </a:p>
        </p:txBody>
      </p:sp>
      <p:sp>
        <p:nvSpPr>
          <p:cNvPr id="3" name="Figure 10 label 2 line 1">
            <a:extLst xmlns:a="http://schemas.openxmlformats.org/drawingml/2006/main">
              <a:ext uri="{FF2B5EF4-FFF2-40B4-BE49-F238E27FC236}">
                <a16:creationId xmlns:a16="http://schemas.microsoft.com/office/drawing/2014/main" id="{50AB017E-2E12-42B1-8AC8-67AA2132CBC9}"/>
              </a:ext>
            </a:extLst>
          </p:cNvPr>
          <p:cNvSpPr>
            <a:spLocks xmlns:a="http://schemas.openxmlformats.org/drawingml/2006/main" noGrp="1"/>
          </p:cNvSpPr>
          <p:nvPr/>
        </p:nvSpPr>
        <p:spPr>
          <a:xfrm xmlns:a="http://schemas.openxmlformats.org/drawingml/2006/main" rot="0">
            <a:off x="15909231" y="661601"/>
            <a:ext cx="642739" cy="1885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188"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188" b="0">
                <a:solidFill>
                  <a:srgbClr val="00355F"/>
                </a:solidFill>
                <a:latin typeface="Arial Unicode MS"/>
                <a:ea typeface="Arial Unicode MS"/>
                <a:cs typeface="Arial Unicode MS"/>
              </a:defRPr>
            </a:pPr>
            <a:r>
              <a:rPr sz="1188" b="0">
                <a:solidFill>
                  <a:srgbClr val="00355F"/>
                </a:solidFill>
                <a:latin typeface="Arial Unicode MS"/>
                <a:ea typeface="Arial Unicode MS"/>
                <a:cs typeface="Arial Unicode MS"/>
              </a:rPr>
              <a:t>THESIS</a:t>
            </a:r>
          </a:p>
        </p:txBody>
      </p:sp>
      <p:sp>
        <p:nvSpPr>
          <p:cNvPr id="4" name="Figure 10 label 3 line 1">
            <a:extLst xmlns:a="http://schemas.openxmlformats.org/drawingml/2006/main">
              <a:ext uri="{FF2B5EF4-FFF2-40B4-BE49-F238E27FC236}">
                <a16:creationId xmlns:a16="http://schemas.microsoft.com/office/drawing/2014/main" id="{68FD6FDE-3EAA-4B7F-8027-C53BB05A7B60}"/>
              </a:ext>
            </a:extLst>
          </p:cNvPr>
          <p:cNvSpPr>
            <a:spLocks xmlns:a="http://schemas.openxmlformats.org/drawingml/2006/main" noGrp="1"/>
          </p:cNvSpPr>
          <p:nvPr/>
        </p:nvSpPr>
        <p:spPr>
          <a:xfrm xmlns:a="http://schemas.openxmlformats.org/drawingml/2006/main" rot="0">
            <a:off x="998220" y="1248326"/>
            <a:ext cx="953720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Funding starts the chain. Projects, consumption, supply, market share and cash returns determine the outcome.</a:t>
            </a:r>
          </a:p>
        </p:txBody>
      </p:sp>
      <p:sp>
        <p:nvSpPr>
          <p:cNvPr id="5" name="Figure 10 label 4 line 1">
            <a:extLst xmlns:a="http://schemas.openxmlformats.org/drawingml/2006/main">
              <a:ext uri="{FF2B5EF4-FFF2-40B4-BE49-F238E27FC236}">
                <a16:creationId xmlns:a16="http://schemas.microsoft.com/office/drawing/2014/main" id="{B33CFBD5-0A6A-4D70-96CF-AA1B3F063261}"/>
              </a:ext>
            </a:extLst>
          </p:cNvPr>
          <p:cNvSpPr>
            <a:spLocks xmlns:a="http://schemas.openxmlformats.org/drawingml/2006/main" noGrp="1"/>
          </p:cNvSpPr>
          <p:nvPr/>
        </p:nvSpPr>
        <p:spPr>
          <a:xfrm xmlns:a="http://schemas.openxmlformats.org/drawingml/2006/main" rot="0">
            <a:off x="999173" y="9256035"/>
            <a:ext cx="7780586" cy="208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13" b="0">
                <a:solidFill>
                  <a:srgbClr val="00355F"/>
                </a:solidFill>
                <a:latin typeface="Arial Unicode MS"/>
                <a:ea typeface="Arial Unicode MS"/>
                <a:cs typeface="Arial Unicode MS"/>
              </a:defRPr>
            </a:defPPr>
          </a:lstStyle>
          <a:p xmlns:a="http://schemas.openxmlformats.org/drawingml/2006/main">
            <a:pPr algn="l">
              <a:lnSpc>
                <a:spcPct val="100000"/>
              </a:lnSpc>
              <a:buNone/>
              <a:defRPr sz="1313" b="0">
                <a:solidFill>
                  <a:srgbClr val="00355F"/>
                </a:solidFill>
                <a:latin typeface="Arial Unicode MS"/>
                <a:ea typeface="Arial Unicode MS"/>
                <a:cs typeface="Arial Unicode MS"/>
              </a:defRPr>
            </a:pPr>
            <a:r>
              <a:rPr sz="1313" b="0">
                <a:solidFill>
                  <a:srgbClr val="00355F"/>
                </a:solidFill>
                <a:latin typeface="Arial Unicode MS"/>
                <a:ea typeface="Arial Unicode MS"/>
                <a:cs typeface="Arial Unicode MS"/>
              </a:rPr>
              <a:t>Seek experimental relevance, evidenced supply constraints and global access; test the valuation hurdle.</a:t>
            </a:r>
          </a:p>
        </p:txBody>
      </p:sp>
      <p:sp>
        <p:nvSpPr>
          <p:cNvPr id="6" name="Figure 10 label 5 line 1">
            <a:extLst xmlns:a="http://schemas.openxmlformats.org/drawingml/2006/main">
              <a:ext uri="{FF2B5EF4-FFF2-40B4-BE49-F238E27FC236}">
                <a16:creationId xmlns:a16="http://schemas.microsoft.com/office/drawing/2014/main" id="{3A9A046D-FBD2-4590-BFA4-EE3D7AC0F35E}"/>
              </a:ext>
            </a:extLst>
          </p:cNvPr>
          <p:cNvSpPr>
            <a:spLocks xmlns:a="http://schemas.openxmlformats.org/drawingml/2006/main" noGrp="1"/>
          </p:cNvSpPr>
          <p:nvPr/>
        </p:nvSpPr>
        <p:spPr>
          <a:xfrm xmlns:a="http://schemas.openxmlformats.org/drawingml/2006/main" rot="0">
            <a:off x="1000316" y="9675546"/>
            <a:ext cx="6311533" cy="172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8" b="0">
                <a:solidFill>
                  <a:srgbClr val="00355F"/>
                </a:solidFill>
                <a:latin typeface="Arial Unicode MS"/>
                <a:ea typeface="Arial Unicode MS"/>
                <a:cs typeface="Arial Unicode MS"/>
              </a:defRPr>
            </a:defPPr>
          </a:lstStyle>
          <a:p xmlns:a="http://schemas.openxmlformats.org/drawingml/2006/main">
            <a:pPr algn="l">
              <a:lnSpc>
                <a:spcPct val="100000"/>
              </a:lnSpc>
              <a:buNone/>
              <a:defRPr sz="1088" b="0">
                <a:solidFill>
                  <a:srgbClr val="00355F"/>
                </a:solidFill>
                <a:latin typeface="Arial Unicode MS"/>
                <a:ea typeface="Arial Unicode MS"/>
                <a:cs typeface="Arial Unicode MS"/>
              </a:defRPr>
            </a:pPr>
            <a:r>
              <a:rPr sz="1088" b="0">
                <a:solidFill>
                  <a:srgbClr val="00355F"/>
                </a:solidFill>
                <a:latin typeface="Arial Unicode MS"/>
                <a:ea typeface="Arial Unicode MS"/>
                <a:cs typeface="Arial Unicode MS"/>
              </a:rPr>
              <a:t>Source: supplied framework and prior company research. Capital announcements are not LST orders.</a:t>
            </a:r>
          </a:p>
        </p:txBody>
      </p:sp>
      <p:sp>
        <p:nvSpPr>
          <p:cNvPr id="7" name="Figure 10 label 6 line 1">
            <a:extLst xmlns:a="http://schemas.openxmlformats.org/drawingml/2006/main">
              <a:ext uri="{FF2B5EF4-FFF2-40B4-BE49-F238E27FC236}">
                <a16:creationId xmlns:a16="http://schemas.microsoft.com/office/drawing/2014/main" id="{FAFB06A2-4F82-47F2-83A9-D0EDF831EEB6}"/>
              </a:ext>
            </a:extLst>
          </p:cNvPr>
          <p:cNvSpPr>
            <a:spLocks xmlns:a="http://schemas.openxmlformats.org/drawingml/2006/main" noGrp="1"/>
          </p:cNvSpPr>
          <p:nvPr/>
        </p:nvSpPr>
        <p:spPr>
          <a:xfrm xmlns:a="http://schemas.openxmlformats.org/drawingml/2006/main" rot="0">
            <a:off x="16440260" y="9667497"/>
            <a:ext cx="841901" cy="1825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r">
              <a:defRPr sz="1150" b="0">
                <a:solidFill>
                  <a:srgbClr val="00355F"/>
                </a:solidFill>
                <a:latin typeface="Arial Unicode MS"/>
                <a:ea typeface="Arial Unicode MS"/>
                <a:cs typeface="Arial Unicode MS"/>
              </a:defRPr>
            </a:defPPr>
          </a:lstStyle>
          <a:p xmlns:a="http://schemas.openxmlformats.org/drawingml/2006/main">
            <a:pPr algn="r">
              <a:lnSpc>
                <a:spcPct val="100000"/>
              </a:lnSpc>
              <a:buNone/>
              <a:defRPr sz="1150" b="0">
                <a:solidFill>
                  <a:srgbClr val="00355F"/>
                </a:solidFill>
                <a:latin typeface="Arial Unicode MS"/>
                <a:ea typeface="Arial Unicode MS"/>
                <a:cs typeface="Arial Unicode MS"/>
              </a:defRPr>
            </a:pPr>
            <a:r>
              <a:rPr sz="1150" b="0">
                <a:solidFill>
                  <a:srgbClr val="00355F"/>
                </a:solidFill>
                <a:latin typeface="Arial Unicode MS"/>
                <a:ea typeface="Arial Unicode MS"/>
                <a:cs typeface="Arial Unicode MS"/>
              </a:rPr>
              <a:t>2026-10-12</a:t>
            </a:r>
          </a:p>
        </p:txBody>
      </p:sp>
      <p:sp>
        <p:nvSpPr>
          <p:cNvPr id="8" name="Figure 10 label 7 line 1">
            <a:extLst xmlns:a="http://schemas.openxmlformats.org/drawingml/2006/main">
              <a:ext uri="{FF2B5EF4-FFF2-40B4-BE49-F238E27FC236}">
                <a16:creationId xmlns:a16="http://schemas.microsoft.com/office/drawing/2014/main" id="{FF6AC798-E89C-4A95-A0A1-A80351983D58}"/>
              </a:ext>
            </a:extLst>
          </p:cNvPr>
          <p:cNvSpPr>
            <a:spLocks xmlns:a="http://schemas.openxmlformats.org/drawingml/2006/main" noGrp="1"/>
          </p:cNvSpPr>
          <p:nvPr/>
        </p:nvSpPr>
        <p:spPr>
          <a:xfrm xmlns:a="http://schemas.openxmlformats.org/drawingml/2006/main" rot="0">
            <a:off x="1372389" y="2964153"/>
            <a:ext cx="1735782"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688" b="1">
                <a:solidFill>
                  <a:srgbClr val="00355F"/>
                </a:solidFill>
                <a:latin typeface="Arial Unicode MS"/>
                <a:ea typeface="Arial Unicode MS"/>
                <a:cs typeface="Arial Unicode MS"/>
              </a:defRPr>
            </a:pPr>
            <a:r>
              <a:rPr sz="1688" b="1">
                <a:solidFill>
                  <a:srgbClr val="00355F"/>
                </a:solidFill>
                <a:latin typeface="Arial Unicode MS"/>
                <a:ea typeface="Arial Unicode MS"/>
                <a:cs typeface="Arial Unicode MS"/>
              </a:rPr>
              <a:t>AI funding grows</a:t>
            </a:r>
          </a:p>
        </p:txBody>
      </p:sp>
      <p:sp>
        <p:nvSpPr>
          <p:cNvPr id="9" name="Figure 10 label 8 line 1">
            <a:extLst xmlns:a="http://schemas.openxmlformats.org/drawingml/2006/main">
              <a:ext uri="{FF2B5EF4-FFF2-40B4-BE49-F238E27FC236}">
                <a16:creationId xmlns:a16="http://schemas.microsoft.com/office/drawing/2014/main" id="{E61D4E25-6B70-456A-A5B3-3B1AF06C20D7}"/>
              </a:ext>
            </a:extLst>
          </p:cNvPr>
          <p:cNvSpPr>
            <a:spLocks xmlns:a="http://schemas.openxmlformats.org/drawingml/2006/main" noGrp="1"/>
          </p:cNvSpPr>
          <p:nvPr/>
        </p:nvSpPr>
        <p:spPr>
          <a:xfrm xmlns:a="http://schemas.openxmlformats.org/drawingml/2006/main" rot="0">
            <a:off x="1255340" y="3750783"/>
            <a:ext cx="1969879"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25" b="0">
                <a:solidFill>
                  <a:srgbClr val="00355F"/>
                </a:solidFill>
                <a:latin typeface="Arial Unicode MS"/>
                <a:ea typeface="Arial Unicode MS"/>
                <a:cs typeface="Arial Unicode MS"/>
              </a:defRPr>
            </a:pPr>
            <a:r>
              <a:rPr sz="1325" b="0">
                <a:solidFill>
                  <a:srgbClr val="00355F"/>
                </a:solidFill>
                <a:latin typeface="Arial Unicode MS"/>
                <a:ea typeface="Arial Unicode MS"/>
                <a:cs typeface="Arial Unicode MS"/>
              </a:rPr>
              <a:t>Cash reaches customers</a:t>
            </a:r>
          </a:p>
        </p:txBody>
      </p:sp>
      <p:sp>
        <p:nvSpPr>
          <p:cNvPr id="10" name="Figure 10 label 9 line 1">
            <a:extLst xmlns:a="http://schemas.openxmlformats.org/drawingml/2006/main">
              <a:ext uri="{FF2B5EF4-FFF2-40B4-BE49-F238E27FC236}">
                <a16:creationId xmlns:a16="http://schemas.microsoft.com/office/drawing/2014/main" id="{D11548B4-4BC7-405B-9C87-E8D2C7F7DFE6}"/>
              </a:ext>
            </a:extLst>
          </p:cNvPr>
          <p:cNvSpPr>
            <a:spLocks xmlns:a="http://schemas.openxmlformats.org/drawingml/2006/main" noGrp="1"/>
          </p:cNvSpPr>
          <p:nvPr/>
        </p:nvSpPr>
        <p:spPr>
          <a:xfrm xmlns:a="http://schemas.openxmlformats.org/drawingml/2006/main" rot="0">
            <a:off x="4485941" y="2964002"/>
            <a:ext cx="1616869"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688" b="1">
                <a:solidFill>
                  <a:srgbClr val="00355F"/>
                </a:solidFill>
                <a:latin typeface="Arial Unicode MS"/>
                <a:ea typeface="Arial Unicode MS"/>
                <a:cs typeface="Arial Unicode MS"/>
              </a:defRPr>
            </a:pPr>
            <a:r>
              <a:rPr sz="1688" b="1">
                <a:solidFill>
                  <a:srgbClr val="00355F"/>
                </a:solidFill>
                <a:latin typeface="Arial Unicode MS"/>
                <a:ea typeface="Arial Unicode MS"/>
                <a:cs typeface="Arial Unicode MS"/>
              </a:rPr>
              <a:t>Lab automation</a:t>
            </a:r>
          </a:p>
        </p:txBody>
      </p:sp>
      <p:sp>
        <p:nvSpPr>
          <p:cNvPr id="11" name="Figure 10 label 10 line 1">
            <a:extLst xmlns:a="http://schemas.openxmlformats.org/drawingml/2006/main">
              <a:ext uri="{FF2B5EF4-FFF2-40B4-BE49-F238E27FC236}">
                <a16:creationId xmlns:a16="http://schemas.microsoft.com/office/drawing/2014/main" id="{4F4F3A08-A2DD-4600-BDA7-154534201522}"/>
              </a:ext>
            </a:extLst>
          </p:cNvPr>
          <p:cNvSpPr>
            <a:spLocks xmlns:a="http://schemas.openxmlformats.org/drawingml/2006/main" noGrp="1"/>
          </p:cNvSpPr>
          <p:nvPr/>
        </p:nvSpPr>
        <p:spPr>
          <a:xfrm xmlns:a="http://schemas.openxmlformats.org/drawingml/2006/main" rot="0">
            <a:off x="4505592" y="3750783"/>
            <a:ext cx="1577568"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25" b="0">
                <a:solidFill>
                  <a:srgbClr val="00355F"/>
                </a:solidFill>
                <a:latin typeface="Arial Unicode MS"/>
                <a:ea typeface="Arial Unicode MS"/>
                <a:cs typeface="Arial Unicode MS"/>
              </a:defRPr>
            </a:pPr>
            <a:r>
              <a:rPr sz="1325" b="0">
                <a:solidFill>
                  <a:srgbClr val="00355F"/>
                </a:solidFill>
                <a:latin typeface="Arial Unicode MS"/>
                <a:ea typeface="Arial Unicode MS"/>
                <a:cs typeface="Arial Unicode MS"/>
              </a:rPr>
              <a:t>Equipment installed</a:t>
            </a:r>
          </a:p>
        </p:txBody>
      </p:sp>
      <p:sp>
        <p:nvSpPr>
          <p:cNvPr id="12" name="Figure 10 label 11 line 1">
            <a:extLst xmlns:a="http://schemas.openxmlformats.org/drawingml/2006/main">
              <a:ext uri="{FF2B5EF4-FFF2-40B4-BE49-F238E27FC236}">
                <a16:creationId xmlns:a16="http://schemas.microsoft.com/office/drawing/2014/main" id="{59622E96-DB4B-486C-9255-87085FF5BC3B}"/>
              </a:ext>
            </a:extLst>
          </p:cNvPr>
          <p:cNvSpPr>
            <a:spLocks xmlns:a="http://schemas.openxmlformats.org/drawingml/2006/main" noGrp="1"/>
          </p:cNvSpPr>
          <p:nvPr/>
        </p:nvSpPr>
        <p:spPr>
          <a:xfrm xmlns:a="http://schemas.openxmlformats.org/drawingml/2006/main" rot="0">
            <a:off x="7242456" y="2964002"/>
            <a:ext cx="2212032"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688" b="1">
                <a:solidFill>
                  <a:srgbClr val="00355F"/>
                </a:solidFill>
                <a:latin typeface="Arial Unicode MS"/>
                <a:ea typeface="Arial Unicode MS"/>
                <a:cs typeface="Arial Unicode MS"/>
              </a:defRPr>
            </a:pPr>
            <a:r>
              <a:rPr sz="1688" b="1">
                <a:solidFill>
                  <a:srgbClr val="00355F"/>
                </a:solidFill>
                <a:latin typeface="Arial Unicode MS"/>
                <a:ea typeface="Arial Unicode MS"/>
                <a:cs typeface="Arial Unicode MS"/>
              </a:rPr>
              <a:t>Build-and-test volume</a:t>
            </a:r>
          </a:p>
        </p:txBody>
      </p:sp>
      <p:sp>
        <p:nvSpPr>
          <p:cNvPr id="13" name="Figure 10 label 12 line 1">
            <a:extLst xmlns:a="http://schemas.openxmlformats.org/drawingml/2006/main">
              <a:ext uri="{FF2B5EF4-FFF2-40B4-BE49-F238E27FC236}">
                <a16:creationId xmlns:a16="http://schemas.microsoft.com/office/drawing/2014/main" id="{72DF7693-1DE2-4314-809D-2DB616757D11}"/>
              </a:ext>
            </a:extLst>
          </p:cNvPr>
          <p:cNvSpPr>
            <a:spLocks xmlns:a="http://schemas.openxmlformats.org/drawingml/2006/main" noGrp="1"/>
          </p:cNvSpPr>
          <p:nvPr/>
        </p:nvSpPr>
        <p:spPr>
          <a:xfrm xmlns:a="http://schemas.openxmlformats.org/drawingml/2006/main" rot="0">
            <a:off x="7503654" y="3750980"/>
            <a:ext cx="1689636"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00355F"/>
                </a:solidFill>
                <a:latin typeface="Arial Unicode MS"/>
                <a:ea typeface="Arial Unicode MS"/>
                <a:cs typeface="Arial Unicode MS"/>
              </a:defRPr>
            </a:defPPr>
          </a:lstStyle>
          <a:p xmlns:a="http://schemas.openxmlformats.org/drawingml/2006/main">
            <a:pPr algn="ctr">
              <a:lnSpc>
                <a:spcPct val="100000"/>
              </a:lnSpc>
              <a:buNone/>
              <a:defRPr sz="1325" b="0">
                <a:solidFill>
                  <a:srgbClr val="00355F"/>
                </a:solidFill>
                <a:latin typeface="Arial Unicode MS"/>
                <a:ea typeface="Arial Unicode MS"/>
                <a:cs typeface="Arial Unicode MS"/>
              </a:defRPr>
            </a:pPr>
            <a:r>
              <a:rPr sz="1325" b="0">
                <a:solidFill>
                  <a:srgbClr val="00355F"/>
                </a:solidFill>
                <a:latin typeface="Arial Unicode MS"/>
                <a:ea typeface="Arial Unicode MS"/>
                <a:cs typeface="Arial Unicode MS"/>
              </a:rPr>
              <a:t>More funded projects</a:t>
            </a:r>
          </a:p>
        </p:txBody>
      </p:sp>
      <p:sp>
        <p:nvSpPr>
          <p:cNvPr id="14" name="Figure 10 label 13 line 1">
            <a:extLst xmlns:a="http://schemas.openxmlformats.org/drawingml/2006/main">
              <a:ext uri="{FF2B5EF4-FFF2-40B4-BE49-F238E27FC236}">
                <a16:creationId xmlns:a16="http://schemas.microsoft.com/office/drawing/2014/main" id="{F753C719-6730-4D43-9508-3D2E5223B615}"/>
              </a:ext>
            </a:extLst>
          </p:cNvPr>
          <p:cNvSpPr>
            <a:spLocks xmlns:a="http://schemas.openxmlformats.org/drawingml/2006/main" noGrp="1"/>
          </p:cNvSpPr>
          <p:nvPr/>
        </p:nvSpPr>
        <p:spPr>
          <a:xfrm xmlns:a="http://schemas.openxmlformats.org/drawingml/2006/main" rot="0">
            <a:off x="10522844" y="2964002"/>
            <a:ext cx="1759446" cy="2678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8" b="1">
                <a:solidFill>
                  <a:srgbClr val="FFFFFF"/>
                </a:solidFill>
                <a:latin typeface="Arial Unicode MS"/>
                <a:ea typeface="Arial Unicode MS"/>
                <a:cs typeface="Arial Unicode MS"/>
              </a:defRPr>
            </a:defPPr>
          </a:lstStyle>
          <a:p xmlns:a="http://schemas.openxmlformats.org/drawingml/2006/main">
            <a:pPr algn="ctr">
              <a:lnSpc>
                <a:spcPct val="100000"/>
              </a:lnSpc>
              <a:buNone/>
              <a:defRPr sz="1688" b="1">
                <a:solidFill>
                  <a:srgbClr val="FFFFFF"/>
                </a:solidFill>
                <a:latin typeface="Arial Unicode MS"/>
                <a:ea typeface="Arial Unicode MS"/>
                <a:cs typeface="Arial Unicode MS"/>
              </a:defRPr>
            </a:pPr>
            <a:r>
              <a:rPr sz="1688" b="1">
                <a:solidFill>
                  <a:srgbClr val="FFFFFF"/>
                </a:solidFill>
                <a:latin typeface="Arial Unicode MS"/>
                <a:ea typeface="Arial Unicode MS"/>
                <a:cs typeface="Arial Unicode MS"/>
              </a:rPr>
              <a:t>Net LST demand</a:t>
            </a:r>
          </a:p>
        </p:txBody>
      </p:sp>
      <p:sp>
        <p:nvSpPr>
          <p:cNvPr id="15" name="Figure 10 label 14 line 1">
            <a:extLst xmlns:a="http://schemas.openxmlformats.org/drawingml/2006/main">
              <a:ext uri="{FF2B5EF4-FFF2-40B4-BE49-F238E27FC236}">
                <a16:creationId xmlns:a16="http://schemas.microsoft.com/office/drawing/2014/main" id="{02F0C3C2-7DCD-4727-A078-4BD6194915C3}"/>
              </a:ext>
            </a:extLst>
          </p:cNvPr>
          <p:cNvSpPr>
            <a:spLocks xmlns:a="http://schemas.openxmlformats.org/drawingml/2006/main" noGrp="1"/>
          </p:cNvSpPr>
          <p:nvPr/>
        </p:nvSpPr>
        <p:spPr>
          <a:xfrm xmlns:a="http://schemas.openxmlformats.org/drawingml/2006/main" rot="0">
            <a:off x="10429162" y="3750901"/>
            <a:ext cx="1946811" cy="2103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5" b="0">
                <a:solidFill>
                  <a:srgbClr val="FFFFFF"/>
                </a:solidFill>
                <a:latin typeface="Arial Unicode MS"/>
                <a:ea typeface="Arial Unicode MS"/>
                <a:cs typeface="Arial Unicode MS"/>
              </a:defRPr>
            </a:defPPr>
          </a:lstStyle>
          <a:p xmlns:a="http://schemas.openxmlformats.org/drawingml/2006/main">
            <a:pPr algn="ctr">
              <a:lnSpc>
                <a:spcPct val="100000"/>
              </a:lnSpc>
              <a:buNone/>
              <a:defRPr sz="1325" b="0">
                <a:solidFill>
                  <a:srgbClr val="FFFFFF"/>
                </a:solidFill>
                <a:latin typeface="Arial Unicode MS"/>
                <a:ea typeface="Arial Unicode MS"/>
                <a:cs typeface="Arial Unicode MS"/>
              </a:defRPr>
            </a:pPr>
            <a:r>
              <a:rPr sz="1325" b="0">
                <a:solidFill>
                  <a:srgbClr val="FFFFFF"/>
                </a:solidFill>
                <a:latin typeface="Arial Unicode MS"/>
                <a:ea typeface="Arial Unicode MS"/>
                <a:cs typeface="Arial Unicode MS"/>
              </a:rPr>
              <a:t>Intensity + ASP adjusted</a:t>
            </a:r>
          </a:p>
        </p:txBody>
      </p:sp>
      <p:sp>
        <p:nvSpPr>
          <p:cNvPr id="16" name="Figure 10 label 15 line 1">
            <a:extLst xmlns:a="http://schemas.openxmlformats.org/drawingml/2006/main">
              <a:ext uri="{FF2B5EF4-FFF2-40B4-BE49-F238E27FC236}">
                <a16:creationId xmlns:a16="http://schemas.microsoft.com/office/drawing/2014/main" id="{2D4EBA57-A487-47DD-A791-4B79868F4ED0}"/>
              </a:ext>
            </a:extLst>
          </p:cNvPr>
          <p:cNvSpPr>
            <a:spLocks xmlns:a="http://schemas.openxmlformats.org/drawingml/2006/main" noGrp="1"/>
          </p:cNvSpPr>
          <p:nvPr/>
        </p:nvSpPr>
        <p:spPr>
          <a:xfrm xmlns:a="http://schemas.openxmlformats.org/drawingml/2006/main" rot="0">
            <a:off x="13926566" y="2359405"/>
            <a:ext cx="158958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Direct demand</a:t>
            </a:r>
          </a:p>
        </p:txBody>
      </p:sp>
      <p:sp>
        <p:nvSpPr>
          <p:cNvPr id="17" name="Figure 10 label 16 line 1">
            <a:extLst xmlns:a="http://schemas.openxmlformats.org/drawingml/2006/main">
              <a:ext uri="{FF2B5EF4-FFF2-40B4-BE49-F238E27FC236}">
                <a16:creationId xmlns:a16="http://schemas.microsoft.com/office/drawing/2014/main" id="{1C94E865-8097-4595-B7EF-D0530D3F29E2}"/>
              </a:ext>
            </a:extLst>
          </p:cNvPr>
          <p:cNvSpPr>
            <a:spLocks xmlns:a="http://schemas.openxmlformats.org/drawingml/2006/main" noGrp="1"/>
          </p:cNvSpPr>
          <p:nvPr/>
        </p:nvSpPr>
        <p:spPr>
          <a:xfrm xmlns:a="http://schemas.openxmlformats.org/drawingml/2006/main" rot="0">
            <a:off x="13928598" y="2863125"/>
            <a:ext cx="225575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Assays, automation labware</a:t>
            </a:r>
          </a:p>
        </p:txBody>
      </p:sp>
      <p:sp>
        <p:nvSpPr>
          <p:cNvPr id="18" name="Figure 10 label 17 line 1">
            <a:extLst xmlns:a="http://schemas.openxmlformats.org/drawingml/2006/main">
              <a:ext uri="{FF2B5EF4-FFF2-40B4-BE49-F238E27FC236}">
                <a16:creationId xmlns:a16="http://schemas.microsoft.com/office/drawing/2014/main" id="{F5D2E83A-9F7B-475C-987F-55B501B9898B}"/>
              </a:ext>
            </a:extLst>
          </p:cNvPr>
          <p:cNvSpPr>
            <a:spLocks xmlns:a="http://schemas.openxmlformats.org/drawingml/2006/main" noGrp="1"/>
          </p:cNvSpPr>
          <p:nvPr/>
        </p:nvSpPr>
        <p:spPr>
          <a:xfrm xmlns:a="http://schemas.openxmlformats.org/drawingml/2006/main" rot="0">
            <a:off x="13928598" y="3107755"/>
            <a:ext cx="229400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and chemical building blocks</a:t>
            </a:r>
          </a:p>
        </p:txBody>
      </p:sp>
      <p:sp>
        <p:nvSpPr>
          <p:cNvPr id="19" name="Figure 10 label 18 line 1">
            <a:extLst xmlns:a="http://schemas.openxmlformats.org/drawingml/2006/main">
              <a:ext uri="{FF2B5EF4-FFF2-40B4-BE49-F238E27FC236}">
                <a16:creationId xmlns:a16="http://schemas.microsoft.com/office/drawing/2014/main" id="{9B8C5F0E-9214-4494-8709-A1D4D449F8F9}"/>
              </a:ext>
            </a:extLst>
          </p:cNvPr>
          <p:cNvSpPr>
            <a:spLocks xmlns:a="http://schemas.openxmlformats.org/drawingml/2006/main" noGrp="1"/>
          </p:cNvSpPr>
          <p:nvPr/>
        </p:nvSpPr>
        <p:spPr>
          <a:xfrm xmlns:a="http://schemas.openxmlformats.org/drawingml/2006/main" rot="0">
            <a:off x="13926566" y="4416961"/>
            <a:ext cx="1960314"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Supply constraints</a:t>
            </a:r>
          </a:p>
        </p:txBody>
      </p:sp>
      <p:sp>
        <p:nvSpPr>
          <p:cNvPr id="20" name="Figure 10 label 19 line 1">
            <a:extLst xmlns:a="http://schemas.openxmlformats.org/drawingml/2006/main">
              <a:ext uri="{FF2B5EF4-FFF2-40B4-BE49-F238E27FC236}">
                <a16:creationId xmlns:a16="http://schemas.microsoft.com/office/drawing/2014/main" id="{E498E79B-649D-4FC4-A1B7-4662505A5819}"/>
              </a:ext>
            </a:extLst>
          </p:cNvPr>
          <p:cNvSpPr>
            <a:spLocks xmlns:a="http://schemas.openxmlformats.org/drawingml/2006/main" noGrp="1"/>
          </p:cNvSpPr>
          <p:nvPr/>
        </p:nvSpPr>
        <p:spPr>
          <a:xfrm xmlns:a="http://schemas.openxmlformats.org/drawingml/2006/main" rot="0">
            <a:off x="13928598" y="4922494"/>
            <a:ext cx="238925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Specialty plates / components</a:t>
            </a:r>
          </a:p>
        </p:txBody>
      </p:sp>
      <p:sp>
        <p:nvSpPr>
          <p:cNvPr id="21" name="Figure 10 label 20 line 1">
            <a:extLst xmlns:a="http://schemas.openxmlformats.org/drawingml/2006/main">
              <a:ext uri="{FF2B5EF4-FFF2-40B4-BE49-F238E27FC236}">
                <a16:creationId xmlns:a16="http://schemas.microsoft.com/office/drawing/2014/main" id="{A4CB685F-03B7-4D34-8BF8-09B04D75D859}"/>
              </a:ext>
            </a:extLst>
          </p:cNvPr>
          <p:cNvSpPr>
            <a:spLocks xmlns:a="http://schemas.openxmlformats.org/drawingml/2006/main" noGrp="1"/>
          </p:cNvSpPr>
          <p:nvPr/>
        </p:nvSpPr>
        <p:spPr>
          <a:xfrm xmlns:a="http://schemas.openxmlformats.org/drawingml/2006/main" rot="0">
            <a:off x="13928598" y="5167124"/>
            <a:ext cx="251323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Expansion limits need evidence</a:t>
            </a:r>
          </a:p>
        </p:txBody>
      </p:sp>
      <p:sp>
        <p:nvSpPr>
          <p:cNvPr id="22" name="Figure 10 label 21 line 1">
            <a:extLst xmlns:a="http://schemas.openxmlformats.org/drawingml/2006/main">
              <a:ext uri="{FF2B5EF4-FFF2-40B4-BE49-F238E27FC236}">
                <a16:creationId xmlns:a16="http://schemas.microsoft.com/office/drawing/2014/main" id="{04731405-2564-4E15-98BC-4BFD68CDF26F}"/>
              </a:ext>
            </a:extLst>
          </p:cNvPr>
          <p:cNvSpPr>
            <a:spLocks xmlns:a="http://schemas.openxmlformats.org/drawingml/2006/main" noGrp="1"/>
          </p:cNvSpPr>
          <p:nvPr/>
        </p:nvSpPr>
        <p:spPr>
          <a:xfrm xmlns:a="http://schemas.openxmlformats.org/drawingml/2006/main" rot="0">
            <a:off x="13926566" y="6474205"/>
            <a:ext cx="1874143"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Listed candidates</a:t>
            </a:r>
          </a:p>
        </p:txBody>
      </p:sp>
      <p:sp>
        <p:nvSpPr>
          <p:cNvPr id="23" name="Figure 10 label 22 line 1">
            <a:extLst xmlns:a="http://schemas.openxmlformats.org/drawingml/2006/main">
              <a:ext uri="{FF2B5EF4-FFF2-40B4-BE49-F238E27FC236}">
                <a16:creationId xmlns:a16="http://schemas.microsoft.com/office/drawing/2014/main" id="{228CB96B-2D5D-4901-940C-B800FA0C7D1E}"/>
              </a:ext>
            </a:extLst>
          </p:cNvPr>
          <p:cNvSpPr>
            <a:spLocks xmlns:a="http://schemas.openxmlformats.org/drawingml/2006/main" noGrp="1"/>
          </p:cNvSpPr>
          <p:nvPr/>
        </p:nvSpPr>
        <p:spPr>
          <a:xfrm xmlns:a="http://schemas.openxmlformats.org/drawingml/2006/main" rot="0">
            <a:off x="13928598" y="6977194"/>
            <a:ext cx="268408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ACRO, Vazyme, Sino, NanoMicro</a:t>
            </a:r>
          </a:p>
        </p:txBody>
      </p:sp>
      <p:sp>
        <p:nvSpPr>
          <p:cNvPr id="24" name="Figure 10 label 23 line 1">
            <a:extLst xmlns:a="http://schemas.openxmlformats.org/drawingml/2006/main">
              <a:ext uri="{FF2B5EF4-FFF2-40B4-BE49-F238E27FC236}">
                <a16:creationId xmlns:a16="http://schemas.microsoft.com/office/drawing/2014/main" id="{383FD136-9F24-4FD0-8143-D5EC16786F2B}"/>
              </a:ext>
            </a:extLst>
          </p:cNvPr>
          <p:cNvSpPr>
            <a:spLocks xmlns:a="http://schemas.openxmlformats.org/drawingml/2006/main" noGrp="1"/>
          </p:cNvSpPr>
          <p:nvPr/>
        </p:nvSpPr>
        <p:spPr>
          <a:xfrm xmlns:a="http://schemas.openxmlformats.org/drawingml/2006/main" rot="0">
            <a:off x="13928598" y="7225376"/>
            <a:ext cx="22560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Unicode MS"/>
                <a:ea typeface="Arial Unicode MS"/>
                <a:cs typeface="Arial Unicode MS"/>
              </a:defRPr>
            </a:defPPr>
          </a:lstStyle>
          <a:p xmlns:a="http://schemas.openxmlformats.org/drawingml/2006/main">
            <a:pPr algn="l">
              <a:lnSpc>
                <a:spcPct val="100000"/>
              </a:lnSpc>
              <a:buNone/>
              <a:defRPr sz="1350" b="0">
                <a:solidFill>
                  <a:srgbClr val="00355F"/>
                </a:solidFill>
                <a:latin typeface="Arial Unicode MS"/>
                <a:ea typeface="Arial Unicode MS"/>
                <a:cs typeface="Arial Unicode MS"/>
              </a:defRPr>
            </a:pPr>
            <a:r>
              <a:rPr sz="1350" b="0">
                <a:solidFill>
                  <a:srgbClr val="00355F"/>
                </a:solidFill>
                <a:latin typeface="Arial Unicode MS"/>
                <a:ea typeface="Arial Unicode MS"/>
                <a:cs typeface="Arial Unicode MS"/>
              </a:rPr>
              <a:t>JET, Changhong and others</a:t>
            </a:r>
          </a:p>
        </p:txBody>
      </p:sp>
      <p:sp>
        <p:nvSpPr>
          <p:cNvPr id="25" name="Figure 10 label 24 line 1">
            <a:extLst xmlns:a="http://schemas.openxmlformats.org/drawingml/2006/main">
              <a:ext uri="{FF2B5EF4-FFF2-40B4-BE49-F238E27FC236}">
                <a16:creationId xmlns:a16="http://schemas.microsoft.com/office/drawing/2014/main" id="{BDD31ABF-6482-404F-BBFE-689D64717815}"/>
              </a:ext>
            </a:extLst>
          </p:cNvPr>
          <p:cNvSpPr>
            <a:spLocks xmlns:a="http://schemas.openxmlformats.org/drawingml/2006/main" noGrp="1"/>
          </p:cNvSpPr>
          <p:nvPr/>
        </p:nvSpPr>
        <p:spPr>
          <a:xfrm xmlns:a="http://schemas.openxmlformats.org/drawingml/2006/main" rot="0">
            <a:off x="1326134" y="5682106"/>
            <a:ext cx="3356620" cy="2778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50" b="1">
                <a:solidFill>
                  <a:srgbClr val="00355F"/>
                </a:solidFill>
                <a:latin typeface="Arial Unicode MS"/>
                <a:ea typeface="Arial Unicode MS"/>
                <a:cs typeface="Arial Unicode MS"/>
              </a:defRPr>
            </a:defPPr>
          </a:lstStyle>
          <a:p xmlns:a="http://schemas.openxmlformats.org/drawingml/2006/main">
            <a:pPr algn="l">
              <a:lnSpc>
                <a:spcPct val="100000"/>
              </a:lnSpc>
              <a:buNone/>
              <a:defRPr sz="1750" b="1">
                <a:solidFill>
                  <a:srgbClr val="00355F"/>
                </a:solidFill>
                <a:latin typeface="Arial Unicode MS"/>
                <a:ea typeface="Arial Unicode MS"/>
                <a:cs typeface="Arial Unicode MS"/>
              </a:defRPr>
            </a:pPr>
            <a:r>
              <a:rPr sz="1750" b="1">
                <a:solidFill>
                  <a:srgbClr val="00355F"/>
                </a:solidFill>
                <a:latin typeface="Arial Unicode MS"/>
                <a:ea typeface="Arial Unicode MS"/>
                <a:cs typeface="Arial Unicode MS"/>
              </a:rPr>
              <a:t>Evidence is needed at each step</a:t>
            </a:r>
          </a:p>
        </p:txBody>
      </p:sp>
      <p:sp>
        <p:nvSpPr>
          <p:cNvPr id="26" name="Figure 10 label 25 line 1">
            <a:extLst xmlns:a="http://schemas.openxmlformats.org/drawingml/2006/main">
              <a:ext uri="{FF2B5EF4-FFF2-40B4-BE49-F238E27FC236}">
                <a16:creationId xmlns:a16="http://schemas.microsoft.com/office/drawing/2014/main" id="{9E8B169F-D660-4B3E-AF4C-E4573BDC5C05}"/>
              </a:ext>
            </a:extLst>
          </p:cNvPr>
          <p:cNvSpPr>
            <a:spLocks xmlns:a="http://schemas.openxmlformats.org/drawingml/2006/main" noGrp="1"/>
          </p:cNvSpPr>
          <p:nvPr/>
        </p:nvSpPr>
        <p:spPr>
          <a:xfrm xmlns:a="http://schemas.openxmlformats.org/drawingml/2006/main" rot="0">
            <a:off x="1327404" y="6158944"/>
            <a:ext cx="676825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Customer budgets → orders / repeat purchases → net consumption → utilization</a:t>
            </a:r>
          </a:p>
        </p:txBody>
      </p:sp>
      <p:sp>
        <p:nvSpPr>
          <p:cNvPr id="27" name="Figure 10 label 26 line 1">
            <a:extLst xmlns:a="http://schemas.openxmlformats.org/drawingml/2006/main">
              <a:ext uri="{FF2B5EF4-FFF2-40B4-BE49-F238E27FC236}">
                <a16:creationId xmlns:a16="http://schemas.microsoft.com/office/drawing/2014/main" id="{92AD6217-BE8F-4EB8-A29C-31A20B3B8779}"/>
              </a:ext>
            </a:extLst>
          </p:cNvPr>
          <p:cNvSpPr>
            <a:spLocks xmlns:a="http://schemas.openxmlformats.org/drawingml/2006/main" noGrp="1"/>
          </p:cNvSpPr>
          <p:nvPr/>
        </p:nvSpPr>
        <p:spPr>
          <a:xfrm xmlns:a="http://schemas.openxmlformats.org/drawingml/2006/main" rot="0">
            <a:off x="1327404" y="6462437"/>
            <a:ext cx="697944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Unicode MS"/>
                <a:ea typeface="Arial Unicode MS"/>
                <a:cs typeface="Arial Unicode MS"/>
              </a:defRPr>
            </a:defPPr>
          </a:lstStyle>
          <a:p xmlns:a="http://schemas.openxmlformats.org/drawingml/2006/main">
            <a:pPr algn="l">
              <a:lnSpc>
                <a:spcPct val="100000"/>
              </a:lnSpc>
              <a:buNone/>
              <a:defRPr sz="1500" b="0">
                <a:solidFill>
                  <a:srgbClr val="00355F"/>
                </a:solidFill>
                <a:latin typeface="Arial Unicode MS"/>
                <a:ea typeface="Arial Unicode MS"/>
                <a:cs typeface="Arial Unicode MS"/>
              </a:defRPr>
            </a:pPr>
            <a:r>
              <a:rPr sz="1500" b="0">
                <a:solidFill>
                  <a:srgbClr val="00355F"/>
                </a:solidFill>
                <a:latin typeface="Arial Unicode MS"/>
                <a:ea typeface="Arial Unicode MS"/>
                <a:cs typeface="Arial Unicode MS"/>
              </a:rPr>
              <a:t>→ company share → recurring profit / free cash flow → growth priced into the stock</a:t>
            </a:r>
          </a:p>
        </p:txBody>
      </p:sp>
      <p:sp>
        <p:nvSpPr>
          <p:cNvPr id="28" name="Figure 10 label 27 line 1">
            <a:extLst xmlns:a="http://schemas.openxmlformats.org/drawingml/2006/main">
              <a:ext uri="{FF2B5EF4-FFF2-40B4-BE49-F238E27FC236}">
                <a16:creationId xmlns:a16="http://schemas.microsoft.com/office/drawing/2014/main" id="{22900315-BC2A-4A64-9225-EB03952AD085}"/>
              </a:ext>
            </a:extLst>
          </p:cNvPr>
          <p:cNvSpPr>
            <a:spLocks xmlns:a="http://schemas.openxmlformats.org/drawingml/2006/main" noGrp="1"/>
          </p:cNvSpPr>
          <p:nvPr/>
        </p:nvSpPr>
        <p:spPr>
          <a:xfrm xmlns:a="http://schemas.openxmlformats.org/drawingml/2006/main" rot="0">
            <a:off x="4743896" y="8371852"/>
            <a:ext cx="8800207"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75" b="1">
                <a:solidFill>
                  <a:srgbClr val="00355F"/>
                </a:solidFill>
                <a:latin typeface="Arial Unicode MS"/>
                <a:ea typeface="Arial Unicode MS"/>
                <a:cs typeface="Arial Unicode MS"/>
              </a:defRPr>
            </a:defPPr>
          </a:lstStyle>
          <a:p xmlns:a="http://schemas.openxmlformats.org/drawingml/2006/main">
            <a:pPr algn="ctr">
              <a:lnSpc>
                <a:spcPct val="100000"/>
              </a:lnSpc>
              <a:buNone/>
              <a:defRPr sz="1875" b="1">
                <a:solidFill>
                  <a:srgbClr val="00355F"/>
                </a:solidFill>
                <a:latin typeface="Arial Unicode MS"/>
                <a:ea typeface="Arial Unicode MS"/>
                <a:cs typeface="Arial Unicode MS"/>
              </a:defRPr>
            </a:pPr>
            <a:r>
              <a:rPr sz="1875" b="1">
                <a:solidFill>
                  <a:srgbClr val="00355F"/>
                </a:solidFill>
                <a:latin typeface="Arial Unicode MS"/>
                <a:ea typeface="Arial Unicode MS"/>
                <a:cs typeface="Arial Unicode MS"/>
              </a:rPr>
              <a:t>Experimental relevance  ∩  Evidenced supply constraints  ∩  Global customer access</a:t>
            </a:r>
          </a:p>
        </p:txBody>
      </p:sp>
    </p:spTree>
    <p:extLst>
      <p:ext uri="{BB962C8B-B14F-4D97-AF65-F5344CB8AC3E}">
        <p14:creationId xmlns:p14="http://schemas.microsoft.com/office/powerpoint/2010/main" val="20600515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4" name="">
            <a:extLst xmlns:a="http://schemas.openxmlformats.org/drawingml/2006/main">
              <a:ext uri="{FF2B5EF4-FFF2-40B4-BE49-F238E27FC236}">
                <a16:creationId xmlns:a16="http://schemas.microsoft.com/office/drawing/2014/main" id="{AAC74C59-AFCF-4624-86D6-324F257E0563}"/>
              </a:ext>
            </a:extLst>
          </p:cNvPr>
          <p:cNvPicPr>
            <a:picLocks xmlns:a="http://schemas.openxmlformats.org/drawingml/2006/main" noChangeAspect="1"/>
          </p:cNvPicPr>
          <p:nvPr/>
        </p:nvPicPr>
        <p:blipFill>
          <a:blip xmlns:r="http://schemas.openxmlformats.org/officeDocument/2006/relationships" xmlns:a="http://schemas.openxmlformats.org/drawingml/2006/main" r:embed="R53cdebada31e4027"/>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1 label 1 line 1">
            <a:extLst xmlns:a="http://schemas.openxmlformats.org/drawingml/2006/main">
              <a:ext uri="{FF2B5EF4-FFF2-40B4-BE49-F238E27FC236}">
                <a16:creationId xmlns:a16="http://schemas.microsoft.com/office/drawing/2014/main" id="{2474E789-FFE4-4280-9E23-E115EC6E5ACE}"/>
              </a:ext>
            </a:extLst>
          </p:cNvPr>
          <p:cNvSpPr>
            <a:spLocks xmlns:a="http://schemas.openxmlformats.org/drawingml/2006/main" noGrp="1"/>
          </p:cNvSpPr>
          <p:nvPr/>
        </p:nvSpPr>
        <p:spPr>
          <a:xfrm xmlns:a="http://schemas.openxmlformats.org/drawingml/2006/main" rot="0">
            <a:off x="982599" y="311277"/>
            <a:ext cx="10950416"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AI discovery: workflows, evidence and sensitivities</a:t>
            </a:r>
          </a:p>
        </p:txBody>
      </p:sp>
      <p:sp>
        <p:nvSpPr>
          <p:cNvPr id="3" name="Figure 11 label 2 line 1">
            <a:extLst xmlns:a="http://schemas.openxmlformats.org/drawingml/2006/main">
              <a:ext uri="{FF2B5EF4-FFF2-40B4-BE49-F238E27FC236}">
                <a16:creationId xmlns:a16="http://schemas.microsoft.com/office/drawing/2014/main" id="{DC4BF1DA-28F1-4AF1-AA48-26A60FEF3365}"/>
              </a:ext>
            </a:extLst>
          </p:cNvPr>
          <p:cNvSpPr>
            <a:spLocks xmlns:a="http://schemas.openxmlformats.org/drawingml/2006/main" noGrp="1"/>
          </p:cNvSpPr>
          <p:nvPr/>
        </p:nvSpPr>
        <p:spPr>
          <a:xfrm xmlns:a="http://schemas.openxmlformats.org/drawingml/2006/main" rot="0">
            <a:off x="1000887" y="1050989"/>
            <a:ext cx="10650855"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0">
                <a:solidFill>
                  <a:srgbClr val="00355F"/>
                </a:solidFill>
                <a:latin typeface="Arial"/>
                <a:ea typeface="Arial"/>
                <a:cs typeface="Arial"/>
              </a:defRPr>
            </a:defPPr>
          </a:lstStyle>
          <a:p xmlns:a="http://schemas.openxmlformats.org/drawingml/2006/main">
            <a:pPr algn="l">
              <a:lnSpc>
                <a:spcPct val="100000"/>
              </a:lnSpc>
              <a:buNone/>
              <a:defRPr sz="1725" b="0">
                <a:solidFill>
                  <a:srgbClr val="00355F"/>
                </a:solidFill>
                <a:latin typeface="Arial"/>
                <a:ea typeface="Arial"/>
                <a:cs typeface="Arial"/>
              </a:defRPr>
            </a:pPr>
            <a:r>
              <a:rPr sz="1725" b="0">
                <a:solidFill>
                  <a:srgbClr val="00355F"/>
                </a:solidFill>
                <a:latin typeface="Arial"/>
                <a:ea typeface="Arial"/>
                <a:cs typeface="Arial"/>
              </a:rPr>
              <a:t>Modalities use different units. Workload sensitivities and historical clinical benchmarks are shown separately.</a:t>
            </a:r>
          </a:p>
        </p:txBody>
      </p:sp>
      <p:sp>
        <p:nvSpPr>
          <p:cNvPr id="4" name="Figure 11 label 3 line 1">
            <a:extLst xmlns:a="http://schemas.openxmlformats.org/drawingml/2006/main">
              <a:ext uri="{FF2B5EF4-FFF2-40B4-BE49-F238E27FC236}">
                <a16:creationId xmlns:a16="http://schemas.microsoft.com/office/drawing/2014/main" id="{EC419AEB-F8DC-4C7D-A5A7-C59EA0192489}"/>
              </a:ext>
            </a:extLst>
          </p:cNvPr>
          <p:cNvSpPr>
            <a:spLocks xmlns:a="http://schemas.openxmlformats.org/drawingml/2006/main" noGrp="1"/>
          </p:cNvSpPr>
          <p:nvPr/>
        </p:nvSpPr>
        <p:spPr>
          <a:xfrm xmlns:a="http://schemas.openxmlformats.org/drawingml/2006/main" rot="0">
            <a:off x="888492" y="2372392"/>
            <a:ext cx="68934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1">
                <a:solidFill>
                  <a:srgbClr val="FFFFFF"/>
                </a:solidFill>
                <a:latin typeface="Arial"/>
                <a:ea typeface="Arial"/>
                <a:cs typeface="Arial"/>
              </a:defRPr>
            </a:defPPr>
          </a:lstStyle>
          <a:p xmlns:a="http://schemas.openxmlformats.org/drawingml/2006/main">
            <a:pPr algn="l">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STAGE</a:t>
            </a:r>
          </a:p>
        </p:txBody>
      </p:sp>
      <p:sp>
        <p:nvSpPr>
          <p:cNvPr id="5" name="Figure 11 label 4 line 1">
            <a:extLst xmlns:a="http://schemas.openxmlformats.org/drawingml/2006/main">
              <a:ext uri="{FF2B5EF4-FFF2-40B4-BE49-F238E27FC236}">
                <a16:creationId xmlns:a16="http://schemas.microsoft.com/office/drawing/2014/main" id="{C5807BFE-898F-4A10-B423-0635127E66D5}"/>
              </a:ext>
            </a:extLst>
          </p:cNvPr>
          <p:cNvSpPr>
            <a:spLocks xmlns:a="http://schemas.openxmlformats.org/drawingml/2006/main" noGrp="1"/>
          </p:cNvSpPr>
          <p:nvPr/>
        </p:nvSpPr>
        <p:spPr>
          <a:xfrm xmlns:a="http://schemas.openxmlformats.org/drawingml/2006/main" rot="0">
            <a:off x="5568717" y="2372392"/>
            <a:ext cx="147366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BEFORE GEN-AI</a:t>
            </a:r>
          </a:p>
        </p:txBody>
      </p:sp>
      <p:sp>
        <p:nvSpPr>
          <p:cNvPr id="6" name="Figure 11 label 5 line 1">
            <a:extLst xmlns:a="http://schemas.openxmlformats.org/drawingml/2006/main">
              <a:ext uri="{FF2B5EF4-FFF2-40B4-BE49-F238E27FC236}">
                <a16:creationId xmlns:a16="http://schemas.microsoft.com/office/drawing/2014/main" id="{345F646F-58F0-4E7C-863F-C058C8AEBB1F}"/>
              </a:ext>
            </a:extLst>
          </p:cNvPr>
          <p:cNvSpPr>
            <a:spLocks xmlns:a="http://schemas.openxmlformats.org/drawingml/2006/main" noGrp="1"/>
          </p:cNvSpPr>
          <p:nvPr/>
        </p:nvSpPr>
        <p:spPr>
          <a:xfrm xmlns:a="http://schemas.openxmlformats.org/drawingml/2006/main" rot="0">
            <a:off x="8602429" y="2372392"/>
            <a:ext cx="150224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AI MECHANISMS</a:t>
            </a:r>
          </a:p>
        </p:txBody>
      </p:sp>
      <p:sp>
        <p:nvSpPr>
          <p:cNvPr id="7" name="Figure 11 label 6 line 1">
            <a:extLst xmlns:a="http://schemas.openxmlformats.org/drawingml/2006/main">
              <a:ext uri="{FF2B5EF4-FFF2-40B4-BE49-F238E27FC236}">
                <a16:creationId xmlns:a16="http://schemas.microsoft.com/office/drawing/2014/main" id="{C4769B46-0804-4BE0-9EF7-1BB7107A6C3B}"/>
              </a:ext>
            </a:extLst>
          </p:cNvPr>
          <p:cNvSpPr>
            <a:spLocks xmlns:a="http://schemas.openxmlformats.org/drawingml/2006/main" noGrp="1"/>
          </p:cNvSpPr>
          <p:nvPr/>
        </p:nvSpPr>
        <p:spPr>
          <a:xfrm xmlns:a="http://schemas.openxmlformats.org/drawingml/2006/main" rot="0">
            <a:off x="11127867" y="2372392"/>
            <a:ext cx="151786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1">
                <a:solidFill>
                  <a:srgbClr val="FFFFFF"/>
                </a:solidFill>
                <a:latin typeface="Arial"/>
                <a:ea typeface="Arial"/>
                <a:cs typeface="Arial"/>
              </a:defRPr>
            </a:defPPr>
          </a:lstStyle>
          <a:p xmlns:a="http://schemas.openxmlformats.org/drawingml/2006/main">
            <a:pPr algn="l">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WHAT CHANGES</a:t>
            </a:r>
          </a:p>
        </p:txBody>
      </p:sp>
      <p:sp>
        <p:nvSpPr>
          <p:cNvPr id="8" name="Figure 11 label 7 line 1">
            <a:extLst xmlns:a="http://schemas.openxmlformats.org/drawingml/2006/main">
              <a:ext uri="{FF2B5EF4-FFF2-40B4-BE49-F238E27FC236}">
                <a16:creationId xmlns:a16="http://schemas.microsoft.com/office/drawing/2014/main" id="{70F42F30-8EB4-42C8-823B-0CFC48B0E9B7}"/>
              </a:ext>
            </a:extLst>
          </p:cNvPr>
          <p:cNvSpPr>
            <a:spLocks xmlns:a="http://schemas.openxmlformats.org/drawingml/2006/main" noGrp="1"/>
          </p:cNvSpPr>
          <p:nvPr/>
        </p:nvSpPr>
        <p:spPr>
          <a:xfrm xmlns:a="http://schemas.openxmlformats.org/drawingml/2006/main" rot="0">
            <a:off x="886968" y="3224498"/>
            <a:ext cx="2205811"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Virtual search / design</a:t>
            </a:r>
          </a:p>
        </p:txBody>
      </p:sp>
      <p:sp>
        <p:nvSpPr>
          <p:cNvPr id="9" name="Figure 11 label 8 line 1">
            <a:extLst xmlns:a="http://schemas.openxmlformats.org/drawingml/2006/main">
              <a:ext uri="{FF2B5EF4-FFF2-40B4-BE49-F238E27FC236}">
                <a16:creationId xmlns:a16="http://schemas.microsoft.com/office/drawing/2014/main" id="{7019BB2D-6D50-45FC-8143-792DC593713C}"/>
              </a:ext>
            </a:extLst>
          </p:cNvPr>
          <p:cNvSpPr>
            <a:spLocks xmlns:a="http://schemas.openxmlformats.org/drawingml/2006/main" noGrp="1"/>
          </p:cNvSpPr>
          <p:nvPr/>
        </p:nvSpPr>
        <p:spPr>
          <a:xfrm xmlns:a="http://schemas.openxmlformats.org/drawingml/2006/main" rot="0">
            <a:off x="5602233" y="3064764"/>
            <a:ext cx="14066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Large virtual</a:t>
            </a:r>
          </a:p>
        </p:txBody>
      </p:sp>
      <p:sp>
        <p:nvSpPr>
          <p:cNvPr id="10" name="Figure 11 label 8 line 2">
            <a:extLst xmlns:a="http://schemas.openxmlformats.org/drawingml/2006/main">
              <a:ext uri="{FF2B5EF4-FFF2-40B4-BE49-F238E27FC236}">
                <a16:creationId xmlns:a16="http://schemas.microsoft.com/office/drawing/2014/main" id="{5544EE38-8739-42B1-8628-A0A567E11B46}"/>
              </a:ext>
            </a:extLst>
          </p:cNvPr>
          <p:cNvSpPr>
            <a:spLocks xmlns:a="http://schemas.openxmlformats.org/drawingml/2006/main" noGrp="1"/>
          </p:cNvSpPr>
          <p:nvPr/>
        </p:nvSpPr>
        <p:spPr>
          <a:xfrm xmlns:a="http://schemas.openxmlformats.org/drawingml/2006/main" rot="0">
            <a:off x="5602233" y="3350514"/>
            <a:ext cx="14066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libraries</a:t>
            </a:r>
          </a:p>
        </p:txBody>
      </p:sp>
      <p:sp>
        <p:nvSpPr>
          <p:cNvPr id="11" name="Figure 11 label 9 line 1">
            <a:extLst xmlns:a="http://schemas.openxmlformats.org/drawingml/2006/main">
              <a:ext uri="{FF2B5EF4-FFF2-40B4-BE49-F238E27FC236}">
                <a16:creationId xmlns:a16="http://schemas.microsoft.com/office/drawing/2014/main" id="{1DC43D82-E1D8-4FDD-BE79-0F89134884BC}"/>
              </a:ext>
            </a:extLst>
          </p:cNvPr>
          <p:cNvSpPr>
            <a:spLocks xmlns:a="http://schemas.openxmlformats.org/drawingml/2006/main" noGrp="1"/>
          </p:cNvSpPr>
          <p:nvPr/>
        </p:nvSpPr>
        <p:spPr>
          <a:xfrm xmlns:a="http://schemas.openxmlformats.org/drawingml/2006/main" rot="0">
            <a:off x="8824957" y="3064764"/>
            <a:ext cx="10571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Quality +</a:t>
            </a:r>
          </a:p>
        </p:txBody>
      </p:sp>
      <p:sp>
        <p:nvSpPr>
          <p:cNvPr id="12" name="Figure 11 label 9 line 2">
            <a:extLst xmlns:a="http://schemas.openxmlformats.org/drawingml/2006/main">
              <a:ext uri="{FF2B5EF4-FFF2-40B4-BE49-F238E27FC236}">
                <a16:creationId xmlns:a16="http://schemas.microsoft.com/office/drawing/2014/main" id="{4ED9D365-CEB8-4CFB-9301-2A6516F729B2}"/>
              </a:ext>
            </a:extLst>
          </p:cNvPr>
          <p:cNvSpPr>
            <a:spLocks xmlns:a="http://schemas.openxmlformats.org/drawingml/2006/main" noGrp="1"/>
          </p:cNvSpPr>
          <p:nvPr/>
        </p:nvSpPr>
        <p:spPr>
          <a:xfrm xmlns:a="http://schemas.openxmlformats.org/drawingml/2006/main" rot="0">
            <a:off x="8824957" y="3350514"/>
            <a:ext cx="10571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selection</a:t>
            </a:r>
          </a:p>
        </p:txBody>
      </p:sp>
      <p:sp>
        <p:nvSpPr>
          <p:cNvPr id="13" name="Figure 11 label 10 line 1">
            <a:extLst xmlns:a="http://schemas.openxmlformats.org/drawingml/2006/main">
              <a:ext uri="{FF2B5EF4-FFF2-40B4-BE49-F238E27FC236}">
                <a16:creationId xmlns:a16="http://schemas.microsoft.com/office/drawing/2014/main" id="{0F45E6BA-700F-4C2E-9A45-21F7760BA8B7}"/>
              </a:ext>
            </a:extLst>
          </p:cNvPr>
          <p:cNvSpPr>
            <a:spLocks xmlns:a="http://schemas.openxmlformats.org/drawingml/2006/main" noGrp="1"/>
          </p:cNvSpPr>
          <p:nvPr/>
        </p:nvSpPr>
        <p:spPr>
          <a:xfrm xmlns:a="http://schemas.openxmlformats.org/drawingml/2006/main" rot="0">
            <a:off x="11126343" y="3093529"/>
            <a:ext cx="5657284"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Large libraries predate generative AI.</a:t>
            </a:r>
          </a:p>
        </p:txBody>
      </p:sp>
      <p:sp>
        <p:nvSpPr>
          <p:cNvPr id="14" name="Figure 11 label 10 line 2">
            <a:extLst xmlns:a="http://schemas.openxmlformats.org/drawingml/2006/main">
              <a:ext uri="{FF2B5EF4-FFF2-40B4-BE49-F238E27FC236}">
                <a16:creationId xmlns:a16="http://schemas.microsoft.com/office/drawing/2014/main" id="{3E78EA65-2507-40EC-9CA6-7B9DE06589FD}"/>
              </a:ext>
            </a:extLst>
          </p:cNvPr>
          <p:cNvSpPr>
            <a:spLocks xmlns:a="http://schemas.openxmlformats.org/drawingml/2006/main" noGrp="1"/>
          </p:cNvSpPr>
          <p:nvPr/>
        </p:nvSpPr>
        <p:spPr>
          <a:xfrm xmlns:a="http://schemas.openxmlformats.org/drawingml/2006/main" rot="0">
            <a:off x="11126343" y="3355467"/>
            <a:ext cx="5657284"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The investment mechanism is better selection and learning.</a:t>
            </a:r>
          </a:p>
        </p:txBody>
      </p:sp>
      <p:sp>
        <p:nvSpPr>
          <p:cNvPr id="15" name="Figure 11 label 11 line 1">
            <a:extLst xmlns:a="http://schemas.openxmlformats.org/drawingml/2006/main">
              <a:ext uri="{FF2B5EF4-FFF2-40B4-BE49-F238E27FC236}">
                <a16:creationId xmlns:a16="http://schemas.microsoft.com/office/drawing/2014/main" id="{180B9549-324B-42DB-9FFF-8FFACD26F3F2}"/>
              </a:ext>
            </a:extLst>
          </p:cNvPr>
          <p:cNvSpPr>
            <a:spLocks xmlns:a="http://schemas.openxmlformats.org/drawingml/2006/main" noGrp="1"/>
          </p:cNvSpPr>
          <p:nvPr/>
        </p:nvSpPr>
        <p:spPr>
          <a:xfrm xmlns:a="http://schemas.openxmlformats.org/drawingml/2006/main" rot="0">
            <a:off x="886968" y="4277011"/>
            <a:ext cx="1755011"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Physical samples</a:t>
            </a:r>
          </a:p>
        </p:txBody>
      </p:sp>
      <p:sp>
        <p:nvSpPr>
          <p:cNvPr id="16" name="Figure 11 label 12 line 1">
            <a:extLst xmlns:a="http://schemas.openxmlformats.org/drawingml/2006/main">
              <a:ext uri="{FF2B5EF4-FFF2-40B4-BE49-F238E27FC236}">
                <a16:creationId xmlns:a16="http://schemas.microsoft.com/office/drawing/2014/main" id="{0461E631-FA28-47F6-824B-04098E35A796}"/>
              </a:ext>
            </a:extLst>
          </p:cNvPr>
          <p:cNvSpPr>
            <a:spLocks xmlns:a="http://schemas.openxmlformats.org/drawingml/2006/main" noGrp="1"/>
          </p:cNvSpPr>
          <p:nvPr/>
        </p:nvSpPr>
        <p:spPr>
          <a:xfrm xmlns:a="http://schemas.openxmlformats.org/drawingml/2006/main" rot="0">
            <a:off x="5754856" y="4117277"/>
            <a:ext cx="1101388"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Program-</a:t>
            </a:r>
          </a:p>
        </p:txBody>
      </p:sp>
      <p:sp>
        <p:nvSpPr>
          <p:cNvPr id="17" name="Figure 11 label 12 line 2">
            <a:extLst xmlns:a="http://schemas.openxmlformats.org/drawingml/2006/main">
              <a:ext uri="{FF2B5EF4-FFF2-40B4-BE49-F238E27FC236}">
                <a16:creationId xmlns:a16="http://schemas.microsoft.com/office/drawing/2014/main" id="{2D39DF5E-C0B2-4EF0-98E5-CA7D37CC3214}"/>
              </a:ext>
            </a:extLst>
          </p:cNvPr>
          <p:cNvSpPr>
            <a:spLocks xmlns:a="http://schemas.openxmlformats.org/drawingml/2006/main" noGrp="1"/>
          </p:cNvSpPr>
          <p:nvPr/>
        </p:nvSpPr>
        <p:spPr>
          <a:xfrm xmlns:a="http://schemas.openxmlformats.org/drawingml/2006/main" rot="0">
            <a:off x="5754856" y="4403027"/>
            <a:ext cx="1101388"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specific</a:t>
            </a:r>
          </a:p>
        </p:txBody>
      </p:sp>
      <p:sp>
        <p:nvSpPr>
          <p:cNvPr id="18" name="Figure 11 label 13 line 1">
            <a:extLst xmlns:a="http://schemas.openxmlformats.org/drawingml/2006/main">
              <a:ext uri="{FF2B5EF4-FFF2-40B4-BE49-F238E27FC236}">
                <a16:creationId xmlns:a16="http://schemas.microsoft.com/office/drawing/2014/main" id="{402AE0DE-D18E-459B-82EC-BBF9B455D67F}"/>
              </a:ext>
            </a:extLst>
          </p:cNvPr>
          <p:cNvSpPr>
            <a:spLocks xmlns:a="http://schemas.openxmlformats.org/drawingml/2006/main" noGrp="1"/>
          </p:cNvSpPr>
          <p:nvPr/>
        </p:nvSpPr>
        <p:spPr>
          <a:xfrm xmlns:a="http://schemas.openxmlformats.org/drawingml/2006/main" rot="0">
            <a:off x="8738934" y="4117277"/>
            <a:ext cx="12292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Modality-</a:t>
            </a:r>
          </a:p>
        </p:txBody>
      </p:sp>
      <p:sp>
        <p:nvSpPr>
          <p:cNvPr id="19" name="Figure 11 label 13 line 2">
            <a:extLst xmlns:a="http://schemas.openxmlformats.org/drawingml/2006/main">
              <a:ext uri="{FF2B5EF4-FFF2-40B4-BE49-F238E27FC236}">
                <a16:creationId xmlns:a16="http://schemas.microsoft.com/office/drawing/2014/main" id="{CEF20323-60C8-43F7-821B-036216EFABA5}"/>
              </a:ext>
            </a:extLst>
          </p:cNvPr>
          <p:cNvSpPr>
            <a:spLocks xmlns:a="http://schemas.openxmlformats.org/drawingml/2006/main" noGrp="1"/>
          </p:cNvSpPr>
          <p:nvPr/>
        </p:nvSpPr>
        <p:spPr>
          <a:xfrm xmlns:a="http://schemas.openxmlformats.org/drawingml/2006/main" rot="0">
            <a:off x="8738934" y="4403027"/>
            <a:ext cx="12292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dependent</a:t>
            </a:r>
          </a:p>
        </p:txBody>
      </p:sp>
      <p:sp>
        <p:nvSpPr>
          <p:cNvPr id="20" name="Figure 11 label 14 line 1">
            <a:extLst xmlns:a="http://schemas.openxmlformats.org/drawingml/2006/main">
              <a:ext uri="{FF2B5EF4-FFF2-40B4-BE49-F238E27FC236}">
                <a16:creationId xmlns:a16="http://schemas.microsoft.com/office/drawing/2014/main" id="{E87DDCD9-48DE-4E80-BAC4-FDD2264AEE2C}"/>
              </a:ext>
            </a:extLst>
          </p:cNvPr>
          <p:cNvSpPr>
            <a:spLocks xmlns:a="http://schemas.openxmlformats.org/drawingml/2006/main" noGrp="1"/>
          </p:cNvSpPr>
          <p:nvPr/>
        </p:nvSpPr>
        <p:spPr>
          <a:xfrm xmlns:a="http://schemas.openxmlformats.org/drawingml/2006/main" rot="0">
            <a:off x="11126343" y="4146042"/>
            <a:ext cx="545562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Small molecules can need fewer syntheses per program.</a:t>
            </a:r>
          </a:p>
        </p:txBody>
      </p:sp>
      <p:sp>
        <p:nvSpPr>
          <p:cNvPr id="21" name="Figure 11 label 14 line 2">
            <a:extLst xmlns:a="http://schemas.openxmlformats.org/drawingml/2006/main">
              <a:ext uri="{FF2B5EF4-FFF2-40B4-BE49-F238E27FC236}">
                <a16:creationId xmlns:a16="http://schemas.microsoft.com/office/drawing/2014/main" id="{1268CB67-2326-48A2-8078-683A6733768D}"/>
              </a:ext>
            </a:extLst>
          </p:cNvPr>
          <p:cNvSpPr>
            <a:spLocks xmlns:a="http://schemas.openxmlformats.org/drawingml/2006/main" noGrp="1"/>
          </p:cNvSpPr>
          <p:nvPr/>
        </p:nvSpPr>
        <p:spPr>
          <a:xfrm xmlns:a="http://schemas.openxmlformats.org/drawingml/2006/main" rot="0">
            <a:off x="11126343" y="4407980"/>
            <a:ext cx="545562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Protein libraries and individual profiling are different units.</a:t>
            </a:r>
          </a:p>
        </p:txBody>
      </p:sp>
      <p:sp>
        <p:nvSpPr>
          <p:cNvPr id="22" name="Figure 11 label 15 line 1">
            <a:extLst xmlns:a="http://schemas.openxmlformats.org/drawingml/2006/main">
              <a:ext uri="{FF2B5EF4-FFF2-40B4-BE49-F238E27FC236}">
                <a16:creationId xmlns:a16="http://schemas.microsoft.com/office/drawing/2014/main" id="{5938BE47-F00F-4D74-9077-CA4DACCEC944}"/>
              </a:ext>
            </a:extLst>
          </p:cNvPr>
          <p:cNvSpPr>
            <a:spLocks xmlns:a="http://schemas.openxmlformats.org/drawingml/2006/main" noGrp="1"/>
          </p:cNvSpPr>
          <p:nvPr/>
        </p:nvSpPr>
        <p:spPr>
          <a:xfrm xmlns:a="http://schemas.openxmlformats.org/drawingml/2006/main" rot="0">
            <a:off x="886968" y="5277136"/>
            <a:ext cx="1731794"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Assay workload</a:t>
            </a:r>
          </a:p>
        </p:txBody>
      </p:sp>
      <p:sp>
        <p:nvSpPr>
          <p:cNvPr id="23" name="Figure 11 label 16 line 1">
            <a:extLst xmlns:a="http://schemas.openxmlformats.org/drawingml/2006/main">
              <a:ext uri="{FF2B5EF4-FFF2-40B4-BE49-F238E27FC236}">
                <a16:creationId xmlns:a16="http://schemas.microsoft.com/office/drawing/2014/main" id="{77A21E59-EC1A-4F2C-995C-1F93A61D4409}"/>
              </a:ext>
            </a:extLst>
          </p:cNvPr>
          <p:cNvSpPr>
            <a:spLocks xmlns:a="http://schemas.openxmlformats.org/drawingml/2006/main" noGrp="1"/>
          </p:cNvSpPr>
          <p:nvPr/>
        </p:nvSpPr>
        <p:spPr>
          <a:xfrm xmlns:a="http://schemas.openxmlformats.org/drawingml/2006/main" rot="0">
            <a:off x="5611758" y="5260277"/>
            <a:ext cx="138758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1">
                <a:solidFill>
                  <a:srgbClr val="00355F"/>
                </a:solidFill>
                <a:latin typeface="Arial"/>
                <a:ea typeface="Arial"/>
                <a:cs typeface="Arial"/>
              </a:defRPr>
            </a:defPPr>
          </a:lstStyle>
          <a:p xmlns:a="http://schemas.openxmlformats.org/drawingml/2006/main">
            <a:pPr algn="ctr">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1× baseline</a:t>
            </a:r>
          </a:p>
        </p:txBody>
      </p:sp>
      <p:sp>
        <p:nvSpPr>
          <p:cNvPr id="24" name="Figure 11 label 17 line 1">
            <a:extLst xmlns:a="http://schemas.openxmlformats.org/drawingml/2006/main">
              <a:ext uri="{FF2B5EF4-FFF2-40B4-BE49-F238E27FC236}">
                <a16:creationId xmlns:a16="http://schemas.microsoft.com/office/drawing/2014/main" id="{86D6A609-BDF7-4BC8-99E0-9C2526D4FD58}"/>
              </a:ext>
            </a:extLst>
          </p:cNvPr>
          <p:cNvSpPr>
            <a:spLocks xmlns:a="http://schemas.openxmlformats.org/drawingml/2006/main" noGrp="1"/>
          </p:cNvSpPr>
          <p:nvPr/>
        </p:nvSpPr>
        <p:spPr>
          <a:xfrm xmlns:a="http://schemas.openxmlformats.org/drawingml/2006/main" rot="0">
            <a:off x="8859783" y="5117402"/>
            <a:ext cx="9875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1">
                <a:solidFill>
                  <a:srgbClr val="00355F"/>
                </a:solidFill>
                <a:latin typeface="Arial"/>
                <a:ea typeface="Arial"/>
                <a:cs typeface="Arial"/>
              </a:defRPr>
            </a:defPPr>
          </a:lstStyle>
          <a:p xmlns:a="http://schemas.openxmlformats.org/drawingml/2006/main">
            <a:pPr algn="ctr">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1× / 2× /</a:t>
            </a:r>
          </a:p>
        </p:txBody>
      </p:sp>
      <p:sp>
        <p:nvSpPr>
          <p:cNvPr id="25" name="Figure 11 label 17 line 2">
            <a:extLst xmlns:a="http://schemas.openxmlformats.org/drawingml/2006/main">
              <a:ext uri="{FF2B5EF4-FFF2-40B4-BE49-F238E27FC236}">
                <a16:creationId xmlns:a16="http://schemas.microsoft.com/office/drawing/2014/main" id="{8C7EB13A-F82A-460E-8120-70650F49F69D}"/>
              </a:ext>
            </a:extLst>
          </p:cNvPr>
          <p:cNvSpPr>
            <a:spLocks xmlns:a="http://schemas.openxmlformats.org/drawingml/2006/main" noGrp="1"/>
          </p:cNvSpPr>
          <p:nvPr/>
        </p:nvSpPr>
        <p:spPr>
          <a:xfrm xmlns:a="http://schemas.openxmlformats.org/drawingml/2006/main" rot="0">
            <a:off x="8859783" y="5403152"/>
            <a:ext cx="987534"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1">
                <a:solidFill>
                  <a:srgbClr val="00355F"/>
                </a:solidFill>
                <a:latin typeface="Arial"/>
                <a:ea typeface="Arial"/>
                <a:cs typeface="Arial"/>
              </a:defRPr>
            </a:defPPr>
          </a:lstStyle>
          <a:p xmlns:a="http://schemas.openxmlformats.org/drawingml/2006/main">
            <a:pPr algn="ctr">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5× / 10×</a:t>
            </a:r>
          </a:p>
        </p:txBody>
      </p:sp>
      <p:sp>
        <p:nvSpPr>
          <p:cNvPr id="26" name="Figure 11 label 18 line 1">
            <a:extLst xmlns:a="http://schemas.openxmlformats.org/drawingml/2006/main">
              <a:ext uri="{FF2B5EF4-FFF2-40B4-BE49-F238E27FC236}">
                <a16:creationId xmlns:a16="http://schemas.microsoft.com/office/drawing/2014/main" id="{2E88396E-E6E3-4023-811D-E1EB582EEB25}"/>
              </a:ext>
            </a:extLst>
          </p:cNvPr>
          <p:cNvSpPr>
            <a:spLocks xmlns:a="http://schemas.openxmlformats.org/drawingml/2006/main" noGrp="1"/>
          </p:cNvSpPr>
          <p:nvPr/>
        </p:nvSpPr>
        <p:spPr>
          <a:xfrm xmlns:a="http://schemas.openxmlformats.org/drawingml/2006/main" rot="0">
            <a:off x="11126343" y="5146167"/>
            <a:ext cx="5888415"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Analyst workload sensitivities, not predicted fully profiled</a:t>
            </a:r>
          </a:p>
        </p:txBody>
      </p:sp>
      <p:sp>
        <p:nvSpPr>
          <p:cNvPr id="27" name="Figure 11 label 18 line 2">
            <a:extLst xmlns:a="http://schemas.openxmlformats.org/drawingml/2006/main">
              <a:ext uri="{FF2B5EF4-FFF2-40B4-BE49-F238E27FC236}">
                <a16:creationId xmlns:a16="http://schemas.microsoft.com/office/drawing/2014/main" id="{76B6AE36-C767-4F60-A38F-B7263EB6FB95}"/>
              </a:ext>
            </a:extLst>
          </p:cNvPr>
          <p:cNvSpPr>
            <a:spLocks xmlns:a="http://schemas.openxmlformats.org/drawingml/2006/main" noGrp="1"/>
          </p:cNvSpPr>
          <p:nvPr/>
        </p:nvSpPr>
        <p:spPr>
          <a:xfrm xmlns:a="http://schemas.openxmlformats.org/drawingml/2006/main" rot="0">
            <a:off x="11126343" y="5408105"/>
            <a:ext cx="5888415"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candidate counts. Include an efficiency/no-growth case.</a:t>
            </a:r>
          </a:p>
        </p:txBody>
      </p:sp>
      <p:sp>
        <p:nvSpPr>
          <p:cNvPr id="28" name="Figure 11 label 19 line 1">
            <a:extLst xmlns:a="http://schemas.openxmlformats.org/drawingml/2006/main">
              <a:ext uri="{FF2B5EF4-FFF2-40B4-BE49-F238E27FC236}">
                <a16:creationId xmlns:a16="http://schemas.microsoft.com/office/drawing/2014/main" id="{820C0B27-F643-4CE3-849B-9403A812A904}"/>
              </a:ext>
            </a:extLst>
          </p:cNvPr>
          <p:cNvSpPr>
            <a:spLocks xmlns:a="http://schemas.openxmlformats.org/drawingml/2006/main" noGrp="1"/>
          </p:cNvSpPr>
          <p:nvPr/>
        </p:nvSpPr>
        <p:spPr>
          <a:xfrm xmlns:a="http://schemas.openxmlformats.org/drawingml/2006/main" rot="0">
            <a:off x="886968" y="6277261"/>
            <a:ext cx="2069783"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Clinical development</a:t>
            </a:r>
          </a:p>
        </p:txBody>
      </p:sp>
      <p:sp>
        <p:nvSpPr>
          <p:cNvPr id="29" name="Figure 11 label 20 line 1">
            <a:extLst xmlns:a="http://schemas.openxmlformats.org/drawingml/2006/main">
              <a:ext uri="{FF2B5EF4-FFF2-40B4-BE49-F238E27FC236}">
                <a16:creationId xmlns:a16="http://schemas.microsoft.com/office/drawing/2014/main" id="{B3C95171-0CA5-45F2-9E79-4B6C99A981CE}"/>
              </a:ext>
            </a:extLst>
          </p:cNvPr>
          <p:cNvSpPr>
            <a:spLocks xmlns:a="http://schemas.openxmlformats.org/drawingml/2006/main" noGrp="1"/>
          </p:cNvSpPr>
          <p:nvPr/>
        </p:nvSpPr>
        <p:spPr>
          <a:xfrm xmlns:a="http://schemas.openxmlformats.org/drawingml/2006/main" rot="0">
            <a:off x="5748457" y="6117527"/>
            <a:ext cx="1114187"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Phase I</a:t>
            </a:r>
          </a:p>
        </p:txBody>
      </p:sp>
      <p:sp>
        <p:nvSpPr>
          <p:cNvPr id="30" name="Figure 11 label 20 line 2">
            <a:extLst xmlns:a="http://schemas.openxmlformats.org/drawingml/2006/main">
              <a:ext uri="{FF2B5EF4-FFF2-40B4-BE49-F238E27FC236}">
                <a16:creationId xmlns:a16="http://schemas.microsoft.com/office/drawing/2014/main" id="{8DD45379-A778-4BAB-8309-16293EF280A5}"/>
              </a:ext>
            </a:extLst>
          </p:cNvPr>
          <p:cNvSpPr>
            <a:spLocks xmlns:a="http://schemas.openxmlformats.org/drawingml/2006/main" noGrp="1"/>
          </p:cNvSpPr>
          <p:nvPr/>
        </p:nvSpPr>
        <p:spPr>
          <a:xfrm xmlns:a="http://schemas.openxmlformats.org/drawingml/2006/main" rot="0">
            <a:off x="5748457" y="6403277"/>
            <a:ext cx="1114187"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programs</a:t>
            </a:r>
          </a:p>
        </p:txBody>
      </p:sp>
      <p:sp>
        <p:nvSpPr>
          <p:cNvPr id="31" name="Figure 11 label 21 line 1">
            <a:extLst xmlns:a="http://schemas.openxmlformats.org/drawingml/2006/main">
              <a:ext uri="{FF2B5EF4-FFF2-40B4-BE49-F238E27FC236}">
                <a16:creationId xmlns:a16="http://schemas.microsoft.com/office/drawing/2014/main" id="{AD938D88-DAF3-4B35-B581-1C144BB7CCEC}"/>
              </a:ext>
            </a:extLst>
          </p:cNvPr>
          <p:cNvSpPr>
            <a:spLocks xmlns:a="http://schemas.openxmlformats.org/drawingml/2006/main" noGrp="1"/>
          </p:cNvSpPr>
          <p:nvPr/>
        </p:nvSpPr>
        <p:spPr>
          <a:xfrm xmlns:a="http://schemas.openxmlformats.org/drawingml/2006/main" rot="0">
            <a:off x="8516809" y="6117527"/>
            <a:ext cx="1673483"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Funded clinical</a:t>
            </a:r>
          </a:p>
        </p:txBody>
      </p:sp>
      <p:sp>
        <p:nvSpPr>
          <p:cNvPr id="32" name="Figure 11 label 21 line 2">
            <a:extLst xmlns:a="http://schemas.openxmlformats.org/drawingml/2006/main">
              <a:ext uri="{FF2B5EF4-FFF2-40B4-BE49-F238E27FC236}">
                <a16:creationId xmlns:a16="http://schemas.microsoft.com/office/drawing/2014/main" id="{70D2AF70-32E9-453C-9EAA-63E777F0B45C}"/>
              </a:ext>
            </a:extLst>
          </p:cNvPr>
          <p:cNvSpPr>
            <a:spLocks xmlns:a="http://schemas.openxmlformats.org/drawingml/2006/main" noGrp="1"/>
          </p:cNvSpPr>
          <p:nvPr/>
        </p:nvSpPr>
        <p:spPr>
          <a:xfrm xmlns:a="http://schemas.openxmlformats.org/drawingml/2006/main" rot="0">
            <a:off x="8516809" y="6403277"/>
            <a:ext cx="1673483"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programs</a:t>
            </a:r>
          </a:p>
        </p:txBody>
      </p:sp>
      <p:sp>
        <p:nvSpPr>
          <p:cNvPr id="33" name="Figure 11 label 22 line 1">
            <a:extLst xmlns:a="http://schemas.openxmlformats.org/drawingml/2006/main">
              <a:ext uri="{FF2B5EF4-FFF2-40B4-BE49-F238E27FC236}">
                <a16:creationId xmlns:a16="http://schemas.microsoft.com/office/drawing/2014/main" id="{2532C008-90A9-4E44-9994-92827E891538}"/>
              </a:ext>
            </a:extLst>
          </p:cNvPr>
          <p:cNvSpPr>
            <a:spLocks xmlns:a="http://schemas.openxmlformats.org/drawingml/2006/main" noGrp="1"/>
          </p:cNvSpPr>
          <p:nvPr/>
        </p:nvSpPr>
        <p:spPr>
          <a:xfrm xmlns:a="http://schemas.openxmlformats.org/drawingml/2006/main" rot="0">
            <a:off x="11126343" y="6146292"/>
            <a:ext cx="554075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Clinical biology, patients, capital and time remain</a:t>
            </a:r>
          </a:p>
        </p:txBody>
      </p:sp>
      <p:sp>
        <p:nvSpPr>
          <p:cNvPr id="34" name="Figure 11 label 22 line 2">
            <a:extLst xmlns:a="http://schemas.openxmlformats.org/drawingml/2006/main">
              <a:ext uri="{FF2B5EF4-FFF2-40B4-BE49-F238E27FC236}">
                <a16:creationId xmlns:a16="http://schemas.microsoft.com/office/drawing/2014/main" id="{347AD41C-CE97-483D-9EC9-78D800717084}"/>
              </a:ext>
            </a:extLst>
          </p:cNvPr>
          <p:cNvSpPr>
            <a:spLocks xmlns:a="http://schemas.openxmlformats.org/drawingml/2006/main" noGrp="1"/>
          </p:cNvSpPr>
          <p:nvPr/>
        </p:nvSpPr>
        <p:spPr>
          <a:xfrm xmlns:a="http://schemas.openxmlformats.org/drawingml/2006/main" rot="0">
            <a:off x="11126343" y="6408230"/>
            <a:ext cx="5540752"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constraints; discovery gains do not establish clinical gains.</a:t>
            </a:r>
          </a:p>
        </p:txBody>
      </p:sp>
      <p:sp>
        <p:nvSpPr>
          <p:cNvPr id="35" name="Figure 11 label 23 line 1">
            <a:extLst xmlns:a="http://schemas.openxmlformats.org/drawingml/2006/main">
              <a:ext uri="{FF2B5EF4-FFF2-40B4-BE49-F238E27FC236}">
                <a16:creationId xmlns:a16="http://schemas.microsoft.com/office/drawing/2014/main" id="{AD8FCA7F-E345-4087-B150-1EAF66F4CB5A}"/>
              </a:ext>
            </a:extLst>
          </p:cNvPr>
          <p:cNvSpPr>
            <a:spLocks xmlns:a="http://schemas.openxmlformats.org/drawingml/2006/main" noGrp="1"/>
          </p:cNvSpPr>
          <p:nvPr/>
        </p:nvSpPr>
        <p:spPr>
          <a:xfrm xmlns:a="http://schemas.openxmlformats.org/drawingml/2006/main" rot="0">
            <a:off x="886968" y="7277386"/>
            <a:ext cx="1941939"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Phase I to approval</a:t>
            </a:r>
          </a:p>
        </p:txBody>
      </p:sp>
      <p:sp>
        <p:nvSpPr>
          <p:cNvPr id="36" name="Figure 11 label 24 line 1">
            <a:extLst xmlns:a="http://schemas.openxmlformats.org/drawingml/2006/main">
              <a:ext uri="{FF2B5EF4-FFF2-40B4-BE49-F238E27FC236}">
                <a16:creationId xmlns:a16="http://schemas.microsoft.com/office/drawing/2014/main" id="{3D6AB567-0295-4E2F-AAD5-46079999FBF9}"/>
              </a:ext>
            </a:extLst>
          </p:cNvPr>
          <p:cNvSpPr>
            <a:spLocks xmlns:a="http://schemas.openxmlformats.org/drawingml/2006/main" noGrp="1"/>
          </p:cNvSpPr>
          <p:nvPr/>
        </p:nvSpPr>
        <p:spPr>
          <a:xfrm xmlns:a="http://schemas.openxmlformats.org/drawingml/2006/main" rot="0">
            <a:off x="5361057" y="7117652"/>
            <a:ext cx="18889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7.9% / 13.8%</a:t>
            </a:r>
          </a:p>
        </p:txBody>
      </p:sp>
      <p:sp>
        <p:nvSpPr>
          <p:cNvPr id="37" name="Figure 11 label 24 line 2">
            <a:extLst xmlns:a="http://schemas.openxmlformats.org/drawingml/2006/main">
              <a:ext uri="{FF2B5EF4-FFF2-40B4-BE49-F238E27FC236}">
                <a16:creationId xmlns:a16="http://schemas.microsoft.com/office/drawing/2014/main" id="{6F29B061-2EE0-4F7C-9A8B-5A32DC9E8E0A}"/>
              </a:ext>
            </a:extLst>
          </p:cNvPr>
          <p:cNvSpPr>
            <a:spLocks xmlns:a="http://schemas.openxmlformats.org/drawingml/2006/main" noGrp="1"/>
          </p:cNvSpPr>
          <p:nvPr/>
        </p:nvSpPr>
        <p:spPr>
          <a:xfrm xmlns:a="http://schemas.openxmlformats.org/drawingml/2006/main" rot="0">
            <a:off x="5361057" y="7403402"/>
            <a:ext cx="18889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(study estimates)</a:t>
            </a:r>
          </a:p>
        </p:txBody>
      </p:sp>
      <p:sp>
        <p:nvSpPr>
          <p:cNvPr id="38" name="Figure 11 label 25 line 1">
            <a:extLst xmlns:a="http://schemas.openxmlformats.org/drawingml/2006/main">
              <a:ext uri="{FF2B5EF4-FFF2-40B4-BE49-F238E27FC236}">
                <a16:creationId xmlns:a16="http://schemas.microsoft.com/office/drawing/2014/main" id="{05F17E02-EF7E-4962-89CB-40DAC51854A8}"/>
              </a:ext>
            </a:extLst>
          </p:cNvPr>
          <p:cNvSpPr>
            <a:spLocks xmlns:a="http://schemas.openxmlformats.org/drawingml/2006/main" noGrp="1"/>
          </p:cNvSpPr>
          <p:nvPr/>
        </p:nvSpPr>
        <p:spPr>
          <a:xfrm xmlns:a="http://schemas.openxmlformats.org/drawingml/2006/main" rot="0">
            <a:off x="8605584" y="7117652"/>
            <a:ext cx="14959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AI advantage</a:t>
            </a:r>
          </a:p>
        </p:txBody>
      </p:sp>
      <p:sp>
        <p:nvSpPr>
          <p:cNvPr id="39" name="Figure 11 label 25 line 2">
            <a:extLst xmlns:a="http://schemas.openxmlformats.org/drawingml/2006/main">
              <a:ext uri="{FF2B5EF4-FFF2-40B4-BE49-F238E27FC236}">
                <a16:creationId xmlns:a16="http://schemas.microsoft.com/office/drawing/2014/main" id="{4D5600C9-AD5A-43C6-BB3A-F840663FFB14}"/>
              </a:ext>
            </a:extLst>
          </p:cNvPr>
          <p:cNvSpPr>
            <a:spLocks xmlns:a="http://schemas.openxmlformats.org/drawingml/2006/main" noGrp="1"/>
          </p:cNvSpPr>
          <p:nvPr/>
        </p:nvSpPr>
        <p:spPr>
          <a:xfrm xmlns:a="http://schemas.openxmlformats.org/drawingml/2006/main" rot="0">
            <a:off x="8605584" y="7403402"/>
            <a:ext cx="149593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800" b="0">
                <a:solidFill>
                  <a:srgbClr val="00355F"/>
                </a:solidFill>
                <a:latin typeface="Arial"/>
                <a:ea typeface="Arial"/>
                <a:cs typeface="Arial"/>
              </a:defRPr>
            </a:defPPr>
          </a:lstStyle>
          <a:p xmlns:a="http://schemas.openxmlformats.org/drawingml/2006/main">
            <a:pPr algn="ctr">
              <a:lnSpc>
                <a:spcPct val="100000"/>
              </a:lnSpc>
              <a:buNone/>
              <a:defRPr sz="1800" b="0">
                <a:solidFill>
                  <a:srgbClr val="00355F"/>
                </a:solidFill>
                <a:latin typeface="Arial"/>
                <a:ea typeface="Arial"/>
                <a:cs typeface="Arial"/>
              </a:defRPr>
            </a:pPr>
            <a:r>
              <a:rPr sz="1800" b="0">
                <a:solidFill>
                  <a:srgbClr val="00355F"/>
                </a:solidFill>
                <a:latin typeface="Arial"/>
                <a:ea typeface="Arial"/>
                <a:cs typeface="Arial"/>
              </a:rPr>
              <a:t>unproven</a:t>
            </a:r>
          </a:p>
        </p:txBody>
      </p:sp>
      <p:sp>
        <p:nvSpPr>
          <p:cNvPr id="40" name="Figure 11 label 26 line 1">
            <a:extLst xmlns:a="http://schemas.openxmlformats.org/drawingml/2006/main">
              <a:ext uri="{FF2B5EF4-FFF2-40B4-BE49-F238E27FC236}">
                <a16:creationId xmlns:a16="http://schemas.microsoft.com/office/drawing/2014/main" id="{A9848E46-8A1C-449A-8089-B225ED23EFCA}"/>
              </a:ext>
            </a:extLst>
          </p:cNvPr>
          <p:cNvSpPr>
            <a:spLocks xmlns:a="http://schemas.openxmlformats.org/drawingml/2006/main" noGrp="1"/>
          </p:cNvSpPr>
          <p:nvPr/>
        </p:nvSpPr>
        <p:spPr>
          <a:xfrm xmlns:a="http://schemas.openxmlformats.org/drawingml/2006/main" rot="0">
            <a:off x="11126343" y="7146417"/>
            <a:ext cx="4878318"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BIO 2011–2020 and Wong 2000–2015 are different</a:t>
            </a:r>
          </a:p>
        </p:txBody>
      </p:sp>
      <p:sp>
        <p:nvSpPr>
          <p:cNvPr id="41" name="Figure 11 label 26 line 2">
            <a:extLst xmlns:a="http://schemas.openxmlformats.org/drawingml/2006/main">
              <a:ext uri="{FF2B5EF4-FFF2-40B4-BE49-F238E27FC236}">
                <a16:creationId xmlns:a16="http://schemas.microsoft.com/office/drawing/2014/main" id="{557DE386-6D4D-4B3A-9775-75D6EC1BDD20}"/>
              </a:ext>
            </a:extLst>
          </p:cNvPr>
          <p:cNvSpPr>
            <a:spLocks xmlns:a="http://schemas.openxmlformats.org/drawingml/2006/main" noGrp="1"/>
          </p:cNvSpPr>
          <p:nvPr/>
        </p:nvSpPr>
        <p:spPr>
          <a:xfrm xmlns:a="http://schemas.openxmlformats.org/drawingml/2006/main" rot="0">
            <a:off x="11126343" y="7408355"/>
            <a:ext cx="4878318"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0">
                <a:solidFill>
                  <a:srgbClr val="00355F"/>
                </a:solidFill>
                <a:latin typeface="Arial"/>
                <a:ea typeface="Arial"/>
                <a:cs typeface="Arial"/>
              </a:defRPr>
            </a:defPPr>
          </a:lstStyle>
          <a:p xmlns:a="http://schemas.openxmlformats.org/drawingml/2006/main">
            <a:pPr algn="l">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cohorts and methods, not an AI comparison.</a:t>
            </a:r>
          </a:p>
        </p:txBody>
      </p:sp>
      <p:sp>
        <p:nvSpPr>
          <p:cNvPr id="42" name="Figure 11 label 27 line 1">
            <a:extLst xmlns:a="http://schemas.openxmlformats.org/drawingml/2006/main">
              <a:ext uri="{FF2B5EF4-FFF2-40B4-BE49-F238E27FC236}">
                <a16:creationId xmlns:a16="http://schemas.microsoft.com/office/drawing/2014/main" id="{DBF2CD8C-EF24-426D-A171-38A8EFCBB634}"/>
              </a:ext>
            </a:extLst>
          </p:cNvPr>
          <p:cNvSpPr>
            <a:spLocks xmlns:a="http://schemas.openxmlformats.org/drawingml/2006/main" noGrp="1"/>
          </p:cNvSpPr>
          <p:nvPr/>
        </p:nvSpPr>
        <p:spPr>
          <a:xfrm xmlns:a="http://schemas.openxmlformats.org/drawingml/2006/main" rot="0">
            <a:off x="1618107" y="8450961"/>
            <a:ext cx="10245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FFFFFF"/>
                </a:solidFill>
                <a:latin typeface="Arial"/>
                <a:ea typeface="Arial"/>
                <a:cs typeface="Arial"/>
              </a:defRPr>
            </a:defPPr>
          </a:lstStyle>
          <a:p xmlns:a="http://schemas.openxmlformats.org/drawingml/2006/main">
            <a:pPr algn="l">
              <a:lnSpc>
                <a:spcPct val="100000"/>
              </a:lnSpc>
              <a:buNone/>
              <a:defRPr sz="2100" b="1">
                <a:solidFill>
                  <a:srgbClr val="FFFFFF"/>
                </a:solidFill>
                <a:latin typeface="Arial"/>
                <a:ea typeface="Arial"/>
                <a:cs typeface="Arial"/>
              </a:defRPr>
            </a:pPr>
            <a:r>
              <a:rPr sz="2100" b="1">
                <a:solidFill>
                  <a:srgbClr val="FFFFFF"/>
                </a:solidFill>
                <a:latin typeface="Arial"/>
                <a:ea typeface="Arial"/>
                <a:cs typeface="Arial"/>
              </a:rPr>
              <a:t>Tool demand depends on funded programs, assay depth, net inputs and prices.</a:t>
            </a:r>
          </a:p>
        </p:txBody>
      </p:sp>
      <p:sp>
        <p:nvSpPr>
          <p:cNvPr id="43" name="Figure 11 label 28 line 1">
            <a:extLst xmlns:a="http://schemas.openxmlformats.org/drawingml/2006/main">
              <a:ext uri="{FF2B5EF4-FFF2-40B4-BE49-F238E27FC236}">
                <a16:creationId xmlns:a16="http://schemas.microsoft.com/office/drawing/2014/main" id="{8F983D2B-604D-41AC-9335-4B187867289C}"/>
              </a:ext>
            </a:extLst>
          </p:cNvPr>
          <p:cNvSpPr>
            <a:spLocks xmlns:a="http://schemas.openxmlformats.org/drawingml/2006/main" noGrp="1"/>
          </p:cNvSpPr>
          <p:nvPr/>
        </p:nvSpPr>
        <p:spPr>
          <a:xfrm xmlns:a="http://schemas.openxmlformats.org/drawingml/2006/main" rot="0">
            <a:off x="679323" y="9533192"/>
            <a:ext cx="9442281"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Sources: Lyu 2019; Sumitomo 2021; BIO 2011–2020; Wong 2000–2015. Workloads are analyst sensitivities, not empirical cohorts.</a:t>
            </a:r>
          </a:p>
        </p:txBody>
      </p:sp>
    </p:spTree>
    <p:extLst>
      <p:ext uri="{BB962C8B-B14F-4D97-AF65-F5344CB8AC3E}">
        <p14:creationId xmlns:p14="http://schemas.microsoft.com/office/powerpoint/2010/main" val="190553656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8" name="">
            <a:extLst xmlns:a="http://schemas.openxmlformats.org/drawingml/2006/main">
              <a:ext uri="{FF2B5EF4-FFF2-40B4-BE49-F238E27FC236}">
                <a16:creationId xmlns:a16="http://schemas.microsoft.com/office/drawing/2014/main" id="{A9040829-C07A-4199-BE73-AACE3CCD5B0F}"/>
              </a:ext>
            </a:extLst>
          </p:cNvPr>
          <p:cNvPicPr>
            <a:picLocks xmlns:a="http://schemas.openxmlformats.org/drawingml/2006/main" noChangeAspect="1"/>
          </p:cNvPicPr>
          <p:nvPr/>
        </p:nvPicPr>
        <p:blipFill>
          <a:blip xmlns:r="http://schemas.openxmlformats.org/officeDocument/2006/relationships" xmlns:a="http://schemas.openxmlformats.org/drawingml/2006/main" r:embed="Rde9ba6fd3ebf4d38"/>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2 label 1 line 1">
            <a:extLst xmlns:a="http://schemas.openxmlformats.org/drawingml/2006/main">
              <a:ext uri="{FF2B5EF4-FFF2-40B4-BE49-F238E27FC236}">
                <a16:creationId xmlns:a16="http://schemas.microsoft.com/office/drawing/2014/main" id="{6627EBD4-DB71-4E73-98C9-03971FE2EFF7}"/>
              </a:ext>
            </a:extLst>
          </p:cNvPr>
          <p:cNvSpPr>
            <a:spLocks xmlns:a="http://schemas.openxmlformats.org/drawingml/2006/main" noGrp="1"/>
          </p:cNvSpPr>
          <p:nvPr/>
        </p:nvSpPr>
        <p:spPr>
          <a:xfrm xmlns:a="http://schemas.openxmlformats.org/drawingml/2006/main" rot="0">
            <a:off x="1057351" y="255118"/>
            <a:ext cx="11611821"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AI selection and biological evidence shape tool demand</a:t>
            </a:r>
          </a:p>
        </p:txBody>
      </p:sp>
      <p:sp>
        <p:nvSpPr>
          <p:cNvPr id="3" name="Figure 12 label 2 line 1">
            <a:extLst xmlns:a="http://schemas.openxmlformats.org/drawingml/2006/main">
              <a:ext uri="{FF2B5EF4-FFF2-40B4-BE49-F238E27FC236}">
                <a16:creationId xmlns:a16="http://schemas.microsoft.com/office/drawing/2014/main" id="{2E255C8E-FE53-4722-ADF8-77845A7A84AB}"/>
              </a:ext>
            </a:extLst>
          </p:cNvPr>
          <p:cNvSpPr>
            <a:spLocks xmlns:a="http://schemas.openxmlformats.org/drawingml/2006/main" noGrp="1"/>
          </p:cNvSpPr>
          <p:nvPr/>
        </p:nvSpPr>
        <p:spPr>
          <a:xfrm xmlns:a="http://schemas.openxmlformats.org/drawingml/2006/main" rot="0">
            <a:off x="1065581" y="951128"/>
            <a:ext cx="9819251"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Workflows vary by modality; paid demand depends on funded assays, depth, net inputs and prices.</a:t>
            </a:r>
          </a:p>
        </p:txBody>
      </p:sp>
      <p:sp>
        <p:nvSpPr>
          <p:cNvPr id="4" name="Figure 12 label 3 line 1">
            <a:extLst xmlns:a="http://schemas.openxmlformats.org/drawingml/2006/main">
              <a:ext uri="{FF2B5EF4-FFF2-40B4-BE49-F238E27FC236}">
                <a16:creationId xmlns:a16="http://schemas.microsoft.com/office/drawing/2014/main" id="{F68EC345-4A8A-4240-800C-B2178F9B64F9}"/>
              </a:ext>
            </a:extLst>
          </p:cNvPr>
          <p:cNvSpPr>
            <a:spLocks xmlns:a="http://schemas.openxmlformats.org/drawingml/2006/main" noGrp="1"/>
          </p:cNvSpPr>
          <p:nvPr/>
        </p:nvSpPr>
        <p:spPr>
          <a:xfrm xmlns:a="http://schemas.openxmlformats.org/drawingml/2006/main" rot="0">
            <a:off x="753466" y="2013509"/>
            <a:ext cx="4761583"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MODALITY-AWARE DISCOVERY WORKFLOW</a:t>
            </a:r>
          </a:p>
        </p:txBody>
      </p:sp>
      <p:sp>
        <p:nvSpPr>
          <p:cNvPr id="5" name="Figure 12 label 4 line 1">
            <a:extLst xmlns:a="http://schemas.openxmlformats.org/drawingml/2006/main">
              <a:ext uri="{FF2B5EF4-FFF2-40B4-BE49-F238E27FC236}">
                <a16:creationId xmlns:a16="http://schemas.microsoft.com/office/drawing/2014/main" id="{110491CF-77B8-48E9-8E90-497545DC7DDE}"/>
              </a:ext>
            </a:extLst>
          </p:cNvPr>
          <p:cNvSpPr>
            <a:spLocks xmlns:a="http://schemas.openxmlformats.org/drawingml/2006/main" noGrp="1"/>
          </p:cNvSpPr>
          <p:nvPr/>
        </p:nvSpPr>
        <p:spPr>
          <a:xfrm xmlns:a="http://schemas.openxmlformats.org/drawingml/2006/main" rot="0">
            <a:off x="755294" y="2390852"/>
            <a:ext cx="417108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0">
                <a:solidFill>
                  <a:srgbClr val="00355F"/>
                </a:solidFill>
                <a:latin typeface="Arial"/>
                <a:ea typeface="Arial"/>
                <a:cs typeface="Arial"/>
              </a:defRPr>
            </a:defPPr>
          </a:lstStyle>
          <a:p xmlns:a="http://schemas.openxmlformats.org/drawingml/2006/main">
            <a:pPr algn="l">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Schematic widths; workload multipliers are sensitivities</a:t>
            </a:r>
          </a:p>
        </p:txBody>
      </p:sp>
      <p:sp>
        <p:nvSpPr>
          <p:cNvPr id="6" name="Figure 12 label 5 line 1">
            <a:extLst xmlns:a="http://schemas.openxmlformats.org/drawingml/2006/main">
              <a:ext uri="{FF2B5EF4-FFF2-40B4-BE49-F238E27FC236}">
                <a16:creationId xmlns:a16="http://schemas.microsoft.com/office/drawing/2014/main" id="{3C58DF83-31D7-4DAC-BBC8-AACE1B270E10}"/>
              </a:ext>
            </a:extLst>
          </p:cNvPr>
          <p:cNvSpPr>
            <a:spLocks xmlns:a="http://schemas.openxmlformats.org/drawingml/2006/main" noGrp="1"/>
          </p:cNvSpPr>
          <p:nvPr/>
        </p:nvSpPr>
        <p:spPr>
          <a:xfrm xmlns:a="http://schemas.openxmlformats.org/drawingml/2006/main" rot="0">
            <a:off x="2103974" y="3039008"/>
            <a:ext cx="2497651"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40" b="1">
                <a:solidFill>
                  <a:srgbClr val="00355F"/>
                </a:solidFill>
                <a:latin typeface="Arial"/>
                <a:ea typeface="Arial"/>
                <a:cs typeface="Arial"/>
              </a:defRPr>
            </a:defPPr>
          </a:lstStyle>
          <a:p xmlns:a="http://schemas.openxmlformats.org/drawingml/2006/main">
            <a:pPr algn="ctr">
              <a:lnSpc>
                <a:spcPct val="100000"/>
              </a:lnSpc>
              <a:buNone/>
              <a:defRPr sz="1740" b="1">
                <a:solidFill>
                  <a:srgbClr val="00355F"/>
                </a:solidFill>
                <a:latin typeface="Arial"/>
                <a:ea typeface="Arial"/>
                <a:cs typeface="Arial"/>
              </a:defRPr>
            </a:pPr>
            <a:r>
              <a:rPr sz="1740" b="1">
                <a:solidFill>
                  <a:srgbClr val="00355F"/>
                </a:solidFill>
                <a:latin typeface="Arial"/>
                <a:ea typeface="Arial"/>
                <a:cs typeface="Arial"/>
              </a:rPr>
              <a:t>Virtual search / design</a:t>
            </a:r>
          </a:p>
        </p:txBody>
      </p:sp>
      <p:sp>
        <p:nvSpPr>
          <p:cNvPr id="7" name="Figure 12 label 6 line 1">
            <a:extLst xmlns:a="http://schemas.openxmlformats.org/drawingml/2006/main">
              <a:ext uri="{FF2B5EF4-FFF2-40B4-BE49-F238E27FC236}">
                <a16:creationId xmlns:a16="http://schemas.microsoft.com/office/drawing/2014/main" id="{B83D2401-7CF4-4333-B713-0A12A6798383}"/>
              </a:ext>
            </a:extLst>
          </p:cNvPr>
          <p:cNvSpPr>
            <a:spLocks xmlns:a="http://schemas.openxmlformats.org/drawingml/2006/main" noGrp="1"/>
          </p:cNvSpPr>
          <p:nvPr/>
        </p:nvSpPr>
        <p:spPr>
          <a:xfrm xmlns:a="http://schemas.openxmlformats.org/drawingml/2006/main" rot="0">
            <a:off x="2337804" y="3400349"/>
            <a:ext cx="2029992"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80" b="1">
                <a:solidFill>
                  <a:srgbClr val="00355F"/>
                </a:solidFill>
                <a:latin typeface="Arial"/>
                <a:ea typeface="Arial"/>
                <a:cs typeface="Arial"/>
              </a:defRPr>
            </a:defPPr>
          </a:lstStyle>
          <a:p xmlns:a="http://schemas.openxmlformats.org/drawingml/2006/main">
            <a:pPr algn="ctr">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Quality + selection</a:t>
            </a:r>
          </a:p>
        </p:txBody>
      </p:sp>
      <p:sp>
        <p:nvSpPr>
          <p:cNvPr id="8" name="Figure 12 label 7 line 1">
            <a:extLst xmlns:a="http://schemas.openxmlformats.org/drawingml/2006/main">
              <a:ext uri="{FF2B5EF4-FFF2-40B4-BE49-F238E27FC236}">
                <a16:creationId xmlns:a16="http://schemas.microsoft.com/office/drawing/2014/main" id="{2ECACDB6-8DE9-43B2-9F44-134FDD3294C0}"/>
              </a:ext>
            </a:extLst>
          </p:cNvPr>
          <p:cNvSpPr>
            <a:spLocks xmlns:a="http://schemas.openxmlformats.org/drawingml/2006/main" noGrp="1"/>
          </p:cNvSpPr>
          <p:nvPr/>
        </p:nvSpPr>
        <p:spPr>
          <a:xfrm xmlns:a="http://schemas.openxmlformats.org/drawingml/2006/main" rot="0">
            <a:off x="2359661" y="4242968"/>
            <a:ext cx="1986278"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40" b="1">
                <a:solidFill>
                  <a:srgbClr val="00355F"/>
                </a:solidFill>
                <a:latin typeface="Arial"/>
                <a:ea typeface="Arial"/>
                <a:cs typeface="Arial"/>
              </a:defRPr>
            </a:defPPr>
          </a:lstStyle>
          <a:p xmlns:a="http://schemas.openxmlformats.org/drawingml/2006/main">
            <a:pPr algn="ctr">
              <a:lnSpc>
                <a:spcPct val="100000"/>
              </a:lnSpc>
              <a:buNone/>
              <a:defRPr sz="1740" b="1">
                <a:solidFill>
                  <a:srgbClr val="00355F"/>
                </a:solidFill>
                <a:latin typeface="Arial"/>
                <a:ea typeface="Arial"/>
                <a:cs typeface="Arial"/>
              </a:defRPr>
            </a:pPr>
            <a:r>
              <a:rPr sz="1740" b="1">
                <a:solidFill>
                  <a:srgbClr val="00355F"/>
                </a:solidFill>
                <a:latin typeface="Arial"/>
                <a:ea typeface="Arial"/>
                <a:cs typeface="Arial"/>
              </a:rPr>
              <a:t>Physical samples</a:t>
            </a:r>
          </a:p>
        </p:txBody>
      </p:sp>
      <p:sp>
        <p:nvSpPr>
          <p:cNvPr id="9" name="Figure 12 label 8 line 1">
            <a:extLst xmlns:a="http://schemas.openxmlformats.org/drawingml/2006/main">
              <a:ext uri="{FF2B5EF4-FFF2-40B4-BE49-F238E27FC236}">
                <a16:creationId xmlns:a16="http://schemas.microsoft.com/office/drawing/2014/main" id="{BC0AB471-62AD-44D0-BBF5-BC6A4632715D}"/>
              </a:ext>
            </a:extLst>
          </p:cNvPr>
          <p:cNvSpPr>
            <a:spLocks xmlns:a="http://schemas.openxmlformats.org/drawingml/2006/main" noGrp="1"/>
          </p:cNvSpPr>
          <p:nvPr/>
        </p:nvSpPr>
        <p:spPr>
          <a:xfrm xmlns:a="http://schemas.openxmlformats.org/drawingml/2006/main" rot="0">
            <a:off x="2352803" y="4610710"/>
            <a:ext cx="1999994"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60" b="1">
                <a:solidFill>
                  <a:srgbClr val="00355F"/>
                </a:solidFill>
                <a:latin typeface="Arial"/>
                <a:ea typeface="Arial"/>
                <a:cs typeface="Arial"/>
              </a:defRPr>
            </a:defPPr>
          </a:lstStyle>
          <a:p xmlns:a="http://schemas.openxmlformats.org/drawingml/2006/main">
            <a:pPr algn="ctr">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Modality-dependent</a:t>
            </a:r>
          </a:p>
        </p:txBody>
      </p:sp>
      <p:sp>
        <p:nvSpPr>
          <p:cNvPr id="10" name="Figure 12 label 9 line 1">
            <a:extLst xmlns:a="http://schemas.openxmlformats.org/drawingml/2006/main">
              <a:ext uri="{FF2B5EF4-FFF2-40B4-BE49-F238E27FC236}">
                <a16:creationId xmlns:a16="http://schemas.microsoft.com/office/drawing/2014/main" id="{F5F1F931-1F4B-49D5-A4FE-441B66D003D0}"/>
              </a:ext>
            </a:extLst>
          </p:cNvPr>
          <p:cNvSpPr>
            <a:spLocks xmlns:a="http://schemas.openxmlformats.org/drawingml/2006/main" noGrp="1"/>
          </p:cNvSpPr>
          <p:nvPr/>
        </p:nvSpPr>
        <p:spPr>
          <a:xfrm xmlns:a="http://schemas.openxmlformats.org/drawingml/2006/main" rot="0">
            <a:off x="2439656" y="5340248"/>
            <a:ext cx="1826288"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740" b="1">
                <a:solidFill>
                  <a:srgbClr val="FFFFFF"/>
                </a:solidFill>
                <a:latin typeface="Arial"/>
                <a:ea typeface="Arial"/>
                <a:cs typeface="Arial"/>
              </a:defRPr>
            </a:defPPr>
          </a:lstStyle>
          <a:p xmlns:a="http://schemas.openxmlformats.org/drawingml/2006/main">
            <a:pPr algn="ctr">
              <a:lnSpc>
                <a:spcPct val="100000"/>
              </a:lnSpc>
              <a:buNone/>
              <a:defRPr sz="1740" b="1">
                <a:solidFill>
                  <a:srgbClr val="FFFFFF"/>
                </a:solidFill>
                <a:latin typeface="Arial"/>
                <a:ea typeface="Arial"/>
                <a:cs typeface="Arial"/>
              </a:defRPr>
            </a:pPr>
            <a:r>
              <a:rPr sz="1740" b="1">
                <a:solidFill>
                  <a:srgbClr val="FFFFFF"/>
                </a:solidFill>
                <a:latin typeface="Arial"/>
                <a:ea typeface="Arial"/>
                <a:cs typeface="Arial"/>
              </a:rPr>
              <a:t>Assay workload</a:t>
            </a:r>
          </a:p>
        </p:txBody>
      </p:sp>
      <p:sp>
        <p:nvSpPr>
          <p:cNvPr id="11" name="Figure 12 label 10 line 1">
            <a:extLst xmlns:a="http://schemas.openxmlformats.org/drawingml/2006/main">
              <a:ext uri="{FF2B5EF4-FFF2-40B4-BE49-F238E27FC236}">
                <a16:creationId xmlns:a16="http://schemas.microsoft.com/office/drawing/2014/main" id="{749D5529-5C7A-4383-BBC5-3B8D2CC17F6F}"/>
              </a:ext>
            </a:extLst>
          </p:cNvPr>
          <p:cNvSpPr>
            <a:spLocks xmlns:a="http://schemas.openxmlformats.org/drawingml/2006/main" noGrp="1"/>
          </p:cNvSpPr>
          <p:nvPr/>
        </p:nvSpPr>
        <p:spPr>
          <a:xfrm xmlns:a="http://schemas.openxmlformats.org/drawingml/2006/main" rot="0">
            <a:off x="2596848" y="5714390"/>
            <a:ext cx="1511903"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40" b="1">
                <a:solidFill>
                  <a:srgbClr val="FFFFFF"/>
                </a:solidFill>
                <a:latin typeface="Arial"/>
                <a:ea typeface="Arial"/>
                <a:cs typeface="Arial"/>
              </a:defRPr>
            </a:defPPr>
          </a:lstStyle>
          <a:p xmlns:a="http://schemas.openxmlformats.org/drawingml/2006/main">
            <a:pPr algn="ctr">
              <a:lnSpc>
                <a:spcPct val="100000"/>
              </a:lnSpc>
              <a:buNone/>
              <a:defRPr sz="1440" b="1">
                <a:solidFill>
                  <a:srgbClr val="FFFFFF"/>
                </a:solidFill>
                <a:latin typeface="Arial"/>
                <a:ea typeface="Arial"/>
                <a:cs typeface="Arial"/>
              </a:defRPr>
            </a:pPr>
            <a:r>
              <a:rPr sz="1440" b="1">
                <a:solidFill>
                  <a:srgbClr val="FFFFFF"/>
                </a:solidFill>
                <a:latin typeface="Arial"/>
                <a:ea typeface="Arial"/>
                <a:cs typeface="Arial"/>
              </a:rPr>
              <a:t>1× / 2× / 5× / 10×</a:t>
            </a:r>
          </a:p>
        </p:txBody>
      </p:sp>
      <p:sp>
        <p:nvSpPr>
          <p:cNvPr id="12" name="Figure 12 label 11 line 1">
            <a:extLst xmlns:a="http://schemas.openxmlformats.org/drawingml/2006/main">
              <a:ext uri="{FF2B5EF4-FFF2-40B4-BE49-F238E27FC236}">
                <a16:creationId xmlns:a16="http://schemas.microsoft.com/office/drawing/2014/main" id="{C44CA765-206D-4B7E-847E-1E42902A2A4C}"/>
              </a:ext>
            </a:extLst>
          </p:cNvPr>
          <p:cNvSpPr>
            <a:spLocks xmlns:a="http://schemas.openxmlformats.org/drawingml/2006/main" noGrp="1"/>
          </p:cNvSpPr>
          <p:nvPr/>
        </p:nvSpPr>
        <p:spPr>
          <a:xfrm xmlns:a="http://schemas.openxmlformats.org/drawingml/2006/main" rot="0">
            <a:off x="2745474" y="6487211"/>
            <a:ext cx="1214652"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80" b="1">
                <a:solidFill>
                  <a:srgbClr val="00355F"/>
                </a:solidFill>
                <a:latin typeface="Arial"/>
                <a:ea typeface="Arial"/>
                <a:cs typeface="Arial"/>
              </a:defRPr>
            </a:defPPr>
          </a:lstStyle>
          <a:p xmlns:a="http://schemas.openxmlformats.org/drawingml/2006/main">
            <a:pPr algn="ctr">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Clinical entry</a:t>
            </a:r>
          </a:p>
        </p:txBody>
      </p:sp>
      <p:sp>
        <p:nvSpPr>
          <p:cNvPr id="13" name="Figure 12 label 12 line 1">
            <a:extLst xmlns:a="http://schemas.openxmlformats.org/drawingml/2006/main">
              <a:ext uri="{FF2B5EF4-FFF2-40B4-BE49-F238E27FC236}">
                <a16:creationId xmlns:a16="http://schemas.microsoft.com/office/drawing/2014/main" id="{6A903164-570A-472C-8A06-82F55D0CE796}"/>
              </a:ext>
            </a:extLst>
          </p:cNvPr>
          <p:cNvSpPr>
            <a:spLocks xmlns:a="http://schemas.openxmlformats.org/drawingml/2006/main" noGrp="1"/>
          </p:cNvSpPr>
          <p:nvPr/>
        </p:nvSpPr>
        <p:spPr>
          <a:xfrm xmlns:a="http://schemas.openxmlformats.org/drawingml/2006/main" rot="0">
            <a:off x="2655496" y="6854952"/>
            <a:ext cx="1394609"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1">
                <a:solidFill>
                  <a:srgbClr val="00355F"/>
                </a:solidFill>
                <a:latin typeface="Arial"/>
                <a:ea typeface="Arial"/>
                <a:cs typeface="Arial"/>
              </a:defRPr>
            </a:defPPr>
          </a:lstStyle>
          <a:p xmlns:a="http://schemas.openxmlformats.org/drawingml/2006/main">
            <a:pPr algn="ctr">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Funded programs</a:t>
            </a:r>
          </a:p>
        </p:txBody>
      </p:sp>
      <p:sp>
        <p:nvSpPr>
          <p:cNvPr id="14" name="Figure 12 label 13 line 1">
            <a:extLst xmlns:a="http://schemas.openxmlformats.org/drawingml/2006/main">
              <a:ext uri="{FF2B5EF4-FFF2-40B4-BE49-F238E27FC236}">
                <a16:creationId xmlns:a16="http://schemas.microsoft.com/office/drawing/2014/main" id="{F6B322F6-39B5-4BF1-9D2E-872A8D4FF286}"/>
              </a:ext>
            </a:extLst>
          </p:cNvPr>
          <p:cNvSpPr>
            <a:spLocks xmlns:a="http://schemas.openxmlformats.org/drawingml/2006/main" noGrp="1"/>
          </p:cNvSpPr>
          <p:nvPr/>
        </p:nvSpPr>
        <p:spPr>
          <a:xfrm xmlns:a="http://schemas.openxmlformats.org/drawingml/2006/main" rot="0">
            <a:off x="2662800" y="7424471"/>
            <a:ext cx="1380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80" b="1">
                <a:solidFill>
                  <a:srgbClr val="00355F"/>
                </a:solidFill>
                <a:latin typeface="Arial"/>
                <a:ea typeface="Arial"/>
                <a:cs typeface="Arial"/>
              </a:defRPr>
            </a:defPPr>
          </a:lstStyle>
          <a:p xmlns:a="http://schemas.openxmlformats.org/drawingml/2006/main">
            <a:pPr algn="ctr">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Approval gains</a:t>
            </a:r>
          </a:p>
        </p:txBody>
      </p:sp>
      <p:sp>
        <p:nvSpPr>
          <p:cNvPr id="15" name="Figure 12 label 14 line 1">
            <a:extLst xmlns:a="http://schemas.openxmlformats.org/drawingml/2006/main">
              <a:ext uri="{FF2B5EF4-FFF2-40B4-BE49-F238E27FC236}">
                <a16:creationId xmlns:a16="http://schemas.microsoft.com/office/drawing/2014/main" id="{2783D4FF-2C14-413F-9C97-5ACB840257F2}"/>
              </a:ext>
            </a:extLst>
          </p:cNvPr>
          <p:cNvSpPr>
            <a:spLocks xmlns:a="http://schemas.openxmlformats.org/drawingml/2006/main" noGrp="1"/>
          </p:cNvSpPr>
          <p:nvPr/>
        </p:nvSpPr>
        <p:spPr>
          <a:xfrm xmlns:a="http://schemas.openxmlformats.org/drawingml/2006/main" rot="0">
            <a:off x="2846338" y="7776210"/>
            <a:ext cx="101292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1">
                <a:solidFill>
                  <a:srgbClr val="00355F"/>
                </a:solidFill>
                <a:latin typeface="Arial"/>
                <a:ea typeface="Arial"/>
                <a:cs typeface="Arial"/>
              </a:defRPr>
            </a:defPPr>
          </a:lstStyle>
          <a:p xmlns:a="http://schemas.openxmlformats.org/drawingml/2006/main">
            <a:pPr algn="ctr">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Unproven</a:t>
            </a:r>
          </a:p>
        </p:txBody>
      </p:sp>
      <p:sp>
        <p:nvSpPr>
          <p:cNvPr id="16" name="Figure 12 label 15 line 1">
            <a:extLst xmlns:a="http://schemas.openxmlformats.org/drawingml/2006/main">
              <a:ext uri="{FF2B5EF4-FFF2-40B4-BE49-F238E27FC236}">
                <a16:creationId xmlns:a16="http://schemas.microsoft.com/office/drawing/2014/main" id="{36C8100B-A0B3-4E4E-AD93-D4BCDC26D2EF}"/>
              </a:ext>
            </a:extLst>
          </p:cNvPr>
          <p:cNvSpPr>
            <a:spLocks xmlns:a="http://schemas.openxmlformats.org/drawingml/2006/main" noGrp="1"/>
          </p:cNvSpPr>
          <p:nvPr/>
        </p:nvSpPr>
        <p:spPr>
          <a:xfrm xmlns:a="http://schemas.openxmlformats.org/drawingml/2006/main" rot="0">
            <a:off x="877824" y="8409432"/>
            <a:ext cx="162023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SMALL MOLECULES</a:t>
            </a:r>
          </a:p>
        </p:txBody>
      </p:sp>
      <p:sp>
        <p:nvSpPr>
          <p:cNvPr id="17" name="Figure 12 label 16 line 1">
            <a:extLst xmlns:a="http://schemas.openxmlformats.org/drawingml/2006/main">
              <a:ext uri="{FF2B5EF4-FFF2-40B4-BE49-F238E27FC236}">
                <a16:creationId xmlns:a16="http://schemas.microsoft.com/office/drawing/2014/main" id="{95B46473-04F3-44B4-B042-002BDE19ADEA}"/>
              </a:ext>
            </a:extLst>
          </p:cNvPr>
          <p:cNvSpPr>
            <a:spLocks xmlns:a="http://schemas.openxmlformats.org/drawingml/2006/main" noGrp="1"/>
          </p:cNvSpPr>
          <p:nvPr/>
        </p:nvSpPr>
        <p:spPr>
          <a:xfrm xmlns:a="http://schemas.openxmlformats.org/drawingml/2006/main" rot="0">
            <a:off x="878129" y="8702192"/>
            <a:ext cx="1494431"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Fewer syntheses per</a:t>
            </a:r>
          </a:p>
        </p:txBody>
      </p:sp>
      <p:sp>
        <p:nvSpPr>
          <p:cNvPr id="18" name="Figure 12 label 16 line 2">
            <a:extLst xmlns:a="http://schemas.openxmlformats.org/drawingml/2006/main">
              <a:ext uri="{FF2B5EF4-FFF2-40B4-BE49-F238E27FC236}">
                <a16:creationId xmlns:a16="http://schemas.microsoft.com/office/drawing/2014/main" id="{8A399454-C52A-49BA-9111-1F92B9251241}"/>
              </a:ext>
            </a:extLst>
          </p:cNvPr>
          <p:cNvSpPr>
            <a:spLocks xmlns:a="http://schemas.openxmlformats.org/drawingml/2006/main" noGrp="1"/>
          </p:cNvSpPr>
          <p:nvPr/>
        </p:nvSpPr>
        <p:spPr>
          <a:xfrm xmlns:a="http://schemas.openxmlformats.org/drawingml/2006/main" rot="0">
            <a:off x="878129" y="8883167"/>
            <a:ext cx="1494431"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program are possible.</a:t>
            </a:r>
          </a:p>
        </p:txBody>
      </p:sp>
      <p:sp>
        <p:nvSpPr>
          <p:cNvPr id="19" name="Figure 12 label 17 line 1">
            <a:extLst xmlns:a="http://schemas.openxmlformats.org/drawingml/2006/main">
              <a:ext uri="{FF2B5EF4-FFF2-40B4-BE49-F238E27FC236}">
                <a16:creationId xmlns:a16="http://schemas.microsoft.com/office/drawing/2014/main" id="{DA1C3B67-A815-43EC-B0AA-14C5FB32F661}"/>
              </a:ext>
            </a:extLst>
          </p:cNvPr>
          <p:cNvSpPr>
            <a:spLocks xmlns:a="http://schemas.openxmlformats.org/drawingml/2006/main" noGrp="1"/>
          </p:cNvSpPr>
          <p:nvPr/>
        </p:nvSpPr>
        <p:spPr>
          <a:xfrm xmlns:a="http://schemas.openxmlformats.org/drawingml/2006/main" rot="0">
            <a:off x="3491941" y="8414233"/>
            <a:ext cx="1793927"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PROTEINS / ANTIBODIES</a:t>
            </a:r>
          </a:p>
        </p:txBody>
      </p:sp>
      <p:sp>
        <p:nvSpPr>
          <p:cNvPr id="20" name="Figure 12 label 18 line 1">
            <a:extLst xmlns:a="http://schemas.openxmlformats.org/drawingml/2006/main">
              <a:ext uri="{FF2B5EF4-FFF2-40B4-BE49-F238E27FC236}">
                <a16:creationId xmlns:a16="http://schemas.microsoft.com/office/drawing/2014/main" id="{50339543-6EB5-4D21-80CE-DC8001E00AFE}"/>
              </a:ext>
            </a:extLst>
          </p:cNvPr>
          <p:cNvSpPr>
            <a:spLocks xmlns:a="http://schemas.openxmlformats.org/drawingml/2006/main" noGrp="1"/>
          </p:cNvSpPr>
          <p:nvPr/>
        </p:nvSpPr>
        <p:spPr>
          <a:xfrm xmlns:a="http://schemas.openxmlformats.org/drawingml/2006/main" rot="0">
            <a:off x="3491789" y="8702192"/>
            <a:ext cx="1717227"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Pooled screens scale;</a:t>
            </a:r>
          </a:p>
        </p:txBody>
      </p:sp>
      <p:sp>
        <p:nvSpPr>
          <p:cNvPr id="21" name="Figure 12 label 18 line 2">
            <a:extLst xmlns:a="http://schemas.openxmlformats.org/drawingml/2006/main">
              <a:ext uri="{FF2B5EF4-FFF2-40B4-BE49-F238E27FC236}">
                <a16:creationId xmlns:a16="http://schemas.microsoft.com/office/drawing/2014/main" id="{26A24407-A5DF-4DD2-8F22-4851A2D2476D}"/>
              </a:ext>
            </a:extLst>
          </p:cNvPr>
          <p:cNvSpPr>
            <a:spLocks xmlns:a="http://schemas.openxmlformats.org/drawingml/2006/main" noGrp="1"/>
          </p:cNvSpPr>
          <p:nvPr/>
        </p:nvSpPr>
        <p:spPr>
          <a:xfrm xmlns:a="http://schemas.openxmlformats.org/drawingml/2006/main" rot="0">
            <a:off x="3491789" y="8883167"/>
            <a:ext cx="1717227"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individual profiling differs.</a:t>
            </a:r>
          </a:p>
        </p:txBody>
      </p:sp>
      <p:sp>
        <p:nvSpPr>
          <p:cNvPr id="22" name="Figure 12 label 19 line 1">
            <a:extLst xmlns:a="http://schemas.openxmlformats.org/drawingml/2006/main">
              <a:ext uri="{FF2B5EF4-FFF2-40B4-BE49-F238E27FC236}">
                <a16:creationId xmlns:a16="http://schemas.microsoft.com/office/drawing/2014/main" id="{F8AFEF08-55A5-49E1-A2B4-7A3B1BC93EC5}"/>
              </a:ext>
            </a:extLst>
          </p:cNvPr>
          <p:cNvSpPr>
            <a:spLocks xmlns:a="http://schemas.openxmlformats.org/drawingml/2006/main" noGrp="1"/>
          </p:cNvSpPr>
          <p:nvPr/>
        </p:nvSpPr>
        <p:spPr>
          <a:xfrm xmlns:a="http://schemas.openxmlformats.org/drawingml/2006/main" rot="0">
            <a:off x="755599" y="9305392"/>
            <a:ext cx="294157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WET LAB = BUILD + TEST</a:t>
            </a:r>
          </a:p>
        </p:txBody>
      </p:sp>
      <p:sp>
        <p:nvSpPr>
          <p:cNvPr id="23" name="Figure 12 label 19 line 2">
            <a:extLst xmlns:a="http://schemas.openxmlformats.org/drawingml/2006/main">
              <a:ext uri="{FF2B5EF4-FFF2-40B4-BE49-F238E27FC236}">
                <a16:creationId xmlns:a16="http://schemas.microsoft.com/office/drawing/2014/main" id="{59D5647A-768E-43FB-8088-DB797C9D7440}"/>
              </a:ext>
            </a:extLst>
          </p:cNvPr>
          <p:cNvSpPr>
            <a:spLocks xmlns:a="http://schemas.openxmlformats.org/drawingml/2006/main" noGrp="1"/>
          </p:cNvSpPr>
          <p:nvPr/>
        </p:nvSpPr>
        <p:spPr>
          <a:xfrm xmlns:a="http://schemas.openxmlformats.org/drawingml/2006/main" rot="0">
            <a:off x="755599" y="9505417"/>
            <a:ext cx="294157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No universal molecule-count funnel.</a:t>
            </a:r>
          </a:p>
        </p:txBody>
      </p:sp>
      <p:sp>
        <p:nvSpPr>
          <p:cNvPr id="24" name="Figure 12 label 19 line 3">
            <a:extLst xmlns:a="http://schemas.openxmlformats.org/drawingml/2006/main">
              <a:ext uri="{FF2B5EF4-FFF2-40B4-BE49-F238E27FC236}">
                <a16:creationId xmlns:a16="http://schemas.microsoft.com/office/drawing/2014/main" id="{2061BBC9-945E-482B-8F47-B9AB591773B6}"/>
              </a:ext>
            </a:extLst>
          </p:cNvPr>
          <p:cNvSpPr>
            <a:spLocks xmlns:a="http://schemas.openxmlformats.org/drawingml/2006/main" noGrp="1"/>
          </p:cNvSpPr>
          <p:nvPr/>
        </p:nvSpPr>
        <p:spPr>
          <a:xfrm xmlns:a="http://schemas.openxmlformats.org/drawingml/2006/main" rot="0">
            <a:off x="755599" y="9705442"/>
            <a:ext cx="294157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AI clinical advantage remains unproven.</a:t>
            </a:r>
          </a:p>
        </p:txBody>
      </p:sp>
      <p:sp>
        <p:nvSpPr>
          <p:cNvPr id="25" name="Figure 12 label 20 line 1">
            <a:extLst xmlns:a="http://schemas.openxmlformats.org/drawingml/2006/main">
              <a:ext uri="{FF2B5EF4-FFF2-40B4-BE49-F238E27FC236}">
                <a16:creationId xmlns:a16="http://schemas.microsoft.com/office/drawing/2014/main" id="{ADEBC476-8EC2-47A2-B965-DF4AFD848835}"/>
              </a:ext>
            </a:extLst>
          </p:cNvPr>
          <p:cNvSpPr>
            <a:spLocks xmlns:a="http://schemas.openxmlformats.org/drawingml/2006/main" noGrp="1"/>
          </p:cNvSpPr>
          <p:nvPr/>
        </p:nvSpPr>
        <p:spPr>
          <a:xfrm xmlns:a="http://schemas.openxmlformats.org/drawingml/2006/main" rot="0">
            <a:off x="6976568" y="1987906"/>
            <a:ext cx="603216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60" b="1">
                <a:solidFill>
                  <a:srgbClr val="00355F"/>
                </a:solidFill>
                <a:latin typeface="Arial"/>
                <a:ea typeface="Arial"/>
                <a:cs typeface="Arial"/>
              </a:defRPr>
            </a:defPPr>
          </a:lstStyle>
          <a:p xmlns:a="http://schemas.openxmlformats.org/drawingml/2006/main">
            <a:pPr algn="l">
              <a:lnSpc>
                <a:spcPct val="100000"/>
              </a:lnSpc>
              <a:buNone/>
              <a:defRPr sz="2160" b="1">
                <a:solidFill>
                  <a:srgbClr val="00355F"/>
                </a:solidFill>
                <a:latin typeface="Arial"/>
                <a:ea typeface="Arial"/>
                <a:cs typeface="Arial"/>
              </a:defRPr>
            </a:pPr>
            <a:r>
              <a:rPr sz="2160" b="1">
                <a:solidFill>
                  <a:srgbClr val="00355F"/>
                </a:solidFill>
                <a:latin typeface="Arial"/>
                <a:ea typeface="Arial"/>
                <a:cs typeface="Arial"/>
              </a:rPr>
              <a:t>The LST ecosystem behind the capacity gate</a:t>
            </a:r>
          </a:p>
        </p:txBody>
      </p:sp>
      <p:sp>
        <p:nvSpPr>
          <p:cNvPr id="26" name="Figure 12 label 21 line 1">
            <a:extLst xmlns:a="http://schemas.openxmlformats.org/drawingml/2006/main">
              <a:ext uri="{FF2B5EF4-FFF2-40B4-BE49-F238E27FC236}">
                <a16:creationId xmlns:a16="http://schemas.microsoft.com/office/drawing/2014/main" id="{6659D3CD-8C70-42B6-BB47-920E7C9D43A9}"/>
              </a:ext>
            </a:extLst>
          </p:cNvPr>
          <p:cNvSpPr>
            <a:spLocks xmlns:a="http://schemas.openxmlformats.org/drawingml/2006/main" noGrp="1"/>
          </p:cNvSpPr>
          <p:nvPr/>
        </p:nvSpPr>
        <p:spPr>
          <a:xfrm xmlns:a="http://schemas.openxmlformats.org/drawingml/2006/main" rot="0">
            <a:off x="6981445" y="2450592"/>
            <a:ext cx="608477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Issuer-cited subset estimates · different scopes / years · source conflicts disclosed below</a:t>
            </a:r>
          </a:p>
        </p:txBody>
      </p:sp>
      <p:sp>
        <p:nvSpPr>
          <p:cNvPr id="27" name="Figure 12 label 22 line 1">
            <a:extLst xmlns:a="http://schemas.openxmlformats.org/drawingml/2006/main">
              <a:ext uri="{FF2B5EF4-FFF2-40B4-BE49-F238E27FC236}">
                <a16:creationId xmlns:a16="http://schemas.microsoft.com/office/drawing/2014/main" id="{85DC0C8F-9560-40B4-9640-633C8E332485}"/>
              </a:ext>
            </a:extLst>
          </p:cNvPr>
          <p:cNvSpPr>
            <a:spLocks xmlns:a="http://schemas.openxmlformats.org/drawingml/2006/main" noGrp="1"/>
          </p:cNvSpPr>
          <p:nvPr/>
        </p:nvSpPr>
        <p:spPr>
          <a:xfrm xmlns:a="http://schemas.openxmlformats.org/drawingml/2006/main" rot="0">
            <a:off x="7543495" y="2934310"/>
            <a:ext cx="230851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Molecular construction</a:t>
            </a:r>
          </a:p>
        </p:txBody>
      </p:sp>
      <p:sp>
        <p:nvSpPr>
          <p:cNvPr id="28" name="Figure 12 label 23 line 1">
            <a:extLst xmlns:a="http://schemas.openxmlformats.org/drawingml/2006/main">
              <a:ext uri="{FF2B5EF4-FFF2-40B4-BE49-F238E27FC236}">
                <a16:creationId xmlns:a16="http://schemas.microsoft.com/office/drawing/2014/main" id="{B63638E0-05B1-4E51-B886-BE9A0F9A8A93}"/>
              </a:ext>
            </a:extLst>
          </p:cNvPr>
          <p:cNvSpPr>
            <a:spLocks xmlns:a="http://schemas.openxmlformats.org/drawingml/2006/main" noGrp="1"/>
          </p:cNvSpPr>
          <p:nvPr/>
        </p:nvSpPr>
        <p:spPr>
          <a:xfrm xmlns:a="http://schemas.openxmlformats.org/drawingml/2006/main" rot="0">
            <a:off x="7133540" y="3323692"/>
            <a:ext cx="2336286"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DNA / RNA synthesis, enzymes</a:t>
            </a:r>
          </a:p>
        </p:txBody>
      </p:sp>
      <p:sp>
        <p:nvSpPr>
          <p:cNvPr id="29" name="Figure 12 label 23 line 2">
            <a:extLst xmlns:a="http://schemas.openxmlformats.org/drawingml/2006/main">
              <a:ext uri="{FF2B5EF4-FFF2-40B4-BE49-F238E27FC236}">
                <a16:creationId xmlns:a16="http://schemas.microsoft.com/office/drawing/2014/main" id="{8D6E97F2-B797-46F6-A351-754C51A01AD8}"/>
              </a:ext>
            </a:extLst>
          </p:cNvPr>
          <p:cNvSpPr>
            <a:spLocks xmlns:a="http://schemas.openxmlformats.org/drawingml/2006/main" noGrp="1"/>
          </p:cNvSpPr>
          <p:nvPr/>
        </p:nvSpPr>
        <p:spPr>
          <a:xfrm xmlns:a="http://schemas.openxmlformats.org/drawingml/2006/main" rot="0">
            <a:off x="7133540" y="3523717"/>
            <a:ext cx="2336286"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Chemical building blocks</a:t>
            </a:r>
          </a:p>
        </p:txBody>
      </p:sp>
      <p:sp>
        <p:nvSpPr>
          <p:cNvPr id="30" name="Figure 12 label 24 line 1">
            <a:extLst xmlns:a="http://schemas.openxmlformats.org/drawingml/2006/main">
              <a:ext uri="{FF2B5EF4-FFF2-40B4-BE49-F238E27FC236}">
                <a16:creationId xmlns:a16="http://schemas.microsoft.com/office/drawing/2014/main" id="{1DBCAFEF-43D1-458A-9D26-981DE2D29EDF}"/>
              </a:ext>
            </a:extLst>
          </p:cNvPr>
          <p:cNvSpPr>
            <a:spLocks xmlns:a="http://schemas.openxmlformats.org/drawingml/2006/main" noGrp="1"/>
          </p:cNvSpPr>
          <p:nvPr/>
        </p:nvSpPr>
        <p:spPr>
          <a:xfrm xmlns:a="http://schemas.openxmlformats.org/drawingml/2006/main" rot="0">
            <a:off x="7128663" y="3752545"/>
            <a:ext cx="1796856"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RMB 1.33bn</a:t>
            </a:r>
          </a:p>
        </p:txBody>
      </p:sp>
      <p:sp>
        <p:nvSpPr>
          <p:cNvPr id="31" name="Figure 12 label 25 line 1">
            <a:extLst xmlns:a="http://schemas.openxmlformats.org/drawingml/2006/main">
              <a:ext uri="{FF2B5EF4-FFF2-40B4-BE49-F238E27FC236}">
                <a16:creationId xmlns:a16="http://schemas.microsoft.com/office/drawing/2014/main" id="{D1D436E2-6581-4903-ABA1-E957A10B5607}"/>
              </a:ext>
            </a:extLst>
          </p:cNvPr>
          <p:cNvSpPr>
            <a:spLocks xmlns:a="http://schemas.openxmlformats.org/drawingml/2006/main" noGrp="1"/>
          </p:cNvSpPr>
          <p:nvPr/>
        </p:nvSpPr>
        <p:spPr>
          <a:xfrm xmlns:a="http://schemas.openxmlformats.org/drawingml/2006/main" rot="0">
            <a:off x="7134607" y="4195953"/>
            <a:ext cx="2551867"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2025 • DNA synthesis services [1]</a:t>
            </a:r>
          </a:p>
        </p:txBody>
      </p:sp>
      <p:sp>
        <p:nvSpPr>
          <p:cNvPr id="32" name="Figure 12 label 26 line 1">
            <a:extLst xmlns:a="http://schemas.openxmlformats.org/drawingml/2006/main">
              <a:ext uri="{FF2B5EF4-FFF2-40B4-BE49-F238E27FC236}">
                <a16:creationId xmlns:a16="http://schemas.microsoft.com/office/drawing/2014/main" id="{0DF54057-03D9-4DB2-98CC-088D143C7955}"/>
              </a:ext>
            </a:extLst>
          </p:cNvPr>
          <p:cNvSpPr>
            <a:spLocks xmlns:a="http://schemas.openxmlformats.org/drawingml/2006/main" noGrp="1"/>
          </p:cNvSpPr>
          <p:nvPr/>
        </p:nvSpPr>
        <p:spPr>
          <a:xfrm xmlns:a="http://schemas.openxmlformats.org/drawingml/2006/main" rot="0">
            <a:off x="7134911" y="4420133"/>
            <a:ext cx="1678650"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Oligos + long fragments only</a:t>
            </a:r>
          </a:p>
        </p:txBody>
      </p:sp>
      <p:sp>
        <p:nvSpPr>
          <p:cNvPr id="33" name="Figure 12 label 27 line 1">
            <a:extLst xmlns:a="http://schemas.openxmlformats.org/drawingml/2006/main">
              <a:ext uri="{FF2B5EF4-FFF2-40B4-BE49-F238E27FC236}">
                <a16:creationId xmlns:a16="http://schemas.microsoft.com/office/drawing/2014/main" id="{BB0EF963-804D-41D0-B773-3F846B6A0448}"/>
              </a:ext>
            </a:extLst>
          </p:cNvPr>
          <p:cNvSpPr>
            <a:spLocks xmlns:a="http://schemas.openxmlformats.org/drawingml/2006/main" noGrp="1"/>
          </p:cNvSpPr>
          <p:nvPr/>
        </p:nvSpPr>
        <p:spPr>
          <a:xfrm xmlns:a="http://schemas.openxmlformats.org/drawingml/2006/main" rot="0">
            <a:off x="7135521" y="5066614"/>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34" name="Figure 12 label 28 line 1">
            <a:extLst xmlns:a="http://schemas.openxmlformats.org/drawingml/2006/main">
              <a:ext uri="{FF2B5EF4-FFF2-40B4-BE49-F238E27FC236}">
                <a16:creationId xmlns:a16="http://schemas.microsoft.com/office/drawing/2014/main" id="{BB9242F4-28C7-45B3-B7AE-3FC0564D4266}"/>
              </a:ext>
            </a:extLst>
          </p:cNvPr>
          <p:cNvSpPr>
            <a:spLocks xmlns:a="http://schemas.openxmlformats.org/drawingml/2006/main" noGrp="1"/>
          </p:cNvSpPr>
          <p:nvPr/>
        </p:nvSpPr>
        <p:spPr>
          <a:xfrm xmlns:a="http://schemas.openxmlformats.org/drawingml/2006/main" rot="0">
            <a:off x="8773973" y="506821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35" name="Figure 12 label 29 line 1">
            <a:extLst xmlns:a="http://schemas.openxmlformats.org/drawingml/2006/main">
              <a:ext uri="{FF2B5EF4-FFF2-40B4-BE49-F238E27FC236}">
                <a16:creationId xmlns:a16="http://schemas.microsoft.com/office/drawing/2014/main" id="{AFB5EC1E-71EB-4C11-A83A-A5EA696D659D}"/>
              </a:ext>
            </a:extLst>
          </p:cNvPr>
          <p:cNvSpPr>
            <a:spLocks xmlns:a="http://schemas.openxmlformats.org/drawingml/2006/main" noGrp="1"/>
          </p:cNvSpPr>
          <p:nvPr/>
        </p:nvSpPr>
        <p:spPr>
          <a:xfrm xmlns:a="http://schemas.openxmlformats.org/drawingml/2006/main" rot="0">
            <a:off x="7134759" y="527959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GenScript · 1548.HK</a:t>
            </a:r>
          </a:p>
        </p:txBody>
      </p:sp>
      <p:sp>
        <p:nvSpPr>
          <p:cNvPr id="36" name="Figure 12 label 29 line 2">
            <a:extLst xmlns:a="http://schemas.openxmlformats.org/drawingml/2006/main">
              <a:ext uri="{FF2B5EF4-FFF2-40B4-BE49-F238E27FC236}">
                <a16:creationId xmlns:a16="http://schemas.microsoft.com/office/drawing/2014/main" id="{F286A002-B56F-4F2E-A1D2-72AB6BAB2C6E}"/>
              </a:ext>
            </a:extLst>
          </p:cNvPr>
          <p:cNvSpPr>
            <a:spLocks xmlns:a="http://schemas.openxmlformats.org/drawingml/2006/main" noGrp="1"/>
          </p:cNvSpPr>
          <p:nvPr/>
        </p:nvSpPr>
        <p:spPr>
          <a:xfrm xmlns:a="http://schemas.openxmlformats.org/drawingml/2006/main" rot="0">
            <a:off x="7134759" y="5441519"/>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Vazyme · 688105.SH</a:t>
            </a:r>
          </a:p>
        </p:txBody>
      </p:sp>
      <p:sp>
        <p:nvSpPr>
          <p:cNvPr id="37" name="Figure 12 label 29 line 3">
            <a:extLst xmlns:a="http://schemas.openxmlformats.org/drawingml/2006/main">
              <a:ext uri="{FF2B5EF4-FFF2-40B4-BE49-F238E27FC236}">
                <a16:creationId xmlns:a16="http://schemas.microsoft.com/office/drawing/2014/main" id="{FF22AB4C-91E4-47A2-AFCE-03544A51310A}"/>
              </a:ext>
            </a:extLst>
          </p:cNvPr>
          <p:cNvSpPr>
            <a:spLocks xmlns:a="http://schemas.openxmlformats.org/drawingml/2006/main" noGrp="1"/>
          </p:cNvSpPr>
          <p:nvPr/>
        </p:nvSpPr>
        <p:spPr>
          <a:xfrm xmlns:a="http://schemas.openxmlformats.org/drawingml/2006/main" rot="0">
            <a:off x="7134759" y="560344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Tsingke · NEEQ:874813</a:t>
            </a:r>
          </a:p>
        </p:txBody>
      </p:sp>
      <p:sp>
        <p:nvSpPr>
          <p:cNvPr id="38" name="Figure 12 label 30 line 1">
            <a:extLst xmlns:a="http://schemas.openxmlformats.org/drawingml/2006/main">
              <a:ext uri="{FF2B5EF4-FFF2-40B4-BE49-F238E27FC236}">
                <a16:creationId xmlns:a16="http://schemas.microsoft.com/office/drawing/2014/main" id="{601F8882-92A0-4FA0-B530-DFED8B15E167}"/>
              </a:ext>
            </a:extLst>
          </p:cNvPr>
          <p:cNvSpPr>
            <a:spLocks xmlns:a="http://schemas.openxmlformats.org/drawingml/2006/main" noGrp="1"/>
          </p:cNvSpPr>
          <p:nvPr/>
        </p:nvSpPr>
        <p:spPr>
          <a:xfrm xmlns:a="http://schemas.openxmlformats.org/drawingml/2006/main" rot="0">
            <a:off x="8773302" y="5282154"/>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Twist · TWST</a:t>
            </a:r>
          </a:p>
        </p:txBody>
      </p:sp>
      <p:sp>
        <p:nvSpPr>
          <p:cNvPr id="39" name="Figure 12 label 30 line 2">
            <a:extLst xmlns:a="http://schemas.openxmlformats.org/drawingml/2006/main">
              <a:ext uri="{FF2B5EF4-FFF2-40B4-BE49-F238E27FC236}">
                <a16:creationId xmlns:a16="http://schemas.microsoft.com/office/drawing/2014/main" id="{08F5456B-028E-4401-91D8-C4898DEE4BC0}"/>
              </a:ext>
            </a:extLst>
          </p:cNvPr>
          <p:cNvSpPr>
            <a:spLocks xmlns:a="http://schemas.openxmlformats.org/drawingml/2006/main" noGrp="1"/>
          </p:cNvSpPr>
          <p:nvPr/>
        </p:nvSpPr>
        <p:spPr>
          <a:xfrm xmlns:a="http://schemas.openxmlformats.org/drawingml/2006/main" rot="0">
            <a:off x="8773302" y="5436459"/>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Thermo Fisher · TMO</a:t>
            </a:r>
          </a:p>
        </p:txBody>
      </p:sp>
      <p:sp>
        <p:nvSpPr>
          <p:cNvPr id="40" name="Figure 12 label 31 line 1">
            <a:extLst xmlns:a="http://schemas.openxmlformats.org/drawingml/2006/main">
              <a:ext uri="{FF2B5EF4-FFF2-40B4-BE49-F238E27FC236}">
                <a16:creationId xmlns:a16="http://schemas.microsoft.com/office/drawing/2014/main" id="{AF1A17E6-D538-4E6D-8508-0CC64D27B6FD}"/>
              </a:ext>
            </a:extLst>
          </p:cNvPr>
          <p:cNvSpPr>
            <a:spLocks xmlns:a="http://schemas.openxmlformats.org/drawingml/2006/main" noGrp="1"/>
          </p:cNvSpPr>
          <p:nvPr/>
        </p:nvSpPr>
        <p:spPr>
          <a:xfrm xmlns:a="http://schemas.openxmlformats.org/drawingml/2006/main" rot="0">
            <a:off x="11071556" y="2934310"/>
            <a:ext cx="2727168"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Protein &amp; functional assays</a:t>
            </a:r>
          </a:p>
        </p:txBody>
      </p:sp>
      <p:sp>
        <p:nvSpPr>
          <p:cNvPr id="41" name="Figure 12 label 32 line 1">
            <a:extLst xmlns:a="http://schemas.openxmlformats.org/drawingml/2006/main">
              <a:ext uri="{FF2B5EF4-FFF2-40B4-BE49-F238E27FC236}">
                <a16:creationId xmlns:a16="http://schemas.microsoft.com/office/drawing/2014/main" id="{460950EA-928E-4896-B04E-EB4DAD4D2AF0}"/>
              </a:ext>
            </a:extLst>
          </p:cNvPr>
          <p:cNvSpPr>
            <a:spLocks xmlns:a="http://schemas.openxmlformats.org/drawingml/2006/main" noGrp="1"/>
          </p:cNvSpPr>
          <p:nvPr/>
        </p:nvSpPr>
        <p:spPr>
          <a:xfrm xmlns:a="http://schemas.openxmlformats.org/drawingml/2006/main" rot="0">
            <a:off x="10661599" y="3323692"/>
            <a:ext cx="247916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Recombinant proteins, antibodies</a:t>
            </a:r>
          </a:p>
        </p:txBody>
      </p:sp>
      <p:sp>
        <p:nvSpPr>
          <p:cNvPr id="42" name="Figure 12 label 32 line 2">
            <a:extLst xmlns:a="http://schemas.openxmlformats.org/drawingml/2006/main">
              <a:ext uri="{FF2B5EF4-FFF2-40B4-BE49-F238E27FC236}">
                <a16:creationId xmlns:a16="http://schemas.microsoft.com/office/drawing/2014/main" id="{E0C1C0DF-D895-4FCD-B2DC-B9AF07136145}"/>
              </a:ext>
            </a:extLst>
          </p:cNvPr>
          <p:cNvSpPr>
            <a:spLocks xmlns:a="http://schemas.openxmlformats.org/drawingml/2006/main" noGrp="1"/>
          </p:cNvSpPr>
          <p:nvPr/>
        </p:nvSpPr>
        <p:spPr>
          <a:xfrm xmlns:a="http://schemas.openxmlformats.org/drawingml/2006/main" rot="0">
            <a:off x="10661599" y="3523717"/>
            <a:ext cx="247916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Binding and activity assays</a:t>
            </a:r>
          </a:p>
        </p:txBody>
      </p:sp>
      <p:sp>
        <p:nvSpPr>
          <p:cNvPr id="43" name="Figure 12 label 33 line 1">
            <a:extLst xmlns:a="http://schemas.openxmlformats.org/drawingml/2006/main">
              <a:ext uri="{FF2B5EF4-FFF2-40B4-BE49-F238E27FC236}">
                <a16:creationId xmlns:a16="http://schemas.microsoft.com/office/drawing/2014/main" id="{CB5E450B-BD93-4DB4-9495-B036E3F6C1F8}"/>
              </a:ext>
            </a:extLst>
          </p:cNvPr>
          <p:cNvSpPr>
            <a:spLocks xmlns:a="http://schemas.openxmlformats.org/drawingml/2006/main" noGrp="1"/>
          </p:cNvSpPr>
          <p:nvPr/>
        </p:nvSpPr>
        <p:spPr>
          <a:xfrm xmlns:a="http://schemas.openxmlformats.org/drawingml/2006/main" rot="0">
            <a:off x="10656723" y="3752545"/>
            <a:ext cx="1468243"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US$3.5bn</a:t>
            </a:r>
          </a:p>
        </p:txBody>
      </p:sp>
      <p:sp>
        <p:nvSpPr>
          <p:cNvPr id="44" name="Figure 12 label 34 line 1">
            <a:extLst xmlns:a="http://schemas.openxmlformats.org/drawingml/2006/main">
              <a:ext uri="{FF2B5EF4-FFF2-40B4-BE49-F238E27FC236}">
                <a16:creationId xmlns:a16="http://schemas.microsoft.com/office/drawing/2014/main" id="{716268EB-BDA3-4EAE-91A4-1BC2FC1FE4F2}"/>
              </a:ext>
            </a:extLst>
          </p:cNvPr>
          <p:cNvSpPr>
            <a:spLocks xmlns:a="http://schemas.openxmlformats.org/drawingml/2006/main" noGrp="1"/>
          </p:cNvSpPr>
          <p:nvPr/>
        </p:nvSpPr>
        <p:spPr>
          <a:xfrm xmlns:a="http://schemas.openxmlformats.org/drawingml/2006/main" rot="0">
            <a:off x="10662666" y="4195953"/>
            <a:ext cx="2295287"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Global · 2025 · F&amp;S RUO proteins [2]</a:t>
            </a:r>
          </a:p>
        </p:txBody>
      </p:sp>
      <p:sp>
        <p:nvSpPr>
          <p:cNvPr id="45" name="Figure 12 label 35 line 1">
            <a:extLst xmlns:a="http://schemas.openxmlformats.org/drawingml/2006/main">
              <a:ext uri="{FF2B5EF4-FFF2-40B4-BE49-F238E27FC236}">
                <a16:creationId xmlns:a16="http://schemas.microsoft.com/office/drawing/2014/main" id="{6D4BEBCA-53E5-4C4E-9F6E-19F5E8DED25A}"/>
              </a:ext>
            </a:extLst>
          </p:cNvPr>
          <p:cNvSpPr>
            <a:spLocks xmlns:a="http://schemas.openxmlformats.org/drawingml/2006/main" noGrp="1"/>
          </p:cNvSpPr>
          <p:nvPr/>
        </p:nvSpPr>
        <p:spPr>
          <a:xfrm xmlns:a="http://schemas.openxmlformats.org/drawingml/2006/main" rot="0">
            <a:off x="10662971" y="4420133"/>
            <a:ext cx="2324862"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Issuer-commissioned; estimate disputed</a:t>
            </a:r>
          </a:p>
        </p:txBody>
      </p:sp>
      <p:sp>
        <p:nvSpPr>
          <p:cNvPr id="46" name="Figure 12 label 36 line 1">
            <a:extLst xmlns:a="http://schemas.openxmlformats.org/drawingml/2006/main">
              <a:ext uri="{FF2B5EF4-FFF2-40B4-BE49-F238E27FC236}">
                <a16:creationId xmlns:a16="http://schemas.microsoft.com/office/drawing/2014/main" id="{0F18656B-F255-4602-816E-4A74C02EA635}"/>
              </a:ext>
            </a:extLst>
          </p:cNvPr>
          <p:cNvSpPr>
            <a:spLocks xmlns:a="http://schemas.openxmlformats.org/drawingml/2006/main" noGrp="1"/>
          </p:cNvSpPr>
          <p:nvPr/>
        </p:nvSpPr>
        <p:spPr>
          <a:xfrm xmlns:a="http://schemas.openxmlformats.org/drawingml/2006/main" rot="0">
            <a:off x="10663581" y="5066614"/>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47" name="Figure 12 label 37 line 1">
            <a:extLst xmlns:a="http://schemas.openxmlformats.org/drawingml/2006/main">
              <a:ext uri="{FF2B5EF4-FFF2-40B4-BE49-F238E27FC236}">
                <a16:creationId xmlns:a16="http://schemas.microsoft.com/office/drawing/2014/main" id="{2F11C656-07EA-447B-998B-84B04B5DA12A}"/>
              </a:ext>
            </a:extLst>
          </p:cNvPr>
          <p:cNvSpPr>
            <a:spLocks xmlns:a="http://schemas.openxmlformats.org/drawingml/2006/main" noGrp="1"/>
          </p:cNvSpPr>
          <p:nvPr/>
        </p:nvSpPr>
        <p:spPr>
          <a:xfrm xmlns:a="http://schemas.openxmlformats.org/drawingml/2006/main" rot="0">
            <a:off x="12302033" y="506821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48" name="Figure 12 label 38 line 1">
            <a:extLst xmlns:a="http://schemas.openxmlformats.org/drawingml/2006/main">
              <a:ext uri="{FF2B5EF4-FFF2-40B4-BE49-F238E27FC236}">
                <a16:creationId xmlns:a16="http://schemas.microsoft.com/office/drawing/2014/main" id="{443E0215-26FF-4AD5-8540-0F5BB39F4A7B}"/>
              </a:ext>
            </a:extLst>
          </p:cNvPr>
          <p:cNvSpPr>
            <a:spLocks xmlns:a="http://schemas.openxmlformats.org/drawingml/2006/main" noGrp="1"/>
          </p:cNvSpPr>
          <p:nvPr/>
        </p:nvSpPr>
        <p:spPr>
          <a:xfrm xmlns:a="http://schemas.openxmlformats.org/drawingml/2006/main" rot="0">
            <a:off x="10662819" y="5279594"/>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ACRO · 301080.SZ</a:t>
            </a:r>
          </a:p>
        </p:txBody>
      </p:sp>
      <p:sp>
        <p:nvSpPr>
          <p:cNvPr id="49" name="Figure 12 label 38 line 2">
            <a:extLst xmlns:a="http://schemas.openxmlformats.org/drawingml/2006/main">
              <a:ext uri="{FF2B5EF4-FFF2-40B4-BE49-F238E27FC236}">
                <a16:creationId xmlns:a16="http://schemas.microsoft.com/office/drawing/2014/main" id="{1F30CCB0-B22C-48D0-BDDE-44B563FB9E7F}"/>
              </a:ext>
            </a:extLst>
          </p:cNvPr>
          <p:cNvSpPr>
            <a:spLocks xmlns:a="http://schemas.openxmlformats.org/drawingml/2006/main" noGrp="1"/>
          </p:cNvSpPr>
          <p:nvPr/>
        </p:nvSpPr>
        <p:spPr>
          <a:xfrm xmlns:a="http://schemas.openxmlformats.org/drawingml/2006/main" rot="0">
            <a:off x="10662819" y="5441519"/>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Sino · 301047.SZ</a:t>
            </a:r>
          </a:p>
        </p:txBody>
      </p:sp>
      <p:sp>
        <p:nvSpPr>
          <p:cNvPr id="50" name="Figure 12 label 39 line 1">
            <a:extLst xmlns:a="http://schemas.openxmlformats.org/drawingml/2006/main">
              <a:ext uri="{FF2B5EF4-FFF2-40B4-BE49-F238E27FC236}">
                <a16:creationId xmlns:a16="http://schemas.microsoft.com/office/drawing/2014/main" id="{D176C146-09CC-44AC-A7BF-838152FC9D6A}"/>
              </a:ext>
            </a:extLst>
          </p:cNvPr>
          <p:cNvSpPr>
            <a:spLocks xmlns:a="http://schemas.openxmlformats.org/drawingml/2006/main" noGrp="1"/>
          </p:cNvSpPr>
          <p:nvPr/>
        </p:nvSpPr>
        <p:spPr>
          <a:xfrm xmlns:a="http://schemas.openxmlformats.org/drawingml/2006/main" rot="0">
            <a:off x="12301362" y="5282154"/>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Bio-Techne · TECH</a:t>
            </a:r>
          </a:p>
        </p:txBody>
      </p:sp>
      <p:sp>
        <p:nvSpPr>
          <p:cNvPr id="51" name="Figure 12 label 39 line 2">
            <a:extLst xmlns:a="http://schemas.openxmlformats.org/drawingml/2006/main">
              <a:ext uri="{FF2B5EF4-FFF2-40B4-BE49-F238E27FC236}">
                <a16:creationId xmlns:a16="http://schemas.microsoft.com/office/drawing/2014/main" id="{63D95494-BCE0-427E-80E7-671C6FAD5D42}"/>
              </a:ext>
            </a:extLst>
          </p:cNvPr>
          <p:cNvSpPr>
            <a:spLocks xmlns:a="http://schemas.openxmlformats.org/drawingml/2006/main" noGrp="1"/>
          </p:cNvSpPr>
          <p:nvPr/>
        </p:nvSpPr>
        <p:spPr>
          <a:xfrm xmlns:a="http://schemas.openxmlformats.org/drawingml/2006/main" rot="0">
            <a:off x="12301362" y="5436459"/>
            <a:ext cx="126461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Thermo Fisher · TMO</a:t>
            </a:r>
          </a:p>
        </p:txBody>
      </p:sp>
      <p:sp>
        <p:nvSpPr>
          <p:cNvPr id="52" name="Figure 12 label 40 line 1">
            <a:extLst xmlns:a="http://schemas.openxmlformats.org/drawingml/2006/main">
              <a:ext uri="{FF2B5EF4-FFF2-40B4-BE49-F238E27FC236}">
                <a16:creationId xmlns:a16="http://schemas.microsoft.com/office/drawing/2014/main" id="{45D48A00-376E-455C-8A77-52FC5F95FB4F}"/>
              </a:ext>
            </a:extLst>
          </p:cNvPr>
          <p:cNvSpPr>
            <a:spLocks xmlns:a="http://schemas.openxmlformats.org/drawingml/2006/main" noGrp="1"/>
          </p:cNvSpPr>
          <p:nvPr/>
        </p:nvSpPr>
        <p:spPr>
          <a:xfrm xmlns:a="http://schemas.openxmlformats.org/drawingml/2006/main" rot="0">
            <a:off x="14599615" y="2934310"/>
            <a:ext cx="2364176"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Cells &amp; culture systems</a:t>
            </a:r>
          </a:p>
        </p:txBody>
      </p:sp>
      <p:sp>
        <p:nvSpPr>
          <p:cNvPr id="53" name="Figure 12 label 41 line 1">
            <a:extLst xmlns:a="http://schemas.openxmlformats.org/drawingml/2006/main">
              <a:ext uri="{FF2B5EF4-FFF2-40B4-BE49-F238E27FC236}">
                <a16:creationId xmlns:a16="http://schemas.microsoft.com/office/drawing/2014/main" id="{AD6F04C0-9F2C-4C27-96D7-38D4D471C7CC}"/>
              </a:ext>
            </a:extLst>
          </p:cNvPr>
          <p:cNvSpPr>
            <a:spLocks xmlns:a="http://schemas.openxmlformats.org/drawingml/2006/main" noGrp="1"/>
          </p:cNvSpPr>
          <p:nvPr/>
        </p:nvSpPr>
        <p:spPr>
          <a:xfrm xmlns:a="http://schemas.openxmlformats.org/drawingml/2006/main" rot="0">
            <a:off x="14189659" y="3323692"/>
            <a:ext cx="2283452"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Cell models, media, feeds</a:t>
            </a:r>
          </a:p>
        </p:txBody>
      </p:sp>
      <p:sp>
        <p:nvSpPr>
          <p:cNvPr id="54" name="Figure 12 label 41 line 2">
            <a:extLst xmlns:a="http://schemas.openxmlformats.org/drawingml/2006/main">
              <a:ext uri="{FF2B5EF4-FFF2-40B4-BE49-F238E27FC236}">
                <a16:creationId xmlns:a16="http://schemas.microsoft.com/office/drawing/2014/main" id="{B0712A48-8BB0-445B-9165-E94B9646DE97}"/>
              </a:ext>
            </a:extLst>
          </p:cNvPr>
          <p:cNvSpPr>
            <a:spLocks xmlns:a="http://schemas.openxmlformats.org/drawingml/2006/main" noGrp="1"/>
          </p:cNvSpPr>
          <p:nvPr/>
        </p:nvSpPr>
        <p:spPr>
          <a:xfrm xmlns:a="http://schemas.openxmlformats.org/drawingml/2006/main" rot="0">
            <a:off x="14189659" y="3523717"/>
            <a:ext cx="2283452"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Bioreactors and cell expansion</a:t>
            </a:r>
          </a:p>
        </p:txBody>
      </p:sp>
      <p:sp>
        <p:nvSpPr>
          <p:cNvPr id="55" name="Figure 12 label 42 line 1">
            <a:extLst xmlns:a="http://schemas.openxmlformats.org/drawingml/2006/main">
              <a:ext uri="{FF2B5EF4-FFF2-40B4-BE49-F238E27FC236}">
                <a16:creationId xmlns:a16="http://schemas.microsoft.com/office/drawing/2014/main" id="{A9CE56D2-EF36-4B76-AFE0-9FA85E078C4F}"/>
              </a:ext>
            </a:extLst>
          </p:cNvPr>
          <p:cNvSpPr>
            <a:spLocks xmlns:a="http://schemas.openxmlformats.org/drawingml/2006/main" noGrp="1"/>
          </p:cNvSpPr>
          <p:nvPr/>
        </p:nvSpPr>
        <p:spPr>
          <a:xfrm xmlns:a="http://schemas.openxmlformats.org/drawingml/2006/main" rot="0">
            <a:off x="14186611" y="3771747"/>
            <a:ext cx="193858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Source pending</a:t>
            </a:r>
          </a:p>
        </p:txBody>
      </p:sp>
      <p:sp>
        <p:nvSpPr>
          <p:cNvPr id="56" name="Figure 12 label 43 line 1">
            <a:extLst xmlns:a="http://schemas.openxmlformats.org/drawingml/2006/main">
              <a:ext uri="{FF2B5EF4-FFF2-40B4-BE49-F238E27FC236}">
                <a16:creationId xmlns:a16="http://schemas.microsoft.com/office/drawing/2014/main" id="{FEFB7E50-9E15-4093-A05B-7944C59110FB}"/>
              </a:ext>
            </a:extLst>
          </p:cNvPr>
          <p:cNvSpPr>
            <a:spLocks xmlns:a="http://schemas.openxmlformats.org/drawingml/2006/main" noGrp="1"/>
          </p:cNvSpPr>
          <p:nvPr/>
        </p:nvSpPr>
        <p:spPr>
          <a:xfrm xmlns:a="http://schemas.openxmlformats.org/drawingml/2006/main" rot="0">
            <a:off x="14190726" y="4195953"/>
            <a:ext cx="220375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bioprocess media [3]</a:t>
            </a:r>
          </a:p>
        </p:txBody>
      </p:sp>
      <p:sp>
        <p:nvSpPr>
          <p:cNvPr id="57" name="Figure 12 label 44 line 1">
            <a:extLst xmlns:a="http://schemas.openxmlformats.org/drawingml/2006/main">
              <a:ext uri="{FF2B5EF4-FFF2-40B4-BE49-F238E27FC236}">
                <a16:creationId xmlns:a16="http://schemas.microsoft.com/office/drawing/2014/main" id="{2530B1DA-DB86-4047-9433-460ED8347408}"/>
              </a:ext>
            </a:extLst>
          </p:cNvPr>
          <p:cNvSpPr>
            <a:spLocks xmlns:a="http://schemas.openxmlformats.org/drawingml/2006/main" noGrp="1"/>
          </p:cNvSpPr>
          <p:nvPr/>
        </p:nvSpPr>
        <p:spPr>
          <a:xfrm xmlns:a="http://schemas.openxmlformats.org/drawingml/2006/main" rot="0">
            <a:off x="14191031" y="4420133"/>
            <a:ext cx="2299561"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Original filing unavailable; TAM withheld</a:t>
            </a:r>
          </a:p>
        </p:txBody>
      </p:sp>
      <p:sp>
        <p:nvSpPr>
          <p:cNvPr id="58" name="Figure 12 label 45 line 1">
            <a:extLst xmlns:a="http://schemas.openxmlformats.org/drawingml/2006/main">
              <a:ext uri="{FF2B5EF4-FFF2-40B4-BE49-F238E27FC236}">
                <a16:creationId xmlns:a16="http://schemas.microsoft.com/office/drawing/2014/main" id="{EE15EBAE-2157-410C-B0FD-BC1C53684281}"/>
              </a:ext>
            </a:extLst>
          </p:cNvPr>
          <p:cNvSpPr>
            <a:spLocks xmlns:a="http://schemas.openxmlformats.org/drawingml/2006/main" noGrp="1"/>
          </p:cNvSpPr>
          <p:nvPr/>
        </p:nvSpPr>
        <p:spPr>
          <a:xfrm xmlns:a="http://schemas.openxmlformats.org/drawingml/2006/main" rot="0">
            <a:off x="14188440" y="4705350"/>
            <a:ext cx="159514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Gibco / HyClone</a:t>
            </a:r>
          </a:p>
        </p:txBody>
      </p:sp>
      <p:sp>
        <p:nvSpPr>
          <p:cNvPr id="59" name="Figure 12 label 46 line 1">
            <a:extLst xmlns:a="http://schemas.openxmlformats.org/drawingml/2006/main">
              <a:ext uri="{FF2B5EF4-FFF2-40B4-BE49-F238E27FC236}">
                <a16:creationId xmlns:a16="http://schemas.microsoft.com/office/drawing/2014/main" id="{61E6ACA5-5B0B-4B81-8FA0-240864B90675}"/>
              </a:ext>
            </a:extLst>
          </p:cNvPr>
          <p:cNvSpPr>
            <a:spLocks xmlns:a="http://schemas.openxmlformats.org/drawingml/2006/main" noGrp="1"/>
          </p:cNvSpPr>
          <p:nvPr/>
        </p:nvSpPr>
        <p:spPr>
          <a:xfrm xmlns:a="http://schemas.openxmlformats.org/drawingml/2006/main" rot="0">
            <a:off x="14191641" y="5066614"/>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60" name="Figure 12 label 47 line 1">
            <a:extLst xmlns:a="http://schemas.openxmlformats.org/drawingml/2006/main">
              <a:ext uri="{FF2B5EF4-FFF2-40B4-BE49-F238E27FC236}">
                <a16:creationId xmlns:a16="http://schemas.microsoft.com/office/drawing/2014/main" id="{DD27B6E4-E46C-4229-8464-3B560BD68CD1}"/>
              </a:ext>
            </a:extLst>
          </p:cNvPr>
          <p:cNvSpPr>
            <a:spLocks xmlns:a="http://schemas.openxmlformats.org/drawingml/2006/main" noGrp="1"/>
          </p:cNvSpPr>
          <p:nvPr/>
        </p:nvSpPr>
        <p:spPr>
          <a:xfrm xmlns:a="http://schemas.openxmlformats.org/drawingml/2006/main" rot="0">
            <a:off x="15830093" y="506821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61" name="Figure 12 label 48 line 1">
            <a:extLst xmlns:a="http://schemas.openxmlformats.org/drawingml/2006/main">
              <a:ext uri="{FF2B5EF4-FFF2-40B4-BE49-F238E27FC236}">
                <a16:creationId xmlns:a16="http://schemas.microsoft.com/office/drawing/2014/main" id="{EB0928F0-5E8A-487E-9E1D-F7802C32BA67}"/>
              </a:ext>
            </a:extLst>
          </p:cNvPr>
          <p:cNvSpPr>
            <a:spLocks xmlns:a="http://schemas.openxmlformats.org/drawingml/2006/main" noGrp="1"/>
          </p:cNvSpPr>
          <p:nvPr/>
        </p:nvSpPr>
        <p:spPr>
          <a:xfrm xmlns:a="http://schemas.openxmlformats.org/drawingml/2006/main" rot="0">
            <a:off x="14190879" y="5279594"/>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OPM · 688293.SH</a:t>
            </a:r>
          </a:p>
        </p:txBody>
      </p:sp>
      <p:sp>
        <p:nvSpPr>
          <p:cNvPr id="62" name="Figure 12 label 48 line 2">
            <a:extLst xmlns:a="http://schemas.openxmlformats.org/drawingml/2006/main">
              <a:ext uri="{FF2B5EF4-FFF2-40B4-BE49-F238E27FC236}">
                <a16:creationId xmlns:a16="http://schemas.microsoft.com/office/drawing/2014/main" id="{454BBE36-F1FA-47C7-92E8-CE78FBEB6BDE}"/>
              </a:ext>
            </a:extLst>
          </p:cNvPr>
          <p:cNvSpPr>
            <a:spLocks xmlns:a="http://schemas.openxmlformats.org/drawingml/2006/main" noGrp="1"/>
          </p:cNvSpPr>
          <p:nvPr/>
        </p:nvSpPr>
        <p:spPr>
          <a:xfrm xmlns:a="http://schemas.openxmlformats.org/drawingml/2006/main" rot="0">
            <a:off x="14190879" y="5441519"/>
            <a:ext cx="1207407"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ACRO · 301080.SZ</a:t>
            </a:r>
          </a:p>
        </p:txBody>
      </p:sp>
      <p:sp>
        <p:nvSpPr>
          <p:cNvPr id="63" name="Figure 12 label 49 line 1">
            <a:extLst xmlns:a="http://schemas.openxmlformats.org/drawingml/2006/main">
              <a:ext uri="{FF2B5EF4-FFF2-40B4-BE49-F238E27FC236}">
                <a16:creationId xmlns:a16="http://schemas.microsoft.com/office/drawing/2014/main" id="{AE29CAAF-9F45-40EE-83F1-2BDE7507CACF}"/>
              </a:ext>
            </a:extLst>
          </p:cNvPr>
          <p:cNvSpPr>
            <a:spLocks xmlns:a="http://schemas.openxmlformats.org/drawingml/2006/main" noGrp="1"/>
          </p:cNvSpPr>
          <p:nvPr/>
        </p:nvSpPr>
        <p:spPr>
          <a:xfrm xmlns:a="http://schemas.openxmlformats.org/drawingml/2006/main" rot="0">
            <a:off x="15829422" y="5282154"/>
            <a:ext cx="1376680"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Gibco / Thermo · TMO</a:t>
            </a:r>
          </a:p>
        </p:txBody>
      </p:sp>
      <p:sp>
        <p:nvSpPr>
          <p:cNvPr id="64" name="Figure 12 label 49 line 2">
            <a:extLst xmlns:a="http://schemas.openxmlformats.org/drawingml/2006/main">
              <a:ext uri="{FF2B5EF4-FFF2-40B4-BE49-F238E27FC236}">
                <a16:creationId xmlns:a16="http://schemas.microsoft.com/office/drawing/2014/main" id="{006CC87F-FBD9-4257-B53E-E17676A71731}"/>
              </a:ext>
            </a:extLst>
          </p:cNvPr>
          <p:cNvSpPr>
            <a:spLocks xmlns:a="http://schemas.openxmlformats.org/drawingml/2006/main" noGrp="1"/>
          </p:cNvSpPr>
          <p:nvPr/>
        </p:nvSpPr>
        <p:spPr>
          <a:xfrm xmlns:a="http://schemas.openxmlformats.org/drawingml/2006/main" rot="0">
            <a:off x="15829422" y="5436459"/>
            <a:ext cx="1376680"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Cytiva / HyClone · DHR</a:t>
            </a:r>
          </a:p>
        </p:txBody>
      </p:sp>
      <p:sp>
        <p:nvSpPr>
          <p:cNvPr id="65" name="Figure 12 label 50 line 1">
            <a:extLst xmlns:a="http://schemas.openxmlformats.org/drawingml/2006/main">
              <a:ext uri="{FF2B5EF4-FFF2-40B4-BE49-F238E27FC236}">
                <a16:creationId xmlns:a16="http://schemas.microsoft.com/office/drawing/2014/main" id="{968432CE-3330-4730-9E8C-7DC4D6EA286B}"/>
              </a:ext>
            </a:extLst>
          </p:cNvPr>
          <p:cNvSpPr>
            <a:spLocks xmlns:a="http://schemas.openxmlformats.org/drawingml/2006/main" noGrp="1"/>
          </p:cNvSpPr>
          <p:nvPr/>
        </p:nvSpPr>
        <p:spPr>
          <a:xfrm xmlns:a="http://schemas.openxmlformats.org/drawingml/2006/main" rot="0">
            <a:off x="7543495" y="6111850"/>
            <a:ext cx="2749046"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Labware &amp; sample handling</a:t>
            </a:r>
          </a:p>
        </p:txBody>
      </p:sp>
      <p:sp>
        <p:nvSpPr>
          <p:cNvPr id="66" name="Figure 12 label 51 line 1">
            <a:extLst xmlns:a="http://schemas.openxmlformats.org/drawingml/2006/main">
              <a:ext uri="{FF2B5EF4-FFF2-40B4-BE49-F238E27FC236}">
                <a16:creationId xmlns:a16="http://schemas.microsoft.com/office/drawing/2014/main" id="{842C80FB-191E-443B-A8DA-E7E3D62EF33C}"/>
              </a:ext>
            </a:extLst>
          </p:cNvPr>
          <p:cNvSpPr>
            <a:spLocks xmlns:a="http://schemas.openxmlformats.org/drawingml/2006/main" noGrp="1"/>
          </p:cNvSpPr>
          <p:nvPr/>
        </p:nvSpPr>
        <p:spPr>
          <a:xfrm xmlns:a="http://schemas.openxmlformats.org/drawingml/2006/main" rot="0">
            <a:off x="7133540" y="6501232"/>
            <a:ext cx="234551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Tips, plates, tubes, filtration</a:t>
            </a:r>
          </a:p>
        </p:txBody>
      </p:sp>
      <p:sp>
        <p:nvSpPr>
          <p:cNvPr id="67" name="Figure 12 label 51 line 2">
            <a:extLst xmlns:a="http://schemas.openxmlformats.org/drawingml/2006/main">
              <a:ext uri="{FF2B5EF4-FFF2-40B4-BE49-F238E27FC236}">
                <a16:creationId xmlns:a16="http://schemas.microsoft.com/office/drawing/2014/main" id="{FDEB08C6-1DAC-4901-8E91-0A80EFA40CD6}"/>
              </a:ext>
            </a:extLst>
          </p:cNvPr>
          <p:cNvSpPr>
            <a:spLocks xmlns:a="http://schemas.openxmlformats.org/drawingml/2006/main" noGrp="1"/>
          </p:cNvSpPr>
          <p:nvPr/>
        </p:nvSpPr>
        <p:spPr>
          <a:xfrm xmlns:a="http://schemas.openxmlformats.org/drawingml/2006/main" rot="0">
            <a:off x="7133540" y="6701257"/>
            <a:ext cx="234551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Automation-compatible labware</a:t>
            </a:r>
          </a:p>
        </p:txBody>
      </p:sp>
      <p:sp>
        <p:nvSpPr>
          <p:cNvPr id="68" name="Figure 12 label 52 line 1">
            <a:extLst xmlns:a="http://schemas.openxmlformats.org/drawingml/2006/main">
              <a:ext uri="{FF2B5EF4-FFF2-40B4-BE49-F238E27FC236}">
                <a16:creationId xmlns:a16="http://schemas.microsoft.com/office/drawing/2014/main" id="{1EED7EBC-47A1-49A7-BE7E-A240D5F79516}"/>
              </a:ext>
            </a:extLst>
          </p:cNvPr>
          <p:cNvSpPr>
            <a:spLocks xmlns:a="http://schemas.openxmlformats.org/drawingml/2006/main" noGrp="1"/>
          </p:cNvSpPr>
          <p:nvPr/>
        </p:nvSpPr>
        <p:spPr>
          <a:xfrm xmlns:a="http://schemas.openxmlformats.org/drawingml/2006/main" rot="0">
            <a:off x="7128663" y="6930085"/>
            <a:ext cx="172646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~RMB 23bn</a:t>
            </a:r>
          </a:p>
        </p:txBody>
      </p:sp>
      <p:sp>
        <p:nvSpPr>
          <p:cNvPr id="69" name="Figure 12 label 53 line 1">
            <a:extLst xmlns:a="http://schemas.openxmlformats.org/drawingml/2006/main">
              <a:ext uri="{FF2B5EF4-FFF2-40B4-BE49-F238E27FC236}">
                <a16:creationId xmlns:a16="http://schemas.microsoft.com/office/drawing/2014/main" id="{279A2CB5-1497-41BD-AEB4-2D3BBB7D8701}"/>
              </a:ext>
            </a:extLst>
          </p:cNvPr>
          <p:cNvSpPr>
            <a:spLocks xmlns:a="http://schemas.openxmlformats.org/drawingml/2006/main" noGrp="1"/>
          </p:cNvSpPr>
          <p:nvPr/>
        </p:nvSpPr>
        <p:spPr>
          <a:xfrm xmlns:a="http://schemas.openxmlformats.org/drawingml/2006/main" rot="0">
            <a:off x="7134607" y="7373493"/>
            <a:ext cx="204064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plastic labware [4]</a:t>
            </a:r>
          </a:p>
        </p:txBody>
      </p:sp>
      <p:sp>
        <p:nvSpPr>
          <p:cNvPr id="70" name="Figure 12 label 54 line 1">
            <a:extLst xmlns:a="http://schemas.openxmlformats.org/drawingml/2006/main">
              <a:ext uri="{FF2B5EF4-FFF2-40B4-BE49-F238E27FC236}">
                <a16:creationId xmlns:a16="http://schemas.microsoft.com/office/drawing/2014/main" id="{98994EF0-F498-4A4B-BF06-E3F4E840E544}"/>
              </a:ext>
            </a:extLst>
          </p:cNvPr>
          <p:cNvSpPr>
            <a:spLocks xmlns:a="http://schemas.openxmlformats.org/drawingml/2006/main" noGrp="1"/>
          </p:cNvSpPr>
          <p:nvPr/>
        </p:nvSpPr>
        <p:spPr>
          <a:xfrm xmlns:a="http://schemas.openxmlformats.org/drawingml/2006/main" rot="0">
            <a:off x="7134911" y="7597674"/>
            <a:ext cx="2045660"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Includes clinical and industrial uses</a:t>
            </a:r>
          </a:p>
        </p:txBody>
      </p:sp>
      <p:sp>
        <p:nvSpPr>
          <p:cNvPr id="71" name="Figure 12 label 55 line 1">
            <a:extLst xmlns:a="http://schemas.openxmlformats.org/drawingml/2006/main">
              <a:ext uri="{FF2B5EF4-FFF2-40B4-BE49-F238E27FC236}">
                <a16:creationId xmlns:a16="http://schemas.microsoft.com/office/drawing/2014/main" id="{84D4BAED-CAD4-45A7-9FB3-EA78686D6C77}"/>
              </a:ext>
            </a:extLst>
          </p:cNvPr>
          <p:cNvSpPr>
            <a:spLocks xmlns:a="http://schemas.openxmlformats.org/drawingml/2006/main" noGrp="1"/>
          </p:cNvSpPr>
          <p:nvPr/>
        </p:nvSpPr>
        <p:spPr>
          <a:xfrm xmlns:a="http://schemas.openxmlformats.org/drawingml/2006/main" rot="0">
            <a:off x="7135521" y="8244155"/>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72" name="Figure 12 label 56 line 1">
            <a:extLst xmlns:a="http://schemas.openxmlformats.org/drawingml/2006/main">
              <a:ext uri="{FF2B5EF4-FFF2-40B4-BE49-F238E27FC236}">
                <a16:creationId xmlns:a16="http://schemas.microsoft.com/office/drawing/2014/main" id="{D8146DD8-9C72-49D8-A33D-5AD716B3D6ED}"/>
              </a:ext>
            </a:extLst>
          </p:cNvPr>
          <p:cNvSpPr>
            <a:spLocks xmlns:a="http://schemas.openxmlformats.org/drawingml/2006/main" noGrp="1"/>
          </p:cNvSpPr>
          <p:nvPr/>
        </p:nvSpPr>
        <p:spPr>
          <a:xfrm xmlns:a="http://schemas.openxmlformats.org/drawingml/2006/main" rot="0">
            <a:off x="8773973" y="824575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73" name="Figure 12 label 57 line 1">
            <a:extLst xmlns:a="http://schemas.openxmlformats.org/drawingml/2006/main">
              <a:ext uri="{FF2B5EF4-FFF2-40B4-BE49-F238E27FC236}">
                <a16:creationId xmlns:a16="http://schemas.microsoft.com/office/drawing/2014/main" id="{0C2B9C43-181B-438A-95A8-5A0C83CBD805}"/>
              </a:ext>
            </a:extLst>
          </p:cNvPr>
          <p:cNvSpPr>
            <a:spLocks xmlns:a="http://schemas.openxmlformats.org/drawingml/2006/main" noGrp="1"/>
          </p:cNvSpPr>
          <p:nvPr/>
        </p:nvSpPr>
        <p:spPr>
          <a:xfrm xmlns:a="http://schemas.openxmlformats.org/drawingml/2006/main" rot="0">
            <a:off x="7134759" y="8457134"/>
            <a:ext cx="150312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JET Biofil · 688026.SH</a:t>
            </a:r>
          </a:p>
        </p:txBody>
      </p:sp>
      <p:sp>
        <p:nvSpPr>
          <p:cNvPr id="74" name="Figure 12 label 57 line 2">
            <a:extLst xmlns:a="http://schemas.openxmlformats.org/drawingml/2006/main">
              <a:ext uri="{FF2B5EF4-FFF2-40B4-BE49-F238E27FC236}">
                <a16:creationId xmlns:a16="http://schemas.microsoft.com/office/drawing/2014/main" id="{EB86B3AA-255E-424F-B453-B42A6539EF5B}"/>
              </a:ext>
            </a:extLst>
          </p:cNvPr>
          <p:cNvSpPr>
            <a:spLocks xmlns:a="http://schemas.openxmlformats.org/drawingml/2006/main" noGrp="1"/>
          </p:cNvSpPr>
          <p:nvPr/>
        </p:nvSpPr>
        <p:spPr>
          <a:xfrm xmlns:a="http://schemas.openxmlformats.org/drawingml/2006/main" rot="0">
            <a:off x="7134759" y="8619059"/>
            <a:ext cx="150312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Changhong · 300151.SZ</a:t>
            </a:r>
          </a:p>
        </p:txBody>
      </p:sp>
      <p:sp>
        <p:nvSpPr>
          <p:cNvPr id="75" name="Figure 12 label 58 line 1">
            <a:extLst xmlns:a="http://schemas.openxmlformats.org/drawingml/2006/main">
              <a:ext uri="{FF2B5EF4-FFF2-40B4-BE49-F238E27FC236}">
                <a16:creationId xmlns:a16="http://schemas.microsoft.com/office/drawing/2014/main" id="{FB729C5F-0F68-426B-AA35-F57423F67812}"/>
              </a:ext>
            </a:extLst>
          </p:cNvPr>
          <p:cNvSpPr>
            <a:spLocks xmlns:a="http://schemas.openxmlformats.org/drawingml/2006/main" noGrp="1"/>
          </p:cNvSpPr>
          <p:nvPr/>
        </p:nvSpPr>
        <p:spPr>
          <a:xfrm xmlns:a="http://schemas.openxmlformats.org/drawingml/2006/main" rot="0">
            <a:off x="8773302" y="8459694"/>
            <a:ext cx="894328"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Corning · GLW</a:t>
            </a:r>
          </a:p>
        </p:txBody>
      </p:sp>
      <p:sp>
        <p:nvSpPr>
          <p:cNvPr id="76" name="Figure 12 label 58 line 2">
            <a:extLst xmlns:a="http://schemas.openxmlformats.org/drawingml/2006/main">
              <a:ext uri="{FF2B5EF4-FFF2-40B4-BE49-F238E27FC236}">
                <a16:creationId xmlns:a16="http://schemas.microsoft.com/office/drawing/2014/main" id="{C2DB10E3-A7E0-45D3-8213-31E3A04C977C}"/>
              </a:ext>
            </a:extLst>
          </p:cNvPr>
          <p:cNvSpPr>
            <a:spLocks xmlns:a="http://schemas.openxmlformats.org/drawingml/2006/main" noGrp="1"/>
          </p:cNvSpPr>
          <p:nvPr/>
        </p:nvSpPr>
        <p:spPr>
          <a:xfrm xmlns:a="http://schemas.openxmlformats.org/drawingml/2006/main" rot="0">
            <a:off x="8773302" y="8613999"/>
            <a:ext cx="894328"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BD · BDX</a:t>
            </a:r>
          </a:p>
        </p:txBody>
      </p:sp>
      <p:sp>
        <p:nvSpPr>
          <p:cNvPr id="77" name="Figure 12 label 59 line 1">
            <a:extLst xmlns:a="http://schemas.openxmlformats.org/drawingml/2006/main">
              <a:ext uri="{FF2B5EF4-FFF2-40B4-BE49-F238E27FC236}">
                <a16:creationId xmlns:a16="http://schemas.microsoft.com/office/drawing/2014/main" id="{D0E1717A-D65D-4AC0-A5DD-5A1CF3B6CFEF}"/>
              </a:ext>
            </a:extLst>
          </p:cNvPr>
          <p:cNvSpPr>
            <a:spLocks xmlns:a="http://schemas.openxmlformats.org/drawingml/2006/main" noGrp="1"/>
          </p:cNvSpPr>
          <p:nvPr/>
        </p:nvSpPr>
        <p:spPr>
          <a:xfrm xmlns:a="http://schemas.openxmlformats.org/drawingml/2006/main" rot="0">
            <a:off x="11071556" y="6111850"/>
            <a:ext cx="250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Measurement &amp; analytics</a:t>
            </a:r>
          </a:p>
        </p:txBody>
      </p:sp>
      <p:sp>
        <p:nvSpPr>
          <p:cNvPr id="78" name="Figure 12 label 60 line 1">
            <a:extLst xmlns:a="http://schemas.openxmlformats.org/drawingml/2006/main">
              <a:ext uri="{FF2B5EF4-FFF2-40B4-BE49-F238E27FC236}">
                <a16:creationId xmlns:a16="http://schemas.microsoft.com/office/drawing/2014/main" id="{A9ABA819-0C0C-4517-B88D-79DCAF721BD4}"/>
              </a:ext>
            </a:extLst>
          </p:cNvPr>
          <p:cNvSpPr>
            <a:spLocks xmlns:a="http://schemas.openxmlformats.org/drawingml/2006/main" noGrp="1"/>
          </p:cNvSpPr>
          <p:nvPr/>
        </p:nvSpPr>
        <p:spPr>
          <a:xfrm xmlns:a="http://schemas.openxmlformats.org/drawingml/2006/main" rot="0">
            <a:off x="10661599" y="6501232"/>
            <a:ext cx="224758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Sequencing, LC / LC-MS, flow</a:t>
            </a:r>
          </a:p>
        </p:txBody>
      </p:sp>
      <p:sp>
        <p:nvSpPr>
          <p:cNvPr id="79" name="Figure 12 label 60 line 2">
            <a:extLst xmlns:a="http://schemas.openxmlformats.org/drawingml/2006/main">
              <a:ext uri="{FF2B5EF4-FFF2-40B4-BE49-F238E27FC236}">
                <a16:creationId xmlns:a16="http://schemas.microsoft.com/office/drawing/2014/main" id="{BF603D75-1FE0-4927-B52B-B7A567D12C0B}"/>
              </a:ext>
            </a:extLst>
          </p:cNvPr>
          <p:cNvSpPr>
            <a:spLocks xmlns:a="http://schemas.openxmlformats.org/drawingml/2006/main" noGrp="1"/>
          </p:cNvSpPr>
          <p:nvPr/>
        </p:nvSpPr>
        <p:spPr>
          <a:xfrm xmlns:a="http://schemas.openxmlformats.org/drawingml/2006/main" rot="0">
            <a:off x="10661599" y="6701257"/>
            <a:ext cx="2247585"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Imaging and quality control</a:t>
            </a:r>
          </a:p>
        </p:txBody>
      </p:sp>
      <p:sp>
        <p:nvSpPr>
          <p:cNvPr id="80" name="Figure 12 label 61 line 1">
            <a:extLst xmlns:a="http://schemas.openxmlformats.org/drawingml/2006/main">
              <a:ext uri="{FF2B5EF4-FFF2-40B4-BE49-F238E27FC236}">
                <a16:creationId xmlns:a16="http://schemas.microsoft.com/office/drawing/2014/main" id="{56EDF9DB-2801-4604-B767-9B322C39918F}"/>
              </a:ext>
            </a:extLst>
          </p:cNvPr>
          <p:cNvSpPr>
            <a:spLocks xmlns:a="http://schemas.openxmlformats.org/drawingml/2006/main" noGrp="1"/>
          </p:cNvSpPr>
          <p:nvPr/>
        </p:nvSpPr>
        <p:spPr>
          <a:xfrm xmlns:a="http://schemas.openxmlformats.org/drawingml/2006/main" rot="0">
            <a:off x="10656723" y="6930085"/>
            <a:ext cx="164014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220" b="1">
                <a:solidFill>
                  <a:srgbClr val="00355F"/>
                </a:solidFill>
                <a:latin typeface="Arial"/>
                <a:ea typeface="Arial"/>
                <a:cs typeface="Arial"/>
              </a:defRPr>
            </a:defPPr>
          </a:lstStyle>
          <a:p xmlns:a="http://schemas.openxmlformats.org/drawingml/2006/main">
            <a:pPr algn="l">
              <a:lnSpc>
                <a:spcPct val="100000"/>
              </a:lnSpc>
              <a:buNone/>
              <a:defRPr sz="2220" b="1">
                <a:solidFill>
                  <a:srgbClr val="00355F"/>
                </a:solidFill>
                <a:latin typeface="Arial"/>
                <a:ea typeface="Arial"/>
                <a:cs typeface="Arial"/>
              </a:defRPr>
            </a:pPr>
            <a:r>
              <a:rPr sz="2220" b="1">
                <a:solidFill>
                  <a:srgbClr val="00355F"/>
                </a:solidFill>
                <a:latin typeface="Arial"/>
                <a:ea typeface="Arial"/>
                <a:cs typeface="Arial"/>
              </a:rPr>
              <a:t>RMB 4.3bn</a:t>
            </a:r>
          </a:p>
        </p:txBody>
      </p:sp>
      <p:sp>
        <p:nvSpPr>
          <p:cNvPr id="81" name="Figure 12 label 62 line 1">
            <a:extLst xmlns:a="http://schemas.openxmlformats.org/drawingml/2006/main">
              <a:ext uri="{FF2B5EF4-FFF2-40B4-BE49-F238E27FC236}">
                <a16:creationId xmlns:a16="http://schemas.microsoft.com/office/drawing/2014/main" id="{4A50D883-FE22-42CB-A61D-8DB0D470418F}"/>
              </a:ext>
            </a:extLst>
          </p:cNvPr>
          <p:cNvSpPr>
            <a:spLocks xmlns:a="http://schemas.openxmlformats.org/drawingml/2006/main" noGrp="1"/>
          </p:cNvSpPr>
          <p:nvPr/>
        </p:nvSpPr>
        <p:spPr>
          <a:xfrm xmlns:a="http://schemas.openxmlformats.org/drawingml/2006/main" rot="0">
            <a:off x="10662666" y="7373493"/>
            <a:ext cx="2159556"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sequencing tools [5]</a:t>
            </a:r>
          </a:p>
        </p:txBody>
      </p:sp>
      <p:sp>
        <p:nvSpPr>
          <p:cNvPr id="82" name="Figure 12 label 63 line 1">
            <a:extLst xmlns:a="http://schemas.openxmlformats.org/drawingml/2006/main">
              <a:ext uri="{FF2B5EF4-FFF2-40B4-BE49-F238E27FC236}">
                <a16:creationId xmlns:a16="http://schemas.microsoft.com/office/drawing/2014/main" id="{6176DE49-1A65-4064-A8B7-7E5801C9F499}"/>
              </a:ext>
            </a:extLst>
          </p:cNvPr>
          <p:cNvSpPr>
            <a:spLocks xmlns:a="http://schemas.openxmlformats.org/drawingml/2006/main" noGrp="1"/>
          </p:cNvSpPr>
          <p:nvPr/>
        </p:nvSpPr>
        <p:spPr>
          <a:xfrm xmlns:a="http://schemas.openxmlformats.org/drawingml/2006/main" rot="0">
            <a:off x="10662971" y="7597674"/>
            <a:ext cx="2360581"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Sequencing subset; 2024 policy baseline</a:t>
            </a:r>
          </a:p>
        </p:txBody>
      </p:sp>
      <p:sp>
        <p:nvSpPr>
          <p:cNvPr id="83" name="Figure 12 label 64 line 1">
            <a:extLst xmlns:a="http://schemas.openxmlformats.org/drawingml/2006/main">
              <a:ext uri="{FF2B5EF4-FFF2-40B4-BE49-F238E27FC236}">
                <a16:creationId xmlns:a16="http://schemas.microsoft.com/office/drawing/2014/main" id="{C8D0B3A8-9842-471F-BC48-EEF643A4EC10}"/>
              </a:ext>
            </a:extLst>
          </p:cNvPr>
          <p:cNvSpPr>
            <a:spLocks xmlns:a="http://schemas.openxmlformats.org/drawingml/2006/main" noGrp="1"/>
          </p:cNvSpPr>
          <p:nvPr/>
        </p:nvSpPr>
        <p:spPr>
          <a:xfrm xmlns:a="http://schemas.openxmlformats.org/drawingml/2006/main" rot="0">
            <a:off x="11758271" y="7912151"/>
            <a:ext cx="151275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BD flow → WAT†</a:t>
            </a:r>
          </a:p>
        </p:txBody>
      </p:sp>
      <p:sp>
        <p:nvSpPr>
          <p:cNvPr id="84" name="Figure 12 label 65 line 1">
            <a:extLst xmlns:a="http://schemas.openxmlformats.org/drawingml/2006/main">
              <a:ext uri="{FF2B5EF4-FFF2-40B4-BE49-F238E27FC236}">
                <a16:creationId xmlns:a16="http://schemas.microsoft.com/office/drawing/2014/main" id="{AFC2EB32-A13C-437D-B737-C2C3FC7BFD78}"/>
              </a:ext>
            </a:extLst>
          </p:cNvPr>
          <p:cNvSpPr>
            <a:spLocks xmlns:a="http://schemas.openxmlformats.org/drawingml/2006/main" noGrp="1"/>
          </p:cNvSpPr>
          <p:nvPr/>
        </p:nvSpPr>
        <p:spPr>
          <a:xfrm xmlns:a="http://schemas.openxmlformats.org/drawingml/2006/main" rot="0">
            <a:off x="10663581" y="8244155"/>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85" name="Figure 12 label 66 line 1">
            <a:extLst xmlns:a="http://schemas.openxmlformats.org/drawingml/2006/main">
              <a:ext uri="{FF2B5EF4-FFF2-40B4-BE49-F238E27FC236}">
                <a16:creationId xmlns:a16="http://schemas.microsoft.com/office/drawing/2014/main" id="{0002B904-86DA-4D30-96C1-A0D3B6EE27ED}"/>
              </a:ext>
            </a:extLst>
          </p:cNvPr>
          <p:cNvSpPr>
            <a:spLocks xmlns:a="http://schemas.openxmlformats.org/drawingml/2006/main" noGrp="1"/>
          </p:cNvSpPr>
          <p:nvPr/>
        </p:nvSpPr>
        <p:spPr>
          <a:xfrm xmlns:a="http://schemas.openxmlformats.org/drawingml/2006/main" rot="0">
            <a:off x="12302033" y="824575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86" name="Figure 12 label 67 line 1">
            <a:extLst xmlns:a="http://schemas.openxmlformats.org/drawingml/2006/main">
              <a:ext uri="{FF2B5EF4-FFF2-40B4-BE49-F238E27FC236}">
                <a16:creationId xmlns:a16="http://schemas.microsoft.com/office/drawing/2014/main" id="{ED5E262D-43E1-4ACE-B589-056645A53C9D}"/>
              </a:ext>
            </a:extLst>
          </p:cNvPr>
          <p:cNvSpPr>
            <a:spLocks xmlns:a="http://schemas.openxmlformats.org/drawingml/2006/main" noGrp="1"/>
          </p:cNvSpPr>
          <p:nvPr/>
        </p:nvSpPr>
        <p:spPr>
          <a:xfrm xmlns:a="http://schemas.openxmlformats.org/drawingml/2006/main" rot="0">
            <a:off x="10662819" y="845713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MGI · 688114.SH</a:t>
            </a:r>
          </a:p>
        </p:txBody>
      </p:sp>
      <p:sp>
        <p:nvSpPr>
          <p:cNvPr id="87" name="Figure 12 label 67 line 2">
            <a:extLst xmlns:a="http://schemas.openxmlformats.org/drawingml/2006/main">
              <a:ext uri="{FF2B5EF4-FFF2-40B4-BE49-F238E27FC236}">
                <a16:creationId xmlns:a16="http://schemas.microsoft.com/office/drawing/2014/main" id="{6ED6C6DB-CA86-4A8C-BB6E-599F9E7DE50A}"/>
              </a:ext>
            </a:extLst>
          </p:cNvPr>
          <p:cNvSpPr>
            <a:spLocks xmlns:a="http://schemas.openxmlformats.org/drawingml/2006/main" noGrp="1"/>
          </p:cNvSpPr>
          <p:nvPr/>
        </p:nvSpPr>
        <p:spPr>
          <a:xfrm xmlns:a="http://schemas.openxmlformats.org/drawingml/2006/main" rot="0">
            <a:off x="10662819" y="8619059"/>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NanoMicro · 688690.SH</a:t>
            </a:r>
          </a:p>
        </p:txBody>
      </p:sp>
      <p:sp>
        <p:nvSpPr>
          <p:cNvPr id="88" name="Figure 12 label 68 line 1">
            <a:extLst xmlns:a="http://schemas.openxmlformats.org/drawingml/2006/main">
              <a:ext uri="{FF2B5EF4-FFF2-40B4-BE49-F238E27FC236}">
                <a16:creationId xmlns:a16="http://schemas.microsoft.com/office/drawing/2014/main" id="{74AB48D5-6361-4F73-8CD2-702E95A1064D}"/>
              </a:ext>
            </a:extLst>
          </p:cNvPr>
          <p:cNvSpPr>
            <a:spLocks xmlns:a="http://schemas.openxmlformats.org/drawingml/2006/main" noGrp="1"/>
          </p:cNvSpPr>
          <p:nvPr/>
        </p:nvSpPr>
        <p:spPr>
          <a:xfrm xmlns:a="http://schemas.openxmlformats.org/drawingml/2006/main" rot="0">
            <a:off x="12301362" y="8459694"/>
            <a:ext cx="91025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Illumina · ILMN</a:t>
            </a:r>
          </a:p>
        </p:txBody>
      </p:sp>
      <p:sp>
        <p:nvSpPr>
          <p:cNvPr id="89" name="Figure 12 label 68 line 2">
            <a:extLst xmlns:a="http://schemas.openxmlformats.org/drawingml/2006/main">
              <a:ext uri="{FF2B5EF4-FFF2-40B4-BE49-F238E27FC236}">
                <a16:creationId xmlns:a16="http://schemas.microsoft.com/office/drawing/2014/main" id="{A430C2F2-9844-4B73-8B95-31FED1AA92CF}"/>
              </a:ext>
            </a:extLst>
          </p:cNvPr>
          <p:cNvSpPr>
            <a:spLocks xmlns:a="http://schemas.openxmlformats.org/drawingml/2006/main" noGrp="1"/>
          </p:cNvSpPr>
          <p:nvPr/>
        </p:nvSpPr>
        <p:spPr>
          <a:xfrm xmlns:a="http://schemas.openxmlformats.org/drawingml/2006/main" rot="0">
            <a:off x="12301362" y="8613999"/>
            <a:ext cx="91025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Agilent · A</a:t>
            </a:r>
          </a:p>
        </p:txBody>
      </p:sp>
      <p:sp>
        <p:nvSpPr>
          <p:cNvPr id="90" name="Figure 12 label 68 line 3">
            <a:extLst xmlns:a="http://schemas.openxmlformats.org/drawingml/2006/main">
              <a:ext uri="{FF2B5EF4-FFF2-40B4-BE49-F238E27FC236}">
                <a16:creationId xmlns:a16="http://schemas.microsoft.com/office/drawing/2014/main" id="{D1CCCE32-B0E6-46AA-B416-0F75B639BBED}"/>
              </a:ext>
            </a:extLst>
          </p:cNvPr>
          <p:cNvSpPr>
            <a:spLocks xmlns:a="http://schemas.openxmlformats.org/drawingml/2006/main" noGrp="1"/>
          </p:cNvSpPr>
          <p:nvPr/>
        </p:nvSpPr>
        <p:spPr>
          <a:xfrm xmlns:a="http://schemas.openxmlformats.org/drawingml/2006/main" rot="0">
            <a:off x="12301362" y="8768304"/>
            <a:ext cx="910253"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Waters · WAT†</a:t>
            </a:r>
          </a:p>
        </p:txBody>
      </p:sp>
      <p:sp>
        <p:nvSpPr>
          <p:cNvPr id="91" name="Figure 12 label 69 line 1">
            <a:extLst xmlns:a="http://schemas.openxmlformats.org/drawingml/2006/main">
              <a:ext uri="{FF2B5EF4-FFF2-40B4-BE49-F238E27FC236}">
                <a16:creationId xmlns:a16="http://schemas.microsoft.com/office/drawing/2014/main" id="{BE8E4B01-4900-4963-BF80-8685C5A20F52}"/>
              </a:ext>
            </a:extLst>
          </p:cNvPr>
          <p:cNvSpPr>
            <a:spLocks xmlns:a="http://schemas.openxmlformats.org/drawingml/2006/main" noGrp="1"/>
          </p:cNvSpPr>
          <p:nvPr/>
        </p:nvSpPr>
        <p:spPr>
          <a:xfrm xmlns:a="http://schemas.openxmlformats.org/drawingml/2006/main" rot="0">
            <a:off x="14599615" y="6111850"/>
            <a:ext cx="2275624"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60" b="1">
                <a:solidFill>
                  <a:srgbClr val="00355F"/>
                </a:solidFill>
                <a:latin typeface="Arial"/>
                <a:ea typeface="Arial"/>
                <a:cs typeface="Arial"/>
              </a:defRPr>
            </a:defPPr>
          </a:lstStyle>
          <a:p xmlns:a="http://schemas.openxmlformats.org/drawingml/2006/main">
            <a:pPr algn="l">
              <a:lnSpc>
                <a:spcPct val="100000"/>
              </a:lnSpc>
              <a:buNone/>
              <a:defRPr sz="1560" b="1">
                <a:solidFill>
                  <a:srgbClr val="00355F"/>
                </a:solidFill>
                <a:latin typeface="Arial"/>
                <a:ea typeface="Arial"/>
                <a:cs typeface="Arial"/>
              </a:defRPr>
            </a:pPr>
            <a:r>
              <a:rPr sz="1560" b="1">
                <a:solidFill>
                  <a:srgbClr val="00355F"/>
                </a:solidFill>
                <a:latin typeface="Arial"/>
                <a:ea typeface="Arial"/>
                <a:cs typeface="Arial"/>
              </a:rPr>
              <a:t>Purification &amp; scale-up</a:t>
            </a:r>
          </a:p>
        </p:txBody>
      </p:sp>
      <p:sp>
        <p:nvSpPr>
          <p:cNvPr id="92" name="Figure 12 label 70 line 1">
            <a:extLst xmlns:a="http://schemas.openxmlformats.org/drawingml/2006/main">
              <a:ext uri="{FF2B5EF4-FFF2-40B4-BE49-F238E27FC236}">
                <a16:creationId xmlns:a16="http://schemas.microsoft.com/office/drawing/2014/main" id="{09743685-8019-4921-A805-E13C95FCD002}"/>
              </a:ext>
            </a:extLst>
          </p:cNvPr>
          <p:cNvSpPr>
            <a:spLocks xmlns:a="http://schemas.openxmlformats.org/drawingml/2006/main" noGrp="1"/>
          </p:cNvSpPr>
          <p:nvPr/>
        </p:nvSpPr>
        <p:spPr>
          <a:xfrm xmlns:a="http://schemas.openxmlformats.org/drawingml/2006/main" rot="0">
            <a:off x="14189659" y="6501232"/>
            <a:ext cx="254985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Analytical columns, process resins</a:t>
            </a:r>
          </a:p>
        </p:txBody>
      </p:sp>
      <p:sp>
        <p:nvSpPr>
          <p:cNvPr id="93" name="Figure 12 label 70 line 2">
            <a:extLst xmlns:a="http://schemas.openxmlformats.org/drawingml/2006/main">
              <a:ext uri="{FF2B5EF4-FFF2-40B4-BE49-F238E27FC236}">
                <a16:creationId xmlns:a16="http://schemas.microsoft.com/office/drawing/2014/main" id="{0B626CFF-612E-4886-82B2-989C39706565}"/>
              </a:ext>
            </a:extLst>
          </p:cNvPr>
          <p:cNvSpPr>
            <a:spLocks xmlns:a="http://schemas.openxmlformats.org/drawingml/2006/main" noGrp="1"/>
          </p:cNvSpPr>
          <p:nvPr/>
        </p:nvSpPr>
        <p:spPr>
          <a:xfrm xmlns:a="http://schemas.openxmlformats.org/drawingml/2006/main" rot="0">
            <a:off x="14189659" y="6701257"/>
            <a:ext cx="254985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Filtration and single-use systems</a:t>
            </a:r>
          </a:p>
        </p:txBody>
      </p:sp>
      <p:sp>
        <p:nvSpPr>
          <p:cNvPr id="94" name="Figure 12 label 71 line 1">
            <a:extLst xmlns:a="http://schemas.openxmlformats.org/drawingml/2006/main">
              <a:ext uri="{FF2B5EF4-FFF2-40B4-BE49-F238E27FC236}">
                <a16:creationId xmlns:a16="http://schemas.microsoft.com/office/drawing/2014/main" id="{3F1B1D9B-857D-4C2E-B97D-AEF277C7E78A}"/>
              </a:ext>
            </a:extLst>
          </p:cNvPr>
          <p:cNvSpPr>
            <a:spLocks xmlns:a="http://schemas.openxmlformats.org/drawingml/2006/main" noGrp="1"/>
          </p:cNvSpPr>
          <p:nvPr/>
        </p:nvSpPr>
        <p:spPr>
          <a:xfrm xmlns:a="http://schemas.openxmlformats.org/drawingml/2006/main" rot="0">
            <a:off x="14186611" y="6949288"/>
            <a:ext cx="193858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Source pending</a:t>
            </a:r>
          </a:p>
        </p:txBody>
      </p:sp>
      <p:sp>
        <p:nvSpPr>
          <p:cNvPr id="95" name="Figure 12 label 72 line 1">
            <a:extLst xmlns:a="http://schemas.openxmlformats.org/drawingml/2006/main">
              <a:ext uri="{FF2B5EF4-FFF2-40B4-BE49-F238E27FC236}">
                <a16:creationId xmlns:a16="http://schemas.microsoft.com/office/drawing/2014/main" id="{DDAA7DD6-7C84-4021-BABB-456495AC28EB}"/>
              </a:ext>
            </a:extLst>
          </p:cNvPr>
          <p:cNvSpPr>
            <a:spLocks xmlns:a="http://schemas.openxmlformats.org/drawingml/2006/main" noGrp="1"/>
          </p:cNvSpPr>
          <p:nvPr/>
        </p:nvSpPr>
        <p:spPr>
          <a:xfrm xmlns:a="http://schemas.openxmlformats.org/drawingml/2006/main" rot="0">
            <a:off x="14190726" y="7373493"/>
            <a:ext cx="2196316"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China • 2024 • bioprocess resins [3]</a:t>
            </a:r>
          </a:p>
        </p:txBody>
      </p:sp>
      <p:sp>
        <p:nvSpPr>
          <p:cNvPr id="96" name="Figure 12 label 73 line 1">
            <a:extLst xmlns:a="http://schemas.openxmlformats.org/drawingml/2006/main">
              <a:ext uri="{FF2B5EF4-FFF2-40B4-BE49-F238E27FC236}">
                <a16:creationId xmlns:a16="http://schemas.microsoft.com/office/drawing/2014/main" id="{4CDA6955-3982-43C2-AED3-CDC7EBE06698}"/>
              </a:ext>
            </a:extLst>
          </p:cNvPr>
          <p:cNvSpPr>
            <a:spLocks xmlns:a="http://schemas.openxmlformats.org/drawingml/2006/main" noGrp="1"/>
          </p:cNvSpPr>
          <p:nvPr/>
        </p:nvSpPr>
        <p:spPr>
          <a:xfrm xmlns:a="http://schemas.openxmlformats.org/drawingml/2006/main" rot="0">
            <a:off x="14191031" y="7597674"/>
            <a:ext cx="2299561"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Original filing unavailable; TAM withheld</a:t>
            </a:r>
          </a:p>
        </p:txBody>
      </p:sp>
      <p:sp>
        <p:nvSpPr>
          <p:cNvPr id="97" name="Figure 12 label 74 line 1">
            <a:extLst xmlns:a="http://schemas.openxmlformats.org/drawingml/2006/main">
              <a:ext uri="{FF2B5EF4-FFF2-40B4-BE49-F238E27FC236}">
                <a16:creationId xmlns:a16="http://schemas.microsoft.com/office/drawing/2014/main" id="{3A3C96E9-D8D4-4200-AD60-B53182A8D284}"/>
              </a:ext>
            </a:extLst>
          </p:cNvPr>
          <p:cNvSpPr>
            <a:spLocks xmlns:a="http://schemas.openxmlformats.org/drawingml/2006/main" noGrp="1"/>
          </p:cNvSpPr>
          <p:nvPr/>
        </p:nvSpPr>
        <p:spPr>
          <a:xfrm xmlns:a="http://schemas.openxmlformats.org/drawingml/2006/main" rot="0">
            <a:off x="14539266" y="7893711"/>
            <a:ext cx="1063931"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NanoMicro</a:t>
            </a:r>
          </a:p>
        </p:txBody>
      </p:sp>
      <p:sp>
        <p:nvSpPr>
          <p:cNvPr id="98" name="Figure 12 label 75 line 1">
            <a:extLst xmlns:a="http://schemas.openxmlformats.org/drawingml/2006/main">
              <a:ext uri="{FF2B5EF4-FFF2-40B4-BE49-F238E27FC236}">
                <a16:creationId xmlns:a16="http://schemas.microsoft.com/office/drawing/2014/main" id="{9672F8DC-D4E0-49E9-BA71-64AA948CC171}"/>
              </a:ext>
            </a:extLst>
          </p:cNvPr>
          <p:cNvSpPr>
            <a:spLocks xmlns:a="http://schemas.openxmlformats.org/drawingml/2006/main" noGrp="1"/>
          </p:cNvSpPr>
          <p:nvPr/>
        </p:nvSpPr>
        <p:spPr>
          <a:xfrm xmlns:a="http://schemas.openxmlformats.org/drawingml/2006/main" rot="0">
            <a:off x="14191641" y="8244155"/>
            <a:ext cx="1209610"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CHINA / HK LISTINGS</a:t>
            </a:r>
          </a:p>
        </p:txBody>
      </p:sp>
      <p:sp>
        <p:nvSpPr>
          <p:cNvPr id="99" name="Figure 12 label 76 line 1">
            <a:extLst xmlns:a="http://schemas.openxmlformats.org/drawingml/2006/main">
              <a:ext uri="{FF2B5EF4-FFF2-40B4-BE49-F238E27FC236}">
                <a16:creationId xmlns:a16="http://schemas.microsoft.com/office/drawing/2014/main" id="{2E361750-BAD3-4306-81B8-8F7C4B2F60D0}"/>
              </a:ext>
            </a:extLst>
          </p:cNvPr>
          <p:cNvSpPr>
            <a:spLocks xmlns:a="http://schemas.openxmlformats.org/drawingml/2006/main" noGrp="1"/>
          </p:cNvSpPr>
          <p:nvPr/>
        </p:nvSpPr>
        <p:spPr>
          <a:xfrm xmlns:a="http://schemas.openxmlformats.org/drawingml/2006/main" rot="0">
            <a:off x="15830093" y="8245755"/>
            <a:ext cx="1329916"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US LISTINGS / PARENTS</a:t>
            </a:r>
          </a:p>
        </p:txBody>
      </p:sp>
      <p:sp>
        <p:nvSpPr>
          <p:cNvPr id="100" name="Figure 12 label 77 line 1">
            <a:extLst xmlns:a="http://schemas.openxmlformats.org/drawingml/2006/main">
              <a:ext uri="{FF2B5EF4-FFF2-40B4-BE49-F238E27FC236}">
                <a16:creationId xmlns:a16="http://schemas.microsoft.com/office/drawing/2014/main" id="{25DD7365-91B1-4E76-AA6F-F17F14795A8E}"/>
              </a:ext>
            </a:extLst>
          </p:cNvPr>
          <p:cNvSpPr>
            <a:spLocks xmlns:a="http://schemas.openxmlformats.org/drawingml/2006/main" noGrp="1"/>
          </p:cNvSpPr>
          <p:nvPr/>
        </p:nvSpPr>
        <p:spPr>
          <a:xfrm xmlns:a="http://schemas.openxmlformats.org/drawingml/2006/main" rot="0">
            <a:off x="14190879" y="8457134"/>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NanoMicro · 688690.SH</a:t>
            </a:r>
          </a:p>
        </p:txBody>
      </p:sp>
      <p:sp>
        <p:nvSpPr>
          <p:cNvPr id="101" name="Figure 12 label 77 line 2">
            <a:extLst xmlns:a="http://schemas.openxmlformats.org/drawingml/2006/main">
              <a:ext uri="{FF2B5EF4-FFF2-40B4-BE49-F238E27FC236}">
                <a16:creationId xmlns:a16="http://schemas.microsoft.com/office/drawing/2014/main" id="{E48355DC-847D-4BD8-8F80-E0A7D0B8D929}"/>
              </a:ext>
            </a:extLst>
          </p:cNvPr>
          <p:cNvSpPr>
            <a:spLocks xmlns:a="http://schemas.openxmlformats.org/drawingml/2006/main" noGrp="1"/>
          </p:cNvSpPr>
          <p:nvPr/>
        </p:nvSpPr>
        <p:spPr>
          <a:xfrm xmlns:a="http://schemas.openxmlformats.org/drawingml/2006/main" rot="0">
            <a:off x="14190879" y="8619059"/>
            <a:ext cx="147395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Sepax · 688758.SH</a:t>
            </a:r>
          </a:p>
        </p:txBody>
      </p:sp>
      <p:sp>
        <p:nvSpPr>
          <p:cNvPr id="102" name="Figure 12 label 78 line 1">
            <a:extLst xmlns:a="http://schemas.openxmlformats.org/drawingml/2006/main">
              <a:ext uri="{FF2B5EF4-FFF2-40B4-BE49-F238E27FC236}">
                <a16:creationId xmlns:a16="http://schemas.microsoft.com/office/drawing/2014/main" id="{98D119D9-6F25-4DB3-903C-6B7EBBDCB6E3}"/>
              </a:ext>
            </a:extLst>
          </p:cNvPr>
          <p:cNvSpPr>
            <a:spLocks xmlns:a="http://schemas.openxmlformats.org/drawingml/2006/main" noGrp="1"/>
          </p:cNvSpPr>
          <p:nvPr/>
        </p:nvSpPr>
        <p:spPr>
          <a:xfrm xmlns:a="http://schemas.openxmlformats.org/drawingml/2006/main" rot="0">
            <a:off x="15829422" y="8459694"/>
            <a:ext cx="1033929"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Cytiva · DHR</a:t>
            </a:r>
          </a:p>
        </p:txBody>
      </p:sp>
      <p:sp>
        <p:nvSpPr>
          <p:cNvPr id="103" name="Figure 12 label 78 line 2">
            <a:extLst xmlns:a="http://schemas.openxmlformats.org/drawingml/2006/main">
              <a:ext uri="{FF2B5EF4-FFF2-40B4-BE49-F238E27FC236}">
                <a16:creationId xmlns:a16="http://schemas.microsoft.com/office/drawing/2014/main" id="{4E7C75F5-BED0-4F9E-9A10-42BEC863B194}"/>
              </a:ext>
            </a:extLst>
          </p:cNvPr>
          <p:cNvSpPr>
            <a:spLocks xmlns:a="http://schemas.openxmlformats.org/drawingml/2006/main" noGrp="1"/>
          </p:cNvSpPr>
          <p:nvPr/>
        </p:nvSpPr>
        <p:spPr>
          <a:xfrm xmlns:a="http://schemas.openxmlformats.org/drawingml/2006/main" rot="0">
            <a:off x="15829422" y="8613999"/>
            <a:ext cx="1033929" cy="154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72" b="0">
                <a:solidFill>
                  <a:srgbClr val="00355F"/>
                </a:solidFill>
                <a:latin typeface="Arial"/>
                <a:ea typeface="Arial"/>
                <a:cs typeface="Arial"/>
              </a:defRPr>
            </a:defPPr>
          </a:lstStyle>
          <a:p xmlns:a="http://schemas.openxmlformats.org/drawingml/2006/main">
            <a:pPr algn="l">
              <a:lnSpc>
                <a:spcPct val="100000"/>
              </a:lnSpc>
              <a:buNone/>
              <a:defRPr sz="972" b="0">
                <a:solidFill>
                  <a:srgbClr val="00355F"/>
                </a:solidFill>
                <a:latin typeface="Arial"/>
                <a:ea typeface="Arial"/>
                <a:cs typeface="Arial"/>
              </a:defRPr>
            </a:pPr>
            <a:r>
              <a:rPr sz="972" b="0">
                <a:solidFill>
                  <a:srgbClr val="00355F"/>
                </a:solidFill>
                <a:latin typeface="Arial"/>
                <a:ea typeface="Arial"/>
                <a:cs typeface="Arial"/>
              </a:rPr>
              <a:t>Repligen · RGEN</a:t>
            </a:r>
          </a:p>
        </p:txBody>
      </p:sp>
      <p:sp>
        <p:nvSpPr>
          <p:cNvPr id="104" name="Figure 12 label 79 line 1">
            <a:extLst xmlns:a="http://schemas.openxmlformats.org/drawingml/2006/main">
              <a:ext uri="{FF2B5EF4-FFF2-40B4-BE49-F238E27FC236}">
                <a16:creationId xmlns:a16="http://schemas.microsoft.com/office/drawing/2014/main" id="{69F759D2-1999-4184-9E07-ECCB0DED72A5}"/>
              </a:ext>
            </a:extLst>
          </p:cNvPr>
          <p:cNvSpPr>
            <a:spLocks xmlns:a="http://schemas.openxmlformats.org/drawingml/2006/main" noGrp="1"/>
          </p:cNvSpPr>
          <p:nvPr/>
        </p:nvSpPr>
        <p:spPr>
          <a:xfrm xmlns:a="http://schemas.openxmlformats.org/drawingml/2006/main" rot="0">
            <a:off x="7223760" y="9345930"/>
            <a:ext cx="511507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FFFFFF"/>
                </a:solidFill>
                <a:latin typeface="Arial"/>
                <a:ea typeface="Arial"/>
                <a:cs typeface="Arial"/>
              </a:defRPr>
            </a:defPPr>
          </a:lstStyle>
          <a:p xmlns:a="http://schemas.openxmlformats.org/drawingml/2006/main">
            <a:pPr algn="l">
              <a:lnSpc>
                <a:spcPct val="100000"/>
              </a:lnSpc>
              <a:buNone/>
              <a:defRPr sz="1500" b="1">
                <a:solidFill>
                  <a:srgbClr val="FFFFFF"/>
                </a:solidFill>
                <a:latin typeface="Arial"/>
                <a:ea typeface="Arial"/>
                <a:cs typeface="Arial"/>
              </a:defRPr>
            </a:pPr>
            <a:r>
              <a:rPr sz="1500" b="1">
                <a:solidFill>
                  <a:srgbClr val="FFFFFF"/>
                </a:solidFill>
                <a:latin typeface="Arial"/>
                <a:ea typeface="Arial"/>
                <a:cs typeface="Arial"/>
              </a:rPr>
              <a:t>Automation + data orchestration span every tool family</a:t>
            </a:r>
          </a:p>
        </p:txBody>
      </p:sp>
      <p:sp>
        <p:nvSpPr>
          <p:cNvPr id="105" name="Figure 12 label 80 line 1">
            <a:extLst xmlns:a="http://schemas.openxmlformats.org/drawingml/2006/main">
              <a:ext uri="{FF2B5EF4-FFF2-40B4-BE49-F238E27FC236}">
                <a16:creationId xmlns:a16="http://schemas.microsoft.com/office/drawing/2014/main" id="{F00C7A82-BAD2-4170-857C-42FFEADDAC4E}"/>
              </a:ext>
            </a:extLst>
          </p:cNvPr>
          <p:cNvSpPr>
            <a:spLocks xmlns:a="http://schemas.openxmlformats.org/drawingml/2006/main" noGrp="1"/>
          </p:cNvSpPr>
          <p:nvPr/>
        </p:nvSpPr>
        <p:spPr>
          <a:xfrm xmlns:a="http://schemas.openxmlformats.org/drawingml/2006/main" rot="0">
            <a:off x="16255289" y="9380372"/>
            <a:ext cx="810119"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1">
                <a:solidFill>
                  <a:srgbClr val="00355F"/>
                </a:solidFill>
                <a:latin typeface="Arial"/>
                <a:ea typeface="Arial"/>
                <a:cs typeface="Arial"/>
              </a:defRPr>
            </a:defPPr>
          </a:lstStyle>
          <a:p xmlns:a="http://schemas.openxmlformats.org/drawingml/2006/main">
            <a:pPr algn="l">
              <a:lnSpc>
                <a:spcPct val="100000"/>
              </a:lnSpc>
              <a:buNone/>
              <a:defRPr sz="1140" b="1">
                <a:solidFill>
                  <a:srgbClr val="00355F"/>
                </a:solidFill>
                <a:latin typeface="Arial"/>
                <a:ea typeface="Arial"/>
                <a:cs typeface="Arial"/>
              </a:defRPr>
            </a:pPr>
            <a:r>
              <a:rPr sz="1140" b="1">
                <a:solidFill>
                  <a:srgbClr val="00355F"/>
                </a:solidFill>
                <a:latin typeface="Arial"/>
                <a:ea typeface="Arial"/>
                <a:cs typeface="Arial"/>
              </a:rPr>
              <a:t>SIX: TECN</a:t>
            </a:r>
          </a:p>
        </p:txBody>
      </p:sp>
      <p:sp>
        <p:nvSpPr>
          <p:cNvPr id="106" name="Figure 12 label 81 line 1">
            <a:extLst xmlns:a="http://schemas.openxmlformats.org/drawingml/2006/main">
              <a:ext uri="{FF2B5EF4-FFF2-40B4-BE49-F238E27FC236}">
                <a16:creationId xmlns:a16="http://schemas.microsoft.com/office/drawing/2014/main" id="{DCDFAE2D-9495-4499-B3A2-889C24644BFB}"/>
              </a:ext>
            </a:extLst>
          </p:cNvPr>
          <p:cNvSpPr>
            <a:spLocks xmlns:a="http://schemas.openxmlformats.org/drawingml/2006/main" noGrp="1"/>
          </p:cNvSpPr>
          <p:nvPr/>
        </p:nvSpPr>
        <p:spPr>
          <a:xfrm xmlns:a="http://schemas.openxmlformats.org/drawingml/2006/main" rot="0">
            <a:off x="6738671" y="9799854"/>
            <a:ext cx="5884236"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 Ex-BD biosciences / flow moved to Waters on 9 Feb 2026; BD (BDX) here means specimen collection.</a:t>
            </a:r>
          </a:p>
        </p:txBody>
      </p:sp>
      <p:sp>
        <p:nvSpPr>
          <p:cNvPr id="107" name="Figure 12 label 82 line 1">
            <a:extLst xmlns:a="http://schemas.openxmlformats.org/drawingml/2006/main">
              <a:ext uri="{FF2B5EF4-FFF2-40B4-BE49-F238E27FC236}">
                <a16:creationId xmlns:a16="http://schemas.microsoft.com/office/drawing/2014/main" id="{AADB9B24-F70E-4579-8F3E-878687247A8B}"/>
              </a:ext>
            </a:extLst>
          </p:cNvPr>
          <p:cNvSpPr>
            <a:spLocks xmlns:a="http://schemas.openxmlformats.org/drawingml/2006/main" noGrp="1"/>
          </p:cNvSpPr>
          <p:nvPr/>
        </p:nvSpPr>
        <p:spPr>
          <a:xfrm xmlns:a="http://schemas.openxmlformats.org/drawingml/2006/main" rot="0">
            <a:off x="6738976" y="10008794"/>
            <a:ext cx="6474744"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0">
                <a:solidFill>
                  <a:srgbClr val="00355F"/>
                </a:solidFill>
                <a:latin typeface="Arial"/>
                <a:ea typeface="Arial"/>
                <a:cs typeface="Arial"/>
              </a:defRPr>
            </a:defPPr>
          </a:lstStyle>
          <a:p xmlns:a="http://schemas.openxmlformats.org/drawingml/2006/main">
            <a:pPr algn="l">
              <a:lnSpc>
                <a:spcPct val="100000"/>
              </a:lnSpc>
              <a:buNone/>
              <a:defRPr sz="930" b="0">
                <a:solidFill>
                  <a:srgbClr val="00355F"/>
                </a:solidFill>
                <a:latin typeface="Arial"/>
                <a:ea typeface="Arial"/>
                <a:cs typeface="Arial"/>
              </a:defRPr>
            </a:pPr>
            <a:r>
              <a:rPr sz="930" b="0">
                <a:solidFill>
                  <a:srgbClr val="00355F"/>
                </a:solidFill>
                <a:latin typeface="Arial"/>
                <a:ea typeface="Arial"/>
                <a:cs typeface="Arial"/>
              </a:rPr>
              <a:t>Protein TAM is issuer-commissioned / disputed. Media &amp; resin TAMs withheld. Sources, scope and tickers: SOURCES.md.</a:t>
            </a:r>
          </a:p>
        </p:txBody>
      </p:sp>
    </p:spTree>
    <p:extLst>
      <p:ext uri="{BB962C8B-B14F-4D97-AF65-F5344CB8AC3E}">
        <p14:creationId xmlns:p14="http://schemas.microsoft.com/office/powerpoint/2010/main" val="39788600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9" name="">
            <a:extLst xmlns:a="http://schemas.openxmlformats.org/drawingml/2006/main">
              <a:ext uri="{FF2B5EF4-FFF2-40B4-BE49-F238E27FC236}">
                <a16:creationId xmlns:a16="http://schemas.microsoft.com/office/drawing/2014/main" id="{739C90C2-EEEA-4B84-9E56-A6BB8C931C9D}"/>
              </a:ext>
            </a:extLst>
          </p:cNvPr>
          <p:cNvPicPr>
            <a:picLocks xmlns:a="http://schemas.openxmlformats.org/drawingml/2006/main" noChangeAspect="1"/>
          </p:cNvPicPr>
          <p:nvPr/>
        </p:nvPicPr>
        <p:blipFill>
          <a:blip xmlns:r="http://schemas.openxmlformats.org/officeDocument/2006/relationships" xmlns:a="http://schemas.openxmlformats.org/drawingml/2006/main" r:embed="Rccd3555e85314e1f"/>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3 label 1 line 1">
            <a:extLst xmlns:a="http://schemas.openxmlformats.org/drawingml/2006/main">
              <a:ext uri="{FF2B5EF4-FFF2-40B4-BE49-F238E27FC236}">
                <a16:creationId xmlns:a16="http://schemas.microsoft.com/office/drawing/2014/main" id="{445F1B51-A66D-424E-A934-0C515F1D8553}"/>
              </a:ext>
            </a:extLst>
          </p:cNvPr>
          <p:cNvSpPr>
            <a:spLocks xmlns:a="http://schemas.openxmlformats.org/drawingml/2006/main" noGrp="1"/>
          </p:cNvSpPr>
          <p:nvPr/>
        </p:nvSpPr>
        <p:spPr>
          <a:xfrm xmlns:a="http://schemas.openxmlformats.org/drawingml/2006/main" rot="0">
            <a:off x="982599" y="270891"/>
            <a:ext cx="9514225"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Fewer molecules. Deeper experimental data.</a:t>
            </a:r>
          </a:p>
        </p:txBody>
      </p:sp>
      <p:sp>
        <p:nvSpPr>
          <p:cNvPr id="3" name="Figure 13 label 2 line 1">
            <a:extLst xmlns:a="http://schemas.openxmlformats.org/drawingml/2006/main">
              <a:ext uri="{FF2B5EF4-FFF2-40B4-BE49-F238E27FC236}">
                <a16:creationId xmlns:a16="http://schemas.microsoft.com/office/drawing/2014/main" id="{2516B854-5941-4872-9487-FC775F2DA21A}"/>
              </a:ext>
            </a:extLst>
          </p:cNvPr>
          <p:cNvSpPr>
            <a:spLocks xmlns:a="http://schemas.openxmlformats.org/drawingml/2006/main" noGrp="1"/>
          </p:cNvSpPr>
          <p:nvPr/>
        </p:nvSpPr>
        <p:spPr>
          <a:xfrm xmlns:a="http://schemas.openxmlformats.org/drawingml/2006/main" rot="0">
            <a:off x="1008888" y="936117"/>
            <a:ext cx="9173200"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025" b="0">
                <a:solidFill>
                  <a:srgbClr val="00355F"/>
                </a:solidFill>
                <a:latin typeface="Arial"/>
                <a:ea typeface="Arial"/>
                <a:cs typeface="Arial"/>
              </a:defRPr>
            </a:defPPr>
          </a:lstStyle>
          <a:p xmlns:a="http://schemas.openxmlformats.org/drawingml/2006/main">
            <a:pPr algn="l">
              <a:lnSpc>
                <a:spcPct val="100000"/>
              </a:lnSpc>
              <a:buNone/>
              <a:defRPr sz="2025" b="0">
                <a:solidFill>
                  <a:srgbClr val="00355F"/>
                </a:solidFill>
                <a:latin typeface="Arial"/>
                <a:ea typeface="Arial"/>
                <a:cs typeface="Arial"/>
              </a:defRPr>
            </a:pPr>
            <a:r>
              <a:rPr sz="2025" b="0">
                <a:solidFill>
                  <a:srgbClr val="00355F"/>
                </a:solidFill>
                <a:latin typeface="Arial"/>
                <a:ea typeface="Arial"/>
                <a:cs typeface="Arial"/>
              </a:rPr>
              <a:t>AI may reduce candidate counts while increasing characterization per molecule</a:t>
            </a:r>
          </a:p>
        </p:txBody>
      </p:sp>
      <p:sp>
        <p:nvSpPr>
          <p:cNvPr id="4" name="Figure 13 label 3 line 1">
            <a:extLst xmlns:a="http://schemas.openxmlformats.org/drawingml/2006/main">
              <a:ext uri="{FF2B5EF4-FFF2-40B4-BE49-F238E27FC236}">
                <a16:creationId xmlns:a16="http://schemas.microsoft.com/office/drawing/2014/main" id="{A4007AEC-19C2-43D6-A7F7-35381F71DF71}"/>
              </a:ext>
            </a:extLst>
          </p:cNvPr>
          <p:cNvSpPr>
            <a:spLocks xmlns:a="http://schemas.openxmlformats.org/drawingml/2006/main" noGrp="1"/>
          </p:cNvSpPr>
          <p:nvPr/>
        </p:nvSpPr>
        <p:spPr>
          <a:xfrm xmlns:a="http://schemas.openxmlformats.org/drawingml/2006/main" rot="0">
            <a:off x="1011174" y="1385316"/>
            <a:ext cx="7935307"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From molecule throughput to data density: a potential driver of life science tools demand</a:t>
            </a:r>
          </a:p>
        </p:txBody>
      </p:sp>
      <p:sp>
        <p:nvSpPr>
          <p:cNvPr id="5" name="Figure 13 label 4 line 1">
            <a:extLst xmlns:a="http://schemas.openxmlformats.org/drawingml/2006/main">
              <a:ext uri="{FF2B5EF4-FFF2-40B4-BE49-F238E27FC236}">
                <a16:creationId xmlns:a16="http://schemas.microsoft.com/office/drawing/2014/main" id="{E7BC433F-D497-41C8-B7B1-D6C7D6C4BDED}"/>
              </a:ext>
            </a:extLst>
          </p:cNvPr>
          <p:cNvSpPr>
            <a:spLocks xmlns:a="http://schemas.openxmlformats.org/drawingml/2006/main" noGrp="1"/>
          </p:cNvSpPr>
          <p:nvPr/>
        </p:nvSpPr>
        <p:spPr>
          <a:xfrm xmlns:a="http://schemas.openxmlformats.org/drawingml/2006/main" rot="0">
            <a:off x="931926" y="2253234"/>
            <a:ext cx="4339441"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Existing data: staged screening</a:t>
            </a:r>
          </a:p>
        </p:txBody>
      </p:sp>
      <p:sp>
        <p:nvSpPr>
          <p:cNvPr id="6" name="Figure 13 label 5 line 1">
            <a:extLst xmlns:a="http://schemas.openxmlformats.org/drawingml/2006/main">
              <a:ext uri="{FF2B5EF4-FFF2-40B4-BE49-F238E27FC236}">
                <a16:creationId xmlns:a16="http://schemas.microsoft.com/office/drawing/2014/main" id="{B8344CB4-9BAF-4089-9796-91ADA832DB37}"/>
              </a:ext>
            </a:extLst>
          </p:cNvPr>
          <p:cNvSpPr>
            <a:spLocks xmlns:a="http://schemas.openxmlformats.org/drawingml/2006/main" noGrp="1"/>
          </p:cNvSpPr>
          <p:nvPr/>
        </p:nvSpPr>
        <p:spPr>
          <a:xfrm xmlns:a="http://schemas.openxmlformats.org/drawingml/2006/main" rot="0">
            <a:off x="929640" y="2727960"/>
            <a:ext cx="3431828" cy="4167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625" b="1">
                <a:solidFill>
                  <a:srgbClr val="00355F"/>
                </a:solidFill>
                <a:latin typeface="Arial"/>
                <a:ea typeface="Arial"/>
                <a:cs typeface="Arial"/>
              </a:defRPr>
            </a:defPPr>
          </a:lstStyle>
          <a:p xmlns:a="http://schemas.openxmlformats.org/drawingml/2006/main">
            <a:pPr algn="l">
              <a:lnSpc>
                <a:spcPct val="100000"/>
              </a:lnSpc>
              <a:buNone/>
              <a:defRPr sz="2625" b="1">
                <a:solidFill>
                  <a:srgbClr val="00355F"/>
                </a:solidFill>
                <a:latin typeface="Arial"/>
                <a:ea typeface="Arial"/>
                <a:cs typeface="Arial"/>
              </a:defRPr>
            </a:pPr>
            <a:r>
              <a:rPr sz="2625" b="1">
                <a:solidFill>
                  <a:srgbClr val="00355F"/>
                </a:solidFill>
                <a:latin typeface="Arial"/>
                <a:ea typeface="Arial"/>
                <a:cs typeface="Arial"/>
              </a:rPr>
              <a:t>1,000 × 1 initial label</a:t>
            </a:r>
          </a:p>
        </p:txBody>
      </p:sp>
      <p:sp>
        <p:nvSpPr>
          <p:cNvPr id="7" name="Figure 13 label 6 line 1">
            <a:extLst xmlns:a="http://schemas.openxmlformats.org/drawingml/2006/main">
              <a:ext uri="{FF2B5EF4-FFF2-40B4-BE49-F238E27FC236}">
                <a16:creationId xmlns:a16="http://schemas.microsoft.com/office/drawing/2014/main" id="{B1403661-05EE-4F0D-AC1C-EBE1E334C2D3}"/>
              </a:ext>
            </a:extLst>
          </p:cNvPr>
          <p:cNvSpPr>
            <a:spLocks xmlns:a="http://schemas.openxmlformats.org/drawingml/2006/main" noGrp="1"/>
          </p:cNvSpPr>
          <p:nvPr/>
        </p:nvSpPr>
        <p:spPr>
          <a:xfrm xmlns:a="http://schemas.openxmlformats.org/drawingml/2006/main" rot="0">
            <a:off x="935736" y="3240024"/>
            <a:ext cx="2934057"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Illustrative early single-task dataset</a:t>
            </a:r>
          </a:p>
        </p:txBody>
      </p:sp>
      <p:sp>
        <p:nvSpPr>
          <p:cNvPr id="8" name="Figure 13 label 7 line 1">
            <a:extLst xmlns:a="http://schemas.openxmlformats.org/drawingml/2006/main">
              <a:ext uri="{FF2B5EF4-FFF2-40B4-BE49-F238E27FC236}">
                <a16:creationId xmlns:a16="http://schemas.microsoft.com/office/drawing/2014/main" id="{9C366D5A-3F66-44D1-8D04-ECF1973C929A}"/>
              </a:ext>
            </a:extLst>
          </p:cNvPr>
          <p:cNvSpPr>
            <a:spLocks xmlns:a="http://schemas.openxmlformats.org/drawingml/2006/main" noGrp="1"/>
          </p:cNvSpPr>
          <p:nvPr/>
        </p:nvSpPr>
        <p:spPr>
          <a:xfrm xmlns:a="http://schemas.openxmlformats.org/drawingml/2006/main" rot="0">
            <a:off x="1563529" y="3777805"/>
            <a:ext cx="85439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Antibody</a:t>
            </a:r>
          </a:p>
        </p:txBody>
      </p:sp>
      <p:sp>
        <p:nvSpPr>
          <p:cNvPr id="9" name="Figure 13 label 8 line 1">
            <a:extLst xmlns:a="http://schemas.openxmlformats.org/drawingml/2006/main">
              <a:ext uri="{FF2B5EF4-FFF2-40B4-BE49-F238E27FC236}">
                <a16:creationId xmlns:a16="http://schemas.microsoft.com/office/drawing/2014/main" id="{042181A4-BB15-4F9F-8392-0E154CA114C3}"/>
              </a:ext>
            </a:extLst>
          </p:cNvPr>
          <p:cNvSpPr>
            <a:spLocks xmlns:a="http://schemas.openxmlformats.org/drawingml/2006/main" noGrp="1"/>
          </p:cNvSpPr>
          <p:nvPr/>
        </p:nvSpPr>
        <p:spPr>
          <a:xfrm xmlns:a="http://schemas.openxmlformats.org/drawingml/2006/main" rot="0">
            <a:off x="4192429" y="3777805"/>
            <a:ext cx="69246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Binds?</a:t>
            </a:r>
          </a:p>
        </p:txBody>
      </p:sp>
      <p:sp>
        <p:nvSpPr>
          <p:cNvPr id="10" name="Figure 13 label 9 line 1">
            <a:extLst xmlns:a="http://schemas.openxmlformats.org/drawingml/2006/main">
              <a:ext uri="{FF2B5EF4-FFF2-40B4-BE49-F238E27FC236}">
                <a16:creationId xmlns:a16="http://schemas.microsoft.com/office/drawing/2014/main" id="{2431F679-89E3-4A6D-A7BD-5CE3DDD0BB16}"/>
              </a:ext>
            </a:extLst>
          </p:cNvPr>
          <p:cNvSpPr>
            <a:spLocks xmlns:a="http://schemas.openxmlformats.org/drawingml/2006/main" noGrp="1"/>
          </p:cNvSpPr>
          <p:nvPr/>
        </p:nvSpPr>
        <p:spPr>
          <a:xfrm xmlns:a="http://schemas.openxmlformats.org/drawingml/2006/main" rot="0">
            <a:off x="1658556" y="41349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Ab-001</a:t>
            </a:r>
          </a:p>
        </p:txBody>
      </p:sp>
      <p:sp>
        <p:nvSpPr>
          <p:cNvPr id="11" name="Figure 13 label 10 line 1">
            <a:extLst xmlns:a="http://schemas.openxmlformats.org/drawingml/2006/main">
              <a:ext uri="{FF2B5EF4-FFF2-40B4-BE49-F238E27FC236}">
                <a16:creationId xmlns:a16="http://schemas.microsoft.com/office/drawing/2014/main" id="{E4539376-3DE1-44D4-9855-D018C5C778B4}"/>
              </a:ext>
            </a:extLst>
          </p:cNvPr>
          <p:cNvSpPr>
            <a:spLocks xmlns:a="http://schemas.openxmlformats.org/drawingml/2006/main" noGrp="1"/>
          </p:cNvSpPr>
          <p:nvPr/>
        </p:nvSpPr>
        <p:spPr>
          <a:xfrm xmlns:a="http://schemas.openxmlformats.org/drawingml/2006/main" rot="0">
            <a:off x="4332208" y="4126325"/>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12" name="Figure 13 label 11 line 1">
            <a:extLst xmlns:a="http://schemas.openxmlformats.org/drawingml/2006/main">
              <a:ext uri="{FF2B5EF4-FFF2-40B4-BE49-F238E27FC236}">
                <a16:creationId xmlns:a16="http://schemas.microsoft.com/office/drawing/2014/main" id="{43FA2709-FD68-48B1-846C-B79F2B24E9DD}"/>
              </a:ext>
            </a:extLst>
          </p:cNvPr>
          <p:cNvSpPr>
            <a:spLocks xmlns:a="http://schemas.openxmlformats.org/drawingml/2006/main" noGrp="1"/>
          </p:cNvSpPr>
          <p:nvPr/>
        </p:nvSpPr>
        <p:spPr>
          <a:xfrm xmlns:a="http://schemas.openxmlformats.org/drawingml/2006/main" rot="0">
            <a:off x="1658556" y="44493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Ab-002</a:t>
            </a:r>
          </a:p>
        </p:txBody>
      </p:sp>
      <p:sp>
        <p:nvSpPr>
          <p:cNvPr id="13" name="Figure 13 label 12 line 1">
            <a:extLst xmlns:a="http://schemas.openxmlformats.org/drawingml/2006/main">
              <a:ext uri="{FF2B5EF4-FFF2-40B4-BE49-F238E27FC236}">
                <a16:creationId xmlns:a16="http://schemas.microsoft.com/office/drawing/2014/main" id="{4D1CF36F-6AEA-440A-93BF-FA8E884F2A6A}"/>
              </a:ext>
            </a:extLst>
          </p:cNvPr>
          <p:cNvSpPr>
            <a:spLocks xmlns:a="http://schemas.openxmlformats.org/drawingml/2006/main" noGrp="1"/>
          </p:cNvSpPr>
          <p:nvPr/>
        </p:nvSpPr>
        <p:spPr>
          <a:xfrm xmlns:a="http://schemas.openxmlformats.org/drawingml/2006/main" rot="0">
            <a:off x="4364132" y="4440650"/>
            <a:ext cx="349061"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No</a:t>
            </a:r>
          </a:p>
        </p:txBody>
      </p:sp>
      <p:sp>
        <p:nvSpPr>
          <p:cNvPr id="14" name="Figure 13 label 13 line 1">
            <a:extLst xmlns:a="http://schemas.openxmlformats.org/drawingml/2006/main">
              <a:ext uri="{FF2B5EF4-FFF2-40B4-BE49-F238E27FC236}">
                <a16:creationId xmlns:a16="http://schemas.microsoft.com/office/drawing/2014/main" id="{B52296DE-EBCA-4C84-9D78-B392B9498E96}"/>
              </a:ext>
            </a:extLst>
          </p:cNvPr>
          <p:cNvSpPr>
            <a:spLocks xmlns:a="http://schemas.openxmlformats.org/drawingml/2006/main" noGrp="1"/>
          </p:cNvSpPr>
          <p:nvPr/>
        </p:nvSpPr>
        <p:spPr>
          <a:xfrm xmlns:a="http://schemas.openxmlformats.org/drawingml/2006/main" rot="0">
            <a:off x="1658556" y="476364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Ab-003</a:t>
            </a:r>
          </a:p>
        </p:txBody>
      </p:sp>
      <p:sp>
        <p:nvSpPr>
          <p:cNvPr id="15" name="Figure 13 label 14 line 1">
            <a:extLst xmlns:a="http://schemas.openxmlformats.org/drawingml/2006/main">
              <a:ext uri="{FF2B5EF4-FFF2-40B4-BE49-F238E27FC236}">
                <a16:creationId xmlns:a16="http://schemas.microsoft.com/office/drawing/2014/main" id="{85F0E3D5-1A6F-4E02-8DAA-8B14E004B799}"/>
              </a:ext>
            </a:extLst>
          </p:cNvPr>
          <p:cNvSpPr>
            <a:spLocks xmlns:a="http://schemas.openxmlformats.org/drawingml/2006/main" noGrp="1"/>
          </p:cNvSpPr>
          <p:nvPr/>
        </p:nvSpPr>
        <p:spPr>
          <a:xfrm xmlns:a="http://schemas.openxmlformats.org/drawingml/2006/main" rot="0">
            <a:off x="4332208" y="4754975"/>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16" name="Figure 13 label 15 line 1">
            <a:extLst xmlns:a="http://schemas.openxmlformats.org/drawingml/2006/main">
              <a:ext uri="{FF2B5EF4-FFF2-40B4-BE49-F238E27FC236}">
                <a16:creationId xmlns:a16="http://schemas.microsoft.com/office/drawing/2014/main" id="{7E5D9D77-11C2-4934-BECB-091BBBE318A1}"/>
              </a:ext>
            </a:extLst>
          </p:cNvPr>
          <p:cNvSpPr>
            <a:spLocks xmlns:a="http://schemas.openxmlformats.org/drawingml/2006/main" noGrp="1"/>
          </p:cNvSpPr>
          <p:nvPr/>
        </p:nvSpPr>
        <p:spPr>
          <a:xfrm xmlns:a="http://schemas.openxmlformats.org/drawingml/2006/main" rot="0">
            <a:off x="1658556" y="507796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Ab-004</a:t>
            </a:r>
          </a:p>
        </p:txBody>
      </p:sp>
      <p:sp>
        <p:nvSpPr>
          <p:cNvPr id="17" name="Figure 13 label 16 line 1">
            <a:extLst xmlns:a="http://schemas.openxmlformats.org/drawingml/2006/main">
              <a:ext uri="{FF2B5EF4-FFF2-40B4-BE49-F238E27FC236}">
                <a16:creationId xmlns:a16="http://schemas.microsoft.com/office/drawing/2014/main" id="{D0752F16-AC36-4107-92EB-F153AA74870D}"/>
              </a:ext>
            </a:extLst>
          </p:cNvPr>
          <p:cNvSpPr>
            <a:spLocks xmlns:a="http://schemas.openxmlformats.org/drawingml/2006/main" noGrp="1"/>
          </p:cNvSpPr>
          <p:nvPr/>
        </p:nvSpPr>
        <p:spPr>
          <a:xfrm xmlns:a="http://schemas.openxmlformats.org/drawingml/2006/main" rot="0">
            <a:off x="4332208" y="5069300"/>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18" name="Figure 13 label 17 line 1">
            <a:extLst xmlns:a="http://schemas.openxmlformats.org/drawingml/2006/main">
              <a:ext uri="{FF2B5EF4-FFF2-40B4-BE49-F238E27FC236}">
                <a16:creationId xmlns:a16="http://schemas.microsoft.com/office/drawing/2014/main" id="{638BFF8D-3849-446A-A748-A73FBC3AC532}"/>
              </a:ext>
            </a:extLst>
          </p:cNvPr>
          <p:cNvSpPr>
            <a:spLocks xmlns:a="http://schemas.openxmlformats.org/drawingml/2006/main" noGrp="1"/>
          </p:cNvSpPr>
          <p:nvPr/>
        </p:nvSpPr>
        <p:spPr>
          <a:xfrm xmlns:a="http://schemas.openxmlformats.org/drawingml/2006/main" rot="0">
            <a:off x="1658556" y="53922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Ab-005</a:t>
            </a:r>
          </a:p>
        </p:txBody>
      </p:sp>
      <p:sp>
        <p:nvSpPr>
          <p:cNvPr id="19" name="Figure 13 label 18 line 1">
            <a:extLst xmlns:a="http://schemas.openxmlformats.org/drawingml/2006/main">
              <a:ext uri="{FF2B5EF4-FFF2-40B4-BE49-F238E27FC236}">
                <a16:creationId xmlns:a16="http://schemas.microsoft.com/office/drawing/2014/main" id="{756D27D4-6B43-4395-A1CB-52C37538B31C}"/>
              </a:ext>
            </a:extLst>
          </p:cNvPr>
          <p:cNvSpPr>
            <a:spLocks xmlns:a="http://schemas.openxmlformats.org/drawingml/2006/main" noGrp="1"/>
          </p:cNvSpPr>
          <p:nvPr/>
        </p:nvSpPr>
        <p:spPr>
          <a:xfrm xmlns:a="http://schemas.openxmlformats.org/drawingml/2006/main" rot="0">
            <a:off x="4364132" y="5383625"/>
            <a:ext cx="349061"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No</a:t>
            </a:r>
          </a:p>
        </p:txBody>
      </p:sp>
      <p:sp>
        <p:nvSpPr>
          <p:cNvPr id="20" name="Figure 13 label 19 line 1">
            <a:extLst xmlns:a="http://schemas.openxmlformats.org/drawingml/2006/main">
              <a:ext uri="{FF2B5EF4-FFF2-40B4-BE49-F238E27FC236}">
                <a16:creationId xmlns:a16="http://schemas.microsoft.com/office/drawing/2014/main" id="{CD5C0B09-6F83-48C7-8579-49CF1D14FF7B}"/>
              </a:ext>
            </a:extLst>
          </p:cNvPr>
          <p:cNvSpPr>
            <a:spLocks xmlns:a="http://schemas.openxmlformats.org/drawingml/2006/main" noGrp="1"/>
          </p:cNvSpPr>
          <p:nvPr/>
        </p:nvSpPr>
        <p:spPr>
          <a:xfrm xmlns:a="http://schemas.openxmlformats.org/drawingml/2006/main" rot="0">
            <a:off x="1658556" y="57066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Ab-006</a:t>
            </a:r>
          </a:p>
        </p:txBody>
      </p:sp>
      <p:sp>
        <p:nvSpPr>
          <p:cNvPr id="21" name="Figure 13 label 20 line 1">
            <a:extLst xmlns:a="http://schemas.openxmlformats.org/drawingml/2006/main">
              <a:ext uri="{FF2B5EF4-FFF2-40B4-BE49-F238E27FC236}">
                <a16:creationId xmlns:a16="http://schemas.microsoft.com/office/drawing/2014/main" id="{75F184DC-5D00-4C63-BC47-28858906FFB1}"/>
              </a:ext>
            </a:extLst>
          </p:cNvPr>
          <p:cNvSpPr>
            <a:spLocks xmlns:a="http://schemas.openxmlformats.org/drawingml/2006/main" noGrp="1"/>
          </p:cNvSpPr>
          <p:nvPr/>
        </p:nvSpPr>
        <p:spPr>
          <a:xfrm xmlns:a="http://schemas.openxmlformats.org/drawingml/2006/main" rot="0">
            <a:off x="4332208" y="5697950"/>
            <a:ext cx="412909"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Yes</a:t>
            </a:r>
          </a:p>
        </p:txBody>
      </p:sp>
      <p:sp>
        <p:nvSpPr>
          <p:cNvPr id="22" name="Figure 13 label 21 line 1">
            <a:extLst xmlns:a="http://schemas.openxmlformats.org/drawingml/2006/main">
              <a:ext uri="{FF2B5EF4-FFF2-40B4-BE49-F238E27FC236}">
                <a16:creationId xmlns:a16="http://schemas.microsoft.com/office/drawing/2014/main" id="{30F9CCBC-C5C4-4DE9-8449-EB24AF882B18}"/>
              </a:ext>
            </a:extLst>
          </p:cNvPr>
          <p:cNvSpPr>
            <a:spLocks xmlns:a="http://schemas.openxmlformats.org/drawingml/2006/main" noGrp="1"/>
          </p:cNvSpPr>
          <p:nvPr/>
        </p:nvSpPr>
        <p:spPr>
          <a:xfrm xmlns:a="http://schemas.openxmlformats.org/drawingml/2006/main" rot="0">
            <a:off x="934593" y="6058662"/>
            <a:ext cx="4398050"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Binding first; deeper tests for selected hits</a:t>
            </a:r>
          </a:p>
        </p:txBody>
      </p:sp>
      <p:sp>
        <p:nvSpPr>
          <p:cNvPr id="23" name="Figure 13 label 22 line 1">
            <a:extLst xmlns:a="http://schemas.openxmlformats.org/drawingml/2006/main">
              <a:ext uri="{FF2B5EF4-FFF2-40B4-BE49-F238E27FC236}">
                <a16:creationId xmlns:a16="http://schemas.microsoft.com/office/drawing/2014/main" id="{E919EE01-C35F-480F-A744-52275B622BA3}"/>
              </a:ext>
            </a:extLst>
          </p:cNvPr>
          <p:cNvSpPr>
            <a:spLocks xmlns:a="http://schemas.openxmlformats.org/drawingml/2006/main" noGrp="1"/>
          </p:cNvSpPr>
          <p:nvPr/>
        </p:nvSpPr>
        <p:spPr>
          <a:xfrm xmlns:a="http://schemas.openxmlformats.org/drawingml/2006/main" rot="0">
            <a:off x="936117" y="6415278"/>
            <a:ext cx="333223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Multi-assay characterization already exists</a:t>
            </a:r>
          </a:p>
        </p:txBody>
      </p:sp>
      <p:sp>
        <p:nvSpPr>
          <p:cNvPr id="24" name="Figure 13 label 23 line 1">
            <a:extLst xmlns:a="http://schemas.openxmlformats.org/drawingml/2006/main">
              <a:ext uri="{FF2B5EF4-FFF2-40B4-BE49-F238E27FC236}">
                <a16:creationId xmlns:a16="http://schemas.microsoft.com/office/drawing/2014/main" id="{8100E512-2626-478E-8AE0-6AF74166582A}"/>
              </a:ext>
            </a:extLst>
          </p:cNvPr>
          <p:cNvSpPr>
            <a:spLocks xmlns:a="http://schemas.openxmlformats.org/drawingml/2006/main" noGrp="1"/>
          </p:cNvSpPr>
          <p:nvPr/>
        </p:nvSpPr>
        <p:spPr>
          <a:xfrm xmlns:a="http://schemas.openxmlformats.org/drawingml/2006/main" rot="0">
            <a:off x="7208901" y="2253234"/>
            <a:ext cx="4062919"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AI: richer, linked training data</a:t>
            </a:r>
          </a:p>
        </p:txBody>
      </p:sp>
      <p:sp>
        <p:nvSpPr>
          <p:cNvPr id="25" name="Figure 13 label 24 line 1">
            <a:extLst xmlns:a="http://schemas.openxmlformats.org/drawingml/2006/main">
              <a:ext uri="{FF2B5EF4-FFF2-40B4-BE49-F238E27FC236}">
                <a16:creationId xmlns:a16="http://schemas.microsoft.com/office/drawing/2014/main" id="{76522059-16FD-4DCB-A71D-EBAF961B27AB}"/>
              </a:ext>
            </a:extLst>
          </p:cNvPr>
          <p:cNvSpPr>
            <a:spLocks xmlns:a="http://schemas.openxmlformats.org/drawingml/2006/main" noGrp="1"/>
          </p:cNvSpPr>
          <p:nvPr/>
        </p:nvSpPr>
        <p:spPr>
          <a:xfrm xmlns:a="http://schemas.openxmlformats.org/drawingml/2006/main" rot="0">
            <a:off x="7206615" y="2727960"/>
            <a:ext cx="6794153" cy="4167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625" b="1">
                <a:solidFill>
                  <a:srgbClr val="00355F"/>
                </a:solidFill>
                <a:latin typeface="Arial"/>
                <a:ea typeface="Arial"/>
                <a:cs typeface="Arial"/>
              </a:defRPr>
            </a:defPPr>
          </a:lstStyle>
          <a:p xmlns:a="http://schemas.openxmlformats.org/drawingml/2006/main">
            <a:pPr algn="l">
              <a:lnSpc>
                <a:spcPct val="100000"/>
              </a:lnSpc>
              <a:buNone/>
              <a:defRPr sz="2625" b="1">
                <a:solidFill>
                  <a:srgbClr val="00355F"/>
                </a:solidFill>
                <a:latin typeface="Arial"/>
                <a:ea typeface="Arial"/>
                <a:cs typeface="Arial"/>
              </a:defRPr>
            </a:pPr>
            <a:r>
              <a:rPr sz="2625" b="1">
                <a:solidFill>
                  <a:srgbClr val="00355F"/>
                </a:solidFill>
                <a:latin typeface="Arial"/>
                <a:ea typeface="Arial"/>
                <a:cs typeface="Arial"/>
              </a:rPr>
              <a:t>300–1,000 antibodies · Up to 9 label types</a:t>
            </a:r>
          </a:p>
        </p:txBody>
      </p:sp>
      <p:sp>
        <p:nvSpPr>
          <p:cNvPr id="26" name="Figure 13 label 25 line 1">
            <a:extLst xmlns:a="http://schemas.openxmlformats.org/drawingml/2006/main">
              <a:ext uri="{FF2B5EF4-FFF2-40B4-BE49-F238E27FC236}">
                <a16:creationId xmlns:a16="http://schemas.microsoft.com/office/drawing/2014/main" id="{5213E46A-AF06-43ED-82F0-EA1FBE48C77C}"/>
              </a:ext>
            </a:extLst>
          </p:cNvPr>
          <p:cNvSpPr>
            <a:spLocks xmlns:a="http://schemas.openxmlformats.org/drawingml/2006/main" noGrp="1"/>
          </p:cNvSpPr>
          <p:nvPr/>
        </p:nvSpPr>
        <p:spPr>
          <a:xfrm xmlns:a="http://schemas.openxmlformats.org/drawingml/2006/main" rot="0">
            <a:off x="7212711" y="3240024"/>
            <a:ext cx="60829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Measure selected properties on shared molecules; fill the information gaps</a:t>
            </a:r>
          </a:p>
        </p:txBody>
      </p:sp>
      <p:sp>
        <p:nvSpPr>
          <p:cNvPr id="27" name="Figure 13 label 26 line 1">
            <a:extLst xmlns:a="http://schemas.openxmlformats.org/drawingml/2006/main">
              <a:ext uri="{FF2B5EF4-FFF2-40B4-BE49-F238E27FC236}">
                <a16:creationId xmlns:a16="http://schemas.microsoft.com/office/drawing/2014/main" id="{D1E2FCCB-060E-46EE-9BA7-8BA5E5F76444}"/>
              </a:ext>
            </a:extLst>
          </p:cNvPr>
          <p:cNvSpPr>
            <a:spLocks xmlns:a="http://schemas.openxmlformats.org/drawingml/2006/main" noGrp="1"/>
          </p:cNvSpPr>
          <p:nvPr/>
        </p:nvSpPr>
        <p:spPr>
          <a:xfrm xmlns:a="http://schemas.openxmlformats.org/drawingml/2006/main" rot="0">
            <a:off x="7354729" y="3777805"/>
            <a:ext cx="85439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Antibody</a:t>
            </a:r>
          </a:p>
        </p:txBody>
      </p:sp>
      <p:sp>
        <p:nvSpPr>
          <p:cNvPr id="28" name="Figure 13 label 27 line 1">
            <a:extLst xmlns:a="http://schemas.openxmlformats.org/drawingml/2006/main">
              <a:ext uri="{FF2B5EF4-FFF2-40B4-BE49-F238E27FC236}">
                <a16:creationId xmlns:a16="http://schemas.microsoft.com/office/drawing/2014/main" id="{FEC6CB89-9DF1-414F-8134-7AC1D5CE3C3B}"/>
              </a:ext>
            </a:extLst>
          </p:cNvPr>
          <p:cNvSpPr>
            <a:spLocks xmlns:a="http://schemas.openxmlformats.org/drawingml/2006/main" noGrp="1"/>
          </p:cNvSpPr>
          <p:nvPr/>
        </p:nvSpPr>
        <p:spPr>
          <a:xfrm xmlns:a="http://schemas.openxmlformats.org/drawingml/2006/main" rot="0">
            <a:off x="8612029" y="3777805"/>
            <a:ext cx="359093"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KD</a:t>
            </a:r>
          </a:p>
        </p:txBody>
      </p:sp>
      <p:sp>
        <p:nvSpPr>
          <p:cNvPr id="29" name="Figure 13 label 28 line 1">
            <a:extLst xmlns:a="http://schemas.openxmlformats.org/drawingml/2006/main">
              <a:ext uri="{FF2B5EF4-FFF2-40B4-BE49-F238E27FC236}">
                <a16:creationId xmlns:a16="http://schemas.microsoft.com/office/drawing/2014/main" id="{348F9C10-BD60-412B-85B4-87107A610036}"/>
              </a:ext>
            </a:extLst>
          </p:cNvPr>
          <p:cNvSpPr>
            <a:spLocks xmlns:a="http://schemas.openxmlformats.org/drawingml/2006/main" noGrp="1"/>
          </p:cNvSpPr>
          <p:nvPr/>
        </p:nvSpPr>
        <p:spPr>
          <a:xfrm xmlns:a="http://schemas.openxmlformats.org/drawingml/2006/main" rot="0">
            <a:off x="9478729" y="3777805"/>
            <a:ext cx="41639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kon</a:t>
            </a:r>
          </a:p>
        </p:txBody>
      </p:sp>
      <p:sp>
        <p:nvSpPr>
          <p:cNvPr id="30" name="Figure 13 label 29 line 1">
            <a:extLst xmlns:a="http://schemas.openxmlformats.org/drawingml/2006/main">
              <a:ext uri="{FF2B5EF4-FFF2-40B4-BE49-F238E27FC236}">
                <a16:creationId xmlns:a16="http://schemas.microsoft.com/office/drawing/2014/main" id="{5866BC79-F8C9-487C-A645-AE539ABEE6BD}"/>
              </a:ext>
            </a:extLst>
          </p:cNvPr>
          <p:cNvSpPr>
            <a:spLocks xmlns:a="http://schemas.openxmlformats.org/drawingml/2006/main" noGrp="1"/>
          </p:cNvSpPr>
          <p:nvPr/>
        </p:nvSpPr>
        <p:spPr>
          <a:xfrm xmlns:a="http://schemas.openxmlformats.org/drawingml/2006/main" rot="0">
            <a:off x="10369391" y="3777805"/>
            <a:ext cx="42576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koff</a:t>
            </a:r>
          </a:p>
        </p:txBody>
      </p:sp>
      <p:sp>
        <p:nvSpPr>
          <p:cNvPr id="31" name="Figure 13 label 30 line 1">
            <a:extLst xmlns:a="http://schemas.openxmlformats.org/drawingml/2006/main">
              <a:ext uri="{FF2B5EF4-FFF2-40B4-BE49-F238E27FC236}">
                <a16:creationId xmlns:a16="http://schemas.microsoft.com/office/drawing/2014/main" id="{53C7DD7A-F279-4309-90B8-62E9AF77D966}"/>
              </a:ext>
            </a:extLst>
          </p:cNvPr>
          <p:cNvSpPr>
            <a:spLocks xmlns:a="http://schemas.openxmlformats.org/drawingml/2006/main" noGrp="1"/>
          </p:cNvSpPr>
          <p:nvPr/>
        </p:nvSpPr>
        <p:spPr>
          <a:xfrm xmlns:a="http://schemas.openxmlformats.org/drawingml/2006/main" rot="0">
            <a:off x="11393180" y="3777805"/>
            <a:ext cx="47369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expr</a:t>
            </a:r>
          </a:p>
        </p:txBody>
      </p:sp>
      <p:sp>
        <p:nvSpPr>
          <p:cNvPr id="32" name="Figure 13 label 31 line 1">
            <a:extLst xmlns:a="http://schemas.openxmlformats.org/drawingml/2006/main">
              <a:ext uri="{FF2B5EF4-FFF2-40B4-BE49-F238E27FC236}">
                <a16:creationId xmlns:a16="http://schemas.microsoft.com/office/drawing/2014/main" id="{CC0A4AD8-1E52-4998-A9FE-1804FC67ACDF}"/>
              </a:ext>
            </a:extLst>
          </p:cNvPr>
          <p:cNvSpPr>
            <a:spLocks xmlns:a="http://schemas.openxmlformats.org/drawingml/2006/main" noGrp="1"/>
          </p:cNvSpPr>
          <p:nvPr/>
        </p:nvSpPr>
        <p:spPr>
          <a:xfrm xmlns:a="http://schemas.openxmlformats.org/drawingml/2006/main" rot="0">
            <a:off x="12445841" y="3777805"/>
            <a:ext cx="36861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Tm</a:t>
            </a:r>
          </a:p>
        </p:txBody>
      </p:sp>
      <p:sp>
        <p:nvSpPr>
          <p:cNvPr id="33" name="Figure 13 label 32 line 1">
            <a:extLst xmlns:a="http://schemas.openxmlformats.org/drawingml/2006/main">
              <a:ext uri="{FF2B5EF4-FFF2-40B4-BE49-F238E27FC236}">
                <a16:creationId xmlns:a16="http://schemas.microsoft.com/office/drawing/2014/main" id="{3F3C245E-76D4-43B8-BE33-D4CEDDBA0114}"/>
              </a:ext>
            </a:extLst>
          </p:cNvPr>
          <p:cNvSpPr>
            <a:spLocks xmlns:a="http://schemas.openxmlformats.org/drawingml/2006/main" noGrp="1"/>
          </p:cNvSpPr>
          <p:nvPr/>
        </p:nvSpPr>
        <p:spPr>
          <a:xfrm xmlns:a="http://schemas.openxmlformats.org/drawingml/2006/main" rot="0">
            <a:off x="13307779" y="3777805"/>
            <a:ext cx="41639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agg</a:t>
            </a:r>
          </a:p>
        </p:txBody>
      </p:sp>
      <p:sp>
        <p:nvSpPr>
          <p:cNvPr id="34" name="Figure 13 label 33 line 1">
            <a:extLst xmlns:a="http://schemas.openxmlformats.org/drawingml/2006/main">
              <a:ext uri="{FF2B5EF4-FFF2-40B4-BE49-F238E27FC236}">
                <a16:creationId xmlns:a16="http://schemas.microsoft.com/office/drawing/2014/main" id="{B86AFF82-BBEA-4242-B311-8C27BFE241DC}"/>
              </a:ext>
            </a:extLst>
          </p:cNvPr>
          <p:cNvSpPr>
            <a:spLocks xmlns:a="http://schemas.openxmlformats.org/drawingml/2006/main" noGrp="1"/>
          </p:cNvSpPr>
          <p:nvPr/>
        </p:nvSpPr>
        <p:spPr>
          <a:xfrm xmlns:a="http://schemas.openxmlformats.org/drawingml/2006/main" rot="0">
            <a:off x="14312667" y="3777805"/>
            <a:ext cx="46401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poly</a:t>
            </a:r>
          </a:p>
        </p:txBody>
      </p:sp>
      <p:sp>
        <p:nvSpPr>
          <p:cNvPr id="35" name="Figure 13 label 34 line 1">
            <a:extLst xmlns:a="http://schemas.openxmlformats.org/drawingml/2006/main">
              <a:ext uri="{FF2B5EF4-FFF2-40B4-BE49-F238E27FC236}">
                <a16:creationId xmlns:a16="http://schemas.microsoft.com/office/drawing/2014/main" id="{BF81C8F4-3B47-477C-AB74-7DD114417851}"/>
              </a:ext>
            </a:extLst>
          </p:cNvPr>
          <p:cNvSpPr>
            <a:spLocks xmlns:a="http://schemas.openxmlformats.org/drawingml/2006/main" noGrp="1"/>
          </p:cNvSpPr>
          <p:nvPr/>
        </p:nvSpPr>
        <p:spPr>
          <a:xfrm xmlns:a="http://schemas.openxmlformats.org/drawingml/2006/main" rot="0">
            <a:off x="15403279" y="3777805"/>
            <a:ext cx="35924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epi</a:t>
            </a:r>
          </a:p>
        </p:txBody>
      </p:sp>
      <p:sp>
        <p:nvSpPr>
          <p:cNvPr id="36" name="Figure 13 label 35 line 1">
            <a:extLst xmlns:a="http://schemas.openxmlformats.org/drawingml/2006/main">
              <a:ext uri="{FF2B5EF4-FFF2-40B4-BE49-F238E27FC236}">
                <a16:creationId xmlns:a16="http://schemas.microsoft.com/office/drawing/2014/main" id="{89697B11-D640-4323-8F6C-D621A0792CC9}"/>
              </a:ext>
            </a:extLst>
          </p:cNvPr>
          <p:cNvSpPr>
            <a:spLocks xmlns:a="http://schemas.openxmlformats.org/drawingml/2006/main" noGrp="1"/>
          </p:cNvSpPr>
          <p:nvPr/>
        </p:nvSpPr>
        <p:spPr>
          <a:xfrm xmlns:a="http://schemas.openxmlformats.org/drawingml/2006/main" rot="0">
            <a:off x="16508105" y="3777805"/>
            <a:ext cx="39749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1">
                <a:solidFill>
                  <a:srgbClr val="FFFFFF"/>
                </a:solidFill>
                <a:latin typeface="Arial"/>
                <a:ea typeface="Arial"/>
                <a:cs typeface="Arial"/>
              </a:defRPr>
            </a:defPPr>
          </a:lstStyle>
          <a:p xmlns:a="http://schemas.openxmlformats.org/drawingml/2006/main">
            <a:pPr algn="ctr">
              <a:lnSpc>
                <a:spcPct val="100000"/>
              </a:lnSpc>
              <a:buNone/>
              <a:defRPr sz="1350" b="1">
                <a:solidFill>
                  <a:srgbClr val="FFFFFF"/>
                </a:solidFill>
                <a:latin typeface="Arial"/>
                <a:ea typeface="Arial"/>
                <a:cs typeface="Arial"/>
              </a:defRPr>
            </a:pPr>
            <a:r>
              <a:rPr sz="1350" b="1">
                <a:solidFill>
                  <a:srgbClr val="FFFFFF"/>
                </a:solidFill>
                <a:latin typeface="Arial"/>
                <a:ea typeface="Arial"/>
                <a:cs typeface="Arial"/>
              </a:rPr>
              <a:t>cell</a:t>
            </a:r>
          </a:p>
        </p:txBody>
      </p:sp>
      <p:sp>
        <p:nvSpPr>
          <p:cNvPr id="37" name="Figure 13 label 36 line 1">
            <a:extLst xmlns:a="http://schemas.openxmlformats.org/drawingml/2006/main">
              <a:ext uri="{FF2B5EF4-FFF2-40B4-BE49-F238E27FC236}">
                <a16:creationId xmlns:a16="http://schemas.microsoft.com/office/drawing/2014/main" id="{BF11E8F4-CF36-4BB6-AFD7-39F6EDEF5083}"/>
              </a:ext>
            </a:extLst>
          </p:cNvPr>
          <p:cNvSpPr>
            <a:spLocks xmlns:a="http://schemas.openxmlformats.org/drawingml/2006/main" noGrp="1"/>
          </p:cNvSpPr>
          <p:nvPr/>
        </p:nvSpPr>
        <p:spPr>
          <a:xfrm xmlns:a="http://schemas.openxmlformats.org/drawingml/2006/main" rot="0">
            <a:off x="7449756" y="41349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Ab-001</a:t>
            </a:r>
          </a:p>
        </p:txBody>
      </p:sp>
      <p:sp>
        <p:nvSpPr>
          <p:cNvPr id="38" name="Figure 13 label 37 line 1">
            <a:extLst xmlns:a="http://schemas.openxmlformats.org/drawingml/2006/main">
              <a:ext uri="{FF2B5EF4-FFF2-40B4-BE49-F238E27FC236}">
                <a16:creationId xmlns:a16="http://schemas.microsoft.com/office/drawing/2014/main" id="{A4B2DFC1-D842-4392-852C-A13BD14CAD18}"/>
              </a:ext>
            </a:extLst>
          </p:cNvPr>
          <p:cNvSpPr>
            <a:spLocks xmlns:a="http://schemas.openxmlformats.org/drawingml/2006/main" noGrp="1"/>
          </p:cNvSpPr>
          <p:nvPr/>
        </p:nvSpPr>
        <p:spPr>
          <a:xfrm xmlns:a="http://schemas.openxmlformats.org/drawingml/2006/main" rot="0">
            <a:off x="8581772" y="41263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120</a:t>
            </a:r>
          </a:p>
        </p:txBody>
      </p:sp>
      <p:sp>
        <p:nvSpPr>
          <p:cNvPr id="39" name="Figure 13 label 38 line 1">
            <a:extLst xmlns:a="http://schemas.openxmlformats.org/drawingml/2006/main">
              <a:ext uri="{FF2B5EF4-FFF2-40B4-BE49-F238E27FC236}">
                <a16:creationId xmlns:a16="http://schemas.microsoft.com/office/drawing/2014/main" id="{A6FA7046-334C-49E2-BA5B-F85334F6A7E2}"/>
              </a:ext>
            </a:extLst>
          </p:cNvPr>
          <p:cNvSpPr>
            <a:spLocks xmlns:a="http://schemas.openxmlformats.org/drawingml/2006/main" noGrp="1"/>
          </p:cNvSpPr>
          <p:nvPr/>
        </p:nvSpPr>
        <p:spPr>
          <a:xfrm xmlns:a="http://schemas.openxmlformats.org/drawingml/2006/main" rot="0">
            <a:off x="942674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7200</a:t>
            </a:r>
          </a:p>
        </p:txBody>
      </p:sp>
      <p:sp>
        <p:nvSpPr>
          <p:cNvPr id="40" name="Figure 13 label 39 line 1">
            <a:extLst xmlns:a="http://schemas.openxmlformats.org/drawingml/2006/main">
              <a:ext uri="{FF2B5EF4-FFF2-40B4-BE49-F238E27FC236}">
                <a16:creationId xmlns:a16="http://schemas.microsoft.com/office/drawing/2014/main" id="{9A07A89F-197B-4810-BD5A-B82B408BE37A}"/>
              </a:ext>
            </a:extLst>
          </p:cNvPr>
          <p:cNvSpPr>
            <a:spLocks xmlns:a="http://schemas.openxmlformats.org/drawingml/2006/main" noGrp="1"/>
          </p:cNvSpPr>
          <p:nvPr/>
        </p:nvSpPr>
        <p:spPr>
          <a:xfrm xmlns:a="http://schemas.openxmlformats.org/drawingml/2006/main" rot="0">
            <a:off x="1032209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1800</a:t>
            </a:r>
          </a:p>
        </p:txBody>
      </p:sp>
      <p:sp>
        <p:nvSpPr>
          <p:cNvPr id="41" name="Figure 13 label 40 line 1">
            <a:extLst xmlns:a="http://schemas.openxmlformats.org/drawingml/2006/main">
              <a:ext uri="{FF2B5EF4-FFF2-40B4-BE49-F238E27FC236}">
                <a16:creationId xmlns:a16="http://schemas.microsoft.com/office/drawing/2014/main" id="{365D9625-9CC1-4222-A37D-0442DD2DFAAA}"/>
              </a:ext>
            </a:extLst>
          </p:cNvPr>
          <p:cNvSpPr>
            <a:spLocks xmlns:a="http://schemas.openxmlformats.org/drawingml/2006/main" noGrp="1"/>
          </p:cNvSpPr>
          <p:nvPr/>
        </p:nvSpPr>
        <p:spPr>
          <a:xfrm xmlns:a="http://schemas.openxmlformats.org/drawingml/2006/main" rot="0">
            <a:off x="1136984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8400</a:t>
            </a:r>
          </a:p>
        </p:txBody>
      </p:sp>
      <p:sp>
        <p:nvSpPr>
          <p:cNvPr id="42" name="Figure 13 label 41 line 1">
            <a:extLst xmlns:a="http://schemas.openxmlformats.org/drawingml/2006/main">
              <a:ext uri="{FF2B5EF4-FFF2-40B4-BE49-F238E27FC236}">
                <a16:creationId xmlns:a16="http://schemas.microsoft.com/office/drawing/2014/main" id="{85A6DCD3-F198-4CED-AC04-201C45E58596}"/>
              </a:ext>
            </a:extLst>
          </p:cNvPr>
          <p:cNvSpPr>
            <a:spLocks xmlns:a="http://schemas.openxmlformats.org/drawingml/2006/main" noGrp="1"/>
          </p:cNvSpPr>
          <p:nvPr/>
        </p:nvSpPr>
        <p:spPr>
          <a:xfrm xmlns:a="http://schemas.openxmlformats.org/drawingml/2006/main" rot="0">
            <a:off x="12369969"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5100</a:t>
            </a:r>
          </a:p>
        </p:txBody>
      </p:sp>
      <p:sp>
        <p:nvSpPr>
          <p:cNvPr id="43" name="Figure 13 label 42 line 1">
            <a:extLst xmlns:a="http://schemas.openxmlformats.org/drawingml/2006/main">
              <a:ext uri="{FF2B5EF4-FFF2-40B4-BE49-F238E27FC236}">
                <a16:creationId xmlns:a16="http://schemas.microsoft.com/office/drawing/2014/main" id="{9D3376E3-6B8B-48C4-AA72-8313C08C83F4}"/>
              </a:ext>
            </a:extLst>
          </p:cNvPr>
          <p:cNvSpPr>
            <a:spLocks xmlns:a="http://schemas.openxmlformats.org/drawingml/2006/main" noGrp="1"/>
          </p:cNvSpPr>
          <p:nvPr/>
        </p:nvSpPr>
        <p:spPr>
          <a:xfrm xmlns:a="http://schemas.openxmlformats.org/drawingml/2006/main" rot="0">
            <a:off x="13356476" y="4126325"/>
            <a:ext cx="318998"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75</a:t>
            </a:r>
          </a:p>
        </p:txBody>
      </p:sp>
      <p:sp>
        <p:nvSpPr>
          <p:cNvPr id="44" name="Figure 13 label 43 line 1">
            <a:extLst xmlns:a="http://schemas.openxmlformats.org/drawingml/2006/main">
              <a:ext uri="{FF2B5EF4-FFF2-40B4-BE49-F238E27FC236}">
                <a16:creationId xmlns:a16="http://schemas.microsoft.com/office/drawing/2014/main" id="{ABC37736-147E-4E65-BC4A-7C0A5210EABF}"/>
              </a:ext>
            </a:extLst>
          </p:cNvPr>
          <p:cNvSpPr>
            <a:spLocks xmlns:a="http://schemas.openxmlformats.org/drawingml/2006/main" noGrp="1"/>
          </p:cNvSpPr>
          <p:nvPr/>
        </p:nvSpPr>
        <p:spPr>
          <a:xfrm xmlns:a="http://schemas.openxmlformats.org/drawingml/2006/main" rot="0">
            <a:off x="14284494"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3200</a:t>
            </a:r>
          </a:p>
        </p:txBody>
      </p:sp>
      <p:sp>
        <p:nvSpPr>
          <p:cNvPr id="45" name="Figure 13 label 44 line 1">
            <a:extLst xmlns:a="http://schemas.openxmlformats.org/drawingml/2006/main">
              <a:ext uri="{FF2B5EF4-FFF2-40B4-BE49-F238E27FC236}">
                <a16:creationId xmlns:a16="http://schemas.microsoft.com/office/drawing/2014/main" id="{BB9B2723-BC74-4122-816A-5E1F8D9E9E23}"/>
              </a:ext>
            </a:extLst>
          </p:cNvPr>
          <p:cNvSpPr>
            <a:spLocks xmlns:a="http://schemas.openxmlformats.org/drawingml/2006/main" noGrp="1"/>
          </p:cNvSpPr>
          <p:nvPr/>
        </p:nvSpPr>
        <p:spPr>
          <a:xfrm xmlns:a="http://schemas.openxmlformats.org/drawingml/2006/main" rot="0">
            <a:off x="15322719" y="41263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9000</a:t>
            </a:r>
          </a:p>
        </p:txBody>
      </p:sp>
      <p:sp>
        <p:nvSpPr>
          <p:cNvPr id="46" name="Figure 13 label 45 line 1">
            <a:extLst xmlns:a="http://schemas.openxmlformats.org/drawingml/2006/main">
              <a:ext uri="{FF2B5EF4-FFF2-40B4-BE49-F238E27FC236}">
                <a16:creationId xmlns:a16="http://schemas.microsoft.com/office/drawing/2014/main" id="{879FB45B-9311-4BD6-B8C4-23D7A8891D94}"/>
              </a:ext>
            </a:extLst>
          </p:cNvPr>
          <p:cNvSpPr>
            <a:spLocks xmlns:a="http://schemas.openxmlformats.org/drawingml/2006/main" noGrp="1"/>
          </p:cNvSpPr>
          <p:nvPr/>
        </p:nvSpPr>
        <p:spPr>
          <a:xfrm xmlns:a="http://schemas.openxmlformats.org/drawingml/2006/main" rot="0">
            <a:off x="16497047" y="41263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430</a:t>
            </a:r>
          </a:p>
        </p:txBody>
      </p:sp>
      <p:sp>
        <p:nvSpPr>
          <p:cNvPr id="47" name="Figure 13 label 46 line 1">
            <a:extLst xmlns:a="http://schemas.openxmlformats.org/drawingml/2006/main">
              <a:ext uri="{FF2B5EF4-FFF2-40B4-BE49-F238E27FC236}">
                <a16:creationId xmlns:a16="http://schemas.microsoft.com/office/drawing/2014/main" id="{03E4A52B-C677-4E11-AB3B-5494D222C704}"/>
              </a:ext>
            </a:extLst>
          </p:cNvPr>
          <p:cNvSpPr>
            <a:spLocks xmlns:a="http://schemas.openxmlformats.org/drawingml/2006/main" noGrp="1"/>
          </p:cNvSpPr>
          <p:nvPr/>
        </p:nvSpPr>
        <p:spPr>
          <a:xfrm xmlns:a="http://schemas.openxmlformats.org/drawingml/2006/main" rot="0">
            <a:off x="7449756" y="44493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Ab-002</a:t>
            </a:r>
          </a:p>
        </p:txBody>
      </p:sp>
      <p:sp>
        <p:nvSpPr>
          <p:cNvPr id="48" name="Figure 13 label 47 line 1">
            <a:extLst xmlns:a="http://schemas.openxmlformats.org/drawingml/2006/main">
              <a:ext uri="{FF2B5EF4-FFF2-40B4-BE49-F238E27FC236}">
                <a16:creationId xmlns:a16="http://schemas.microsoft.com/office/drawing/2014/main" id="{C5D3B04D-EF71-4A01-8EBE-E3A6C5860101}"/>
              </a:ext>
            </a:extLst>
          </p:cNvPr>
          <p:cNvSpPr>
            <a:spLocks xmlns:a="http://schemas.openxmlformats.org/drawingml/2006/main" noGrp="1"/>
          </p:cNvSpPr>
          <p:nvPr/>
        </p:nvSpPr>
        <p:spPr>
          <a:xfrm xmlns:a="http://schemas.openxmlformats.org/drawingml/2006/main" rot="0">
            <a:off x="85313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8100</a:t>
            </a:r>
          </a:p>
        </p:txBody>
      </p:sp>
      <p:sp>
        <p:nvSpPr>
          <p:cNvPr id="49" name="Figure 13 label 48 line 1">
            <a:extLst xmlns:a="http://schemas.openxmlformats.org/drawingml/2006/main">
              <a:ext uri="{FF2B5EF4-FFF2-40B4-BE49-F238E27FC236}">
                <a16:creationId xmlns:a16="http://schemas.microsoft.com/office/drawing/2014/main" id="{78102D95-B787-45EC-AE72-782C3887E37B}"/>
              </a:ext>
            </a:extLst>
          </p:cNvPr>
          <p:cNvSpPr>
            <a:spLocks xmlns:a="http://schemas.openxmlformats.org/drawingml/2006/main" noGrp="1"/>
          </p:cNvSpPr>
          <p:nvPr/>
        </p:nvSpPr>
        <p:spPr>
          <a:xfrm xmlns:a="http://schemas.openxmlformats.org/drawingml/2006/main" rot="0">
            <a:off x="9477122" y="444065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640</a:t>
            </a:r>
          </a:p>
        </p:txBody>
      </p:sp>
      <p:sp>
        <p:nvSpPr>
          <p:cNvPr id="50" name="Figure 13 label 49 line 1">
            <a:extLst xmlns:a="http://schemas.openxmlformats.org/drawingml/2006/main">
              <a:ext uri="{FF2B5EF4-FFF2-40B4-BE49-F238E27FC236}">
                <a16:creationId xmlns:a16="http://schemas.microsoft.com/office/drawing/2014/main" id="{ED0F4897-71DD-4FC4-9742-FBB2AC539B87}"/>
              </a:ext>
            </a:extLst>
          </p:cNvPr>
          <p:cNvSpPr>
            <a:spLocks xmlns:a="http://schemas.openxmlformats.org/drawingml/2006/main" noGrp="1"/>
          </p:cNvSpPr>
          <p:nvPr/>
        </p:nvSpPr>
        <p:spPr>
          <a:xfrm xmlns:a="http://schemas.openxmlformats.org/drawingml/2006/main" rot="0">
            <a:off x="103220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5400</a:t>
            </a:r>
          </a:p>
        </p:txBody>
      </p:sp>
      <p:sp>
        <p:nvSpPr>
          <p:cNvPr id="51" name="Figure 13 label 50 line 1">
            <a:extLst xmlns:a="http://schemas.openxmlformats.org/drawingml/2006/main">
              <a:ext uri="{FF2B5EF4-FFF2-40B4-BE49-F238E27FC236}">
                <a16:creationId xmlns:a16="http://schemas.microsoft.com/office/drawing/2014/main" id="{17422420-7D18-4D19-A474-556524ACE68B}"/>
              </a:ext>
            </a:extLst>
          </p:cNvPr>
          <p:cNvSpPr>
            <a:spLocks xmlns:a="http://schemas.openxmlformats.org/drawingml/2006/main" noGrp="1"/>
          </p:cNvSpPr>
          <p:nvPr/>
        </p:nvSpPr>
        <p:spPr>
          <a:xfrm xmlns:a="http://schemas.openxmlformats.org/drawingml/2006/main" rot="0">
            <a:off x="1136984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2200</a:t>
            </a:r>
          </a:p>
        </p:txBody>
      </p:sp>
      <p:sp>
        <p:nvSpPr>
          <p:cNvPr id="52" name="Figure 13 label 51 line 1">
            <a:extLst xmlns:a="http://schemas.openxmlformats.org/drawingml/2006/main">
              <a:ext uri="{FF2B5EF4-FFF2-40B4-BE49-F238E27FC236}">
                <a16:creationId xmlns:a16="http://schemas.microsoft.com/office/drawing/2014/main" id="{1DFAA8D1-80AA-48E0-8825-FF1C8CEC9FD8}"/>
              </a:ext>
            </a:extLst>
          </p:cNvPr>
          <p:cNvSpPr>
            <a:spLocks xmlns:a="http://schemas.openxmlformats.org/drawingml/2006/main" noGrp="1"/>
          </p:cNvSpPr>
          <p:nvPr/>
        </p:nvSpPr>
        <p:spPr>
          <a:xfrm xmlns:a="http://schemas.openxmlformats.org/drawingml/2006/main" rot="0">
            <a:off x="12369969"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9500</a:t>
            </a:r>
          </a:p>
        </p:txBody>
      </p:sp>
      <p:sp>
        <p:nvSpPr>
          <p:cNvPr id="53" name="Figure 13 label 52 line 1">
            <a:extLst xmlns:a="http://schemas.openxmlformats.org/drawingml/2006/main">
              <a:ext uri="{FF2B5EF4-FFF2-40B4-BE49-F238E27FC236}">
                <a16:creationId xmlns:a16="http://schemas.microsoft.com/office/drawing/2014/main" id="{B178DDDC-31DF-4155-8F2F-855C2A387E21}"/>
              </a:ext>
            </a:extLst>
          </p:cNvPr>
          <p:cNvSpPr>
            <a:spLocks xmlns:a="http://schemas.openxmlformats.org/drawingml/2006/main" noGrp="1"/>
          </p:cNvSpPr>
          <p:nvPr/>
        </p:nvSpPr>
        <p:spPr>
          <a:xfrm xmlns:a="http://schemas.openxmlformats.org/drawingml/2006/main" rot="0">
            <a:off x="132557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1600</a:t>
            </a:r>
          </a:p>
        </p:txBody>
      </p:sp>
      <p:sp>
        <p:nvSpPr>
          <p:cNvPr id="54" name="Figure 13 label 53 line 1">
            <a:extLst xmlns:a="http://schemas.openxmlformats.org/drawingml/2006/main">
              <a:ext uri="{FF2B5EF4-FFF2-40B4-BE49-F238E27FC236}">
                <a16:creationId xmlns:a16="http://schemas.microsoft.com/office/drawing/2014/main" id="{36A01F3F-D0C5-4D41-A13A-23254C0AED3A}"/>
              </a:ext>
            </a:extLst>
          </p:cNvPr>
          <p:cNvSpPr>
            <a:spLocks xmlns:a="http://schemas.openxmlformats.org/drawingml/2006/main" noGrp="1"/>
          </p:cNvSpPr>
          <p:nvPr/>
        </p:nvSpPr>
        <p:spPr>
          <a:xfrm xmlns:a="http://schemas.openxmlformats.org/drawingml/2006/main" rot="0">
            <a:off x="14284494"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4100</a:t>
            </a:r>
          </a:p>
        </p:txBody>
      </p:sp>
      <p:sp>
        <p:nvSpPr>
          <p:cNvPr id="55" name="Figure 13 label 54 line 1">
            <a:extLst xmlns:a="http://schemas.openxmlformats.org/drawingml/2006/main">
              <a:ext uri="{FF2B5EF4-FFF2-40B4-BE49-F238E27FC236}">
                <a16:creationId xmlns:a16="http://schemas.microsoft.com/office/drawing/2014/main" id="{0832525C-BE42-4966-92A9-C2A17F668A89}"/>
              </a:ext>
            </a:extLst>
          </p:cNvPr>
          <p:cNvSpPr>
            <a:spLocks xmlns:a="http://schemas.openxmlformats.org/drawingml/2006/main" noGrp="1"/>
          </p:cNvSpPr>
          <p:nvPr/>
        </p:nvSpPr>
        <p:spPr>
          <a:xfrm xmlns:a="http://schemas.openxmlformats.org/drawingml/2006/main" rot="0">
            <a:off x="15373097" y="444065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500</a:t>
            </a:r>
          </a:p>
        </p:txBody>
      </p:sp>
      <p:sp>
        <p:nvSpPr>
          <p:cNvPr id="56" name="Figure 13 label 55 line 1">
            <a:extLst xmlns:a="http://schemas.openxmlformats.org/drawingml/2006/main">
              <a:ext uri="{FF2B5EF4-FFF2-40B4-BE49-F238E27FC236}">
                <a16:creationId xmlns:a16="http://schemas.microsoft.com/office/drawing/2014/main" id="{FDCF623D-B8AB-4D6A-B737-75EC39E78909}"/>
              </a:ext>
            </a:extLst>
          </p:cNvPr>
          <p:cNvSpPr>
            <a:spLocks xmlns:a="http://schemas.openxmlformats.org/drawingml/2006/main" noGrp="1"/>
          </p:cNvSpPr>
          <p:nvPr/>
        </p:nvSpPr>
        <p:spPr>
          <a:xfrm xmlns:a="http://schemas.openxmlformats.org/drawingml/2006/main" rot="0">
            <a:off x="16446669" y="44406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6900</a:t>
            </a:r>
          </a:p>
        </p:txBody>
      </p:sp>
      <p:sp>
        <p:nvSpPr>
          <p:cNvPr id="57" name="Figure 13 label 56 line 1">
            <a:extLst xmlns:a="http://schemas.openxmlformats.org/drawingml/2006/main">
              <a:ext uri="{FF2B5EF4-FFF2-40B4-BE49-F238E27FC236}">
                <a16:creationId xmlns:a16="http://schemas.microsoft.com/office/drawing/2014/main" id="{A0E5AAB6-9A36-4AC3-AEF0-92F8A326B1B8}"/>
              </a:ext>
            </a:extLst>
          </p:cNvPr>
          <p:cNvSpPr>
            <a:spLocks xmlns:a="http://schemas.openxmlformats.org/drawingml/2006/main" noGrp="1"/>
          </p:cNvSpPr>
          <p:nvPr/>
        </p:nvSpPr>
        <p:spPr>
          <a:xfrm xmlns:a="http://schemas.openxmlformats.org/drawingml/2006/main" rot="0">
            <a:off x="7449756" y="476364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Ab-003</a:t>
            </a:r>
          </a:p>
        </p:txBody>
      </p:sp>
      <p:sp>
        <p:nvSpPr>
          <p:cNvPr id="58" name="Figure 13 label 57 line 1">
            <a:extLst xmlns:a="http://schemas.openxmlformats.org/drawingml/2006/main">
              <a:ext uri="{FF2B5EF4-FFF2-40B4-BE49-F238E27FC236}">
                <a16:creationId xmlns:a16="http://schemas.microsoft.com/office/drawing/2014/main" id="{415E8F60-ADE3-4B49-B1AD-3E4EDB925DA5}"/>
              </a:ext>
            </a:extLst>
          </p:cNvPr>
          <p:cNvSpPr>
            <a:spLocks xmlns:a="http://schemas.openxmlformats.org/drawingml/2006/main" noGrp="1"/>
          </p:cNvSpPr>
          <p:nvPr/>
        </p:nvSpPr>
        <p:spPr>
          <a:xfrm xmlns:a="http://schemas.openxmlformats.org/drawingml/2006/main" rot="0">
            <a:off x="853139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2600</a:t>
            </a:r>
          </a:p>
        </p:txBody>
      </p:sp>
      <p:sp>
        <p:nvSpPr>
          <p:cNvPr id="59" name="Figure 13 label 58 line 1">
            <a:extLst xmlns:a="http://schemas.openxmlformats.org/drawingml/2006/main">
              <a:ext uri="{FF2B5EF4-FFF2-40B4-BE49-F238E27FC236}">
                <a16:creationId xmlns:a16="http://schemas.microsoft.com/office/drawing/2014/main" id="{07913CB7-0A4D-47B7-8EBC-4C3A55F1A36B}"/>
              </a:ext>
            </a:extLst>
          </p:cNvPr>
          <p:cNvSpPr>
            <a:spLocks xmlns:a="http://schemas.openxmlformats.org/drawingml/2006/main" noGrp="1"/>
          </p:cNvSpPr>
          <p:nvPr/>
        </p:nvSpPr>
        <p:spPr>
          <a:xfrm xmlns:a="http://schemas.openxmlformats.org/drawingml/2006/main" rot="0">
            <a:off x="942674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9200</a:t>
            </a:r>
          </a:p>
        </p:txBody>
      </p:sp>
      <p:sp>
        <p:nvSpPr>
          <p:cNvPr id="60" name="Figure 13 label 59 line 1">
            <a:extLst xmlns:a="http://schemas.openxmlformats.org/drawingml/2006/main">
              <a:ext uri="{FF2B5EF4-FFF2-40B4-BE49-F238E27FC236}">
                <a16:creationId xmlns:a16="http://schemas.microsoft.com/office/drawing/2014/main" id="{40A9F1ED-80DE-4F3E-955C-350942662C8A}"/>
              </a:ext>
            </a:extLst>
          </p:cNvPr>
          <p:cNvSpPr>
            <a:spLocks xmlns:a="http://schemas.openxmlformats.org/drawingml/2006/main" noGrp="1"/>
          </p:cNvSpPr>
          <p:nvPr/>
        </p:nvSpPr>
        <p:spPr>
          <a:xfrm xmlns:a="http://schemas.openxmlformats.org/drawingml/2006/main" rot="0">
            <a:off x="10372472" y="475497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410</a:t>
            </a:r>
          </a:p>
        </p:txBody>
      </p:sp>
      <p:sp>
        <p:nvSpPr>
          <p:cNvPr id="61" name="Figure 13 label 60 line 1">
            <a:extLst xmlns:a="http://schemas.openxmlformats.org/drawingml/2006/main">
              <a:ext uri="{FF2B5EF4-FFF2-40B4-BE49-F238E27FC236}">
                <a16:creationId xmlns:a16="http://schemas.microsoft.com/office/drawing/2014/main" id="{64BB8FF3-CEFB-44AB-B934-BBCF453E4DF1}"/>
              </a:ext>
            </a:extLst>
          </p:cNvPr>
          <p:cNvSpPr>
            <a:spLocks xmlns:a="http://schemas.openxmlformats.org/drawingml/2006/main" noGrp="1"/>
          </p:cNvSpPr>
          <p:nvPr/>
        </p:nvSpPr>
        <p:spPr>
          <a:xfrm xmlns:a="http://schemas.openxmlformats.org/drawingml/2006/main" rot="0">
            <a:off x="1136984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6500</a:t>
            </a:r>
          </a:p>
        </p:txBody>
      </p:sp>
      <p:sp>
        <p:nvSpPr>
          <p:cNvPr id="62" name="Figure 13 label 61 line 1">
            <a:extLst xmlns:a="http://schemas.openxmlformats.org/drawingml/2006/main">
              <a:ext uri="{FF2B5EF4-FFF2-40B4-BE49-F238E27FC236}">
                <a16:creationId xmlns:a16="http://schemas.microsoft.com/office/drawing/2014/main" id="{FCE28125-FF62-4CAC-BCE7-7902798FC30D}"/>
              </a:ext>
            </a:extLst>
          </p:cNvPr>
          <p:cNvSpPr>
            <a:spLocks xmlns:a="http://schemas.openxmlformats.org/drawingml/2006/main" noGrp="1"/>
          </p:cNvSpPr>
          <p:nvPr/>
        </p:nvSpPr>
        <p:spPr>
          <a:xfrm xmlns:a="http://schemas.openxmlformats.org/drawingml/2006/main" rot="0">
            <a:off x="12369969"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3100</a:t>
            </a:r>
          </a:p>
        </p:txBody>
      </p:sp>
      <p:sp>
        <p:nvSpPr>
          <p:cNvPr id="63" name="Figure 13 label 62 line 1">
            <a:extLst xmlns:a="http://schemas.openxmlformats.org/drawingml/2006/main">
              <a:ext uri="{FF2B5EF4-FFF2-40B4-BE49-F238E27FC236}">
                <a16:creationId xmlns:a16="http://schemas.microsoft.com/office/drawing/2014/main" id="{FB3356D2-92C0-461B-8C33-203F169E28CD}"/>
              </a:ext>
            </a:extLst>
          </p:cNvPr>
          <p:cNvSpPr>
            <a:spLocks xmlns:a="http://schemas.openxmlformats.org/drawingml/2006/main" noGrp="1"/>
          </p:cNvSpPr>
          <p:nvPr/>
        </p:nvSpPr>
        <p:spPr>
          <a:xfrm xmlns:a="http://schemas.openxmlformats.org/drawingml/2006/main" rot="0">
            <a:off x="13255794"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7900</a:t>
            </a:r>
          </a:p>
        </p:txBody>
      </p:sp>
      <p:sp>
        <p:nvSpPr>
          <p:cNvPr id="64" name="Figure 13 label 63 line 1">
            <a:extLst xmlns:a="http://schemas.openxmlformats.org/drawingml/2006/main">
              <a:ext uri="{FF2B5EF4-FFF2-40B4-BE49-F238E27FC236}">
                <a16:creationId xmlns:a16="http://schemas.microsoft.com/office/drawing/2014/main" id="{56C5BDA3-496B-412E-BBF9-D48648D5A275}"/>
              </a:ext>
            </a:extLst>
          </p:cNvPr>
          <p:cNvSpPr>
            <a:spLocks xmlns:a="http://schemas.openxmlformats.org/drawingml/2006/main" noGrp="1"/>
          </p:cNvSpPr>
          <p:nvPr/>
        </p:nvSpPr>
        <p:spPr>
          <a:xfrm xmlns:a="http://schemas.openxmlformats.org/drawingml/2006/main" rot="0">
            <a:off x="14334872" y="475497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950</a:t>
            </a:r>
          </a:p>
        </p:txBody>
      </p:sp>
      <p:sp>
        <p:nvSpPr>
          <p:cNvPr id="65" name="Figure 13 label 64 line 1">
            <a:extLst xmlns:a="http://schemas.openxmlformats.org/drawingml/2006/main">
              <a:ext uri="{FF2B5EF4-FFF2-40B4-BE49-F238E27FC236}">
                <a16:creationId xmlns:a16="http://schemas.microsoft.com/office/drawing/2014/main" id="{91E0059B-1C5B-452A-B25B-8128B9FE96B7}"/>
              </a:ext>
            </a:extLst>
          </p:cNvPr>
          <p:cNvSpPr>
            <a:spLocks xmlns:a="http://schemas.openxmlformats.org/drawingml/2006/main" noGrp="1"/>
          </p:cNvSpPr>
          <p:nvPr/>
        </p:nvSpPr>
        <p:spPr>
          <a:xfrm xmlns:a="http://schemas.openxmlformats.org/drawingml/2006/main" rot="0">
            <a:off x="15322719"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4800</a:t>
            </a:r>
          </a:p>
        </p:txBody>
      </p:sp>
      <p:sp>
        <p:nvSpPr>
          <p:cNvPr id="66" name="Figure 13 label 65 line 1">
            <a:extLst xmlns:a="http://schemas.openxmlformats.org/drawingml/2006/main">
              <a:ext uri="{FF2B5EF4-FFF2-40B4-BE49-F238E27FC236}">
                <a16:creationId xmlns:a16="http://schemas.microsoft.com/office/drawing/2014/main" id="{17AA469E-8AF5-4BF4-A8BF-77B87C309F7C}"/>
              </a:ext>
            </a:extLst>
          </p:cNvPr>
          <p:cNvSpPr>
            <a:spLocks xmlns:a="http://schemas.openxmlformats.org/drawingml/2006/main" noGrp="1"/>
          </p:cNvSpPr>
          <p:nvPr/>
        </p:nvSpPr>
        <p:spPr>
          <a:xfrm xmlns:a="http://schemas.openxmlformats.org/drawingml/2006/main" rot="0">
            <a:off x="16446669" y="475497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8300</a:t>
            </a:r>
          </a:p>
        </p:txBody>
      </p:sp>
      <p:sp>
        <p:nvSpPr>
          <p:cNvPr id="67" name="Figure 13 label 66 line 1">
            <a:extLst xmlns:a="http://schemas.openxmlformats.org/drawingml/2006/main">
              <a:ext uri="{FF2B5EF4-FFF2-40B4-BE49-F238E27FC236}">
                <a16:creationId xmlns:a16="http://schemas.microsoft.com/office/drawing/2014/main" id="{24630061-9BB5-4CC5-A40C-E8476951EAE4}"/>
              </a:ext>
            </a:extLst>
          </p:cNvPr>
          <p:cNvSpPr>
            <a:spLocks xmlns:a="http://schemas.openxmlformats.org/drawingml/2006/main" noGrp="1"/>
          </p:cNvSpPr>
          <p:nvPr/>
        </p:nvSpPr>
        <p:spPr>
          <a:xfrm xmlns:a="http://schemas.openxmlformats.org/drawingml/2006/main" rot="0">
            <a:off x="7449756" y="507796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Ab-004</a:t>
            </a:r>
          </a:p>
        </p:txBody>
      </p:sp>
      <p:sp>
        <p:nvSpPr>
          <p:cNvPr id="68" name="Figure 13 label 67 line 1">
            <a:extLst xmlns:a="http://schemas.openxmlformats.org/drawingml/2006/main">
              <a:ext uri="{FF2B5EF4-FFF2-40B4-BE49-F238E27FC236}">
                <a16:creationId xmlns:a16="http://schemas.microsoft.com/office/drawing/2014/main" id="{DCACA638-5004-48A7-BBCF-B46A35CE2406}"/>
              </a:ext>
            </a:extLst>
          </p:cNvPr>
          <p:cNvSpPr>
            <a:spLocks xmlns:a="http://schemas.openxmlformats.org/drawingml/2006/main" noGrp="1"/>
          </p:cNvSpPr>
          <p:nvPr/>
        </p:nvSpPr>
        <p:spPr>
          <a:xfrm xmlns:a="http://schemas.openxmlformats.org/drawingml/2006/main" rot="0">
            <a:off x="853139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9800</a:t>
            </a:r>
          </a:p>
        </p:txBody>
      </p:sp>
      <p:sp>
        <p:nvSpPr>
          <p:cNvPr id="69" name="Figure 13 label 68 line 1">
            <a:extLst xmlns:a="http://schemas.openxmlformats.org/drawingml/2006/main">
              <a:ext uri="{FF2B5EF4-FFF2-40B4-BE49-F238E27FC236}">
                <a16:creationId xmlns:a16="http://schemas.microsoft.com/office/drawing/2014/main" id="{29642E9C-D450-4DB8-AC50-079DE352B88A}"/>
              </a:ext>
            </a:extLst>
          </p:cNvPr>
          <p:cNvSpPr>
            <a:spLocks xmlns:a="http://schemas.openxmlformats.org/drawingml/2006/main" noGrp="1"/>
          </p:cNvSpPr>
          <p:nvPr/>
        </p:nvSpPr>
        <p:spPr>
          <a:xfrm xmlns:a="http://schemas.openxmlformats.org/drawingml/2006/main" rot="0">
            <a:off x="942674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3100</a:t>
            </a:r>
          </a:p>
        </p:txBody>
      </p:sp>
      <p:sp>
        <p:nvSpPr>
          <p:cNvPr id="70" name="Figure 13 label 69 line 1">
            <a:extLst xmlns:a="http://schemas.openxmlformats.org/drawingml/2006/main">
              <a:ext uri="{FF2B5EF4-FFF2-40B4-BE49-F238E27FC236}">
                <a16:creationId xmlns:a16="http://schemas.microsoft.com/office/drawing/2014/main" id="{49AB5BB6-A496-4569-9C33-EA183FE526BF}"/>
              </a:ext>
            </a:extLst>
          </p:cNvPr>
          <p:cNvSpPr>
            <a:spLocks xmlns:a="http://schemas.openxmlformats.org/drawingml/2006/main" noGrp="1"/>
          </p:cNvSpPr>
          <p:nvPr/>
        </p:nvSpPr>
        <p:spPr>
          <a:xfrm xmlns:a="http://schemas.openxmlformats.org/drawingml/2006/main" rot="0">
            <a:off x="1032209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7400</a:t>
            </a:r>
          </a:p>
        </p:txBody>
      </p:sp>
      <p:sp>
        <p:nvSpPr>
          <p:cNvPr id="71" name="Figure 13 label 70 line 1">
            <a:extLst xmlns:a="http://schemas.openxmlformats.org/drawingml/2006/main">
              <a:ext uri="{FF2B5EF4-FFF2-40B4-BE49-F238E27FC236}">
                <a16:creationId xmlns:a16="http://schemas.microsoft.com/office/drawing/2014/main" id="{48CB8F66-4D16-4EE5-B14A-39DAE9FA1F95}"/>
              </a:ext>
            </a:extLst>
          </p:cNvPr>
          <p:cNvSpPr>
            <a:spLocks xmlns:a="http://schemas.openxmlformats.org/drawingml/2006/main" noGrp="1"/>
          </p:cNvSpPr>
          <p:nvPr/>
        </p:nvSpPr>
        <p:spPr>
          <a:xfrm xmlns:a="http://schemas.openxmlformats.org/drawingml/2006/main" rot="0">
            <a:off x="1136984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1200</a:t>
            </a:r>
          </a:p>
        </p:txBody>
      </p:sp>
      <p:sp>
        <p:nvSpPr>
          <p:cNvPr id="72" name="Figure 13 label 71 line 1">
            <a:extLst xmlns:a="http://schemas.openxmlformats.org/drawingml/2006/main">
              <a:ext uri="{FF2B5EF4-FFF2-40B4-BE49-F238E27FC236}">
                <a16:creationId xmlns:a16="http://schemas.microsoft.com/office/drawing/2014/main" id="{986B1E5D-3BAB-4752-A613-82C063F80CB6}"/>
              </a:ext>
            </a:extLst>
          </p:cNvPr>
          <p:cNvSpPr>
            <a:spLocks xmlns:a="http://schemas.openxmlformats.org/drawingml/2006/main" noGrp="1"/>
          </p:cNvSpPr>
          <p:nvPr/>
        </p:nvSpPr>
        <p:spPr>
          <a:xfrm xmlns:a="http://schemas.openxmlformats.org/drawingml/2006/main" rot="0">
            <a:off x="12369969"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6800</a:t>
            </a:r>
          </a:p>
        </p:txBody>
      </p:sp>
      <p:sp>
        <p:nvSpPr>
          <p:cNvPr id="73" name="Figure 13 label 72 line 1">
            <a:extLst xmlns:a="http://schemas.openxmlformats.org/drawingml/2006/main">
              <a:ext uri="{FF2B5EF4-FFF2-40B4-BE49-F238E27FC236}">
                <a16:creationId xmlns:a16="http://schemas.microsoft.com/office/drawing/2014/main" id="{246CEC44-CD3D-41C0-93D5-07ED862032BA}"/>
              </a:ext>
            </a:extLst>
          </p:cNvPr>
          <p:cNvSpPr>
            <a:spLocks xmlns:a="http://schemas.openxmlformats.org/drawingml/2006/main" noGrp="1"/>
          </p:cNvSpPr>
          <p:nvPr/>
        </p:nvSpPr>
        <p:spPr>
          <a:xfrm xmlns:a="http://schemas.openxmlformats.org/drawingml/2006/main" rot="0">
            <a:off x="13306172" y="506930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380</a:t>
            </a:r>
          </a:p>
        </p:txBody>
      </p:sp>
      <p:sp>
        <p:nvSpPr>
          <p:cNvPr id="74" name="Figure 13 label 73 line 1">
            <a:extLst xmlns:a="http://schemas.openxmlformats.org/drawingml/2006/main">
              <a:ext uri="{FF2B5EF4-FFF2-40B4-BE49-F238E27FC236}">
                <a16:creationId xmlns:a16="http://schemas.microsoft.com/office/drawing/2014/main" id="{9FCB053F-DD5F-4870-BE12-B49AD8E81839}"/>
              </a:ext>
            </a:extLst>
          </p:cNvPr>
          <p:cNvSpPr>
            <a:spLocks xmlns:a="http://schemas.openxmlformats.org/drawingml/2006/main" noGrp="1"/>
          </p:cNvSpPr>
          <p:nvPr/>
        </p:nvSpPr>
        <p:spPr>
          <a:xfrm xmlns:a="http://schemas.openxmlformats.org/drawingml/2006/main" rot="0">
            <a:off x="14284494"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5500</a:t>
            </a:r>
          </a:p>
        </p:txBody>
      </p:sp>
      <p:sp>
        <p:nvSpPr>
          <p:cNvPr id="75" name="Figure 13 label 74 line 1">
            <a:extLst xmlns:a="http://schemas.openxmlformats.org/drawingml/2006/main">
              <a:ext uri="{FF2B5EF4-FFF2-40B4-BE49-F238E27FC236}">
                <a16:creationId xmlns:a16="http://schemas.microsoft.com/office/drawing/2014/main" id="{27F1A0B8-1B61-4F12-930F-862682C51C70}"/>
              </a:ext>
            </a:extLst>
          </p:cNvPr>
          <p:cNvSpPr>
            <a:spLocks xmlns:a="http://schemas.openxmlformats.org/drawingml/2006/main" noGrp="1"/>
          </p:cNvSpPr>
          <p:nvPr/>
        </p:nvSpPr>
        <p:spPr>
          <a:xfrm xmlns:a="http://schemas.openxmlformats.org/drawingml/2006/main" rot="0">
            <a:off x="15322719"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1900</a:t>
            </a:r>
          </a:p>
        </p:txBody>
      </p:sp>
      <p:sp>
        <p:nvSpPr>
          <p:cNvPr id="76" name="Figure 13 label 75 line 1">
            <a:extLst xmlns:a="http://schemas.openxmlformats.org/drawingml/2006/main">
              <a:ext uri="{FF2B5EF4-FFF2-40B4-BE49-F238E27FC236}">
                <a16:creationId xmlns:a16="http://schemas.microsoft.com/office/drawing/2014/main" id="{61FCFA57-6393-4589-9EC0-EC175CE91247}"/>
              </a:ext>
            </a:extLst>
          </p:cNvPr>
          <p:cNvSpPr>
            <a:spLocks xmlns:a="http://schemas.openxmlformats.org/drawingml/2006/main" noGrp="1"/>
          </p:cNvSpPr>
          <p:nvPr/>
        </p:nvSpPr>
        <p:spPr>
          <a:xfrm xmlns:a="http://schemas.openxmlformats.org/drawingml/2006/main" rot="0">
            <a:off x="16446669" y="506930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9100</a:t>
            </a:r>
          </a:p>
        </p:txBody>
      </p:sp>
      <p:sp>
        <p:nvSpPr>
          <p:cNvPr id="77" name="Figure 13 label 76 line 1">
            <a:extLst xmlns:a="http://schemas.openxmlformats.org/drawingml/2006/main">
              <a:ext uri="{FF2B5EF4-FFF2-40B4-BE49-F238E27FC236}">
                <a16:creationId xmlns:a16="http://schemas.microsoft.com/office/drawing/2014/main" id="{75C53BD0-9A40-4D03-9016-2141CF32A6E9}"/>
              </a:ext>
            </a:extLst>
          </p:cNvPr>
          <p:cNvSpPr>
            <a:spLocks xmlns:a="http://schemas.openxmlformats.org/drawingml/2006/main" noGrp="1"/>
          </p:cNvSpPr>
          <p:nvPr/>
        </p:nvSpPr>
        <p:spPr>
          <a:xfrm xmlns:a="http://schemas.openxmlformats.org/drawingml/2006/main" rot="0">
            <a:off x="7449756" y="5392293"/>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Ab-005</a:t>
            </a:r>
          </a:p>
        </p:txBody>
      </p:sp>
      <p:sp>
        <p:nvSpPr>
          <p:cNvPr id="78" name="Figure 13 label 77 line 1">
            <a:extLst xmlns:a="http://schemas.openxmlformats.org/drawingml/2006/main">
              <a:ext uri="{FF2B5EF4-FFF2-40B4-BE49-F238E27FC236}">
                <a16:creationId xmlns:a16="http://schemas.microsoft.com/office/drawing/2014/main" id="{B7563793-5543-4ADA-84E8-83A5A5F7B9E2}"/>
              </a:ext>
            </a:extLst>
          </p:cNvPr>
          <p:cNvSpPr>
            <a:spLocks xmlns:a="http://schemas.openxmlformats.org/drawingml/2006/main" noGrp="1"/>
          </p:cNvSpPr>
          <p:nvPr/>
        </p:nvSpPr>
        <p:spPr>
          <a:xfrm xmlns:a="http://schemas.openxmlformats.org/drawingml/2006/main" rot="0">
            <a:off x="8581772" y="53836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540</a:t>
            </a:r>
          </a:p>
        </p:txBody>
      </p:sp>
      <p:sp>
        <p:nvSpPr>
          <p:cNvPr id="79" name="Figure 13 label 78 line 1">
            <a:extLst xmlns:a="http://schemas.openxmlformats.org/drawingml/2006/main">
              <a:ext uri="{FF2B5EF4-FFF2-40B4-BE49-F238E27FC236}">
                <a16:creationId xmlns:a16="http://schemas.microsoft.com/office/drawing/2014/main" id="{6C32F515-D899-4227-A934-F3EF6FA64D3F}"/>
              </a:ext>
            </a:extLst>
          </p:cNvPr>
          <p:cNvSpPr>
            <a:spLocks xmlns:a="http://schemas.openxmlformats.org/drawingml/2006/main" noGrp="1"/>
          </p:cNvSpPr>
          <p:nvPr/>
        </p:nvSpPr>
        <p:spPr>
          <a:xfrm xmlns:a="http://schemas.openxmlformats.org/drawingml/2006/main" rot="0">
            <a:off x="942674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4700</a:t>
            </a:r>
          </a:p>
        </p:txBody>
      </p:sp>
      <p:sp>
        <p:nvSpPr>
          <p:cNvPr id="80" name="Figure 13 label 79 line 1">
            <a:extLst xmlns:a="http://schemas.openxmlformats.org/drawingml/2006/main">
              <a:ext uri="{FF2B5EF4-FFF2-40B4-BE49-F238E27FC236}">
                <a16:creationId xmlns:a16="http://schemas.microsoft.com/office/drawing/2014/main" id="{DD995FC3-4BE1-4AF0-87D2-F9FAD4F250E1}"/>
              </a:ext>
            </a:extLst>
          </p:cNvPr>
          <p:cNvSpPr>
            <a:spLocks xmlns:a="http://schemas.openxmlformats.org/drawingml/2006/main" noGrp="1"/>
          </p:cNvSpPr>
          <p:nvPr/>
        </p:nvSpPr>
        <p:spPr>
          <a:xfrm xmlns:a="http://schemas.openxmlformats.org/drawingml/2006/main" rot="0">
            <a:off x="1032209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8800</a:t>
            </a:r>
          </a:p>
        </p:txBody>
      </p:sp>
      <p:sp>
        <p:nvSpPr>
          <p:cNvPr id="81" name="Figure 13 label 80 line 1">
            <a:extLst xmlns:a="http://schemas.openxmlformats.org/drawingml/2006/main">
              <a:ext uri="{FF2B5EF4-FFF2-40B4-BE49-F238E27FC236}">
                <a16:creationId xmlns:a16="http://schemas.microsoft.com/office/drawing/2014/main" id="{39AD8008-B7B4-4927-B8C6-9A0B6AE556D5}"/>
              </a:ext>
            </a:extLst>
          </p:cNvPr>
          <p:cNvSpPr>
            <a:spLocks xmlns:a="http://schemas.openxmlformats.org/drawingml/2006/main" noGrp="1"/>
          </p:cNvSpPr>
          <p:nvPr/>
        </p:nvSpPr>
        <p:spPr>
          <a:xfrm xmlns:a="http://schemas.openxmlformats.org/drawingml/2006/main" rot="0">
            <a:off x="1136984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3600</a:t>
            </a:r>
          </a:p>
        </p:txBody>
      </p:sp>
      <p:sp>
        <p:nvSpPr>
          <p:cNvPr id="82" name="Figure 13 label 81 line 1">
            <a:extLst xmlns:a="http://schemas.openxmlformats.org/drawingml/2006/main">
              <a:ext uri="{FF2B5EF4-FFF2-40B4-BE49-F238E27FC236}">
                <a16:creationId xmlns:a16="http://schemas.microsoft.com/office/drawing/2014/main" id="{BE8D4A40-3EA4-4961-8D08-1286839FE1DB}"/>
              </a:ext>
            </a:extLst>
          </p:cNvPr>
          <p:cNvSpPr>
            <a:spLocks xmlns:a="http://schemas.openxmlformats.org/drawingml/2006/main" noGrp="1"/>
          </p:cNvSpPr>
          <p:nvPr/>
        </p:nvSpPr>
        <p:spPr>
          <a:xfrm xmlns:a="http://schemas.openxmlformats.org/drawingml/2006/main" rot="0">
            <a:off x="12369969"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2000</a:t>
            </a:r>
          </a:p>
        </p:txBody>
      </p:sp>
      <p:sp>
        <p:nvSpPr>
          <p:cNvPr id="83" name="Figure 13 label 82 line 1">
            <a:extLst xmlns:a="http://schemas.openxmlformats.org/drawingml/2006/main">
              <a:ext uri="{FF2B5EF4-FFF2-40B4-BE49-F238E27FC236}">
                <a16:creationId xmlns:a16="http://schemas.microsoft.com/office/drawing/2014/main" id="{B22CAB51-BBF8-4F0A-B92F-42F3379B9E5A}"/>
              </a:ext>
            </a:extLst>
          </p:cNvPr>
          <p:cNvSpPr>
            <a:spLocks xmlns:a="http://schemas.openxmlformats.org/drawingml/2006/main" noGrp="1"/>
          </p:cNvSpPr>
          <p:nvPr/>
        </p:nvSpPr>
        <p:spPr>
          <a:xfrm xmlns:a="http://schemas.openxmlformats.org/drawingml/2006/main" rot="0">
            <a:off x="13255794"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6200</a:t>
            </a:r>
          </a:p>
        </p:txBody>
      </p:sp>
      <p:sp>
        <p:nvSpPr>
          <p:cNvPr id="84" name="Figure 13 label 83 line 1">
            <a:extLst xmlns:a="http://schemas.openxmlformats.org/drawingml/2006/main">
              <a:ext uri="{FF2B5EF4-FFF2-40B4-BE49-F238E27FC236}">
                <a16:creationId xmlns:a16="http://schemas.microsoft.com/office/drawing/2014/main" id="{B9175828-ABFE-40CF-99F5-C044F093892E}"/>
              </a:ext>
            </a:extLst>
          </p:cNvPr>
          <p:cNvSpPr>
            <a:spLocks xmlns:a="http://schemas.openxmlformats.org/drawingml/2006/main" noGrp="1"/>
          </p:cNvSpPr>
          <p:nvPr/>
        </p:nvSpPr>
        <p:spPr>
          <a:xfrm xmlns:a="http://schemas.openxmlformats.org/drawingml/2006/main" rot="0">
            <a:off x="14234190" y="5383625"/>
            <a:ext cx="620970"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10000</a:t>
            </a:r>
          </a:p>
        </p:txBody>
      </p:sp>
      <p:sp>
        <p:nvSpPr>
          <p:cNvPr id="85" name="Figure 13 label 84 line 1">
            <a:extLst xmlns:a="http://schemas.openxmlformats.org/drawingml/2006/main">
              <a:ext uri="{FF2B5EF4-FFF2-40B4-BE49-F238E27FC236}">
                <a16:creationId xmlns:a16="http://schemas.microsoft.com/office/drawing/2014/main" id="{7E005353-F1BB-4F10-AFC6-D019701D661B}"/>
              </a:ext>
            </a:extLst>
          </p:cNvPr>
          <p:cNvSpPr>
            <a:spLocks xmlns:a="http://schemas.openxmlformats.org/drawingml/2006/main" noGrp="1"/>
          </p:cNvSpPr>
          <p:nvPr/>
        </p:nvSpPr>
        <p:spPr>
          <a:xfrm xmlns:a="http://schemas.openxmlformats.org/drawingml/2006/main" rot="0">
            <a:off x="15373097" y="5383625"/>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710</a:t>
            </a:r>
          </a:p>
        </p:txBody>
      </p:sp>
      <p:sp>
        <p:nvSpPr>
          <p:cNvPr id="86" name="Figure 13 label 85 line 1">
            <a:extLst xmlns:a="http://schemas.openxmlformats.org/drawingml/2006/main">
              <a:ext uri="{FF2B5EF4-FFF2-40B4-BE49-F238E27FC236}">
                <a16:creationId xmlns:a16="http://schemas.microsoft.com/office/drawing/2014/main" id="{8B0D9714-5C1D-4BF1-A4DA-C62E0146AB96}"/>
              </a:ext>
            </a:extLst>
          </p:cNvPr>
          <p:cNvSpPr>
            <a:spLocks xmlns:a="http://schemas.openxmlformats.org/drawingml/2006/main" noGrp="1"/>
          </p:cNvSpPr>
          <p:nvPr/>
        </p:nvSpPr>
        <p:spPr>
          <a:xfrm xmlns:a="http://schemas.openxmlformats.org/drawingml/2006/main" rot="0">
            <a:off x="16446669" y="5383625"/>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5700</a:t>
            </a:r>
          </a:p>
        </p:txBody>
      </p:sp>
      <p:sp>
        <p:nvSpPr>
          <p:cNvPr id="87" name="Figure 13 label 86 line 1">
            <a:extLst xmlns:a="http://schemas.openxmlformats.org/drawingml/2006/main">
              <a:ext uri="{FF2B5EF4-FFF2-40B4-BE49-F238E27FC236}">
                <a16:creationId xmlns:a16="http://schemas.microsoft.com/office/drawing/2014/main" id="{5372C22B-CA20-4C62-97B6-225F4EE8E555}"/>
              </a:ext>
            </a:extLst>
          </p:cNvPr>
          <p:cNvSpPr>
            <a:spLocks xmlns:a="http://schemas.openxmlformats.org/drawingml/2006/main" noGrp="1"/>
          </p:cNvSpPr>
          <p:nvPr/>
        </p:nvSpPr>
        <p:spPr>
          <a:xfrm xmlns:a="http://schemas.openxmlformats.org/drawingml/2006/main" rot="0">
            <a:off x="7449756" y="5706618"/>
            <a:ext cx="66433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Ab-006</a:t>
            </a:r>
          </a:p>
        </p:txBody>
      </p:sp>
      <p:sp>
        <p:nvSpPr>
          <p:cNvPr id="88" name="Figure 13 label 87 line 1">
            <a:extLst xmlns:a="http://schemas.openxmlformats.org/drawingml/2006/main">
              <a:ext uri="{FF2B5EF4-FFF2-40B4-BE49-F238E27FC236}">
                <a16:creationId xmlns:a16="http://schemas.microsoft.com/office/drawing/2014/main" id="{84F21F65-2FBE-463A-AF63-16E753841525}"/>
              </a:ext>
            </a:extLst>
          </p:cNvPr>
          <p:cNvSpPr>
            <a:spLocks xmlns:a="http://schemas.openxmlformats.org/drawingml/2006/main" noGrp="1"/>
          </p:cNvSpPr>
          <p:nvPr/>
        </p:nvSpPr>
        <p:spPr>
          <a:xfrm xmlns:a="http://schemas.openxmlformats.org/drawingml/2006/main" rot="0">
            <a:off x="853139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6300</a:t>
            </a:r>
          </a:p>
        </p:txBody>
      </p:sp>
      <p:sp>
        <p:nvSpPr>
          <p:cNvPr id="89" name="Figure 13 label 88 line 1">
            <a:extLst xmlns:a="http://schemas.openxmlformats.org/drawingml/2006/main">
              <a:ext uri="{FF2B5EF4-FFF2-40B4-BE49-F238E27FC236}">
                <a16:creationId xmlns:a16="http://schemas.microsoft.com/office/drawing/2014/main" id="{A8DB7444-F921-48B3-87C1-EE0D2D2C67C6}"/>
              </a:ext>
            </a:extLst>
          </p:cNvPr>
          <p:cNvSpPr>
            <a:spLocks xmlns:a="http://schemas.openxmlformats.org/drawingml/2006/main" noGrp="1"/>
          </p:cNvSpPr>
          <p:nvPr/>
        </p:nvSpPr>
        <p:spPr>
          <a:xfrm xmlns:a="http://schemas.openxmlformats.org/drawingml/2006/main" rot="0">
            <a:off x="942674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1400</a:t>
            </a:r>
          </a:p>
        </p:txBody>
      </p:sp>
      <p:sp>
        <p:nvSpPr>
          <p:cNvPr id="90" name="Figure 13 label 89 line 1">
            <a:extLst xmlns:a="http://schemas.openxmlformats.org/drawingml/2006/main">
              <a:ext uri="{FF2B5EF4-FFF2-40B4-BE49-F238E27FC236}">
                <a16:creationId xmlns:a16="http://schemas.microsoft.com/office/drawing/2014/main" id="{EAB4C5C1-4300-442F-A0FE-EC4639F84456}"/>
              </a:ext>
            </a:extLst>
          </p:cNvPr>
          <p:cNvSpPr>
            <a:spLocks xmlns:a="http://schemas.openxmlformats.org/drawingml/2006/main" noGrp="1"/>
          </p:cNvSpPr>
          <p:nvPr/>
        </p:nvSpPr>
        <p:spPr>
          <a:xfrm xmlns:a="http://schemas.openxmlformats.org/drawingml/2006/main" rot="0">
            <a:off x="1032209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3000</a:t>
            </a:r>
          </a:p>
        </p:txBody>
      </p:sp>
      <p:sp>
        <p:nvSpPr>
          <p:cNvPr id="91" name="Figure 13 label 90 line 1">
            <a:extLst xmlns:a="http://schemas.openxmlformats.org/drawingml/2006/main">
              <a:ext uri="{FF2B5EF4-FFF2-40B4-BE49-F238E27FC236}">
                <a16:creationId xmlns:a16="http://schemas.microsoft.com/office/drawing/2014/main" id="{9DABEE04-C539-4BBC-89E3-2D30FEE78176}"/>
              </a:ext>
            </a:extLst>
          </p:cNvPr>
          <p:cNvSpPr>
            <a:spLocks xmlns:a="http://schemas.openxmlformats.org/drawingml/2006/main" noGrp="1"/>
          </p:cNvSpPr>
          <p:nvPr/>
        </p:nvSpPr>
        <p:spPr>
          <a:xfrm xmlns:a="http://schemas.openxmlformats.org/drawingml/2006/main" rot="0">
            <a:off x="1136984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9900</a:t>
            </a:r>
          </a:p>
        </p:txBody>
      </p:sp>
      <p:sp>
        <p:nvSpPr>
          <p:cNvPr id="92" name="Figure 13 label 91 line 1">
            <a:extLst xmlns:a="http://schemas.openxmlformats.org/drawingml/2006/main">
              <a:ext uri="{FF2B5EF4-FFF2-40B4-BE49-F238E27FC236}">
                <a16:creationId xmlns:a16="http://schemas.microsoft.com/office/drawing/2014/main" id="{F7F00E10-B3D4-4BE3-A275-2C96BEDDC13D}"/>
              </a:ext>
            </a:extLst>
          </p:cNvPr>
          <p:cNvSpPr>
            <a:spLocks xmlns:a="http://schemas.openxmlformats.org/drawingml/2006/main" noGrp="1"/>
          </p:cNvSpPr>
          <p:nvPr/>
        </p:nvSpPr>
        <p:spPr>
          <a:xfrm xmlns:a="http://schemas.openxmlformats.org/drawingml/2006/main" rot="0">
            <a:off x="12369969"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4600</a:t>
            </a:r>
          </a:p>
        </p:txBody>
      </p:sp>
      <p:sp>
        <p:nvSpPr>
          <p:cNvPr id="93" name="Figure 13 label 92 line 1">
            <a:extLst xmlns:a="http://schemas.openxmlformats.org/drawingml/2006/main">
              <a:ext uri="{FF2B5EF4-FFF2-40B4-BE49-F238E27FC236}">
                <a16:creationId xmlns:a16="http://schemas.microsoft.com/office/drawing/2014/main" id="{06D34952-6403-49A6-B52E-A7A19607FA5C}"/>
              </a:ext>
            </a:extLst>
          </p:cNvPr>
          <p:cNvSpPr>
            <a:spLocks xmlns:a="http://schemas.openxmlformats.org/drawingml/2006/main" noGrp="1"/>
          </p:cNvSpPr>
          <p:nvPr/>
        </p:nvSpPr>
        <p:spPr>
          <a:xfrm xmlns:a="http://schemas.openxmlformats.org/drawingml/2006/main" rot="0">
            <a:off x="13255794"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8700</a:t>
            </a:r>
          </a:p>
        </p:txBody>
      </p:sp>
      <p:sp>
        <p:nvSpPr>
          <p:cNvPr id="94" name="Figure 13 label 93 line 1">
            <a:extLst xmlns:a="http://schemas.openxmlformats.org/drawingml/2006/main">
              <a:ext uri="{FF2B5EF4-FFF2-40B4-BE49-F238E27FC236}">
                <a16:creationId xmlns:a16="http://schemas.microsoft.com/office/drawing/2014/main" id="{E0CA2273-4A3C-471E-917D-FAFE71258CB2}"/>
              </a:ext>
            </a:extLst>
          </p:cNvPr>
          <p:cNvSpPr>
            <a:spLocks xmlns:a="http://schemas.openxmlformats.org/drawingml/2006/main" noGrp="1"/>
          </p:cNvSpPr>
          <p:nvPr/>
        </p:nvSpPr>
        <p:spPr>
          <a:xfrm xmlns:a="http://schemas.openxmlformats.org/drawingml/2006/main" rot="0">
            <a:off x="14334872" y="5697950"/>
            <a:ext cx="419606"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180</a:t>
            </a:r>
          </a:p>
        </p:txBody>
      </p:sp>
      <p:sp>
        <p:nvSpPr>
          <p:cNvPr id="95" name="Figure 13 label 94 line 1">
            <a:extLst xmlns:a="http://schemas.openxmlformats.org/drawingml/2006/main">
              <a:ext uri="{FF2B5EF4-FFF2-40B4-BE49-F238E27FC236}">
                <a16:creationId xmlns:a16="http://schemas.microsoft.com/office/drawing/2014/main" id="{4EED00A9-1FC4-48C0-A04A-08E52A3C5391}"/>
              </a:ext>
            </a:extLst>
          </p:cNvPr>
          <p:cNvSpPr>
            <a:spLocks xmlns:a="http://schemas.openxmlformats.org/drawingml/2006/main" noGrp="1"/>
          </p:cNvSpPr>
          <p:nvPr/>
        </p:nvSpPr>
        <p:spPr>
          <a:xfrm xmlns:a="http://schemas.openxmlformats.org/drawingml/2006/main" rot="0">
            <a:off x="15322719"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FFFFFF"/>
                </a:solidFill>
                <a:latin typeface="Arial"/>
                <a:ea typeface="Arial"/>
                <a:cs typeface="Arial"/>
              </a:defRPr>
            </a:defPPr>
          </a:lstStyle>
          <a:p xmlns:a="http://schemas.openxmlformats.org/drawingml/2006/main">
            <a:pPr algn="ctr">
              <a:lnSpc>
                <a:spcPct val="100000"/>
              </a:lnSpc>
              <a:buNone/>
              <a:defRPr sz="1425" b="0">
                <a:solidFill>
                  <a:srgbClr val="FFFFFF"/>
                </a:solidFill>
                <a:latin typeface="Arial"/>
                <a:ea typeface="Arial"/>
                <a:cs typeface="Arial"/>
              </a:defRPr>
            </a:pPr>
            <a:r>
              <a:rPr sz="1425" b="0">
                <a:solidFill>
                  <a:srgbClr val="FFFFFF"/>
                </a:solidFill>
                <a:latin typeface="Arial"/>
                <a:ea typeface="Arial"/>
                <a:cs typeface="Arial"/>
              </a:rPr>
              <a:t>7600</a:t>
            </a:r>
          </a:p>
        </p:txBody>
      </p:sp>
      <p:sp>
        <p:nvSpPr>
          <p:cNvPr id="96" name="Figure 13 label 95 line 1">
            <a:extLst xmlns:a="http://schemas.openxmlformats.org/drawingml/2006/main">
              <a:ext uri="{FF2B5EF4-FFF2-40B4-BE49-F238E27FC236}">
                <a16:creationId xmlns:a16="http://schemas.microsoft.com/office/drawing/2014/main" id="{C27D1772-D38B-42DA-BC49-039821EFB241}"/>
              </a:ext>
            </a:extLst>
          </p:cNvPr>
          <p:cNvSpPr>
            <a:spLocks xmlns:a="http://schemas.openxmlformats.org/drawingml/2006/main" noGrp="1"/>
          </p:cNvSpPr>
          <p:nvPr/>
        </p:nvSpPr>
        <p:spPr>
          <a:xfrm xmlns:a="http://schemas.openxmlformats.org/drawingml/2006/main" rot="0">
            <a:off x="16446669" y="5697950"/>
            <a:ext cx="520363"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425" b="0">
                <a:solidFill>
                  <a:srgbClr val="00355F"/>
                </a:solidFill>
                <a:latin typeface="Arial"/>
                <a:ea typeface="Arial"/>
                <a:cs typeface="Arial"/>
              </a:defRPr>
            </a:defPPr>
          </a:lstStyle>
          <a:p xmlns:a="http://schemas.openxmlformats.org/drawingml/2006/main">
            <a:pPr algn="ctr">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2400</a:t>
            </a:r>
          </a:p>
        </p:txBody>
      </p:sp>
      <p:sp>
        <p:nvSpPr>
          <p:cNvPr id="97" name="Figure 13 label 96 line 1">
            <a:extLst xmlns:a="http://schemas.openxmlformats.org/drawingml/2006/main">
              <a:ext uri="{FF2B5EF4-FFF2-40B4-BE49-F238E27FC236}">
                <a16:creationId xmlns:a16="http://schemas.microsoft.com/office/drawing/2014/main" id="{6AAB9C8E-20AA-4A70-A718-E4D841DE8808}"/>
              </a:ext>
            </a:extLst>
          </p:cNvPr>
          <p:cNvSpPr>
            <a:spLocks xmlns:a="http://schemas.openxmlformats.org/drawingml/2006/main" noGrp="1"/>
          </p:cNvSpPr>
          <p:nvPr/>
        </p:nvSpPr>
        <p:spPr>
          <a:xfrm xmlns:a="http://schemas.openxmlformats.org/drawingml/2006/main" rot="0">
            <a:off x="7211568" y="6058662"/>
            <a:ext cx="6505307"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Learn binding, expression, stability and functional relationships</a:t>
            </a:r>
          </a:p>
        </p:txBody>
      </p:sp>
      <p:sp>
        <p:nvSpPr>
          <p:cNvPr id="98" name="Figure 13 label 97 line 1">
            <a:extLst xmlns:a="http://schemas.openxmlformats.org/drawingml/2006/main">
              <a:ext uri="{FF2B5EF4-FFF2-40B4-BE49-F238E27FC236}">
                <a16:creationId xmlns:a16="http://schemas.microsoft.com/office/drawing/2014/main" id="{FC1C3678-8096-429A-9108-63C98B038EB9}"/>
              </a:ext>
            </a:extLst>
          </p:cNvPr>
          <p:cNvSpPr>
            <a:spLocks xmlns:a="http://schemas.openxmlformats.org/drawingml/2006/main" noGrp="1"/>
          </p:cNvSpPr>
          <p:nvPr/>
        </p:nvSpPr>
        <p:spPr>
          <a:xfrm xmlns:a="http://schemas.openxmlformats.org/drawingml/2006/main" rot="0">
            <a:off x="7213473" y="6437757"/>
            <a:ext cx="5924431"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Synthetic values: 1–10,000. Darker = larger; no biological units or quality ranking.</a:t>
            </a:r>
          </a:p>
        </p:txBody>
      </p:sp>
      <p:sp>
        <p:nvSpPr>
          <p:cNvPr id="99" name="Figure 13 label 98 line 1">
            <a:extLst xmlns:a="http://schemas.openxmlformats.org/drawingml/2006/main">
              <a:ext uri="{FF2B5EF4-FFF2-40B4-BE49-F238E27FC236}">
                <a16:creationId xmlns:a16="http://schemas.microsoft.com/office/drawing/2014/main" id="{E1D0432F-329B-4F38-A0A2-19052BC86EFA}"/>
              </a:ext>
            </a:extLst>
          </p:cNvPr>
          <p:cNvSpPr>
            <a:spLocks xmlns:a="http://schemas.openxmlformats.org/drawingml/2006/main" noGrp="1"/>
          </p:cNvSpPr>
          <p:nvPr/>
        </p:nvSpPr>
        <p:spPr>
          <a:xfrm xmlns:a="http://schemas.openxmlformats.org/drawingml/2006/main" rot="0">
            <a:off x="904875" y="7229475"/>
            <a:ext cx="2391370"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Reuse existing data</a:t>
            </a:r>
          </a:p>
        </p:txBody>
      </p:sp>
      <p:sp>
        <p:nvSpPr>
          <p:cNvPr id="100" name="Figure 13 label 99 line 1">
            <a:extLst xmlns:a="http://schemas.openxmlformats.org/drawingml/2006/main">
              <a:ext uri="{FF2B5EF4-FFF2-40B4-BE49-F238E27FC236}">
                <a16:creationId xmlns:a16="http://schemas.microsoft.com/office/drawing/2014/main" id="{06C7FF00-9F3F-4C79-A05D-61B27CA6004A}"/>
              </a:ext>
            </a:extLst>
          </p:cNvPr>
          <p:cNvSpPr>
            <a:spLocks xmlns:a="http://schemas.openxmlformats.org/drawingml/2006/main" noGrp="1"/>
          </p:cNvSpPr>
          <p:nvPr/>
        </p:nvSpPr>
        <p:spPr>
          <a:xfrm xmlns:a="http://schemas.openxmlformats.org/drawingml/2006/main" rot="0">
            <a:off x="906780" y="7665720"/>
            <a:ext cx="386194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Normalize formats, conditions and access</a:t>
            </a:r>
          </a:p>
        </p:txBody>
      </p:sp>
      <p:sp>
        <p:nvSpPr>
          <p:cNvPr id="101" name="Figure 13 label 99 line 2">
            <a:extLst xmlns:a="http://schemas.openxmlformats.org/drawingml/2006/main">
              <a:ext uri="{FF2B5EF4-FFF2-40B4-BE49-F238E27FC236}">
                <a16:creationId xmlns:a16="http://schemas.microsoft.com/office/drawing/2014/main" id="{94F62CED-662E-4F6C-95C7-8F2D9033CC77}"/>
              </a:ext>
            </a:extLst>
          </p:cNvPr>
          <p:cNvSpPr>
            <a:spLocks xmlns:a="http://schemas.openxmlformats.org/drawingml/2006/main" noGrp="1"/>
          </p:cNvSpPr>
          <p:nvPr/>
        </p:nvSpPr>
        <p:spPr>
          <a:xfrm xmlns:a="http://schemas.openxmlformats.org/drawingml/2006/main" rot="0">
            <a:off x="906780" y="7903845"/>
            <a:ext cx="386194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Better training may need no new experiment</a:t>
            </a:r>
          </a:p>
        </p:txBody>
      </p:sp>
      <p:sp>
        <p:nvSpPr>
          <p:cNvPr id="102" name="Figure 13 label 100 line 1">
            <a:extLst xmlns:a="http://schemas.openxmlformats.org/drawingml/2006/main">
              <a:ext uri="{FF2B5EF4-FFF2-40B4-BE49-F238E27FC236}">
                <a16:creationId xmlns:a16="http://schemas.microsoft.com/office/drawing/2014/main" id="{D9AD5A7A-7AC5-456E-BD83-74B07E3939C8}"/>
              </a:ext>
            </a:extLst>
          </p:cNvPr>
          <p:cNvSpPr>
            <a:spLocks xmlns:a="http://schemas.openxmlformats.org/drawingml/2006/main" noGrp="1"/>
          </p:cNvSpPr>
          <p:nvPr/>
        </p:nvSpPr>
        <p:spPr>
          <a:xfrm xmlns:a="http://schemas.openxmlformats.org/drawingml/2006/main" rot="0">
            <a:off x="6410325" y="7229475"/>
            <a:ext cx="2602855"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Stage 0: fill data gaps</a:t>
            </a:r>
          </a:p>
        </p:txBody>
      </p:sp>
      <p:sp>
        <p:nvSpPr>
          <p:cNvPr id="103" name="Figure 13 label 101 line 1">
            <a:extLst xmlns:a="http://schemas.openxmlformats.org/drawingml/2006/main">
              <a:ext uri="{FF2B5EF4-FFF2-40B4-BE49-F238E27FC236}">
                <a16:creationId xmlns:a16="http://schemas.microsoft.com/office/drawing/2014/main" id="{602F56B0-ACD9-4317-8581-CDFC44B5E6F0}"/>
              </a:ext>
            </a:extLst>
          </p:cNvPr>
          <p:cNvSpPr>
            <a:spLocks xmlns:a="http://schemas.openxmlformats.org/drawingml/2006/main" noGrp="1"/>
          </p:cNvSpPr>
          <p:nvPr/>
        </p:nvSpPr>
        <p:spPr>
          <a:xfrm xmlns:a="http://schemas.openxmlformats.org/drawingml/2006/main" rot="0">
            <a:off x="6412230" y="7665720"/>
            <a:ext cx="37768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Add missing assays and biological diversity</a:t>
            </a:r>
          </a:p>
        </p:txBody>
      </p:sp>
      <p:sp>
        <p:nvSpPr>
          <p:cNvPr id="104" name="Figure 13 label 101 line 2">
            <a:extLst xmlns:a="http://schemas.openxmlformats.org/drawingml/2006/main">
              <a:ext uri="{FF2B5EF4-FFF2-40B4-BE49-F238E27FC236}">
                <a16:creationId xmlns:a16="http://schemas.microsoft.com/office/drawing/2014/main" id="{06A75714-8108-437E-8D2A-CCDA40ECAEC3}"/>
              </a:ext>
            </a:extLst>
          </p:cNvPr>
          <p:cNvSpPr>
            <a:spLocks xmlns:a="http://schemas.openxmlformats.org/drawingml/2006/main" noGrp="1"/>
          </p:cNvSpPr>
          <p:nvPr/>
        </p:nvSpPr>
        <p:spPr>
          <a:xfrm xmlns:a="http://schemas.openxmlformats.org/drawingml/2006/main" rot="0">
            <a:off x="6412230" y="7903845"/>
            <a:ext cx="3776811"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Create reusable model-training datasets</a:t>
            </a:r>
          </a:p>
        </p:txBody>
      </p:sp>
      <p:sp>
        <p:nvSpPr>
          <p:cNvPr id="105" name="Figure 13 label 102 line 1">
            <a:extLst xmlns:a="http://schemas.openxmlformats.org/drawingml/2006/main">
              <a:ext uri="{FF2B5EF4-FFF2-40B4-BE49-F238E27FC236}">
                <a16:creationId xmlns:a16="http://schemas.microsoft.com/office/drawing/2014/main" id="{CD55B7E9-81C7-467D-8E7C-089151DBABC9}"/>
              </a:ext>
            </a:extLst>
          </p:cNvPr>
          <p:cNvSpPr>
            <a:spLocks xmlns:a="http://schemas.openxmlformats.org/drawingml/2006/main" noGrp="1"/>
          </p:cNvSpPr>
          <p:nvPr/>
        </p:nvSpPr>
        <p:spPr>
          <a:xfrm xmlns:a="http://schemas.openxmlformats.org/drawingml/2006/main" rot="0">
            <a:off x="11915775" y="7229475"/>
            <a:ext cx="4257973" cy="297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75" b="1">
                <a:solidFill>
                  <a:srgbClr val="00355F"/>
                </a:solidFill>
                <a:latin typeface="Arial"/>
                <a:ea typeface="Arial"/>
                <a:cs typeface="Arial"/>
              </a:defRPr>
            </a:defPPr>
          </a:lstStyle>
          <a:p xmlns:a="http://schemas.openxmlformats.org/drawingml/2006/main">
            <a:pPr algn="l">
              <a:lnSpc>
                <a:spcPct val="100000"/>
              </a:lnSpc>
              <a:buNone/>
              <a:defRPr sz="1875" b="1">
                <a:solidFill>
                  <a:srgbClr val="00355F"/>
                </a:solidFill>
                <a:latin typeface="Arial"/>
                <a:ea typeface="Arial"/>
                <a:cs typeface="Arial"/>
              </a:defRPr>
            </a:pPr>
            <a:r>
              <a:rPr sz="1875" b="1">
                <a:solidFill>
                  <a:srgbClr val="00355F"/>
                </a:solidFill>
                <a:latin typeface="Arial"/>
                <a:ea typeface="Arial"/>
                <a:cs typeface="Arial"/>
              </a:rPr>
              <a:t>Active learning: measure selectively</a:t>
            </a:r>
          </a:p>
        </p:txBody>
      </p:sp>
      <p:sp>
        <p:nvSpPr>
          <p:cNvPr id="106" name="Figure 13 label 103 line 1">
            <a:extLst xmlns:a="http://schemas.openxmlformats.org/drawingml/2006/main">
              <a:ext uri="{FF2B5EF4-FFF2-40B4-BE49-F238E27FC236}">
                <a16:creationId xmlns:a16="http://schemas.microsoft.com/office/drawing/2014/main" id="{9E9B0D88-AAFD-41F1-9AE8-2993AE897014}"/>
              </a:ext>
            </a:extLst>
          </p:cNvPr>
          <p:cNvSpPr>
            <a:spLocks xmlns:a="http://schemas.openxmlformats.org/drawingml/2006/main" noGrp="1"/>
          </p:cNvSpPr>
          <p:nvPr/>
        </p:nvSpPr>
        <p:spPr>
          <a:xfrm xmlns:a="http://schemas.openxmlformats.org/drawingml/2006/main" rot="0">
            <a:off x="11917680" y="7665720"/>
            <a:ext cx="358601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Prioritize informative molecules and tests</a:t>
            </a:r>
          </a:p>
        </p:txBody>
      </p:sp>
      <p:sp>
        <p:nvSpPr>
          <p:cNvPr id="107" name="Figure 13 label 103 line 2">
            <a:extLst xmlns:a="http://schemas.openxmlformats.org/drawingml/2006/main">
              <a:ext uri="{FF2B5EF4-FFF2-40B4-BE49-F238E27FC236}">
                <a16:creationId xmlns:a16="http://schemas.microsoft.com/office/drawing/2014/main" id="{A15D1F5B-8512-49DB-B98B-4381A26C94E5}"/>
              </a:ext>
            </a:extLst>
          </p:cNvPr>
          <p:cNvSpPr>
            <a:spLocks xmlns:a="http://schemas.openxmlformats.org/drawingml/2006/main" noGrp="1"/>
          </p:cNvSpPr>
          <p:nvPr/>
        </p:nvSpPr>
        <p:spPr>
          <a:xfrm xmlns:a="http://schemas.openxmlformats.org/drawingml/2006/main" rot="0">
            <a:off x="11917680" y="7903845"/>
            <a:ext cx="358601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Limit coverage of costly measurements</a:t>
            </a:r>
          </a:p>
        </p:txBody>
      </p:sp>
      <p:sp>
        <p:nvSpPr>
          <p:cNvPr id="108" name="Figure 13 label 104 line 1">
            <a:extLst xmlns:a="http://schemas.openxmlformats.org/drawingml/2006/main">
              <a:ext uri="{FF2B5EF4-FFF2-40B4-BE49-F238E27FC236}">
                <a16:creationId xmlns:a16="http://schemas.microsoft.com/office/drawing/2014/main" id="{7079A1C1-BE50-49DA-AEAB-F1F15D06E796}"/>
              </a:ext>
            </a:extLst>
          </p:cNvPr>
          <p:cNvSpPr>
            <a:spLocks xmlns:a="http://schemas.openxmlformats.org/drawingml/2006/main" noGrp="1"/>
          </p:cNvSpPr>
          <p:nvPr/>
        </p:nvSpPr>
        <p:spPr>
          <a:xfrm xmlns:a="http://schemas.openxmlformats.org/drawingml/2006/main" rot="0">
            <a:off x="906780" y="8589645"/>
            <a:ext cx="4305746"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The nine labels: what each property measures</a:t>
            </a:r>
          </a:p>
        </p:txBody>
      </p:sp>
      <p:sp>
        <p:nvSpPr>
          <p:cNvPr id="109" name="Figure 13 label 105 line 1">
            <a:extLst xmlns:a="http://schemas.openxmlformats.org/drawingml/2006/main">
              <a:ext uri="{FF2B5EF4-FFF2-40B4-BE49-F238E27FC236}">
                <a16:creationId xmlns:a16="http://schemas.microsoft.com/office/drawing/2014/main" id="{9AF91E49-1978-4F48-8C3A-2CE09317D603}"/>
              </a:ext>
            </a:extLst>
          </p:cNvPr>
          <p:cNvSpPr>
            <a:spLocks xmlns:a="http://schemas.openxmlformats.org/drawingml/2006/main" noGrp="1"/>
          </p:cNvSpPr>
          <p:nvPr/>
        </p:nvSpPr>
        <p:spPr>
          <a:xfrm xmlns:a="http://schemas.openxmlformats.org/drawingml/2006/main" rot="0">
            <a:off x="1004316" y="8934069"/>
            <a:ext cx="27941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KD</a:t>
            </a:r>
          </a:p>
        </p:txBody>
      </p:sp>
      <p:sp>
        <p:nvSpPr>
          <p:cNvPr id="110" name="Figure 13 label 106 line 1">
            <a:extLst xmlns:a="http://schemas.openxmlformats.org/drawingml/2006/main">
              <a:ext uri="{FF2B5EF4-FFF2-40B4-BE49-F238E27FC236}">
                <a16:creationId xmlns:a16="http://schemas.microsoft.com/office/drawing/2014/main" id="{B41B4F10-93EA-473C-8C15-D981B397EE39}"/>
              </a:ext>
            </a:extLst>
          </p:cNvPr>
          <p:cNvSpPr>
            <a:spLocks xmlns:a="http://schemas.openxmlformats.org/drawingml/2006/main" noGrp="1"/>
          </p:cNvSpPr>
          <p:nvPr/>
        </p:nvSpPr>
        <p:spPr>
          <a:xfrm xmlns:a="http://schemas.openxmlformats.org/drawingml/2006/main" rot="0">
            <a:off x="2052066" y="8934069"/>
            <a:ext cx="173227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Equilibrium binding strength</a:t>
            </a:r>
          </a:p>
        </p:txBody>
      </p:sp>
      <p:sp>
        <p:nvSpPr>
          <p:cNvPr id="111" name="Figure 13 label 107 line 1">
            <a:extLst xmlns:a="http://schemas.openxmlformats.org/drawingml/2006/main">
              <a:ext uri="{FF2B5EF4-FFF2-40B4-BE49-F238E27FC236}">
                <a16:creationId xmlns:a16="http://schemas.microsoft.com/office/drawing/2014/main" id="{23CFC677-CBFF-4832-BD98-E983DBA9F53B}"/>
              </a:ext>
            </a:extLst>
          </p:cNvPr>
          <p:cNvSpPr>
            <a:spLocks xmlns:a="http://schemas.openxmlformats.org/drawingml/2006/main" noGrp="1"/>
          </p:cNvSpPr>
          <p:nvPr/>
        </p:nvSpPr>
        <p:spPr>
          <a:xfrm xmlns:a="http://schemas.openxmlformats.org/drawingml/2006/main" rot="0">
            <a:off x="6509766" y="8934069"/>
            <a:ext cx="323761"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kon</a:t>
            </a:r>
          </a:p>
        </p:txBody>
      </p:sp>
      <p:sp>
        <p:nvSpPr>
          <p:cNvPr id="112" name="Figure 13 label 108 line 1">
            <a:extLst xmlns:a="http://schemas.openxmlformats.org/drawingml/2006/main">
              <a:ext uri="{FF2B5EF4-FFF2-40B4-BE49-F238E27FC236}">
                <a16:creationId xmlns:a16="http://schemas.microsoft.com/office/drawing/2014/main" id="{A5C2A439-5CFF-45D3-8709-EC116A8225D8}"/>
              </a:ext>
            </a:extLst>
          </p:cNvPr>
          <p:cNvSpPr>
            <a:spLocks xmlns:a="http://schemas.openxmlformats.org/drawingml/2006/main" noGrp="1"/>
          </p:cNvSpPr>
          <p:nvPr/>
        </p:nvSpPr>
        <p:spPr>
          <a:xfrm xmlns:a="http://schemas.openxmlformats.org/drawingml/2006/main" rot="0">
            <a:off x="7557516" y="8934069"/>
            <a:ext cx="1635681"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How quickly binding forms</a:t>
            </a:r>
          </a:p>
        </p:txBody>
      </p:sp>
      <p:sp>
        <p:nvSpPr>
          <p:cNvPr id="113" name="Figure 13 label 109 line 1">
            <a:extLst xmlns:a="http://schemas.openxmlformats.org/drawingml/2006/main">
              <a:ext uri="{FF2B5EF4-FFF2-40B4-BE49-F238E27FC236}">
                <a16:creationId xmlns:a16="http://schemas.microsoft.com/office/drawing/2014/main" id="{AF46A25D-6335-4209-81AD-E875D85954F2}"/>
              </a:ext>
            </a:extLst>
          </p:cNvPr>
          <p:cNvSpPr>
            <a:spLocks xmlns:a="http://schemas.openxmlformats.org/drawingml/2006/main" noGrp="1"/>
          </p:cNvSpPr>
          <p:nvPr/>
        </p:nvSpPr>
        <p:spPr>
          <a:xfrm xmlns:a="http://schemas.openxmlformats.org/drawingml/2006/main" rot="0">
            <a:off x="12015216" y="8934069"/>
            <a:ext cx="33120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koff</a:t>
            </a:r>
          </a:p>
        </p:txBody>
      </p:sp>
      <p:sp>
        <p:nvSpPr>
          <p:cNvPr id="114" name="Figure 13 label 110 line 1">
            <a:extLst xmlns:a="http://schemas.openxmlformats.org/drawingml/2006/main">
              <a:ext uri="{FF2B5EF4-FFF2-40B4-BE49-F238E27FC236}">
                <a16:creationId xmlns:a16="http://schemas.microsoft.com/office/drawing/2014/main" id="{DEA8E3A0-BC6F-46D5-B13F-2862A19FA76F}"/>
              </a:ext>
            </a:extLst>
          </p:cNvPr>
          <p:cNvSpPr>
            <a:spLocks xmlns:a="http://schemas.openxmlformats.org/drawingml/2006/main" noGrp="1"/>
          </p:cNvSpPr>
          <p:nvPr/>
        </p:nvSpPr>
        <p:spPr>
          <a:xfrm xmlns:a="http://schemas.openxmlformats.org/drawingml/2006/main" rot="0">
            <a:off x="13062966" y="8934069"/>
            <a:ext cx="217682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How quickly the complex separates</a:t>
            </a:r>
          </a:p>
        </p:txBody>
      </p:sp>
      <p:sp>
        <p:nvSpPr>
          <p:cNvPr id="115" name="Figure 13 label 111 line 1">
            <a:extLst xmlns:a="http://schemas.openxmlformats.org/drawingml/2006/main">
              <a:ext uri="{FF2B5EF4-FFF2-40B4-BE49-F238E27FC236}">
                <a16:creationId xmlns:a16="http://schemas.microsoft.com/office/drawing/2014/main" id="{491B770C-FDCE-441D-88BB-60C18F2D53E3}"/>
              </a:ext>
            </a:extLst>
          </p:cNvPr>
          <p:cNvSpPr>
            <a:spLocks xmlns:a="http://schemas.openxmlformats.org/drawingml/2006/main" noGrp="1"/>
          </p:cNvSpPr>
          <p:nvPr/>
        </p:nvSpPr>
        <p:spPr>
          <a:xfrm xmlns:a="http://schemas.openxmlformats.org/drawingml/2006/main" rot="0">
            <a:off x="1004316" y="9191244"/>
            <a:ext cx="79093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expression</a:t>
            </a:r>
          </a:p>
        </p:txBody>
      </p:sp>
      <p:sp>
        <p:nvSpPr>
          <p:cNvPr id="116" name="Figure 13 label 112 line 1">
            <a:extLst xmlns:a="http://schemas.openxmlformats.org/drawingml/2006/main">
              <a:ext uri="{FF2B5EF4-FFF2-40B4-BE49-F238E27FC236}">
                <a16:creationId xmlns:a16="http://schemas.microsoft.com/office/drawing/2014/main" id="{2E74447D-9999-4661-8D33-8D4557DF7EF6}"/>
              </a:ext>
            </a:extLst>
          </p:cNvPr>
          <p:cNvSpPr>
            <a:spLocks xmlns:a="http://schemas.openxmlformats.org/drawingml/2006/main" noGrp="1"/>
          </p:cNvSpPr>
          <p:nvPr/>
        </p:nvSpPr>
        <p:spPr>
          <a:xfrm xmlns:a="http://schemas.openxmlformats.org/drawingml/2006/main" rot="0">
            <a:off x="2052066" y="9191244"/>
            <a:ext cx="202843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Antibody yield from a cell system</a:t>
            </a:r>
          </a:p>
        </p:txBody>
      </p:sp>
      <p:sp>
        <p:nvSpPr>
          <p:cNvPr id="117" name="Figure 13 label 113 line 1">
            <a:extLst xmlns:a="http://schemas.openxmlformats.org/drawingml/2006/main">
              <a:ext uri="{FF2B5EF4-FFF2-40B4-BE49-F238E27FC236}">
                <a16:creationId xmlns:a16="http://schemas.microsoft.com/office/drawing/2014/main" id="{5E261650-CE6D-43CC-A511-F8746D422C14}"/>
              </a:ext>
            </a:extLst>
          </p:cNvPr>
          <p:cNvSpPr>
            <a:spLocks xmlns:a="http://schemas.openxmlformats.org/drawingml/2006/main" noGrp="1"/>
          </p:cNvSpPr>
          <p:nvPr/>
        </p:nvSpPr>
        <p:spPr>
          <a:xfrm xmlns:a="http://schemas.openxmlformats.org/drawingml/2006/main" rot="0">
            <a:off x="6509766" y="9191244"/>
            <a:ext cx="286703"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Tm</a:t>
            </a:r>
          </a:p>
        </p:txBody>
      </p:sp>
      <p:sp>
        <p:nvSpPr>
          <p:cNvPr id="118" name="Figure 13 label 114 line 1">
            <a:extLst xmlns:a="http://schemas.openxmlformats.org/drawingml/2006/main">
              <a:ext uri="{FF2B5EF4-FFF2-40B4-BE49-F238E27FC236}">
                <a16:creationId xmlns:a16="http://schemas.microsoft.com/office/drawing/2014/main" id="{14E9F783-D806-4B6A-A25E-FE1F901F9C76}"/>
              </a:ext>
            </a:extLst>
          </p:cNvPr>
          <p:cNvSpPr>
            <a:spLocks xmlns:a="http://schemas.openxmlformats.org/drawingml/2006/main" noGrp="1"/>
          </p:cNvSpPr>
          <p:nvPr/>
        </p:nvSpPr>
        <p:spPr>
          <a:xfrm xmlns:a="http://schemas.openxmlformats.org/drawingml/2006/main" rot="0">
            <a:off x="7557516" y="9191244"/>
            <a:ext cx="1732270"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Thermal unfolding transition</a:t>
            </a:r>
          </a:p>
        </p:txBody>
      </p:sp>
      <p:sp>
        <p:nvSpPr>
          <p:cNvPr id="119" name="Figure 13 label 115 line 1">
            <a:extLst xmlns:a="http://schemas.openxmlformats.org/drawingml/2006/main">
              <a:ext uri="{FF2B5EF4-FFF2-40B4-BE49-F238E27FC236}">
                <a16:creationId xmlns:a16="http://schemas.microsoft.com/office/drawing/2014/main" id="{903894E1-233F-4DBA-9554-3AF385406F71}"/>
              </a:ext>
            </a:extLst>
          </p:cNvPr>
          <p:cNvSpPr>
            <a:spLocks xmlns:a="http://schemas.openxmlformats.org/drawingml/2006/main" noGrp="1"/>
          </p:cNvSpPr>
          <p:nvPr/>
        </p:nvSpPr>
        <p:spPr>
          <a:xfrm xmlns:a="http://schemas.openxmlformats.org/drawingml/2006/main" rot="0">
            <a:off x="12015216" y="9191244"/>
            <a:ext cx="84986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aggregation</a:t>
            </a:r>
          </a:p>
        </p:txBody>
      </p:sp>
      <p:sp>
        <p:nvSpPr>
          <p:cNvPr id="120" name="Figure 13 label 116 line 1">
            <a:extLst xmlns:a="http://schemas.openxmlformats.org/drawingml/2006/main">
              <a:ext uri="{FF2B5EF4-FFF2-40B4-BE49-F238E27FC236}">
                <a16:creationId xmlns:a16="http://schemas.microsoft.com/office/drawing/2014/main" id="{E3BB80B4-FC05-4629-9827-1224B315172B}"/>
              </a:ext>
            </a:extLst>
          </p:cNvPr>
          <p:cNvSpPr>
            <a:spLocks xmlns:a="http://schemas.openxmlformats.org/drawingml/2006/main" noGrp="1"/>
          </p:cNvSpPr>
          <p:nvPr/>
        </p:nvSpPr>
        <p:spPr>
          <a:xfrm xmlns:a="http://schemas.openxmlformats.org/drawingml/2006/main" rot="0">
            <a:off x="13062966" y="9191244"/>
            <a:ext cx="2043172"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Molecules forming larger clusters</a:t>
            </a:r>
          </a:p>
        </p:txBody>
      </p:sp>
      <p:sp>
        <p:nvSpPr>
          <p:cNvPr id="121" name="Figure 13 label 117 line 1">
            <a:extLst xmlns:a="http://schemas.openxmlformats.org/drawingml/2006/main">
              <a:ext uri="{FF2B5EF4-FFF2-40B4-BE49-F238E27FC236}">
                <a16:creationId xmlns:a16="http://schemas.microsoft.com/office/drawing/2014/main" id="{202495EC-8A63-40C9-8783-283D619FFE4D}"/>
              </a:ext>
            </a:extLst>
          </p:cNvPr>
          <p:cNvSpPr>
            <a:spLocks xmlns:a="http://schemas.openxmlformats.org/drawingml/2006/main" noGrp="1"/>
          </p:cNvSpPr>
          <p:nvPr/>
        </p:nvSpPr>
        <p:spPr>
          <a:xfrm xmlns:a="http://schemas.openxmlformats.org/drawingml/2006/main" rot="0">
            <a:off x="1004316" y="9448419"/>
            <a:ext cx="94645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polyreactivity</a:t>
            </a:r>
          </a:p>
        </p:txBody>
      </p:sp>
      <p:sp>
        <p:nvSpPr>
          <p:cNvPr id="122" name="Figure 13 label 118 line 1">
            <a:extLst xmlns:a="http://schemas.openxmlformats.org/drawingml/2006/main">
              <a:ext uri="{FF2B5EF4-FFF2-40B4-BE49-F238E27FC236}">
                <a16:creationId xmlns:a16="http://schemas.microsoft.com/office/drawing/2014/main" id="{9AFB2A76-DCC1-4D88-988B-AAD27A8CBE3F}"/>
              </a:ext>
            </a:extLst>
          </p:cNvPr>
          <p:cNvSpPr>
            <a:spLocks xmlns:a="http://schemas.openxmlformats.org/drawingml/2006/main" noGrp="1"/>
          </p:cNvSpPr>
          <p:nvPr/>
        </p:nvSpPr>
        <p:spPr>
          <a:xfrm xmlns:a="http://schemas.openxmlformats.org/drawingml/2006/main" rot="0">
            <a:off x="2052066" y="9448419"/>
            <a:ext cx="1887944"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Binding to multiple non-targets</a:t>
            </a:r>
          </a:p>
        </p:txBody>
      </p:sp>
      <p:sp>
        <p:nvSpPr>
          <p:cNvPr id="123" name="Figure 13 label 119 line 1">
            <a:extLst xmlns:a="http://schemas.openxmlformats.org/drawingml/2006/main">
              <a:ext uri="{FF2B5EF4-FFF2-40B4-BE49-F238E27FC236}">
                <a16:creationId xmlns:a16="http://schemas.microsoft.com/office/drawing/2014/main" id="{BE3059C1-0D66-436D-802C-456AE407FBA9}"/>
              </a:ext>
            </a:extLst>
          </p:cNvPr>
          <p:cNvSpPr>
            <a:spLocks xmlns:a="http://schemas.openxmlformats.org/drawingml/2006/main" noGrp="1"/>
          </p:cNvSpPr>
          <p:nvPr/>
        </p:nvSpPr>
        <p:spPr>
          <a:xfrm xmlns:a="http://schemas.openxmlformats.org/drawingml/2006/main" rot="0">
            <a:off x="6509766" y="9448419"/>
            <a:ext cx="560844"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epitope</a:t>
            </a:r>
          </a:p>
        </p:txBody>
      </p:sp>
      <p:sp>
        <p:nvSpPr>
          <p:cNvPr id="124" name="Figure 13 label 120 line 1">
            <a:extLst xmlns:a="http://schemas.openxmlformats.org/drawingml/2006/main">
              <a:ext uri="{FF2B5EF4-FFF2-40B4-BE49-F238E27FC236}">
                <a16:creationId xmlns:a16="http://schemas.microsoft.com/office/drawing/2014/main" id="{9877B6BE-A154-4058-8A7F-DFB92A52DE85}"/>
              </a:ext>
            </a:extLst>
          </p:cNvPr>
          <p:cNvSpPr>
            <a:spLocks xmlns:a="http://schemas.openxmlformats.org/drawingml/2006/main" noGrp="1"/>
          </p:cNvSpPr>
          <p:nvPr/>
        </p:nvSpPr>
        <p:spPr>
          <a:xfrm xmlns:a="http://schemas.openxmlformats.org/drawingml/2006/main" rot="0">
            <a:off x="7557516" y="9448419"/>
            <a:ext cx="1813977"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The binding site on the target</a:t>
            </a:r>
          </a:p>
        </p:txBody>
      </p:sp>
      <p:sp>
        <p:nvSpPr>
          <p:cNvPr id="125" name="Figure 13 label 121 line 1">
            <a:extLst xmlns:a="http://schemas.openxmlformats.org/drawingml/2006/main">
              <a:ext uri="{FF2B5EF4-FFF2-40B4-BE49-F238E27FC236}">
                <a16:creationId xmlns:a16="http://schemas.microsoft.com/office/drawing/2014/main" id="{95B1000C-7AAF-4B6E-A95C-F178870A4356}"/>
              </a:ext>
            </a:extLst>
          </p:cNvPr>
          <p:cNvSpPr>
            <a:spLocks xmlns:a="http://schemas.openxmlformats.org/drawingml/2006/main" noGrp="1"/>
          </p:cNvSpPr>
          <p:nvPr/>
        </p:nvSpPr>
        <p:spPr>
          <a:xfrm xmlns:a="http://schemas.openxmlformats.org/drawingml/2006/main" rot="0">
            <a:off x="12015216" y="9448419"/>
            <a:ext cx="857458"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1">
                <a:solidFill>
                  <a:srgbClr val="00355F"/>
                </a:solidFill>
                <a:latin typeface="Arial"/>
                <a:ea typeface="Arial"/>
                <a:cs typeface="Arial"/>
              </a:defRPr>
            </a:defPPr>
          </a:lstStyle>
          <a:p xmlns:a="http://schemas.openxmlformats.org/drawingml/2006/main">
            <a:pPr algn="l">
              <a:lnSpc>
                <a:spcPct val="100000"/>
              </a:lnSpc>
              <a:buNone/>
              <a:defRPr sz="1050" b="1">
                <a:solidFill>
                  <a:srgbClr val="00355F"/>
                </a:solidFill>
                <a:latin typeface="Arial"/>
                <a:ea typeface="Arial"/>
                <a:cs typeface="Arial"/>
              </a:defRPr>
            </a:pPr>
            <a:r>
              <a:rPr sz="1050" b="1">
                <a:solidFill>
                  <a:srgbClr val="00355F"/>
                </a:solidFill>
                <a:latin typeface="Arial"/>
                <a:ea typeface="Arial"/>
                <a:cs typeface="Arial"/>
              </a:rPr>
              <a:t>cell potency</a:t>
            </a:r>
          </a:p>
        </p:txBody>
      </p:sp>
      <p:sp>
        <p:nvSpPr>
          <p:cNvPr id="126" name="Figure 13 label 122 line 1">
            <a:extLst xmlns:a="http://schemas.openxmlformats.org/drawingml/2006/main">
              <a:ext uri="{FF2B5EF4-FFF2-40B4-BE49-F238E27FC236}">
                <a16:creationId xmlns:a16="http://schemas.microsoft.com/office/drawing/2014/main" id="{20FD7F43-39D4-48A0-9C85-570E24B956C2}"/>
              </a:ext>
            </a:extLst>
          </p:cNvPr>
          <p:cNvSpPr>
            <a:spLocks xmlns:a="http://schemas.openxmlformats.org/drawingml/2006/main" noGrp="1"/>
          </p:cNvSpPr>
          <p:nvPr/>
        </p:nvSpPr>
        <p:spPr>
          <a:xfrm xmlns:a="http://schemas.openxmlformats.org/drawingml/2006/main" rot="0">
            <a:off x="13062966" y="9448419"/>
            <a:ext cx="1932146" cy="166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50" b="0">
                <a:solidFill>
                  <a:srgbClr val="00355F"/>
                </a:solidFill>
                <a:latin typeface="Arial"/>
                <a:ea typeface="Arial"/>
                <a:cs typeface="Arial"/>
              </a:defRPr>
            </a:defPPr>
          </a:lstStyle>
          <a:p xmlns:a="http://schemas.openxmlformats.org/drawingml/2006/main">
            <a:pPr algn="l">
              <a:lnSpc>
                <a:spcPct val="100000"/>
              </a:lnSpc>
              <a:buNone/>
              <a:defRPr sz="1050" b="0">
                <a:solidFill>
                  <a:srgbClr val="00355F"/>
                </a:solidFill>
                <a:latin typeface="Arial"/>
                <a:ea typeface="Arial"/>
                <a:cs typeface="Arial"/>
              </a:defRPr>
            </a:pPr>
            <a:r>
              <a:rPr sz="1050" b="0">
                <a:solidFill>
                  <a:srgbClr val="00355F"/>
                </a:solidFill>
                <a:latin typeface="Arial"/>
                <a:ea typeface="Arial"/>
                <a:cs typeface="Arial"/>
              </a:rPr>
              <a:t>Functional activity in living cells</a:t>
            </a:r>
          </a:p>
        </p:txBody>
      </p:sp>
      <p:sp>
        <p:nvSpPr>
          <p:cNvPr id="127" name="Figure 13 label 123 line 1">
            <a:extLst xmlns:a="http://schemas.openxmlformats.org/drawingml/2006/main">
              <a:ext uri="{FF2B5EF4-FFF2-40B4-BE49-F238E27FC236}">
                <a16:creationId xmlns:a16="http://schemas.microsoft.com/office/drawing/2014/main" id="{5D4079AD-0A2C-4B63-909B-2A25223886C4}"/>
              </a:ext>
            </a:extLst>
          </p:cNvPr>
          <p:cNvSpPr>
            <a:spLocks xmlns:a="http://schemas.openxmlformats.org/drawingml/2006/main" noGrp="1"/>
          </p:cNvSpPr>
          <p:nvPr/>
        </p:nvSpPr>
        <p:spPr>
          <a:xfrm xmlns:a="http://schemas.openxmlformats.org/drawingml/2006/main" rot="0">
            <a:off x="679323" y="9781032"/>
            <a:ext cx="8368635"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Illustrative counts. Nine label types are not nine independent assays; richer data need not come at unchanged cost.</a:t>
            </a:r>
          </a:p>
        </p:txBody>
      </p:sp>
      <p:sp>
        <p:nvSpPr>
          <p:cNvPr id="128" name="Figure 13 label 124 line 1">
            <a:extLst xmlns:a="http://schemas.openxmlformats.org/drawingml/2006/main">
              <a:ext uri="{FF2B5EF4-FFF2-40B4-BE49-F238E27FC236}">
                <a16:creationId xmlns:a16="http://schemas.microsoft.com/office/drawing/2014/main" id="{15B36071-02FA-439A-8267-B57FC41A1E8A}"/>
              </a:ext>
            </a:extLst>
          </p:cNvPr>
          <p:cNvSpPr>
            <a:spLocks xmlns:a="http://schemas.openxmlformats.org/drawingml/2006/main" noGrp="1"/>
          </p:cNvSpPr>
          <p:nvPr/>
        </p:nvSpPr>
        <p:spPr>
          <a:xfrm xmlns:a="http://schemas.openxmlformats.org/drawingml/2006/main" rot="0">
            <a:off x="679895" y="10043350"/>
            <a:ext cx="8925788" cy="18454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63" b="0">
                <a:solidFill>
                  <a:srgbClr val="00355F"/>
                </a:solidFill>
                <a:latin typeface="Arial"/>
                <a:ea typeface="Arial"/>
                <a:cs typeface="Arial"/>
              </a:defRPr>
            </a:defPPr>
          </a:lstStyle>
          <a:p xmlns:a="http://schemas.openxmlformats.org/drawingml/2006/main">
            <a:pPr algn="l">
              <a:lnSpc>
                <a:spcPct val="100000"/>
              </a:lnSpc>
              <a:buNone/>
              <a:defRPr sz="1163" b="0">
                <a:solidFill>
                  <a:srgbClr val="00355F"/>
                </a:solidFill>
                <a:latin typeface="Arial"/>
                <a:ea typeface="Arial"/>
                <a:cs typeface="Arial"/>
              </a:defRPr>
            </a:pPr>
            <a:r>
              <a:rPr sz="1163" b="0">
                <a:solidFill>
                  <a:srgbClr val="00355F"/>
                </a:solidFill>
                <a:latin typeface="Arial"/>
                <a:ea typeface="Arial"/>
                <a:cs typeface="Arial"/>
              </a:rPr>
              <a:t>Sources: Jain et al., 2017; Arsiwala et al., 2025; van Niekerk et al., 2026. Mechanism illustration; definitions and links in SOURCES.md.</a:t>
            </a:r>
          </a:p>
        </p:txBody>
      </p:sp>
    </p:spTree>
    <p:extLst>
      <p:ext uri="{BB962C8B-B14F-4D97-AF65-F5344CB8AC3E}">
        <p14:creationId xmlns:p14="http://schemas.microsoft.com/office/powerpoint/2010/main" val="61499021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5" name="">
            <a:extLst xmlns:a="http://schemas.openxmlformats.org/drawingml/2006/main">
              <a:ext uri="{FF2B5EF4-FFF2-40B4-BE49-F238E27FC236}">
                <a16:creationId xmlns:a16="http://schemas.microsoft.com/office/drawing/2014/main" id="{6ECF1D09-A77F-40E4-91B1-1251236528CB}"/>
              </a:ext>
            </a:extLst>
          </p:cNvPr>
          <p:cNvPicPr>
            <a:picLocks xmlns:a="http://schemas.openxmlformats.org/drawingml/2006/main" noChangeAspect="1"/>
          </p:cNvPicPr>
          <p:nvPr/>
        </p:nvPicPr>
        <p:blipFill>
          <a:blip xmlns:r="http://schemas.openxmlformats.org/officeDocument/2006/relationships" xmlns:a="http://schemas.openxmlformats.org/drawingml/2006/main" r:embed="Re2d3e40458b94a69"/>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4 label 1 line 1">
            <a:extLst xmlns:a="http://schemas.openxmlformats.org/drawingml/2006/main">
              <a:ext uri="{FF2B5EF4-FFF2-40B4-BE49-F238E27FC236}">
                <a16:creationId xmlns:a16="http://schemas.microsoft.com/office/drawing/2014/main" id="{26F83330-37B2-4950-BAA7-965A046E652B}"/>
              </a:ext>
            </a:extLst>
          </p:cNvPr>
          <p:cNvSpPr>
            <a:spLocks xmlns:a="http://schemas.openxmlformats.org/drawingml/2006/main" noGrp="1"/>
          </p:cNvSpPr>
          <p:nvPr/>
        </p:nvSpPr>
        <p:spPr>
          <a:xfrm xmlns:a="http://schemas.openxmlformats.org/drawingml/2006/main" rot="0">
            <a:off x="982599" y="270891"/>
            <a:ext cx="10730746" cy="5476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450" b="1">
                <a:solidFill>
                  <a:srgbClr val="00355F"/>
                </a:solidFill>
                <a:latin typeface="Arial"/>
                <a:ea typeface="Arial"/>
                <a:cs typeface="Arial"/>
              </a:defRPr>
            </a:defPPr>
          </a:lstStyle>
          <a:p xmlns:a="http://schemas.openxmlformats.org/drawingml/2006/main">
            <a:pPr algn="l">
              <a:lnSpc>
                <a:spcPct val="100000"/>
              </a:lnSpc>
              <a:buNone/>
              <a:defRPr sz="3450" b="1">
                <a:solidFill>
                  <a:srgbClr val="00355F"/>
                </a:solidFill>
                <a:latin typeface="Arial"/>
                <a:ea typeface="Arial"/>
                <a:cs typeface="Arial"/>
              </a:defRPr>
            </a:pPr>
            <a:r>
              <a:rPr sz="3450" b="1">
                <a:solidFill>
                  <a:srgbClr val="00355F"/>
                </a:solidFill>
                <a:latin typeface="Arial"/>
                <a:ea typeface="Arial"/>
                <a:cs typeface="Arial"/>
              </a:rPr>
              <a:t>Experimental data density and the LST ecosystem</a:t>
            </a:r>
          </a:p>
        </p:txBody>
      </p:sp>
      <p:sp>
        <p:nvSpPr>
          <p:cNvPr id="3" name="Figure 14 label 2 line 1">
            <a:extLst xmlns:a="http://schemas.openxmlformats.org/drawingml/2006/main">
              <a:ext uri="{FF2B5EF4-FFF2-40B4-BE49-F238E27FC236}">
                <a16:creationId xmlns:a16="http://schemas.microsoft.com/office/drawing/2014/main" id="{56E4BAC5-0A5D-4D65-A1F3-8657CAC01DEE}"/>
              </a:ext>
            </a:extLst>
          </p:cNvPr>
          <p:cNvSpPr>
            <a:spLocks xmlns:a="http://schemas.openxmlformats.org/drawingml/2006/main" noGrp="1"/>
          </p:cNvSpPr>
          <p:nvPr/>
        </p:nvSpPr>
        <p:spPr>
          <a:xfrm xmlns:a="http://schemas.openxmlformats.org/drawingml/2006/main" rot="0">
            <a:off x="1008888" y="936117"/>
            <a:ext cx="7243941"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025" b="0">
                <a:solidFill>
                  <a:srgbClr val="00355F"/>
                </a:solidFill>
                <a:latin typeface="Arial"/>
                <a:ea typeface="Arial"/>
                <a:cs typeface="Arial"/>
              </a:defRPr>
            </a:defPPr>
          </a:lstStyle>
          <a:p xmlns:a="http://schemas.openxmlformats.org/drawingml/2006/main">
            <a:pPr algn="l">
              <a:lnSpc>
                <a:spcPct val="100000"/>
              </a:lnSpc>
              <a:buNone/>
              <a:defRPr sz="2025" b="0">
                <a:solidFill>
                  <a:srgbClr val="00355F"/>
                </a:solidFill>
                <a:latin typeface="Arial"/>
                <a:ea typeface="Arial"/>
                <a:cs typeface="Arial"/>
              </a:defRPr>
            </a:pPr>
            <a:r>
              <a:rPr sz="2025" b="0">
                <a:solidFill>
                  <a:srgbClr val="00355F"/>
                </a:solidFill>
                <a:latin typeface="Arial"/>
                <a:ea typeface="Arial"/>
                <a:cs typeface="Arial"/>
              </a:rPr>
              <a:t>Stage 0: biological data production creates a wet-lab use case</a:t>
            </a:r>
          </a:p>
        </p:txBody>
      </p:sp>
      <p:sp>
        <p:nvSpPr>
          <p:cNvPr id="4" name="Figure 14 label 3 line 1">
            <a:extLst xmlns:a="http://schemas.openxmlformats.org/drawingml/2006/main">
              <a:ext uri="{FF2B5EF4-FFF2-40B4-BE49-F238E27FC236}">
                <a16:creationId xmlns:a16="http://schemas.microsoft.com/office/drawing/2014/main" id="{45379A67-DC30-4A16-B136-70C409D81334}"/>
              </a:ext>
            </a:extLst>
          </p:cNvPr>
          <p:cNvSpPr>
            <a:spLocks xmlns:a="http://schemas.openxmlformats.org/drawingml/2006/main" noGrp="1"/>
          </p:cNvSpPr>
          <p:nvPr/>
        </p:nvSpPr>
        <p:spPr>
          <a:xfrm xmlns:a="http://schemas.openxmlformats.org/drawingml/2006/main" rot="0">
            <a:off x="1011174" y="1385316"/>
            <a:ext cx="790241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Learning developability requires comparable assay data and an integrated tool workflow</a:t>
            </a:r>
          </a:p>
        </p:txBody>
      </p:sp>
      <p:sp>
        <p:nvSpPr>
          <p:cNvPr id="5" name="Figure 14 label 4 line 1">
            <a:extLst xmlns:a="http://schemas.openxmlformats.org/drawingml/2006/main">
              <a:ext uri="{FF2B5EF4-FFF2-40B4-BE49-F238E27FC236}">
                <a16:creationId xmlns:a16="http://schemas.microsoft.com/office/drawing/2014/main" id="{C222BFFF-99D4-4D29-A7DA-C1C5F5C83926}"/>
              </a:ext>
            </a:extLst>
          </p:cNvPr>
          <p:cNvSpPr>
            <a:spLocks xmlns:a="http://schemas.openxmlformats.org/drawingml/2006/main" noGrp="1"/>
          </p:cNvSpPr>
          <p:nvPr/>
        </p:nvSpPr>
        <p:spPr>
          <a:xfrm xmlns:a="http://schemas.openxmlformats.org/drawingml/2006/main" rot="0">
            <a:off x="932307" y="2256663"/>
            <a:ext cx="4618702"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Stage 0: biological data production</a:t>
            </a:r>
          </a:p>
        </p:txBody>
      </p:sp>
      <p:sp>
        <p:nvSpPr>
          <p:cNvPr id="6" name="Figure 14 label 5 line 1">
            <a:extLst xmlns:a="http://schemas.openxmlformats.org/drawingml/2006/main">
              <a:ext uri="{FF2B5EF4-FFF2-40B4-BE49-F238E27FC236}">
                <a16:creationId xmlns:a16="http://schemas.microsoft.com/office/drawing/2014/main" id="{9BA9ED94-94A9-497D-9499-21D9CDF2D264}"/>
              </a:ext>
            </a:extLst>
          </p:cNvPr>
          <p:cNvSpPr>
            <a:spLocks xmlns:a="http://schemas.openxmlformats.org/drawingml/2006/main" noGrp="1"/>
          </p:cNvSpPr>
          <p:nvPr/>
        </p:nvSpPr>
        <p:spPr>
          <a:xfrm xmlns:a="http://schemas.openxmlformats.org/drawingml/2006/main" rot="0">
            <a:off x="935355" y="2703195"/>
            <a:ext cx="354463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Continuous input to training and iteration</a:t>
            </a:r>
          </a:p>
        </p:txBody>
      </p:sp>
      <p:sp>
        <p:nvSpPr>
          <p:cNvPr id="7" name="Figure 14 label 6 line 1">
            <a:extLst xmlns:a="http://schemas.openxmlformats.org/drawingml/2006/main">
              <a:ext uri="{FF2B5EF4-FFF2-40B4-BE49-F238E27FC236}">
                <a16:creationId xmlns:a16="http://schemas.microsoft.com/office/drawing/2014/main" id="{07EF87F9-DF1F-401F-8390-4A13F28DC71F}"/>
              </a:ext>
            </a:extLst>
          </p:cNvPr>
          <p:cNvSpPr>
            <a:spLocks xmlns:a="http://schemas.openxmlformats.org/drawingml/2006/main" noGrp="1"/>
          </p:cNvSpPr>
          <p:nvPr/>
        </p:nvSpPr>
        <p:spPr>
          <a:xfrm xmlns:a="http://schemas.openxmlformats.org/drawingml/2006/main" rot="0">
            <a:off x="1097661" y="3249549"/>
            <a:ext cx="1375231"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Binding kinetics</a:t>
            </a:r>
          </a:p>
        </p:txBody>
      </p:sp>
      <p:sp>
        <p:nvSpPr>
          <p:cNvPr id="8" name="Figure 14 label 7 line 1">
            <a:extLst xmlns:a="http://schemas.openxmlformats.org/drawingml/2006/main">
              <a:ext uri="{FF2B5EF4-FFF2-40B4-BE49-F238E27FC236}">
                <a16:creationId xmlns:a16="http://schemas.microsoft.com/office/drawing/2014/main" id="{7B736021-5B0A-40CA-8144-F603EE32F5D2}"/>
              </a:ext>
            </a:extLst>
          </p:cNvPr>
          <p:cNvSpPr>
            <a:spLocks xmlns:a="http://schemas.openxmlformats.org/drawingml/2006/main" noGrp="1"/>
          </p:cNvSpPr>
          <p:nvPr/>
        </p:nvSpPr>
        <p:spPr>
          <a:xfrm xmlns:a="http://schemas.openxmlformats.org/drawingml/2006/main" rot="0">
            <a:off x="1096137" y="3512058"/>
            <a:ext cx="1615202"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KD / kon / koff</a:t>
            </a:r>
          </a:p>
        </p:txBody>
      </p:sp>
      <p:sp>
        <p:nvSpPr>
          <p:cNvPr id="9" name="Figure 14 label 8 line 1">
            <a:extLst xmlns:a="http://schemas.openxmlformats.org/drawingml/2006/main">
              <a:ext uri="{FF2B5EF4-FFF2-40B4-BE49-F238E27FC236}">
                <a16:creationId xmlns:a16="http://schemas.microsoft.com/office/drawing/2014/main" id="{D7E569FD-C287-4507-8541-414C5C1AF6D8}"/>
              </a:ext>
            </a:extLst>
          </p:cNvPr>
          <p:cNvSpPr>
            <a:spLocks xmlns:a="http://schemas.openxmlformats.org/drawingml/2006/main" noGrp="1"/>
          </p:cNvSpPr>
          <p:nvPr/>
        </p:nvSpPr>
        <p:spPr>
          <a:xfrm xmlns:a="http://schemas.openxmlformats.org/drawingml/2006/main" rot="0">
            <a:off x="1097661" y="4202049"/>
            <a:ext cx="3417004"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Expression &amp; physicochemical properties</a:t>
            </a:r>
          </a:p>
        </p:txBody>
      </p:sp>
      <p:sp>
        <p:nvSpPr>
          <p:cNvPr id="10" name="Figure 14 label 9 line 1">
            <a:extLst xmlns:a="http://schemas.openxmlformats.org/drawingml/2006/main">
              <a:ext uri="{FF2B5EF4-FFF2-40B4-BE49-F238E27FC236}">
                <a16:creationId xmlns:a16="http://schemas.microsoft.com/office/drawing/2014/main" id="{18EBEA7E-E28F-4F4E-B46E-F3606D8CA853}"/>
              </a:ext>
            </a:extLst>
          </p:cNvPr>
          <p:cNvSpPr>
            <a:spLocks xmlns:a="http://schemas.openxmlformats.org/drawingml/2006/main" noGrp="1"/>
          </p:cNvSpPr>
          <p:nvPr/>
        </p:nvSpPr>
        <p:spPr>
          <a:xfrm xmlns:a="http://schemas.openxmlformats.org/drawingml/2006/main" rot="0">
            <a:off x="1096137" y="4464558"/>
            <a:ext cx="3246805"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expression / Tm / aggregation</a:t>
            </a:r>
          </a:p>
        </p:txBody>
      </p:sp>
      <p:sp>
        <p:nvSpPr>
          <p:cNvPr id="11" name="Figure 14 label 10 line 1">
            <a:extLst xmlns:a="http://schemas.openxmlformats.org/drawingml/2006/main">
              <a:ext uri="{FF2B5EF4-FFF2-40B4-BE49-F238E27FC236}">
                <a16:creationId xmlns:a16="http://schemas.microsoft.com/office/drawing/2014/main" id="{85DC9147-B388-43D9-B78C-FEEA9F58AA8C}"/>
              </a:ext>
            </a:extLst>
          </p:cNvPr>
          <p:cNvSpPr>
            <a:spLocks xmlns:a="http://schemas.openxmlformats.org/drawingml/2006/main" noGrp="1"/>
          </p:cNvSpPr>
          <p:nvPr/>
        </p:nvSpPr>
        <p:spPr>
          <a:xfrm xmlns:a="http://schemas.openxmlformats.org/drawingml/2006/main" rot="0">
            <a:off x="1097661" y="5154549"/>
            <a:ext cx="2109252"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Specificity &amp; cell function</a:t>
            </a:r>
          </a:p>
        </p:txBody>
      </p:sp>
      <p:sp>
        <p:nvSpPr>
          <p:cNvPr id="12" name="Figure 14 label 11 line 1">
            <a:extLst xmlns:a="http://schemas.openxmlformats.org/drawingml/2006/main">
              <a:ext uri="{FF2B5EF4-FFF2-40B4-BE49-F238E27FC236}">
                <a16:creationId xmlns:a16="http://schemas.microsoft.com/office/drawing/2014/main" id="{8973E94F-2BD1-41A4-A77D-7E634E502D34}"/>
              </a:ext>
            </a:extLst>
          </p:cNvPr>
          <p:cNvSpPr>
            <a:spLocks xmlns:a="http://schemas.openxmlformats.org/drawingml/2006/main" noGrp="1"/>
          </p:cNvSpPr>
          <p:nvPr/>
        </p:nvSpPr>
        <p:spPr>
          <a:xfrm xmlns:a="http://schemas.openxmlformats.org/drawingml/2006/main" rot="0">
            <a:off x="1097280" y="5427345"/>
            <a:ext cx="3448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polyreactivity / epitope / cell potency</a:t>
            </a:r>
          </a:p>
        </p:txBody>
      </p:sp>
      <p:sp>
        <p:nvSpPr>
          <p:cNvPr id="13" name="Figure 14 label 12 line 1">
            <a:extLst xmlns:a="http://schemas.openxmlformats.org/drawingml/2006/main">
              <a:ext uri="{FF2B5EF4-FFF2-40B4-BE49-F238E27FC236}">
                <a16:creationId xmlns:a16="http://schemas.microsoft.com/office/drawing/2014/main" id="{B61540BF-32EB-4374-BBDB-9515EC07A036}"/>
              </a:ext>
            </a:extLst>
          </p:cNvPr>
          <p:cNvSpPr>
            <a:spLocks xmlns:a="http://schemas.openxmlformats.org/drawingml/2006/main" noGrp="1"/>
          </p:cNvSpPr>
          <p:nvPr/>
        </p:nvSpPr>
        <p:spPr>
          <a:xfrm xmlns:a="http://schemas.openxmlformats.org/drawingml/2006/main" rot="0">
            <a:off x="935736" y="6126099"/>
            <a:ext cx="3833128"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Training records: sequence, target, conditions,</a:t>
            </a:r>
          </a:p>
        </p:txBody>
      </p:sp>
      <p:sp>
        <p:nvSpPr>
          <p:cNvPr id="14" name="Figure 14 label 12 line 2">
            <a:extLst xmlns:a="http://schemas.openxmlformats.org/drawingml/2006/main">
              <a:ext uri="{FF2B5EF4-FFF2-40B4-BE49-F238E27FC236}">
                <a16:creationId xmlns:a16="http://schemas.microsoft.com/office/drawing/2014/main" id="{C702229E-374A-43DB-914B-F7BFCB55342D}"/>
              </a:ext>
            </a:extLst>
          </p:cNvPr>
          <p:cNvSpPr>
            <a:spLocks xmlns:a="http://schemas.openxmlformats.org/drawingml/2006/main" noGrp="1"/>
          </p:cNvSpPr>
          <p:nvPr/>
        </p:nvSpPr>
        <p:spPr>
          <a:xfrm xmlns:a="http://schemas.openxmlformats.org/drawingml/2006/main" rot="0">
            <a:off x="935736" y="6352318"/>
            <a:ext cx="3833128" cy="226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25" b="0">
                <a:solidFill>
                  <a:srgbClr val="00355F"/>
                </a:solidFill>
                <a:latin typeface="Arial"/>
                <a:ea typeface="Arial"/>
                <a:cs typeface="Arial"/>
              </a:defRPr>
            </a:defPPr>
          </a:lstStyle>
          <a:p xmlns:a="http://schemas.openxmlformats.org/drawingml/2006/main">
            <a:pPr algn="l">
              <a:lnSpc>
                <a:spcPct val="100000"/>
              </a:lnSpc>
              <a:buNone/>
              <a:defRPr sz="1425" b="0">
                <a:solidFill>
                  <a:srgbClr val="00355F"/>
                </a:solidFill>
                <a:latin typeface="Arial"/>
                <a:ea typeface="Arial"/>
                <a:cs typeface="Arial"/>
              </a:defRPr>
            </a:pPr>
            <a:r>
              <a:rPr sz="1425" b="0">
                <a:solidFill>
                  <a:srgbClr val="00355F"/>
                </a:solidFill>
                <a:latin typeface="Arial"/>
                <a:ea typeface="Arial"/>
                <a:cs typeface="Arial"/>
              </a:rPr>
              <a:t>raw curves, replicates, batches and failures</a:t>
            </a:r>
          </a:p>
        </p:txBody>
      </p:sp>
      <p:sp>
        <p:nvSpPr>
          <p:cNvPr id="15" name="Figure 14 label 13 line 1">
            <a:extLst xmlns:a="http://schemas.openxmlformats.org/drawingml/2006/main">
              <a:ext uri="{FF2B5EF4-FFF2-40B4-BE49-F238E27FC236}">
                <a16:creationId xmlns:a16="http://schemas.microsoft.com/office/drawing/2014/main" id="{837C3389-63CB-48CD-918A-888AE92A1451}"/>
              </a:ext>
            </a:extLst>
          </p:cNvPr>
          <p:cNvSpPr>
            <a:spLocks xmlns:a="http://schemas.openxmlformats.org/drawingml/2006/main" noGrp="1"/>
          </p:cNvSpPr>
          <p:nvPr/>
        </p:nvSpPr>
        <p:spPr>
          <a:xfrm xmlns:a="http://schemas.openxmlformats.org/drawingml/2006/main" rot="0">
            <a:off x="1091565" y="6906387"/>
            <a:ext cx="1626870"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1">
                <a:solidFill>
                  <a:srgbClr val="00355F"/>
                </a:solidFill>
                <a:latin typeface="Arial"/>
                <a:ea typeface="Arial"/>
                <a:cs typeface="Arial"/>
              </a:defRPr>
            </a:defPPr>
          </a:lstStyle>
          <a:p xmlns:a="http://schemas.openxmlformats.org/drawingml/2006/main">
            <a:pPr algn="ctr">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Train / improve</a:t>
            </a:r>
          </a:p>
        </p:txBody>
      </p:sp>
      <p:sp>
        <p:nvSpPr>
          <p:cNvPr id="16" name="Figure 14 label 14 line 1">
            <a:extLst xmlns:a="http://schemas.openxmlformats.org/drawingml/2006/main">
              <a:ext uri="{FF2B5EF4-FFF2-40B4-BE49-F238E27FC236}">
                <a16:creationId xmlns:a16="http://schemas.microsoft.com/office/drawing/2014/main" id="{406786AA-DAF0-4E51-954A-2D35DF2EE64F}"/>
              </a:ext>
            </a:extLst>
          </p:cNvPr>
          <p:cNvSpPr>
            <a:spLocks xmlns:a="http://schemas.openxmlformats.org/drawingml/2006/main" noGrp="1"/>
          </p:cNvSpPr>
          <p:nvPr/>
        </p:nvSpPr>
        <p:spPr>
          <a:xfrm xmlns:a="http://schemas.openxmlformats.org/drawingml/2006/main" rot="0">
            <a:off x="4019907" y="6906387"/>
            <a:ext cx="1789986" cy="2619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1">
                <a:solidFill>
                  <a:srgbClr val="00355F"/>
                </a:solidFill>
                <a:latin typeface="Arial"/>
                <a:ea typeface="Arial"/>
                <a:cs typeface="Arial"/>
              </a:defRPr>
            </a:defPPr>
          </a:lstStyle>
          <a:p xmlns:a="http://schemas.openxmlformats.org/drawingml/2006/main">
            <a:pPr algn="ctr">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Design / validate</a:t>
            </a:r>
          </a:p>
        </p:txBody>
      </p:sp>
      <p:sp>
        <p:nvSpPr>
          <p:cNvPr id="17" name="Figure 14 label 15 line 1">
            <a:extLst xmlns:a="http://schemas.openxmlformats.org/drawingml/2006/main">
              <a:ext uri="{FF2B5EF4-FFF2-40B4-BE49-F238E27FC236}">
                <a16:creationId xmlns:a16="http://schemas.microsoft.com/office/drawing/2014/main" id="{051CF3C4-0C8B-427A-82F8-292900C2A392}"/>
              </a:ext>
            </a:extLst>
          </p:cNvPr>
          <p:cNvSpPr>
            <a:spLocks xmlns:a="http://schemas.openxmlformats.org/drawingml/2006/main" noGrp="1"/>
          </p:cNvSpPr>
          <p:nvPr/>
        </p:nvSpPr>
        <p:spPr>
          <a:xfrm xmlns:a="http://schemas.openxmlformats.org/drawingml/2006/main" rot="0">
            <a:off x="2491919" y="7491603"/>
            <a:ext cx="178843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50" b="0">
                <a:solidFill>
                  <a:srgbClr val="00355F"/>
                </a:solidFill>
                <a:latin typeface="Arial"/>
                <a:ea typeface="Arial"/>
                <a:cs typeface="Arial"/>
              </a:defRPr>
            </a:defPPr>
          </a:lstStyle>
          <a:p xmlns:a="http://schemas.openxmlformats.org/drawingml/2006/main">
            <a:pPr algn="ctr">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Assays inform models</a:t>
            </a:r>
          </a:p>
        </p:txBody>
      </p:sp>
      <p:sp>
        <p:nvSpPr>
          <p:cNvPr id="18" name="Figure 14 label 16 line 1">
            <a:extLst xmlns:a="http://schemas.openxmlformats.org/drawingml/2006/main">
              <a:ext uri="{FF2B5EF4-FFF2-40B4-BE49-F238E27FC236}">
                <a16:creationId xmlns:a16="http://schemas.microsoft.com/office/drawing/2014/main" id="{8C600DAC-C363-44BF-9936-3A2177E7C2ED}"/>
              </a:ext>
            </a:extLst>
          </p:cNvPr>
          <p:cNvSpPr>
            <a:spLocks xmlns:a="http://schemas.openxmlformats.org/drawingml/2006/main" noGrp="1"/>
          </p:cNvSpPr>
          <p:nvPr/>
        </p:nvSpPr>
        <p:spPr>
          <a:xfrm xmlns:a="http://schemas.openxmlformats.org/drawingml/2006/main" rot="0">
            <a:off x="7399782" y="2237613"/>
            <a:ext cx="407220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Labels → assays → purchases</a:t>
            </a:r>
          </a:p>
        </p:txBody>
      </p:sp>
      <p:sp>
        <p:nvSpPr>
          <p:cNvPr id="19" name="Figure 14 label 17 line 1">
            <a:extLst xmlns:a="http://schemas.openxmlformats.org/drawingml/2006/main">
              <a:ext uri="{FF2B5EF4-FFF2-40B4-BE49-F238E27FC236}">
                <a16:creationId xmlns:a16="http://schemas.microsoft.com/office/drawing/2014/main" id="{E6E53560-0EE4-44F3-AAAC-FD08F6EA8F70}"/>
              </a:ext>
            </a:extLst>
          </p:cNvPr>
          <p:cNvSpPr>
            <a:spLocks xmlns:a="http://schemas.openxmlformats.org/drawingml/2006/main" noGrp="1"/>
          </p:cNvSpPr>
          <p:nvPr/>
        </p:nvSpPr>
        <p:spPr>
          <a:xfrm xmlns:a="http://schemas.openxmlformats.org/drawingml/2006/main" rot="0">
            <a:off x="7403592" y="2691003"/>
            <a:ext cx="7011561"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Tool revenue needs a bridge from label coverage to workflow volume and unit consumption</a:t>
            </a:r>
          </a:p>
        </p:txBody>
      </p:sp>
      <p:sp>
        <p:nvSpPr>
          <p:cNvPr id="20" name="Figure 14 label 18 line 1">
            <a:extLst xmlns:a="http://schemas.openxmlformats.org/drawingml/2006/main">
              <a:ext uri="{FF2B5EF4-FFF2-40B4-BE49-F238E27FC236}">
                <a16:creationId xmlns:a16="http://schemas.microsoft.com/office/drawing/2014/main" id="{6ECBE54C-0E5D-4373-BA34-C76C50961596}"/>
              </a:ext>
            </a:extLst>
          </p:cNvPr>
          <p:cNvSpPr>
            <a:spLocks xmlns:a="http://schemas.openxmlformats.org/drawingml/2006/main" noGrp="1"/>
          </p:cNvSpPr>
          <p:nvPr/>
        </p:nvSpPr>
        <p:spPr>
          <a:xfrm xmlns:a="http://schemas.openxmlformats.org/drawingml/2006/main" rot="0">
            <a:off x="7972806" y="3241929"/>
            <a:ext cx="3070086"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Construction &amp; expression</a:t>
            </a:r>
          </a:p>
        </p:txBody>
      </p:sp>
      <p:sp>
        <p:nvSpPr>
          <p:cNvPr id="21" name="Figure 14 label 19 line 1">
            <a:extLst xmlns:a="http://schemas.openxmlformats.org/drawingml/2006/main">
              <a:ext uri="{FF2B5EF4-FFF2-40B4-BE49-F238E27FC236}">
                <a16:creationId xmlns:a16="http://schemas.microsoft.com/office/drawing/2014/main" id="{9573CB1A-D084-4910-A061-746DE408069C}"/>
              </a:ext>
            </a:extLst>
          </p:cNvPr>
          <p:cNvSpPr>
            <a:spLocks xmlns:a="http://schemas.openxmlformats.org/drawingml/2006/main" noGrp="1"/>
          </p:cNvSpPr>
          <p:nvPr/>
        </p:nvSpPr>
        <p:spPr>
          <a:xfrm xmlns:a="http://schemas.openxmlformats.org/drawingml/2006/main" rot="0">
            <a:off x="7555230" y="3655695"/>
            <a:ext cx="4136678"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DNA synthesis, vectors, expression, purification</a:t>
            </a:r>
          </a:p>
        </p:txBody>
      </p:sp>
      <p:sp>
        <p:nvSpPr>
          <p:cNvPr id="22" name="Figure 14 label 20 line 1">
            <a:extLst xmlns:a="http://schemas.openxmlformats.org/drawingml/2006/main">
              <a:ext uri="{FF2B5EF4-FFF2-40B4-BE49-F238E27FC236}">
                <a16:creationId xmlns:a16="http://schemas.microsoft.com/office/drawing/2014/main" id="{45EAF5A0-CDCC-4BEF-A6C9-9244D6CDDFF4}"/>
              </a:ext>
            </a:extLst>
          </p:cNvPr>
          <p:cNvSpPr>
            <a:spLocks xmlns:a="http://schemas.openxmlformats.org/drawingml/2006/main" noGrp="1"/>
          </p:cNvSpPr>
          <p:nvPr/>
        </p:nvSpPr>
        <p:spPr>
          <a:xfrm xmlns:a="http://schemas.openxmlformats.org/drawingml/2006/main" rot="0">
            <a:off x="7555992" y="3995928"/>
            <a:ext cx="355636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Expression labels + samples for other assays</a:t>
            </a:r>
          </a:p>
        </p:txBody>
      </p:sp>
      <p:sp>
        <p:nvSpPr>
          <p:cNvPr id="23" name="Figure 14 label 21 line 1">
            <a:extLst xmlns:a="http://schemas.openxmlformats.org/drawingml/2006/main">
              <a:ext uri="{FF2B5EF4-FFF2-40B4-BE49-F238E27FC236}">
                <a16:creationId xmlns:a16="http://schemas.microsoft.com/office/drawing/2014/main" id="{3E3E6ACF-5C2A-452D-91E8-4CC06A093DD7}"/>
              </a:ext>
            </a:extLst>
          </p:cNvPr>
          <p:cNvSpPr>
            <a:spLocks xmlns:a="http://schemas.openxmlformats.org/drawingml/2006/main" noGrp="1"/>
          </p:cNvSpPr>
          <p:nvPr/>
        </p:nvSpPr>
        <p:spPr>
          <a:xfrm xmlns:a="http://schemas.openxmlformats.org/drawingml/2006/main" rot="0">
            <a:off x="7556373" y="4294632"/>
            <a:ext cx="290470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Count shared sample preparation once</a:t>
            </a:r>
          </a:p>
        </p:txBody>
      </p:sp>
      <p:sp>
        <p:nvSpPr>
          <p:cNvPr id="24" name="Figure 14 label 22 line 1">
            <a:extLst xmlns:a="http://schemas.openxmlformats.org/drawingml/2006/main">
              <a:ext uri="{FF2B5EF4-FFF2-40B4-BE49-F238E27FC236}">
                <a16:creationId xmlns:a16="http://schemas.microsoft.com/office/drawing/2014/main" id="{3FB0E608-EDDD-40DC-996F-CC21916097B8}"/>
              </a:ext>
            </a:extLst>
          </p:cNvPr>
          <p:cNvSpPr>
            <a:spLocks xmlns:a="http://schemas.openxmlformats.org/drawingml/2006/main" noGrp="1"/>
          </p:cNvSpPr>
          <p:nvPr/>
        </p:nvSpPr>
        <p:spPr>
          <a:xfrm xmlns:a="http://schemas.openxmlformats.org/drawingml/2006/main" rot="0">
            <a:off x="13011531" y="3241929"/>
            <a:ext cx="313318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Protein &amp; functional testing</a:t>
            </a:r>
          </a:p>
        </p:txBody>
      </p:sp>
      <p:sp>
        <p:nvSpPr>
          <p:cNvPr id="25" name="Figure 14 label 23 line 1">
            <a:extLst xmlns:a="http://schemas.openxmlformats.org/drawingml/2006/main">
              <a:ext uri="{FF2B5EF4-FFF2-40B4-BE49-F238E27FC236}">
                <a16:creationId xmlns:a16="http://schemas.microsoft.com/office/drawing/2014/main" id="{D9EF253E-424B-4B19-BCC9-444A0018C81B}"/>
              </a:ext>
            </a:extLst>
          </p:cNvPr>
          <p:cNvSpPr>
            <a:spLocks xmlns:a="http://schemas.openxmlformats.org/drawingml/2006/main" noGrp="1"/>
          </p:cNvSpPr>
          <p:nvPr/>
        </p:nvSpPr>
        <p:spPr>
          <a:xfrm xmlns:a="http://schemas.openxmlformats.org/drawingml/2006/main" rot="0">
            <a:off x="12593955" y="3655695"/>
            <a:ext cx="369272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SPR / BLI, binding curves, epitope binning</a:t>
            </a:r>
          </a:p>
        </p:txBody>
      </p:sp>
      <p:sp>
        <p:nvSpPr>
          <p:cNvPr id="26" name="Figure 14 label 24 line 1">
            <a:extLst xmlns:a="http://schemas.openxmlformats.org/drawingml/2006/main">
              <a:ext uri="{FF2B5EF4-FFF2-40B4-BE49-F238E27FC236}">
                <a16:creationId xmlns:a16="http://schemas.microsoft.com/office/drawing/2014/main" id="{2663A288-FC3B-48DC-A12E-37907AB8F9E8}"/>
              </a:ext>
            </a:extLst>
          </p:cNvPr>
          <p:cNvSpPr>
            <a:spLocks xmlns:a="http://schemas.openxmlformats.org/drawingml/2006/main" noGrp="1"/>
          </p:cNvSpPr>
          <p:nvPr/>
        </p:nvSpPr>
        <p:spPr>
          <a:xfrm xmlns:a="http://schemas.openxmlformats.org/drawingml/2006/main" rot="0">
            <a:off x="12594717" y="3995928"/>
            <a:ext cx="310065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Target proteins, sensors / chips, buffers</a:t>
            </a:r>
          </a:p>
        </p:txBody>
      </p:sp>
      <p:sp>
        <p:nvSpPr>
          <p:cNvPr id="27" name="Figure 14 label 25 line 1">
            <a:extLst xmlns:a="http://schemas.openxmlformats.org/drawingml/2006/main">
              <a:ext uri="{FF2B5EF4-FFF2-40B4-BE49-F238E27FC236}">
                <a16:creationId xmlns:a16="http://schemas.microsoft.com/office/drawing/2014/main" id="{603BDBEA-3C9A-4CB4-87CF-098DF3C037FF}"/>
              </a:ext>
            </a:extLst>
          </p:cNvPr>
          <p:cNvSpPr>
            <a:spLocks xmlns:a="http://schemas.openxmlformats.org/drawingml/2006/main" noGrp="1"/>
          </p:cNvSpPr>
          <p:nvPr/>
        </p:nvSpPr>
        <p:spPr>
          <a:xfrm xmlns:a="http://schemas.openxmlformats.org/drawingml/2006/main" rot="0">
            <a:off x="12595098" y="4294632"/>
            <a:ext cx="2973616"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KD / kon / koff can share one kinetic run</a:t>
            </a:r>
          </a:p>
        </p:txBody>
      </p:sp>
      <p:sp>
        <p:nvSpPr>
          <p:cNvPr id="28" name="Figure 14 label 26 line 1">
            <a:extLst xmlns:a="http://schemas.openxmlformats.org/drawingml/2006/main">
              <a:ext uri="{FF2B5EF4-FFF2-40B4-BE49-F238E27FC236}">
                <a16:creationId xmlns:a16="http://schemas.microsoft.com/office/drawing/2014/main" id="{27572028-A96D-4F21-81E6-71B2A2571ED0}"/>
              </a:ext>
            </a:extLst>
          </p:cNvPr>
          <p:cNvSpPr>
            <a:spLocks xmlns:a="http://schemas.openxmlformats.org/drawingml/2006/main" noGrp="1"/>
          </p:cNvSpPr>
          <p:nvPr/>
        </p:nvSpPr>
        <p:spPr>
          <a:xfrm xmlns:a="http://schemas.openxmlformats.org/drawingml/2006/main" rot="0">
            <a:off x="7972806" y="4927854"/>
            <a:ext cx="272793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Cells &amp; culture systems</a:t>
            </a:r>
          </a:p>
        </p:txBody>
      </p:sp>
      <p:sp>
        <p:nvSpPr>
          <p:cNvPr id="29" name="Figure 14 label 27 line 1">
            <a:extLst xmlns:a="http://schemas.openxmlformats.org/drawingml/2006/main">
              <a:ext uri="{FF2B5EF4-FFF2-40B4-BE49-F238E27FC236}">
                <a16:creationId xmlns:a16="http://schemas.microsoft.com/office/drawing/2014/main" id="{9C0CD40A-B9A2-43E3-91AD-62D198AB16A2}"/>
              </a:ext>
            </a:extLst>
          </p:cNvPr>
          <p:cNvSpPr>
            <a:spLocks xmlns:a="http://schemas.openxmlformats.org/drawingml/2006/main" noGrp="1"/>
          </p:cNvSpPr>
          <p:nvPr/>
        </p:nvSpPr>
        <p:spPr>
          <a:xfrm xmlns:a="http://schemas.openxmlformats.org/drawingml/2006/main" rot="0">
            <a:off x="7555230" y="5341620"/>
            <a:ext cx="412655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Functional cells, media, transfection, expansion</a:t>
            </a:r>
          </a:p>
        </p:txBody>
      </p:sp>
      <p:sp>
        <p:nvSpPr>
          <p:cNvPr id="30" name="Figure 14 label 28 line 1">
            <a:extLst xmlns:a="http://schemas.openxmlformats.org/drawingml/2006/main">
              <a:ext uri="{FF2B5EF4-FFF2-40B4-BE49-F238E27FC236}">
                <a16:creationId xmlns:a16="http://schemas.microsoft.com/office/drawing/2014/main" id="{159F45A5-B22D-4B40-B887-4B6ADA14A2A6}"/>
              </a:ext>
            </a:extLst>
          </p:cNvPr>
          <p:cNvSpPr>
            <a:spLocks xmlns:a="http://schemas.openxmlformats.org/drawingml/2006/main" noGrp="1"/>
          </p:cNvSpPr>
          <p:nvPr/>
        </p:nvSpPr>
        <p:spPr>
          <a:xfrm xmlns:a="http://schemas.openxmlformats.org/drawingml/2006/main" rot="0">
            <a:off x="7555992" y="5681853"/>
            <a:ext cx="340873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Cell potency; selected polyreactivity assays</a:t>
            </a:r>
          </a:p>
        </p:txBody>
      </p:sp>
      <p:sp>
        <p:nvSpPr>
          <p:cNvPr id="31" name="Figure 14 label 29 line 1">
            <a:extLst xmlns:a="http://schemas.openxmlformats.org/drawingml/2006/main">
              <a:ext uri="{FF2B5EF4-FFF2-40B4-BE49-F238E27FC236}">
                <a16:creationId xmlns:a16="http://schemas.microsoft.com/office/drawing/2014/main" id="{7F286905-2CBB-4CA0-82A8-EA3260CBAA98}"/>
              </a:ext>
            </a:extLst>
          </p:cNvPr>
          <p:cNvSpPr>
            <a:spLocks xmlns:a="http://schemas.openxmlformats.org/drawingml/2006/main" noGrp="1"/>
          </p:cNvSpPr>
          <p:nvPr/>
        </p:nvSpPr>
        <p:spPr>
          <a:xfrm xmlns:a="http://schemas.openxmlformats.org/drawingml/2006/main" rot="0">
            <a:off x="7556373" y="5980557"/>
            <a:ext cx="3372624"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Record cell model, target level and conditions</a:t>
            </a:r>
          </a:p>
        </p:txBody>
      </p:sp>
      <p:sp>
        <p:nvSpPr>
          <p:cNvPr id="32" name="Figure 14 label 30 line 1">
            <a:extLst xmlns:a="http://schemas.openxmlformats.org/drawingml/2006/main">
              <a:ext uri="{FF2B5EF4-FFF2-40B4-BE49-F238E27FC236}">
                <a16:creationId xmlns:a16="http://schemas.microsoft.com/office/drawing/2014/main" id="{438C06B3-E3BF-41DF-88EE-A6B173854A23}"/>
              </a:ext>
            </a:extLst>
          </p:cNvPr>
          <p:cNvSpPr>
            <a:spLocks xmlns:a="http://schemas.openxmlformats.org/drawingml/2006/main" noGrp="1"/>
          </p:cNvSpPr>
          <p:nvPr/>
        </p:nvSpPr>
        <p:spPr>
          <a:xfrm xmlns:a="http://schemas.openxmlformats.org/drawingml/2006/main" rot="0">
            <a:off x="13011531" y="4927854"/>
            <a:ext cx="281678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Measurement &amp; analysis</a:t>
            </a:r>
          </a:p>
        </p:txBody>
      </p:sp>
      <p:sp>
        <p:nvSpPr>
          <p:cNvPr id="33" name="Figure 14 label 31 line 1">
            <a:extLst xmlns:a="http://schemas.openxmlformats.org/drawingml/2006/main">
              <a:ext uri="{FF2B5EF4-FFF2-40B4-BE49-F238E27FC236}">
                <a16:creationId xmlns:a16="http://schemas.microsoft.com/office/drawing/2014/main" id="{76F4B108-B924-41C2-8393-9EF36BE600C7}"/>
              </a:ext>
            </a:extLst>
          </p:cNvPr>
          <p:cNvSpPr>
            <a:spLocks xmlns:a="http://schemas.openxmlformats.org/drawingml/2006/main" noGrp="1"/>
          </p:cNvSpPr>
          <p:nvPr/>
        </p:nvSpPr>
        <p:spPr>
          <a:xfrm xmlns:a="http://schemas.openxmlformats.org/drawingml/2006/main" rot="0">
            <a:off x="12593955" y="5341620"/>
            <a:ext cx="3913733"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SEC / HIC, nanoDSF, LC-MS, flow cytometry</a:t>
            </a:r>
          </a:p>
        </p:txBody>
      </p:sp>
      <p:sp>
        <p:nvSpPr>
          <p:cNvPr id="34" name="Figure 14 label 32 line 1">
            <a:extLst xmlns:a="http://schemas.openxmlformats.org/drawingml/2006/main">
              <a:ext uri="{FF2B5EF4-FFF2-40B4-BE49-F238E27FC236}">
                <a16:creationId xmlns:a16="http://schemas.microsoft.com/office/drawing/2014/main" id="{261DE944-7120-45AE-A2F3-177F28A5BBD8}"/>
              </a:ext>
            </a:extLst>
          </p:cNvPr>
          <p:cNvSpPr>
            <a:spLocks xmlns:a="http://schemas.openxmlformats.org/drawingml/2006/main" noGrp="1"/>
          </p:cNvSpPr>
          <p:nvPr/>
        </p:nvSpPr>
        <p:spPr>
          <a:xfrm xmlns:a="http://schemas.openxmlformats.org/drawingml/2006/main" rot="0">
            <a:off x="12594717" y="5681853"/>
            <a:ext cx="3405604"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Stability, aggregation, characterization / QC</a:t>
            </a:r>
          </a:p>
        </p:txBody>
      </p:sp>
      <p:sp>
        <p:nvSpPr>
          <p:cNvPr id="35" name="Figure 14 label 33 line 1">
            <a:extLst xmlns:a="http://schemas.openxmlformats.org/drawingml/2006/main">
              <a:ext uri="{FF2B5EF4-FFF2-40B4-BE49-F238E27FC236}">
                <a16:creationId xmlns:a16="http://schemas.microsoft.com/office/drawing/2014/main" id="{043F1570-1854-44F0-9F83-D1261CE76F92}"/>
              </a:ext>
            </a:extLst>
          </p:cNvPr>
          <p:cNvSpPr>
            <a:spLocks xmlns:a="http://schemas.openxmlformats.org/drawingml/2006/main" noGrp="1"/>
          </p:cNvSpPr>
          <p:nvPr/>
        </p:nvSpPr>
        <p:spPr>
          <a:xfrm xmlns:a="http://schemas.openxmlformats.org/drawingml/2006/main" rot="0">
            <a:off x="12595098" y="5980557"/>
            <a:ext cx="4281368"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Columns are reused; model instrument CAPEX separately</a:t>
            </a:r>
          </a:p>
        </p:txBody>
      </p:sp>
      <p:sp>
        <p:nvSpPr>
          <p:cNvPr id="36" name="Figure 14 label 34 line 1">
            <a:extLst xmlns:a="http://schemas.openxmlformats.org/drawingml/2006/main">
              <a:ext uri="{FF2B5EF4-FFF2-40B4-BE49-F238E27FC236}">
                <a16:creationId xmlns:a16="http://schemas.microsoft.com/office/drawing/2014/main" id="{335E9878-F8DF-44D8-99A1-6DEDC3B39946}"/>
              </a:ext>
            </a:extLst>
          </p:cNvPr>
          <p:cNvSpPr>
            <a:spLocks xmlns:a="http://schemas.openxmlformats.org/drawingml/2006/main" noGrp="1"/>
          </p:cNvSpPr>
          <p:nvPr/>
        </p:nvSpPr>
        <p:spPr>
          <a:xfrm xmlns:a="http://schemas.openxmlformats.org/drawingml/2006/main" rot="0">
            <a:off x="7972806" y="6613779"/>
            <a:ext cx="447993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00355F"/>
                </a:solidFill>
                <a:latin typeface="Arial"/>
                <a:ea typeface="Arial"/>
                <a:cs typeface="Arial"/>
              </a:defRPr>
            </a:defPPr>
          </a:lstStyle>
          <a:p xmlns:a="http://schemas.openxmlformats.org/drawingml/2006/main">
            <a:pPr algn="l">
              <a:lnSpc>
                <a:spcPct val="100000"/>
              </a:lnSpc>
              <a:buNone/>
              <a:defRPr sz="1800" b="1">
                <a:solidFill>
                  <a:srgbClr val="00355F"/>
                </a:solidFill>
                <a:latin typeface="Arial"/>
                <a:ea typeface="Arial"/>
                <a:cs typeface="Arial"/>
              </a:defRPr>
            </a:pPr>
            <a:r>
              <a:rPr sz="1800" b="1">
                <a:solidFill>
                  <a:srgbClr val="00355F"/>
                </a:solidFill>
                <a:latin typeface="Arial"/>
                <a:ea typeface="Arial"/>
                <a:cs typeface="Arial"/>
              </a:rPr>
              <a:t>Sample handling, labware &amp; automation</a:t>
            </a:r>
          </a:p>
        </p:txBody>
      </p:sp>
      <p:sp>
        <p:nvSpPr>
          <p:cNvPr id="37" name="Figure 14 label 35 line 1">
            <a:extLst xmlns:a="http://schemas.openxmlformats.org/drawingml/2006/main">
              <a:ext uri="{FF2B5EF4-FFF2-40B4-BE49-F238E27FC236}">
                <a16:creationId xmlns:a16="http://schemas.microsoft.com/office/drawing/2014/main" id="{B1BA6D5F-C54C-4BD7-BC38-36CDBBC395A3}"/>
              </a:ext>
            </a:extLst>
          </p:cNvPr>
          <p:cNvSpPr>
            <a:spLocks xmlns:a="http://schemas.openxmlformats.org/drawingml/2006/main" noGrp="1"/>
          </p:cNvSpPr>
          <p:nvPr/>
        </p:nvSpPr>
        <p:spPr>
          <a:xfrm xmlns:a="http://schemas.openxmlformats.org/drawingml/2006/main" rot="0">
            <a:off x="7555230" y="7027545"/>
            <a:ext cx="4402187"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Plates, tips, tubes, filtration / beads, liquid handling</a:t>
            </a:r>
          </a:p>
        </p:txBody>
      </p:sp>
      <p:sp>
        <p:nvSpPr>
          <p:cNvPr id="38" name="Figure 14 label 36 line 1">
            <a:extLst xmlns:a="http://schemas.openxmlformats.org/drawingml/2006/main">
              <a:ext uri="{FF2B5EF4-FFF2-40B4-BE49-F238E27FC236}">
                <a16:creationId xmlns:a16="http://schemas.microsoft.com/office/drawing/2014/main" id="{3FF3740F-4608-4FA9-89ED-6D26CCF66D23}"/>
              </a:ext>
            </a:extLst>
          </p:cNvPr>
          <p:cNvSpPr>
            <a:spLocks xmlns:a="http://schemas.openxmlformats.org/drawingml/2006/main" noGrp="1"/>
          </p:cNvSpPr>
          <p:nvPr/>
        </p:nvSpPr>
        <p:spPr>
          <a:xfrm xmlns:a="http://schemas.openxmlformats.org/drawingml/2006/main" rot="0">
            <a:off x="7555992" y="7367778"/>
            <a:ext cx="6267569"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Across all workflows; miniaturization, reuse and scheduling alter net consumption</a:t>
            </a:r>
          </a:p>
        </p:txBody>
      </p:sp>
      <p:sp>
        <p:nvSpPr>
          <p:cNvPr id="39" name="Figure 14 label 37 line 1">
            <a:extLst xmlns:a="http://schemas.openxmlformats.org/drawingml/2006/main">
              <a:ext uri="{FF2B5EF4-FFF2-40B4-BE49-F238E27FC236}">
                <a16:creationId xmlns:a16="http://schemas.microsoft.com/office/drawing/2014/main" id="{7DE67CDA-D0ED-4DBB-814C-CCC29F075D54}"/>
              </a:ext>
            </a:extLst>
          </p:cNvPr>
          <p:cNvSpPr>
            <a:spLocks xmlns:a="http://schemas.openxmlformats.org/drawingml/2006/main" noGrp="1"/>
          </p:cNvSpPr>
          <p:nvPr/>
        </p:nvSpPr>
        <p:spPr>
          <a:xfrm xmlns:a="http://schemas.openxmlformats.org/drawingml/2006/main" rot="0">
            <a:off x="858012" y="8141208"/>
            <a:ext cx="7361456"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ACROBiosystems: target proteins, functional cells &amp; characterization</a:t>
            </a:r>
          </a:p>
        </p:txBody>
      </p:sp>
      <p:sp>
        <p:nvSpPr>
          <p:cNvPr id="40" name="Figure 14 label 38 line 1">
            <a:extLst xmlns:a="http://schemas.openxmlformats.org/drawingml/2006/main">
              <a:ext uri="{FF2B5EF4-FFF2-40B4-BE49-F238E27FC236}">
                <a16:creationId xmlns:a16="http://schemas.microsoft.com/office/drawing/2014/main" id="{C68783EE-68D6-4E93-900E-4A66DA57A48F}"/>
              </a:ext>
            </a:extLst>
          </p:cNvPr>
          <p:cNvSpPr>
            <a:spLocks xmlns:a="http://schemas.openxmlformats.org/drawingml/2006/main" noGrp="1"/>
          </p:cNvSpPr>
          <p:nvPr/>
        </p:nvSpPr>
        <p:spPr>
          <a:xfrm xmlns:a="http://schemas.openxmlformats.org/drawingml/2006/main" rot="0">
            <a:off x="860298" y="8466582"/>
            <a:ext cx="6069687"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AIDD-Ready offering exists; paid orders and repeat purchases still need verification</a:t>
            </a:r>
          </a:p>
        </p:txBody>
      </p:sp>
      <p:sp>
        <p:nvSpPr>
          <p:cNvPr id="41" name="Figure 14 label 39 line 1">
            <a:extLst xmlns:a="http://schemas.openxmlformats.org/drawingml/2006/main">
              <a:ext uri="{FF2B5EF4-FFF2-40B4-BE49-F238E27FC236}">
                <a16:creationId xmlns:a16="http://schemas.microsoft.com/office/drawing/2014/main" id="{53E65BBC-D207-4A90-B9C3-DDAB81EC8C4F}"/>
              </a:ext>
            </a:extLst>
          </p:cNvPr>
          <p:cNvSpPr>
            <a:spLocks xmlns:a="http://schemas.openxmlformats.org/drawingml/2006/main" noGrp="1"/>
          </p:cNvSpPr>
          <p:nvPr/>
        </p:nvSpPr>
        <p:spPr>
          <a:xfrm xmlns:a="http://schemas.openxmlformats.org/drawingml/2006/main" rot="0">
            <a:off x="9287637" y="8141208"/>
            <a:ext cx="6448544" cy="2738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NanoMicro: analytical separation &amp; lab purification materials</a:t>
            </a:r>
          </a:p>
        </p:txBody>
      </p:sp>
      <p:sp>
        <p:nvSpPr>
          <p:cNvPr id="42" name="Figure 14 label 40 line 1">
            <a:extLst xmlns:a="http://schemas.openxmlformats.org/drawingml/2006/main">
              <a:ext uri="{FF2B5EF4-FFF2-40B4-BE49-F238E27FC236}">
                <a16:creationId xmlns:a16="http://schemas.microsoft.com/office/drawing/2014/main" id="{30A7F680-9B75-4B64-9986-8E729B532CA1}"/>
              </a:ext>
            </a:extLst>
          </p:cNvPr>
          <p:cNvSpPr>
            <a:spLocks xmlns:a="http://schemas.openxmlformats.org/drawingml/2006/main" noGrp="1"/>
          </p:cNvSpPr>
          <p:nvPr/>
        </p:nvSpPr>
        <p:spPr>
          <a:xfrm xmlns:a="http://schemas.openxmlformats.org/drawingml/2006/main" rot="0">
            <a:off x="9289923" y="8466582"/>
            <a:ext cx="6309747" cy="202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75" b="0">
                <a:solidFill>
                  <a:srgbClr val="00355F"/>
                </a:solidFill>
                <a:latin typeface="Arial"/>
                <a:ea typeface="Arial"/>
                <a:cs typeface="Arial"/>
              </a:defRPr>
            </a:defPPr>
          </a:lstStyle>
          <a:p xmlns:a="http://schemas.openxmlformats.org/drawingml/2006/main">
            <a:pPr algn="l">
              <a:lnSpc>
                <a:spcPct val="100000"/>
              </a:lnSpc>
              <a:buNone/>
              <a:defRPr sz="1275" b="0">
                <a:solidFill>
                  <a:srgbClr val="00355F"/>
                </a:solidFill>
                <a:latin typeface="Arial"/>
                <a:ea typeface="Arial"/>
                <a:cs typeface="Arial"/>
              </a:defRPr>
            </a:pPr>
            <a:r>
              <a:rPr sz="1275" b="0">
                <a:solidFill>
                  <a:srgbClr val="00355F"/>
                </a:solidFill>
                <a:latin typeface="Arial"/>
                <a:ea typeface="Arial"/>
                <a:cs typeface="Arial"/>
              </a:rPr>
              <a:t>Track sample runs, column life and ASP; manufacturing resin demand has a longer lag</a:t>
            </a:r>
          </a:p>
        </p:txBody>
      </p:sp>
      <p:sp>
        <p:nvSpPr>
          <p:cNvPr id="43" name="Figure 14 label 41 line 1">
            <a:extLst xmlns:a="http://schemas.openxmlformats.org/drawingml/2006/main">
              <a:ext uri="{FF2B5EF4-FFF2-40B4-BE49-F238E27FC236}">
                <a16:creationId xmlns:a16="http://schemas.microsoft.com/office/drawing/2014/main" id="{80231239-DA97-49E2-8D82-5E7AFEFF52C4}"/>
              </a:ext>
            </a:extLst>
          </p:cNvPr>
          <p:cNvSpPr>
            <a:spLocks xmlns:a="http://schemas.openxmlformats.org/drawingml/2006/main" noGrp="1"/>
          </p:cNvSpPr>
          <p:nvPr/>
        </p:nvSpPr>
        <p:spPr>
          <a:xfrm xmlns:a="http://schemas.openxmlformats.org/drawingml/2006/main" rot="0">
            <a:off x="3835420" y="9130284"/>
            <a:ext cx="10617160" cy="3452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175" b="1">
                <a:solidFill>
                  <a:srgbClr val="FFFFFF"/>
                </a:solidFill>
                <a:latin typeface="Arial"/>
                <a:ea typeface="Arial"/>
                <a:cs typeface="Arial"/>
              </a:defRPr>
            </a:defPPr>
          </a:lstStyle>
          <a:p xmlns:a="http://schemas.openxmlformats.org/drawingml/2006/main">
            <a:pPr algn="ctr">
              <a:lnSpc>
                <a:spcPct val="100000"/>
              </a:lnSpc>
              <a:buNone/>
              <a:defRPr sz="2175" b="1">
                <a:solidFill>
                  <a:srgbClr val="FFFFFF"/>
                </a:solidFill>
                <a:latin typeface="Arial"/>
                <a:ea typeface="Arial"/>
                <a:cs typeface="Arial"/>
              </a:defRPr>
            </a:pPr>
            <a:r>
              <a:rPr sz="2175" b="1">
                <a:solidFill>
                  <a:srgbClr val="FFFFFF"/>
                </a:solidFill>
                <a:latin typeface="Arial"/>
                <a:ea typeface="Arial"/>
                <a:cs typeface="Arial"/>
              </a:rPr>
              <a:t>LST purchases ≈ Σ [workflow executions × net purchased inputs per run × ASP]</a:t>
            </a:r>
          </a:p>
        </p:txBody>
      </p:sp>
      <p:sp>
        <p:nvSpPr>
          <p:cNvPr id="44" name="Figure 14 label 42 line 1">
            <a:extLst xmlns:a="http://schemas.openxmlformats.org/drawingml/2006/main">
              <a:ext uri="{FF2B5EF4-FFF2-40B4-BE49-F238E27FC236}">
                <a16:creationId xmlns:a16="http://schemas.microsoft.com/office/drawing/2014/main" id="{D0351ECE-84BE-47F8-A23E-423792C3A18A}"/>
              </a:ext>
            </a:extLst>
          </p:cNvPr>
          <p:cNvSpPr>
            <a:spLocks xmlns:a="http://schemas.openxmlformats.org/drawingml/2006/main" noGrp="1"/>
          </p:cNvSpPr>
          <p:nvPr/>
        </p:nvSpPr>
        <p:spPr>
          <a:xfrm xmlns:a="http://schemas.openxmlformats.org/drawingml/2006/main" rot="0">
            <a:off x="679514" y="9754171"/>
            <a:ext cx="10017234"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38" b="0">
                <a:solidFill>
                  <a:srgbClr val="00355F"/>
                </a:solidFill>
                <a:latin typeface="Arial"/>
                <a:ea typeface="Arial"/>
                <a:cs typeface="Arial"/>
              </a:defRPr>
            </a:defPPr>
          </a:lstStyle>
          <a:p xmlns:a="http://schemas.openxmlformats.org/drawingml/2006/main">
            <a:pPr algn="l">
              <a:lnSpc>
                <a:spcPct val="100000"/>
              </a:lnSpc>
              <a:buNone/>
              <a:defRPr sz="1238" b="0">
                <a:solidFill>
                  <a:srgbClr val="00355F"/>
                </a:solidFill>
                <a:latin typeface="Arial"/>
                <a:ea typeface="Arial"/>
                <a:cs typeface="Arial"/>
              </a:defRPr>
            </a:pPr>
            <a:r>
              <a:rPr sz="1238" b="0">
                <a:solidFill>
                  <a:srgbClr val="00355F"/>
                </a:solidFill>
                <a:latin typeface="Arial"/>
                <a:ea typeface="Arial"/>
                <a:cs typeface="Arial"/>
              </a:rPr>
              <a:t>Instrument CAPEX is separate. Product alignment does not establish AI orders or revenue. Sources: Ginkgo, Sartorius and company websites.</a:t>
            </a:r>
          </a:p>
        </p:txBody>
      </p:sp>
    </p:spTree>
    <p:extLst>
      <p:ext uri="{BB962C8B-B14F-4D97-AF65-F5344CB8AC3E}">
        <p14:creationId xmlns:p14="http://schemas.microsoft.com/office/powerpoint/2010/main" val="14759628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6" name="">
            <a:extLst xmlns:a="http://schemas.openxmlformats.org/drawingml/2006/main">
              <a:ext uri="{FF2B5EF4-FFF2-40B4-BE49-F238E27FC236}">
                <a16:creationId xmlns:a16="http://schemas.microsoft.com/office/drawing/2014/main" id="{5DF95C0C-BBD4-481A-A53C-8B4332D82F43}"/>
              </a:ext>
            </a:extLst>
          </p:cNvPr>
          <p:cNvPicPr>
            <a:picLocks xmlns:a="http://schemas.openxmlformats.org/drawingml/2006/main" noChangeAspect="1"/>
          </p:cNvPicPr>
          <p:nvPr/>
        </p:nvPicPr>
        <p:blipFill>
          <a:blip xmlns:r="http://schemas.openxmlformats.org/officeDocument/2006/relationships" xmlns:a="http://schemas.openxmlformats.org/drawingml/2006/main" r:embed="Rb14c244fc5c64a7c"/>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5 label 1 line 1">
            <a:extLst xmlns:a="http://schemas.openxmlformats.org/drawingml/2006/main">
              <a:ext uri="{FF2B5EF4-FFF2-40B4-BE49-F238E27FC236}">
                <a16:creationId xmlns:a16="http://schemas.microsoft.com/office/drawing/2014/main" id="{21F0AE40-91B8-4476-BD7D-D858F4F9EB3B}"/>
              </a:ext>
            </a:extLst>
          </p:cNvPr>
          <p:cNvSpPr>
            <a:spLocks xmlns:a="http://schemas.openxmlformats.org/drawingml/2006/main" noGrp="1"/>
          </p:cNvSpPr>
          <p:nvPr/>
        </p:nvSpPr>
        <p:spPr>
          <a:xfrm xmlns:a="http://schemas.openxmlformats.org/drawingml/2006/main" rot="0">
            <a:off x="1057351" y="295961"/>
            <a:ext cx="9516469"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Typical protein / antibody screening workflow</a:t>
            </a:r>
          </a:p>
        </p:txBody>
      </p:sp>
      <p:sp>
        <p:nvSpPr>
          <p:cNvPr id="3" name="Figure 15 label 2 line 1">
            <a:extLst xmlns:a="http://schemas.openxmlformats.org/drawingml/2006/main">
              <a:ext uri="{FF2B5EF4-FFF2-40B4-BE49-F238E27FC236}">
                <a16:creationId xmlns:a16="http://schemas.microsoft.com/office/drawing/2014/main" id="{A4C9CE6E-AAA4-4352-BDAD-F66E8F4A4592}"/>
              </a:ext>
            </a:extLst>
          </p:cNvPr>
          <p:cNvSpPr>
            <a:spLocks xmlns:a="http://schemas.openxmlformats.org/drawingml/2006/main" noGrp="1"/>
          </p:cNvSpPr>
          <p:nvPr/>
        </p:nvSpPr>
        <p:spPr>
          <a:xfrm xmlns:a="http://schemas.openxmlformats.org/drawingml/2006/main" rot="0">
            <a:off x="1065581" y="956767"/>
            <a:ext cx="8299716"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From DNA constructs to functional evidence: the life science tools behind each step</a:t>
            </a:r>
          </a:p>
        </p:txBody>
      </p:sp>
      <p:sp>
        <p:nvSpPr>
          <p:cNvPr id="4" name="Figure 15 label 3 line 1">
            <a:extLst xmlns:a="http://schemas.openxmlformats.org/drawingml/2006/main">
              <a:ext uri="{FF2B5EF4-FFF2-40B4-BE49-F238E27FC236}">
                <a16:creationId xmlns:a16="http://schemas.microsoft.com/office/drawing/2014/main" id="{9E7ABB68-2CFF-4759-8A0E-A866783CDA30}"/>
              </a:ext>
            </a:extLst>
          </p:cNvPr>
          <p:cNvSpPr>
            <a:spLocks xmlns:a="http://schemas.openxmlformats.org/drawingml/2006/main" noGrp="1"/>
          </p:cNvSpPr>
          <p:nvPr/>
        </p:nvSpPr>
        <p:spPr>
          <a:xfrm xmlns:a="http://schemas.openxmlformats.org/drawingml/2006/main" rot="0">
            <a:off x="1067714" y="1341730"/>
            <a:ext cx="6222677"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0">
                <a:solidFill>
                  <a:srgbClr val="00355F"/>
                </a:solidFill>
                <a:latin typeface="Arial"/>
                <a:ea typeface="Arial"/>
                <a:cs typeface="Arial"/>
              </a:defRPr>
            </a:defPPr>
          </a:lstStyle>
          <a:p xmlns:a="http://schemas.openxmlformats.org/drawingml/2006/main">
            <a:pPr algn="l">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Example: sequence-defined antibody candidates screened against a protein target</a:t>
            </a:r>
          </a:p>
        </p:txBody>
      </p:sp>
      <p:sp>
        <p:nvSpPr>
          <p:cNvPr id="5" name="Figure 15 label 4 line 1">
            <a:extLst xmlns:a="http://schemas.openxmlformats.org/drawingml/2006/main">
              <a:ext uri="{FF2B5EF4-FFF2-40B4-BE49-F238E27FC236}">
                <a16:creationId xmlns:a16="http://schemas.microsoft.com/office/drawing/2014/main" id="{F74C51D0-7637-42D7-8FAD-207FC609020E}"/>
              </a:ext>
            </a:extLst>
          </p:cNvPr>
          <p:cNvSpPr>
            <a:spLocks xmlns:a="http://schemas.openxmlformats.org/drawingml/2006/main" noGrp="1"/>
          </p:cNvSpPr>
          <p:nvPr/>
        </p:nvSpPr>
        <p:spPr>
          <a:xfrm xmlns:a="http://schemas.openxmlformats.org/drawingml/2006/main" rot="0">
            <a:off x="754990" y="1880006"/>
            <a:ext cx="274386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BUILD  ·  Make physical samples</a:t>
            </a:r>
          </a:p>
        </p:txBody>
      </p:sp>
      <p:sp>
        <p:nvSpPr>
          <p:cNvPr id="6" name="Figure 15 label 5 line 1">
            <a:extLst xmlns:a="http://schemas.openxmlformats.org/drawingml/2006/main">
              <a:ext uri="{FF2B5EF4-FFF2-40B4-BE49-F238E27FC236}">
                <a16:creationId xmlns:a16="http://schemas.microsoft.com/office/drawing/2014/main" id="{3073B8F3-F882-4DD2-BE09-EAC6C2136CCF}"/>
              </a:ext>
            </a:extLst>
          </p:cNvPr>
          <p:cNvSpPr>
            <a:spLocks xmlns:a="http://schemas.openxmlformats.org/drawingml/2006/main" noGrp="1"/>
          </p:cNvSpPr>
          <p:nvPr/>
        </p:nvSpPr>
        <p:spPr>
          <a:xfrm xmlns:a="http://schemas.openxmlformats.org/drawingml/2006/main" rot="0">
            <a:off x="6637630" y="1880006"/>
            <a:ext cx="17691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TEST  ·  Find binders</a:t>
            </a:r>
          </a:p>
        </p:txBody>
      </p:sp>
      <p:sp>
        <p:nvSpPr>
          <p:cNvPr id="7" name="Figure 15 label 6 line 1">
            <a:extLst xmlns:a="http://schemas.openxmlformats.org/drawingml/2006/main">
              <a:ext uri="{FF2B5EF4-FFF2-40B4-BE49-F238E27FC236}">
                <a16:creationId xmlns:a16="http://schemas.microsoft.com/office/drawing/2014/main" id="{EA0481CB-B3CE-4409-8090-3D255E80EF9F}"/>
              </a:ext>
            </a:extLst>
          </p:cNvPr>
          <p:cNvSpPr>
            <a:spLocks xmlns:a="http://schemas.openxmlformats.org/drawingml/2006/main" noGrp="1"/>
          </p:cNvSpPr>
          <p:nvPr/>
        </p:nvSpPr>
        <p:spPr>
          <a:xfrm xmlns:a="http://schemas.openxmlformats.org/drawingml/2006/main" rot="0">
            <a:off x="9700565" y="1900123"/>
            <a:ext cx="337091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440" b="1">
                <a:solidFill>
                  <a:srgbClr val="00355F"/>
                </a:solidFill>
                <a:latin typeface="Arial"/>
                <a:ea typeface="Arial"/>
                <a:cs typeface="Arial"/>
              </a:defRPr>
            </a:defPPr>
          </a:lstStyle>
          <a:p xmlns:a="http://schemas.openxmlformats.org/drawingml/2006/main">
            <a:pPr algn="l">
              <a:lnSpc>
                <a:spcPct val="100000"/>
              </a:lnSpc>
              <a:buNone/>
              <a:defRPr sz="1440" b="1">
                <a:solidFill>
                  <a:srgbClr val="00355F"/>
                </a:solidFill>
                <a:latin typeface="Arial"/>
                <a:ea typeface="Arial"/>
                <a:cs typeface="Arial"/>
              </a:defRPr>
            </a:pPr>
            <a:r>
              <a:rPr sz="1440" b="1">
                <a:solidFill>
                  <a:srgbClr val="00355F"/>
                </a:solidFill>
                <a:latin typeface="Arial"/>
                <a:ea typeface="Arial"/>
                <a:cs typeface="Arial"/>
              </a:rPr>
              <a:t>AI learning needs depth per molecule</a:t>
            </a:r>
          </a:p>
        </p:txBody>
      </p:sp>
      <p:sp>
        <p:nvSpPr>
          <p:cNvPr id="8" name="Figure 15 label 7 line 1">
            <a:extLst xmlns:a="http://schemas.openxmlformats.org/drawingml/2006/main">
              <a:ext uri="{FF2B5EF4-FFF2-40B4-BE49-F238E27FC236}">
                <a16:creationId xmlns:a16="http://schemas.microsoft.com/office/drawing/2014/main" id="{6564590C-039B-4B7F-818F-F8E31F78ED89}"/>
              </a:ext>
            </a:extLst>
          </p:cNvPr>
          <p:cNvSpPr>
            <a:spLocks xmlns:a="http://schemas.openxmlformats.org/drawingml/2006/main" noGrp="1"/>
          </p:cNvSpPr>
          <p:nvPr/>
        </p:nvSpPr>
        <p:spPr>
          <a:xfrm xmlns:a="http://schemas.openxmlformats.org/drawingml/2006/main" rot="0">
            <a:off x="9702089" y="2180539"/>
            <a:ext cx="378013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40" b="0">
                <a:solidFill>
                  <a:srgbClr val="00355F"/>
                </a:solidFill>
                <a:latin typeface="Arial"/>
                <a:ea typeface="Arial"/>
                <a:cs typeface="Arial"/>
              </a:defRPr>
            </a:defPPr>
          </a:lstStyle>
          <a:p xmlns:a="http://schemas.openxmlformats.org/drawingml/2006/main">
            <a:pPr algn="l">
              <a:lnSpc>
                <a:spcPct val="100000"/>
              </a:lnSpc>
              <a:buNone/>
              <a:defRPr sz="1140" b="0">
                <a:solidFill>
                  <a:srgbClr val="00355F"/>
                </a:solidFill>
                <a:latin typeface="Arial"/>
                <a:ea typeface="Arial"/>
                <a:cs typeface="Arial"/>
              </a:defRPr>
            </a:pPr>
            <a:r>
              <a:rPr sz="1140" b="0">
                <a:solidFill>
                  <a:srgbClr val="00355F"/>
                </a:solidFill>
                <a:latin typeface="Arial"/>
                <a:ea typeface="Arial"/>
                <a:cs typeface="Arial"/>
              </a:rPr>
              <a:t>Potential constraint: comparable, reproducible assay data</a:t>
            </a:r>
          </a:p>
        </p:txBody>
      </p:sp>
      <p:sp>
        <p:nvSpPr>
          <p:cNvPr id="9" name="Figure 15 label 8 line 1">
            <a:extLst xmlns:a="http://schemas.openxmlformats.org/drawingml/2006/main">
              <a:ext uri="{FF2B5EF4-FFF2-40B4-BE49-F238E27FC236}">
                <a16:creationId xmlns:a16="http://schemas.microsoft.com/office/drawing/2014/main" id="{8C8A532D-59CA-4EDD-943B-7BBA50D1DFEC}"/>
              </a:ext>
            </a:extLst>
          </p:cNvPr>
          <p:cNvSpPr>
            <a:spLocks xmlns:a="http://schemas.openxmlformats.org/drawingml/2006/main" noGrp="1"/>
          </p:cNvSpPr>
          <p:nvPr/>
        </p:nvSpPr>
        <p:spPr>
          <a:xfrm xmlns:a="http://schemas.openxmlformats.org/drawingml/2006/main" rot="0">
            <a:off x="15613990" y="1880006"/>
            <a:ext cx="1399496"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LEARN  ·  Iterate</a:t>
            </a:r>
          </a:p>
        </p:txBody>
      </p:sp>
      <p:sp>
        <p:nvSpPr>
          <p:cNvPr id="10" name="Figure 15 label 9 line 1">
            <a:extLst xmlns:a="http://schemas.openxmlformats.org/drawingml/2006/main">
              <a:ext uri="{FF2B5EF4-FFF2-40B4-BE49-F238E27FC236}">
                <a16:creationId xmlns:a16="http://schemas.microsoft.com/office/drawing/2014/main" id="{EE88FEB5-A1C7-430D-AD4F-22B42AD5210C}"/>
              </a:ext>
            </a:extLst>
          </p:cNvPr>
          <p:cNvSpPr>
            <a:spLocks xmlns:a="http://schemas.openxmlformats.org/drawingml/2006/main" noGrp="1"/>
          </p:cNvSpPr>
          <p:nvPr/>
        </p:nvSpPr>
        <p:spPr>
          <a:xfrm xmlns:a="http://schemas.openxmlformats.org/drawingml/2006/main" rot="0">
            <a:off x="923544" y="2726436"/>
            <a:ext cx="861209"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01  /  BUILD</a:t>
            </a:r>
          </a:p>
        </p:txBody>
      </p:sp>
      <p:sp>
        <p:nvSpPr>
          <p:cNvPr id="11" name="Figure 15 label 10 line 1">
            <a:extLst xmlns:a="http://schemas.openxmlformats.org/drawingml/2006/main">
              <a:ext uri="{FF2B5EF4-FFF2-40B4-BE49-F238E27FC236}">
                <a16:creationId xmlns:a16="http://schemas.microsoft.com/office/drawing/2014/main" id="{D7DA6108-EFCF-4399-8C48-247F758F4B62}"/>
              </a:ext>
            </a:extLst>
          </p:cNvPr>
          <p:cNvSpPr>
            <a:spLocks xmlns:a="http://schemas.openxmlformats.org/drawingml/2006/main" noGrp="1"/>
          </p:cNvSpPr>
          <p:nvPr/>
        </p:nvSpPr>
        <p:spPr>
          <a:xfrm xmlns:a="http://schemas.openxmlformats.org/drawingml/2006/main" rot="0">
            <a:off x="920191" y="3100121"/>
            <a:ext cx="222716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Construct design /</a:t>
            </a:r>
          </a:p>
        </p:txBody>
      </p:sp>
      <p:sp>
        <p:nvSpPr>
          <p:cNvPr id="12" name="Figure 15 label 10 line 2">
            <a:extLst xmlns:a="http://schemas.openxmlformats.org/drawingml/2006/main">
              <a:ext uri="{FF2B5EF4-FFF2-40B4-BE49-F238E27FC236}">
                <a16:creationId xmlns:a16="http://schemas.microsoft.com/office/drawing/2014/main" id="{9A7AA5D4-1A70-4946-8FA4-51DE3D559E39}"/>
              </a:ext>
            </a:extLst>
          </p:cNvPr>
          <p:cNvSpPr>
            <a:spLocks xmlns:a="http://schemas.openxmlformats.org/drawingml/2006/main" noGrp="1"/>
          </p:cNvSpPr>
          <p:nvPr/>
        </p:nvSpPr>
        <p:spPr>
          <a:xfrm xmlns:a="http://schemas.openxmlformats.org/drawingml/2006/main" rot="0">
            <a:off x="920191" y="3395396"/>
            <a:ext cx="222716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DNA synthesis</a:t>
            </a:r>
          </a:p>
        </p:txBody>
      </p:sp>
      <p:sp>
        <p:nvSpPr>
          <p:cNvPr id="13" name="Figure 15 label 11 line 1">
            <a:extLst xmlns:a="http://schemas.openxmlformats.org/drawingml/2006/main">
              <a:ext uri="{FF2B5EF4-FFF2-40B4-BE49-F238E27FC236}">
                <a16:creationId xmlns:a16="http://schemas.microsoft.com/office/drawing/2014/main" id="{689F6E81-DE5E-43AA-BAE9-82E094255310}"/>
              </a:ext>
            </a:extLst>
          </p:cNvPr>
          <p:cNvSpPr>
            <a:spLocks xmlns:a="http://schemas.openxmlformats.org/drawingml/2006/main" noGrp="1"/>
          </p:cNvSpPr>
          <p:nvPr/>
        </p:nvSpPr>
        <p:spPr>
          <a:xfrm xmlns:a="http://schemas.openxmlformats.org/drawingml/2006/main" rot="0">
            <a:off x="923239" y="3813353"/>
            <a:ext cx="211468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Encode antibody candidates</a:t>
            </a:r>
          </a:p>
        </p:txBody>
      </p:sp>
      <p:sp>
        <p:nvSpPr>
          <p:cNvPr id="14" name="Figure 15 label 11 line 2">
            <a:extLst xmlns:a="http://schemas.openxmlformats.org/drawingml/2006/main">
              <a:ext uri="{FF2B5EF4-FFF2-40B4-BE49-F238E27FC236}">
                <a16:creationId xmlns:a16="http://schemas.microsoft.com/office/drawing/2014/main" id="{A6A6FEB6-BE60-4DDF-A259-8C78D934C4F0}"/>
              </a:ext>
            </a:extLst>
          </p:cNvPr>
          <p:cNvSpPr>
            <a:spLocks xmlns:a="http://schemas.openxmlformats.org/drawingml/2006/main" noGrp="1"/>
          </p:cNvSpPr>
          <p:nvPr/>
        </p:nvSpPr>
        <p:spPr>
          <a:xfrm xmlns:a="http://schemas.openxmlformats.org/drawingml/2006/main" rot="0">
            <a:off x="923239" y="4013378"/>
            <a:ext cx="211468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as DNA constructs</a:t>
            </a:r>
          </a:p>
        </p:txBody>
      </p:sp>
      <p:sp>
        <p:nvSpPr>
          <p:cNvPr id="15" name="Figure 15 label 12 line 1">
            <a:extLst xmlns:a="http://schemas.openxmlformats.org/drawingml/2006/main">
              <a:ext uri="{FF2B5EF4-FFF2-40B4-BE49-F238E27FC236}">
                <a16:creationId xmlns:a16="http://schemas.microsoft.com/office/drawing/2014/main" id="{94AFC4E6-9B48-42A4-95FD-96F670A270B6}"/>
              </a:ext>
            </a:extLst>
          </p:cNvPr>
          <p:cNvSpPr>
            <a:spLocks xmlns:a="http://schemas.openxmlformats.org/drawingml/2006/main" noGrp="1"/>
          </p:cNvSpPr>
          <p:nvPr/>
        </p:nvSpPr>
        <p:spPr>
          <a:xfrm xmlns:a="http://schemas.openxmlformats.org/drawingml/2006/main" rot="0">
            <a:off x="970940" y="4448404"/>
            <a:ext cx="526042"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OUTPUT</a:t>
            </a:r>
          </a:p>
        </p:txBody>
      </p:sp>
      <p:sp>
        <p:nvSpPr>
          <p:cNvPr id="16" name="Figure 15 label 13 line 1">
            <a:extLst xmlns:a="http://schemas.openxmlformats.org/drawingml/2006/main">
              <a:ext uri="{FF2B5EF4-FFF2-40B4-BE49-F238E27FC236}">
                <a16:creationId xmlns:a16="http://schemas.microsoft.com/office/drawing/2014/main" id="{23C90826-E161-4F1D-AF67-ED43EBC8281E}"/>
              </a:ext>
            </a:extLst>
          </p:cNvPr>
          <p:cNvSpPr>
            <a:spLocks xmlns:a="http://schemas.openxmlformats.org/drawingml/2006/main" noGrp="1"/>
          </p:cNvSpPr>
          <p:nvPr/>
        </p:nvSpPr>
        <p:spPr>
          <a:xfrm xmlns:a="http://schemas.openxmlformats.org/drawingml/2006/main" rot="0">
            <a:off x="969264" y="4661916"/>
            <a:ext cx="16870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Sequence + construct</a:t>
            </a:r>
          </a:p>
        </p:txBody>
      </p:sp>
      <p:sp>
        <p:nvSpPr>
          <p:cNvPr id="17" name="Figure 15 label 14 line 1">
            <a:extLst xmlns:a="http://schemas.openxmlformats.org/drawingml/2006/main">
              <a:ext uri="{FF2B5EF4-FFF2-40B4-BE49-F238E27FC236}">
                <a16:creationId xmlns:a16="http://schemas.microsoft.com/office/drawing/2014/main" id="{EFF107B8-B012-4F1F-97BB-3AA540916B7A}"/>
              </a:ext>
            </a:extLst>
          </p:cNvPr>
          <p:cNvSpPr>
            <a:spLocks xmlns:a="http://schemas.openxmlformats.org/drawingml/2006/main" noGrp="1"/>
          </p:cNvSpPr>
          <p:nvPr/>
        </p:nvSpPr>
        <p:spPr>
          <a:xfrm xmlns:a="http://schemas.openxmlformats.org/drawingml/2006/main" rot="0">
            <a:off x="924611" y="4983937"/>
            <a:ext cx="78032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REAGENTS</a:t>
            </a:r>
          </a:p>
        </p:txBody>
      </p:sp>
      <p:sp>
        <p:nvSpPr>
          <p:cNvPr id="18" name="Figure 15 label 15 line 1">
            <a:extLst xmlns:a="http://schemas.openxmlformats.org/drawingml/2006/main">
              <a:ext uri="{FF2B5EF4-FFF2-40B4-BE49-F238E27FC236}">
                <a16:creationId xmlns:a16="http://schemas.microsoft.com/office/drawing/2014/main" id="{492D75C2-83C5-4EC6-B166-16ECC82F594B}"/>
              </a:ext>
            </a:extLst>
          </p:cNvPr>
          <p:cNvSpPr>
            <a:spLocks xmlns:a="http://schemas.openxmlformats.org/drawingml/2006/main" noGrp="1"/>
          </p:cNvSpPr>
          <p:nvPr/>
        </p:nvSpPr>
        <p:spPr>
          <a:xfrm xmlns:a="http://schemas.openxmlformats.org/drawingml/2006/main" rot="0">
            <a:off x="923696" y="5196688"/>
            <a:ext cx="167416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Oligos / gene fragments</a:t>
            </a:r>
          </a:p>
        </p:txBody>
      </p:sp>
      <p:sp>
        <p:nvSpPr>
          <p:cNvPr id="19" name="Figure 15 label 15 line 2">
            <a:extLst xmlns:a="http://schemas.openxmlformats.org/drawingml/2006/main">
              <a:ext uri="{FF2B5EF4-FFF2-40B4-BE49-F238E27FC236}">
                <a16:creationId xmlns:a16="http://schemas.microsoft.com/office/drawing/2014/main" id="{1922119B-1F96-471A-B958-494BB4000795}"/>
              </a:ext>
            </a:extLst>
          </p:cNvPr>
          <p:cNvSpPr>
            <a:spLocks xmlns:a="http://schemas.openxmlformats.org/drawingml/2006/main" noGrp="1"/>
          </p:cNvSpPr>
          <p:nvPr/>
        </p:nvSpPr>
        <p:spPr>
          <a:xfrm xmlns:a="http://schemas.openxmlformats.org/drawingml/2006/main" rot="0">
            <a:off x="923696" y="5382425"/>
            <a:ext cx="167416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PCR enzymes, vectors</a:t>
            </a:r>
          </a:p>
        </p:txBody>
      </p:sp>
      <p:sp>
        <p:nvSpPr>
          <p:cNvPr id="20" name="Figure 15 label 15 line 3">
            <a:extLst xmlns:a="http://schemas.openxmlformats.org/drawingml/2006/main">
              <a:ext uri="{FF2B5EF4-FFF2-40B4-BE49-F238E27FC236}">
                <a16:creationId xmlns:a16="http://schemas.microsoft.com/office/drawing/2014/main" id="{30C15FF6-1D2C-45FE-9627-1FA584CE06C8}"/>
              </a:ext>
            </a:extLst>
          </p:cNvPr>
          <p:cNvSpPr>
            <a:spLocks xmlns:a="http://schemas.openxmlformats.org/drawingml/2006/main" noGrp="1"/>
          </p:cNvSpPr>
          <p:nvPr/>
        </p:nvSpPr>
        <p:spPr>
          <a:xfrm xmlns:a="http://schemas.openxmlformats.org/drawingml/2006/main" rot="0">
            <a:off x="923696" y="5568163"/>
            <a:ext cx="167416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Cloning reagents</a:t>
            </a:r>
          </a:p>
        </p:txBody>
      </p:sp>
      <p:sp>
        <p:nvSpPr>
          <p:cNvPr id="21" name="Figure 15 label 16 line 1">
            <a:extLst xmlns:a="http://schemas.openxmlformats.org/drawingml/2006/main">
              <a:ext uri="{FF2B5EF4-FFF2-40B4-BE49-F238E27FC236}">
                <a16:creationId xmlns:a16="http://schemas.microsoft.com/office/drawing/2014/main" id="{CB7A0BB6-D685-4373-AA58-ADA842D06D8B}"/>
              </a:ext>
            </a:extLst>
          </p:cNvPr>
          <p:cNvSpPr>
            <a:spLocks xmlns:a="http://schemas.openxmlformats.org/drawingml/2006/main" noGrp="1"/>
          </p:cNvSpPr>
          <p:nvPr/>
        </p:nvSpPr>
        <p:spPr>
          <a:xfrm xmlns:a="http://schemas.openxmlformats.org/drawingml/2006/main" rot="0">
            <a:off x="924611" y="5745937"/>
            <a:ext cx="98987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INSTRUMENTS</a:t>
            </a:r>
          </a:p>
        </p:txBody>
      </p:sp>
      <p:sp>
        <p:nvSpPr>
          <p:cNvPr id="22" name="Figure 15 label 17 line 1">
            <a:extLst xmlns:a="http://schemas.openxmlformats.org/drawingml/2006/main">
              <a:ext uri="{FF2B5EF4-FFF2-40B4-BE49-F238E27FC236}">
                <a16:creationId xmlns:a16="http://schemas.microsoft.com/office/drawing/2014/main" id="{1F7393BF-1CC8-4249-9023-2CE2CC14D39B}"/>
              </a:ext>
            </a:extLst>
          </p:cNvPr>
          <p:cNvSpPr>
            <a:spLocks xmlns:a="http://schemas.openxmlformats.org/drawingml/2006/main" noGrp="1"/>
          </p:cNvSpPr>
          <p:nvPr/>
        </p:nvSpPr>
        <p:spPr>
          <a:xfrm xmlns:a="http://schemas.openxmlformats.org/drawingml/2006/main" rot="0">
            <a:off x="923696" y="5958688"/>
            <a:ext cx="1889218"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Thermocycler</a:t>
            </a:r>
          </a:p>
        </p:txBody>
      </p:sp>
      <p:sp>
        <p:nvSpPr>
          <p:cNvPr id="23" name="Figure 15 label 17 line 2">
            <a:extLst xmlns:a="http://schemas.openxmlformats.org/drawingml/2006/main">
              <a:ext uri="{FF2B5EF4-FFF2-40B4-BE49-F238E27FC236}">
                <a16:creationId xmlns:a16="http://schemas.microsoft.com/office/drawing/2014/main" id="{BC2BD63C-0159-4340-82B8-703695F3B2D0}"/>
              </a:ext>
            </a:extLst>
          </p:cNvPr>
          <p:cNvSpPr>
            <a:spLocks xmlns:a="http://schemas.openxmlformats.org/drawingml/2006/main" noGrp="1"/>
          </p:cNvSpPr>
          <p:nvPr/>
        </p:nvSpPr>
        <p:spPr>
          <a:xfrm xmlns:a="http://schemas.openxmlformats.org/drawingml/2006/main" rot="0">
            <a:off x="923696" y="6144425"/>
            <a:ext cx="1889218"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Spectrophotometer</a:t>
            </a:r>
          </a:p>
        </p:txBody>
      </p:sp>
      <p:sp>
        <p:nvSpPr>
          <p:cNvPr id="24" name="Figure 15 label 17 line 3">
            <a:extLst xmlns:a="http://schemas.openxmlformats.org/drawingml/2006/main">
              <a:ext uri="{FF2B5EF4-FFF2-40B4-BE49-F238E27FC236}">
                <a16:creationId xmlns:a16="http://schemas.microsoft.com/office/drawing/2014/main" id="{643B5E0E-64A3-4EE5-873B-85427B72F390}"/>
              </a:ext>
            </a:extLst>
          </p:cNvPr>
          <p:cNvSpPr>
            <a:spLocks xmlns:a="http://schemas.openxmlformats.org/drawingml/2006/main" noGrp="1"/>
          </p:cNvSpPr>
          <p:nvPr/>
        </p:nvSpPr>
        <p:spPr>
          <a:xfrm xmlns:a="http://schemas.openxmlformats.org/drawingml/2006/main" rot="0">
            <a:off x="923696" y="6330163"/>
            <a:ext cx="1889218"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Liquid handling workstation</a:t>
            </a:r>
          </a:p>
        </p:txBody>
      </p:sp>
      <p:sp>
        <p:nvSpPr>
          <p:cNvPr id="25" name="Figure 15 label 18 line 1">
            <a:extLst xmlns:a="http://schemas.openxmlformats.org/drawingml/2006/main">
              <a:ext uri="{FF2B5EF4-FFF2-40B4-BE49-F238E27FC236}">
                <a16:creationId xmlns:a16="http://schemas.microsoft.com/office/drawing/2014/main" id="{11939B85-7E71-4A5A-8E05-207E26D3EAF8}"/>
              </a:ext>
            </a:extLst>
          </p:cNvPr>
          <p:cNvSpPr>
            <a:spLocks xmlns:a="http://schemas.openxmlformats.org/drawingml/2006/main" noGrp="1"/>
          </p:cNvSpPr>
          <p:nvPr/>
        </p:nvSpPr>
        <p:spPr>
          <a:xfrm xmlns:a="http://schemas.openxmlformats.org/drawingml/2006/main" rot="0">
            <a:off x="924611" y="6507937"/>
            <a:ext cx="1066669"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CONSUMABLES</a:t>
            </a:r>
          </a:p>
        </p:txBody>
      </p:sp>
      <p:sp>
        <p:nvSpPr>
          <p:cNvPr id="26" name="Figure 15 label 19 line 1">
            <a:extLst xmlns:a="http://schemas.openxmlformats.org/drawingml/2006/main">
              <a:ext uri="{FF2B5EF4-FFF2-40B4-BE49-F238E27FC236}">
                <a16:creationId xmlns:a16="http://schemas.microsoft.com/office/drawing/2014/main" id="{6710993D-255B-4046-9241-FC36B99700EA}"/>
              </a:ext>
            </a:extLst>
          </p:cNvPr>
          <p:cNvSpPr>
            <a:spLocks xmlns:a="http://schemas.openxmlformats.org/drawingml/2006/main" noGrp="1"/>
          </p:cNvSpPr>
          <p:nvPr/>
        </p:nvSpPr>
        <p:spPr>
          <a:xfrm xmlns:a="http://schemas.openxmlformats.org/drawingml/2006/main" rot="0">
            <a:off x="923696" y="6720688"/>
            <a:ext cx="160808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PCR / deep-well plates</a:t>
            </a:r>
          </a:p>
        </p:txBody>
      </p:sp>
      <p:sp>
        <p:nvSpPr>
          <p:cNvPr id="27" name="Figure 15 label 19 line 2">
            <a:extLst xmlns:a="http://schemas.openxmlformats.org/drawingml/2006/main">
              <a:ext uri="{FF2B5EF4-FFF2-40B4-BE49-F238E27FC236}">
                <a16:creationId xmlns:a16="http://schemas.microsoft.com/office/drawing/2014/main" id="{58D25D65-C7EF-47D1-8A62-EAB0FE79A7CD}"/>
              </a:ext>
            </a:extLst>
          </p:cNvPr>
          <p:cNvSpPr>
            <a:spLocks xmlns:a="http://schemas.openxmlformats.org/drawingml/2006/main" noGrp="1"/>
          </p:cNvSpPr>
          <p:nvPr/>
        </p:nvSpPr>
        <p:spPr>
          <a:xfrm xmlns:a="http://schemas.openxmlformats.org/drawingml/2006/main" rot="0">
            <a:off x="923696" y="6906425"/>
            <a:ext cx="160808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Tubes, pipette tips</a:t>
            </a:r>
          </a:p>
        </p:txBody>
      </p:sp>
      <p:sp>
        <p:nvSpPr>
          <p:cNvPr id="28" name="Figure 15 label 20 line 1">
            <a:extLst xmlns:a="http://schemas.openxmlformats.org/drawingml/2006/main">
              <a:ext uri="{FF2B5EF4-FFF2-40B4-BE49-F238E27FC236}">
                <a16:creationId xmlns:a16="http://schemas.microsoft.com/office/drawing/2014/main" id="{94F5846E-3DC6-4049-83FC-AA546A99CB05}"/>
              </a:ext>
            </a:extLst>
          </p:cNvPr>
          <p:cNvSpPr>
            <a:spLocks xmlns:a="http://schemas.openxmlformats.org/drawingml/2006/main" noGrp="1"/>
          </p:cNvSpPr>
          <p:nvPr/>
        </p:nvSpPr>
        <p:spPr>
          <a:xfrm xmlns:a="http://schemas.openxmlformats.org/drawingml/2006/main" rot="0">
            <a:off x="924916" y="7455561"/>
            <a:ext cx="1831306"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1">
                <a:solidFill>
                  <a:srgbClr val="00355F"/>
                </a:solidFill>
                <a:latin typeface="Arial"/>
                <a:ea typeface="Arial"/>
                <a:cs typeface="Arial"/>
              </a:defRPr>
            </a:defPPr>
          </a:lstStyle>
          <a:p xmlns:a="http://schemas.openxmlformats.org/drawingml/2006/main">
            <a:pPr algn="l">
              <a:lnSpc>
                <a:spcPct val="100000"/>
              </a:lnSpc>
              <a:buNone/>
              <a:defRPr sz="930" b="1">
                <a:solidFill>
                  <a:srgbClr val="00355F"/>
                </a:solidFill>
                <a:latin typeface="Arial"/>
                <a:ea typeface="Arial"/>
                <a:cs typeface="Arial"/>
              </a:defRPr>
            </a:pPr>
            <a:r>
              <a:rPr sz="930" b="1">
                <a:solidFill>
                  <a:srgbClr val="00355F"/>
                </a:solidFill>
                <a:latin typeface="Arial"/>
                <a:ea typeface="Arial"/>
                <a:cs typeface="Arial"/>
              </a:rPr>
              <a:t>REPRESENTATIVE SUPPLIERS</a:t>
            </a:r>
          </a:p>
        </p:txBody>
      </p:sp>
      <p:sp>
        <p:nvSpPr>
          <p:cNvPr id="29" name="Figure 15 label 21 line 1">
            <a:extLst xmlns:a="http://schemas.openxmlformats.org/drawingml/2006/main">
              <a:ext uri="{FF2B5EF4-FFF2-40B4-BE49-F238E27FC236}">
                <a16:creationId xmlns:a16="http://schemas.microsoft.com/office/drawing/2014/main" id="{F57A99A7-3D49-486E-9B13-045E6490EFCD}"/>
              </a:ext>
            </a:extLst>
          </p:cNvPr>
          <p:cNvSpPr>
            <a:spLocks xmlns:a="http://schemas.openxmlformats.org/drawingml/2006/main" noGrp="1"/>
          </p:cNvSpPr>
          <p:nvPr/>
        </p:nvSpPr>
        <p:spPr>
          <a:xfrm xmlns:a="http://schemas.openxmlformats.org/drawingml/2006/main" rot="0">
            <a:off x="924458" y="8122006"/>
            <a:ext cx="1096976"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Tsingke · Vazyme</a:t>
            </a:r>
          </a:p>
        </p:txBody>
      </p:sp>
      <p:sp>
        <p:nvSpPr>
          <p:cNvPr id="30" name="Figure 15 label 21 line 2">
            <a:extLst xmlns:a="http://schemas.openxmlformats.org/drawingml/2006/main">
              <a:ext uri="{FF2B5EF4-FFF2-40B4-BE49-F238E27FC236}">
                <a16:creationId xmlns:a16="http://schemas.microsoft.com/office/drawing/2014/main" id="{F8BD0C79-2300-4E99-A801-D2F2659845C1}"/>
              </a:ext>
            </a:extLst>
          </p:cNvPr>
          <p:cNvSpPr>
            <a:spLocks xmlns:a="http://schemas.openxmlformats.org/drawingml/2006/main" noGrp="1"/>
          </p:cNvSpPr>
          <p:nvPr/>
        </p:nvSpPr>
        <p:spPr>
          <a:xfrm xmlns:a="http://schemas.openxmlformats.org/drawingml/2006/main" rot="0">
            <a:off x="924458" y="8283931"/>
            <a:ext cx="1096976"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Thermo Fisher</a:t>
            </a:r>
          </a:p>
        </p:txBody>
      </p:sp>
      <p:sp>
        <p:nvSpPr>
          <p:cNvPr id="31" name="Figure 15 label 22 line 1">
            <a:extLst xmlns:a="http://schemas.openxmlformats.org/drawingml/2006/main">
              <a:ext uri="{FF2B5EF4-FFF2-40B4-BE49-F238E27FC236}">
                <a16:creationId xmlns:a16="http://schemas.microsoft.com/office/drawing/2014/main" id="{EA5143E2-7AF4-4095-990E-92F13F84D6D0}"/>
              </a:ext>
            </a:extLst>
          </p:cNvPr>
          <p:cNvSpPr>
            <a:spLocks xmlns:a="http://schemas.openxmlformats.org/drawingml/2006/main" noGrp="1"/>
          </p:cNvSpPr>
          <p:nvPr/>
        </p:nvSpPr>
        <p:spPr>
          <a:xfrm xmlns:a="http://schemas.openxmlformats.org/drawingml/2006/main" rot="0">
            <a:off x="3864864" y="2726436"/>
            <a:ext cx="861209"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02  /  BUILD</a:t>
            </a:r>
          </a:p>
        </p:txBody>
      </p:sp>
      <p:sp>
        <p:nvSpPr>
          <p:cNvPr id="32" name="Figure 15 label 23 line 1">
            <a:extLst xmlns:a="http://schemas.openxmlformats.org/drawingml/2006/main">
              <a:ext uri="{FF2B5EF4-FFF2-40B4-BE49-F238E27FC236}">
                <a16:creationId xmlns:a16="http://schemas.microsoft.com/office/drawing/2014/main" id="{C4A15F16-FE6F-439F-BE93-A166B6B20724}"/>
              </a:ext>
            </a:extLst>
          </p:cNvPr>
          <p:cNvSpPr>
            <a:spLocks xmlns:a="http://schemas.openxmlformats.org/drawingml/2006/main" noGrp="1"/>
          </p:cNvSpPr>
          <p:nvPr/>
        </p:nvSpPr>
        <p:spPr>
          <a:xfrm xmlns:a="http://schemas.openxmlformats.org/drawingml/2006/main" rot="0">
            <a:off x="3861511" y="3100121"/>
            <a:ext cx="228029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Protein expression</a:t>
            </a:r>
          </a:p>
        </p:txBody>
      </p:sp>
      <p:sp>
        <p:nvSpPr>
          <p:cNvPr id="33" name="Figure 15 label 23 line 2">
            <a:extLst xmlns:a="http://schemas.openxmlformats.org/drawingml/2006/main">
              <a:ext uri="{FF2B5EF4-FFF2-40B4-BE49-F238E27FC236}">
                <a16:creationId xmlns:a16="http://schemas.microsoft.com/office/drawing/2014/main" id="{AFDDD92A-CDCA-4392-89AC-322C02F28D9E}"/>
              </a:ext>
            </a:extLst>
          </p:cNvPr>
          <p:cNvSpPr>
            <a:spLocks xmlns:a="http://schemas.openxmlformats.org/drawingml/2006/main" noGrp="1"/>
          </p:cNvSpPr>
          <p:nvPr/>
        </p:nvSpPr>
        <p:spPr>
          <a:xfrm xmlns:a="http://schemas.openxmlformats.org/drawingml/2006/main" rot="0">
            <a:off x="3861511" y="3395396"/>
            <a:ext cx="228029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&amp; purification</a:t>
            </a:r>
          </a:p>
        </p:txBody>
      </p:sp>
      <p:sp>
        <p:nvSpPr>
          <p:cNvPr id="34" name="Figure 15 label 24 line 1">
            <a:extLst xmlns:a="http://schemas.openxmlformats.org/drawingml/2006/main">
              <a:ext uri="{FF2B5EF4-FFF2-40B4-BE49-F238E27FC236}">
                <a16:creationId xmlns:a16="http://schemas.microsoft.com/office/drawing/2014/main" id="{B5A91591-25BB-48D5-9032-8F342D2049AB}"/>
              </a:ext>
            </a:extLst>
          </p:cNvPr>
          <p:cNvSpPr>
            <a:spLocks xmlns:a="http://schemas.openxmlformats.org/drawingml/2006/main" noGrp="1"/>
          </p:cNvSpPr>
          <p:nvPr/>
        </p:nvSpPr>
        <p:spPr>
          <a:xfrm xmlns:a="http://schemas.openxmlformats.org/drawingml/2006/main" rot="0">
            <a:off x="3864559" y="3813353"/>
            <a:ext cx="221261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Produce candidate antibodies</a:t>
            </a:r>
          </a:p>
        </p:txBody>
      </p:sp>
      <p:sp>
        <p:nvSpPr>
          <p:cNvPr id="35" name="Figure 15 label 24 line 2">
            <a:extLst xmlns:a="http://schemas.openxmlformats.org/drawingml/2006/main">
              <a:ext uri="{FF2B5EF4-FFF2-40B4-BE49-F238E27FC236}">
                <a16:creationId xmlns:a16="http://schemas.microsoft.com/office/drawing/2014/main" id="{BB914E67-5695-46E5-89A0-E33A26509EBC}"/>
              </a:ext>
            </a:extLst>
          </p:cNvPr>
          <p:cNvSpPr>
            <a:spLocks xmlns:a="http://schemas.openxmlformats.org/drawingml/2006/main" noGrp="1"/>
          </p:cNvSpPr>
          <p:nvPr/>
        </p:nvSpPr>
        <p:spPr>
          <a:xfrm xmlns:a="http://schemas.openxmlformats.org/drawingml/2006/main" rot="0">
            <a:off x="3864559" y="4013378"/>
            <a:ext cx="221261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and target-protein samples</a:t>
            </a:r>
          </a:p>
        </p:txBody>
      </p:sp>
      <p:sp>
        <p:nvSpPr>
          <p:cNvPr id="36" name="Figure 15 label 25 line 1">
            <a:extLst xmlns:a="http://schemas.openxmlformats.org/drawingml/2006/main">
              <a:ext uri="{FF2B5EF4-FFF2-40B4-BE49-F238E27FC236}">
                <a16:creationId xmlns:a16="http://schemas.microsoft.com/office/drawing/2014/main" id="{DFA27F32-6817-4500-A33C-49BF99847786}"/>
              </a:ext>
            </a:extLst>
          </p:cNvPr>
          <p:cNvSpPr>
            <a:spLocks xmlns:a="http://schemas.openxmlformats.org/drawingml/2006/main" noGrp="1"/>
          </p:cNvSpPr>
          <p:nvPr/>
        </p:nvSpPr>
        <p:spPr>
          <a:xfrm xmlns:a="http://schemas.openxmlformats.org/drawingml/2006/main" rot="0">
            <a:off x="3912260" y="4448404"/>
            <a:ext cx="526042"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OUTPUT</a:t>
            </a:r>
          </a:p>
        </p:txBody>
      </p:sp>
      <p:sp>
        <p:nvSpPr>
          <p:cNvPr id="37" name="Figure 15 label 26 line 1">
            <a:extLst xmlns:a="http://schemas.openxmlformats.org/drawingml/2006/main">
              <a:ext uri="{FF2B5EF4-FFF2-40B4-BE49-F238E27FC236}">
                <a16:creationId xmlns:a16="http://schemas.microsoft.com/office/drawing/2014/main" id="{D2DC4551-4FB0-497E-8B09-399D8B087FF5}"/>
              </a:ext>
            </a:extLst>
          </p:cNvPr>
          <p:cNvSpPr>
            <a:spLocks xmlns:a="http://schemas.openxmlformats.org/drawingml/2006/main" noGrp="1"/>
          </p:cNvSpPr>
          <p:nvPr/>
        </p:nvSpPr>
        <p:spPr>
          <a:xfrm xmlns:a="http://schemas.openxmlformats.org/drawingml/2006/main" rot="0">
            <a:off x="3910584" y="4661916"/>
            <a:ext cx="1839754"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Purified samples + yield</a:t>
            </a:r>
          </a:p>
        </p:txBody>
      </p:sp>
      <p:sp>
        <p:nvSpPr>
          <p:cNvPr id="38" name="Figure 15 label 27 line 1">
            <a:extLst xmlns:a="http://schemas.openxmlformats.org/drawingml/2006/main">
              <a:ext uri="{FF2B5EF4-FFF2-40B4-BE49-F238E27FC236}">
                <a16:creationId xmlns:a16="http://schemas.microsoft.com/office/drawing/2014/main" id="{B9D36977-5106-4CBE-933F-1D8CC3FEFB83}"/>
              </a:ext>
            </a:extLst>
          </p:cNvPr>
          <p:cNvSpPr>
            <a:spLocks xmlns:a="http://schemas.openxmlformats.org/drawingml/2006/main" noGrp="1"/>
          </p:cNvSpPr>
          <p:nvPr/>
        </p:nvSpPr>
        <p:spPr>
          <a:xfrm xmlns:a="http://schemas.openxmlformats.org/drawingml/2006/main" rot="0">
            <a:off x="3865931" y="4983937"/>
            <a:ext cx="78032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REAGENTS</a:t>
            </a:r>
          </a:p>
        </p:txBody>
      </p:sp>
      <p:sp>
        <p:nvSpPr>
          <p:cNvPr id="39" name="Figure 15 label 28 line 1">
            <a:extLst xmlns:a="http://schemas.openxmlformats.org/drawingml/2006/main">
              <a:ext uri="{FF2B5EF4-FFF2-40B4-BE49-F238E27FC236}">
                <a16:creationId xmlns:a16="http://schemas.microsoft.com/office/drawing/2014/main" id="{CE30BCF7-BF57-465A-A002-5B492FDCD643}"/>
              </a:ext>
            </a:extLst>
          </p:cNvPr>
          <p:cNvSpPr>
            <a:spLocks xmlns:a="http://schemas.openxmlformats.org/drawingml/2006/main" noGrp="1"/>
          </p:cNvSpPr>
          <p:nvPr/>
        </p:nvSpPr>
        <p:spPr>
          <a:xfrm xmlns:a="http://schemas.openxmlformats.org/drawingml/2006/main" rot="0">
            <a:off x="3865016" y="5196688"/>
            <a:ext cx="176494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Cells, media, transfection</a:t>
            </a:r>
          </a:p>
        </p:txBody>
      </p:sp>
      <p:sp>
        <p:nvSpPr>
          <p:cNvPr id="40" name="Figure 15 label 28 line 2">
            <a:extLst xmlns:a="http://schemas.openxmlformats.org/drawingml/2006/main">
              <a:ext uri="{FF2B5EF4-FFF2-40B4-BE49-F238E27FC236}">
                <a16:creationId xmlns:a16="http://schemas.microsoft.com/office/drawing/2014/main" id="{63EDBA7D-1430-48E3-8A1D-647A486E8E0C}"/>
              </a:ext>
            </a:extLst>
          </p:cNvPr>
          <p:cNvSpPr>
            <a:spLocks xmlns:a="http://schemas.openxmlformats.org/drawingml/2006/main" noGrp="1"/>
          </p:cNvSpPr>
          <p:nvPr/>
        </p:nvSpPr>
        <p:spPr>
          <a:xfrm xmlns:a="http://schemas.openxmlformats.org/drawingml/2006/main" rot="0">
            <a:off x="3865016" y="5382425"/>
            <a:ext cx="176494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Affinity resin, buffers</a:t>
            </a:r>
          </a:p>
        </p:txBody>
      </p:sp>
      <p:sp>
        <p:nvSpPr>
          <p:cNvPr id="41" name="Figure 15 label 29 line 1">
            <a:extLst xmlns:a="http://schemas.openxmlformats.org/drawingml/2006/main">
              <a:ext uri="{FF2B5EF4-FFF2-40B4-BE49-F238E27FC236}">
                <a16:creationId xmlns:a16="http://schemas.microsoft.com/office/drawing/2014/main" id="{F75FCEB9-6B9B-4F2D-895B-91F9DB33AADB}"/>
              </a:ext>
            </a:extLst>
          </p:cNvPr>
          <p:cNvSpPr>
            <a:spLocks xmlns:a="http://schemas.openxmlformats.org/drawingml/2006/main" noGrp="1"/>
          </p:cNvSpPr>
          <p:nvPr/>
        </p:nvSpPr>
        <p:spPr>
          <a:xfrm xmlns:a="http://schemas.openxmlformats.org/drawingml/2006/main" rot="0">
            <a:off x="3865931" y="5745937"/>
            <a:ext cx="98987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INSTRUMENTS</a:t>
            </a:r>
          </a:p>
        </p:txBody>
      </p:sp>
      <p:sp>
        <p:nvSpPr>
          <p:cNvPr id="42" name="Figure 15 label 30 line 1">
            <a:extLst xmlns:a="http://schemas.openxmlformats.org/drawingml/2006/main">
              <a:ext uri="{FF2B5EF4-FFF2-40B4-BE49-F238E27FC236}">
                <a16:creationId xmlns:a16="http://schemas.microsoft.com/office/drawing/2014/main" id="{07284FD9-1F6A-4E34-8E3D-AEDB2699961A}"/>
              </a:ext>
            </a:extLst>
          </p:cNvPr>
          <p:cNvSpPr>
            <a:spLocks xmlns:a="http://schemas.openxmlformats.org/drawingml/2006/main" noGrp="1"/>
          </p:cNvSpPr>
          <p:nvPr/>
        </p:nvSpPr>
        <p:spPr>
          <a:xfrm xmlns:a="http://schemas.openxmlformats.org/drawingml/2006/main" rot="0">
            <a:off x="3865016" y="5958688"/>
            <a:ext cx="1480983"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Shaker / bioreactor*</a:t>
            </a:r>
          </a:p>
        </p:txBody>
      </p:sp>
      <p:sp>
        <p:nvSpPr>
          <p:cNvPr id="43" name="Figure 15 label 30 line 2">
            <a:extLst xmlns:a="http://schemas.openxmlformats.org/drawingml/2006/main">
              <a:ext uri="{FF2B5EF4-FFF2-40B4-BE49-F238E27FC236}">
                <a16:creationId xmlns:a16="http://schemas.microsoft.com/office/drawing/2014/main" id="{DACA883F-1BAF-48A0-89A3-A8E0A0C9A89D}"/>
              </a:ext>
            </a:extLst>
          </p:cNvPr>
          <p:cNvSpPr>
            <a:spLocks xmlns:a="http://schemas.openxmlformats.org/drawingml/2006/main" noGrp="1"/>
          </p:cNvSpPr>
          <p:nvPr/>
        </p:nvSpPr>
        <p:spPr>
          <a:xfrm xmlns:a="http://schemas.openxmlformats.org/drawingml/2006/main" rot="0">
            <a:off x="3865016" y="6144425"/>
            <a:ext cx="1480983"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ÄKTA / FPLC system</a:t>
            </a:r>
          </a:p>
        </p:txBody>
      </p:sp>
      <p:sp>
        <p:nvSpPr>
          <p:cNvPr id="44" name="Figure 15 label 30 line 3">
            <a:extLst xmlns:a="http://schemas.openxmlformats.org/drawingml/2006/main">
              <a:ext uri="{FF2B5EF4-FFF2-40B4-BE49-F238E27FC236}">
                <a16:creationId xmlns:a16="http://schemas.microsoft.com/office/drawing/2014/main" id="{14B346B9-FD02-4D08-B37F-965FA4D1BE1F}"/>
              </a:ext>
            </a:extLst>
          </p:cNvPr>
          <p:cNvSpPr>
            <a:spLocks xmlns:a="http://schemas.openxmlformats.org/drawingml/2006/main" noGrp="1"/>
          </p:cNvSpPr>
          <p:nvPr/>
        </p:nvSpPr>
        <p:spPr>
          <a:xfrm xmlns:a="http://schemas.openxmlformats.org/drawingml/2006/main" rot="0">
            <a:off x="3865016" y="6330163"/>
            <a:ext cx="1480983"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Centrifuge</a:t>
            </a:r>
          </a:p>
        </p:txBody>
      </p:sp>
      <p:sp>
        <p:nvSpPr>
          <p:cNvPr id="45" name="Figure 15 label 31 line 1">
            <a:extLst xmlns:a="http://schemas.openxmlformats.org/drawingml/2006/main">
              <a:ext uri="{FF2B5EF4-FFF2-40B4-BE49-F238E27FC236}">
                <a16:creationId xmlns:a16="http://schemas.microsoft.com/office/drawing/2014/main" id="{8C7F7857-C0C4-4D04-AFBF-291798F6A388}"/>
              </a:ext>
            </a:extLst>
          </p:cNvPr>
          <p:cNvSpPr>
            <a:spLocks xmlns:a="http://schemas.openxmlformats.org/drawingml/2006/main" noGrp="1"/>
          </p:cNvSpPr>
          <p:nvPr/>
        </p:nvSpPr>
        <p:spPr>
          <a:xfrm xmlns:a="http://schemas.openxmlformats.org/drawingml/2006/main" rot="0">
            <a:off x="3865931" y="6507937"/>
            <a:ext cx="1066669"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CONSUMABLES</a:t>
            </a:r>
          </a:p>
        </p:txBody>
      </p:sp>
      <p:sp>
        <p:nvSpPr>
          <p:cNvPr id="46" name="Figure 15 label 32 line 1">
            <a:extLst xmlns:a="http://schemas.openxmlformats.org/drawingml/2006/main">
              <a:ext uri="{FF2B5EF4-FFF2-40B4-BE49-F238E27FC236}">
                <a16:creationId xmlns:a16="http://schemas.microsoft.com/office/drawing/2014/main" id="{F6F9FA2F-BD67-4F7C-AD54-1F6DAD1F5076}"/>
              </a:ext>
            </a:extLst>
          </p:cNvPr>
          <p:cNvSpPr>
            <a:spLocks xmlns:a="http://schemas.openxmlformats.org/drawingml/2006/main" noGrp="1"/>
          </p:cNvSpPr>
          <p:nvPr/>
        </p:nvSpPr>
        <p:spPr>
          <a:xfrm xmlns:a="http://schemas.openxmlformats.org/drawingml/2006/main" rot="0">
            <a:off x="3865016" y="6720688"/>
            <a:ext cx="1566559"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Flasks / culture bags*</a:t>
            </a:r>
          </a:p>
        </p:txBody>
      </p:sp>
      <p:sp>
        <p:nvSpPr>
          <p:cNvPr id="47" name="Figure 15 label 32 line 2">
            <a:extLst xmlns:a="http://schemas.openxmlformats.org/drawingml/2006/main">
              <a:ext uri="{FF2B5EF4-FFF2-40B4-BE49-F238E27FC236}">
                <a16:creationId xmlns:a16="http://schemas.microsoft.com/office/drawing/2014/main" id="{86404D3B-84FE-4F56-8FDD-F469047FF925}"/>
              </a:ext>
            </a:extLst>
          </p:cNvPr>
          <p:cNvSpPr>
            <a:spLocks xmlns:a="http://schemas.openxmlformats.org/drawingml/2006/main" noGrp="1"/>
          </p:cNvSpPr>
          <p:nvPr/>
        </p:nvSpPr>
        <p:spPr>
          <a:xfrm xmlns:a="http://schemas.openxmlformats.org/drawingml/2006/main" rot="0">
            <a:off x="3865016" y="6906425"/>
            <a:ext cx="1566559"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Columns, filters, tubes</a:t>
            </a:r>
          </a:p>
        </p:txBody>
      </p:sp>
      <p:sp>
        <p:nvSpPr>
          <p:cNvPr id="48" name="Figure 15 label 33 line 1">
            <a:extLst xmlns:a="http://schemas.openxmlformats.org/drawingml/2006/main">
              <a:ext uri="{FF2B5EF4-FFF2-40B4-BE49-F238E27FC236}">
                <a16:creationId xmlns:a16="http://schemas.microsoft.com/office/drawing/2014/main" id="{1FF876E3-1DA8-4159-8E33-840B01CE3B25}"/>
              </a:ext>
            </a:extLst>
          </p:cNvPr>
          <p:cNvSpPr>
            <a:spLocks xmlns:a="http://schemas.openxmlformats.org/drawingml/2006/main" noGrp="1"/>
          </p:cNvSpPr>
          <p:nvPr/>
        </p:nvSpPr>
        <p:spPr>
          <a:xfrm xmlns:a="http://schemas.openxmlformats.org/drawingml/2006/main" rot="0">
            <a:off x="3866236" y="7455561"/>
            <a:ext cx="1831306"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1">
                <a:solidFill>
                  <a:srgbClr val="00355F"/>
                </a:solidFill>
                <a:latin typeface="Arial"/>
                <a:ea typeface="Arial"/>
                <a:cs typeface="Arial"/>
              </a:defRPr>
            </a:defPPr>
          </a:lstStyle>
          <a:p xmlns:a="http://schemas.openxmlformats.org/drawingml/2006/main">
            <a:pPr algn="l">
              <a:lnSpc>
                <a:spcPct val="100000"/>
              </a:lnSpc>
              <a:buNone/>
              <a:defRPr sz="930" b="1">
                <a:solidFill>
                  <a:srgbClr val="00355F"/>
                </a:solidFill>
                <a:latin typeface="Arial"/>
                <a:ea typeface="Arial"/>
                <a:cs typeface="Arial"/>
              </a:defRPr>
            </a:pPr>
            <a:r>
              <a:rPr sz="930" b="1">
                <a:solidFill>
                  <a:srgbClr val="00355F"/>
                </a:solidFill>
                <a:latin typeface="Arial"/>
                <a:ea typeface="Arial"/>
                <a:cs typeface="Arial"/>
              </a:rPr>
              <a:t>REPRESENTATIVE SUPPLIERS</a:t>
            </a:r>
          </a:p>
        </p:txBody>
      </p:sp>
      <p:sp>
        <p:nvSpPr>
          <p:cNvPr id="49" name="Figure 15 label 34 line 1">
            <a:extLst xmlns:a="http://schemas.openxmlformats.org/drawingml/2006/main">
              <a:ext uri="{FF2B5EF4-FFF2-40B4-BE49-F238E27FC236}">
                <a16:creationId xmlns:a16="http://schemas.microsoft.com/office/drawing/2014/main" id="{036DD63E-0C31-4110-A401-1E383F972EE2}"/>
              </a:ext>
            </a:extLst>
          </p:cNvPr>
          <p:cNvSpPr>
            <a:spLocks xmlns:a="http://schemas.openxmlformats.org/drawingml/2006/main" noGrp="1"/>
          </p:cNvSpPr>
          <p:nvPr/>
        </p:nvSpPr>
        <p:spPr>
          <a:xfrm xmlns:a="http://schemas.openxmlformats.org/drawingml/2006/main" rot="0">
            <a:off x="3865778" y="8122006"/>
            <a:ext cx="1804654"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GenScript · ACROBiosystems</a:t>
            </a:r>
          </a:p>
        </p:txBody>
      </p:sp>
      <p:sp>
        <p:nvSpPr>
          <p:cNvPr id="50" name="Figure 15 label 34 line 2">
            <a:extLst xmlns:a="http://schemas.openxmlformats.org/drawingml/2006/main">
              <a:ext uri="{FF2B5EF4-FFF2-40B4-BE49-F238E27FC236}">
                <a16:creationId xmlns:a16="http://schemas.microsoft.com/office/drawing/2014/main" id="{F15DBFB6-A046-4556-B617-036C0EE529BB}"/>
              </a:ext>
            </a:extLst>
          </p:cNvPr>
          <p:cNvSpPr>
            <a:spLocks xmlns:a="http://schemas.openxmlformats.org/drawingml/2006/main" noGrp="1"/>
          </p:cNvSpPr>
          <p:nvPr/>
        </p:nvSpPr>
        <p:spPr>
          <a:xfrm xmlns:a="http://schemas.openxmlformats.org/drawingml/2006/main" rot="0">
            <a:off x="3865778" y="8283931"/>
            <a:ext cx="1804654"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Sino Biological · Gibco</a:t>
            </a:r>
          </a:p>
        </p:txBody>
      </p:sp>
      <p:sp>
        <p:nvSpPr>
          <p:cNvPr id="51" name="Figure 15 label 34 line 3">
            <a:extLst xmlns:a="http://schemas.openxmlformats.org/drawingml/2006/main">
              <a:ext uri="{FF2B5EF4-FFF2-40B4-BE49-F238E27FC236}">
                <a16:creationId xmlns:a16="http://schemas.microsoft.com/office/drawing/2014/main" id="{7954A34F-8BEC-431B-AFA2-834D8201AEBA}"/>
              </a:ext>
            </a:extLst>
          </p:cNvPr>
          <p:cNvSpPr>
            <a:spLocks xmlns:a="http://schemas.openxmlformats.org/drawingml/2006/main" noGrp="1"/>
          </p:cNvSpPr>
          <p:nvPr/>
        </p:nvSpPr>
        <p:spPr>
          <a:xfrm xmlns:a="http://schemas.openxmlformats.org/drawingml/2006/main" rot="0">
            <a:off x="3865778" y="8445856"/>
            <a:ext cx="1804654"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OPM · Duoning</a:t>
            </a:r>
          </a:p>
        </p:txBody>
      </p:sp>
      <p:sp>
        <p:nvSpPr>
          <p:cNvPr id="52" name="Figure 15 label 35 line 1">
            <a:extLst xmlns:a="http://schemas.openxmlformats.org/drawingml/2006/main">
              <a:ext uri="{FF2B5EF4-FFF2-40B4-BE49-F238E27FC236}">
                <a16:creationId xmlns:a16="http://schemas.microsoft.com/office/drawing/2014/main" id="{6D783C4C-60B1-4682-933C-6D654DAA136D}"/>
              </a:ext>
            </a:extLst>
          </p:cNvPr>
          <p:cNvSpPr>
            <a:spLocks xmlns:a="http://schemas.openxmlformats.org/drawingml/2006/main" noGrp="1"/>
          </p:cNvSpPr>
          <p:nvPr/>
        </p:nvSpPr>
        <p:spPr>
          <a:xfrm xmlns:a="http://schemas.openxmlformats.org/drawingml/2006/main" rot="0">
            <a:off x="6806184" y="2726436"/>
            <a:ext cx="78515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03  /  TEST</a:t>
            </a:r>
          </a:p>
        </p:txBody>
      </p:sp>
      <p:sp>
        <p:nvSpPr>
          <p:cNvPr id="53" name="Figure 15 label 36 line 1">
            <a:extLst xmlns:a="http://schemas.openxmlformats.org/drawingml/2006/main">
              <a:ext uri="{FF2B5EF4-FFF2-40B4-BE49-F238E27FC236}">
                <a16:creationId xmlns:a16="http://schemas.microsoft.com/office/drawing/2014/main" id="{687DAC29-0E05-40CC-958B-353598942E7E}"/>
              </a:ext>
            </a:extLst>
          </p:cNvPr>
          <p:cNvSpPr>
            <a:spLocks xmlns:a="http://schemas.openxmlformats.org/drawingml/2006/main" noGrp="1"/>
          </p:cNvSpPr>
          <p:nvPr/>
        </p:nvSpPr>
        <p:spPr>
          <a:xfrm xmlns:a="http://schemas.openxmlformats.org/drawingml/2006/main" rot="0">
            <a:off x="6802831" y="3100121"/>
            <a:ext cx="1951833"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Primary binding</a:t>
            </a:r>
          </a:p>
        </p:txBody>
      </p:sp>
      <p:sp>
        <p:nvSpPr>
          <p:cNvPr id="54" name="Figure 15 label 36 line 2">
            <a:extLst xmlns:a="http://schemas.openxmlformats.org/drawingml/2006/main">
              <a:ext uri="{FF2B5EF4-FFF2-40B4-BE49-F238E27FC236}">
                <a16:creationId xmlns:a16="http://schemas.microsoft.com/office/drawing/2014/main" id="{6FFF4F21-378A-4656-8239-9C75AB273F41}"/>
              </a:ext>
            </a:extLst>
          </p:cNvPr>
          <p:cNvSpPr>
            <a:spLocks xmlns:a="http://schemas.openxmlformats.org/drawingml/2006/main" noGrp="1"/>
          </p:cNvSpPr>
          <p:nvPr/>
        </p:nvSpPr>
        <p:spPr>
          <a:xfrm xmlns:a="http://schemas.openxmlformats.org/drawingml/2006/main" rot="0">
            <a:off x="6802831" y="3395396"/>
            <a:ext cx="1951833"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screen</a:t>
            </a:r>
          </a:p>
        </p:txBody>
      </p:sp>
      <p:sp>
        <p:nvSpPr>
          <p:cNvPr id="55" name="Figure 15 label 37 line 1">
            <a:extLst xmlns:a="http://schemas.openxmlformats.org/drawingml/2006/main">
              <a:ext uri="{FF2B5EF4-FFF2-40B4-BE49-F238E27FC236}">
                <a16:creationId xmlns:a16="http://schemas.microsoft.com/office/drawing/2014/main" id="{6DDDFA75-A149-4DEB-9ED8-AF1A4282C1AC}"/>
              </a:ext>
            </a:extLst>
          </p:cNvPr>
          <p:cNvSpPr>
            <a:spLocks xmlns:a="http://schemas.openxmlformats.org/drawingml/2006/main" noGrp="1"/>
          </p:cNvSpPr>
          <p:nvPr/>
        </p:nvSpPr>
        <p:spPr>
          <a:xfrm xmlns:a="http://schemas.openxmlformats.org/drawingml/2006/main" rot="0">
            <a:off x="6805879" y="3813353"/>
            <a:ext cx="192760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Identify binders and</a:t>
            </a:r>
          </a:p>
        </p:txBody>
      </p:sp>
      <p:sp>
        <p:nvSpPr>
          <p:cNvPr id="56" name="Figure 15 label 37 line 2">
            <a:extLst xmlns:a="http://schemas.openxmlformats.org/drawingml/2006/main">
              <a:ext uri="{FF2B5EF4-FFF2-40B4-BE49-F238E27FC236}">
                <a16:creationId xmlns:a16="http://schemas.microsoft.com/office/drawing/2014/main" id="{8E703369-46E3-4334-BBB4-7FAAA42866F5}"/>
              </a:ext>
            </a:extLst>
          </p:cNvPr>
          <p:cNvSpPr>
            <a:spLocks xmlns:a="http://schemas.openxmlformats.org/drawingml/2006/main" noGrp="1"/>
          </p:cNvSpPr>
          <p:nvPr/>
        </p:nvSpPr>
        <p:spPr>
          <a:xfrm xmlns:a="http://schemas.openxmlformats.org/drawingml/2006/main" rot="0">
            <a:off x="6805879" y="4013378"/>
            <a:ext cx="192760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rank initial binding signals</a:t>
            </a:r>
          </a:p>
        </p:txBody>
      </p:sp>
      <p:sp>
        <p:nvSpPr>
          <p:cNvPr id="57" name="Figure 15 label 38 line 1">
            <a:extLst xmlns:a="http://schemas.openxmlformats.org/drawingml/2006/main">
              <a:ext uri="{FF2B5EF4-FFF2-40B4-BE49-F238E27FC236}">
                <a16:creationId xmlns:a16="http://schemas.microsoft.com/office/drawing/2014/main" id="{71D3E7DB-3565-44BA-803A-97F72358C356}"/>
              </a:ext>
            </a:extLst>
          </p:cNvPr>
          <p:cNvSpPr>
            <a:spLocks xmlns:a="http://schemas.openxmlformats.org/drawingml/2006/main" noGrp="1"/>
          </p:cNvSpPr>
          <p:nvPr/>
        </p:nvSpPr>
        <p:spPr>
          <a:xfrm xmlns:a="http://schemas.openxmlformats.org/drawingml/2006/main" rot="0">
            <a:off x="6853580" y="4448404"/>
            <a:ext cx="526042"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OUTPUT</a:t>
            </a:r>
          </a:p>
        </p:txBody>
      </p:sp>
      <p:sp>
        <p:nvSpPr>
          <p:cNvPr id="58" name="Figure 15 label 39 line 1">
            <a:extLst xmlns:a="http://schemas.openxmlformats.org/drawingml/2006/main">
              <a:ext uri="{FF2B5EF4-FFF2-40B4-BE49-F238E27FC236}">
                <a16:creationId xmlns:a16="http://schemas.microsoft.com/office/drawing/2014/main" id="{DB6F83E4-396E-4ADD-9C5D-BF8CCA6C0CDC}"/>
              </a:ext>
            </a:extLst>
          </p:cNvPr>
          <p:cNvSpPr>
            <a:spLocks xmlns:a="http://schemas.openxmlformats.org/drawingml/2006/main" noGrp="1"/>
          </p:cNvSpPr>
          <p:nvPr/>
        </p:nvSpPr>
        <p:spPr>
          <a:xfrm xmlns:a="http://schemas.openxmlformats.org/drawingml/2006/main" rot="0">
            <a:off x="6851904" y="4661916"/>
            <a:ext cx="1462177"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Hit / binding signal</a:t>
            </a:r>
          </a:p>
        </p:txBody>
      </p:sp>
      <p:sp>
        <p:nvSpPr>
          <p:cNvPr id="59" name="Figure 15 label 40 line 1">
            <a:extLst xmlns:a="http://schemas.openxmlformats.org/drawingml/2006/main">
              <a:ext uri="{FF2B5EF4-FFF2-40B4-BE49-F238E27FC236}">
                <a16:creationId xmlns:a16="http://schemas.microsoft.com/office/drawing/2014/main" id="{522A27C5-0848-4318-9CE3-5E7F8446FF7F}"/>
              </a:ext>
            </a:extLst>
          </p:cNvPr>
          <p:cNvSpPr>
            <a:spLocks xmlns:a="http://schemas.openxmlformats.org/drawingml/2006/main" noGrp="1"/>
          </p:cNvSpPr>
          <p:nvPr/>
        </p:nvSpPr>
        <p:spPr>
          <a:xfrm xmlns:a="http://schemas.openxmlformats.org/drawingml/2006/main" rot="0">
            <a:off x="6807251" y="4983937"/>
            <a:ext cx="78032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REAGENTS</a:t>
            </a:r>
          </a:p>
        </p:txBody>
      </p:sp>
      <p:sp>
        <p:nvSpPr>
          <p:cNvPr id="60" name="Figure 15 label 41 line 1">
            <a:extLst xmlns:a="http://schemas.openxmlformats.org/drawingml/2006/main">
              <a:ext uri="{FF2B5EF4-FFF2-40B4-BE49-F238E27FC236}">
                <a16:creationId xmlns:a16="http://schemas.microsoft.com/office/drawing/2014/main" id="{04B30E4C-FA52-4423-B24A-DFF283BA4B01}"/>
              </a:ext>
            </a:extLst>
          </p:cNvPr>
          <p:cNvSpPr>
            <a:spLocks xmlns:a="http://schemas.openxmlformats.org/drawingml/2006/main" noGrp="1"/>
          </p:cNvSpPr>
          <p:nvPr/>
        </p:nvSpPr>
        <p:spPr>
          <a:xfrm xmlns:a="http://schemas.openxmlformats.org/drawingml/2006/main" rot="0">
            <a:off x="6806336" y="5196688"/>
            <a:ext cx="1963335"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Recombinant target proteins</a:t>
            </a:r>
          </a:p>
        </p:txBody>
      </p:sp>
      <p:sp>
        <p:nvSpPr>
          <p:cNvPr id="61" name="Figure 15 label 41 line 2">
            <a:extLst xmlns:a="http://schemas.openxmlformats.org/drawingml/2006/main">
              <a:ext uri="{FF2B5EF4-FFF2-40B4-BE49-F238E27FC236}">
                <a16:creationId xmlns:a16="http://schemas.microsoft.com/office/drawing/2014/main" id="{383BA6B5-5736-47CD-B2B5-65C1C772C087}"/>
              </a:ext>
            </a:extLst>
          </p:cNvPr>
          <p:cNvSpPr>
            <a:spLocks xmlns:a="http://schemas.openxmlformats.org/drawingml/2006/main" noGrp="1"/>
          </p:cNvSpPr>
          <p:nvPr/>
        </p:nvSpPr>
        <p:spPr>
          <a:xfrm xmlns:a="http://schemas.openxmlformats.org/drawingml/2006/main" rot="0">
            <a:off x="6806336" y="5382425"/>
            <a:ext cx="1963335"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Antibody candidates</a:t>
            </a:r>
          </a:p>
        </p:txBody>
      </p:sp>
      <p:sp>
        <p:nvSpPr>
          <p:cNvPr id="62" name="Figure 15 label 41 line 3">
            <a:extLst xmlns:a="http://schemas.openxmlformats.org/drawingml/2006/main">
              <a:ext uri="{FF2B5EF4-FFF2-40B4-BE49-F238E27FC236}">
                <a16:creationId xmlns:a16="http://schemas.microsoft.com/office/drawing/2014/main" id="{D8033357-E07B-4925-9300-629CF0B7665D}"/>
              </a:ext>
            </a:extLst>
          </p:cNvPr>
          <p:cNvSpPr>
            <a:spLocks xmlns:a="http://schemas.openxmlformats.org/drawingml/2006/main" noGrp="1"/>
          </p:cNvSpPr>
          <p:nvPr/>
        </p:nvSpPr>
        <p:spPr>
          <a:xfrm xmlns:a="http://schemas.openxmlformats.org/drawingml/2006/main" rot="0">
            <a:off x="6806336" y="5568163"/>
            <a:ext cx="1963335"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Detection reagents, buffers</a:t>
            </a:r>
          </a:p>
        </p:txBody>
      </p:sp>
      <p:sp>
        <p:nvSpPr>
          <p:cNvPr id="63" name="Figure 15 label 42 line 1">
            <a:extLst xmlns:a="http://schemas.openxmlformats.org/drawingml/2006/main">
              <a:ext uri="{FF2B5EF4-FFF2-40B4-BE49-F238E27FC236}">
                <a16:creationId xmlns:a16="http://schemas.microsoft.com/office/drawing/2014/main" id="{7482540B-9497-4B42-8F3C-C64178BB3D5A}"/>
              </a:ext>
            </a:extLst>
          </p:cNvPr>
          <p:cNvSpPr>
            <a:spLocks xmlns:a="http://schemas.openxmlformats.org/drawingml/2006/main" noGrp="1"/>
          </p:cNvSpPr>
          <p:nvPr/>
        </p:nvSpPr>
        <p:spPr>
          <a:xfrm xmlns:a="http://schemas.openxmlformats.org/drawingml/2006/main" rot="0">
            <a:off x="6807251" y="5745937"/>
            <a:ext cx="98987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INSTRUMENTS</a:t>
            </a:r>
          </a:p>
        </p:txBody>
      </p:sp>
      <p:sp>
        <p:nvSpPr>
          <p:cNvPr id="64" name="Figure 15 label 43 line 1">
            <a:extLst xmlns:a="http://schemas.openxmlformats.org/drawingml/2006/main">
              <a:ext uri="{FF2B5EF4-FFF2-40B4-BE49-F238E27FC236}">
                <a16:creationId xmlns:a16="http://schemas.microsoft.com/office/drawing/2014/main" id="{28DB8455-4495-480E-BDC7-0733BD68636F}"/>
              </a:ext>
            </a:extLst>
          </p:cNvPr>
          <p:cNvSpPr>
            <a:spLocks xmlns:a="http://schemas.openxmlformats.org/drawingml/2006/main" noGrp="1"/>
          </p:cNvSpPr>
          <p:nvPr/>
        </p:nvSpPr>
        <p:spPr>
          <a:xfrm xmlns:a="http://schemas.openxmlformats.org/drawingml/2006/main" rot="0">
            <a:off x="6806336" y="5958688"/>
            <a:ext cx="142651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ELISA / plate reader</a:t>
            </a:r>
          </a:p>
        </p:txBody>
      </p:sp>
      <p:sp>
        <p:nvSpPr>
          <p:cNvPr id="65" name="Figure 15 label 43 line 2">
            <a:extLst xmlns:a="http://schemas.openxmlformats.org/drawingml/2006/main">
              <a:ext uri="{FF2B5EF4-FFF2-40B4-BE49-F238E27FC236}">
                <a16:creationId xmlns:a16="http://schemas.microsoft.com/office/drawing/2014/main" id="{6EF3282A-653A-46AF-A8AE-2B487AC8C51A}"/>
              </a:ext>
            </a:extLst>
          </p:cNvPr>
          <p:cNvSpPr>
            <a:spLocks xmlns:a="http://schemas.openxmlformats.org/drawingml/2006/main" noGrp="1"/>
          </p:cNvSpPr>
          <p:nvPr/>
        </p:nvSpPr>
        <p:spPr>
          <a:xfrm xmlns:a="http://schemas.openxmlformats.org/drawingml/2006/main" rot="0">
            <a:off x="6806336" y="6144425"/>
            <a:ext cx="142651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BLI or SPR platform</a:t>
            </a:r>
          </a:p>
        </p:txBody>
      </p:sp>
      <p:sp>
        <p:nvSpPr>
          <p:cNvPr id="66" name="Figure 15 label 44 line 1">
            <a:extLst xmlns:a="http://schemas.openxmlformats.org/drawingml/2006/main">
              <a:ext uri="{FF2B5EF4-FFF2-40B4-BE49-F238E27FC236}">
                <a16:creationId xmlns:a16="http://schemas.microsoft.com/office/drawing/2014/main" id="{DBF42025-A872-4E90-B378-7DA5E0DD4D7B}"/>
              </a:ext>
            </a:extLst>
          </p:cNvPr>
          <p:cNvSpPr>
            <a:spLocks xmlns:a="http://schemas.openxmlformats.org/drawingml/2006/main" noGrp="1"/>
          </p:cNvSpPr>
          <p:nvPr/>
        </p:nvSpPr>
        <p:spPr>
          <a:xfrm xmlns:a="http://schemas.openxmlformats.org/drawingml/2006/main" rot="0">
            <a:off x="6807251" y="6507937"/>
            <a:ext cx="1066669"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CONSUMABLES</a:t>
            </a:r>
          </a:p>
        </p:txBody>
      </p:sp>
      <p:sp>
        <p:nvSpPr>
          <p:cNvPr id="67" name="Figure 15 label 45 line 1">
            <a:extLst xmlns:a="http://schemas.openxmlformats.org/drawingml/2006/main">
              <a:ext uri="{FF2B5EF4-FFF2-40B4-BE49-F238E27FC236}">
                <a16:creationId xmlns:a16="http://schemas.microsoft.com/office/drawing/2014/main" id="{8F676AFD-9B8E-4D8A-ACF1-6FC84264B79D}"/>
              </a:ext>
            </a:extLst>
          </p:cNvPr>
          <p:cNvSpPr>
            <a:spLocks xmlns:a="http://schemas.openxmlformats.org/drawingml/2006/main" noGrp="1"/>
          </p:cNvSpPr>
          <p:nvPr/>
        </p:nvSpPr>
        <p:spPr>
          <a:xfrm xmlns:a="http://schemas.openxmlformats.org/drawingml/2006/main" rot="0">
            <a:off x="6806336" y="6720688"/>
            <a:ext cx="190529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96 / 384-well plates</a:t>
            </a:r>
          </a:p>
        </p:txBody>
      </p:sp>
      <p:sp>
        <p:nvSpPr>
          <p:cNvPr id="68" name="Figure 15 label 45 line 2">
            <a:extLst xmlns:a="http://schemas.openxmlformats.org/drawingml/2006/main">
              <a:ext uri="{FF2B5EF4-FFF2-40B4-BE49-F238E27FC236}">
                <a16:creationId xmlns:a16="http://schemas.microsoft.com/office/drawing/2014/main" id="{115ADA70-6BDD-4193-8A64-278E98D2C245}"/>
              </a:ext>
            </a:extLst>
          </p:cNvPr>
          <p:cNvSpPr>
            <a:spLocks xmlns:a="http://schemas.openxmlformats.org/drawingml/2006/main" noGrp="1"/>
          </p:cNvSpPr>
          <p:nvPr/>
        </p:nvSpPr>
        <p:spPr>
          <a:xfrm xmlns:a="http://schemas.openxmlformats.org/drawingml/2006/main" rot="0">
            <a:off x="6806336" y="6906425"/>
            <a:ext cx="190529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BLI sensors / SPR chips</a:t>
            </a:r>
          </a:p>
        </p:txBody>
      </p:sp>
      <p:sp>
        <p:nvSpPr>
          <p:cNvPr id="69" name="Figure 15 label 45 line 3">
            <a:extLst xmlns:a="http://schemas.openxmlformats.org/drawingml/2006/main">
              <a:ext uri="{FF2B5EF4-FFF2-40B4-BE49-F238E27FC236}">
                <a16:creationId xmlns:a16="http://schemas.microsoft.com/office/drawing/2014/main" id="{C1EC1CEE-6A2F-451F-AB88-95130DD6A98B}"/>
              </a:ext>
            </a:extLst>
          </p:cNvPr>
          <p:cNvSpPr>
            <a:spLocks xmlns:a="http://schemas.openxmlformats.org/drawingml/2006/main" noGrp="1"/>
          </p:cNvSpPr>
          <p:nvPr/>
        </p:nvSpPr>
        <p:spPr>
          <a:xfrm xmlns:a="http://schemas.openxmlformats.org/drawingml/2006/main" rot="0">
            <a:off x="6806336" y="7092163"/>
            <a:ext cx="1905292"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Sealing films, sample tubes</a:t>
            </a:r>
          </a:p>
        </p:txBody>
      </p:sp>
      <p:sp>
        <p:nvSpPr>
          <p:cNvPr id="70" name="Figure 15 label 46 line 1">
            <a:extLst xmlns:a="http://schemas.openxmlformats.org/drawingml/2006/main">
              <a:ext uri="{FF2B5EF4-FFF2-40B4-BE49-F238E27FC236}">
                <a16:creationId xmlns:a16="http://schemas.microsoft.com/office/drawing/2014/main" id="{1B57342D-6C1D-4B0A-930A-1F89071ABCE3}"/>
              </a:ext>
            </a:extLst>
          </p:cNvPr>
          <p:cNvSpPr>
            <a:spLocks xmlns:a="http://schemas.openxmlformats.org/drawingml/2006/main" noGrp="1"/>
          </p:cNvSpPr>
          <p:nvPr/>
        </p:nvSpPr>
        <p:spPr>
          <a:xfrm xmlns:a="http://schemas.openxmlformats.org/drawingml/2006/main" rot="0">
            <a:off x="6807556" y="7455561"/>
            <a:ext cx="1831306"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1">
                <a:solidFill>
                  <a:srgbClr val="00355F"/>
                </a:solidFill>
                <a:latin typeface="Arial"/>
                <a:ea typeface="Arial"/>
                <a:cs typeface="Arial"/>
              </a:defRPr>
            </a:defPPr>
          </a:lstStyle>
          <a:p xmlns:a="http://schemas.openxmlformats.org/drawingml/2006/main">
            <a:pPr algn="l">
              <a:lnSpc>
                <a:spcPct val="100000"/>
              </a:lnSpc>
              <a:buNone/>
              <a:defRPr sz="930" b="1">
                <a:solidFill>
                  <a:srgbClr val="00355F"/>
                </a:solidFill>
                <a:latin typeface="Arial"/>
                <a:ea typeface="Arial"/>
                <a:cs typeface="Arial"/>
              </a:defRPr>
            </a:pPr>
            <a:r>
              <a:rPr sz="930" b="1">
                <a:solidFill>
                  <a:srgbClr val="00355F"/>
                </a:solidFill>
                <a:latin typeface="Arial"/>
                <a:ea typeface="Arial"/>
                <a:cs typeface="Arial"/>
              </a:rPr>
              <a:t>REPRESENTATIVE SUPPLIERS</a:t>
            </a:r>
          </a:p>
        </p:txBody>
      </p:sp>
      <p:sp>
        <p:nvSpPr>
          <p:cNvPr id="71" name="Figure 15 label 47 line 1">
            <a:extLst xmlns:a="http://schemas.openxmlformats.org/drawingml/2006/main">
              <a:ext uri="{FF2B5EF4-FFF2-40B4-BE49-F238E27FC236}">
                <a16:creationId xmlns:a16="http://schemas.microsoft.com/office/drawing/2014/main" id="{A2298F96-A851-4D24-852C-4A75D441FA39}"/>
              </a:ext>
            </a:extLst>
          </p:cNvPr>
          <p:cNvSpPr>
            <a:spLocks xmlns:a="http://schemas.openxmlformats.org/drawingml/2006/main" noGrp="1"/>
          </p:cNvSpPr>
          <p:nvPr/>
        </p:nvSpPr>
        <p:spPr>
          <a:xfrm xmlns:a="http://schemas.openxmlformats.org/drawingml/2006/main" rot="0">
            <a:off x="6807098" y="8122006"/>
            <a:ext cx="153616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Sino Biological · Bioss</a:t>
            </a:r>
          </a:p>
        </p:txBody>
      </p:sp>
      <p:sp>
        <p:nvSpPr>
          <p:cNvPr id="72" name="Figure 15 label 47 line 2">
            <a:extLst xmlns:a="http://schemas.openxmlformats.org/drawingml/2006/main">
              <a:ext uri="{FF2B5EF4-FFF2-40B4-BE49-F238E27FC236}">
                <a16:creationId xmlns:a16="http://schemas.microsoft.com/office/drawing/2014/main" id="{7A76F075-7AED-4362-90A5-46284247654C}"/>
              </a:ext>
            </a:extLst>
          </p:cNvPr>
          <p:cNvSpPr>
            <a:spLocks xmlns:a="http://schemas.openxmlformats.org/drawingml/2006/main" noGrp="1"/>
          </p:cNvSpPr>
          <p:nvPr/>
        </p:nvSpPr>
        <p:spPr>
          <a:xfrm xmlns:a="http://schemas.openxmlformats.org/drawingml/2006/main" rot="0">
            <a:off x="6807098" y="8283931"/>
            <a:ext cx="153616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Sartorius · Cytiva · Tecan</a:t>
            </a:r>
          </a:p>
        </p:txBody>
      </p:sp>
      <p:sp>
        <p:nvSpPr>
          <p:cNvPr id="73" name="Figure 15 label 47 line 3">
            <a:extLst xmlns:a="http://schemas.openxmlformats.org/drawingml/2006/main">
              <a:ext uri="{FF2B5EF4-FFF2-40B4-BE49-F238E27FC236}">
                <a16:creationId xmlns:a16="http://schemas.microsoft.com/office/drawing/2014/main" id="{E73923DD-F886-470C-BE52-572C77ACAA4A}"/>
              </a:ext>
            </a:extLst>
          </p:cNvPr>
          <p:cNvSpPr>
            <a:spLocks xmlns:a="http://schemas.openxmlformats.org/drawingml/2006/main" noGrp="1"/>
          </p:cNvSpPr>
          <p:nvPr/>
        </p:nvSpPr>
        <p:spPr>
          <a:xfrm xmlns:a="http://schemas.openxmlformats.org/drawingml/2006/main" rot="0">
            <a:off x="6807098" y="8445856"/>
            <a:ext cx="1536168"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JET Biofil</a:t>
            </a:r>
          </a:p>
        </p:txBody>
      </p:sp>
      <p:sp>
        <p:nvSpPr>
          <p:cNvPr id="74" name="Figure 15 label 48 line 1">
            <a:extLst xmlns:a="http://schemas.openxmlformats.org/drawingml/2006/main">
              <a:ext uri="{FF2B5EF4-FFF2-40B4-BE49-F238E27FC236}">
                <a16:creationId xmlns:a16="http://schemas.microsoft.com/office/drawing/2014/main" id="{56A9F03D-66E1-4659-8509-6B818420B20B}"/>
              </a:ext>
            </a:extLst>
          </p:cNvPr>
          <p:cNvSpPr>
            <a:spLocks xmlns:a="http://schemas.openxmlformats.org/drawingml/2006/main" noGrp="1"/>
          </p:cNvSpPr>
          <p:nvPr/>
        </p:nvSpPr>
        <p:spPr>
          <a:xfrm xmlns:a="http://schemas.openxmlformats.org/drawingml/2006/main" rot="0">
            <a:off x="9747504" y="2726436"/>
            <a:ext cx="78515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04  /  TEST</a:t>
            </a:r>
          </a:p>
        </p:txBody>
      </p:sp>
      <p:sp>
        <p:nvSpPr>
          <p:cNvPr id="75" name="Figure 15 label 49 line 1">
            <a:extLst xmlns:a="http://schemas.openxmlformats.org/drawingml/2006/main">
              <a:ext uri="{FF2B5EF4-FFF2-40B4-BE49-F238E27FC236}">
                <a16:creationId xmlns:a16="http://schemas.microsoft.com/office/drawing/2014/main" id="{5EDBCDE9-BAA0-4E4C-9221-50298C19F0E6}"/>
              </a:ext>
            </a:extLst>
          </p:cNvPr>
          <p:cNvSpPr>
            <a:spLocks xmlns:a="http://schemas.openxmlformats.org/drawingml/2006/main" noGrp="1"/>
          </p:cNvSpPr>
          <p:nvPr/>
        </p:nvSpPr>
        <p:spPr>
          <a:xfrm xmlns:a="http://schemas.openxmlformats.org/drawingml/2006/main" rot="0">
            <a:off x="9744151" y="3100121"/>
            <a:ext cx="196522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Multi-property</a:t>
            </a:r>
          </a:p>
        </p:txBody>
      </p:sp>
      <p:sp>
        <p:nvSpPr>
          <p:cNvPr id="76" name="Figure 15 label 49 line 2">
            <a:extLst xmlns:a="http://schemas.openxmlformats.org/drawingml/2006/main">
              <a:ext uri="{FF2B5EF4-FFF2-40B4-BE49-F238E27FC236}">
                <a16:creationId xmlns:a16="http://schemas.microsoft.com/office/drawing/2014/main" id="{81B6A0F5-7C8E-4670-925E-9E3BE0338DD0}"/>
              </a:ext>
            </a:extLst>
          </p:cNvPr>
          <p:cNvSpPr>
            <a:spLocks xmlns:a="http://schemas.openxmlformats.org/drawingml/2006/main" noGrp="1"/>
          </p:cNvSpPr>
          <p:nvPr/>
        </p:nvSpPr>
        <p:spPr>
          <a:xfrm xmlns:a="http://schemas.openxmlformats.org/drawingml/2006/main" rot="0">
            <a:off x="9744151" y="3395396"/>
            <a:ext cx="196522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characterization</a:t>
            </a:r>
          </a:p>
        </p:txBody>
      </p:sp>
      <p:sp>
        <p:nvSpPr>
          <p:cNvPr id="77" name="Figure 15 label 50 line 1">
            <a:extLst xmlns:a="http://schemas.openxmlformats.org/drawingml/2006/main">
              <a:ext uri="{FF2B5EF4-FFF2-40B4-BE49-F238E27FC236}">
                <a16:creationId xmlns:a16="http://schemas.microsoft.com/office/drawing/2014/main" id="{0C544C3A-B937-462F-922A-521FEFC8EBC6}"/>
              </a:ext>
            </a:extLst>
          </p:cNvPr>
          <p:cNvSpPr>
            <a:spLocks xmlns:a="http://schemas.openxmlformats.org/drawingml/2006/main" noGrp="1"/>
          </p:cNvSpPr>
          <p:nvPr/>
        </p:nvSpPr>
        <p:spPr>
          <a:xfrm xmlns:a="http://schemas.openxmlformats.org/drawingml/2006/main" rot="0">
            <a:off x="9747199" y="3813353"/>
            <a:ext cx="206988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Evaluate binding, specificity</a:t>
            </a:r>
          </a:p>
        </p:txBody>
      </p:sp>
      <p:sp>
        <p:nvSpPr>
          <p:cNvPr id="78" name="Figure 15 label 50 line 2">
            <a:extLst xmlns:a="http://schemas.openxmlformats.org/drawingml/2006/main">
              <a:ext uri="{FF2B5EF4-FFF2-40B4-BE49-F238E27FC236}">
                <a16:creationId xmlns:a16="http://schemas.microsoft.com/office/drawing/2014/main" id="{BEF538B6-D2AB-4E93-9486-3FAB9C658B1F}"/>
              </a:ext>
            </a:extLst>
          </p:cNvPr>
          <p:cNvSpPr>
            <a:spLocks xmlns:a="http://schemas.openxmlformats.org/drawingml/2006/main" noGrp="1"/>
          </p:cNvSpPr>
          <p:nvPr/>
        </p:nvSpPr>
        <p:spPr>
          <a:xfrm xmlns:a="http://schemas.openxmlformats.org/drawingml/2006/main" rot="0">
            <a:off x="9747199" y="4013378"/>
            <a:ext cx="2069884"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and developability risks</a:t>
            </a:r>
          </a:p>
        </p:txBody>
      </p:sp>
      <p:sp>
        <p:nvSpPr>
          <p:cNvPr id="79" name="Figure 15 label 51 line 1">
            <a:extLst xmlns:a="http://schemas.openxmlformats.org/drawingml/2006/main">
              <a:ext uri="{FF2B5EF4-FFF2-40B4-BE49-F238E27FC236}">
                <a16:creationId xmlns:a16="http://schemas.microsoft.com/office/drawing/2014/main" id="{83C840CA-56FB-4E83-A5E9-63D95F32AF6B}"/>
              </a:ext>
            </a:extLst>
          </p:cNvPr>
          <p:cNvSpPr>
            <a:spLocks xmlns:a="http://schemas.openxmlformats.org/drawingml/2006/main" noGrp="1"/>
          </p:cNvSpPr>
          <p:nvPr/>
        </p:nvSpPr>
        <p:spPr>
          <a:xfrm xmlns:a="http://schemas.openxmlformats.org/drawingml/2006/main" rot="0">
            <a:off x="9793681" y="4429811"/>
            <a:ext cx="2175075"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KD · kon · koff · expression†</a:t>
            </a:r>
          </a:p>
        </p:txBody>
      </p:sp>
      <p:sp>
        <p:nvSpPr>
          <p:cNvPr id="80" name="Figure 15 label 51 line 2">
            <a:extLst xmlns:a="http://schemas.openxmlformats.org/drawingml/2006/main">
              <a:ext uri="{FF2B5EF4-FFF2-40B4-BE49-F238E27FC236}">
                <a16:creationId xmlns:a16="http://schemas.microsoft.com/office/drawing/2014/main" id="{7511EE7D-9EA8-484F-9B5D-0ED63EAE7620}"/>
              </a:ext>
            </a:extLst>
          </p:cNvPr>
          <p:cNvSpPr>
            <a:spLocks xmlns:a="http://schemas.openxmlformats.org/drawingml/2006/main" noGrp="1"/>
          </p:cNvSpPr>
          <p:nvPr/>
        </p:nvSpPr>
        <p:spPr>
          <a:xfrm xmlns:a="http://schemas.openxmlformats.org/drawingml/2006/main" rot="0">
            <a:off x="9793681" y="4606023"/>
            <a:ext cx="2175075"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Tm · aggregation</a:t>
            </a:r>
          </a:p>
        </p:txBody>
      </p:sp>
      <p:sp>
        <p:nvSpPr>
          <p:cNvPr id="81" name="Figure 15 label 51 line 3">
            <a:extLst xmlns:a="http://schemas.openxmlformats.org/drawingml/2006/main">
              <a:ext uri="{FF2B5EF4-FFF2-40B4-BE49-F238E27FC236}">
                <a16:creationId xmlns:a16="http://schemas.microsoft.com/office/drawing/2014/main" id="{B2A63B61-97F5-487A-8C88-BCF0C6498B2A}"/>
              </a:ext>
            </a:extLst>
          </p:cNvPr>
          <p:cNvSpPr>
            <a:spLocks xmlns:a="http://schemas.openxmlformats.org/drawingml/2006/main" noGrp="1"/>
          </p:cNvSpPr>
          <p:nvPr/>
        </p:nvSpPr>
        <p:spPr>
          <a:xfrm xmlns:a="http://schemas.openxmlformats.org/drawingml/2006/main" rot="0">
            <a:off x="9793681" y="4782236"/>
            <a:ext cx="2175075"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polyreactivity · epitope binning</a:t>
            </a:r>
          </a:p>
        </p:txBody>
      </p:sp>
      <p:sp>
        <p:nvSpPr>
          <p:cNvPr id="82" name="Figure 15 label 52 line 1">
            <a:extLst xmlns:a="http://schemas.openxmlformats.org/drawingml/2006/main">
              <a:ext uri="{FF2B5EF4-FFF2-40B4-BE49-F238E27FC236}">
                <a16:creationId xmlns:a16="http://schemas.microsoft.com/office/drawing/2014/main" id="{D50C2C8D-7938-433F-9710-2FA29277BD67}"/>
              </a:ext>
            </a:extLst>
          </p:cNvPr>
          <p:cNvSpPr>
            <a:spLocks xmlns:a="http://schemas.openxmlformats.org/drawingml/2006/main" noGrp="1"/>
          </p:cNvSpPr>
          <p:nvPr/>
        </p:nvSpPr>
        <p:spPr>
          <a:xfrm xmlns:a="http://schemas.openxmlformats.org/drawingml/2006/main" rot="0">
            <a:off x="9748571" y="4983937"/>
            <a:ext cx="78032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REAGENTS</a:t>
            </a:r>
          </a:p>
        </p:txBody>
      </p:sp>
      <p:sp>
        <p:nvSpPr>
          <p:cNvPr id="83" name="Figure 15 label 53 line 1">
            <a:extLst xmlns:a="http://schemas.openxmlformats.org/drawingml/2006/main">
              <a:ext uri="{FF2B5EF4-FFF2-40B4-BE49-F238E27FC236}">
                <a16:creationId xmlns:a16="http://schemas.microsoft.com/office/drawing/2014/main" id="{7F8264EF-58FE-42CC-B98D-0034D1F15D7E}"/>
              </a:ext>
            </a:extLst>
          </p:cNvPr>
          <p:cNvSpPr>
            <a:spLocks xmlns:a="http://schemas.openxmlformats.org/drawingml/2006/main" noGrp="1"/>
          </p:cNvSpPr>
          <p:nvPr/>
        </p:nvSpPr>
        <p:spPr>
          <a:xfrm xmlns:a="http://schemas.openxmlformats.org/drawingml/2006/main" rot="0">
            <a:off x="9747656" y="5196688"/>
            <a:ext cx="1748576"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Reference proteins, dyes</a:t>
            </a:r>
          </a:p>
        </p:txBody>
      </p:sp>
      <p:sp>
        <p:nvSpPr>
          <p:cNvPr id="84" name="Figure 15 label 53 line 2">
            <a:extLst xmlns:a="http://schemas.openxmlformats.org/drawingml/2006/main">
              <a:ext uri="{FF2B5EF4-FFF2-40B4-BE49-F238E27FC236}">
                <a16:creationId xmlns:a16="http://schemas.microsoft.com/office/drawing/2014/main" id="{73D3AD0E-D65C-4676-8934-420E5433AD31}"/>
              </a:ext>
            </a:extLst>
          </p:cNvPr>
          <p:cNvSpPr>
            <a:spLocks xmlns:a="http://schemas.openxmlformats.org/drawingml/2006/main" noGrp="1"/>
          </p:cNvSpPr>
          <p:nvPr/>
        </p:nvSpPr>
        <p:spPr>
          <a:xfrm xmlns:a="http://schemas.openxmlformats.org/drawingml/2006/main" rot="0">
            <a:off x="9747656" y="5382425"/>
            <a:ext cx="1748576"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Assay panels, buffers</a:t>
            </a:r>
          </a:p>
        </p:txBody>
      </p:sp>
      <p:sp>
        <p:nvSpPr>
          <p:cNvPr id="85" name="Figure 15 label 53 line 3">
            <a:extLst xmlns:a="http://schemas.openxmlformats.org/drawingml/2006/main">
              <a:ext uri="{FF2B5EF4-FFF2-40B4-BE49-F238E27FC236}">
                <a16:creationId xmlns:a16="http://schemas.microsoft.com/office/drawing/2014/main" id="{D11F11F2-7841-465F-8993-83FA90E51AE9}"/>
              </a:ext>
            </a:extLst>
          </p:cNvPr>
          <p:cNvSpPr>
            <a:spLocks xmlns:a="http://schemas.openxmlformats.org/drawingml/2006/main" noGrp="1"/>
          </p:cNvSpPr>
          <p:nvPr/>
        </p:nvSpPr>
        <p:spPr>
          <a:xfrm xmlns:a="http://schemas.openxmlformats.org/drawingml/2006/main" rot="0">
            <a:off x="9747656" y="5568163"/>
            <a:ext cx="1748576"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Analytical reagents</a:t>
            </a:r>
          </a:p>
        </p:txBody>
      </p:sp>
      <p:sp>
        <p:nvSpPr>
          <p:cNvPr id="86" name="Figure 15 label 54 line 1">
            <a:extLst xmlns:a="http://schemas.openxmlformats.org/drawingml/2006/main">
              <a:ext uri="{FF2B5EF4-FFF2-40B4-BE49-F238E27FC236}">
                <a16:creationId xmlns:a16="http://schemas.microsoft.com/office/drawing/2014/main" id="{26E9E9A0-5177-4E0E-AD11-CF6C67906F26}"/>
              </a:ext>
            </a:extLst>
          </p:cNvPr>
          <p:cNvSpPr>
            <a:spLocks xmlns:a="http://schemas.openxmlformats.org/drawingml/2006/main" noGrp="1"/>
          </p:cNvSpPr>
          <p:nvPr/>
        </p:nvSpPr>
        <p:spPr>
          <a:xfrm xmlns:a="http://schemas.openxmlformats.org/drawingml/2006/main" rot="0">
            <a:off x="9748571" y="5745937"/>
            <a:ext cx="98987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INSTRUMENTS</a:t>
            </a:r>
          </a:p>
        </p:txBody>
      </p:sp>
      <p:sp>
        <p:nvSpPr>
          <p:cNvPr id="87" name="Figure 15 label 55 line 1">
            <a:extLst xmlns:a="http://schemas.openxmlformats.org/drawingml/2006/main">
              <a:ext uri="{FF2B5EF4-FFF2-40B4-BE49-F238E27FC236}">
                <a16:creationId xmlns:a16="http://schemas.microsoft.com/office/drawing/2014/main" id="{B23565DB-A8DD-445C-939F-DEE9F3E4D85F}"/>
              </a:ext>
            </a:extLst>
          </p:cNvPr>
          <p:cNvSpPr>
            <a:spLocks xmlns:a="http://schemas.openxmlformats.org/drawingml/2006/main" noGrp="1"/>
          </p:cNvSpPr>
          <p:nvPr/>
        </p:nvSpPr>
        <p:spPr>
          <a:xfrm xmlns:a="http://schemas.openxmlformats.org/drawingml/2006/main" rot="0">
            <a:off x="9747656" y="5958688"/>
            <a:ext cx="1582930"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SPR / BLI; SEC-HPLC</a:t>
            </a:r>
          </a:p>
        </p:txBody>
      </p:sp>
      <p:sp>
        <p:nvSpPr>
          <p:cNvPr id="88" name="Figure 15 label 55 line 2">
            <a:extLst xmlns:a="http://schemas.openxmlformats.org/drawingml/2006/main">
              <a:ext uri="{FF2B5EF4-FFF2-40B4-BE49-F238E27FC236}">
                <a16:creationId xmlns:a16="http://schemas.microsoft.com/office/drawing/2014/main" id="{ECEE90BA-3B26-407B-838A-12251F723661}"/>
              </a:ext>
            </a:extLst>
          </p:cNvPr>
          <p:cNvSpPr>
            <a:spLocks xmlns:a="http://schemas.openxmlformats.org/drawingml/2006/main" noGrp="1"/>
          </p:cNvSpPr>
          <p:nvPr/>
        </p:nvSpPr>
        <p:spPr>
          <a:xfrm xmlns:a="http://schemas.openxmlformats.org/drawingml/2006/main" rot="0">
            <a:off x="9747656" y="6144425"/>
            <a:ext cx="1582930"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LC / LC-MS</a:t>
            </a:r>
          </a:p>
        </p:txBody>
      </p:sp>
      <p:sp>
        <p:nvSpPr>
          <p:cNvPr id="89" name="Figure 15 label 55 line 3">
            <a:extLst xmlns:a="http://schemas.openxmlformats.org/drawingml/2006/main">
              <a:ext uri="{FF2B5EF4-FFF2-40B4-BE49-F238E27FC236}">
                <a16:creationId xmlns:a16="http://schemas.microsoft.com/office/drawing/2014/main" id="{2FAF9376-C7B4-4741-B483-88BB23F2E3EC}"/>
              </a:ext>
            </a:extLst>
          </p:cNvPr>
          <p:cNvSpPr>
            <a:spLocks xmlns:a="http://schemas.openxmlformats.org/drawingml/2006/main" noGrp="1"/>
          </p:cNvSpPr>
          <p:nvPr/>
        </p:nvSpPr>
        <p:spPr>
          <a:xfrm xmlns:a="http://schemas.openxmlformats.org/drawingml/2006/main" rot="0">
            <a:off x="9747656" y="6330163"/>
            <a:ext cx="1582930"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nanoDSF / DLS</a:t>
            </a:r>
          </a:p>
        </p:txBody>
      </p:sp>
      <p:sp>
        <p:nvSpPr>
          <p:cNvPr id="90" name="Figure 15 label 56 line 1">
            <a:extLst xmlns:a="http://schemas.openxmlformats.org/drawingml/2006/main">
              <a:ext uri="{FF2B5EF4-FFF2-40B4-BE49-F238E27FC236}">
                <a16:creationId xmlns:a16="http://schemas.microsoft.com/office/drawing/2014/main" id="{53840E16-FF07-410D-A4D6-33E07224D2DD}"/>
              </a:ext>
            </a:extLst>
          </p:cNvPr>
          <p:cNvSpPr>
            <a:spLocks xmlns:a="http://schemas.openxmlformats.org/drawingml/2006/main" noGrp="1"/>
          </p:cNvSpPr>
          <p:nvPr/>
        </p:nvSpPr>
        <p:spPr>
          <a:xfrm xmlns:a="http://schemas.openxmlformats.org/drawingml/2006/main" rot="0">
            <a:off x="9748571" y="6507937"/>
            <a:ext cx="1066669"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CONSUMABLES</a:t>
            </a:r>
          </a:p>
        </p:txBody>
      </p:sp>
      <p:sp>
        <p:nvSpPr>
          <p:cNvPr id="91" name="Figure 15 label 57 line 1">
            <a:extLst xmlns:a="http://schemas.openxmlformats.org/drawingml/2006/main">
              <a:ext uri="{FF2B5EF4-FFF2-40B4-BE49-F238E27FC236}">
                <a16:creationId xmlns:a16="http://schemas.microsoft.com/office/drawing/2014/main" id="{BCE13206-A48F-483E-8BAB-285C19DE5C54}"/>
              </a:ext>
            </a:extLst>
          </p:cNvPr>
          <p:cNvSpPr>
            <a:spLocks xmlns:a="http://schemas.openxmlformats.org/drawingml/2006/main" noGrp="1"/>
          </p:cNvSpPr>
          <p:nvPr/>
        </p:nvSpPr>
        <p:spPr>
          <a:xfrm xmlns:a="http://schemas.openxmlformats.org/drawingml/2006/main" rot="0">
            <a:off x="9747656" y="6720688"/>
            <a:ext cx="1762119"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Columns, capillaries</a:t>
            </a:r>
          </a:p>
        </p:txBody>
      </p:sp>
      <p:sp>
        <p:nvSpPr>
          <p:cNvPr id="92" name="Figure 15 label 57 line 2">
            <a:extLst xmlns:a="http://schemas.openxmlformats.org/drawingml/2006/main">
              <a:ext uri="{FF2B5EF4-FFF2-40B4-BE49-F238E27FC236}">
                <a16:creationId xmlns:a16="http://schemas.microsoft.com/office/drawing/2014/main" id="{EC7D880D-97A6-4AB4-A21E-4B5B11920568}"/>
              </a:ext>
            </a:extLst>
          </p:cNvPr>
          <p:cNvSpPr>
            <a:spLocks xmlns:a="http://schemas.openxmlformats.org/drawingml/2006/main" noGrp="1"/>
          </p:cNvSpPr>
          <p:nvPr/>
        </p:nvSpPr>
        <p:spPr>
          <a:xfrm xmlns:a="http://schemas.openxmlformats.org/drawingml/2006/main" rot="0">
            <a:off x="9747656" y="6906425"/>
            <a:ext cx="1762119"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Vials, filters, assay plates</a:t>
            </a:r>
          </a:p>
        </p:txBody>
      </p:sp>
      <p:sp>
        <p:nvSpPr>
          <p:cNvPr id="93" name="Figure 15 label 57 line 3">
            <a:extLst xmlns:a="http://schemas.openxmlformats.org/drawingml/2006/main">
              <a:ext uri="{FF2B5EF4-FFF2-40B4-BE49-F238E27FC236}">
                <a16:creationId xmlns:a16="http://schemas.microsoft.com/office/drawing/2014/main" id="{36EF9646-795E-48CF-B7D5-21A23BF3AA99}"/>
              </a:ext>
            </a:extLst>
          </p:cNvPr>
          <p:cNvSpPr>
            <a:spLocks xmlns:a="http://schemas.openxmlformats.org/drawingml/2006/main" noGrp="1"/>
          </p:cNvSpPr>
          <p:nvPr/>
        </p:nvSpPr>
        <p:spPr>
          <a:xfrm xmlns:a="http://schemas.openxmlformats.org/drawingml/2006/main" rot="0">
            <a:off x="9747656" y="7092163"/>
            <a:ext cx="1762119"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Sensors / chips</a:t>
            </a:r>
          </a:p>
        </p:txBody>
      </p:sp>
      <p:sp>
        <p:nvSpPr>
          <p:cNvPr id="94" name="Figure 15 label 58 line 1">
            <a:extLst xmlns:a="http://schemas.openxmlformats.org/drawingml/2006/main">
              <a:ext uri="{FF2B5EF4-FFF2-40B4-BE49-F238E27FC236}">
                <a16:creationId xmlns:a16="http://schemas.microsoft.com/office/drawing/2014/main" id="{D987A433-D440-426E-8347-F21865491503}"/>
              </a:ext>
            </a:extLst>
          </p:cNvPr>
          <p:cNvSpPr>
            <a:spLocks xmlns:a="http://schemas.openxmlformats.org/drawingml/2006/main" noGrp="1"/>
          </p:cNvSpPr>
          <p:nvPr/>
        </p:nvSpPr>
        <p:spPr>
          <a:xfrm xmlns:a="http://schemas.openxmlformats.org/drawingml/2006/main" rot="0">
            <a:off x="9748876" y="7455561"/>
            <a:ext cx="1831306"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1">
                <a:solidFill>
                  <a:srgbClr val="00355F"/>
                </a:solidFill>
                <a:latin typeface="Arial"/>
                <a:ea typeface="Arial"/>
                <a:cs typeface="Arial"/>
              </a:defRPr>
            </a:defPPr>
          </a:lstStyle>
          <a:p xmlns:a="http://schemas.openxmlformats.org/drawingml/2006/main">
            <a:pPr algn="l">
              <a:lnSpc>
                <a:spcPct val="100000"/>
              </a:lnSpc>
              <a:buNone/>
              <a:defRPr sz="930" b="1">
                <a:solidFill>
                  <a:srgbClr val="00355F"/>
                </a:solidFill>
                <a:latin typeface="Arial"/>
                <a:ea typeface="Arial"/>
                <a:cs typeface="Arial"/>
              </a:defRPr>
            </a:pPr>
            <a:r>
              <a:rPr sz="930" b="1">
                <a:solidFill>
                  <a:srgbClr val="00355F"/>
                </a:solidFill>
                <a:latin typeface="Arial"/>
                <a:ea typeface="Arial"/>
                <a:cs typeface="Arial"/>
              </a:rPr>
              <a:t>REPRESENTATIVE SUPPLIERS</a:t>
            </a:r>
          </a:p>
        </p:txBody>
      </p:sp>
      <p:sp>
        <p:nvSpPr>
          <p:cNvPr id="95" name="Figure 15 label 59 line 1">
            <a:extLst xmlns:a="http://schemas.openxmlformats.org/drawingml/2006/main">
              <a:ext uri="{FF2B5EF4-FFF2-40B4-BE49-F238E27FC236}">
                <a16:creationId xmlns:a16="http://schemas.microsoft.com/office/drawing/2014/main" id="{BCF7808F-E871-4786-98D6-812937BF99E5}"/>
              </a:ext>
            </a:extLst>
          </p:cNvPr>
          <p:cNvSpPr>
            <a:spLocks xmlns:a="http://schemas.openxmlformats.org/drawingml/2006/main" noGrp="1"/>
          </p:cNvSpPr>
          <p:nvPr/>
        </p:nvSpPr>
        <p:spPr>
          <a:xfrm xmlns:a="http://schemas.openxmlformats.org/drawingml/2006/main" rot="0">
            <a:off x="10104120" y="7711440"/>
            <a:ext cx="1108174"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NanoMicro</a:t>
            </a:r>
          </a:p>
        </p:txBody>
      </p:sp>
      <p:sp>
        <p:nvSpPr>
          <p:cNvPr id="96" name="Figure 15 label 60 line 1">
            <a:extLst xmlns:a="http://schemas.openxmlformats.org/drawingml/2006/main">
              <a:ext uri="{FF2B5EF4-FFF2-40B4-BE49-F238E27FC236}">
                <a16:creationId xmlns:a16="http://schemas.microsoft.com/office/drawing/2014/main" id="{AE095968-0FEF-4342-908D-36ACD41FA729}"/>
              </a:ext>
            </a:extLst>
          </p:cNvPr>
          <p:cNvSpPr>
            <a:spLocks xmlns:a="http://schemas.openxmlformats.org/drawingml/2006/main" noGrp="1"/>
          </p:cNvSpPr>
          <p:nvPr/>
        </p:nvSpPr>
        <p:spPr>
          <a:xfrm xmlns:a="http://schemas.openxmlformats.org/drawingml/2006/main" rot="0">
            <a:off x="9748571" y="8123377"/>
            <a:ext cx="1891475"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Waters · Agilent · Thermo Fisher</a:t>
            </a:r>
          </a:p>
        </p:txBody>
      </p:sp>
      <p:sp>
        <p:nvSpPr>
          <p:cNvPr id="97" name="Figure 15 label 60 line 2">
            <a:extLst xmlns:a="http://schemas.openxmlformats.org/drawingml/2006/main">
              <a:ext uri="{FF2B5EF4-FFF2-40B4-BE49-F238E27FC236}">
                <a16:creationId xmlns:a16="http://schemas.microsoft.com/office/drawing/2014/main" id="{6BC30780-96F1-4B6A-9454-6408FE681ECB}"/>
              </a:ext>
            </a:extLst>
          </p:cNvPr>
          <p:cNvSpPr>
            <a:spLocks xmlns:a="http://schemas.openxmlformats.org/drawingml/2006/main" noGrp="1"/>
          </p:cNvSpPr>
          <p:nvPr/>
        </p:nvSpPr>
        <p:spPr>
          <a:xfrm xmlns:a="http://schemas.openxmlformats.org/drawingml/2006/main" rot="0">
            <a:off x="9748571" y="8280540"/>
            <a:ext cx="1891475"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NanoTemper · Sepax</a:t>
            </a:r>
          </a:p>
        </p:txBody>
      </p:sp>
      <p:sp>
        <p:nvSpPr>
          <p:cNvPr id="98" name="Figure 15 label 60 line 3">
            <a:extLst xmlns:a="http://schemas.openxmlformats.org/drawingml/2006/main">
              <a:ext uri="{FF2B5EF4-FFF2-40B4-BE49-F238E27FC236}">
                <a16:creationId xmlns:a16="http://schemas.microsoft.com/office/drawing/2014/main" id="{723DCA4C-215C-4BF4-AD6D-F15AF8B8DC4C}"/>
              </a:ext>
            </a:extLst>
          </p:cNvPr>
          <p:cNvSpPr>
            <a:spLocks xmlns:a="http://schemas.openxmlformats.org/drawingml/2006/main" noGrp="1"/>
          </p:cNvSpPr>
          <p:nvPr/>
        </p:nvSpPr>
        <p:spPr>
          <a:xfrm xmlns:a="http://schemas.openxmlformats.org/drawingml/2006/main" rot="0">
            <a:off x="9748571" y="8437702"/>
            <a:ext cx="1891475"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SPR / BLI: Cytiva · Sartorius</a:t>
            </a:r>
          </a:p>
        </p:txBody>
      </p:sp>
      <p:sp>
        <p:nvSpPr>
          <p:cNvPr id="99" name="Figure 15 label 61 line 1">
            <a:extLst xmlns:a="http://schemas.openxmlformats.org/drawingml/2006/main">
              <a:ext uri="{FF2B5EF4-FFF2-40B4-BE49-F238E27FC236}">
                <a16:creationId xmlns:a16="http://schemas.microsoft.com/office/drawing/2014/main" id="{A01BDB56-8522-41AC-94FE-5B81A8A484A8}"/>
              </a:ext>
            </a:extLst>
          </p:cNvPr>
          <p:cNvSpPr>
            <a:spLocks xmlns:a="http://schemas.openxmlformats.org/drawingml/2006/main" noGrp="1"/>
          </p:cNvSpPr>
          <p:nvPr/>
        </p:nvSpPr>
        <p:spPr>
          <a:xfrm xmlns:a="http://schemas.openxmlformats.org/drawingml/2006/main" rot="0">
            <a:off x="12841224" y="2726436"/>
            <a:ext cx="78515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05  /  TEST</a:t>
            </a:r>
          </a:p>
        </p:txBody>
      </p:sp>
      <p:sp>
        <p:nvSpPr>
          <p:cNvPr id="100" name="Figure 15 label 62 line 1">
            <a:extLst xmlns:a="http://schemas.openxmlformats.org/drawingml/2006/main">
              <a:ext uri="{FF2B5EF4-FFF2-40B4-BE49-F238E27FC236}">
                <a16:creationId xmlns:a16="http://schemas.microsoft.com/office/drawing/2014/main" id="{503A2140-CD38-4851-8D9B-A19E2070A5C1}"/>
              </a:ext>
            </a:extLst>
          </p:cNvPr>
          <p:cNvSpPr>
            <a:spLocks xmlns:a="http://schemas.openxmlformats.org/drawingml/2006/main" noGrp="1"/>
          </p:cNvSpPr>
          <p:nvPr/>
        </p:nvSpPr>
        <p:spPr>
          <a:xfrm xmlns:a="http://schemas.openxmlformats.org/drawingml/2006/main" rot="0">
            <a:off x="12837871" y="3100121"/>
            <a:ext cx="159702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Cell-function</a:t>
            </a:r>
          </a:p>
        </p:txBody>
      </p:sp>
      <p:sp>
        <p:nvSpPr>
          <p:cNvPr id="101" name="Figure 15 label 62 line 2">
            <a:extLst xmlns:a="http://schemas.openxmlformats.org/drawingml/2006/main">
              <a:ext uri="{FF2B5EF4-FFF2-40B4-BE49-F238E27FC236}">
                <a16:creationId xmlns:a16="http://schemas.microsoft.com/office/drawing/2014/main" id="{CBF86651-F368-4A44-AD2C-9597B6D9D786}"/>
              </a:ext>
            </a:extLst>
          </p:cNvPr>
          <p:cNvSpPr>
            <a:spLocks xmlns:a="http://schemas.openxmlformats.org/drawingml/2006/main" noGrp="1"/>
          </p:cNvSpPr>
          <p:nvPr/>
        </p:nvSpPr>
        <p:spPr>
          <a:xfrm xmlns:a="http://schemas.openxmlformats.org/drawingml/2006/main" rot="0">
            <a:off x="12837871" y="3395396"/>
            <a:ext cx="159702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validation</a:t>
            </a:r>
          </a:p>
        </p:txBody>
      </p:sp>
      <p:sp>
        <p:nvSpPr>
          <p:cNvPr id="102" name="Figure 15 label 63 line 1">
            <a:extLst xmlns:a="http://schemas.openxmlformats.org/drawingml/2006/main">
              <a:ext uri="{FF2B5EF4-FFF2-40B4-BE49-F238E27FC236}">
                <a16:creationId xmlns:a16="http://schemas.microsoft.com/office/drawing/2014/main" id="{4A30EC18-1ED1-414F-A076-66B4EC8F0B2C}"/>
              </a:ext>
            </a:extLst>
          </p:cNvPr>
          <p:cNvSpPr>
            <a:spLocks xmlns:a="http://schemas.openxmlformats.org/drawingml/2006/main" noGrp="1"/>
          </p:cNvSpPr>
          <p:nvPr/>
        </p:nvSpPr>
        <p:spPr>
          <a:xfrm xmlns:a="http://schemas.openxmlformats.org/drawingml/2006/main" rot="0">
            <a:off x="12840919" y="3813353"/>
            <a:ext cx="1847237"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Test activity in a relevant</a:t>
            </a:r>
          </a:p>
        </p:txBody>
      </p:sp>
      <p:sp>
        <p:nvSpPr>
          <p:cNvPr id="103" name="Figure 15 label 63 line 2">
            <a:extLst xmlns:a="http://schemas.openxmlformats.org/drawingml/2006/main">
              <a:ext uri="{FF2B5EF4-FFF2-40B4-BE49-F238E27FC236}">
                <a16:creationId xmlns:a16="http://schemas.microsoft.com/office/drawing/2014/main" id="{FFA4688B-18F1-484F-A106-9814CD4D46A0}"/>
              </a:ext>
            </a:extLst>
          </p:cNvPr>
          <p:cNvSpPr>
            <a:spLocks xmlns:a="http://schemas.openxmlformats.org/drawingml/2006/main" noGrp="1"/>
          </p:cNvSpPr>
          <p:nvPr/>
        </p:nvSpPr>
        <p:spPr>
          <a:xfrm xmlns:a="http://schemas.openxmlformats.org/drawingml/2006/main" rot="0">
            <a:off x="12840919" y="4013378"/>
            <a:ext cx="1847237"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cellular model</a:t>
            </a:r>
          </a:p>
        </p:txBody>
      </p:sp>
      <p:sp>
        <p:nvSpPr>
          <p:cNvPr id="104" name="Figure 15 label 64 line 1">
            <a:extLst xmlns:a="http://schemas.openxmlformats.org/drawingml/2006/main">
              <a:ext uri="{FF2B5EF4-FFF2-40B4-BE49-F238E27FC236}">
                <a16:creationId xmlns:a16="http://schemas.microsoft.com/office/drawing/2014/main" id="{C68A6564-7C48-4685-A84D-91FCB1713A5F}"/>
              </a:ext>
            </a:extLst>
          </p:cNvPr>
          <p:cNvSpPr>
            <a:spLocks xmlns:a="http://schemas.openxmlformats.org/drawingml/2006/main" noGrp="1"/>
          </p:cNvSpPr>
          <p:nvPr/>
        </p:nvSpPr>
        <p:spPr>
          <a:xfrm xmlns:a="http://schemas.openxmlformats.org/drawingml/2006/main" rot="0">
            <a:off x="12888620" y="4448404"/>
            <a:ext cx="440168"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LABEL</a:t>
            </a:r>
          </a:p>
        </p:txBody>
      </p:sp>
      <p:sp>
        <p:nvSpPr>
          <p:cNvPr id="105" name="Figure 15 label 65 line 1">
            <a:extLst xmlns:a="http://schemas.openxmlformats.org/drawingml/2006/main">
              <a:ext uri="{FF2B5EF4-FFF2-40B4-BE49-F238E27FC236}">
                <a16:creationId xmlns:a16="http://schemas.microsoft.com/office/drawing/2014/main" id="{DDE49DCD-7E89-4E65-A38B-4D3A31486A43}"/>
              </a:ext>
            </a:extLst>
          </p:cNvPr>
          <p:cNvSpPr>
            <a:spLocks xmlns:a="http://schemas.openxmlformats.org/drawingml/2006/main" noGrp="1"/>
          </p:cNvSpPr>
          <p:nvPr/>
        </p:nvSpPr>
        <p:spPr>
          <a:xfrm xmlns:a="http://schemas.openxmlformats.org/drawingml/2006/main" rot="0">
            <a:off x="12886944" y="4661916"/>
            <a:ext cx="1005274"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Cell potency</a:t>
            </a:r>
          </a:p>
        </p:txBody>
      </p:sp>
      <p:sp>
        <p:nvSpPr>
          <p:cNvPr id="106" name="Figure 15 label 66 line 1">
            <a:extLst xmlns:a="http://schemas.openxmlformats.org/drawingml/2006/main">
              <a:ext uri="{FF2B5EF4-FFF2-40B4-BE49-F238E27FC236}">
                <a16:creationId xmlns:a16="http://schemas.microsoft.com/office/drawing/2014/main" id="{E2330EE5-22B4-46BE-937C-17F70A7E00AA}"/>
              </a:ext>
            </a:extLst>
          </p:cNvPr>
          <p:cNvSpPr>
            <a:spLocks xmlns:a="http://schemas.openxmlformats.org/drawingml/2006/main" noGrp="1"/>
          </p:cNvSpPr>
          <p:nvPr/>
        </p:nvSpPr>
        <p:spPr>
          <a:xfrm xmlns:a="http://schemas.openxmlformats.org/drawingml/2006/main" rot="0">
            <a:off x="12842291" y="4983937"/>
            <a:ext cx="78032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REAGENTS</a:t>
            </a:r>
          </a:p>
        </p:txBody>
      </p:sp>
      <p:sp>
        <p:nvSpPr>
          <p:cNvPr id="107" name="Figure 15 label 67 line 1">
            <a:extLst xmlns:a="http://schemas.openxmlformats.org/drawingml/2006/main">
              <a:ext uri="{FF2B5EF4-FFF2-40B4-BE49-F238E27FC236}">
                <a16:creationId xmlns:a16="http://schemas.microsoft.com/office/drawing/2014/main" id="{D36B96CB-1C1B-4C5C-A9D1-234666A3463F}"/>
              </a:ext>
            </a:extLst>
          </p:cNvPr>
          <p:cNvSpPr>
            <a:spLocks xmlns:a="http://schemas.openxmlformats.org/drawingml/2006/main" noGrp="1"/>
          </p:cNvSpPr>
          <p:nvPr/>
        </p:nvSpPr>
        <p:spPr>
          <a:xfrm xmlns:a="http://schemas.openxmlformats.org/drawingml/2006/main" rot="0">
            <a:off x="12841376" y="5196688"/>
            <a:ext cx="206215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Cell models, media, cytokines</a:t>
            </a:r>
          </a:p>
        </p:txBody>
      </p:sp>
      <p:sp>
        <p:nvSpPr>
          <p:cNvPr id="108" name="Figure 15 label 67 line 2">
            <a:extLst xmlns:a="http://schemas.openxmlformats.org/drawingml/2006/main">
              <a:ext uri="{FF2B5EF4-FFF2-40B4-BE49-F238E27FC236}">
                <a16:creationId xmlns:a16="http://schemas.microsoft.com/office/drawing/2014/main" id="{51117CD9-6995-40CC-B7E7-5D7B6604A655}"/>
              </a:ext>
            </a:extLst>
          </p:cNvPr>
          <p:cNvSpPr>
            <a:spLocks xmlns:a="http://schemas.openxmlformats.org/drawingml/2006/main" noGrp="1"/>
          </p:cNvSpPr>
          <p:nvPr/>
        </p:nvSpPr>
        <p:spPr>
          <a:xfrm xmlns:a="http://schemas.openxmlformats.org/drawingml/2006/main" rot="0">
            <a:off x="12841376" y="5382425"/>
            <a:ext cx="206215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Staining antibodies</a:t>
            </a:r>
          </a:p>
        </p:txBody>
      </p:sp>
      <p:sp>
        <p:nvSpPr>
          <p:cNvPr id="109" name="Figure 15 label 67 line 3">
            <a:extLst xmlns:a="http://schemas.openxmlformats.org/drawingml/2006/main">
              <a:ext uri="{FF2B5EF4-FFF2-40B4-BE49-F238E27FC236}">
                <a16:creationId xmlns:a16="http://schemas.microsoft.com/office/drawing/2014/main" id="{8DBCF094-A34D-46A9-9133-07656BF83D0D}"/>
              </a:ext>
            </a:extLst>
          </p:cNvPr>
          <p:cNvSpPr>
            <a:spLocks xmlns:a="http://schemas.openxmlformats.org/drawingml/2006/main" noGrp="1"/>
          </p:cNvSpPr>
          <p:nvPr/>
        </p:nvSpPr>
        <p:spPr>
          <a:xfrm xmlns:a="http://schemas.openxmlformats.org/drawingml/2006/main" rot="0">
            <a:off x="12841376" y="5568163"/>
            <a:ext cx="206215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Reporter-assay reagents</a:t>
            </a:r>
          </a:p>
        </p:txBody>
      </p:sp>
      <p:sp>
        <p:nvSpPr>
          <p:cNvPr id="110" name="Figure 15 label 68 line 1">
            <a:extLst xmlns:a="http://schemas.openxmlformats.org/drawingml/2006/main">
              <a:ext uri="{FF2B5EF4-FFF2-40B4-BE49-F238E27FC236}">
                <a16:creationId xmlns:a16="http://schemas.microsoft.com/office/drawing/2014/main" id="{8818BE04-D0B2-458B-9605-175CE3B109D2}"/>
              </a:ext>
            </a:extLst>
          </p:cNvPr>
          <p:cNvSpPr>
            <a:spLocks xmlns:a="http://schemas.openxmlformats.org/drawingml/2006/main" noGrp="1"/>
          </p:cNvSpPr>
          <p:nvPr/>
        </p:nvSpPr>
        <p:spPr>
          <a:xfrm xmlns:a="http://schemas.openxmlformats.org/drawingml/2006/main" rot="0">
            <a:off x="12842291" y="5745937"/>
            <a:ext cx="98987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INSTRUMENTS</a:t>
            </a:r>
          </a:p>
        </p:txBody>
      </p:sp>
      <p:sp>
        <p:nvSpPr>
          <p:cNvPr id="111" name="Figure 15 label 69 line 1">
            <a:extLst xmlns:a="http://schemas.openxmlformats.org/drawingml/2006/main">
              <a:ext uri="{FF2B5EF4-FFF2-40B4-BE49-F238E27FC236}">
                <a16:creationId xmlns:a16="http://schemas.microsoft.com/office/drawing/2014/main" id="{5E6F6360-9AFC-4D57-9CB2-1BAA314DF2E6}"/>
              </a:ext>
            </a:extLst>
          </p:cNvPr>
          <p:cNvSpPr>
            <a:spLocks xmlns:a="http://schemas.openxmlformats.org/drawingml/2006/main" noGrp="1"/>
          </p:cNvSpPr>
          <p:nvPr/>
        </p:nvSpPr>
        <p:spPr>
          <a:xfrm xmlns:a="http://schemas.openxmlformats.org/drawingml/2006/main" rot="0">
            <a:off x="12841376" y="5958688"/>
            <a:ext cx="150077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Flow cytometer</a:t>
            </a:r>
          </a:p>
        </p:txBody>
      </p:sp>
      <p:sp>
        <p:nvSpPr>
          <p:cNvPr id="112" name="Figure 15 label 69 line 2">
            <a:extLst xmlns:a="http://schemas.openxmlformats.org/drawingml/2006/main">
              <a:ext uri="{FF2B5EF4-FFF2-40B4-BE49-F238E27FC236}">
                <a16:creationId xmlns:a16="http://schemas.microsoft.com/office/drawing/2014/main" id="{1A658E9B-2CC6-4024-AA4E-F9A3A5100AAF}"/>
              </a:ext>
            </a:extLst>
          </p:cNvPr>
          <p:cNvSpPr>
            <a:spLocks xmlns:a="http://schemas.openxmlformats.org/drawingml/2006/main" noGrp="1"/>
          </p:cNvSpPr>
          <p:nvPr/>
        </p:nvSpPr>
        <p:spPr>
          <a:xfrm xmlns:a="http://schemas.openxmlformats.org/drawingml/2006/main" rot="0">
            <a:off x="12841376" y="6144425"/>
            <a:ext cx="150077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High-content imaging</a:t>
            </a:r>
          </a:p>
        </p:txBody>
      </p:sp>
      <p:sp>
        <p:nvSpPr>
          <p:cNvPr id="113" name="Figure 15 label 69 line 3">
            <a:extLst xmlns:a="http://schemas.openxmlformats.org/drawingml/2006/main">
              <a:ext uri="{FF2B5EF4-FFF2-40B4-BE49-F238E27FC236}">
                <a16:creationId xmlns:a16="http://schemas.microsoft.com/office/drawing/2014/main" id="{2059AD2F-7D3B-4BAD-BDA8-18F29B42E628}"/>
              </a:ext>
            </a:extLst>
          </p:cNvPr>
          <p:cNvSpPr>
            <a:spLocks xmlns:a="http://schemas.openxmlformats.org/drawingml/2006/main" noGrp="1"/>
          </p:cNvSpPr>
          <p:nvPr/>
        </p:nvSpPr>
        <p:spPr>
          <a:xfrm xmlns:a="http://schemas.openxmlformats.org/drawingml/2006/main" rot="0">
            <a:off x="12841376" y="6330163"/>
            <a:ext cx="1500777"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Plate reader</a:t>
            </a:r>
          </a:p>
        </p:txBody>
      </p:sp>
      <p:sp>
        <p:nvSpPr>
          <p:cNvPr id="114" name="Figure 15 label 70 line 1">
            <a:extLst xmlns:a="http://schemas.openxmlformats.org/drawingml/2006/main">
              <a:ext uri="{FF2B5EF4-FFF2-40B4-BE49-F238E27FC236}">
                <a16:creationId xmlns:a16="http://schemas.microsoft.com/office/drawing/2014/main" id="{9F7132F1-7631-4F72-B7B0-485E52295CED}"/>
              </a:ext>
            </a:extLst>
          </p:cNvPr>
          <p:cNvSpPr>
            <a:spLocks xmlns:a="http://schemas.openxmlformats.org/drawingml/2006/main" noGrp="1"/>
          </p:cNvSpPr>
          <p:nvPr/>
        </p:nvSpPr>
        <p:spPr>
          <a:xfrm xmlns:a="http://schemas.openxmlformats.org/drawingml/2006/main" rot="0">
            <a:off x="12842291" y="6507937"/>
            <a:ext cx="1066669"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CONSUMABLES</a:t>
            </a:r>
          </a:p>
        </p:txBody>
      </p:sp>
      <p:sp>
        <p:nvSpPr>
          <p:cNvPr id="115" name="Figure 15 label 71 line 1">
            <a:extLst xmlns:a="http://schemas.openxmlformats.org/drawingml/2006/main">
              <a:ext uri="{FF2B5EF4-FFF2-40B4-BE49-F238E27FC236}">
                <a16:creationId xmlns:a16="http://schemas.microsoft.com/office/drawing/2014/main" id="{271B3159-3135-40BC-80C0-42EEBC5F7EB3}"/>
              </a:ext>
            </a:extLst>
          </p:cNvPr>
          <p:cNvSpPr>
            <a:spLocks xmlns:a="http://schemas.openxmlformats.org/drawingml/2006/main" noGrp="1"/>
          </p:cNvSpPr>
          <p:nvPr/>
        </p:nvSpPr>
        <p:spPr>
          <a:xfrm xmlns:a="http://schemas.openxmlformats.org/drawingml/2006/main" rot="0">
            <a:off x="12841376" y="6720688"/>
            <a:ext cx="1789503"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Cell-culture plates / flasks</a:t>
            </a:r>
          </a:p>
        </p:txBody>
      </p:sp>
      <p:sp>
        <p:nvSpPr>
          <p:cNvPr id="116" name="Figure 15 label 71 line 2">
            <a:extLst xmlns:a="http://schemas.openxmlformats.org/drawingml/2006/main">
              <a:ext uri="{FF2B5EF4-FFF2-40B4-BE49-F238E27FC236}">
                <a16:creationId xmlns:a16="http://schemas.microsoft.com/office/drawing/2014/main" id="{F9BEB807-B8A7-400C-AF33-4A5399AD2C3B}"/>
              </a:ext>
            </a:extLst>
          </p:cNvPr>
          <p:cNvSpPr>
            <a:spLocks xmlns:a="http://schemas.openxmlformats.org/drawingml/2006/main" noGrp="1"/>
          </p:cNvSpPr>
          <p:nvPr/>
        </p:nvSpPr>
        <p:spPr>
          <a:xfrm xmlns:a="http://schemas.openxmlformats.org/drawingml/2006/main" rot="0">
            <a:off x="12841376" y="6906425"/>
            <a:ext cx="1789503" cy="185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70" b="0">
                <a:solidFill>
                  <a:srgbClr val="00355F"/>
                </a:solidFill>
                <a:latin typeface="Arial"/>
                <a:ea typeface="Arial"/>
                <a:cs typeface="Arial"/>
              </a:defRPr>
            </a:defPPr>
          </a:lstStyle>
          <a:p xmlns:a="http://schemas.openxmlformats.org/drawingml/2006/main">
            <a:pPr algn="l">
              <a:lnSpc>
                <a:spcPct val="100000"/>
              </a:lnSpc>
              <a:buNone/>
              <a:defRPr sz="1170" b="0">
                <a:solidFill>
                  <a:srgbClr val="00355F"/>
                </a:solidFill>
                <a:latin typeface="Arial"/>
                <a:ea typeface="Arial"/>
                <a:cs typeface="Arial"/>
              </a:defRPr>
            </a:pPr>
            <a:r>
              <a:rPr sz="1170" b="0">
                <a:solidFill>
                  <a:srgbClr val="00355F"/>
                </a:solidFill>
                <a:latin typeface="Arial"/>
                <a:ea typeface="Arial"/>
                <a:cs typeface="Arial"/>
              </a:rPr>
              <a:t>Pipette tips, filters</a:t>
            </a:r>
          </a:p>
        </p:txBody>
      </p:sp>
      <p:sp>
        <p:nvSpPr>
          <p:cNvPr id="117" name="Figure 15 label 72 line 1">
            <a:extLst xmlns:a="http://schemas.openxmlformats.org/drawingml/2006/main">
              <a:ext uri="{FF2B5EF4-FFF2-40B4-BE49-F238E27FC236}">
                <a16:creationId xmlns:a16="http://schemas.microsoft.com/office/drawing/2014/main" id="{2F8401D0-BD9F-4739-861A-99220E69A22E}"/>
              </a:ext>
            </a:extLst>
          </p:cNvPr>
          <p:cNvSpPr>
            <a:spLocks xmlns:a="http://schemas.openxmlformats.org/drawingml/2006/main" noGrp="1"/>
          </p:cNvSpPr>
          <p:nvPr/>
        </p:nvSpPr>
        <p:spPr>
          <a:xfrm xmlns:a="http://schemas.openxmlformats.org/drawingml/2006/main" rot="0">
            <a:off x="12842596" y="7455561"/>
            <a:ext cx="1831306" cy="1476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30" b="1">
                <a:solidFill>
                  <a:srgbClr val="00355F"/>
                </a:solidFill>
                <a:latin typeface="Arial"/>
                <a:ea typeface="Arial"/>
                <a:cs typeface="Arial"/>
              </a:defRPr>
            </a:defPPr>
          </a:lstStyle>
          <a:p xmlns:a="http://schemas.openxmlformats.org/drawingml/2006/main">
            <a:pPr algn="l">
              <a:lnSpc>
                <a:spcPct val="100000"/>
              </a:lnSpc>
              <a:buNone/>
              <a:defRPr sz="930" b="1">
                <a:solidFill>
                  <a:srgbClr val="00355F"/>
                </a:solidFill>
                <a:latin typeface="Arial"/>
                <a:ea typeface="Arial"/>
                <a:cs typeface="Arial"/>
              </a:defRPr>
            </a:pPr>
            <a:r>
              <a:rPr sz="930" b="1">
                <a:solidFill>
                  <a:srgbClr val="00355F"/>
                </a:solidFill>
                <a:latin typeface="Arial"/>
                <a:ea typeface="Arial"/>
                <a:cs typeface="Arial"/>
              </a:rPr>
              <a:t>REPRESENTATIVE SUPPLIERS</a:t>
            </a:r>
          </a:p>
        </p:txBody>
      </p:sp>
      <p:sp>
        <p:nvSpPr>
          <p:cNvPr id="118" name="Figure 15 label 73 line 1">
            <a:extLst xmlns:a="http://schemas.openxmlformats.org/drawingml/2006/main">
              <a:ext uri="{FF2B5EF4-FFF2-40B4-BE49-F238E27FC236}">
                <a16:creationId xmlns:a16="http://schemas.microsoft.com/office/drawing/2014/main" id="{7563D1F4-A337-461E-8E1F-564029DE77ED}"/>
              </a:ext>
            </a:extLst>
          </p:cNvPr>
          <p:cNvSpPr>
            <a:spLocks xmlns:a="http://schemas.openxmlformats.org/drawingml/2006/main" noGrp="1"/>
          </p:cNvSpPr>
          <p:nvPr/>
        </p:nvSpPr>
        <p:spPr>
          <a:xfrm xmlns:a="http://schemas.openxmlformats.org/drawingml/2006/main" rot="0">
            <a:off x="12842291" y="8123377"/>
            <a:ext cx="2105638"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Gibco · OPM · Vazyme · Bio-Techne</a:t>
            </a:r>
          </a:p>
        </p:txBody>
      </p:sp>
      <p:sp>
        <p:nvSpPr>
          <p:cNvPr id="119" name="Figure 15 label 73 line 2">
            <a:extLst xmlns:a="http://schemas.openxmlformats.org/drawingml/2006/main">
              <a:ext uri="{FF2B5EF4-FFF2-40B4-BE49-F238E27FC236}">
                <a16:creationId xmlns:a16="http://schemas.microsoft.com/office/drawing/2014/main" id="{030E51AC-CBC8-4A7E-9657-FFA1A45556C7}"/>
              </a:ext>
            </a:extLst>
          </p:cNvPr>
          <p:cNvSpPr>
            <a:spLocks xmlns:a="http://schemas.openxmlformats.org/drawingml/2006/main" noGrp="1"/>
          </p:cNvSpPr>
          <p:nvPr/>
        </p:nvSpPr>
        <p:spPr>
          <a:xfrm xmlns:a="http://schemas.openxmlformats.org/drawingml/2006/main" rot="0">
            <a:off x="12842291" y="8280540"/>
            <a:ext cx="2105638"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Molecular Devices · Corning</a:t>
            </a:r>
          </a:p>
        </p:txBody>
      </p:sp>
      <p:sp>
        <p:nvSpPr>
          <p:cNvPr id="120" name="Figure 15 label 73 line 3">
            <a:extLst xmlns:a="http://schemas.openxmlformats.org/drawingml/2006/main">
              <a:ext uri="{FF2B5EF4-FFF2-40B4-BE49-F238E27FC236}">
                <a16:creationId xmlns:a16="http://schemas.microsoft.com/office/drawing/2014/main" id="{1036811B-B0EC-4A84-A8CB-2CF11C9F0C3B}"/>
              </a:ext>
            </a:extLst>
          </p:cNvPr>
          <p:cNvSpPr>
            <a:spLocks xmlns:a="http://schemas.openxmlformats.org/drawingml/2006/main" noGrp="1"/>
          </p:cNvSpPr>
          <p:nvPr/>
        </p:nvSpPr>
        <p:spPr>
          <a:xfrm xmlns:a="http://schemas.openxmlformats.org/drawingml/2006/main" rot="0">
            <a:off x="12842291" y="8437702"/>
            <a:ext cx="2105638"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0">
                <a:solidFill>
                  <a:srgbClr val="00355F"/>
                </a:solidFill>
                <a:latin typeface="Arial"/>
                <a:ea typeface="Arial"/>
                <a:cs typeface="Arial"/>
              </a:defRPr>
            </a:defPPr>
          </a:lstStyle>
          <a:p xmlns:a="http://schemas.openxmlformats.org/drawingml/2006/main">
            <a:pPr algn="l">
              <a:lnSpc>
                <a:spcPct val="100000"/>
              </a:lnSpc>
              <a:buNone/>
              <a:defRPr sz="990" b="0">
                <a:solidFill>
                  <a:srgbClr val="00355F"/>
                </a:solidFill>
                <a:latin typeface="Arial"/>
                <a:ea typeface="Arial"/>
                <a:cs typeface="Arial"/>
              </a:defRPr>
            </a:pPr>
            <a:r>
              <a:rPr sz="990" b="0">
                <a:solidFill>
                  <a:srgbClr val="00355F"/>
                </a:solidFill>
                <a:latin typeface="Arial"/>
                <a:ea typeface="Arial"/>
                <a:cs typeface="Arial"/>
              </a:rPr>
              <a:t>Waters Biosciences (ex-BD)</a:t>
            </a:r>
          </a:p>
        </p:txBody>
      </p:sp>
      <p:sp>
        <p:nvSpPr>
          <p:cNvPr id="121" name="Figure 15 label 74 line 1">
            <a:extLst xmlns:a="http://schemas.openxmlformats.org/drawingml/2006/main">
              <a:ext uri="{FF2B5EF4-FFF2-40B4-BE49-F238E27FC236}">
                <a16:creationId xmlns:a16="http://schemas.microsoft.com/office/drawing/2014/main" id="{D9B30BC6-92A1-45ED-A343-D90F52D45953}"/>
              </a:ext>
            </a:extLst>
          </p:cNvPr>
          <p:cNvSpPr>
            <a:spLocks xmlns:a="http://schemas.openxmlformats.org/drawingml/2006/main" noGrp="1"/>
          </p:cNvSpPr>
          <p:nvPr/>
        </p:nvSpPr>
        <p:spPr>
          <a:xfrm xmlns:a="http://schemas.openxmlformats.org/drawingml/2006/main" rot="0">
            <a:off x="15782544" y="2726436"/>
            <a:ext cx="920591"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06  /  LEARN</a:t>
            </a:r>
          </a:p>
        </p:txBody>
      </p:sp>
      <p:sp>
        <p:nvSpPr>
          <p:cNvPr id="122" name="Figure 15 label 75 line 1">
            <a:extLst xmlns:a="http://schemas.openxmlformats.org/drawingml/2006/main">
              <a:ext uri="{FF2B5EF4-FFF2-40B4-BE49-F238E27FC236}">
                <a16:creationId xmlns:a16="http://schemas.microsoft.com/office/drawing/2014/main" id="{A2501242-6565-4BF1-9F0E-1BB305543F7F}"/>
              </a:ext>
            </a:extLst>
          </p:cNvPr>
          <p:cNvSpPr>
            <a:spLocks xmlns:a="http://schemas.openxmlformats.org/drawingml/2006/main" noGrp="1"/>
          </p:cNvSpPr>
          <p:nvPr/>
        </p:nvSpPr>
        <p:spPr>
          <a:xfrm xmlns:a="http://schemas.openxmlformats.org/drawingml/2006/main" rot="0">
            <a:off x="15780106" y="3108351"/>
            <a:ext cx="176284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Data integration</a:t>
            </a:r>
          </a:p>
        </p:txBody>
      </p:sp>
      <p:sp>
        <p:nvSpPr>
          <p:cNvPr id="123" name="Figure 15 label 75 line 2">
            <a:extLst xmlns:a="http://schemas.openxmlformats.org/drawingml/2006/main">
              <a:ext uri="{FF2B5EF4-FFF2-40B4-BE49-F238E27FC236}">
                <a16:creationId xmlns:a16="http://schemas.microsoft.com/office/drawing/2014/main" id="{74B923D5-4B12-4693-B9B0-33F4CB81A2FF}"/>
              </a:ext>
            </a:extLst>
          </p:cNvPr>
          <p:cNvSpPr>
            <a:spLocks xmlns:a="http://schemas.openxmlformats.org/drawingml/2006/main" noGrp="1"/>
          </p:cNvSpPr>
          <p:nvPr/>
        </p:nvSpPr>
        <p:spPr>
          <a:xfrm xmlns:a="http://schemas.openxmlformats.org/drawingml/2006/main" rot="0">
            <a:off x="15780106" y="3375051"/>
            <a:ext cx="176284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&amp; feedback</a:t>
            </a:r>
          </a:p>
        </p:txBody>
      </p:sp>
      <p:sp>
        <p:nvSpPr>
          <p:cNvPr id="124" name="Figure 15 label 76 line 1">
            <a:extLst xmlns:a="http://schemas.openxmlformats.org/drawingml/2006/main">
              <a:ext uri="{FF2B5EF4-FFF2-40B4-BE49-F238E27FC236}">
                <a16:creationId xmlns:a16="http://schemas.microsoft.com/office/drawing/2014/main" id="{9562A0AB-6D9B-4BB8-8939-CBCB1BB075B1}"/>
              </a:ext>
            </a:extLst>
          </p:cNvPr>
          <p:cNvSpPr>
            <a:spLocks xmlns:a="http://schemas.openxmlformats.org/drawingml/2006/main" noGrp="1"/>
          </p:cNvSpPr>
          <p:nvPr/>
        </p:nvSpPr>
        <p:spPr>
          <a:xfrm xmlns:a="http://schemas.openxmlformats.org/drawingml/2006/main" rot="0">
            <a:off x="15782544" y="3816096"/>
            <a:ext cx="148018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Link assay results</a:t>
            </a:r>
          </a:p>
        </p:txBody>
      </p:sp>
      <p:sp>
        <p:nvSpPr>
          <p:cNvPr id="125" name="Figure 15 label 76 line 2">
            <a:extLst xmlns:a="http://schemas.openxmlformats.org/drawingml/2006/main">
              <a:ext uri="{FF2B5EF4-FFF2-40B4-BE49-F238E27FC236}">
                <a16:creationId xmlns:a16="http://schemas.microsoft.com/office/drawing/2014/main" id="{8544123F-1B6A-463C-B0B8-FE79066E952D}"/>
              </a:ext>
            </a:extLst>
          </p:cNvPr>
          <p:cNvSpPr>
            <a:spLocks xmlns:a="http://schemas.openxmlformats.org/drawingml/2006/main" noGrp="1"/>
          </p:cNvSpPr>
          <p:nvPr/>
        </p:nvSpPr>
        <p:spPr>
          <a:xfrm xmlns:a="http://schemas.openxmlformats.org/drawingml/2006/main" rot="0">
            <a:off x="15782544" y="4006596"/>
            <a:ext cx="148018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to the next AI design</a:t>
            </a:r>
          </a:p>
        </p:txBody>
      </p:sp>
      <p:sp>
        <p:nvSpPr>
          <p:cNvPr id="126" name="Figure 15 label 77 line 1">
            <a:extLst xmlns:a="http://schemas.openxmlformats.org/drawingml/2006/main">
              <a:ext uri="{FF2B5EF4-FFF2-40B4-BE49-F238E27FC236}">
                <a16:creationId xmlns:a16="http://schemas.microsoft.com/office/drawing/2014/main" id="{0F9E34AD-7C0D-4462-8D15-106A3D184296}"/>
              </a:ext>
            </a:extLst>
          </p:cNvPr>
          <p:cNvSpPr>
            <a:spLocks xmlns:a="http://schemas.openxmlformats.org/drawingml/2006/main" noGrp="1"/>
          </p:cNvSpPr>
          <p:nvPr/>
        </p:nvSpPr>
        <p:spPr>
          <a:xfrm xmlns:a="http://schemas.openxmlformats.org/drawingml/2006/main" rot="0">
            <a:off x="15829940" y="4448404"/>
            <a:ext cx="526042" cy="1381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70" b="1">
                <a:solidFill>
                  <a:srgbClr val="00355F"/>
                </a:solidFill>
                <a:latin typeface="Arial"/>
                <a:ea typeface="Arial"/>
                <a:cs typeface="Arial"/>
              </a:defRPr>
            </a:defPPr>
          </a:lstStyle>
          <a:p xmlns:a="http://schemas.openxmlformats.org/drawingml/2006/main">
            <a:pPr algn="l">
              <a:lnSpc>
                <a:spcPct val="100000"/>
              </a:lnSpc>
              <a:buNone/>
              <a:defRPr sz="870" b="1">
                <a:solidFill>
                  <a:srgbClr val="00355F"/>
                </a:solidFill>
                <a:latin typeface="Arial"/>
                <a:ea typeface="Arial"/>
                <a:cs typeface="Arial"/>
              </a:defRPr>
            </a:pPr>
            <a:r>
              <a:rPr sz="870" b="1">
                <a:solidFill>
                  <a:srgbClr val="00355F"/>
                </a:solidFill>
                <a:latin typeface="Arial"/>
                <a:ea typeface="Arial"/>
                <a:cs typeface="Arial"/>
              </a:rPr>
              <a:t>OUTPUT</a:t>
            </a:r>
          </a:p>
        </p:txBody>
      </p:sp>
      <p:sp>
        <p:nvSpPr>
          <p:cNvPr id="127" name="Figure 15 label 78 line 1">
            <a:extLst xmlns:a="http://schemas.openxmlformats.org/drawingml/2006/main">
              <a:ext uri="{FF2B5EF4-FFF2-40B4-BE49-F238E27FC236}">
                <a16:creationId xmlns:a16="http://schemas.microsoft.com/office/drawing/2014/main" id="{258A6BD9-FB48-4EA2-A089-79D97ADB84D5}"/>
              </a:ext>
            </a:extLst>
          </p:cNvPr>
          <p:cNvSpPr>
            <a:spLocks xmlns:a="http://schemas.openxmlformats.org/drawingml/2006/main" noGrp="1"/>
          </p:cNvSpPr>
          <p:nvPr/>
        </p:nvSpPr>
        <p:spPr>
          <a:xfrm xmlns:a="http://schemas.openxmlformats.org/drawingml/2006/main" rot="0">
            <a:off x="15828874" y="4667402"/>
            <a:ext cx="158324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1">
                <a:solidFill>
                  <a:srgbClr val="00355F"/>
                </a:solidFill>
                <a:latin typeface="Arial"/>
                <a:ea typeface="Arial"/>
                <a:cs typeface="Arial"/>
              </a:defRPr>
            </a:defPPr>
          </a:lstStyle>
          <a:p xmlns:a="http://schemas.openxmlformats.org/drawingml/2006/main">
            <a:pPr algn="l">
              <a:lnSpc>
                <a:spcPct val="100000"/>
              </a:lnSpc>
              <a:buNone/>
              <a:defRPr sz="1080" b="1">
                <a:solidFill>
                  <a:srgbClr val="00355F"/>
                </a:solidFill>
                <a:latin typeface="Arial"/>
                <a:ea typeface="Arial"/>
                <a:cs typeface="Arial"/>
              </a:defRPr>
            </a:pPr>
            <a:r>
              <a:rPr sz="1080" b="1">
                <a:solidFill>
                  <a:srgbClr val="00355F"/>
                </a:solidFill>
                <a:latin typeface="Arial"/>
                <a:ea typeface="Arial"/>
                <a:cs typeface="Arial"/>
              </a:rPr>
              <a:t>Traceable training data</a:t>
            </a:r>
          </a:p>
        </p:txBody>
      </p:sp>
      <p:sp>
        <p:nvSpPr>
          <p:cNvPr id="128" name="Figure 15 label 79 line 1">
            <a:extLst xmlns:a="http://schemas.openxmlformats.org/drawingml/2006/main">
              <a:ext uri="{FF2B5EF4-FFF2-40B4-BE49-F238E27FC236}">
                <a16:creationId xmlns:a16="http://schemas.microsoft.com/office/drawing/2014/main" id="{802D9C71-851D-4516-9827-8243AECF5A27}"/>
              </a:ext>
            </a:extLst>
          </p:cNvPr>
          <p:cNvSpPr>
            <a:spLocks xmlns:a="http://schemas.openxmlformats.org/drawingml/2006/main" noGrp="1"/>
          </p:cNvSpPr>
          <p:nvPr/>
        </p:nvSpPr>
        <p:spPr>
          <a:xfrm xmlns:a="http://schemas.openxmlformats.org/drawingml/2006/main" rot="0">
            <a:off x="15783611" y="4983937"/>
            <a:ext cx="780324"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REAGENTS</a:t>
            </a:r>
          </a:p>
        </p:txBody>
      </p:sp>
      <p:sp>
        <p:nvSpPr>
          <p:cNvPr id="129" name="Figure 15 label 80 line 1">
            <a:extLst xmlns:a="http://schemas.openxmlformats.org/drawingml/2006/main">
              <a:ext uri="{FF2B5EF4-FFF2-40B4-BE49-F238E27FC236}">
                <a16:creationId xmlns:a16="http://schemas.microsoft.com/office/drawing/2014/main" id="{DC065FF8-427C-497F-9541-DD5ABD2B429B}"/>
              </a:ext>
            </a:extLst>
          </p:cNvPr>
          <p:cNvSpPr>
            <a:spLocks xmlns:a="http://schemas.openxmlformats.org/drawingml/2006/main" noGrp="1"/>
          </p:cNvSpPr>
          <p:nvPr/>
        </p:nvSpPr>
        <p:spPr>
          <a:xfrm xmlns:a="http://schemas.openxmlformats.org/drawingml/2006/main" rot="0">
            <a:off x="15783154" y="5200803"/>
            <a:ext cx="1019479"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No direct</a:t>
            </a:r>
          </a:p>
        </p:txBody>
      </p:sp>
      <p:sp>
        <p:nvSpPr>
          <p:cNvPr id="130" name="Figure 15 label 80 line 2">
            <a:extLst xmlns:a="http://schemas.openxmlformats.org/drawingml/2006/main">
              <a:ext uri="{FF2B5EF4-FFF2-40B4-BE49-F238E27FC236}">
                <a16:creationId xmlns:a16="http://schemas.microsoft.com/office/drawing/2014/main" id="{7BDC989B-8272-4F8C-ADF6-4543EBEC2F6F}"/>
              </a:ext>
            </a:extLst>
          </p:cNvPr>
          <p:cNvSpPr>
            <a:spLocks xmlns:a="http://schemas.openxmlformats.org/drawingml/2006/main" noGrp="1"/>
          </p:cNvSpPr>
          <p:nvPr/>
        </p:nvSpPr>
        <p:spPr>
          <a:xfrm xmlns:a="http://schemas.openxmlformats.org/drawingml/2006/main" rot="0">
            <a:off x="15783154" y="5372253"/>
            <a:ext cx="1019479"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assay reagents</a:t>
            </a:r>
          </a:p>
        </p:txBody>
      </p:sp>
      <p:sp>
        <p:nvSpPr>
          <p:cNvPr id="131" name="Figure 15 label 81 line 1">
            <a:extLst xmlns:a="http://schemas.openxmlformats.org/drawingml/2006/main">
              <a:ext uri="{FF2B5EF4-FFF2-40B4-BE49-F238E27FC236}">
                <a16:creationId xmlns:a16="http://schemas.microsoft.com/office/drawing/2014/main" id="{C1DF74A4-A601-4B93-8F83-A767F8D12D13}"/>
              </a:ext>
            </a:extLst>
          </p:cNvPr>
          <p:cNvSpPr>
            <a:spLocks xmlns:a="http://schemas.openxmlformats.org/drawingml/2006/main" noGrp="1"/>
          </p:cNvSpPr>
          <p:nvPr/>
        </p:nvSpPr>
        <p:spPr>
          <a:xfrm xmlns:a="http://schemas.openxmlformats.org/drawingml/2006/main" rot="0">
            <a:off x="15783611" y="5745937"/>
            <a:ext cx="1499908"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SYSTEMS / SOFTWARE</a:t>
            </a:r>
          </a:p>
        </p:txBody>
      </p:sp>
      <p:sp>
        <p:nvSpPr>
          <p:cNvPr id="132" name="Figure 15 label 82 line 1">
            <a:extLst xmlns:a="http://schemas.openxmlformats.org/drawingml/2006/main">
              <a:ext uri="{FF2B5EF4-FFF2-40B4-BE49-F238E27FC236}">
                <a16:creationId xmlns:a16="http://schemas.microsoft.com/office/drawing/2014/main" id="{D9EB66B6-C6D5-4361-8263-C80C91854F27}"/>
              </a:ext>
            </a:extLst>
          </p:cNvPr>
          <p:cNvSpPr>
            <a:spLocks xmlns:a="http://schemas.openxmlformats.org/drawingml/2006/main" noGrp="1"/>
          </p:cNvSpPr>
          <p:nvPr/>
        </p:nvSpPr>
        <p:spPr>
          <a:xfrm xmlns:a="http://schemas.openxmlformats.org/drawingml/2006/main" rot="0">
            <a:off x="15783154" y="5962803"/>
            <a:ext cx="1332018"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LIMS / ELN</a:t>
            </a:r>
          </a:p>
        </p:txBody>
      </p:sp>
      <p:sp>
        <p:nvSpPr>
          <p:cNvPr id="133" name="Figure 15 label 82 line 2">
            <a:extLst xmlns:a="http://schemas.openxmlformats.org/drawingml/2006/main">
              <a:ext uri="{FF2B5EF4-FFF2-40B4-BE49-F238E27FC236}">
                <a16:creationId xmlns:a16="http://schemas.microsoft.com/office/drawing/2014/main" id="{EA53EF5C-5B20-4E8F-9898-E21447B87667}"/>
              </a:ext>
            </a:extLst>
          </p:cNvPr>
          <p:cNvSpPr>
            <a:spLocks xmlns:a="http://schemas.openxmlformats.org/drawingml/2006/main" noGrp="1"/>
          </p:cNvSpPr>
          <p:nvPr/>
        </p:nvSpPr>
        <p:spPr>
          <a:xfrm xmlns:a="http://schemas.openxmlformats.org/drawingml/2006/main" rot="0">
            <a:off x="15783154" y="6134253"/>
            <a:ext cx="1332018"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Linked data platform</a:t>
            </a:r>
          </a:p>
        </p:txBody>
      </p:sp>
      <p:sp>
        <p:nvSpPr>
          <p:cNvPr id="134" name="Figure 15 label 82 line 3">
            <a:extLst xmlns:a="http://schemas.openxmlformats.org/drawingml/2006/main">
              <a:ext uri="{FF2B5EF4-FFF2-40B4-BE49-F238E27FC236}">
                <a16:creationId xmlns:a16="http://schemas.microsoft.com/office/drawing/2014/main" id="{C1FCA28C-8AFD-4D66-9D2A-9D42130C5227}"/>
              </a:ext>
            </a:extLst>
          </p:cNvPr>
          <p:cNvSpPr>
            <a:spLocks xmlns:a="http://schemas.openxmlformats.org/drawingml/2006/main" noGrp="1"/>
          </p:cNvSpPr>
          <p:nvPr/>
        </p:nvSpPr>
        <p:spPr>
          <a:xfrm xmlns:a="http://schemas.openxmlformats.org/drawingml/2006/main" rot="0">
            <a:off x="15783154" y="6305703"/>
            <a:ext cx="1332018"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Lab orchestration</a:t>
            </a:r>
          </a:p>
        </p:txBody>
      </p:sp>
      <p:sp>
        <p:nvSpPr>
          <p:cNvPr id="135" name="Figure 15 label 83 line 1">
            <a:extLst xmlns:a="http://schemas.openxmlformats.org/drawingml/2006/main">
              <a:ext uri="{FF2B5EF4-FFF2-40B4-BE49-F238E27FC236}">
                <a16:creationId xmlns:a16="http://schemas.microsoft.com/office/drawing/2014/main" id="{AEB1AA2C-EF51-4374-8133-785E8CD4E149}"/>
              </a:ext>
            </a:extLst>
          </p:cNvPr>
          <p:cNvSpPr>
            <a:spLocks xmlns:a="http://schemas.openxmlformats.org/drawingml/2006/main" noGrp="1"/>
          </p:cNvSpPr>
          <p:nvPr/>
        </p:nvSpPr>
        <p:spPr>
          <a:xfrm xmlns:a="http://schemas.openxmlformats.org/drawingml/2006/main" rot="0">
            <a:off x="15783611" y="6507937"/>
            <a:ext cx="1066669" cy="157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90" b="1">
                <a:solidFill>
                  <a:srgbClr val="00355F"/>
                </a:solidFill>
                <a:latin typeface="Arial"/>
                <a:ea typeface="Arial"/>
                <a:cs typeface="Arial"/>
              </a:defRPr>
            </a:defPPr>
          </a:lstStyle>
          <a:p xmlns:a="http://schemas.openxmlformats.org/drawingml/2006/main">
            <a:pPr algn="l">
              <a:lnSpc>
                <a:spcPct val="100000"/>
              </a:lnSpc>
              <a:buNone/>
              <a:defRPr sz="990" b="1">
                <a:solidFill>
                  <a:srgbClr val="00355F"/>
                </a:solidFill>
                <a:latin typeface="Arial"/>
                <a:ea typeface="Arial"/>
                <a:cs typeface="Arial"/>
              </a:defRPr>
            </a:pPr>
            <a:r>
              <a:rPr sz="990" b="1">
                <a:solidFill>
                  <a:srgbClr val="00355F"/>
                </a:solidFill>
                <a:latin typeface="Arial"/>
                <a:ea typeface="Arial"/>
                <a:cs typeface="Arial"/>
              </a:rPr>
              <a:t>CONSUMABLES</a:t>
            </a:r>
          </a:p>
        </p:txBody>
      </p:sp>
      <p:sp>
        <p:nvSpPr>
          <p:cNvPr id="136" name="Figure 15 label 84 line 1">
            <a:extLst xmlns:a="http://schemas.openxmlformats.org/drawingml/2006/main">
              <a:ext uri="{FF2B5EF4-FFF2-40B4-BE49-F238E27FC236}">
                <a16:creationId xmlns:a16="http://schemas.microsoft.com/office/drawing/2014/main" id="{A3680773-36F4-456D-ADCC-14BBC716B5F9}"/>
              </a:ext>
            </a:extLst>
          </p:cNvPr>
          <p:cNvSpPr>
            <a:spLocks xmlns:a="http://schemas.openxmlformats.org/drawingml/2006/main" noGrp="1"/>
          </p:cNvSpPr>
          <p:nvPr/>
        </p:nvSpPr>
        <p:spPr>
          <a:xfrm xmlns:a="http://schemas.openxmlformats.org/drawingml/2006/main" rot="0">
            <a:off x="15783154" y="6724803"/>
            <a:ext cx="1293769"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No direct</a:t>
            </a:r>
          </a:p>
        </p:txBody>
      </p:sp>
      <p:sp>
        <p:nvSpPr>
          <p:cNvPr id="137" name="Figure 15 label 84 line 2">
            <a:extLst xmlns:a="http://schemas.openxmlformats.org/drawingml/2006/main">
              <a:ext uri="{FF2B5EF4-FFF2-40B4-BE49-F238E27FC236}">
                <a16:creationId xmlns:a16="http://schemas.microsoft.com/office/drawing/2014/main" id="{069FF0A1-C55D-435F-A1EE-9A400769684E}"/>
              </a:ext>
            </a:extLst>
          </p:cNvPr>
          <p:cNvSpPr>
            <a:spLocks xmlns:a="http://schemas.openxmlformats.org/drawingml/2006/main" noGrp="1"/>
          </p:cNvSpPr>
          <p:nvPr/>
        </p:nvSpPr>
        <p:spPr>
          <a:xfrm xmlns:a="http://schemas.openxmlformats.org/drawingml/2006/main" rot="0">
            <a:off x="15783154" y="6896253"/>
            <a:ext cx="1293769"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80" b="0">
                <a:solidFill>
                  <a:srgbClr val="00355F"/>
                </a:solidFill>
                <a:latin typeface="Arial"/>
                <a:ea typeface="Arial"/>
                <a:cs typeface="Arial"/>
              </a:defRPr>
            </a:defPPr>
          </a:lstStyle>
          <a:p xmlns:a="http://schemas.openxmlformats.org/drawingml/2006/main">
            <a:pPr algn="l">
              <a:lnSpc>
                <a:spcPct val="100000"/>
              </a:lnSpc>
              <a:buNone/>
              <a:defRPr sz="1080" b="0">
                <a:solidFill>
                  <a:srgbClr val="00355F"/>
                </a:solidFill>
                <a:latin typeface="Arial"/>
                <a:ea typeface="Arial"/>
                <a:cs typeface="Arial"/>
              </a:defRPr>
            </a:pPr>
            <a:r>
              <a:rPr sz="1080" b="0">
                <a:solidFill>
                  <a:srgbClr val="00355F"/>
                </a:solidFill>
                <a:latin typeface="Arial"/>
                <a:ea typeface="Arial"/>
                <a:cs typeface="Arial"/>
              </a:rPr>
              <a:t>assay consumables</a:t>
            </a:r>
          </a:p>
        </p:txBody>
      </p:sp>
      <p:sp>
        <p:nvSpPr>
          <p:cNvPr id="138" name="Figure 15 label 85 line 1">
            <a:extLst xmlns:a="http://schemas.openxmlformats.org/drawingml/2006/main">
              <a:ext uri="{FF2B5EF4-FFF2-40B4-BE49-F238E27FC236}">
                <a16:creationId xmlns:a16="http://schemas.microsoft.com/office/drawing/2014/main" id="{6774EE87-FD8D-4186-9C7E-6FE49331C03B}"/>
              </a:ext>
            </a:extLst>
          </p:cNvPr>
          <p:cNvSpPr>
            <a:spLocks xmlns:a="http://schemas.openxmlformats.org/drawingml/2006/main" noGrp="1"/>
          </p:cNvSpPr>
          <p:nvPr/>
        </p:nvSpPr>
        <p:spPr>
          <a:xfrm xmlns:a="http://schemas.openxmlformats.org/drawingml/2006/main" rot="0">
            <a:off x="15784373" y="7459675"/>
            <a:ext cx="1654064"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1">
                <a:solidFill>
                  <a:srgbClr val="00355F"/>
                </a:solidFill>
                <a:latin typeface="Arial"/>
                <a:ea typeface="Arial"/>
                <a:cs typeface="Arial"/>
              </a:defRPr>
            </a:defPPr>
          </a:lstStyle>
          <a:p xmlns:a="http://schemas.openxmlformats.org/drawingml/2006/main">
            <a:pPr algn="l">
              <a:lnSpc>
                <a:spcPct val="100000"/>
              </a:lnSpc>
              <a:buNone/>
              <a:defRPr sz="840" b="1">
                <a:solidFill>
                  <a:srgbClr val="00355F"/>
                </a:solidFill>
                <a:latin typeface="Arial"/>
                <a:ea typeface="Arial"/>
                <a:cs typeface="Arial"/>
              </a:defRPr>
            </a:pPr>
            <a:r>
              <a:rPr sz="840" b="1">
                <a:solidFill>
                  <a:srgbClr val="00355F"/>
                </a:solidFill>
                <a:latin typeface="Arial"/>
                <a:ea typeface="Arial"/>
                <a:cs typeface="Arial"/>
              </a:rPr>
              <a:t>REPRESENTATIVE SUPPLIERS</a:t>
            </a:r>
          </a:p>
        </p:txBody>
      </p:sp>
      <p:sp>
        <p:nvSpPr>
          <p:cNvPr id="139" name="Figure 15 label 86 line 1">
            <a:extLst xmlns:a="http://schemas.openxmlformats.org/drawingml/2006/main">
              <a:ext uri="{FF2B5EF4-FFF2-40B4-BE49-F238E27FC236}">
                <a16:creationId xmlns:a16="http://schemas.microsoft.com/office/drawing/2014/main" id="{CB7E550D-BC1D-4AA7-AD44-C7E372BEA95A}"/>
              </a:ext>
            </a:extLst>
          </p:cNvPr>
          <p:cNvSpPr>
            <a:spLocks xmlns:a="http://schemas.openxmlformats.org/drawingml/2006/main" noGrp="1"/>
          </p:cNvSpPr>
          <p:nvPr/>
        </p:nvSpPr>
        <p:spPr>
          <a:xfrm xmlns:a="http://schemas.openxmlformats.org/drawingml/2006/main" rot="0">
            <a:off x="15783458" y="8122006"/>
            <a:ext cx="1337334"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Hamilton</a:t>
            </a:r>
          </a:p>
        </p:txBody>
      </p:sp>
      <p:sp>
        <p:nvSpPr>
          <p:cNvPr id="140" name="Figure 15 label 86 line 2">
            <a:extLst xmlns:a="http://schemas.openxmlformats.org/drawingml/2006/main">
              <a:ext uri="{FF2B5EF4-FFF2-40B4-BE49-F238E27FC236}">
                <a16:creationId xmlns:a16="http://schemas.microsoft.com/office/drawing/2014/main" id="{5BD1E85F-187A-4DD2-BDBC-D78284CCBB9F}"/>
              </a:ext>
            </a:extLst>
          </p:cNvPr>
          <p:cNvSpPr>
            <a:spLocks xmlns:a="http://schemas.openxmlformats.org/drawingml/2006/main" noGrp="1"/>
          </p:cNvSpPr>
          <p:nvPr/>
        </p:nvSpPr>
        <p:spPr>
          <a:xfrm xmlns:a="http://schemas.openxmlformats.org/drawingml/2006/main" rot="0">
            <a:off x="15783458" y="8283931"/>
            <a:ext cx="1337334"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020" b="0">
                <a:solidFill>
                  <a:srgbClr val="00355F"/>
                </a:solidFill>
                <a:latin typeface="Arial"/>
                <a:ea typeface="Arial"/>
                <a:cs typeface="Arial"/>
              </a:defRPr>
            </a:defPPr>
          </a:lstStyle>
          <a:p xmlns:a="http://schemas.openxmlformats.org/drawingml/2006/main">
            <a:pPr algn="l">
              <a:lnSpc>
                <a:spcPct val="100000"/>
              </a:lnSpc>
              <a:buNone/>
              <a:defRPr sz="1020" b="0">
                <a:solidFill>
                  <a:srgbClr val="00355F"/>
                </a:solidFill>
                <a:latin typeface="Arial"/>
                <a:ea typeface="Arial"/>
                <a:cs typeface="Arial"/>
              </a:defRPr>
            </a:pPr>
            <a:r>
              <a:rPr sz="1020" b="0">
                <a:solidFill>
                  <a:srgbClr val="00355F"/>
                </a:solidFill>
                <a:latin typeface="Arial"/>
                <a:ea typeface="Arial"/>
                <a:cs typeface="Arial"/>
              </a:rPr>
              <a:t>Benchling · Genedata</a:t>
            </a:r>
          </a:p>
        </p:txBody>
      </p:sp>
      <p:sp>
        <p:nvSpPr>
          <p:cNvPr id="141" name="Figure 15 label 87 line 1">
            <a:extLst xmlns:a="http://schemas.openxmlformats.org/drawingml/2006/main">
              <a:ext uri="{FF2B5EF4-FFF2-40B4-BE49-F238E27FC236}">
                <a16:creationId xmlns:a16="http://schemas.microsoft.com/office/drawing/2014/main" id="{0EE58EB7-52FE-417C-BF4C-5C70F2B9A0EF}"/>
              </a:ext>
            </a:extLst>
          </p:cNvPr>
          <p:cNvSpPr>
            <a:spLocks xmlns:a="http://schemas.openxmlformats.org/drawingml/2006/main" noGrp="1"/>
          </p:cNvSpPr>
          <p:nvPr/>
        </p:nvSpPr>
        <p:spPr>
          <a:xfrm xmlns:a="http://schemas.openxmlformats.org/drawingml/2006/main" rot="0">
            <a:off x="7171019" y="8786470"/>
            <a:ext cx="4311723"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0">
                <a:solidFill>
                  <a:srgbClr val="00355F"/>
                </a:solidFill>
                <a:latin typeface="Arial"/>
                <a:ea typeface="Arial"/>
                <a:cs typeface="Arial"/>
              </a:defRPr>
            </a:defPPr>
          </a:lstStyle>
          <a:p xmlns:a="http://schemas.openxmlformats.org/drawingml/2006/main">
            <a:pPr algn="ctr">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Sequence + assay context + results → next design cycle</a:t>
            </a:r>
          </a:p>
        </p:txBody>
      </p:sp>
      <p:sp>
        <p:nvSpPr>
          <p:cNvPr id="142" name="Figure 15 label 88 line 1">
            <a:extLst xmlns:a="http://schemas.openxmlformats.org/drawingml/2006/main">
              <a:ext uri="{FF2B5EF4-FFF2-40B4-BE49-F238E27FC236}">
                <a16:creationId xmlns:a16="http://schemas.microsoft.com/office/drawing/2014/main" id="{437CCDCE-C616-423C-9E3D-E546E0D0F37A}"/>
              </a:ext>
            </a:extLst>
          </p:cNvPr>
          <p:cNvSpPr>
            <a:spLocks xmlns:a="http://schemas.openxmlformats.org/drawingml/2006/main" noGrp="1"/>
          </p:cNvSpPr>
          <p:nvPr/>
        </p:nvSpPr>
        <p:spPr>
          <a:xfrm xmlns:a="http://schemas.openxmlformats.org/drawingml/2006/main" rot="0">
            <a:off x="1362456" y="9122664"/>
            <a:ext cx="546487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00" b="1">
                <a:solidFill>
                  <a:srgbClr val="FFFFFF"/>
                </a:solidFill>
                <a:latin typeface="Arial"/>
                <a:ea typeface="Arial"/>
                <a:cs typeface="Arial"/>
              </a:defRPr>
            </a:defPPr>
          </a:lstStyle>
          <a:p xmlns:a="http://schemas.openxmlformats.org/drawingml/2006/main">
            <a:pPr algn="l">
              <a:lnSpc>
                <a:spcPct val="100000"/>
              </a:lnSpc>
              <a:buNone/>
              <a:defRPr sz="1800" b="1">
                <a:solidFill>
                  <a:srgbClr val="FFFFFF"/>
                </a:solidFill>
                <a:latin typeface="Arial"/>
                <a:ea typeface="Arial"/>
                <a:cs typeface="Arial"/>
              </a:defRPr>
            </a:pPr>
            <a:r>
              <a:rPr sz="1800" b="1">
                <a:solidFill>
                  <a:srgbClr val="FFFFFF"/>
                </a:solidFill>
                <a:latin typeface="Arial"/>
                <a:ea typeface="Arial"/>
                <a:cs typeface="Arial"/>
              </a:rPr>
              <a:t>Automation + data orchestration span every step</a:t>
            </a:r>
          </a:p>
        </p:txBody>
      </p:sp>
      <p:sp>
        <p:nvSpPr>
          <p:cNvPr id="143" name="Figure 15 label 89 line 1">
            <a:extLst xmlns:a="http://schemas.openxmlformats.org/drawingml/2006/main">
              <a:ext uri="{FF2B5EF4-FFF2-40B4-BE49-F238E27FC236}">
                <a16:creationId xmlns:a16="http://schemas.microsoft.com/office/drawing/2014/main" id="{D3701AE8-802E-4D70-A81B-FF00EA8F1AAF}"/>
              </a:ext>
            </a:extLst>
          </p:cNvPr>
          <p:cNvSpPr>
            <a:spLocks xmlns:a="http://schemas.openxmlformats.org/drawingml/2006/main" noGrp="1"/>
          </p:cNvSpPr>
          <p:nvPr/>
        </p:nvSpPr>
        <p:spPr>
          <a:xfrm xmlns:a="http://schemas.openxmlformats.org/drawingml/2006/main" rot="0">
            <a:off x="754990" y="9606686"/>
            <a:ext cx="881143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Wet lab = build + test. AI may test fewer molecules while increasing characterization depth per molecule.</a:t>
            </a:r>
          </a:p>
        </p:txBody>
      </p:sp>
      <p:sp>
        <p:nvSpPr>
          <p:cNvPr id="144" name="Figure 15 label 90 line 1">
            <a:extLst xmlns:a="http://schemas.openxmlformats.org/drawingml/2006/main">
              <a:ext uri="{FF2B5EF4-FFF2-40B4-BE49-F238E27FC236}">
                <a16:creationId xmlns:a16="http://schemas.microsoft.com/office/drawing/2014/main" id="{9AB5A166-CD58-41D8-B6CD-C4654BBF9827}"/>
              </a:ext>
            </a:extLst>
          </p:cNvPr>
          <p:cNvSpPr>
            <a:spLocks xmlns:a="http://schemas.openxmlformats.org/drawingml/2006/main" noGrp="1"/>
          </p:cNvSpPr>
          <p:nvPr/>
        </p:nvSpPr>
        <p:spPr>
          <a:xfrm xmlns:a="http://schemas.openxmlformats.org/drawingml/2006/main" rot="0">
            <a:off x="755904" y="9873996"/>
            <a:ext cx="781401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LST demand depends on molecule count × assay depth × net inputs per assay; instrument investment is separate.</a:t>
            </a:r>
          </a:p>
        </p:txBody>
      </p:sp>
      <p:sp>
        <p:nvSpPr>
          <p:cNvPr id="145" name="Figure 15 label 91 line 1">
            <a:extLst xmlns:a="http://schemas.openxmlformats.org/drawingml/2006/main">
              <a:ext uri="{FF2B5EF4-FFF2-40B4-BE49-F238E27FC236}">
                <a16:creationId xmlns:a16="http://schemas.microsoft.com/office/drawing/2014/main" id="{DB5B5E39-7E92-4927-B1EC-1BC474CD80D6}"/>
              </a:ext>
            </a:extLst>
          </p:cNvPr>
          <p:cNvSpPr>
            <a:spLocks xmlns:a="http://schemas.openxmlformats.org/drawingml/2006/main" noGrp="1"/>
          </p:cNvSpPr>
          <p:nvPr/>
        </p:nvSpPr>
        <p:spPr>
          <a:xfrm xmlns:a="http://schemas.openxmlformats.org/drawingml/2006/main" rot="0">
            <a:off x="757733" y="10073336"/>
            <a:ext cx="7593497"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840" b="0">
                <a:solidFill>
                  <a:srgbClr val="00355F"/>
                </a:solidFill>
                <a:latin typeface="Arial"/>
                <a:ea typeface="Arial"/>
                <a:cs typeface="Arial"/>
              </a:defRPr>
            </a:defPPr>
          </a:lstStyle>
          <a:p xmlns:a="http://schemas.openxmlformats.org/drawingml/2006/main">
            <a:pPr algn="l">
              <a:lnSpc>
                <a:spcPct val="100000"/>
              </a:lnSpc>
              <a:buNone/>
              <a:defRPr sz="840" b="0">
                <a:solidFill>
                  <a:srgbClr val="00355F"/>
                </a:solidFill>
                <a:latin typeface="Arial"/>
                <a:ea typeface="Arial"/>
                <a:cs typeface="Arial"/>
              </a:defRPr>
            </a:pPr>
            <a:r>
              <a:rPr sz="840" b="0">
                <a:solidFill>
                  <a:srgbClr val="00355F"/>
                </a:solidFill>
                <a:latin typeface="Arial"/>
                <a:ea typeface="Arial"/>
                <a:cs typeface="Arial"/>
              </a:rPr>
              <a:t>Illustrative workflow; assays may run in parallel. * Scale-dependent. † Expression comes from stage 2. Supplier examples and primary sources: SOURCES.md.</a:t>
            </a:r>
          </a:p>
        </p:txBody>
      </p:sp>
    </p:spTree>
    <p:extLst>
      <p:ext uri="{BB962C8B-B14F-4D97-AF65-F5344CB8AC3E}">
        <p14:creationId xmlns:p14="http://schemas.microsoft.com/office/powerpoint/2010/main" val="192710553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9" name="">
            <a:extLst xmlns:a="http://schemas.openxmlformats.org/drawingml/2006/main">
              <a:ext uri="{FF2B5EF4-FFF2-40B4-BE49-F238E27FC236}">
                <a16:creationId xmlns:a16="http://schemas.microsoft.com/office/drawing/2014/main" id="{2D6E5CD8-F5C7-4C01-869C-2C772C98CF3D}"/>
              </a:ext>
            </a:extLst>
          </p:cNvPr>
          <p:cNvPicPr>
            <a:picLocks xmlns:a="http://schemas.openxmlformats.org/drawingml/2006/main" noChangeAspect="1"/>
          </p:cNvPicPr>
          <p:nvPr/>
        </p:nvPicPr>
        <p:blipFill>
          <a:blip xmlns:r="http://schemas.openxmlformats.org/officeDocument/2006/relationships" xmlns:a="http://schemas.openxmlformats.org/drawingml/2006/main" r:embed="R9be7e356ce32466e"/>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sp>
        <p:nvSpPr>
          <p:cNvPr id="2" name="Figure 16 label 1 line 1">
            <a:extLst xmlns:a="http://schemas.openxmlformats.org/drawingml/2006/main">
              <a:ext uri="{FF2B5EF4-FFF2-40B4-BE49-F238E27FC236}">
                <a16:creationId xmlns:a16="http://schemas.microsoft.com/office/drawing/2014/main" id="{03AA0101-681F-4311-A608-7B82633AE390}"/>
              </a:ext>
            </a:extLst>
          </p:cNvPr>
          <p:cNvSpPr>
            <a:spLocks xmlns:a="http://schemas.openxmlformats.org/drawingml/2006/main" noGrp="1"/>
          </p:cNvSpPr>
          <p:nvPr/>
        </p:nvSpPr>
        <p:spPr>
          <a:xfrm xmlns:a="http://schemas.openxmlformats.org/drawingml/2006/main" rot="0">
            <a:off x="1057351" y="288341"/>
            <a:ext cx="8251579"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3360" b="1">
                <a:solidFill>
                  <a:srgbClr val="00355F"/>
                </a:solidFill>
                <a:latin typeface="Arial"/>
                <a:ea typeface="Arial"/>
                <a:cs typeface="Arial"/>
              </a:defRPr>
            </a:defPPr>
          </a:lstStyle>
          <a:p xmlns:a="http://schemas.openxmlformats.org/drawingml/2006/main">
            <a:pPr algn="l">
              <a:lnSpc>
                <a:spcPct val="100000"/>
              </a:lnSpc>
              <a:buNone/>
              <a:defRPr sz="3360" b="1">
                <a:solidFill>
                  <a:srgbClr val="00355F"/>
                </a:solidFill>
                <a:latin typeface="Arial"/>
                <a:ea typeface="Arial"/>
                <a:cs typeface="Arial"/>
              </a:defRPr>
            </a:pPr>
            <a:r>
              <a:rPr sz="3360" b="1">
                <a:solidFill>
                  <a:srgbClr val="00355F"/>
                </a:solidFill>
                <a:latin typeface="Arial"/>
                <a:ea typeface="Arial"/>
                <a:cs typeface="Arial"/>
              </a:rPr>
              <a:t>RSI: AI design and biological validation</a:t>
            </a:r>
          </a:p>
        </p:txBody>
      </p:sp>
      <p:sp>
        <p:nvSpPr>
          <p:cNvPr id="3" name="Figure 16 label 2 line 1">
            <a:extLst xmlns:a="http://schemas.openxmlformats.org/drawingml/2006/main">
              <a:ext uri="{FF2B5EF4-FFF2-40B4-BE49-F238E27FC236}">
                <a16:creationId xmlns:a16="http://schemas.microsoft.com/office/drawing/2014/main" id="{FF675803-66E2-421A-A03C-B1CFE60D96F5}"/>
              </a:ext>
            </a:extLst>
          </p:cNvPr>
          <p:cNvSpPr>
            <a:spLocks xmlns:a="http://schemas.openxmlformats.org/drawingml/2006/main" noGrp="1"/>
          </p:cNvSpPr>
          <p:nvPr/>
        </p:nvSpPr>
        <p:spPr>
          <a:xfrm xmlns:a="http://schemas.openxmlformats.org/drawingml/2006/main" rot="0">
            <a:off x="1065581" y="964387"/>
            <a:ext cx="9209353"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0">
                <a:solidFill>
                  <a:srgbClr val="00355F"/>
                </a:solidFill>
                <a:latin typeface="Arial"/>
                <a:ea typeface="Arial"/>
                <a:cs typeface="Arial"/>
              </a:defRPr>
            </a:defPPr>
          </a:lstStyle>
          <a:p xmlns:a="http://schemas.openxmlformats.org/drawingml/2006/main">
            <a:pPr algn="l">
              <a:lnSpc>
                <a:spcPct val="100000"/>
              </a:lnSpc>
              <a:buNone/>
              <a:defRPr sz="1740" b="0">
                <a:solidFill>
                  <a:srgbClr val="00355F"/>
                </a:solidFill>
                <a:latin typeface="Arial"/>
                <a:ea typeface="Arial"/>
                <a:cs typeface="Arial"/>
              </a:defRPr>
            </a:pPr>
            <a:r>
              <a:rPr sz="1740" b="0">
                <a:solidFill>
                  <a:srgbClr val="00355F"/>
                </a:solidFill>
                <a:latin typeface="Arial"/>
                <a:ea typeface="Arial"/>
                <a:cs typeface="Arial"/>
              </a:rPr>
              <a:t>How experimental feedback could improve both biological designs and the AI design process</a:t>
            </a:r>
          </a:p>
        </p:txBody>
      </p:sp>
      <p:sp>
        <p:nvSpPr>
          <p:cNvPr id="4" name="Figure 16 label 3 line 1">
            <a:extLst xmlns:a="http://schemas.openxmlformats.org/drawingml/2006/main">
              <a:ext uri="{FF2B5EF4-FFF2-40B4-BE49-F238E27FC236}">
                <a16:creationId xmlns:a16="http://schemas.microsoft.com/office/drawing/2014/main" id="{540319F2-CBA3-4731-8BE0-1C676625D268}"/>
              </a:ext>
            </a:extLst>
          </p:cNvPr>
          <p:cNvSpPr>
            <a:spLocks xmlns:a="http://schemas.openxmlformats.org/drawingml/2006/main" noGrp="1"/>
          </p:cNvSpPr>
          <p:nvPr/>
        </p:nvSpPr>
        <p:spPr>
          <a:xfrm xmlns:a="http://schemas.openxmlformats.org/drawingml/2006/main" rot="0">
            <a:off x="1068324" y="1362456"/>
            <a:ext cx="4778514"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1">
                <a:solidFill>
                  <a:srgbClr val="00355F"/>
                </a:solidFill>
                <a:latin typeface="Arial"/>
                <a:ea typeface="Arial"/>
                <a:cs typeface="Arial"/>
              </a:defRPr>
            </a:defPPr>
          </a:lstStyle>
          <a:p xmlns:a="http://schemas.openxmlformats.org/drawingml/2006/main">
            <a:pPr algn="l">
              <a:lnSpc>
                <a:spcPct val="100000"/>
              </a:lnSpc>
              <a:buNone/>
              <a:defRPr sz="1200" b="1">
                <a:solidFill>
                  <a:srgbClr val="00355F"/>
                </a:solidFill>
                <a:latin typeface="Arial"/>
                <a:ea typeface="Arial"/>
                <a:cs typeface="Arial"/>
              </a:defRPr>
            </a:pPr>
            <a:r>
              <a:rPr sz="1200" b="1">
                <a:solidFill>
                  <a:srgbClr val="00355F"/>
                </a:solidFill>
                <a:latin typeface="Arial"/>
                <a:ea typeface="Arial"/>
                <a:cs typeface="Arial"/>
              </a:rPr>
              <a:t>RECURSIVE SELF-IMPROVEMENT  ·  CONCEPTUAL MECHANISM</a:t>
            </a:r>
          </a:p>
        </p:txBody>
      </p:sp>
      <p:sp>
        <p:nvSpPr>
          <p:cNvPr id="5" name="Figure 16 label 4 line 1">
            <a:extLst xmlns:a="http://schemas.openxmlformats.org/drawingml/2006/main">
              <a:ext uri="{FF2B5EF4-FFF2-40B4-BE49-F238E27FC236}">
                <a16:creationId xmlns:a16="http://schemas.microsoft.com/office/drawing/2014/main" id="{04580B1E-3E17-4E46-BDE0-450BD4AAF2F7}"/>
              </a:ext>
            </a:extLst>
          </p:cNvPr>
          <p:cNvSpPr>
            <a:spLocks xmlns:a="http://schemas.openxmlformats.org/drawingml/2006/main" noGrp="1"/>
          </p:cNvSpPr>
          <p:nvPr/>
        </p:nvSpPr>
        <p:spPr>
          <a:xfrm xmlns:a="http://schemas.openxmlformats.org/drawingml/2006/main" rot="0">
            <a:off x="1517294" y="2042770"/>
            <a:ext cx="180397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1">
                <a:solidFill>
                  <a:srgbClr val="00355F"/>
                </a:solidFill>
                <a:latin typeface="Arial"/>
                <a:ea typeface="Arial"/>
                <a:cs typeface="Arial"/>
              </a:defRPr>
            </a:defPPr>
          </a:lstStyle>
          <a:p xmlns:a="http://schemas.openxmlformats.org/drawingml/2006/main">
            <a:pPr algn="l">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DIGITAL CAPABILITY</a:t>
            </a:r>
          </a:p>
        </p:txBody>
      </p:sp>
      <p:sp>
        <p:nvSpPr>
          <p:cNvPr id="6" name="Figure 16 label 5 line 1">
            <a:extLst xmlns:a="http://schemas.openxmlformats.org/drawingml/2006/main">
              <a:ext uri="{FF2B5EF4-FFF2-40B4-BE49-F238E27FC236}">
                <a16:creationId xmlns:a16="http://schemas.microsoft.com/office/drawing/2014/main" id="{6E6CD17E-2F5F-418B-883F-62B0B4985768}"/>
              </a:ext>
            </a:extLst>
          </p:cNvPr>
          <p:cNvSpPr>
            <a:spLocks xmlns:a="http://schemas.openxmlformats.org/drawingml/2006/main" noGrp="1"/>
          </p:cNvSpPr>
          <p:nvPr/>
        </p:nvSpPr>
        <p:spPr>
          <a:xfrm xmlns:a="http://schemas.openxmlformats.org/drawingml/2006/main" rot="0">
            <a:off x="7270394" y="2042770"/>
            <a:ext cx="2353741"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1">
                <a:solidFill>
                  <a:srgbClr val="00355F"/>
                </a:solidFill>
                <a:latin typeface="Arial"/>
                <a:ea typeface="Arial"/>
                <a:cs typeface="Arial"/>
              </a:defRPr>
            </a:defPPr>
          </a:lstStyle>
          <a:p xmlns:a="http://schemas.openxmlformats.org/drawingml/2006/main">
            <a:pPr algn="l">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EXPERIMENTAL STRATEGY</a:t>
            </a:r>
          </a:p>
        </p:txBody>
      </p:sp>
      <p:sp>
        <p:nvSpPr>
          <p:cNvPr id="7" name="Figure 16 label 6 line 1">
            <a:extLst xmlns:a="http://schemas.openxmlformats.org/drawingml/2006/main">
              <a:ext uri="{FF2B5EF4-FFF2-40B4-BE49-F238E27FC236}">
                <a16:creationId xmlns:a16="http://schemas.microsoft.com/office/drawing/2014/main" id="{AE72D652-CB33-4F85-B96F-AD4CFE4ED368}"/>
              </a:ext>
            </a:extLst>
          </p:cNvPr>
          <p:cNvSpPr>
            <a:spLocks xmlns:a="http://schemas.openxmlformats.org/drawingml/2006/main" noGrp="1"/>
          </p:cNvSpPr>
          <p:nvPr/>
        </p:nvSpPr>
        <p:spPr>
          <a:xfrm xmlns:a="http://schemas.openxmlformats.org/drawingml/2006/main" rot="0">
            <a:off x="13023494" y="2042770"/>
            <a:ext cx="204328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20" b="1">
                <a:solidFill>
                  <a:srgbClr val="00355F"/>
                </a:solidFill>
                <a:latin typeface="Arial"/>
                <a:ea typeface="Arial"/>
                <a:cs typeface="Arial"/>
              </a:defRPr>
            </a:defPPr>
          </a:lstStyle>
          <a:p xmlns:a="http://schemas.openxmlformats.org/drawingml/2006/main">
            <a:pPr algn="l">
              <a:lnSpc>
                <a:spcPct val="100000"/>
              </a:lnSpc>
              <a:buNone/>
              <a:defRPr sz="1320" b="1">
                <a:solidFill>
                  <a:srgbClr val="00355F"/>
                </a:solidFill>
                <a:latin typeface="Arial"/>
                <a:ea typeface="Arial"/>
                <a:cs typeface="Arial"/>
              </a:defRPr>
            </a:pPr>
            <a:r>
              <a:rPr sz="1320" b="1">
                <a:solidFill>
                  <a:srgbClr val="00355F"/>
                </a:solidFill>
                <a:latin typeface="Arial"/>
                <a:ea typeface="Arial"/>
                <a:cs typeface="Arial"/>
              </a:rPr>
              <a:t>PHYSICAL GROUNDING</a:t>
            </a:r>
          </a:p>
        </p:txBody>
      </p:sp>
      <p:sp>
        <p:nvSpPr>
          <p:cNvPr id="8" name="Figure 16 label 7 line 1">
            <a:extLst xmlns:a="http://schemas.openxmlformats.org/drawingml/2006/main">
              <a:ext uri="{FF2B5EF4-FFF2-40B4-BE49-F238E27FC236}">
                <a16:creationId xmlns:a16="http://schemas.microsoft.com/office/drawing/2014/main" id="{5732EEC4-B6CC-42CD-966A-897CBCC94577}"/>
              </a:ext>
            </a:extLst>
          </p:cNvPr>
          <p:cNvSpPr>
            <a:spLocks xmlns:a="http://schemas.openxmlformats.org/drawingml/2006/main" noGrp="1"/>
          </p:cNvSpPr>
          <p:nvPr/>
        </p:nvSpPr>
        <p:spPr>
          <a:xfrm xmlns:a="http://schemas.openxmlformats.org/drawingml/2006/main" rot="0">
            <a:off x="1731721" y="2540051"/>
            <a:ext cx="875062"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01  /  MODEL</a:t>
            </a:r>
          </a:p>
        </p:txBody>
      </p:sp>
      <p:sp>
        <p:nvSpPr>
          <p:cNvPr id="9" name="Figure 16 label 8 line 1">
            <a:extLst xmlns:a="http://schemas.openxmlformats.org/drawingml/2006/main">
              <a:ext uri="{FF2B5EF4-FFF2-40B4-BE49-F238E27FC236}">
                <a16:creationId xmlns:a16="http://schemas.microsoft.com/office/drawing/2014/main" id="{E52B0FCE-3138-41BD-82D4-32E03A75D7FD}"/>
              </a:ext>
            </a:extLst>
          </p:cNvPr>
          <p:cNvSpPr>
            <a:spLocks xmlns:a="http://schemas.openxmlformats.org/drawingml/2006/main" noGrp="1"/>
          </p:cNvSpPr>
          <p:nvPr/>
        </p:nvSpPr>
        <p:spPr>
          <a:xfrm xmlns:a="http://schemas.openxmlformats.org/drawingml/2006/main" rot="0">
            <a:off x="1727911" y="2886761"/>
            <a:ext cx="245040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AI scientist · Model t</a:t>
            </a:r>
          </a:p>
        </p:txBody>
      </p:sp>
      <p:sp>
        <p:nvSpPr>
          <p:cNvPr id="10" name="Figure 16 label 9 line 1">
            <a:extLst xmlns:a="http://schemas.openxmlformats.org/drawingml/2006/main">
              <a:ext uri="{FF2B5EF4-FFF2-40B4-BE49-F238E27FC236}">
                <a16:creationId xmlns:a16="http://schemas.microsoft.com/office/drawing/2014/main" id="{D69D9FF3-6B88-413A-9CDD-8794B8788E1B}"/>
              </a:ext>
            </a:extLst>
          </p:cNvPr>
          <p:cNvSpPr>
            <a:spLocks xmlns:a="http://schemas.openxmlformats.org/drawingml/2006/main" noGrp="1"/>
          </p:cNvSpPr>
          <p:nvPr/>
        </p:nvSpPr>
        <p:spPr>
          <a:xfrm xmlns:a="http://schemas.openxmlformats.org/drawingml/2006/main" rot="0">
            <a:off x="1730502" y="3321558"/>
            <a:ext cx="26751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Predict properties and uncertainty</a:t>
            </a:r>
          </a:p>
        </p:txBody>
      </p:sp>
      <p:sp>
        <p:nvSpPr>
          <p:cNvPr id="11" name="Figure 16 label 9 line 2">
            <a:extLst xmlns:a="http://schemas.openxmlformats.org/drawingml/2006/main">
              <a:ext uri="{FF2B5EF4-FFF2-40B4-BE49-F238E27FC236}">
                <a16:creationId xmlns:a16="http://schemas.microsoft.com/office/drawing/2014/main" id="{B7629264-936E-44E6-AAA6-7029E9313CC3}"/>
              </a:ext>
            </a:extLst>
          </p:cNvPr>
          <p:cNvSpPr>
            <a:spLocks xmlns:a="http://schemas.openxmlformats.org/drawingml/2006/main" noGrp="1"/>
          </p:cNvSpPr>
          <p:nvPr/>
        </p:nvSpPr>
        <p:spPr>
          <a:xfrm xmlns:a="http://schemas.openxmlformats.org/drawingml/2006/main" rot="0">
            <a:off x="1730502" y="3535871"/>
            <a:ext cx="267515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Use the current model / policy</a:t>
            </a:r>
          </a:p>
        </p:txBody>
      </p:sp>
      <p:sp>
        <p:nvSpPr>
          <p:cNvPr id="12" name="Figure 16 label 10 line 1">
            <a:extLst xmlns:a="http://schemas.openxmlformats.org/drawingml/2006/main">
              <a:ext uri="{FF2B5EF4-FFF2-40B4-BE49-F238E27FC236}">
                <a16:creationId xmlns:a16="http://schemas.microsoft.com/office/drawing/2014/main" id="{6DB6CF1A-BDED-44DE-97A8-58DE919ED9CF}"/>
              </a:ext>
            </a:extLst>
          </p:cNvPr>
          <p:cNvSpPr>
            <a:spLocks xmlns:a="http://schemas.openxmlformats.org/drawingml/2006/main" noGrp="1"/>
          </p:cNvSpPr>
          <p:nvPr/>
        </p:nvSpPr>
        <p:spPr>
          <a:xfrm xmlns:a="http://schemas.openxmlformats.org/drawingml/2006/main" rot="0">
            <a:off x="7484821" y="2540051"/>
            <a:ext cx="906464"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02  /  DESIGN</a:t>
            </a:r>
          </a:p>
        </p:txBody>
      </p:sp>
      <p:sp>
        <p:nvSpPr>
          <p:cNvPr id="13" name="Figure 16 label 11 line 1">
            <a:extLst xmlns:a="http://schemas.openxmlformats.org/drawingml/2006/main">
              <a:ext uri="{FF2B5EF4-FFF2-40B4-BE49-F238E27FC236}">
                <a16:creationId xmlns:a16="http://schemas.microsoft.com/office/drawing/2014/main" id="{24500EE1-3EDC-4AE9-BA6B-EA9A4F04D05E}"/>
              </a:ext>
            </a:extLst>
          </p:cNvPr>
          <p:cNvSpPr>
            <a:spLocks xmlns:a="http://schemas.openxmlformats.org/drawingml/2006/main" noGrp="1"/>
          </p:cNvSpPr>
          <p:nvPr/>
        </p:nvSpPr>
        <p:spPr>
          <a:xfrm xmlns:a="http://schemas.openxmlformats.org/drawingml/2006/main" rot="0">
            <a:off x="7481011" y="2886761"/>
            <a:ext cx="224056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Design &amp; prioritize</a:t>
            </a:r>
          </a:p>
        </p:txBody>
      </p:sp>
      <p:sp>
        <p:nvSpPr>
          <p:cNvPr id="14" name="Figure 16 label 12 line 1">
            <a:extLst xmlns:a="http://schemas.openxmlformats.org/drawingml/2006/main">
              <a:ext uri="{FF2B5EF4-FFF2-40B4-BE49-F238E27FC236}">
                <a16:creationId xmlns:a16="http://schemas.microsoft.com/office/drawing/2014/main" id="{4468DE2D-1FB0-47A5-9490-092B075DB94D}"/>
              </a:ext>
            </a:extLst>
          </p:cNvPr>
          <p:cNvSpPr>
            <a:spLocks xmlns:a="http://schemas.openxmlformats.org/drawingml/2006/main" noGrp="1"/>
          </p:cNvSpPr>
          <p:nvPr/>
        </p:nvSpPr>
        <p:spPr>
          <a:xfrm xmlns:a="http://schemas.openxmlformats.org/drawingml/2006/main" rot="0">
            <a:off x="7483602" y="3321558"/>
            <a:ext cx="249433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Choose candidates and assays</a:t>
            </a:r>
          </a:p>
        </p:txBody>
      </p:sp>
      <p:sp>
        <p:nvSpPr>
          <p:cNvPr id="15" name="Figure 16 label 12 line 2">
            <a:extLst xmlns:a="http://schemas.openxmlformats.org/drawingml/2006/main">
              <a:ext uri="{FF2B5EF4-FFF2-40B4-BE49-F238E27FC236}">
                <a16:creationId xmlns:a16="http://schemas.microsoft.com/office/drawing/2014/main" id="{4BA63698-2ABA-4BFE-A5C7-82A83CFAA364}"/>
              </a:ext>
            </a:extLst>
          </p:cNvPr>
          <p:cNvSpPr>
            <a:spLocks xmlns:a="http://schemas.openxmlformats.org/drawingml/2006/main" noGrp="1"/>
          </p:cNvSpPr>
          <p:nvPr/>
        </p:nvSpPr>
        <p:spPr>
          <a:xfrm xmlns:a="http://schemas.openxmlformats.org/drawingml/2006/main" rot="0">
            <a:off x="7483602" y="3535871"/>
            <a:ext cx="249433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for function and information</a:t>
            </a:r>
          </a:p>
        </p:txBody>
      </p:sp>
      <p:sp>
        <p:nvSpPr>
          <p:cNvPr id="16" name="Figure 16 label 13 line 1">
            <a:extLst xmlns:a="http://schemas.openxmlformats.org/drawingml/2006/main">
              <a:ext uri="{FF2B5EF4-FFF2-40B4-BE49-F238E27FC236}">
                <a16:creationId xmlns:a16="http://schemas.microsoft.com/office/drawing/2014/main" id="{9ED119C8-18B7-43CE-A80F-430D90B2F146}"/>
              </a:ext>
            </a:extLst>
          </p:cNvPr>
          <p:cNvSpPr>
            <a:spLocks xmlns:a="http://schemas.openxmlformats.org/drawingml/2006/main" noGrp="1"/>
          </p:cNvSpPr>
          <p:nvPr/>
        </p:nvSpPr>
        <p:spPr>
          <a:xfrm xmlns:a="http://schemas.openxmlformats.org/drawingml/2006/main" rot="0">
            <a:off x="13237921" y="2540051"/>
            <a:ext cx="796629"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03  /  BUILD</a:t>
            </a:r>
          </a:p>
        </p:txBody>
      </p:sp>
      <p:sp>
        <p:nvSpPr>
          <p:cNvPr id="17" name="Figure 16 label 14 line 1">
            <a:extLst xmlns:a="http://schemas.openxmlformats.org/drawingml/2006/main">
              <a:ext uri="{FF2B5EF4-FFF2-40B4-BE49-F238E27FC236}">
                <a16:creationId xmlns:a16="http://schemas.microsoft.com/office/drawing/2014/main" id="{BACA2345-9BA4-408A-85FA-865A297D515D}"/>
              </a:ext>
            </a:extLst>
          </p:cNvPr>
          <p:cNvSpPr>
            <a:spLocks xmlns:a="http://schemas.openxmlformats.org/drawingml/2006/main" noGrp="1"/>
          </p:cNvSpPr>
          <p:nvPr/>
        </p:nvSpPr>
        <p:spPr>
          <a:xfrm xmlns:a="http://schemas.openxmlformats.org/drawingml/2006/main" rot="0">
            <a:off x="13234111" y="2886761"/>
            <a:ext cx="297606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Build physical molecules</a:t>
            </a:r>
          </a:p>
        </p:txBody>
      </p:sp>
      <p:sp>
        <p:nvSpPr>
          <p:cNvPr id="18" name="Figure 16 label 15 line 1">
            <a:extLst xmlns:a="http://schemas.openxmlformats.org/drawingml/2006/main">
              <a:ext uri="{FF2B5EF4-FFF2-40B4-BE49-F238E27FC236}">
                <a16:creationId xmlns:a16="http://schemas.microsoft.com/office/drawing/2014/main" id="{1BF6EEFE-66DC-4915-ACAC-BA2A1BF4BBB1}"/>
              </a:ext>
            </a:extLst>
          </p:cNvPr>
          <p:cNvSpPr>
            <a:spLocks xmlns:a="http://schemas.openxmlformats.org/drawingml/2006/main" noGrp="1"/>
          </p:cNvSpPr>
          <p:nvPr/>
        </p:nvSpPr>
        <p:spPr>
          <a:xfrm xmlns:a="http://schemas.openxmlformats.org/drawingml/2006/main" rot="0">
            <a:off x="13236702" y="3321558"/>
            <a:ext cx="307520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DNA synthesis, expression, purification</a:t>
            </a:r>
          </a:p>
        </p:txBody>
      </p:sp>
      <p:sp>
        <p:nvSpPr>
          <p:cNvPr id="19" name="Figure 16 label 15 line 2">
            <a:extLst xmlns:a="http://schemas.openxmlformats.org/drawingml/2006/main">
              <a:ext uri="{FF2B5EF4-FFF2-40B4-BE49-F238E27FC236}">
                <a16:creationId xmlns:a16="http://schemas.microsoft.com/office/drawing/2014/main" id="{7EF59387-E7CD-4C32-9689-EA5438F1BB9C}"/>
              </a:ext>
            </a:extLst>
          </p:cNvPr>
          <p:cNvSpPr>
            <a:spLocks xmlns:a="http://schemas.openxmlformats.org/drawingml/2006/main" noGrp="1"/>
          </p:cNvSpPr>
          <p:nvPr/>
        </p:nvSpPr>
        <p:spPr>
          <a:xfrm xmlns:a="http://schemas.openxmlformats.org/drawingml/2006/main" rot="0">
            <a:off x="13236702" y="3535871"/>
            <a:ext cx="307520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Prepare samples for actual assays</a:t>
            </a:r>
          </a:p>
        </p:txBody>
      </p:sp>
      <p:sp>
        <p:nvSpPr>
          <p:cNvPr id="20" name="Figure 16 label 16 line 1">
            <a:extLst xmlns:a="http://schemas.openxmlformats.org/drawingml/2006/main">
              <a:ext uri="{FF2B5EF4-FFF2-40B4-BE49-F238E27FC236}">
                <a16:creationId xmlns:a16="http://schemas.microsoft.com/office/drawing/2014/main" id="{B0DE2894-672A-4660-A8EA-2CB88A7F7D9F}"/>
              </a:ext>
            </a:extLst>
          </p:cNvPr>
          <p:cNvSpPr>
            <a:spLocks xmlns:a="http://schemas.openxmlformats.org/drawingml/2006/main" noGrp="1"/>
          </p:cNvSpPr>
          <p:nvPr/>
        </p:nvSpPr>
        <p:spPr>
          <a:xfrm xmlns:a="http://schemas.openxmlformats.org/drawingml/2006/main" rot="0">
            <a:off x="13237921" y="5588051"/>
            <a:ext cx="726234"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04  /  TEST</a:t>
            </a:r>
          </a:p>
        </p:txBody>
      </p:sp>
      <p:sp>
        <p:nvSpPr>
          <p:cNvPr id="21" name="Figure 16 label 17 line 1">
            <a:extLst xmlns:a="http://schemas.openxmlformats.org/drawingml/2006/main">
              <a:ext uri="{FF2B5EF4-FFF2-40B4-BE49-F238E27FC236}">
                <a16:creationId xmlns:a16="http://schemas.microsoft.com/office/drawing/2014/main" id="{60B7DC17-7D8D-45BD-8394-8877AFD52452}"/>
              </a:ext>
            </a:extLst>
          </p:cNvPr>
          <p:cNvSpPr>
            <a:spLocks xmlns:a="http://schemas.openxmlformats.org/drawingml/2006/main" noGrp="1"/>
          </p:cNvSpPr>
          <p:nvPr/>
        </p:nvSpPr>
        <p:spPr>
          <a:xfrm xmlns:a="http://schemas.openxmlformats.org/drawingml/2006/main" rot="0">
            <a:off x="13234111" y="5934761"/>
            <a:ext cx="2227463"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Validate in biology</a:t>
            </a:r>
          </a:p>
        </p:txBody>
      </p:sp>
      <p:sp>
        <p:nvSpPr>
          <p:cNvPr id="22" name="Figure 16 label 18 line 1">
            <a:extLst xmlns:a="http://schemas.openxmlformats.org/drawingml/2006/main">
              <a:ext uri="{FF2B5EF4-FFF2-40B4-BE49-F238E27FC236}">
                <a16:creationId xmlns:a16="http://schemas.microsoft.com/office/drawing/2014/main" id="{48870E22-554D-42DB-90B4-218C1D33981E}"/>
              </a:ext>
            </a:extLst>
          </p:cNvPr>
          <p:cNvSpPr>
            <a:spLocks xmlns:a="http://schemas.openxmlformats.org/drawingml/2006/main" noGrp="1"/>
          </p:cNvSpPr>
          <p:nvPr/>
        </p:nvSpPr>
        <p:spPr>
          <a:xfrm xmlns:a="http://schemas.openxmlformats.org/drawingml/2006/main" rot="0">
            <a:off x="13236702" y="6369558"/>
            <a:ext cx="272263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Binding, stability and cell function</a:t>
            </a:r>
          </a:p>
        </p:txBody>
      </p:sp>
      <p:sp>
        <p:nvSpPr>
          <p:cNvPr id="23" name="Figure 16 label 18 line 2">
            <a:extLst xmlns:a="http://schemas.openxmlformats.org/drawingml/2006/main">
              <a:ext uri="{FF2B5EF4-FFF2-40B4-BE49-F238E27FC236}">
                <a16:creationId xmlns:a16="http://schemas.microsoft.com/office/drawing/2014/main" id="{19A32E4E-3236-49A3-8C62-FDB170F7BD0C}"/>
              </a:ext>
            </a:extLst>
          </p:cNvPr>
          <p:cNvSpPr>
            <a:spLocks xmlns:a="http://schemas.openxmlformats.org/drawingml/2006/main" noGrp="1"/>
          </p:cNvSpPr>
          <p:nvPr/>
        </p:nvSpPr>
        <p:spPr>
          <a:xfrm xmlns:a="http://schemas.openxmlformats.org/drawingml/2006/main" rot="0">
            <a:off x="13236702" y="6583871"/>
            <a:ext cx="272263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Keep failures as informative labels</a:t>
            </a:r>
          </a:p>
        </p:txBody>
      </p:sp>
      <p:sp>
        <p:nvSpPr>
          <p:cNvPr id="24" name="Figure 16 label 19 line 1">
            <a:extLst xmlns:a="http://schemas.openxmlformats.org/drawingml/2006/main">
              <a:ext uri="{FF2B5EF4-FFF2-40B4-BE49-F238E27FC236}">
                <a16:creationId xmlns:a16="http://schemas.microsoft.com/office/drawing/2014/main" id="{0CC33D53-0D22-44F1-8E6B-91B794B52F6D}"/>
              </a:ext>
            </a:extLst>
          </p:cNvPr>
          <p:cNvSpPr>
            <a:spLocks xmlns:a="http://schemas.openxmlformats.org/drawingml/2006/main" noGrp="1"/>
          </p:cNvSpPr>
          <p:nvPr/>
        </p:nvSpPr>
        <p:spPr>
          <a:xfrm xmlns:a="http://schemas.openxmlformats.org/drawingml/2006/main" rot="0">
            <a:off x="7484821" y="5588051"/>
            <a:ext cx="736652"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05  /  DATA</a:t>
            </a:r>
          </a:p>
        </p:txBody>
      </p:sp>
      <p:sp>
        <p:nvSpPr>
          <p:cNvPr id="25" name="Figure 16 label 20 line 1">
            <a:extLst xmlns:a="http://schemas.openxmlformats.org/drawingml/2006/main">
              <a:ext uri="{FF2B5EF4-FFF2-40B4-BE49-F238E27FC236}">
                <a16:creationId xmlns:a16="http://schemas.microsoft.com/office/drawing/2014/main" id="{42087019-2E6D-44CF-9A54-4F01AAB4A466}"/>
              </a:ext>
            </a:extLst>
          </p:cNvPr>
          <p:cNvSpPr>
            <a:spLocks xmlns:a="http://schemas.openxmlformats.org/drawingml/2006/main" noGrp="1"/>
          </p:cNvSpPr>
          <p:nvPr/>
        </p:nvSpPr>
        <p:spPr>
          <a:xfrm xmlns:a="http://schemas.openxmlformats.org/drawingml/2006/main" rot="0">
            <a:off x="7481011" y="5934761"/>
            <a:ext cx="2976217"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Curate experimental data</a:t>
            </a:r>
          </a:p>
        </p:txBody>
      </p:sp>
      <p:sp>
        <p:nvSpPr>
          <p:cNvPr id="26" name="Figure 16 label 21 line 1">
            <a:extLst xmlns:a="http://schemas.openxmlformats.org/drawingml/2006/main">
              <a:ext uri="{FF2B5EF4-FFF2-40B4-BE49-F238E27FC236}">
                <a16:creationId xmlns:a16="http://schemas.microsoft.com/office/drawing/2014/main" id="{7EE4678D-EAFF-4298-B936-A94177AEF224}"/>
              </a:ext>
            </a:extLst>
          </p:cNvPr>
          <p:cNvSpPr>
            <a:spLocks xmlns:a="http://schemas.openxmlformats.org/drawingml/2006/main" noGrp="1"/>
          </p:cNvSpPr>
          <p:nvPr/>
        </p:nvSpPr>
        <p:spPr>
          <a:xfrm xmlns:a="http://schemas.openxmlformats.org/drawingml/2006/main" rot="0">
            <a:off x="7483602" y="6369558"/>
            <a:ext cx="318057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Link sequence, target and assay context</a:t>
            </a:r>
          </a:p>
        </p:txBody>
      </p:sp>
      <p:sp>
        <p:nvSpPr>
          <p:cNvPr id="27" name="Figure 16 label 21 line 2">
            <a:extLst xmlns:a="http://schemas.openxmlformats.org/drawingml/2006/main">
              <a:ext uri="{FF2B5EF4-FFF2-40B4-BE49-F238E27FC236}">
                <a16:creationId xmlns:a16="http://schemas.microsoft.com/office/drawing/2014/main" id="{307EF485-946B-4C9F-84EA-48997B95041D}"/>
              </a:ext>
            </a:extLst>
          </p:cNvPr>
          <p:cNvSpPr>
            <a:spLocks xmlns:a="http://schemas.openxmlformats.org/drawingml/2006/main" noGrp="1"/>
          </p:cNvSpPr>
          <p:nvPr/>
        </p:nvSpPr>
        <p:spPr>
          <a:xfrm xmlns:a="http://schemas.openxmlformats.org/drawingml/2006/main" rot="0">
            <a:off x="7483602" y="6583871"/>
            <a:ext cx="3180576"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Retain replicates, raw data and failures</a:t>
            </a:r>
          </a:p>
        </p:txBody>
      </p:sp>
      <p:sp>
        <p:nvSpPr>
          <p:cNvPr id="28" name="Figure 16 label 22 line 1">
            <a:extLst xmlns:a="http://schemas.openxmlformats.org/drawingml/2006/main">
              <a:ext uri="{FF2B5EF4-FFF2-40B4-BE49-F238E27FC236}">
                <a16:creationId xmlns:a16="http://schemas.microsoft.com/office/drawing/2014/main" id="{4BFB6F73-9CEA-440E-B5E5-CB9637FC8A3A}"/>
              </a:ext>
            </a:extLst>
          </p:cNvPr>
          <p:cNvSpPr>
            <a:spLocks xmlns:a="http://schemas.openxmlformats.org/drawingml/2006/main" noGrp="1"/>
          </p:cNvSpPr>
          <p:nvPr/>
        </p:nvSpPr>
        <p:spPr>
          <a:xfrm xmlns:a="http://schemas.openxmlformats.org/drawingml/2006/main" rot="0">
            <a:off x="1731721" y="5588051"/>
            <a:ext cx="851547" cy="1762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110" b="1">
                <a:solidFill>
                  <a:srgbClr val="00355F"/>
                </a:solidFill>
                <a:latin typeface="Arial"/>
                <a:ea typeface="Arial"/>
                <a:cs typeface="Arial"/>
              </a:defRPr>
            </a:defPPr>
          </a:lstStyle>
          <a:p xmlns:a="http://schemas.openxmlformats.org/drawingml/2006/main">
            <a:pPr algn="l">
              <a:lnSpc>
                <a:spcPct val="100000"/>
              </a:lnSpc>
              <a:buNone/>
              <a:defRPr sz="1110" b="1">
                <a:solidFill>
                  <a:srgbClr val="00355F"/>
                </a:solidFill>
                <a:latin typeface="Arial"/>
                <a:ea typeface="Arial"/>
                <a:cs typeface="Arial"/>
              </a:defRPr>
            </a:pPr>
            <a:r>
              <a:rPr sz="1110" b="1">
                <a:solidFill>
                  <a:srgbClr val="00355F"/>
                </a:solidFill>
                <a:latin typeface="Arial"/>
                <a:ea typeface="Arial"/>
                <a:cs typeface="Arial"/>
              </a:rPr>
              <a:t>06  /  LEARN</a:t>
            </a:r>
          </a:p>
        </p:txBody>
      </p:sp>
      <p:sp>
        <p:nvSpPr>
          <p:cNvPr id="29" name="Figure 16 label 23 line 1">
            <a:extLst xmlns:a="http://schemas.openxmlformats.org/drawingml/2006/main">
              <a:ext uri="{FF2B5EF4-FFF2-40B4-BE49-F238E27FC236}">
                <a16:creationId xmlns:a16="http://schemas.microsoft.com/office/drawing/2014/main" id="{A0C2A317-5A64-4661-9EAD-2C5483D7DA04}"/>
              </a:ext>
            </a:extLst>
          </p:cNvPr>
          <p:cNvSpPr>
            <a:spLocks xmlns:a="http://schemas.openxmlformats.org/drawingml/2006/main" noGrp="1"/>
          </p:cNvSpPr>
          <p:nvPr/>
        </p:nvSpPr>
        <p:spPr>
          <a:xfrm xmlns:a="http://schemas.openxmlformats.org/drawingml/2006/main" rot="0">
            <a:off x="1727911" y="5934761"/>
            <a:ext cx="2785568"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860" b="1">
                <a:solidFill>
                  <a:srgbClr val="00355F"/>
                </a:solidFill>
                <a:latin typeface="Arial"/>
                <a:ea typeface="Arial"/>
                <a:cs typeface="Arial"/>
              </a:defRPr>
            </a:defPPr>
          </a:lstStyle>
          <a:p xmlns:a="http://schemas.openxmlformats.org/drawingml/2006/main">
            <a:pPr algn="l">
              <a:lnSpc>
                <a:spcPct val="100000"/>
              </a:lnSpc>
              <a:buNone/>
              <a:defRPr sz="1860" b="1">
                <a:solidFill>
                  <a:srgbClr val="00355F"/>
                </a:solidFill>
                <a:latin typeface="Arial"/>
                <a:ea typeface="Arial"/>
                <a:cs typeface="Arial"/>
              </a:defRPr>
            </a:pPr>
            <a:r>
              <a:rPr sz="1860" b="1">
                <a:solidFill>
                  <a:srgbClr val="00355F"/>
                </a:solidFill>
                <a:latin typeface="Arial"/>
                <a:ea typeface="Arial"/>
                <a:cs typeface="Arial"/>
              </a:rPr>
              <a:t>Improve model + policy</a:t>
            </a:r>
          </a:p>
        </p:txBody>
      </p:sp>
      <p:sp>
        <p:nvSpPr>
          <p:cNvPr id="30" name="Figure 16 label 24 line 1">
            <a:extLst xmlns:a="http://schemas.openxmlformats.org/drawingml/2006/main">
              <a:ext uri="{FF2B5EF4-FFF2-40B4-BE49-F238E27FC236}">
                <a16:creationId xmlns:a16="http://schemas.microsoft.com/office/drawing/2014/main" id="{0A6E2FA5-A8E5-4CDE-920A-AE105E4A689C}"/>
              </a:ext>
            </a:extLst>
          </p:cNvPr>
          <p:cNvSpPr>
            <a:spLocks xmlns:a="http://schemas.openxmlformats.org/drawingml/2006/main" noGrp="1"/>
          </p:cNvSpPr>
          <p:nvPr/>
        </p:nvSpPr>
        <p:spPr>
          <a:xfrm xmlns:a="http://schemas.openxmlformats.org/drawingml/2006/main" rot="0">
            <a:off x="1730502" y="6369558"/>
            <a:ext cx="289452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Retrain / adapt models and selection</a:t>
            </a:r>
          </a:p>
        </p:txBody>
      </p:sp>
      <p:sp>
        <p:nvSpPr>
          <p:cNvPr id="31" name="Figure 16 label 24 line 2">
            <a:extLst xmlns:a="http://schemas.openxmlformats.org/drawingml/2006/main">
              <a:ext uri="{FF2B5EF4-FFF2-40B4-BE49-F238E27FC236}">
                <a16:creationId xmlns:a16="http://schemas.microsoft.com/office/drawing/2014/main" id="{CA391251-4800-4C6F-8B31-CA0A8DD7E672}"/>
              </a:ext>
            </a:extLst>
          </p:cNvPr>
          <p:cNvSpPr>
            <a:spLocks xmlns:a="http://schemas.openxmlformats.org/drawingml/2006/main" noGrp="1"/>
          </p:cNvSpPr>
          <p:nvPr/>
        </p:nvSpPr>
        <p:spPr>
          <a:xfrm xmlns:a="http://schemas.openxmlformats.org/drawingml/2006/main" rot="0">
            <a:off x="1730502" y="6583871"/>
            <a:ext cx="289452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50" b="0">
                <a:solidFill>
                  <a:srgbClr val="00355F"/>
                </a:solidFill>
                <a:latin typeface="Arial"/>
                <a:ea typeface="Arial"/>
                <a:cs typeface="Arial"/>
              </a:defRPr>
            </a:defPPr>
          </a:lstStyle>
          <a:p xmlns:a="http://schemas.openxmlformats.org/drawingml/2006/main">
            <a:pPr algn="l">
              <a:lnSpc>
                <a:spcPct val="100000"/>
              </a:lnSpc>
              <a:buNone/>
              <a:defRPr sz="1350" b="0">
                <a:solidFill>
                  <a:srgbClr val="00355F"/>
                </a:solidFill>
                <a:latin typeface="Arial"/>
                <a:ea typeface="Arial"/>
                <a:cs typeface="Arial"/>
              </a:defRPr>
            </a:pPr>
            <a:r>
              <a:rPr sz="1350" b="0">
                <a:solidFill>
                  <a:srgbClr val="00355F"/>
                </a:solidFill>
                <a:latin typeface="Arial"/>
                <a:ea typeface="Arial"/>
                <a:cs typeface="Arial"/>
              </a:rPr>
              <a:t>Benchmark on held-out experiments</a:t>
            </a:r>
          </a:p>
        </p:txBody>
      </p:sp>
      <p:sp>
        <p:nvSpPr>
          <p:cNvPr id="32" name="Figure 16 label 25 line 1">
            <a:extLst xmlns:a="http://schemas.openxmlformats.org/drawingml/2006/main">
              <a:ext uri="{FF2B5EF4-FFF2-40B4-BE49-F238E27FC236}">
                <a16:creationId xmlns:a16="http://schemas.microsoft.com/office/drawing/2014/main" id="{5559A759-806B-4195-A072-EA4D5D90948C}"/>
              </a:ext>
            </a:extLst>
          </p:cNvPr>
          <p:cNvSpPr>
            <a:spLocks xmlns:a="http://schemas.openxmlformats.org/drawingml/2006/main" noGrp="1"/>
          </p:cNvSpPr>
          <p:nvPr/>
        </p:nvSpPr>
        <p:spPr>
          <a:xfrm xmlns:a="http://schemas.openxmlformats.org/drawingml/2006/main" rot="0">
            <a:off x="5799029" y="2810256"/>
            <a:ext cx="776823"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Proposals</a:t>
            </a:r>
          </a:p>
        </p:txBody>
      </p:sp>
      <p:sp>
        <p:nvSpPr>
          <p:cNvPr id="33" name="Figure 16 label 26 line 1">
            <a:extLst xmlns:a="http://schemas.openxmlformats.org/drawingml/2006/main">
              <a:ext uri="{FF2B5EF4-FFF2-40B4-BE49-F238E27FC236}">
                <a16:creationId xmlns:a16="http://schemas.microsoft.com/office/drawing/2014/main" id="{3A67F071-D79C-4C95-ABC1-29A4C0B54FCF}"/>
              </a:ext>
            </a:extLst>
          </p:cNvPr>
          <p:cNvSpPr>
            <a:spLocks xmlns:a="http://schemas.openxmlformats.org/drawingml/2006/main" noGrp="1"/>
          </p:cNvSpPr>
          <p:nvPr/>
        </p:nvSpPr>
        <p:spPr>
          <a:xfrm xmlns:a="http://schemas.openxmlformats.org/drawingml/2006/main" rot="0">
            <a:off x="11607627" y="2810256"/>
            <a:ext cx="734407"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Protocols</a:t>
            </a:r>
          </a:p>
        </p:txBody>
      </p:sp>
      <p:sp>
        <p:nvSpPr>
          <p:cNvPr id="34" name="Figure 16 label 27 line 1">
            <a:extLst xmlns:a="http://schemas.openxmlformats.org/drawingml/2006/main">
              <a:ext uri="{FF2B5EF4-FFF2-40B4-BE49-F238E27FC236}">
                <a16:creationId xmlns:a16="http://schemas.microsoft.com/office/drawing/2014/main" id="{E7B4C99D-FC37-47D0-8742-D1D66EB1F522}"/>
              </a:ext>
            </a:extLst>
          </p:cNvPr>
          <p:cNvSpPr>
            <a:spLocks xmlns:a="http://schemas.openxmlformats.org/drawingml/2006/main" noGrp="1"/>
          </p:cNvSpPr>
          <p:nvPr/>
        </p:nvSpPr>
        <p:spPr>
          <a:xfrm xmlns:a="http://schemas.openxmlformats.org/drawingml/2006/main" rot="0">
            <a:off x="11425104" y="5850636"/>
            <a:ext cx="1107073"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Measurements</a:t>
            </a:r>
          </a:p>
        </p:txBody>
      </p:sp>
      <p:sp>
        <p:nvSpPr>
          <p:cNvPr id="35" name="Figure 16 label 28 line 1">
            <a:extLst xmlns:a="http://schemas.openxmlformats.org/drawingml/2006/main">
              <a:ext uri="{FF2B5EF4-FFF2-40B4-BE49-F238E27FC236}">
                <a16:creationId xmlns:a16="http://schemas.microsoft.com/office/drawing/2014/main" id="{5B0E7358-AA2E-48D8-AC25-88263521508D}"/>
              </a:ext>
            </a:extLst>
          </p:cNvPr>
          <p:cNvSpPr>
            <a:spLocks xmlns:a="http://schemas.openxmlformats.org/drawingml/2006/main" noGrp="1"/>
          </p:cNvSpPr>
          <p:nvPr/>
        </p:nvSpPr>
        <p:spPr>
          <a:xfrm xmlns:a="http://schemas.openxmlformats.org/drawingml/2006/main" rot="0">
            <a:off x="5577349" y="5850636"/>
            <a:ext cx="129638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200" b="0">
                <a:solidFill>
                  <a:srgbClr val="00355F"/>
                </a:solidFill>
                <a:latin typeface="Arial"/>
                <a:ea typeface="Arial"/>
                <a:cs typeface="Arial"/>
              </a:defRPr>
            </a:defPPr>
          </a:lstStyle>
          <a:p xmlns:a="http://schemas.openxmlformats.org/drawingml/2006/main">
            <a:pPr algn="ctr">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Training evidence</a:t>
            </a:r>
          </a:p>
        </p:txBody>
      </p:sp>
      <p:sp>
        <p:nvSpPr>
          <p:cNvPr id="36" name="Figure 16 label 29 line 1">
            <a:extLst xmlns:a="http://schemas.openxmlformats.org/drawingml/2006/main">
              <a:ext uri="{FF2B5EF4-FFF2-40B4-BE49-F238E27FC236}">
                <a16:creationId xmlns:a16="http://schemas.microsoft.com/office/drawing/2014/main" id="{47610779-1D6F-4D01-92E9-2A98F5B3E32C}"/>
              </a:ext>
            </a:extLst>
          </p:cNvPr>
          <p:cNvSpPr>
            <a:spLocks xmlns:a="http://schemas.openxmlformats.org/drawingml/2006/main" noGrp="1"/>
          </p:cNvSpPr>
          <p:nvPr/>
        </p:nvSpPr>
        <p:spPr>
          <a:xfrm xmlns:a="http://schemas.openxmlformats.org/drawingml/2006/main" rot="0">
            <a:off x="1600810" y="4204106"/>
            <a:ext cx="13119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Deploy only</a:t>
            </a:r>
          </a:p>
        </p:txBody>
      </p:sp>
      <p:sp>
        <p:nvSpPr>
          <p:cNvPr id="37" name="Figure 16 label 29 line 2">
            <a:extLst xmlns:a="http://schemas.openxmlformats.org/drawingml/2006/main">
              <a:ext uri="{FF2B5EF4-FFF2-40B4-BE49-F238E27FC236}">
                <a16:creationId xmlns:a16="http://schemas.microsoft.com/office/drawing/2014/main" id="{9D82213A-5F16-456A-861B-0D73AC4EDEA2}"/>
              </a:ext>
            </a:extLst>
          </p:cNvPr>
          <p:cNvSpPr>
            <a:spLocks xmlns:a="http://schemas.openxmlformats.org/drawingml/2006/main" noGrp="1"/>
          </p:cNvSpPr>
          <p:nvPr/>
        </p:nvSpPr>
        <p:spPr>
          <a:xfrm xmlns:a="http://schemas.openxmlformats.org/drawingml/2006/main" rot="0">
            <a:off x="1600810" y="4423181"/>
            <a:ext cx="13119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verified</a:t>
            </a:r>
          </a:p>
        </p:txBody>
      </p:sp>
      <p:sp>
        <p:nvSpPr>
          <p:cNvPr id="38" name="Figure 16 label 29 line 3">
            <a:extLst xmlns:a="http://schemas.openxmlformats.org/drawingml/2006/main">
              <a:ext uri="{FF2B5EF4-FFF2-40B4-BE49-F238E27FC236}">
                <a16:creationId xmlns:a16="http://schemas.microsoft.com/office/drawing/2014/main" id="{F4796CEB-A569-476C-A3D0-99A188F2424C}"/>
              </a:ext>
            </a:extLst>
          </p:cNvPr>
          <p:cNvSpPr>
            <a:spLocks xmlns:a="http://schemas.openxmlformats.org/drawingml/2006/main" noGrp="1"/>
          </p:cNvSpPr>
          <p:nvPr/>
        </p:nvSpPr>
        <p:spPr>
          <a:xfrm xmlns:a="http://schemas.openxmlformats.org/drawingml/2006/main" rot="0">
            <a:off x="1600810" y="4642256"/>
            <a:ext cx="131198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improvements</a:t>
            </a:r>
          </a:p>
        </p:txBody>
      </p:sp>
      <p:sp>
        <p:nvSpPr>
          <p:cNvPr id="39" name="Figure 16 label 30 line 1">
            <a:extLst xmlns:a="http://schemas.openxmlformats.org/drawingml/2006/main">
              <a:ext uri="{FF2B5EF4-FFF2-40B4-BE49-F238E27FC236}">
                <a16:creationId xmlns:a16="http://schemas.microsoft.com/office/drawing/2014/main" id="{31A89A9B-5618-448A-A438-B8DAD2B83A25}"/>
              </a:ext>
            </a:extLst>
          </p:cNvPr>
          <p:cNvSpPr>
            <a:spLocks xmlns:a="http://schemas.openxmlformats.org/drawingml/2006/main" noGrp="1"/>
          </p:cNvSpPr>
          <p:nvPr/>
        </p:nvSpPr>
        <p:spPr>
          <a:xfrm xmlns:a="http://schemas.openxmlformats.org/drawingml/2006/main" rot="0">
            <a:off x="15232990" y="4211726"/>
            <a:ext cx="124397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Throughput</a:t>
            </a:r>
          </a:p>
        </p:txBody>
      </p:sp>
      <p:sp>
        <p:nvSpPr>
          <p:cNvPr id="40" name="Figure 16 label 30 line 2">
            <a:extLst xmlns:a="http://schemas.openxmlformats.org/drawingml/2006/main">
              <a:ext uri="{FF2B5EF4-FFF2-40B4-BE49-F238E27FC236}">
                <a16:creationId xmlns:a16="http://schemas.microsoft.com/office/drawing/2014/main" id="{7C52DAB8-74F9-4ED6-83BD-50339EC8C67B}"/>
              </a:ext>
            </a:extLst>
          </p:cNvPr>
          <p:cNvSpPr>
            <a:spLocks xmlns:a="http://schemas.openxmlformats.org/drawingml/2006/main" noGrp="1"/>
          </p:cNvSpPr>
          <p:nvPr/>
        </p:nvSpPr>
        <p:spPr>
          <a:xfrm xmlns:a="http://schemas.openxmlformats.org/drawingml/2006/main" rot="0">
            <a:off x="15232990" y="4430801"/>
            <a:ext cx="124397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Assay quality</a:t>
            </a:r>
          </a:p>
        </p:txBody>
      </p:sp>
      <p:sp>
        <p:nvSpPr>
          <p:cNvPr id="41" name="Figure 16 label 30 line 3">
            <a:extLst xmlns:a="http://schemas.openxmlformats.org/drawingml/2006/main">
              <a:ext uri="{FF2B5EF4-FFF2-40B4-BE49-F238E27FC236}">
                <a16:creationId xmlns:a16="http://schemas.microsoft.com/office/drawing/2014/main" id="{1F8AE0AF-A96C-4A15-98F8-69E4BBF5DF3D}"/>
              </a:ext>
            </a:extLst>
          </p:cNvPr>
          <p:cNvSpPr>
            <a:spLocks xmlns:a="http://schemas.openxmlformats.org/drawingml/2006/main" noGrp="1"/>
          </p:cNvSpPr>
          <p:nvPr/>
        </p:nvSpPr>
        <p:spPr>
          <a:xfrm xmlns:a="http://schemas.openxmlformats.org/drawingml/2006/main" rot="0">
            <a:off x="15232990" y="4649876"/>
            <a:ext cx="1243971"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Money + time</a:t>
            </a:r>
          </a:p>
        </p:txBody>
      </p:sp>
      <p:sp>
        <p:nvSpPr>
          <p:cNvPr id="42" name="Figure 16 label 31 line 1">
            <a:extLst xmlns:a="http://schemas.openxmlformats.org/drawingml/2006/main">
              <a:ext uri="{FF2B5EF4-FFF2-40B4-BE49-F238E27FC236}">
                <a16:creationId xmlns:a16="http://schemas.microsoft.com/office/drawing/2014/main" id="{15E5477E-4E25-43B7-89A7-04EDCBF19B5C}"/>
              </a:ext>
            </a:extLst>
          </p:cNvPr>
          <p:cNvSpPr>
            <a:spLocks xmlns:a="http://schemas.openxmlformats.org/drawingml/2006/main" noGrp="1"/>
          </p:cNvSpPr>
          <p:nvPr/>
        </p:nvSpPr>
        <p:spPr>
          <a:xfrm xmlns:a="http://schemas.openxmlformats.org/drawingml/2006/main" rot="0">
            <a:off x="6912126" y="4071518"/>
            <a:ext cx="4425648"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80" b="1">
                <a:solidFill>
                  <a:srgbClr val="00355F"/>
                </a:solidFill>
                <a:latin typeface="Arial"/>
                <a:ea typeface="Arial"/>
                <a:cs typeface="Arial"/>
              </a:defRPr>
            </a:defPPr>
          </a:lstStyle>
          <a:p xmlns:a="http://schemas.openxmlformats.org/drawingml/2006/main">
            <a:pPr algn="ctr">
              <a:lnSpc>
                <a:spcPct val="100000"/>
              </a:lnSpc>
              <a:buNone/>
              <a:defRPr sz="2280" b="1">
                <a:solidFill>
                  <a:srgbClr val="00355F"/>
                </a:solidFill>
                <a:latin typeface="Arial"/>
                <a:ea typeface="Arial"/>
                <a:cs typeface="Arial"/>
              </a:defRPr>
            </a:pPr>
            <a:r>
              <a:rPr sz="2280" b="1">
                <a:solidFill>
                  <a:srgbClr val="00355F"/>
                </a:solidFill>
                <a:latin typeface="Arial"/>
                <a:ea typeface="Arial"/>
                <a:cs typeface="Arial"/>
              </a:rPr>
              <a:t>Better AI → better experiments</a:t>
            </a:r>
          </a:p>
        </p:txBody>
      </p:sp>
      <p:sp>
        <p:nvSpPr>
          <p:cNvPr id="43" name="Figure 16 label 31 line 2">
            <a:extLst xmlns:a="http://schemas.openxmlformats.org/drawingml/2006/main">
              <a:ext uri="{FF2B5EF4-FFF2-40B4-BE49-F238E27FC236}">
                <a16:creationId xmlns:a16="http://schemas.microsoft.com/office/drawing/2014/main" id="{72AC0069-2195-4642-AE92-40CBA588E618}"/>
              </a:ext>
            </a:extLst>
          </p:cNvPr>
          <p:cNvSpPr>
            <a:spLocks xmlns:a="http://schemas.openxmlformats.org/drawingml/2006/main" noGrp="1"/>
          </p:cNvSpPr>
          <p:nvPr/>
        </p:nvSpPr>
        <p:spPr>
          <a:xfrm xmlns:a="http://schemas.openxmlformats.org/drawingml/2006/main" rot="0">
            <a:off x="6912126" y="4433468"/>
            <a:ext cx="4425648"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280" b="1">
                <a:solidFill>
                  <a:srgbClr val="00355F"/>
                </a:solidFill>
                <a:latin typeface="Arial"/>
                <a:ea typeface="Arial"/>
                <a:cs typeface="Arial"/>
              </a:defRPr>
            </a:defPPr>
          </a:lstStyle>
          <a:p xmlns:a="http://schemas.openxmlformats.org/drawingml/2006/main">
            <a:pPr algn="ctr">
              <a:lnSpc>
                <a:spcPct val="100000"/>
              </a:lnSpc>
              <a:buNone/>
              <a:defRPr sz="2280" b="1">
                <a:solidFill>
                  <a:srgbClr val="00355F"/>
                </a:solidFill>
                <a:latin typeface="Arial"/>
                <a:ea typeface="Arial"/>
                <a:cs typeface="Arial"/>
              </a:defRPr>
            </a:pPr>
            <a:r>
              <a:rPr sz="2280" b="1">
                <a:solidFill>
                  <a:srgbClr val="00355F"/>
                </a:solidFill>
                <a:latin typeface="Arial"/>
                <a:ea typeface="Arial"/>
                <a:cs typeface="Arial"/>
              </a:rPr>
              <a:t>→ better AI</a:t>
            </a:r>
          </a:p>
        </p:txBody>
      </p:sp>
      <p:sp>
        <p:nvSpPr>
          <p:cNvPr id="44" name="Figure 16 label 32 line 1">
            <a:extLst xmlns:a="http://schemas.openxmlformats.org/drawingml/2006/main">
              <a:ext uri="{FF2B5EF4-FFF2-40B4-BE49-F238E27FC236}">
                <a16:creationId xmlns:a16="http://schemas.microsoft.com/office/drawing/2014/main" id="{AA5A4E8D-69A5-4C71-9285-2BC7E14356CE}"/>
              </a:ext>
            </a:extLst>
          </p:cNvPr>
          <p:cNvSpPr>
            <a:spLocks xmlns:a="http://schemas.openxmlformats.org/drawingml/2006/main" noGrp="1"/>
          </p:cNvSpPr>
          <p:nvPr/>
        </p:nvSpPr>
        <p:spPr>
          <a:xfrm xmlns:a="http://schemas.openxmlformats.org/drawingml/2006/main" rot="0">
            <a:off x="7369882" y="4907890"/>
            <a:ext cx="351013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0">
                <a:solidFill>
                  <a:srgbClr val="00355F"/>
                </a:solidFill>
                <a:latin typeface="Arial"/>
                <a:ea typeface="Arial"/>
                <a:cs typeface="Arial"/>
              </a:defRPr>
            </a:defPPr>
          </a:lstStyle>
          <a:p xmlns:a="http://schemas.openxmlformats.org/drawingml/2006/main">
            <a:pPr algn="ctr">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Potential recursive gains need comparable,</a:t>
            </a:r>
          </a:p>
        </p:txBody>
      </p:sp>
      <p:sp>
        <p:nvSpPr>
          <p:cNvPr id="45" name="Figure 16 label 32 line 2">
            <a:extLst xmlns:a="http://schemas.openxmlformats.org/drawingml/2006/main">
              <a:ext uri="{FF2B5EF4-FFF2-40B4-BE49-F238E27FC236}">
                <a16:creationId xmlns:a16="http://schemas.microsoft.com/office/drawing/2014/main" id="{B5621731-CEF8-4B81-A34D-901D9BC42577}"/>
              </a:ext>
            </a:extLst>
          </p:cNvPr>
          <p:cNvSpPr>
            <a:spLocks xmlns:a="http://schemas.openxmlformats.org/drawingml/2006/main" noGrp="1"/>
          </p:cNvSpPr>
          <p:nvPr/>
        </p:nvSpPr>
        <p:spPr>
          <a:xfrm xmlns:a="http://schemas.openxmlformats.org/drawingml/2006/main" rot="0">
            <a:off x="7369882" y="5117440"/>
            <a:ext cx="351013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320" b="0">
                <a:solidFill>
                  <a:srgbClr val="00355F"/>
                </a:solidFill>
                <a:latin typeface="Arial"/>
                <a:ea typeface="Arial"/>
                <a:cs typeface="Arial"/>
              </a:defRPr>
            </a:defPPr>
          </a:lstStyle>
          <a:p xmlns:a="http://schemas.openxmlformats.org/drawingml/2006/main">
            <a:pPr algn="ctr">
              <a:lnSpc>
                <a:spcPct val="100000"/>
              </a:lnSpc>
              <a:buNone/>
              <a:defRPr sz="1320" b="0">
                <a:solidFill>
                  <a:srgbClr val="00355F"/>
                </a:solidFill>
                <a:latin typeface="Arial"/>
                <a:ea typeface="Arial"/>
                <a:cs typeface="Arial"/>
              </a:defRPr>
            </a:pPr>
            <a:r>
              <a:rPr sz="1320" b="0">
                <a:solidFill>
                  <a:srgbClr val="00355F"/>
                </a:solidFill>
                <a:latin typeface="Arial"/>
                <a:ea typeface="Arial"/>
                <a:cs typeface="Arial"/>
              </a:rPr>
              <a:t>reproducible evidence from the physical world</a:t>
            </a:r>
          </a:p>
        </p:txBody>
      </p:sp>
      <p:sp>
        <p:nvSpPr>
          <p:cNvPr id="46" name="Figure 16 label 33 line 1">
            <a:extLst xmlns:a="http://schemas.openxmlformats.org/drawingml/2006/main">
              <a:ext uri="{FF2B5EF4-FFF2-40B4-BE49-F238E27FC236}">
                <a16:creationId xmlns:a16="http://schemas.microsoft.com/office/drawing/2014/main" id="{7EA40130-F642-41DC-8FC3-14B70AF9D1E2}"/>
              </a:ext>
            </a:extLst>
          </p:cNvPr>
          <p:cNvSpPr>
            <a:spLocks xmlns:a="http://schemas.openxmlformats.org/drawingml/2006/main" noGrp="1"/>
          </p:cNvSpPr>
          <p:nvPr/>
        </p:nvSpPr>
        <p:spPr>
          <a:xfrm xmlns:a="http://schemas.openxmlformats.org/drawingml/2006/main" rot="0">
            <a:off x="753466" y="7131710"/>
            <a:ext cx="4798046"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0" b="1">
                <a:solidFill>
                  <a:srgbClr val="00355F"/>
                </a:solidFill>
                <a:latin typeface="Arial"/>
                <a:ea typeface="Arial"/>
                <a:cs typeface="Arial"/>
              </a:defRPr>
            </a:defPPr>
          </a:lstStyle>
          <a:p xmlns:a="http://schemas.openxmlformats.org/drawingml/2006/main">
            <a:pPr algn="l">
              <a:lnSpc>
                <a:spcPct val="100000"/>
              </a:lnSpc>
              <a:buNone/>
              <a:defRPr sz="1680" b="1">
                <a:solidFill>
                  <a:srgbClr val="00355F"/>
                </a:solidFill>
                <a:latin typeface="Arial"/>
                <a:ea typeface="Arial"/>
                <a:cs typeface="Arial"/>
              </a:defRPr>
            </a:pPr>
            <a:r>
              <a:rPr sz="1680" b="1">
                <a:solidFill>
                  <a:srgbClr val="00355F"/>
                </a:solidFill>
                <a:latin typeface="Arial"/>
                <a:ea typeface="Arial"/>
                <a:cs typeface="Arial"/>
              </a:rPr>
              <a:t>LST supports every return to physical biology</a:t>
            </a:r>
          </a:p>
        </p:txBody>
      </p:sp>
      <p:sp>
        <p:nvSpPr>
          <p:cNvPr id="47" name="Figure 16 label 34 line 1">
            <a:extLst xmlns:a="http://schemas.openxmlformats.org/drawingml/2006/main">
              <a:ext uri="{FF2B5EF4-FFF2-40B4-BE49-F238E27FC236}">
                <a16:creationId xmlns:a16="http://schemas.microsoft.com/office/drawing/2014/main" id="{51178DC3-11CA-48A9-8979-F7ECE87CB7D3}"/>
              </a:ext>
            </a:extLst>
          </p:cNvPr>
          <p:cNvSpPr>
            <a:spLocks xmlns:a="http://schemas.openxmlformats.org/drawingml/2006/main" noGrp="1"/>
          </p:cNvSpPr>
          <p:nvPr/>
        </p:nvSpPr>
        <p:spPr>
          <a:xfrm xmlns:a="http://schemas.openxmlformats.org/drawingml/2006/main" rot="0">
            <a:off x="1334110" y="7686446"/>
            <a:ext cx="649403"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BUILD</a:t>
            </a:r>
          </a:p>
        </p:txBody>
      </p:sp>
      <p:sp>
        <p:nvSpPr>
          <p:cNvPr id="48" name="Figure 16 label 35 line 1">
            <a:extLst xmlns:a="http://schemas.openxmlformats.org/drawingml/2006/main">
              <a:ext uri="{FF2B5EF4-FFF2-40B4-BE49-F238E27FC236}">
                <a16:creationId xmlns:a16="http://schemas.microsoft.com/office/drawing/2014/main" id="{BB1E8550-4651-4E80-9CEA-9D611AAF171A}"/>
              </a:ext>
            </a:extLst>
          </p:cNvPr>
          <p:cNvSpPr>
            <a:spLocks xmlns:a="http://schemas.openxmlformats.org/drawingml/2006/main" noGrp="1"/>
          </p:cNvSpPr>
          <p:nvPr/>
        </p:nvSpPr>
        <p:spPr>
          <a:xfrm xmlns:a="http://schemas.openxmlformats.org/drawingml/2006/main" rot="0">
            <a:off x="946099" y="8034833"/>
            <a:ext cx="297669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DNA synthesis · expression · purification</a:t>
            </a:r>
          </a:p>
        </p:txBody>
      </p:sp>
      <p:sp>
        <p:nvSpPr>
          <p:cNvPr id="49" name="Figure 16 label 36 line 1">
            <a:extLst xmlns:a="http://schemas.openxmlformats.org/drawingml/2006/main">
              <a:ext uri="{FF2B5EF4-FFF2-40B4-BE49-F238E27FC236}">
                <a16:creationId xmlns:a16="http://schemas.microsoft.com/office/drawing/2014/main" id="{819AFB11-CEEB-41C5-B2E8-A109F3E6B027}"/>
              </a:ext>
            </a:extLst>
          </p:cNvPr>
          <p:cNvSpPr>
            <a:spLocks xmlns:a="http://schemas.openxmlformats.org/drawingml/2006/main" noGrp="1"/>
          </p:cNvSpPr>
          <p:nvPr/>
        </p:nvSpPr>
        <p:spPr>
          <a:xfrm xmlns:a="http://schemas.openxmlformats.org/drawingml/2006/main" rot="0">
            <a:off x="6858610" y="7686446"/>
            <a:ext cx="561892"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TEST</a:t>
            </a:r>
          </a:p>
        </p:txBody>
      </p:sp>
      <p:sp>
        <p:nvSpPr>
          <p:cNvPr id="50" name="Figure 16 label 37 line 1">
            <a:extLst xmlns:a="http://schemas.openxmlformats.org/drawingml/2006/main">
              <a:ext uri="{FF2B5EF4-FFF2-40B4-BE49-F238E27FC236}">
                <a16:creationId xmlns:a16="http://schemas.microsoft.com/office/drawing/2014/main" id="{B7FCCAF3-1E08-4ED3-8080-DC7DE3E8B540}"/>
              </a:ext>
            </a:extLst>
          </p:cNvPr>
          <p:cNvSpPr>
            <a:spLocks xmlns:a="http://schemas.openxmlformats.org/drawingml/2006/main" noGrp="1"/>
          </p:cNvSpPr>
          <p:nvPr/>
        </p:nvSpPr>
        <p:spPr>
          <a:xfrm xmlns:a="http://schemas.openxmlformats.org/drawingml/2006/main" rot="0">
            <a:off x="6470599" y="8027213"/>
            <a:ext cx="305676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Proteins · biosensors · analytical columns</a:t>
            </a:r>
          </a:p>
        </p:txBody>
      </p:sp>
      <p:sp>
        <p:nvSpPr>
          <p:cNvPr id="51" name="Figure 16 label 37 line 2">
            <a:extLst xmlns:a="http://schemas.openxmlformats.org/drawingml/2006/main">
              <a:ext uri="{FF2B5EF4-FFF2-40B4-BE49-F238E27FC236}">
                <a16:creationId xmlns:a16="http://schemas.microsoft.com/office/drawing/2014/main" id="{B0C6B5A6-095F-4A79-AFE8-DB4FB87B3B43}"/>
              </a:ext>
            </a:extLst>
          </p:cNvPr>
          <p:cNvSpPr>
            <a:spLocks xmlns:a="http://schemas.openxmlformats.org/drawingml/2006/main" noGrp="1"/>
          </p:cNvSpPr>
          <p:nvPr/>
        </p:nvSpPr>
        <p:spPr>
          <a:xfrm xmlns:a="http://schemas.openxmlformats.org/drawingml/2006/main" rot="0">
            <a:off x="6470599" y="8227238"/>
            <a:ext cx="3056763"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Cell assays · measurement platforms</a:t>
            </a:r>
          </a:p>
        </p:txBody>
      </p:sp>
      <p:sp>
        <p:nvSpPr>
          <p:cNvPr id="52" name="Figure 16 label 38 line 1">
            <a:extLst xmlns:a="http://schemas.openxmlformats.org/drawingml/2006/main">
              <a:ext uri="{FF2B5EF4-FFF2-40B4-BE49-F238E27FC236}">
                <a16:creationId xmlns:a16="http://schemas.microsoft.com/office/drawing/2014/main" id="{8770F605-EA67-4210-B4D4-E150ECD25909}"/>
              </a:ext>
            </a:extLst>
          </p:cNvPr>
          <p:cNvSpPr>
            <a:spLocks xmlns:a="http://schemas.openxmlformats.org/drawingml/2006/main" noGrp="1"/>
          </p:cNvSpPr>
          <p:nvPr/>
        </p:nvSpPr>
        <p:spPr>
          <a:xfrm xmlns:a="http://schemas.openxmlformats.org/drawingml/2006/main" rot="0">
            <a:off x="12497410" y="7686446"/>
            <a:ext cx="1774246"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0" b="1">
                <a:solidFill>
                  <a:srgbClr val="00355F"/>
                </a:solidFill>
                <a:latin typeface="Arial"/>
                <a:ea typeface="Arial"/>
                <a:cs typeface="Arial"/>
              </a:defRPr>
            </a:defPPr>
          </a:lstStyle>
          <a:p xmlns:a="http://schemas.openxmlformats.org/drawingml/2006/main">
            <a:pPr algn="l">
              <a:lnSpc>
                <a:spcPct val="100000"/>
              </a:lnSpc>
              <a:buNone/>
              <a:defRPr sz="1380" b="1">
                <a:solidFill>
                  <a:srgbClr val="00355F"/>
                </a:solidFill>
                <a:latin typeface="Arial"/>
                <a:ea typeface="Arial"/>
                <a:cs typeface="Arial"/>
              </a:defRPr>
            </a:pPr>
            <a:r>
              <a:rPr sz="1380" b="1">
                <a:solidFill>
                  <a:srgbClr val="00355F"/>
                </a:solidFill>
                <a:latin typeface="Arial"/>
                <a:ea typeface="Arial"/>
                <a:cs typeface="Arial"/>
              </a:rPr>
              <a:t>CONNECT + SCALE</a:t>
            </a:r>
          </a:p>
        </p:txBody>
      </p:sp>
      <p:sp>
        <p:nvSpPr>
          <p:cNvPr id="53" name="Figure 16 label 39 line 1">
            <a:extLst xmlns:a="http://schemas.openxmlformats.org/drawingml/2006/main">
              <a:ext uri="{FF2B5EF4-FFF2-40B4-BE49-F238E27FC236}">
                <a16:creationId xmlns:a16="http://schemas.microsoft.com/office/drawing/2014/main" id="{D26743C8-B597-476F-BD54-DD7E89E2F6EA}"/>
              </a:ext>
            </a:extLst>
          </p:cNvPr>
          <p:cNvSpPr>
            <a:spLocks xmlns:a="http://schemas.openxmlformats.org/drawingml/2006/main" noGrp="1"/>
          </p:cNvSpPr>
          <p:nvPr/>
        </p:nvSpPr>
        <p:spPr>
          <a:xfrm xmlns:a="http://schemas.openxmlformats.org/drawingml/2006/main" rot="0">
            <a:off x="12109399" y="8027213"/>
            <a:ext cx="280807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Labware · automation · data platforms</a:t>
            </a:r>
          </a:p>
        </p:txBody>
      </p:sp>
      <p:sp>
        <p:nvSpPr>
          <p:cNvPr id="54" name="Figure 16 label 39 line 2">
            <a:extLst xmlns:a="http://schemas.openxmlformats.org/drawingml/2006/main">
              <a:ext uri="{FF2B5EF4-FFF2-40B4-BE49-F238E27FC236}">
                <a16:creationId xmlns:a16="http://schemas.microsoft.com/office/drawing/2014/main" id="{7C89FCE0-FBA7-4D42-BB44-E7035EB46184}"/>
              </a:ext>
            </a:extLst>
          </p:cNvPr>
          <p:cNvSpPr>
            <a:spLocks xmlns:a="http://schemas.openxmlformats.org/drawingml/2006/main" noGrp="1"/>
          </p:cNvSpPr>
          <p:nvPr/>
        </p:nvSpPr>
        <p:spPr>
          <a:xfrm xmlns:a="http://schemas.openxmlformats.org/drawingml/2006/main" rot="0">
            <a:off x="12109399" y="8227238"/>
            <a:ext cx="2808071"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60" b="0">
                <a:solidFill>
                  <a:srgbClr val="00355F"/>
                </a:solidFill>
                <a:latin typeface="Arial"/>
                <a:ea typeface="Arial"/>
                <a:cs typeface="Arial"/>
              </a:defRPr>
            </a:defPPr>
          </a:lstStyle>
          <a:p xmlns:a="http://schemas.openxmlformats.org/drawingml/2006/main">
            <a:pPr algn="l">
              <a:lnSpc>
                <a:spcPct val="100000"/>
              </a:lnSpc>
              <a:buNone/>
              <a:defRPr sz="1260" b="0">
                <a:solidFill>
                  <a:srgbClr val="00355F"/>
                </a:solidFill>
                <a:latin typeface="Arial"/>
                <a:ea typeface="Arial"/>
                <a:cs typeface="Arial"/>
              </a:defRPr>
            </a:pPr>
            <a:r>
              <a:rPr sz="1260" b="0">
                <a:solidFill>
                  <a:srgbClr val="00355F"/>
                </a:solidFill>
                <a:latin typeface="Arial"/>
                <a:ea typeface="Arial"/>
                <a:cs typeface="Arial"/>
              </a:rPr>
              <a:t>Comparable records across batches</a:t>
            </a:r>
          </a:p>
        </p:txBody>
      </p:sp>
      <p:sp>
        <p:nvSpPr>
          <p:cNvPr id="55" name="Figure 16 label 40 line 1">
            <a:extLst xmlns:a="http://schemas.openxmlformats.org/drawingml/2006/main">
              <a:ext uri="{FF2B5EF4-FFF2-40B4-BE49-F238E27FC236}">
                <a16:creationId xmlns:a16="http://schemas.microsoft.com/office/drawing/2014/main" id="{E03EC338-40C4-41A4-8F21-97732852C761}"/>
              </a:ext>
            </a:extLst>
          </p:cNvPr>
          <p:cNvSpPr>
            <a:spLocks xmlns:a="http://schemas.openxmlformats.org/drawingml/2006/main" noGrp="1"/>
          </p:cNvSpPr>
          <p:nvPr/>
        </p:nvSpPr>
        <p:spPr>
          <a:xfrm xmlns:a="http://schemas.openxmlformats.org/drawingml/2006/main" rot="0">
            <a:off x="4572524" y="8759038"/>
            <a:ext cx="9142952"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920" b="1">
                <a:solidFill>
                  <a:srgbClr val="FFFFFF"/>
                </a:solidFill>
                <a:latin typeface="Arial"/>
                <a:ea typeface="Arial"/>
                <a:cs typeface="Arial"/>
              </a:defRPr>
            </a:defPPr>
          </a:lstStyle>
          <a:p xmlns:a="http://schemas.openxmlformats.org/drawingml/2006/main">
            <a:pPr algn="ctr">
              <a:lnSpc>
                <a:spcPct val="100000"/>
              </a:lnSpc>
              <a:buNone/>
              <a:defRPr sz="1920" b="1">
                <a:solidFill>
                  <a:srgbClr val="FFFFFF"/>
                </a:solidFill>
                <a:latin typeface="Arial"/>
                <a:ea typeface="Arial"/>
                <a:cs typeface="Arial"/>
              </a:defRPr>
            </a:pPr>
            <a:r>
              <a:rPr sz="1920" b="1">
                <a:solidFill>
                  <a:srgbClr val="FFFFFF"/>
                </a:solidFill>
                <a:latin typeface="Arial"/>
                <a:ea typeface="Arial"/>
                <a:cs typeface="Arial"/>
              </a:rPr>
              <a:t>The pace of improvement depends on useful experimental evidence per cycle</a:t>
            </a:r>
          </a:p>
        </p:txBody>
      </p:sp>
      <p:sp>
        <p:nvSpPr>
          <p:cNvPr id="56" name="Figure 16 label 41 line 1">
            <a:extLst xmlns:a="http://schemas.openxmlformats.org/drawingml/2006/main">
              <a:ext uri="{FF2B5EF4-FFF2-40B4-BE49-F238E27FC236}">
                <a16:creationId xmlns:a16="http://schemas.microsoft.com/office/drawing/2014/main" id="{E8D68BE1-3242-4989-873D-95E5397137CC}"/>
              </a:ext>
            </a:extLst>
          </p:cNvPr>
          <p:cNvSpPr>
            <a:spLocks xmlns:a="http://schemas.openxmlformats.org/drawingml/2006/main" noGrp="1"/>
          </p:cNvSpPr>
          <p:nvPr/>
        </p:nvSpPr>
        <p:spPr>
          <a:xfrm xmlns:a="http://schemas.openxmlformats.org/drawingml/2006/main" rot="0">
            <a:off x="753161" y="9369247"/>
            <a:ext cx="809984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40" b="1">
                <a:solidFill>
                  <a:srgbClr val="00355F"/>
                </a:solidFill>
                <a:latin typeface="Arial"/>
                <a:ea typeface="Arial"/>
                <a:cs typeface="Arial"/>
              </a:defRPr>
            </a:defPPr>
          </a:lstStyle>
          <a:p xmlns:a="http://schemas.openxmlformats.org/drawingml/2006/main">
            <a:pPr algn="l">
              <a:lnSpc>
                <a:spcPct val="100000"/>
              </a:lnSpc>
              <a:buNone/>
              <a:defRPr sz="1740" b="1">
                <a:solidFill>
                  <a:srgbClr val="00355F"/>
                </a:solidFill>
                <a:latin typeface="Arial"/>
                <a:ea typeface="Arial"/>
                <a:cs typeface="Arial"/>
              </a:defRPr>
            </a:pPr>
            <a:r>
              <a:rPr sz="1740" b="1">
                <a:solidFill>
                  <a:srgbClr val="00355F"/>
                </a:solidFill>
                <a:latin typeface="Arial"/>
                <a:ea typeface="Arial"/>
                <a:cs typeface="Arial"/>
              </a:rPr>
              <a:t>Potential LST demand ∝ funded cycles × assay depth × net inputs per assay</a:t>
            </a:r>
          </a:p>
        </p:txBody>
      </p:sp>
      <p:sp>
        <p:nvSpPr>
          <p:cNvPr id="57" name="Figure 16 label 42 line 1">
            <a:extLst xmlns:a="http://schemas.openxmlformats.org/drawingml/2006/main">
              <a:ext uri="{FF2B5EF4-FFF2-40B4-BE49-F238E27FC236}">
                <a16:creationId xmlns:a16="http://schemas.microsoft.com/office/drawing/2014/main" id="{1F7A712E-C7E8-456E-B1EB-C0E65BB7AE52}"/>
              </a:ext>
            </a:extLst>
          </p:cNvPr>
          <p:cNvSpPr>
            <a:spLocks xmlns:a="http://schemas.openxmlformats.org/drawingml/2006/main" noGrp="1"/>
          </p:cNvSpPr>
          <p:nvPr/>
        </p:nvSpPr>
        <p:spPr>
          <a:xfrm xmlns:a="http://schemas.openxmlformats.org/drawingml/2006/main" rot="0">
            <a:off x="755904" y="9736836"/>
            <a:ext cx="6858982"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Automation and miniaturization can reduce inputs per measurement; instrument CAPEX is separate.</a:t>
            </a:r>
          </a:p>
        </p:txBody>
      </p:sp>
      <p:sp>
        <p:nvSpPr>
          <p:cNvPr id="58" name="Figure 16 label 43 line 1">
            <a:extLst xmlns:a="http://schemas.openxmlformats.org/drawingml/2006/main">
              <a:ext uri="{FF2B5EF4-FFF2-40B4-BE49-F238E27FC236}">
                <a16:creationId xmlns:a16="http://schemas.microsoft.com/office/drawing/2014/main" id="{496A9F14-7740-4909-9551-A6CA5F0AD0D0}"/>
              </a:ext>
            </a:extLst>
          </p:cNvPr>
          <p:cNvSpPr>
            <a:spLocks xmlns:a="http://schemas.openxmlformats.org/drawingml/2006/main" noGrp="1"/>
          </p:cNvSpPr>
          <p:nvPr/>
        </p:nvSpPr>
        <p:spPr>
          <a:xfrm xmlns:a="http://schemas.openxmlformats.org/drawingml/2006/main" rot="0">
            <a:off x="757123" y="10037369"/>
            <a:ext cx="7147244"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960" b="0">
                <a:solidFill>
                  <a:srgbClr val="00355F"/>
                </a:solidFill>
                <a:latin typeface="Arial"/>
                <a:ea typeface="Arial"/>
                <a:cs typeface="Arial"/>
              </a:defRPr>
            </a:defPPr>
          </a:lstStyle>
          <a:p xmlns:a="http://schemas.openxmlformats.org/drawingml/2006/main">
            <a:pPr algn="l">
              <a:lnSpc>
                <a:spcPct val="100000"/>
              </a:lnSpc>
              <a:buNone/>
              <a:defRPr sz="960" b="0">
                <a:solidFill>
                  <a:srgbClr val="00355F"/>
                </a:solidFill>
                <a:latin typeface="Arial"/>
                <a:ea typeface="Arial"/>
                <a:cs typeface="Arial"/>
              </a:defRPr>
            </a:pPr>
            <a:r>
              <a:rPr sz="960" b="0">
                <a:solidFill>
                  <a:srgbClr val="00355F"/>
                </a:solidFill>
                <a:latin typeface="Arial"/>
                <a:ea typeface="Arial"/>
                <a:cs typeface="Arial"/>
              </a:rPr>
              <a:t>Conceptual RSI mechanism. Closed-loop learning does not establish sustained autonomous RSI. Primary sources: SOURCES.md.</a:t>
            </a:r>
          </a:p>
        </p:txBody>
      </p:sp>
    </p:spTree>
    <p:extLst>
      <p:ext uri="{BB962C8B-B14F-4D97-AF65-F5344CB8AC3E}">
        <p14:creationId xmlns:p14="http://schemas.microsoft.com/office/powerpoint/2010/main" val="10255995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2026-10-13T11:39:04.8820000Z</dcterms:created>
  <dcterms:modified xsi:type="dcterms:W3CDTF">2026-10-13T11:39:04.8820000Z</dcterms:modified>
</coreProperties>
</file>