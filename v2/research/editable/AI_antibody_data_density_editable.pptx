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fa820ea7364e40" /><Relationship Type="http://schemas.openxmlformats.org/officeDocument/2006/relationships/extended-properties" Target="/docProps/app.xml" Id="Rb554bdd98f8b401a" /><Relationship Type="http://schemas.openxmlformats.org/officeDocument/2006/relationships/officeDocument" Target="/ppt/presentation.xml" Id="R33b413c59a044c05" /></Relationships>
</file>

<file path=ppt/presentation.xml><?xml version="1.0" encoding="utf-8"?>
<p:presentation xmlns:p="http://schemas.openxmlformats.org/presentationml/2006/main">
  <p:sldMasterIdLst>
    <p:sldMasterId xmlns:r="http://schemas.openxmlformats.org/officeDocument/2006/relationships" id="2147483648" r:id="R2f45f32b6c0d4cda"/>
  </p:sldMasterIdLst>
  <p:notesMasterIdLst>
    <p:notesMasterId xmlns:r="http://schemas.openxmlformats.org/officeDocument/2006/relationships" r:id="Raa1b3b7dc3384c41"/>
  </p:notesMasterIdLst>
  <p:sldIdLst>
    <p:sldId xmlns:r="http://schemas.openxmlformats.org/officeDocument/2006/relationships" id="256" r:id="R5dad882b00244408"/>
    <p:sldId xmlns:r="http://schemas.openxmlformats.org/officeDocument/2006/relationships" id="257" r:id="R8aea08c3089243b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deaec751c44a9f" /><Relationship Type="http://schemas.openxmlformats.org/officeDocument/2006/relationships/slideMaster" Target="/ppt/slideMasters/slideMaster1.xml" Id="R2f45f32b6c0d4cda" /><Relationship Type="http://schemas.openxmlformats.org/officeDocument/2006/relationships/notesMaster" Target="/ppt/notesMasters/notesMaster1.xml" Id="Raa1b3b7dc3384c41" /><Relationship Type="http://schemas.openxmlformats.org/officeDocument/2006/relationships/presProps" Target="/ppt/presProps.xml" Id="R912efdf28538481f" /><Relationship Type="http://schemas.openxmlformats.org/officeDocument/2006/relationships/tableStyles" Target="/ppt/tableStyles.xml" Id="R22f5355bf1314c1f" /><Relationship Type="http://schemas.openxmlformats.org/officeDocument/2006/relationships/slide" Target="/ppt/slides/slide1.xml" Id="R5dad882b00244408" /><Relationship Type="http://schemas.openxmlformats.org/officeDocument/2006/relationships/slide" Target="/ppt/slides/slide2.xml" Id="R8aea08c3089243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6941028cb64b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a34572dc5241e6" /><Relationship Type="http://schemas.openxmlformats.org/officeDocument/2006/relationships/notesMaster" Target="/ppt/notesMasters/notesMaster1.xml" Id="R6bc804caa11444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22801448284ddf" /><Relationship Type="http://schemas.openxmlformats.org/officeDocument/2006/relationships/notesMaster" Target="/ppt/notesMasters/notesMaster1.xml" Id="R1b0c97c067d749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Illustrative dataset organization, not an empirical comparison of pre-AI versus AI industry cohorts. Matrix values are invented integers from 1 to 10,000. Cell color increases monotonically with the displayed number; no actual assay units or drug-quality ranking are implied. KD is often derived from the same fitted sensorgrams as kon/koff in an appropriate 1:1 model. Traditional drug development already included multi-assay characterization. Stage 0 is an analyst framing for biological data production across model training and iteration.</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contains explicitly synthetic integer values from 1 to 10,000. A common linear color scale maps larger values to darker blue. These values have no assay units and do not describe biological quality. Epitope is generally a site/bin/category rather than a continuous score. The table demonstrates dense data records, not nine independent assays.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Qualitative workflow and listed-supplier exposure mapping. Stage 0 is an analyst demand framework, not a claim of incremental realized revenue. Antigen-specific affinity, epitope and cell potency require target/condition context; PROPHET-Ab has a different set of ten developability assays. Recurring procurement is modeled by actual workflow executions and net material use; instruments CAPEX and services are separate. Logo artwork is omitted by user preference. Icons are Lucide originals, ISC licensed.</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contains explicitly synthetic integer values from 1 to 10,000. A common linear color scale maps larger values to darker blue. These values have no assay units and do not describe biological quality. Epitope is generally a site/bin/category rather than a continuous score. The table demonstrates dense data records, not nine independent assays.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0dfa34888644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6d1e5ebadc48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b46f8a813d4b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54f8edc6c44f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f74549cc9245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0c0c725ecf42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292F1D-0A86-4CCE-99FC-19EAE2C2C8E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BBA297-0C3E-40C3-AE26-AA9F32F2548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8DB04B-7D8B-49FB-945B-3EEE8A44E6A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631153-549A-4E96-802F-F57147961F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D6307D-A0D0-448B-8C58-89EF3FFD546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BC9285-7D5F-481D-9439-8F7E9D0FDCB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12448B-47FF-4376-B5CE-EC69F80D092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12D28D-2B83-4173-8FF1-B037B15BD544}"/>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588411-1288-4D29-A6B8-DF373DD85E3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9F67DB-7808-496D-B286-504EFD87CC6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4318a6cf9c4616" /><Relationship Type="http://schemas.openxmlformats.org/officeDocument/2006/relationships/slideLayout" Target="/ppt/slideLayouts/slideLayout1.xml" Id="R82249a1e05d54334" /><Relationship Type="http://schemas.openxmlformats.org/officeDocument/2006/relationships/slideLayout" Target="/ppt/slideLayouts/slideLayout2.xml" Id="R342f4485efbe47c8" /><Relationship Type="http://schemas.openxmlformats.org/officeDocument/2006/relationships/slideLayout" Target="/ppt/slideLayouts/slideLayout3.xml" Id="R68b5e7e2f6544f8d" /><Relationship Type="http://schemas.openxmlformats.org/officeDocument/2006/relationships/slideLayout" Target="/ppt/slideLayouts/slideLayout4.xml" Id="R914699b909244e7c" /><Relationship Type="http://schemas.openxmlformats.org/officeDocument/2006/relationships/slideLayout" Target="/ppt/slideLayouts/slideLayout5.xml" Id="R0772981238294ff3" /><Relationship Type="http://schemas.openxmlformats.org/officeDocument/2006/relationships/slideLayout" Target="/ppt/slideLayouts/slideLayout6.xml" Id="R8447c93cf21b4b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249a1e05d54334"/>
    <p:sldLayoutId xmlns:r="http://schemas.openxmlformats.org/officeDocument/2006/relationships" id="2147483650" r:id="R342f4485efbe47c8"/>
    <p:sldLayoutId xmlns:r="http://schemas.openxmlformats.org/officeDocument/2006/relationships" id="2147483651" r:id="R68b5e7e2f6544f8d"/>
    <p:sldLayoutId xmlns:r="http://schemas.openxmlformats.org/officeDocument/2006/relationships" id="2147483652" r:id="R914699b909244e7c"/>
    <p:sldLayoutId xmlns:r="http://schemas.openxmlformats.org/officeDocument/2006/relationships" id="2147483653" r:id="R0772981238294ff3"/>
    <p:sldLayoutId xmlns:r="http://schemas.openxmlformats.org/officeDocument/2006/relationships" id="2147483654" r:id="R8447c93cf21b4b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058201500b4c29" /><Relationship Type="http://schemas.openxmlformats.org/officeDocument/2006/relationships/notesSlide" Target="/ppt/notesSlides/notesSlide1.xml" Id="R827a8a48ab2a43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c8638702f14f65" /><Relationship Type="http://schemas.openxmlformats.org/officeDocument/2006/relationships/image" Target="/ppt/media/image.png" Id="Rb583289bb6424f11" /><Relationship Type="http://schemas.openxmlformats.org/officeDocument/2006/relationships/image" Target="/ppt/media/image.svg" Id="Ree70f7fb9d684cc4" /><Relationship Type="http://schemas.openxmlformats.org/officeDocument/2006/relationships/image" Target="/ppt/media/image2.png" Id="Rc448d96cc2e7491d" /><Relationship Type="http://schemas.openxmlformats.org/officeDocument/2006/relationships/image" Target="/ppt/media/image2.svg" Id="Rb50c69b99c444c7d" /><Relationship Type="http://schemas.openxmlformats.org/officeDocument/2006/relationships/image" Target="/ppt/media/image3.png" Id="R6ce42763771447d4" /><Relationship Type="http://schemas.openxmlformats.org/officeDocument/2006/relationships/image" Target="/ppt/media/image3.svg" Id="Rf48790e6eaf84c40" /><Relationship Type="http://schemas.openxmlformats.org/officeDocument/2006/relationships/image" Target="/ppt/media/image4.png" Id="R01af3df6d0a24400" /><Relationship Type="http://schemas.openxmlformats.org/officeDocument/2006/relationships/image" Target="/ppt/media/image4.svg" Id="R1a05ae1994b54b89" /><Relationship Type="http://schemas.openxmlformats.org/officeDocument/2006/relationships/image" Target="/ppt/media/image5.png" Id="Rbebbe07e60ef4167" /><Relationship Type="http://schemas.openxmlformats.org/officeDocument/2006/relationships/image" Target="/ppt/media/image5.svg" Id="Rc68c6c6a38e24f52" /><Relationship Type="http://schemas.openxmlformats.org/officeDocument/2006/relationships/notesSlide" Target="/ppt/notesSlides/notesSlide2.xml" Id="Ra1144e6cb4cf48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EB858CD4-9862-4C2E-98AF-55A451AC30D9}"/>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Fewer molecules. Deeper experimental data.">
            <a:extLst xmlns:a="http://schemas.openxmlformats.org/drawingml/2006/main">
              <a:ext uri="{FF2B5EF4-FFF2-40B4-BE49-F238E27FC236}">
                <a16:creationId xmlns:a16="http://schemas.microsoft.com/office/drawing/2014/main" id="{37D872B8-CE9F-4017-93D7-E036D1AB731F}"/>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Fewer molecules. Deeper experimental data.</a:t>
            </a:r>
          </a:p>
        </p:txBody>
      </p:sp>
      <p:sp>
        <p:nvSpPr>
          <p:cNvPr id="3" name="AI may reduce candidate counts while increasing characterization per molecule">
            <a:extLst xmlns:a="http://schemas.openxmlformats.org/drawingml/2006/main">
              <a:ext uri="{FF2B5EF4-FFF2-40B4-BE49-F238E27FC236}">
                <a16:creationId xmlns:a16="http://schemas.microsoft.com/office/drawing/2014/main" id="{7317AA78-A483-4FA9-AB75-D4D47C54B40B}"/>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AI may reduce candidate counts while increasing characterization per molecule</a:t>
            </a:r>
          </a:p>
        </p:txBody>
      </p:sp>
      <p:sp>
        <p:nvSpPr>
          <p:cNvPr id="4" name="From molecule throughput to data density: a potential driver of life science tools demand">
            <a:extLst xmlns:a="http://schemas.openxmlformats.org/drawingml/2006/main">
              <a:ext uri="{FF2B5EF4-FFF2-40B4-BE49-F238E27FC236}">
                <a16:creationId xmlns:a16="http://schemas.microsoft.com/office/drawing/2014/main" id="{897C9C8F-66FD-4076-A515-689AD4C889E9}"/>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From molecule throughput to data density: a potential driver of life science tools demand</a:t>
            </a:r>
          </a:p>
        </p:txBody>
      </p:sp>
      <p:sp>
        <p:nvSpPr>
          <p:cNvPr id="5" name="">
            <a:extLst xmlns:a="http://schemas.openxmlformats.org/drawingml/2006/main">
              <a:ext uri="{FF2B5EF4-FFF2-40B4-BE49-F238E27FC236}">
                <a16:creationId xmlns:a16="http://schemas.microsoft.com/office/drawing/2014/main" id="{3AF4FC7A-3E86-459F-ADDC-956F08AABCCB}"/>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2A52E47A-8972-4AE0-BF17-227416BC5EE3}"/>
              </a:ext>
            </a:extLst>
          </p:cNvPr>
          <p:cNvSpPr>
            <a:spLocks xmlns:a="http://schemas.openxmlformats.org/drawingml/2006/main" noGrp="1"/>
          </p:cNvSpPr>
          <p:nvPr/>
        </p:nvSpPr>
        <p:spPr>
          <a:xfrm xmlns:a="http://schemas.openxmlformats.org/drawingml/2006/main">
            <a:off x="685800" y="2124075"/>
            <a:ext cx="5638800" cy="4714875"/>
          </a:xfrm>
          <a:prstGeom xmlns:a="http://schemas.openxmlformats.org/drawingml/2006/main" prst="roundRect">
            <a:avLst>
              <a:gd name="adj" fmla="val 2828"/>
            </a:avLst>
          </a:prstGeom>
          <a:solidFill xmlns:a="http://schemas.openxmlformats.org/drawingml/2006/main">
            <a:srgbClr val="F4F9FD"/>
          </a:solidFill>
          <a:ln xmlns:a="http://schemas.openxmlformats.org/drawingml/2006/main" w="9525">
            <a:solidFill>
              <a:srgbClr val="A5A5A5"/>
            </a:solidFill>
          </a:ln>
        </p:spPr>
      </p:sp>
      <p:sp>
        <p:nvSpPr>
          <p:cNvPr id="7" name="">
            <a:extLst xmlns:a="http://schemas.openxmlformats.org/drawingml/2006/main">
              <a:ext uri="{FF2B5EF4-FFF2-40B4-BE49-F238E27FC236}">
                <a16:creationId xmlns:a16="http://schemas.microsoft.com/office/drawing/2014/main" id="{8BA1D998-C7DA-4A5C-9151-8ADC0F0FA55C}"/>
              </a:ext>
            </a:extLst>
          </p:cNvPr>
          <p:cNvSpPr>
            <a:spLocks xmlns:a="http://schemas.openxmlformats.org/drawingml/2006/main" noGrp="1"/>
          </p:cNvSpPr>
          <p:nvPr/>
        </p:nvSpPr>
        <p:spPr>
          <a:xfrm xmlns:a="http://schemas.openxmlformats.org/drawingml/2006/main">
            <a:off x="6972300" y="2124075"/>
            <a:ext cx="10629900" cy="4714875"/>
          </a:xfrm>
          <a:prstGeom xmlns:a="http://schemas.openxmlformats.org/drawingml/2006/main" prst="roundRect">
            <a:avLst>
              <a:gd name="adj" fmla="val 2828"/>
            </a:avLst>
          </a:prstGeom>
          <a:solidFill xmlns:a="http://schemas.openxmlformats.org/drawingml/2006/main">
            <a:srgbClr val="EEF6FC"/>
          </a:solidFill>
          <a:ln xmlns:a="http://schemas.openxmlformats.org/drawingml/2006/main" w="9525">
            <a:solidFill>
              <a:srgbClr val="7399C6"/>
            </a:solidFill>
          </a:ln>
        </p:spPr>
      </p:sp>
      <p:sp>
        <p:nvSpPr>
          <p:cNvPr id="8" name="Existing data: staged screening">
            <a:extLst xmlns:a="http://schemas.openxmlformats.org/drawingml/2006/main">
              <a:ext uri="{FF2B5EF4-FFF2-40B4-BE49-F238E27FC236}">
                <a16:creationId xmlns:a16="http://schemas.microsoft.com/office/drawing/2014/main" id="{571CFAEE-04FF-4C49-856B-49D30A6A9130}"/>
              </a:ext>
            </a:extLst>
          </p:cNvPr>
          <p:cNvSpPr>
            <a:spLocks xmlns:a="http://schemas.openxmlformats.org/drawingml/2006/main" noGrp="1"/>
          </p:cNvSpPr>
          <p:nvPr/>
        </p:nvSpPr>
        <p:spPr>
          <a:xfrm xmlns:a="http://schemas.openxmlformats.org/drawingml/2006/main">
            <a:off x="942975" y="23526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Existing data: staged screening</a:t>
            </a:r>
          </a:p>
        </p:txBody>
      </p:sp>
      <p:sp>
        <p:nvSpPr>
          <p:cNvPr id="9" name="1,000 × 1 initial label">
            <a:extLst xmlns:a="http://schemas.openxmlformats.org/drawingml/2006/main">
              <a:ext uri="{FF2B5EF4-FFF2-40B4-BE49-F238E27FC236}">
                <a16:creationId xmlns:a16="http://schemas.microsoft.com/office/drawing/2014/main" id="{2D87C40E-3B69-4DC8-8578-E5B281CE6858}"/>
              </a:ext>
            </a:extLst>
          </p:cNvPr>
          <p:cNvSpPr>
            <a:spLocks xmlns:a="http://schemas.openxmlformats.org/drawingml/2006/main" noGrp="1"/>
          </p:cNvSpPr>
          <p:nvPr/>
        </p:nvSpPr>
        <p:spPr>
          <a:xfrm xmlns:a="http://schemas.openxmlformats.org/drawingml/2006/main">
            <a:off x="942975" y="28479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1,000 × 1 initial label</a:t>
            </a:r>
          </a:p>
        </p:txBody>
      </p:sp>
      <p:sp>
        <p:nvSpPr>
          <p:cNvPr id="10" name="Illustrative early single-task dataset">
            <a:extLst xmlns:a="http://schemas.openxmlformats.org/drawingml/2006/main">
              <a:ext uri="{FF2B5EF4-FFF2-40B4-BE49-F238E27FC236}">
                <a16:creationId xmlns:a16="http://schemas.microsoft.com/office/drawing/2014/main" id="{057E2E17-F28F-40A1-BDD2-EFBF25D27CAC}"/>
              </a:ext>
            </a:extLst>
          </p:cNvPr>
          <p:cNvSpPr>
            <a:spLocks xmlns:a="http://schemas.openxmlformats.org/drawingml/2006/main" noGrp="1"/>
          </p:cNvSpPr>
          <p:nvPr/>
        </p:nvSpPr>
        <p:spPr>
          <a:xfrm xmlns:a="http://schemas.openxmlformats.org/drawingml/2006/main">
            <a:off x="942975" y="33051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Illustrative early single-task dataset</a:t>
            </a:r>
          </a:p>
        </p:txBody>
      </p:sp>
      <p:graphicFrame>
        <p:nvGraphicFramePr>
          <p:cNvPr id="11" name="">
            <a:extLst xmlns:a="http://schemas.openxmlformats.org/drawingml/2006/main">
              <a:ext uri="{FF2B5EF4-FFF2-40B4-BE49-F238E27FC236}">
                <a16:creationId xmlns:a16="http://schemas.microsoft.com/office/drawing/2014/main" id="{30D8C0B0-4A8A-4BB9-B673-775D9D70D66E}"/>
              </a:ext>
            </a:extLst>
          </p:cNvPr>
          <p:cNvGraphicFramePr/>
          <p:nvPr/>
        </p:nvGraphicFramePr>
        <p:xfrm>
          <a:off xmlns:a="http://schemas.openxmlformats.org/drawingml/2006/main" x="942975" y="3733800"/>
          <a:ext xmlns:a="http://schemas.openxmlformats.org/drawingml/2006/main" cx="5095875" cy="2286000"/>
        </p:xfrm>
        <a:graphic xmlns:a="http://schemas.openxmlformats.org/drawingml/2006/main">
          <a:graphicData uri="http://schemas.openxmlformats.org/drawingml/2006/table">
            <a:tbl>
              <a:tblPr firstRow="1" bandRow="0"/>
              <a:tblGrid>
                <a:gridCol w="2095500"/>
                <a:gridCol w="3000375"/>
              </a:tblGrid>
              <a:tr h="400050">
                <a:tc>
                  <a:txBody>
                    <a:bodyPr/>
                    <a:lstStyle/>
                    <a:p>
                      <a:pPr algn="ct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Binds?</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bl>
          </a:graphicData>
        </a:graphic>
      </p:graphicFrame>
      <p:sp>
        <p:nvSpPr>
          <p:cNvPr id="12" name="Binding first; deeper tests for selected hits">
            <a:extLst xmlns:a="http://schemas.openxmlformats.org/drawingml/2006/main">
              <a:ext uri="{FF2B5EF4-FFF2-40B4-BE49-F238E27FC236}">
                <a16:creationId xmlns:a16="http://schemas.microsoft.com/office/drawing/2014/main" id="{45936951-CD10-4945-AEE2-C8C95692FEE5}"/>
              </a:ext>
            </a:extLst>
          </p:cNvPr>
          <p:cNvSpPr>
            <a:spLocks xmlns:a="http://schemas.openxmlformats.org/drawingml/2006/main" noGrp="1"/>
          </p:cNvSpPr>
          <p:nvPr/>
        </p:nvSpPr>
        <p:spPr>
          <a:xfrm xmlns:a="http://schemas.openxmlformats.org/drawingml/2006/main">
            <a:off x="942975" y="6134100"/>
            <a:ext cx="509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Binding first; deeper tests for selected hits</a:t>
            </a:r>
          </a:p>
        </p:txBody>
      </p:sp>
      <p:sp>
        <p:nvSpPr>
          <p:cNvPr id="13" name="Multi-assay characterization already exists">
            <a:extLst xmlns:a="http://schemas.openxmlformats.org/drawingml/2006/main">
              <a:ext uri="{FF2B5EF4-FFF2-40B4-BE49-F238E27FC236}">
                <a16:creationId xmlns:a16="http://schemas.microsoft.com/office/drawing/2014/main" id="{2A5D6E8E-1FEF-420A-91D8-D8E01111326E}"/>
              </a:ext>
            </a:extLst>
          </p:cNvPr>
          <p:cNvSpPr>
            <a:spLocks xmlns:a="http://schemas.openxmlformats.org/drawingml/2006/main" noGrp="1"/>
          </p:cNvSpPr>
          <p:nvPr/>
        </p:nvSpPr>
        <p:spPr>
          <a:xfrm xmlns:a="http://schemas.openxmlformats.org/drawingml/2006/main">
            <a:off x="942975" y="647700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Multi-assay characterization already exists</a:t>
            </a:r>
          </a:p>
        </p:txBody>
      </p:sp>
      <p:sp>
        <p:nvSpPr>
          <p:cNvPr id="14" name="">
            <a:extLst xmlns:a="http://schemas.openxmlformats.org/drawingml/2006/main">
              <a:ext uri="{FF2B5EF4-FFF2-40B4-BE49-F238E27FC236}">
                <a16:creationId xmlns:a16="http://schemas.microsoft.com/office/drawing/2014/main" id="{4CFA674D-BEC6-4EA9-9902-5F2B5766ECA6}"/>
              </a:ext>
            </a:extLst>
          </p:cNvPr>
          <p:cNvSpPr>
            <a:spLocks xmlns:a="http://schemas.openxmlformats.org/drawingml/2006/main" noGrp="1"/>
          </p:cNvSpPr>
          <p:nvPr/>
        </p:nvSpPr>
        <p:spPr>
          <a:xfrm xmlns:a="http://schemas.openxmlformats.org/drawingml/2006/main">
            <a:off x="6477000" y="4648200"/>
            <a:ext cx="342900" cy="953"/>
          </a:xfrm>
          <a:custGeom xmlns:a="http://schemas.openxmlformats.org/drawingml/2006/main">
            <a:pathLst>
              <a:path w="342900" h="953">
                <a:moveTo>
                  <a:pt x="0" y="0"/>
                </a:moveTo>
                <a:lnTo>
                  <a:pt x="342900" y="0"/>
                </a:lnTo>
              </a:path>
            </a:pathLst>
          </a:custGeom>
          <a:noFill xmlns:a="http://schemas.openxmlformats.org/drawingml/2006/main"/>
          <a:ln xmlns:a="http://schemas.openxmlformats.org/drawingml/2006/main" w="28575">
            <a:solidFill>
              <a:srgbClr val="00355F"/>
            </a:solidFill>
          </a:ln>
        </p:spPr>
      </p:sp>
      <p:sp>
        <p:nvSpPr>
          <p:cNvPr id="15" name="">
            <a:extLst xmlns:a="http://schemas.openxmlformats.org/drawingml/2006/main">
              <a:ext uri="{FF2B5EF4-FFF2-40B4-BE49-F238E27FC236}">
                <a16:creationId xmlns:a16="http://schemas.microsoft.com/office/drawing/2014/main" id="{FAE9CCF3-5972-4B1A-A917-C594D92AD0B4}"/>
              </a:ext>
            </a:extLst>
          </p:cNvPr>
          <p:cNvSpPr>
            <a:spLocks xmlns:a="http://schemas.openxmlformats.org/drawingml/2006/main" noGrp="1"/>
          </p:cNvSpPr>
          <p:nvPr/>
        </p:nvSpPr>
        <p:spPr>
          <a:xfrm xmlns:a="http://schemas.openxmlformats.org/drawingml/2006/main">
            <a:off x="6736310" y="4602535"/>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16" name="AI: richer, linked training data">
            <a:extLst xmlns:a="http://schemas.openxmlformats.org/drawingml/2006/main">
              <a:ext uri="{FF2B5EF4-FFF2-40B4-BE49-F238E27FC236}">
                <a16:creationId xmlns:a16="http://schemas.microsoft.com/office/drawing/2014/main" id="{664777EC-5FA1-483E-B045-36EAF74312C2}"/>
              </a:ext>
            </a:extLst>
          </p:cNvPr>
          <p:cNvSpPr>
            <a:spLocks xmlns:a="http://schemas.openxmlformats.org/drawingml/2006/main" noGrp="1"/>
          </p:cNvSpPr>
          <p:nvPr/>
        </p:nvSpPr>
        <p:spPr>
          <a:xfrm xmlns:a="http://schemas.openxmlformats.org/drawingml/2006/main">
            <a:off x="7219950" y="23526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AI: richer, linked training data</a:t>
            </a:r>
          </a:p>
        </p:txBody>
      </p:sp>
      <p:sp>
        <p:nvSpPr>
          <p:cNvPr id="17" name="300–1,000 antibodies · Up to 9 label types">
            <a:extLst xmlns:a="http://schemas.openxmlformats.org/drawingml/2006/main">
              <a:ext uri="{FF2B5EF4-FFF2-40B4-BE49-F238E27FC236}">
                <a16:creationId xmlns:a16="http://schemas.microsoft.com/office/drawing/2014/main" id="{BBD4817C-23B0-4068-A5F5-AA8913417B95}"/>
              </a:ext>
            </a:extLst>
          </p:cNvPr>
          <p:cNvSpPr>
            <a:spLocks xmlns:a="http://schemas.openxmlformats.org/drawingml/2006/main" noGrp="1"/>
          </p:cNvSpPr>
          <p:nvPr/>
        </p:nvSpPr>
        <p:spPr>
          <a:xfrm xmlns:a="http://schemas.openxmlformats.org/drawingml/2006/main">
            <a:off x="7219950" y="284797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300–1,000 antibodies · Up to 9 label types</a:t>
            </a:r>
          </a:p>
        </p:txBody>
      </p:sp>
      <p:sp>
        <p:nvSpPr>
          <p:cNvPr id="18" name="Measure selected properties on shared molecules; fill the information gaps">
            <a:extLst xmlns:a="http://schemas.openxmlformats.org/drawingml/2006/main">
              <a:ext uri="{FF2B5EF4-FFF2-40B4-BE49-F238E27FC236}">
                <a16:creationId xmlns:a16="http://schemas.microsoft.com/office/drawing/2014/main" id="{A5A8644B-D2F8-45E4-BBCF-BCA7854D0877}"/>
              </a:ext>
            </a:extLst>
          </p:cNvPr>
          <p:cNvSpPr>
            <a:spLocks xmlns:a="http://schemas.openxmlformats.org/drawingml/2006/main" noGrp="1"/>
          </p:cNvSpPr>
          <p:nvPr/>
        </p:nvSpPr>
        <p:spPr>
          <a:xfrm xmlns:a="http://schemas.openxmlformats.org/drawingml/2006/main">
            <a:off x="7219950" y="3305175"/>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Measure selected properties on shared molecules; fill the information gaps</a:t>
            </a:r>
          </a:p>
        </p:txBody>
      </p:sp>
      <p:graphicFrame>
        <p:nvGraphicFramePr>
          <p:cNvPr id="19" name="">
            <a:extLst xmlns:a="http://schemas.openxmlformats.org/drawingml/2006/main">
              <a:ext uri="{FF2B5EF4-FFF2-40B4-BE49-F238E27FC236}">
                <a16:creationId xmlns:a16="http://schemas.microsoft.com/office/drawing/2014/main" id="{F9BAC48E-08D0-4B7D-9585-DEEB3AF256A2}"/>
              </a:ext>
            </a:extLst>
          </p:cNvPr>
          <p:cNvGraphicFramePr/>
          <p:nvPr/>
        </p:nvGraphicFramePr>
        <p:xfrm>
          <a:off xmlns:a="http://schemas.openxmlformats.org/drawingml/2006/main" x="7219950" y="3733800"/>
          <a:ext xmlns:a="http://schemas.openxmlformats.org/drawingml/2006/main" cx="10115550" cy="2286000"/>
        </p:xfrm>
        <a:graphic xmlns:a="http://schemas.openxmlformats.org/drawingml/2006/main">
          <a:graphicData uri="http://schemas.openxmlformats.org/drawingml/2006/table">
            <a:tbl>
              <a:tblPr firstRow="1" bandRow="0"/>
              <a:tblGrid>
                <a:gridCol w="1123950"/>
                <a:gridCol w="895350"/>
                <a:gridCol w="895350"/>
                <a:gridCol w="895350"/>
                <a:gridCol w="1200150"/>
                <a:gridCol w="800100"/>
                <a:gridCol w="971550"/>
                <a:gridCol w="1085850"/>
                <a:gridCol w="990600"/>
                <a:gridCol w="1257300"/>
              </a:tblGrid>
              <a:tr h="400050">
                <a:tc>
                  <a:txBody>
                    <a:bodyPr/>
                    <a:lstStyle/>
                    <a:p>
                      <a:pPr algn="ct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KD</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kon</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koff</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expr</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Tm</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agg</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poly</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epi</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r>
                        <a:rPr sz="1350" b="1">
                          <a:solidFill>
                            <a:srgbClr val="FFFFFF"/>
                          </a:solidFill>
                          <a:latin typeface="Arial"/>
                          <a:ea typeface="Arial"/>
                          <a:cs typeface="Arial"/>
                        </a:rPr>
                        <a:t>cell</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120</a:t>
                      </a:r>
                    </a:p>
                  </a:txBody>
                  <a:tcPr marL="19050" marR="19050" marT="28575" marB="28575" anchor="ctr">
                    <a:lnR w="19050">
                      <a:solidFill>
                        <a:srgbClr val="FFFFFF"/>
                      </a:solidFill>
                    </a:lnR>
                    <a:lnB w="19050">
                      <a:solidFill>
                        <a:srgbClr val="FFFFFF"/>
                      </a:solidFill>
                    </a:lnB>
                    <a:solidFill>
                      <a:srgbClr val="ECF5FC"/>
                    </a:solidFill>
                  </a:tcPr>
                </a:tc>
                <a:tc>
                  <a:txBody>
                    <a:bodyPr/>
                    <a:lstStyle/>
                    <a:p>
                      <a:pPr algn="ctr"/>
                      <a:r>
                        <a:rPr sz="1425" b="0">
                          <a:solidFill>
                            <a:srgbClr val="FFFFFF"/>
                          </a:solidFill>
                          <a:latin typeface="Arial"/>
                          <a:ea typeface="Arial"/>
                          <a:cs typeface="Arial"/>
                        </a:rPr>
                        <a:t>7200</a:t>
                      </a:r>
                    </a:p>
                  </a:txBody>
                  <a:tcPr marL="19050" marR="19050" marT="28575" marB="28575" anchor="ctr">
                    <a:lnR w="19050">
                      <a:solidFill>
                        <a:srgbClr val="FFFFFF"/>
                      </a:solidFill>
                    </a:lnR>
                    <a:lnB w="19050">
                      <a:solidFill>
                        <a:srgbClr val="FFFFFF"/>
                      </a:solidFill>
                    </a:lnB>
                    <a:solidFill>
                      <a:srgbClr val="6189B6"/>
                    </a:solidFill>
                  </a:tcPr>
                </a:tc>
                <a:tc>
                  <a:txBody>
                    <a:bodyPr/>
                    <a:lstStyle/>
                    <a:p>
                      <a:pPr algn="ctr"/>
                      <a:r>
                        <a:rPr sz="1425" b="0">
                          <a:solidFill>
                            <a:srgbClr val="00355F"/>
                          </a:solidFill>
                          <a:latin typeface="Arial"/>
                          <a:ea typeface="Arial"/>
                          <a:cs typeface="Arial"/>
                        </a:rPr>
                        <a:t>1800</a:t>
                      </a:r>
                    </a:p>
                  </a:txBody>
                  <a:tcPr marL="19050" marR="19050" marT="28575" marB="28575" anchor="ctr">
                    <a:lnR w="19050">
                      <a:solidFill>
                        <a:srgbClr val="FFFFFF"/>
                      </a:solidFill>
                    </a:lnR>
                    <a:lnB w="19050">
                      <a:solidFill>
                        <a:srgbClr val="FFFFFF"/>
                      </a:solidFill>
                    </a:lnB>
                    <a:solidFill>
                      <a:srgbClr val="CAE4F6"/>
                    </a:solidFill>
                  </a:tcPr>
                </a:tc>
                <a:tc>
                  <a:txBody>
                    <a:bodyPr/>
                    <a:lstStyle/>
                    <a:p>
                      <a:pPr algn="ctr"/>
                      <a:r>
                        <a:rPr sz="1425" b="0">
                          <a:solidFill>
                            <a:srgbClr val="FFFFFF"/>
                          </a:solidFill>
                          <a:latin typeface="Arial"/>
                          <a:ea typeface="Arial"/>
                          <a:cs typeface="Arial"/>
                        </a:rPr>
                        <a:t>8400</a:t>
                      </a:r>
                    </a:p>
                  </a:txBody>
                  <a:tcPr marL="19050" marR="19050" marT="28575" marB="28575" anchor="ctr">
                    <a:lnR w="19050">
                      <a:solidFill>
                        <a:srgbClr val="FFFFFF"/>
                      </a:solidFill>
                    </a:lnR>
                    <a:lnB w="19050">
                      <a:solidFill>
                        <a:srgbClr val="FFFFFF"/>
                      </a:solidFill>
                    </a:lnB>
                    <a:solidFill>
                      <a:srgbClr val="376590"/>
                    </a:solidFill>
                  </a:tcPr>
                </a:tc>
                <a:tc>
                  <a:txBody>
                    <a:bodyPr/>
                    <a:lstStyle/>
                    <a:p>
                      <a:pPr algn="ctr"/>
                      <a:r>
                        <a:rPr sz="1425" b="0">
                          <a:solidFill>
                            <a:srgbClr val="00355F"/>
                          </a:solidFill>
                          <a:latin typeface="Arial"/>
                          <a:ea typeface="Arial"/>
                          <a:cs typeface="Arial"/>
                        </a:rPr>
                        <a:t>5100</a:t>
                      </a:r>
                    </a:p>
                  </a:txBody>
                  <a:tcPr marL="19050" marR="19050" marT="28575" marB="28575" anchor="ctr">
                    <a:lnR w="19050">
                      <a:solidFill>
                        <a:srgbClr val="FFFFFF"/>
                      </a:solidFill>
                    </a:lnR>
                    <a:lnB w="19050">
                      <a:solidFill>
                        <a:srgbClr val="FFFFFF"/>
                      </a:solidFill>
                    </a:lnB>
                    <a:solidFill>
                      <a:srgbClr val="8EB5DA"/>
                    </a:solidFill>
                  </a:tcPr>
                </a:tc>
                <a:tc>
                  <a:txBody>
                    <a:bodyPr/>
                    <a:lstStyle/>
                    <a:p>
                      <a:pPr algn="ctr"/>
                      <a:r>
                        <a:rPr sz="1425" b="0">
                          <a:solidFill>
                            <a:srgbClr val="00355F"/>
                          </a:solidFill>
                          <a:latin typeface="Arial"/>
                          <a:ea typeface="Arial"/>
                          <a:cs typeface="Arial"/>
                        </a:rPr>
                        <a:t>75</a:t>
                      </a:r>
                    </a:p>
                  </a:txBody>
                  <a:tcPr marL="19050" marR="19050" marT="28575" marB="28575" anchor="ctr">
                    <a:lnR w="19050">
                      <a:solidFill>
                        <a:srgbClr val="FFFFFF"/>
                      </a:solidFill>
                    </a:lnR>
                    <a:lnB w="19050">
                      <a:solidFill>
                        <a:srgbClr val="FFFFFF"/>
                      </a:solidFill>
                    </a:lnB>
                    <a:solidFill>
                      <a:srgbClr val="EDF5FC"/>
                    </a:solidFill>
                  </a:tcPr>
                </a:tc>
                <a:tc>
                  <a:txBody>
                    <a:bodyPr/>
                    <a:lstStyle/>
                    <a:p>
                      <a:pPr algn="ctr"/>
                      <a:r>
                        <a:rPr sz="1425" b="0">
                          <a:solidFill>
                            <a:srgbClr val="00355F"/>
                          </a:solidFill>
                          <a:latin typeface="Arial"/>
                          <a:ea typeface="Arial"/>
                          <a:cs typeface="Arial"/>
                        </a:rPr>
                        <a:t>3200</a:t>
                      </a:r>
                    </a:p>
                  </a:txBody>
                  <a:tcPr marL="19050" marR="19050" marT="28575" marB="28575" anchor="ctr">
                    <a:lnR w="19050">
                      <a:solidFill>
                        <a:srgbClr val="FFFFFF"/>
                      </a:solidFill>
                    </a:lnR>
                    <a:lnB w="19050">
                      <a:solidFill>
                        <a:srgbClr val="FFFFFF"/>
                      </a:solidFill>
                    </a:lnB>
                    <a:solidFill>
                      <a:srgbClr val="AFD5F1"/>
                    </a:solidFill>
                  </a:tcPr>
                </a:tc>
                <a:tc>
                  <a:txBody>
                    <a:bodyPr/>
                    <a:lstStyle/>
                    <a:p>
                      <a:pPr algn="ctr"/>
                      <a:r>
                        <a:rPr sz="1425" b="0">
                          <a:solidFill>
                            <a:srgbClr val="FFFFFF"/>
                          </a:solidFill>
                          <a:latin typeface="Arial"/>
                          <a:ea typeface="Arial"/>
                          <a:cs typeface="Arial"/>
                        </a:rPr>
                        <a:t>9000</a:t>
                      </a:r>
                    </a:p>
                  </a:txBody>
                  <a:tcPr marL="19050" marR="19050" marT="28575" marB="28575" anchor="ctr">
                    <a:lnR w="19050">
                      <a:solidFill>
                        <a:srgbClr val="FFFFFF"/>
                      </a:solidFill>
                    </a:lnR>
                    <a:lnB w="19050">
                      <a:solidFill>
                        <a:srgbClr val="FFFFFF"/>
                      </a:solidFill>
                    </a:lnB>
                    <a:solidFill>
                      <a:srgbClr val="23537E"/>
                    </a:solidFill>
                  </a:tcPr>
                </a:tc>
                <a:tc>
                  <a:txBody>
                    <a:bodyPr/>
                    <a:lstStyle/>
                    <a:p>
                      <a:pPr algn="ctr"/>
                      <a:r>
                        <a:rPr sz="1425" b="0">
                          <a:solidFill>
                            <a:srgbClr val="00355F"/>
                          </a:solidFill>
                          <a:latin typeface="Arial"/>
                          <a:ea typeface="Arial"/>
                          <a:cs typeface="Arial"/>
                        </a:rPr>
                        <a:t>430</a:t>
                      </a:r>
                    </a:p>
                  </a:txBody>
                  <a:tcPr marL="19050" marR="19050" marT="28575" marB="28575" anchor="ctr">
                    <a:lnR w="19050">
                      <a:solidFill>
                        <a:srgbClr val="FFFFFF"/>
                      </a:solidFill>
                    </a:lnR>
                    <a:lnB w="19050">
                      <a:solidFill>
                        <a:srgbClr val="FFFFFF"/>
                      </a:solidFill>
                    </a:lnB>
                    <a:solidFill>
                      <a:srgbClr val="E6F2FB"/>
                    </a:solidFill>
                  </a:tcPr>
                </a:tc>
              </a:tr>
              <a:tr h="314325">
                <a:tc>
                  <a:txBody>
                    <a:bodyPr/>
                    <a:lstStyle/>
                    <a:p>
                      <a:pPr algn="ct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FFFFFF"/>
                          </a:solidFill>
                          <a:latin typeface="Arial"/>
                          <a:ea typeface="Arial"/>
                          <a:cs typeface="Arial"/>
                        </a:rPr>
                        <a:t>8100</a:t>
                      </a:r>
                    </a:p>
                  </a:txBody>
                  <a:tcPr marL="19050" marR="19050" marT="28575" marB="28575" anchor="ctr">
                    <a:lnR w="19050">
                      <a:solidFill>
                        <a:srgbClr val="FFFFFF"/>
                      </a:solidFill>
                    </a:lnR>
                    <a:lnB w="19050">
                      <a:solidFill>
                        <a:srgbClr val="FFFFFF"/>
                      </a:solidFill>
                    </a:lnB>
                    <a:solidFill>
                      <a:srgbClr val="426E9A"/>
                    </a:solidFill>
                  </a:tcPr>
                </a:tc>
                <a:tc>
                  <a:txBody>
                    <a:bodyPr/>
                    <a:lstStyle/>
                    <a:p>
                      <a:pPr algn="ctr"/>
                      <a:r>
                        <a:rPr sz="1425" b="0">
                          <a:solidFill>
                            <a:srgbClr val="00355F"/>
                          </a:solidFill>
                          <a:latin typeface="Arial"/>
                          <a:ea typeface="Arial"/>
                          <a:cs typeface="Arial"/>
                        </a:rPr>
                        <a:t>640</a:t>
                      </a:r>
                    </a:p>
                  </a:txBody>
                  <a:tcPr marL="19050" marR="19050" marT="28575" marB="28575" anchor="ctr">
                    <a:lnR w="19050">
                      <a:solidFill>
                        <a:srgbClr val="FFFFFF"/>
                      </a:solidFill>
                    </a:lnR>
                    <a:lnB w="19050">
                      <a:solidFill>
                        <a:srgbClr val="FFFFFF"/>
                      </a:solidFill>
                    </a:lnB>
                    <a:solidFill>
                      <a:srgbClr val="E1EFFA"/>
                    </a:solidFill>
                  </a:tcPr>
                </a:tc>
                <a:tc>
                  <a:txBody>
                    <a:bodyPr/>
                    <a:lstStyle/>
                    <a:p>
                      <a:pPr algn="ctr"/>
                      <a:r>
                        <a:rPr sz="1425" b="0">
                          <a:solidFill>
                            <a:srgbClr val="00355F"/>
                          </a:solidFill>
                          <a:latin typeface="Arial"/>
                          <a:ea typeface="Arial"/>
                          <a:cs typeface="Arial"/>
                        </a:rPr>
                        <a:t>5400</a:t>
                      </a:r>
                    </a:p>
                  </a:txBody>
                  <a:tcPr marL="19050" marR="19050" marT="28575" marB="28575" anchor="ctr">
                    <a:lnR w="19050">
                      <a:solidFill>
                        <a:srgbClr val="FFFFFF"/>
                      </a:solidFill>
                    </a:lnR>
                    <a:lnB w="19050">
                      <a:solidFill>
                        <a:srgbClr val="FFFFFF"/>
                      </a:solidFill>
                    </a:lnB>
                    <a:solidFill>
                      <a:srgbClr val="89AFD6"/>
                    </a:solidFill>
                  </a:tcPr>
                </a:tc>
                <a:tc>
                  <a:txBody>
                    <a:bodyPr/>
                    <a:lstStyle/>
                    <a:p>
                      <a:pPr algn="ctr"/>
                      <a:r>
                        <a:rPr sz="1425" b="0">
                          <a:solidFill>
                            <a:srgbClr val="00355F"/>
                          </a:solidFill>
                          <a:latin typeface="Arial"/>
                          <a:ea typeface="Arial"/>
                          <a:cs typeface="Arial"/>
                        </a:rPr>
                        <a:t>2200</a:t>
                      </a:r>
                    </a:p>
                  </a:txBody>
                  <a:tcPr marL="19050" marR="19050" marT="28575" marB="28575" anchor="ctr">
                    <a:lnR w="19050">
                      <a:solidFill>
                        <a:srgbClr val="FFFFFF"/>
                      </a:solidFill>
                    </a:lnR>
                    <a:lnB w="19050">
                      <a:solidFill>
                        <a:srgbClr val="FFFFFF"/>
                      </a:solidFill>
                    </a:lnB>
                    <a:solidFill>
                      <a:srgbClr val="C2E0F5"/>
                    </a:solidFill>
                  </a:tcPr>
                </a:tc>
                <a:tc>
                  <a:txBody>
                    <a:bodyPr/>
                    <a:lstStyle/>
                    <a:p>
                      <a:pPr algn="ctr"/>
                      <a:r>
                        <a:rPr sz="1425" b="0">
                          <a:solidFill>
                            <a:srgbClr val="FFFFFF"/>
                          </a:solidFill>
                          <a:latin typeface="Arial"/>
                          <a:ea typeface="Arial"/>
                          <a:cs typeface="Arial"/>
                        </a:rPr>
                        <a:t>9500</a:t>
                      </a:r>
                    </a:p>
                  </a:txBody>
                  <a:tcPr marL="19050" marR="19050" marT="28575" marB="28575" anchor="ctr">
                    <a:lnR w="19050">
                      <a:solidFill>
                        <a:srgbClr val="FFFFFF"/>
                      </a:solidFill>
                    </a:lnR>
                    <a:lnB w="19050">
                      <a:solidFill>
                        <a:srgbClr val="FFFFFF"/>
                      </a:solidFill>
                    </a:lnB>
                    <a:solidFill>
                      <a:srgbClr val="11446E"/>
                    </a:solidFill>
                  </a:tcPr>
                </a:tc>
                <a:tc>
                  <a:txBody>
                    <a:bodyPr/>
                    <a:lstStyle/>
                    <a:p>
                      <a:pPr algn="ctr"/>
                      <a:r>
                        <a:rPr sz="1425" b="0">
                          <a:solidFill>
                            <a:srgbClr val="00355F"/>
                          </a:solidFill>
                          <a:latin typeface="Arial"/>
                          <a:ea typeface="Arial"/>
                          <a:cs typeface="Arial"/>
                        </a:rPr>
                        <a:t>1600</a:t>
                      </a:r>
                    </a:p>
                  </a:txBody>
                  <a:tcPr marL="19050" marR="19050" marT="28575" marB="28575" anchor="ctr">
                    <a:lnR w="19050">
                      <a:solidFill>
                        <a:srgbClr val="FFFFFF"/>
                      </a:solidFill>
                    </a:lnR>
                    <a:lnB w="19050">
                      <a:solidFill>
                        <a:srgbClr val="FFFFFF"/>
                      </a:solidFill>
                    </a:lnB>
                    <a:solidFill>
                      <a:srgbClr val="CEE6F7"/>
                    </a:solidFill>
                  </a:tcPr>
                </a:tc>
                <a:tc>
                  <a:txBody>
                    <a:bodyPr/>
                    <a:lstStyle/>
                    <a:p>
                      <a:pPr algn="ctr"/>
                      <a:r>
                        <a:rPr sz="1425" b="0">
                          <a:solidFill>
                            <a:srgbClr val="00355F"/>
                          </a:solidFill>
                          <a:latin typeface="Arial"/>
                          <a:ea typeface="Arial"/>
                          <a:cs typeface="Arial"/>
                        </a:rPr>
                        <a:t>4100</a:t>
                      </a:r>
                    </a:p>
                  </a:txBody>
                  <a:tcPr marL="19050" marR="19050" marT="28575" marB="28575" anchor="ctr">
                    <a:lnR w="19050">
                      <a:solidFill>
                        <a:srgbClr val="FFFFFF"/>
                      </a:solidFill>
                    </a:lnR>
                    <a:lnB w="19050">
                      <a:solidFill>
                        <a:srgbClr val="FFFFFF"/>
                      </a:solidFill>
                    </a:lnB>
                    <a:solidFill>
                      <a:srgbClr val="9FC6E7"/>
                    </a:solidFill>
                  </a:tcPr>
                </a:tc>
                <a:tc>
                  <a:txBody>
                    <a:bodyPr/>
                    <a:lstStyle/>
                    <a:p>
                      <a:pPr algn="ctr"/>
                      <a:r>
                        <a:rPr sz="1425" b="0">
                          <a:solidFill>
                            <a:srgbClr val="00355F"/>
                          </a:solidFill>
                          <a:latin typeface="Arial"/>
                          <a:ea typeface="Arial"/>
                          <a:cs typeface="Arial"/>
                        </a:rPr>
                        <a:t>500</a:t>
                      </a:r>
                    </a:p>
                  </a:txBody>
                  <a:tcPr marL="19050" marR="19050" marT="28575" marB="28575" anchor="ctr">
                    <a:lnR w="19050">
                      <a:solidFill>
                        <a:srgbClr val="FFFFFF"/>
                      </a:solidFill>
                    </a:lnR>
                    <a:lnB w="19050">
                      <a:solidFill>
                        <a:srgbClr val="FFFFFF"/>
                      </a:solidFill>
                    </a:lnB>
                    <a:solidFill>
                      <a:srgbClr val="E4F1FA"/>
                    </a:solidFill>
                  </a:tcPr>
                </a:tc>
                <a:tc>
                  <a:txBody>
                    <a:bodyPr/>
                    <a:lstStyle/>
                    <a:p>
                      <a:pPr algn="ctr"/>
                      <a:r>
                        <a:rPr sz="1425" b="0">
                          <a:solidFill>
                            <a:srgbClr val="FFFFFF"/>
                          </a:solidFill>
                          <a:latin typeface="Arial"/>
                          <a:ea typeface="Arial"/>
                          <a:cs typeface="Arial"/>
                        </a:rPr>
                        <a:t>6900</a:t>
                      </a:r>
                    </a:p>
                  </a:txBody>
                  <a:tcPr marL="19050" marR="19050" marT="28575" marB="28575" anchor="ctr">
                    <a:lnR w="19050">
                      <a:solidFill>
                        <a:srgbClr val="FFFFFF"/>
                      </a:solidFill>
                    </a:lnR>
                    <a:lnB w="19050">
                      <a:solidFill>
                        <a:srgbClr val="FFFFFF"/>
                      </a:solidFill>
                    </a:lnB>
                    <a:solidFill>
                      <a:srgbClr val="6B92BF"/>
                    </a:solidFill>
                  </a:tcPr>
                </a:tc>
              </a:tr>
              <a:tr h="314325">
                <a:tc>
                  <a:txBody>
                    <a:bodyPr/>
                    <a:lstStyle/>
                    <a:p>
                      <a:pPr algn="ct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2600</a:t>
                      </a:r>
                    </a:p>
                  </a:txBody>
                  <a:tcPr marL="19050" marR="19050" marT="28575" marB="28575" anchor="ctr">
                    <a:lnR w="19050">
                      <a:solidFill>
                        <a:srgbClr val="FFFFFF"/>
                      </a:solidFill>
                    </a:lnR>
                    <a:lnB w="19050">
                      <a:solidFill>
                        <a:srgbClr val="FFFFFF"/>
                      </a:solidFill>
                    </a:lnB>
                    <a:solidFill>
                      <a:srgbClr val="BBDBF3"/>
                    </a:solidFill>
                  </a:tcPr>
                </a:tc>
                <a:tc>
                  <a:txBody>
                    <a:bodyPr/>
                    <a:lstStyle/>
                    <a:p>
                      <a:pPr algn="ctr"/>
                      <a:r>
                        <a:rPr sz="1425" b="0">
                          <a:solidFill>
                            <a:srgbClr val="FFFFFF"/>
                          </a:solidFill>
                          <a:latin typeface="Arial"/>
                          <a:ea typeface="Arial"/>
                          <a:cs typeface="Arial"/>
                        </a:rPr>
                        <a:t>9200</a:t>
                      </a:r>
                    </a:p>
                  </a:txBody>
                  <a:tcPr marL="19050" marR="19050" marT="28575" marB="28575" anchor="ctr">
                    <a:lnR w="19050">
                      <a:solidFill>
                        <a:srgbClr val="FFFFFF"/>
                      </a:solidFill>
                    </a:lnR>
                    <a:lnB w="19050">
                      <a:solidFill>
                        <a:srgbClr val="FFFFFF"/>
                      </a:solidFill>
                    </a:lnB>
                    <a:solidFill>
                      <a:srgbClr val="1C4D78"/>
                    </a:solidFill>
                  </a:tcPr>
                </a:tc>
                <a:tc>
                  <a:txBody>
                    <a:bodyPr/>
                    <a:lstStyle/>
                    <a:p>
                      <a:pPr algn="ctr"/>
                      <a:r>
                        <a:rPr sz="1425" b="0">
                          <a:solidFill>
                            <a:srgbClr val="00355F"/>
                          </a:solidFill>
                          <a:latin typeface="Arial"/>
                          <a:ea typeface="Arial"/>
                          <a:cs typeface="Arial"/>
                        </a:rPr>
                        <a:t>410</a:t>
                      </a:r>
                    </a:p>
                  </a:txBody>
                  <a:tcPr marL="19050" marR="19050" marT="28575" marB="28575" anchor="ctr">
                    <a:lnR w="19050">
                      <a:solidFill>
                        <a:srgbClr val="FFFFFF"/>
                      </a:solidFill>
                    </a:lnR>
                    <a:lnB w="19050">
                      <a:solidFill>
                        <a:srgbClr val="FFFFFF"/>
                      </a:solidFill>
                    </a:lnB>
                    <a:solidFill>
                      <a:srgbClr val="E6F2FB"/>
                    </a:solidFill>
                  </a:tcPr>
                </a:tc>
                <a:tc>
                  <a:txBody>
                    <a:bodyPr/>
                    <a:lstStyle/>
                    <a:p>
                      <a:pPr algn="ctr"/>
                      <a:r>
                        <a:rPr sz="1425" b="0">
                          <a:solidFill>
                            <a:srgbClr val="FFFFFF"/>
                          </a:solidFill>
                          <a:latin typeface="Arial"/>
                          <a:ea typeface="Arial"/>
                          <a:cs typeface="Arial"/>
                        </a:rPr>
                        <a:t>6500</a:t>
                      </a:r>
                    </a:p>
                  </a:txBody>
                  <a:tcPr marL="19050" marR="19050" marT="28575" marB="28575" anchor="ctr">
                    <a:lnR w="19050">
                      <a:solidFill>
                        <a:srgbClr val="FFFFFF"/>
                      </a:solidFill>
                    </a:lnR>
                    <a:lnB w="19050">
                      <a:solidFill>
                        <a:srgbClr val="FFFFFF"/>
                      </a:solidFill>
                    </a:lnB>
                    <a:solidFill>
                      <a:srgbClr val="769CC8"/>
                    </a:solidFill>
                  </a:tcPr>
                </a:tc>
                <a:tc>
                  <a:txBody>
                    <a:bodyPr/>
                    <a:lstStyle/>
                    <a:p>
                      <a:pPr algn="ctr"/>
                      <a:r>
                        <a:rPr sz="1425" b="0">
                          <a:solidFill>
                            <a:srgbClr val="00355F"/>
                          </a:solidFill>
                          <a:latin typeface="Arial"/>
                          <a:ea typeface="Arial"/>
                          <a:cs typeface="Arial"/>
                        </a:rPr>
                        <a:t>3100</a:t>
                      </a:r>
                    </a:p>
                  </a:txBody>
                  <a:tcPr marL="19050" marR="19050" marT="28575" marB="28575" anchor="ctr">
                    <a:lnR w="19050">
                      <a:solidFill>
                        <a:srgbClr val="FFFFFF"/>
                      </a:solidFill>
                    </a:lnR>
                    <a:lnB w="19050">
                      <a:solidFill>
                        <a:srgbClr val="FFFFFF"/>
                      </a:solidFill>
                    </a:lnB>
                    <a:solidFill>
                      <a:srgbClr val="B1D6F2"/>
                    </a:solidFill>
                  </a:tcPr>
                </a:tc>
                <a:tc>
                  <a:txBody>
                    <a:bodyPr/>
                    <a:lstStyle/>
                    <a:p>
                      <a:pPr algn="ctr"/>
                      <a:r>
                        <a:rPr sz="1425" b="0">
                          <a:solidFill>
                            <a:srgbClr val="FFFFFF"/>
                          </a:solidFill>
                          <a:latin typeface="Arial"/>
                          <a:ea typeface="Arial"/>
                          <a:cs typeface="Arial"/>
                        </a:rPr>
                        <a:t>7900</a:t>
                      </a:r>
                    </a:p>
                  </a:txBody>
                  <a:tcPr marL="19050" marR="19050" marT="28575" marB="28575" anchor="ctr">
                    <a:lnR w="19050">
                      <a:solidFill>
                        <a:srgbClr val="FFFFFF"/>
                      </a:solidFill>
                    </a:lnR>
                    <a:lnB w="19050">
                      <a:solidFill>
                        <a:srgbClr val="FFFFFF"/>
                      </a:solidFill>
                    </a:lnB>
                    <a:solidFill>
                      <a:srgbClr val="4874A0"/>
                    </a:solidFill>
                  </a:tcPr>
                </a:tc>
                <a:tc>
                  <a:txBody>
                    <a:bodyPr/>
                    <a:lstStyle/>
                    <a:p>
                      <a:pPr algn="ctr"/>
                      <a:r>
                        <a:rPr sz="1425" b="0">
                          <a:solidFill>
                            <a:srgbClr val="00355F"/>
                          </a:solidFill>
                          <a:latin typeface="Arial"/>
                          <a:ea typeface="Arial"/>
                          <a:cs typeface="Arial"/>
                        </a:rPr>
                        <a:t>950</a:t>
                      </a:r>
                    </a:p>
                  </a:txBody>
                  <a:tcPr marL="19050" marR="19050" marT="28575" marB="28575" anchor="ctr">
                    <a:lnR w="19050">
                      <a:solidFill>
                        <a:srgbClr val="FFFFFF"/>
                      </a:solidFill>
                    </a:lnR>
                    <a:lnB w="19050">
                      <a:solidFill>
                        <a:srgbClr val="FFFFFF"/>
                      </a:solidFill>
                    </a:lnB>
                    <a:solidFill>
                      <a:srgbClr val="DBECF9"/>
                    </a:solidFill>
                  </a:tcPr>
                </a:tc>
                <a:tc>
                  <a:txBody>
                    <a:bodyPr/>
                    <a:lstStyle/>
                    <a:p>
                      <a:pPr algn="ctr"/>
                      <a:r>
                        <a:rPr sz="1425" b="0">
                          <a:solidFill>
                            <a:srgbClr val="00355F"/>
                          </a:solidFill>
                          <a:latin typeface="Arial"/>
                          <a:ea typeface="Arial"/>
                          <a:cs typeface="Arial"/>
                        </a:rPr>
                        <a:t>4800</a:t>
                      </a:r>
                    </a:p>
                  </a:txBody>
                  <a:tcPr marL="19050" marR="19050" marT="28575" marB="28575" anchor="ctr">
                    <a:lnR w="19050">
                      <a:solidFill>
                        <a:srgbClr val="FFFFFF"/>
                      </a:solidFill>
                    </a:lnR>
                    <a:lnB w="19050">
                      <a:solidFill>
                        <a:srgbClr val="FFFFFF"/>
                      </a:solidFill>
                    </a:lnB>
                    <a:solidFill>
                      <a:srgbClr val="93BADE"/>
                    </a:solidFill>
                  </a:tcPr>
                </a:tc>
                <a:tc>
                  <a:txBody>
                    <a:bodyPr/>
                    <a:lstStyle/>
                    <a:p>
                      <a:pPr algn="ctr"/>
                      <a:r>
                        <a:rPr sz="1425" b="0">
                          <a:solidFill>
                            <a:srgbClr val="FFFFFF"/>
                          </a:solidFill>
                          <a:latin typeface="Arial"/>
                          <a:ea typeface="Arial"/>
                          <a:cs typeface="Arial"/>
                        </a:rPr>
                        <a:t>8300</a:t>
                      </a:r>
                    </a:p>
                  </a:txBody>
                  <a:tcPr marL="19050" marR="19050" marT="28575" marB="28575" anchor="ctr">
                    <a:lnR w="19050">
                      <a:solidFill>
                        <a:srgbClr val="FFFFFF"/>
                      </a:solidFill>
                    </a:lnR>
                    <a:lnB w="19050">
                      <a:solidFill>
                        <a:srgbClr val="FFFFFF"/>
                      </a:solidFill>
                    </a:lnB>
                    <a:solidFill>
                      <a:srgbClr val="3B6894"/>
                    </a:solidFill>
                  </a:tcPr>
                </a:tc>
              </a:tr>
              <a:tr h="314325">
                <a:tc>
                  <a:txBody>
                    <a:bodyPr/>
                    <a:lstStyle/>
                    <a:p>
                      <a:pPr algn="ct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FFFFFF"/>
                          </a:solidFill>
                          <a:latin typeface="Arial"/>
                          <a:ea typeface="Arial"/>
                          <a:cs typeface="Arial"/>
                        </a:rPr>
                        <a:t>9800</a:t>
                      </a:r>
                    </a:p>
                  </a:txBody>
                  <a:tcPr marL="19050" marR="19050" marT="28575" marB="28575" anchor="ctr">
                    <a:lnR w="19050">
                      <a:solidFill>
                        <a:srgbClr val="FFFFFF"/>
                      </a:solidFill>
                    </a:lnR>
                    <a:lnB w="19050">
                      <a:solidFill>
                        <a:srgbClr val="FFFFFF"/>
                      </a:solidFill>
                    </a:lnB>
                    <a:solidFill>
                      <a:srgbClr val="073B65"/>
                    </a:solidFill>
                  </a:tcPr>
                </a:tc>
                <a:tc>
                  <a:txBody>
                    <a:bodyPr/>
                    <a:lstStyle/>
                    <a:p>
                      <a:pPr algn="ctr"/>
                      <a:r>
                        <a:rPr sz="1425" b="0">
                          <a:solidFill>
                            <a:srgbClr val="00355F"/>
                          </a:solidFill>
                          <a:latin typeface="Arial"/>
                          <a:ea typeface="Arial"/>
                          <a:cs typeface="Arial"/>
                        </a:rPr>
                        <a:t>3100</a:t>
                      </a:r>
                    </a:p>
                  </a:txBody>
                  <a:tcPr marL="19050" marR="19050" marT="28575" marB="28575" anchor="ctr">
                    <a:lnR w="19050">
                      <a:solidFill>
                        <a:srgbClr val="FFFFFF"/>
                      </a:solidFill>
                    </a:lnR>
                    <a:lnB w="19050">
                      <a:solidFill>
                        <a:srgbClr val="FFFFFF"/>
                      </a:solidFill>
                    </a:lnB>
                    <a:solidFill>
                      <a:srgbClr val="B1D6F2"/>
                    </a:solidFill>
                  </a:tcPr>
                </a:tc>
                <a:tc>
                  <a:txBody>
                    <a:bodyPr/>
                    <a:lstStyle/>
                    <a:p>
                      <a:pPr algn="ctr"/>
                      <a:r>
                        <a:rPr sz="1425" b="0">
                          <a:solidFill>
                            <a:srgbClr val="FFFFFF"/>
                          </a:solidFill>
                          <a:latin typeface="Arial"/>
                          <a:ea typeface="Arial"/>
                          <a:cs typeface="Arial"/>
                        </a:rPr>
                        <a:t>7400</a:t>
                      </a:r>
                    </a:p>
                  </a:txBody>
                  <a:tcPr marL="19050" marR="19050" marT="28575" marB="28575" anchor="ctr">
                    <a:lnR w="19050">
                      <a:solidFill>
                        <a:srgbClr val="FFFFFF"/>
                      </a:solidFill>
                    </a:lnR>
                    <a:lnB w="19050">
                      <a:solidFill>
                        <a:srgbClr val="FFFFFF"/>
                      </a:solidFill>
                    </a:lnB>
                    <a:solidFill>
                      <a:srgbClr val="5A83AF"/>
                    </a:solidFill>
                  </a:tcPr>
                </a:tc>
                <a:tc>
                  <a:txBody>
                    <a:bodyPr/>
                    <a:lstStyle/>
                    <a:p>
                      <a:pPr algn="ctr"/>
                      <a:r>
                        <a:rPr sz="1425" b="0">
                          <a:solidFill>
                            <a:srgbClr val="00355F"/>
                          </a:solidFill>
                          <a:latin typeface="Arial"/>
                          <a:ea typeface="Arial"/>
                          <a:cs typeface="Arial"/>
                        </a:rPr>
                        <a:t>1200</a:t>
                      </a:r>
                    </a:p>
                  </a:txBody>
                  <a:tcPr marL="19050" marR="19050" marT="28575" marB="28575" anchor="ctr">
                    <a:lnR w="19050">
                      <a:solidFill>
                        <a:srgbClr val="FFFFFF"/>
                      </a:solidFill>
                    </a:lnR>
                    <a:lnB w="19050">
                      <a:solidFill>
                        <a:srgbClr val="FFFFFF"/>
                      </a:solidFill>
                    </a:lnB>
                    <a:solidFill>
                      <a:srgbClr val="D6EAF8"/>
                    </a:solidFill>
                  </a:tcPr>
                </a:tc>
                <a:tc>
                  <a:txBody>
                    <a:bodyPr/>
                    <a:lstStyle/>
                    <a:p>
                      <a:pPr algn="ctr"/>
                      <a:r>
                        <a:rPr sz="1425" b="0">
                          <a:solidFill>
                            <a:srgbClr val="FFFFFF"/>
                          </a:solidFill>
                          <a:latin typeface="Arial"/>
                          <a:ea typeface="Arial"/>
                          <a:cs typeface="Arial"/>
                        </a:rPr>
                        <a:t>6800</a:t>
                      </a:r>
                    </a:p>
                  </a:txBody>
                  <a:tcPr marL="19050" marR="19050" marT="28575" marB="28575" anchor="ctr">
                    <a:lnR w="19050">
                      <a:solidFill>
                        <a:srgbClr val="FFFFFF"/>
                      </a:solidFill>
                    </a:lnR>
                    <a:lnB w="19050">
                      <a:solidFill>
                        <a:srgbClr val="FFFFFF"/>
                      </a:solidFill>
                    </a:lnB>
                    <a:solidFill>
                      <a:srgbClr val="6E95C2"/>
                    </a:solidFill>
                  </a:tcPr>
                </a:tc>
                <a:tc>
                  <a:txBody>
                    <a:bodyPr/>
                    <a:lstStyle/>
                    <a:p>
                      <a:pPr algn="ctr"/>
                      <a:r>
                        <a:rPr sz="1425" b="0">
                          <a:solidFill>
                            <a:srgbClr val="00355F"/>
                          </a:solidFill>
                          <a:latin typeface="Arial"/>
                          <a:ea typeface="Arial"/>
                          <a:cs typeface="Arial"/>
                        </a:rPr>
                        <a:t>380</a:t>
                      </a:r>
                    </a:p>
                  </a:txBody>
                  <a:tcPr marL="19050" marR="19050" marT="28575" marB="28575" anchor="ctr">
                    <a:lnR w="19050">
                      <a:solidFill>
                        <a:srgbClr val="FFFFFF"/>
                      </a:solidFill>
                    </a:lnR>
                    <a:lnB w="19050">
                      <a:solidFill>
                        <a:srgbClr val="FFFFFF"/>
                      </a:solidFill>
                    </a:lnB>
                    <a:solidFill>
                      <a:srgbClr val="E6F2FB"/>
                    </a:solidFill>
                  </a:tcPr>
                </a:tc>
                <a:tc>
                  <a:txBody>
                    <a:bodyPr/>
                    <a:lstStyle/>
                    <a:p>
                      <a:pPr algn="ctr"/>
                      <a:r>
                        <a:rPr sz="1425" b="0">
                          <a:solidFill>
                            <a:srgbClr val="00355F"/>
                          </a:solidFill>
                          <a:latin typeface="Arial"/>
                          <a:ea typeface="Arial"/>
                          <a:cs typeface="Arial"/>
                        </a:rPr>
                        <a:t>5500</a:t>
                      </a:r>
                    </a:p>
                  </a:txBody>
                  <a:tcPr marL="19050" marR="19050" marT="28575" marB="28575" anchor="ctr">
                    <a:lnR w="19050">
                      <a:solidFill>
                        <a:srgbClr val="FFFFFF"/>
                      </a:solidFill>
                    </a:lnR>
                    <a:lnB w="19050">
                      <a:solidFill>
                        <a:srgbClr val="FFFFFF"/>
                      </a:solidFill>
                    </a:lnB>
                    <a:solidFill>
                      <a:srgbClr val="87AED5"/>
                    </a:solidFill>
                  </a:tcPr>
                </a:tc>
                <a:tc>
                  <a:txBody>
                    <a:bodyPr/>
                    <a:lstStyle/>
                    <a:p>
                      <a:pPr algn="ctr"/>
                      <a:r>
                        <a:rPr sz="1425" b="0">
                          <a:solidFill>
                            <a:srgbClr val="00355F"/>
                          </a:solidFill>
                          <a:latin typeface="Arial"/>
                          <a:ea typeface="Arial"/>
                          <a:cs typeface="Arial"/>
                        </a:rPr>
                        <a:t>1900</a:t>
                      </a:r>
                    </a:p>
                  </a:txBody>
                  <a:tcPr marL="19050" marR="19050" marT="28575" marB="28575" anchor="ctr">
                    <a:lnR w="19050">
                      <a:solidFill>
                        <a:srgbClr val="FFFFFF"/>
                      </a:solidFill>
                    </a:lnR>
                    <a:lnB w="19050">
                      <a:solidFill>
                        <a:srgbClr val="FFFFFF"/>
                      </a:solidFill>
                    </a:lnB>
                    <a:solidFill>
                      <a:srgbClr val="C8E3F6"/>
                    </a:solidFill>
                  </a:tcPr>
                </a:tc>
                <a:tc>
                  <a:txBody>
                    <a:bodyPr/>
                    <a:lstStyle/>
                    <a:p>
                      <a:pPr algn="ctr"/>
                      <a:r>
                        <a:rPr sz="1425" b="0">
                          <a:solidFill>
                            <a:srgbClr val="FFFFFF"/>
                          </a:solidFill>
                          <a:latin typeface="Arial"/>
                          <a:ea typeface="Arial"/>
                          <a:cs typeface="Arial"/>
                        </a:rPr>
                        <a:t>9100</a:t>
                      </a:r>
                    </a:p>
                  </a:txBody>
                  <a:tcPr marL="19050" marR="19050" marT="28575" marB="28575" anchor="ctr">
                    <a:lnR w="19050">
                      <a:solidFill>
                        <a:srgbClr val="FFFFFF"/>
                      </a:solidFill>
                    </a:lnR>
                    <a:lnB w="19050">
                      <a:solidFill>
                        <a:srgbClr val="FFFFFF"/>
                      </a:solidFill>
                    </a:lnB>
                    <a:solidFill>
                      <a:srgbClr val="1F507B"/>
                    </a:solidFill>
                  </a:tcPr>
                </a:tc>
              </a:tr>
              <a:tr h="314325">
                <a:tc>
                  <a:txBody>
                    <a:bodyPr/>
                    <a:lstStyle/>
                    <a:p>
                      <a:pPr algn="ct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355F"/>
                          </a:solidFill>
                          <a:latin typeface="Arial"/>
                          <a:ea typeface="Arial"/>
                          <a:cs typeface="Arial"/>
                        </a:rPr>
                        <a:t>540</a:t>
                      </a:r>
                    </a:p>
                  </a:txBody>
                  <a:tcPr marL="19050" marR="19050" marT="28575" marB="28575" anchor="ctr">
                    <a:lnR w="19050">
                      <a:solidFill>
                        <a:srgbClr val="FFFFFF"/>
                      </a:solidFill>
                    </a:lnR>
                    <a:lnB w="19050">
                      <a:solidFill>
                        <a:srgbClr val="FFFFFF"/>
                      </a:solidFill>
                    </a:lnB>
                    <a:solidFill>
                      <a:srgbClr val="E3F1FA"/>
                    </a:solidFill>
                  </a:tcPr>
                </a:tc>
                <a:tc>
                  <a:txBody>
                    <a:bodyPr/>
                    <a:lstStyle/>
                    <a:p>
                      <a:pPr algn="ctr"/>
                      <a:r>
                        <a:rPr sz="1425" b="0">
                          <a:solidFill>
                            <a:srgbClr val="00355F"/>
                          </a:solidFill>
                          <a:latin typeface="Arial"/>
                          <a:ea typeface="Arial"/>
                          <a:cs typeface="Arial"/>
                        </a:rPr>
                        <a:t>4700</a:t>
                      </a:r>
                    </a:p>
                  </a:txBody>
                  <a:tcPr marL="19050" marR="19050" marT="28575" marB="28575" anchor="ctr">
                    <a:lnR w="19050">
                      <a:solidFill>
                        <a:srgbClr val="FFFFFF"/>
                      </a:solidFill>
                    </a:lnR>
                    <a:lnB w="19050">
                      <a:solidFill>
                        <a:srgbClr val="FFFFFF"/>
                      </a:solidFill>
                    </a:lnB>
                    <a:solidFill>
                      <a:srgbClr val="95BCDF"/>
                    </a:solidFill>
                  </a:tcPr>
                </a:tc>
                <a:tc>
                  <a:txBody>
                    <a:bodyPr/>
                    <a:lstStyle/>
                    <a:p>
                      <a:pPr algn="ctr"/>
                      <a:r>
                        <a:rPr sz="1425" b="0">
                          <a:solidFill>
                            <a:srgbClr val="FFFFFF"/>
                          </a:solidFill>
                          <a:latin typeface="Arial"/>
                          <a:ea typeface="Arial"/>
                          <a:cs typeface="Arial"/>
                        </a:rPr>
                        <a:t>8800</a:t>
                      </a:r>
                    </a:p>
                  </a:txBody>
                  <a:tcPr marL="19050" marR="19050" marT="28575" marB="28575" anchor="ctr">
                    <a:lnR w="19050">
                      <a:solidFill>
                        <a:srgbClr val="FFFFFF"/>
                      </a:solidFill>
                    </a:lnR>
                    <a:lnB w="19050">
                      <a:solidFill>
                        <a:srgbClr val="FFFFFF"/>
                      </a:solidFill>
                    </a:lnB>
                    <a:solidFill>
                      <a:srgbClr val="295984"/>
                    </a:solidFill>
                  </a:tcPr>
                </a:tc>
                <a:tc>
                  <a:txBody>
                    <a:bodyPr/>
                    <a:lstStyle/>
                    <a:p>
                      <a:pPr algn="ctr"/>
                      <a:r>
                        <a:rPr sz="1425" b="0">
                          <a:solidFill>
                            <a:srgbClr val="00355F"/>
                          </a:solidFill>
                          <a:latin typeface="Arial"/>
                          <a:ea typeface="Arial"/>
                          <a:cs typeface="Arial"/>
                        </a:rPr>
                        <a:t>3600</a:t>
                      </a:r>
                    </a:p>
                  </a:txBody>
                  <a:tcPr marL="19050" marR="19050" marT="28575" marB="28575" anchor="ctr">
                    <a:lnR w="19050">
                      <a:solidFill>
                        <a:srgbClr val="FFFFFF"/>
                      </a:solidFill>
                    </a:lnR>
                    <a:lnB w="19050">
                      <a:solidFill>
                        <a:srgbClr val="FFFFFF"/>
                      </a:solidFill>
                    </a:lnB>
                    <a:solidFill>
                      <a:srgbClr val="A7CFEE"/>
                    </a:solidFill>
                  </a:tcPr>
                </a:tc>
                <a:tc>
                  <a:txBody>
                    <a:bodyPr/>
                    <a:lstStyle/>
                    <a:p>
                      <a:pPr algn="ctr"/>
                      <a:r>
                        <a:rPr sz="1425" b="0">
                          <a:solidFill>
                            <a:srgbClr val="00355F"/>
                          </a:solidFill>
                          <a:latin typeface="Arial"/>
                          <a:ea typeface="Arial"/>
                          <a:cs typeface="Arial"/>
                        </a:rPr>
                        <a:t>2000</a:t>
                      </a:r>
                    </a:p>
                  </a:txBody>
                  <a:tcPr marL="19050" marR="19050" marT="28575" marB="28575" anchor="ctr">
                    <a:lnR w="19050">
                      <a:solidFill>
                        <a:srgbClr val="FFFFFF"/>
                      </a:solidFill>
                    </a:lnR>
                    <a:lnB w="19050">
                      <a:solidFill>
                        <a:srgbClr val="FFFFFF"/>
                      </a:solidFill>
                    </a:lnB>
                    <a:solidFill>
                      <a:srgbClr val="C6E2F5"/>
                    </a:solidFill>
                  </a:tcPr>
                </a:tc>
                <a:tc>
                  <a:txBody>
                    <a:bodyPr/>
                    <a:lstStyle/>
                    <a:p>
                      <a:pPr algn="ctr"/>
                      <a:r>
                        <a:rPr sz="1425" b="0">
                          <a:solidFill>
                            <a:srgbClr val="FFFFFF"/>
                          </a:solidFill>
                          <a:latin typeface="Arial"/>
                          <a:ea typeface="Arial"/>
                          <a:cs typeface="Arial"/>
                        </a:rPr>
                        <a:t>6200</a:t>
                      </a:r>
                    </a:p>
                  </a:txBody>
                  <a:tcPr marL="19050" marR="19050" marT="28575" marB="28575" anchor="ctr">
                    <a:lnR w="19050">
                      <a:solidFill>
                        <a:srgbClr val="FFFFFF"/>
                      </a:solidFill>
                    </a:lnR>
                    <a:lnB w="19050">
                      <a:solidFill>
                        <a:srgbClr val="FFFFFF"/>
                      </a:solidFill>
                    </a:lnB>
                    <a:solidFill>
                      <a:srgbClr val="7BA1CC"/>
                    </a:solidFill>
                  </a:tcPr>
                </a:tc>
                <a:tc>
                  <a:txBody>
                    <a:bodyPr/>
                    <a:lstStyle/>
                    <a:p>
                      <a:pPr algn="ctr"/>
                      <a:r>
                        <a:rPr sz="1425" b="0">
                          <a:solidFill>
                            <a:srgbClr val="FFFFFF"/>
                          </a:solidFill>
                          <a:latin typeface="Arial"/>
                          <a:ea typeface="Arial"/>
                          <a:cs typeface="Arial"/>
                        </a:rPr>
                        <a:t>10000</a:t>
                      </a:r>
                    </a:p>
                  </a:txBody>
                  <a:tcPr marL="19050" marR="19050" marT="28575" marB="28575" anchor="ctr">
                    <a:lnR w="19050">
                      <a:solidFill>
                        <a:srgbClr val="FFFFFF"/>
                      </a:solidFill>
                    </a:lnR>
                    <a:lnB w="19050">
                      <a:solidFill>
                        <a:srgbClr val="FFFFFF"/>
                      </a:solidFill>
                    </a:lnB>
                    <a:solidFill>
                      <a:srgbClr val="00355F"/>
                    </a:solidFill>
                  </a:tcPr>
                </a:tc>
                <a:tc>
                  <a:txBody>
                    <a:bodyPr/>
                    <a:lstStyle/>
                    <a:p>
                      <a:pPr algn="ctr"/>
                      <a:r>
                        <a:rPr sz="1425" b="0">
                          <a:solidFill>
                            <a:srgbClr val="00355F"/>
                          </a:solidFill>
                          <a:latin typeface="Arial"/>
                          <a:ea typeface="Arial"/>
                          <a:cs typeface="Arial"/>
                        </a:rPr>
                        <a:t>710</a:t>
                      </a:r>
                    </a:p>
                  </a:txBody>
                  <a:tcPr marL="19050" marR="19050" marT="28575" marB="28575" anchor="ctr">
                    <a:lnR w="19050">
                      <a:solidFill>
                        <a:srgbClr val="FFFFFF"/>
                      </a:solidFill>
                    </a:lnR>
                    <a:lnB w="19050">
                      <a:solidFill>
                        <a:srgbClr val="FFFFFF"/>
                      </a:solidFill>
                    </a:lnB>
                    <a:solidFill>
                      <a:srgbClr val="E0EFFA"/>
                    </a:solidFill>
                  </a:tcPr>
                </a:tc>
                <a:tc>
                  <a:txBody>
                    <a:bodyPr/>
                    <a:lstStyle/>
                    <a:p>
                      <a:pPr algn="ctr"/>
                      <a:r>
                        <a:rPr sz="1425" b="0">
                          <a:solidFill>
                            <a:srgbClr val="00355F"/>
                          </a:solidFill>
                          <a:latin typeface="Arial"/>
                          <a:ea typeface="Arial"/>
                          <a:cs typeface="Arial"/>
                        </a:rPr>
                        <a:t>5700</a:t>
                      </a:r>
                    </a:p>
                  </a:txBody>
                  <a:tcPr marL="19050" marR="19050" marT="28575" marB="28575" anchor="ctr">
                    <a:lnR w="19050">
                      <a:solidFill>
                        <a:srgbClr val="FFFFFF"/>
                      </a:solidFill>
                    </a:lnR>
                    <a:lnB w="19050">
                      <a:solidFill>
                        <a:srgbClr val="FFFFFF"/>
                      </a:solidFill>
                    </a:lnB>
                    <a:solidFill>
                      <a:srgbClr val="84AAD2"/>
                    </a:solidFill>
                  </a:tcPr>
                </a:tc>
              </a:tr>
              <a:tr h="314325">
                <a:tc>
                  <a:txBody>
                    <a:bodyPr/>
                    <a:lstStyle/>
                    <a:p>
                      <a:pPr algn="ct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FFFFFF"/>
                          </a:solidFill>
                          <a:latin typeface="Arial"/>
                          <a:ea typeface="Arial"/>
                          <a:cs typeface="Arial"/>
                        </a:rPr>
                        <a:t>6300</a:t>
                      </a:r>
                    </a:p>
                  </a:txBody>
                  <a:tcPr marL="19050" marR="19050" marT="28575" marB="28575" anchor="ctr">
                    <a:lnR w="19050">
                      <a:solidFill>
                        <a:srgbClr val="FFFFFF"/>
                      </a:solidFill>
                    </a:lnR>
                    <a:lnB w="19050">
                      <a:solidFill>
                        <a:srgbClr val="FFFFFF"/>
                      </a:solidFill>
                    </a:lnB>
                    <a:solidFill>
                      <a:srgbClr val="799FCB"/>
                    </a:solidFill>
                  </a:tcPr>
                </a:tc>
                <a:tc>
                  <a:txBody>
                    <a:bodyPr/>
                    <a:lstStyle/>
                    <a:p>
                      <a:pPr algn="ctr"/>
                      <a:r>
                        <a:rPr sz="1425" b="0">
                          <a:solidFill>
                            <a:srgbClr val="00355F"/>
                          </a:solidFill>
                          <a:latin typeface="Arial"/>
                          <a:ea typeface="Arial"/>
                          <a:cs typeface="Arial"/>
                        </a:rPr>
                        <a:t>1400</a:t>
                      </a:r>
                    </a:p>
                  </a:txBody>
                  <a:tcPr marL="19050" marR="19050" marT="28575" marB="28575" anchor="ctr">
                    <a:lnR w="19050">
                      <a:solidFill>
                        <a:srgbClr val="FFFFFF"/>
                      </a:solidFill>
                    </a:lnR>
                    <a:lnB w="19050">
                      <a:solidFill>
                        <a:srgbClr val="FFFFFF"/>
                      </a:solidFill>
                    </a:lnB>
                    <a:solidFill>
                      <a:srgbClr val="D2E8F7"/>
                    </a:solidFill>
                  </a:tcPr>
                </a:tc>
                <a:tc>
                  <a:txBody>
                    <a:bodyPr/>
                    <a:lstStyle/>
                    <a:p>
                      <a:pPr algn="ctr"/>
                      <a:r>
                        <a:rPr sz="1425" b="0">
                          <a:solidFill>
                            <a:srgbClr val="00355F"/>
                          </a:solidFill>
                          <a:latin typeface="Arial"/>
                          <a:ea typeface="Arial"/>
                          <a:cs typeface="Arial"/>
                        </a:rPr>
                        <a:t>3000</a:t>
                      </a:r>
                    </a:p>
                  </a:txBody>
                  <a:tcPr marL="19050" marR="19050" marT="28575" marB="28575" anchor="ctr">
                    <a:lnR w="19050">
                      <a:solidFill>
                        <a:srgbClr val="FFFFFF"/>
                      </a:solidFill>
                    </a:lnR>
                    <a:lnB w="19050">
                      <a:solidFill>
                        <a:srgbClr val="FFFFFF"/>
                      </a:solidFill>
                    </a:lnB>
                    <a:solidFill>
                      <a:srgbClr val="B3D7F2"/>
                    </a:solidFill>
                  </a:tcPr>
                </a:tc>
                <a:tc>
                  <a:txBody>
                    <a:bodyPr/>
                    <a:lstStyle/>
                    <a:p>
                      <a:pPr algn="ctr"/>
                      <a:r>
                        <a:rPr sz="1425" b="0">
                          <a:solidFill>
                            <a:srgbClr val="FFFFFF"/>
                          </a:solidFill>
                          <a:latin typeface="Arial"/>
                          <a:ea typeface="Arial"/>
                          <a:cs typeface="Arial"/>
                        </a:rPr>
                        <a:t>9900</a:t>
                      </a:r>
                    </a:p>
                  </a:txBody>
                  <a:tcPr marL="19050" marR="19050" marT="28575" marB="28575" anchor="ctr">
                    <a:lnR w="19050">
                      <a:solidFill>
                        <a:srgbClr val="FFFFFF"/>
                      </a:solidFill>
                    </a:lnR>
                    <a:lnB w="19050">
                      <a:solidFill>
                        <a:srgbClr val="FFFFFF"/>
                      </a:solidFill>
                    </a:lnB>
                    <a:solidFill>
                      <a:srgbClr val="033862"/>
                    </a:solidFill>
                  </a:tcPr>
                </a:tc>
                <a:tc>
                  <a:txBody>
                    <a:bodyPr/>
                    <a:lstStyle/>
                    <a:p>
                      <a:pPr algn="ctr"/>
                      <a:r>
                        <a:rPr sz="1425" b="0">
                          <a:solidFill>
                            <a:srgbClr val="00355F"/>
                          </a:solidFill>
                          <a:latin typeface="Arial"/>
                          <a:ea typeface="Arial"/>
                          <a:cs typeface="Arial"/>
                        </a:rPr>
                        <a:t>4600</a:t>
                      </a:r>
                    </a:p>
                  </a:txBody>
                  <a:tcPr marL="19050" marR="19050" marT="28575" marB="28575" anchor="ctr">
                    <a:lnR w="19050">
                      <a:solidFill>
                        <a:srgbClr val="FFFFFF"/>
                      </a:solidFill>
                    </a:lnR>
                    <a:lnB w="19050">
                      <a:solidFill>
                        <a:srgbClr val="FFFFFF"/>
                      </a:solidFill>
                    </a:lnB>
                    <a:solidFill>
                      <a:srgbClr val="96BEE1"/>
                    </a:solidFill>
                  </a:tcPr>
                </a:tc>
                <a:tc>
                  <a:txBody>
                    <a:bodyPr/>
                    <a:lstStyle/>
                    <a:p>
                      <a:pPr algn="ctr"/>
                      <a:r>
                        <a:rPr sz="1425" b="0">
                          <a:solidFill>
                            <a:srgbClr val="FFFFFF"/>
                          </a:solidFill>
                          <a:latin typeface="Arial"/>
                          <a:ea typeface="Arial"/>
                          <a:cs typeface="Arial"/>
                        </a:rPr>
                        <a:t>8700</a:t>
                      </a:r>
                    </a:p>
                  </a:txBody>
                  <a:tcPr marL="19050" marR="19050" marT="28575" marB="28575" anchor="ctr">
                    <a:lnR w="19050">
                      <a:solidFill>
                        <a:srgbClr val="FFFFFF"/>
                      </a:solidFill>
                    </a:lnR>
                    <a:lnB w="19050">
                      <a:solidFill>
                        <a:srgbClr val="FFFFFF"/>
                      </a:solidFill>
                    </a:lnB>
                    <a:solidFill>
                      <a:srgbClr val="2D5C87"/>
                    </a:solidFill>
                  </a:tcPr>
                </a:tc>
                <a:tc>
                  <a:txBody>
                    <a:bodyPr/>
                    <a:lstStyle/>
                    <a:p>
                      <a:pPr algn="ctr"/>
                      <a:r>
                        <a:rPr sz="1425" b="0">
                          <a:solidFill>
                            <a:srgbClr val="00355F"/>
                          </a:solidFill>
                          <a:latin typeface="Arial"/>
                          <a:ea typeface="Arial"/>
                          <a:cs typeface="Arial"/>
                        </a:rPr>
                        <a:t>180</a:t>
                      </a:r>
                    </a:p>
                  </a:txBody>
                  <a:tcPr marL="19050" marR="19050" marT="28575" marB="28575" anchor="ctr">
                    <a:lnR w="19050">
                      <a:solidFill>
                        <a:srgbClr val="FFFFFF"/>
                      </a:solidFill>
                    </a:lnR>
                    <a:lnB w="19050">
                      <a:solidFill>
                        <a:srgbClr val="FFFFFF"/>
                      </a:solidFill>
                    </a:lnB>
                    <a:solidFill>
                      <a:srgbClr val="EAF4FB"/>
                    </a:solidFill>
                  </a:tcPr>
                </a:tc>
                <a:tc>
                  <a:txBody>
                    <a:bodyPr/>
                    <a:lstStyle/>
                    <a:p>
                      <a:pPr algn="ctr"/>
                      <a:r>
                        <a:rPr sz="1425" b="0">
                          <a:solidFill>
                            <a:srgbClr val="FFFFFF"/>
                          </a:solidFill>
                          <a:latin typeface="Arial"/>
                          <a:ea typeface="Arial"/>
                          <a:cs typeface="Arial"/>
                        </a:rPr>
                        <a:t>7600</a:t>
                      </a:r>
                    </a:p>
                  </a:txBody>
                  <a:tcPr marL="19050" marR="19050" marT="28575" marB="28575" anchor="ctr">
                    <a:lnR w="19050">
                      <a:solidFill>
                        <a:srgbClr val="FFFFFF"/>
                      </a:solidFill>
                    </a:lnR>
                    <a:lnB w="19050">
                      <a:solidFill>
                        <a:srgbClr val="FFFFFF"/>
                      </a:solidFill>
                    </a:lnB>
                    <a:solidFill>
                      <a:srgbClr val="537DA9"/>
                    </a:solidFill>
                  </a:tcPr>
                </a:tc>
                <a:tc>
                  <a:txBody>
                    <a:bodyPr/>
                    <a:lstStyle/>
                    <a:p>
                      <a:pPr algn="ctr"/>
                      <a:r>
                        <a:rPr sz="1425" b="0">
                          <a:solidFill>
                            <a:srgbClr val="00355F"/>
                          </a:solidFill>
                          <a:latin typeface="Arial"/>
                          <a:ea typeface="Arial"/>
                          <a:cs typeface="Arial"/>
                        </a:rPr>
                        <a:t>2400</a:t>
                      </a:r>
                    </a:p>
                  </a:txBody>
                  <a:tcPr marL="19050" marR="19050" marT="28575" marB="28575" anchor="ctr">
                    <a:lnR w="19050">
                      <a:solidFill>
                        <a:srgbClr val="FFFFFF"/>
                      </a:solidFill>
                    </a:lnR>
                    <a:lnB w="19050">
                      <a:solidFill>
                        <a:srgbClr val="FFFFFF"/>
                      </a:solidFill>
                    </a:lnB>
                    <a:solidFill>
                      <a:srgbClr val="BEDEF4"/>
                    </a:solidFill>
                  </a:tcPr>
                </a:tc>
              </a:tr>
            </a:tbl>
          </a:graphicData>
        </a:graphic>
      </p:graphicFrame>
      <p:sp>
        <p:nvSpPr>
          <p:cNvPr id="20" name="Learn binding, expression, stability and functional relationships">
            <a:extLst xmlns:a="http://schemas.openxmlformats.org/drawingml/2006/main">
              <a:ext uri="{FF2B5EF4-FFF2-40B4-BE49-F238E27FC236}">
                <a16:creationId xmlns:a16="http://schemas.microsoft.com/office/drawing/2014/main" id="{2F5822C3-2C09-4429-A173-C2D2ECF09B88}"/>
              </a:ext>
            </a:extLst>
          </p:cNvPr>
          <p:cNvSpPr>
            <a:spLocks xmlns:a="http://schemas.openxmlformats.org/drawingml/2006/main" noGrp="1"/>
          </p:cNvSpPr>
          <p:nvPr/>
        </p:nvSpPr>
        <p:spPr>
          <a:xfrm xmlns:a="http://schemas.openxmlformats.org/drawingml/2006/main">
            <a:off x="7219950" y="6134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Learn binding, expression, stability and functional relationships</a:t>
            </a:r>
          </a:p>
        </p:txBody>
      </p:sp>
      <p:sp>
        <p:nvSpPr>
          <p:cNvPr id="21" name="Synthetic values: 1–10,000. Darker = larger; no biological units or quality ranking.">
            <a:extLst xmlns:a="http://schemas.openxmlformats.org/drawingml/2006/main">
              <a:ext uri="{FF2B5EF4-FFF2-40B4-BE49-F238E27FC236}">
                <a16:creationId xmlns:a16="http://schemas.microsoft.com/office/drawing/2014/main" id="{954262EF-2F30-40E0-8E41-311E657E35C5}"/>
              </a:ext>
            </a:extLst>
          </p:cNvPr>
          <p:cNvSpPr>
            <a:spLocks xmlns:a="http://schemas.openxmlformats.org/drawingml/2006/main" noGrp="1"/>
          </p:cNvSpPr>
          <p:nvPr/>
        </p:nvSpPr>
        <p:spPr>
          <a:xfrm xmlns:a="http://schemas.openxmlformats.org/drawingml/2006/main">
            <a:off x="7219950" y="649605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Synthetic values: 1–10,000. Darker = larger; no biological units or quality ranking.</a:t>
            </a:r>
          </a:p>
        </p:txBody>
      </p:sp>
      <p:sp>
        <p:nvSpPr>
          <p:cNvPr id="22" name="">
            <a:extLst xmlns:a="http://schemas.openxmlformats.org/drawingml/2006/main">
              <a:ext uri="{FF2B5EF4-FFF2-40B4-BE49-F238E27FC236}">
                <a16:creationId xmlns:a16="http://schemas.microsoft.com/office/drawing/2014/main" id="{3BC1BD3A-87C7-40E5-B1C1-AB6F4F36B27B}"/>
              </a:ext>
            </a:extLst>
          </p:cNvPr>
          <p:cNvSpPr>
            <a:spLocks xmlns:a="http://schemas.openxmlformats.org/drawingml/2006/main" noGrp="1"/>
          </p:cNvSpPr>
          <p:nvPr/>
        </p:nvSpPr>
        <p:spPr>
          <a:xfrm xmlns:a="http://schemas.openxmlformats.org/drawingml/2006/main">
            <a:off x="685800" y="7172325"/>
            <a:ext cx="5305425"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3" name="Reuse existing data">
            <a:extLst xmlns:a="http://schemas.openxmlformats.org/drawingml/2006/main">
              <a:ext uri="{FF2B5EF4-FFF2-40B4-BE49-F238E27FC236}">
                <a16:creationId xmlns:a16="http://schemas.microsoft.com/office/drawing/2014/main" id="{DB832969-AB1D-4E8E-964E-BC730BB2410F}"/>
              </a:ext>
            </a:extLst>
          </p:cNvPr>
          <p:cNvSpPr>
            <a:spLocks xmlns:a="http://schemas.openxmlformats.org/drawingml/2006/main" noGrp="1"/>
          </p:cNvSpPr>
          <p:nvPr/>
        </p:nvSpPr>
        <p:spPr>
          <a:xfrm xmlns:a="http://schemas.openxmlformats.org/drawingml/2006/main">
            <a:off x="91440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Reuse existing data</a:t>
            </a:r>
          </a:p>
        </p:txBody>
      </p:sp>
      <p:sp>
        <p:nvSpPr>
          <p:cNvPr id="24" name="Normalize formats, conditions and access">
            <a:extLst xmlns:a="http://schemas.openxmlformats.org/drawingml/2006/main">
              <a:ext uri="{FF2B5EF4-FFF2-40B4-BE49-F238E27FC236}">
                <a16:creationId xmlns:a16="http://schemas.microsoft.com/office/drawing/2014/main" id="{166CEC4C-2BB9-4789-804D-E95FAE994E1C}"/>
              </a:ext>
            </a:extLst>
          </p:cNvPr>
          <p:cNvSpPr>
            <a:spLocks xmlns:a="http://schemas.openxmlformats.org/drawingml/2006/main" noGrp="1"/>
          </p:cNvSpPr>
          <p:nvPr/>
        </p:nvSpPr>
        <p:spPr>
          <a:xfrm xmlns:a="http://schemas.openxmlformats.org/drawingml/2006/main">
            <a:off x="91440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Normalize formats, conditions and access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Better training may need no new experiment</a:t>
            </a:r>
          </a:p>
        </p:txBody>
      </p:sp>
      <p:sp>
        <p:nvSpPr>
          <p:cNvPr id="25" name="">
            <a:extLst xmlns:a="http://schemas.openxmlformats.org/drawingml/2006/main">
              <a:ext uri="{FF2B5EF4-FFF2-40B4-BE49-F238E27FC236}">
                <a16:creationId xmlns:a16="http://schemas.microsoft.com/office/drawing/2014/main" id="{D7BDE50E-4A29-4D61-8442-44265208A8BE}"/>
              </a:ext>
            </a:extLst>
          </p:cNvPr>
          <p:cNvSpPr>
            <a:spLocks xmlns:a="http://schemas.openxmlformats.org/drawingml/2006/main" noGrp="1"/>
          </p:cNvSpPr>
          <p:nvPr/>
        </p:nvSpPr>
        <p:spPr>
          <a:xfrm xmlns:a="http://schemas.openxmlformats.org/drawingml/2006/main">
            <a:off x="6191250" y="7172325"/>
            <a:ext cx="5305425" cy="1200150"/>
          </a:xfrm>
          <a:prstGeom xmlns:a="http://schemas.openxmlformats.org/drawingml/2006/main" prst="roundRect">
            <a:avLst>
              <a:gd name="adj" fmla="val 7937"/>
            </a:avLst>
          </a:prstGeom>
          <a:solidFill xmlns:a="http://schemas.openxmlformats.org/drawingml/2006/main">
            <a:srgbClr val="EEF6FC"/>
          </a:solidFill>
          <a:ln xmlns:a="http://schemas.openxmlformats.org/drawingml/2006/main" w="9525">
            <a:solidFill>
              <a:srgbClr val="A5A5A5"/>
            </a:solidFill>
          </a:ln>
        </p:spPr>
      </p:sp>
      <p:sp>
        <p:nvSpPr>
          <p:cNvPr id="26" name="Stage 0: fill data gaps">
            <a:extLst xmlns:a="http://schemas.openxmlformats.org/drawingml/2006/main">
              <a:ext uri="{FF2B5EF4-FFF2-40B4-BE49-F238E27FC236}">
                <a16:creationId xmlns:a16="http://schemas.microsoft.com/office/drawing/2014/main" id="{BC48FB27-1CA5-42CF-90D4-96917CC648DE}"/>
              </a:ext>
            </a:extLst>
          </p:cNvPr>
          <p:cNvSpPr>
            <a:spLocks xmlns:a="http://schemas.openxmlformats.org/drawingml/2006/main" noGrp="1"/>
          </p:cNvSpPr>
          <p:nvPr/>
        </p:nvSpPr>
        <p:spPr>
          <a:xfrm xmlns:a="http://schemas.openxmlformats.org/drawingml/2006/main">
            <a:off x="641985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Stage 0: fill data gaps</a:t>
            </a:r>
          </a:p>
        </p:txBody>
      </p:sp>
      <p:sp>
        <p:nvSpPr>
          <p:cNvPr id="27" name="Add missing assays and biological diversity">
            <a:extLst xmlns:a="http://schemas.openxmlformats.org/drawingml/2006/main">
              <a:ext uri="{FF2B5EF4-FFF2-40B4-BE49-F238E27FC236}">
                <a16:creationId xmlns:a16="http://schemas.microsoft.com/office/drawing/2014/main" id="{38F07B26-D4CE-41CA-8819-551EAB7BF6FF}"/>
              </a:ext>
            </a:extLst>
          </p:cNvPr>
          <p:cNvSpPr>
            <a:spLocks xmlns:a="http://schemas.openxmlformats.org/drawingml/2006/main" noGrp="1"/>
          </p:cNvSpPr>
          <p:nvPr/>
        </p:nvSpPr>
        <p:spPr>
          <a:xfrm xmlns:a="http://schemas.openxmlformats.org/drawingml/2006/main">
            <a:off x="641985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Add missing assays and biological diversity</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Create reusable model-training datasets</a:t>
            </a:r>
          </a:p>
        </p:txBody>
      </p:sp>
      <p:sp>
        <p:nvSpPr>
          <p:cNvPr id="28" name="">
            <a:extLst xmlns:a="http://schemas.openxmlformats.org/drawingml/2006/main">
              <a:ext uri="{FF2B5EF4-FFF2-40B4-BE49-F238E27FC236}">
                <a16:creationId xmlns:a16="http://schemas.microsoft.com/office/drawing/2014/main" id="{C8FAF72F-88D6-4002-8EBB-ED128F8935CF}"/>
              </a:ext>
            </a:extLst>
          </p:cNvPr>
          <p:cNvSpPr>
            <a:spLocks xmlns:a="http://schemas.openxmlformats.org/drawingml/2006/main" noGrp="1"/>
          </p:cNvSpPr>
          <p:nvPr/>
        </p:nvSpPr>
        <p:spPr>
          <a:xfrm xmlns:a="http://schemas.openxmlformats.org/drawingml/2006/main">
            <a:off x="11696700" y="7172325"/>
            <a:ext cx="590550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9" name="Active learning: measure selectively">
            <a:extLst xmlns:a="http://schemas.openxmlformats.org/drawingml/2006/main">
              <a:ext uri="{FF2B5EF4-FFF2-40B4-BE49-F238E27FC236}">
                <a16:creationId xmlns:a16="http://schemas.microsoft.com/office/drawing/2014/main" id="{3FDEAC8B-A43C-42E3-B3F9-CE30ED29AA35}"/>
              </a:ext>
            </a:extLst>
          </p:cNvPr>
          <p:cNvSpPr>
            <a:spLocks xmlns:a="http://schemas.openxmlformats.org/drawingml/2006/main" noGrp="1"/>
          </p:cNvSpPr>
          <p:nvPr/>
        </p:nvSpPr>
        <p:spPr>
          <a:xfrm xmlns:a="http://schemas.openxmlformats.org/drawingml/2006/main">
            <a:off x="11925300" y="731520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Active learning: measure selectively</a:t>
            </a:r>
          </a:p>
        </p:txBody>
      </p:sp>
      <p:sp>
        <p:nvSpPr>
          <p:cNvPr id="30" name="Prioritize informative molecules and tests">
            <a:extLst xmlns:a="http://schemas.openxmlformats.org/drawingml/2006/main">
              <a:ext uri="{FF2B5EF4-FFF2-40B4-BE49-F238E27FC236}">
                <a16:creationId xmlns:a16="http://schemas.microsoft.com/office/drawing/2014/main" id="{2F7A983F-24A7-4CC3-A393-CB9B668F98EB}"/>
              </a:ext>
            </a:extLst>
          </p:cNvPr>
          <p:cNvSpPr>
            <a:spLocks xmlns:a="http://schemas.openxmlformats.org/drawingml/2006/main" noGrp="1"/>
          </p:cNvSpPr>
          <p:nvPr/>
        </p:nvSpPr>
        <p:spPr>
          <a:xfrm xmlns:a="http://schemas.openxmlformats.org/drawingml/2006/main">
            <a:off x="11925300" y="7734300"/>
            <a:ext cx="544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Prioritize informative molecules and tests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Limit coverage of costly measurements</a:t>
            </a:r>
          </a:p>
        </p:txBody>
      </p:sp>
      <p:sp>
        <p:nvSpPr>
          <p:cNvPr id="31" name="">
            <a:extLst xmlns:a="http://schemas.openxmlformats.org/drawingml/2006/main">
              <a:ext uri="{FF2B5EF4-FFF2-40B4-BE49-F238E27FC236}">
                <a16:creationId xmlns:a16="http://schemas.microsoft.com/office/drawing/2014/main" id="{258DEBE3-A712-4DEC-B405-2BBFC4C19A3B}"/>
              </a:ext>
            </a:extLst>
          </p:cNvPr>
          <p:cNvSpPr>
            <a:spLocks xmlns:a="http://schemas.openxmlformats.org/drawingml/2006/main" noGrp="1"/>
          </p:cNvSpPr>
          <p:nvPr/>
        </p:nvSpPr>
        <p:spPr>
          <a:xfrm xmlns:a="http://schemas.openxmlformats.org/drawingml/2006/main">
            <a:off x="685800" y="8591550"/>
            <a:ext cx="16916400" cy="1190625"/>
          </a:xfrm>
          <a:prstGeom xmlns:a="http://schemas.openxmlformats.org/drawingml/2006/main" prst="roundRect">
            <a:avLst>
              <a:gd name="adj" fmla="val 7200"/>
            </a:avLst>
          </a:prstGeom>
          <a:solidFill xmlns:a="http://schemas.openxmlformats.org/drawingml/2006/main">
            <a:srgbClr val="EEF6FC"/>
          </a:solidFill>
          <a:ln xmlns:a="http://schemas.openxmlformats.org/drawingml/2006/main" w="9525">
            <a:solidFill>
              <a:srgbClr val="A5A5A5"/>
            </a:solidFill>
          </a:ln>
        </p:spPr>
      </p:sp>
      <p:sp>
        <p:nvSpPr>
          <p:cNvPr id="32" name="The nine labels: what each property measures">
            <a:extLst xmlns:a="http://schemas.openxmlformats.org/drawingml/2006/main">
              <a:ext uri="{FF2B5EF4-FFF2-40B4-BE49-F238E27FC236}">
                <a16:creationId xmlns:a16="http://schemas.microsoft.com/office/drawing/2014/main" id="{7FD66A1C-C0DE-46AA-9DB3-8224A5EBD980}"/>
              </a:ext>
            </a:extLst>
          </p:cNvPr>
          <p:cNvSpPr>
            <a:spLocks xmlns:a="http://schemas.openxmlformats.org/drawingml/2006/main" noGrp="1"/>
          </p:cNvSpPr>
          <p:nvPr/>
        </p:nvSpPr>
        <p:spPr>
          <a:xfrm xmlns:a="http://schemas.openxmlformats.org/drawingml/2006/main">
            <a:off x="914400" y="8658225"/>
            <a:ext cx="1645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The nine labels: what each property measures</a:t>
            </a:r>
          </a:p>
        </p:txBody>
      </p:sp>
      <p:sp>
        <p:nvSpPr>
          <p:cNvPr id="33" name="">
            <a:extLst xmlns:a="http://schemas.openxmlformats.org/drawingml/2006/main">
              <a:ext uri="{FF2B5EF4-FFF2-40B4-BE49-F238E27FC236}">
                <a16:creationId xmlns:a16="http://schemas.microsoft.com/office/drawing/2014/main" id="{40ADB8B6-240A-4613-B429-D518D3E1A2D4}"/>
              </a:ext>
            </a:extLst>
          </p:cNvPr>
          <p:cNvSpPr>
            <a:spLocks xmlns:a="http://schemas.openxmlformats.org/drawingml/2006/main" noGrp="1"/>
          </p:cNvSpPr>
          <p:nvPr/>
        </p:nvSpPr>
        <p:spPr>
          <a:xfrm xmlns:a="http://schemas.openxmlformats.org/drawingml/2006/main">
            <a:off x="91440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34" name="KD">
            <a:extLst xmlns:a="http://schemas.openxmlformats.org/drawingml/2006/main">
              <a:ext uri="{FF2B5EF4-FFF2-40B4-BE49-F238E27FC236}">
                <a16:creationId xmlns:a16="http://schemas.microsoft.com/office/drawing/2014/main" id="{203DD775-71BE-4B5D-AE19-AE94EC9E458F}"/>
              </a:ext>
            </a:extLst>
          </p:cNvPr>
          <p:cNvSpPr>
            <a:spLocks xmlns:a="http://schemas.openxmlformats.org/drawingml/2006/main" noGrp="1"/>
          </p:cNvSpPr>
          <p:nvPr/>
        </p:nvSpPr>
        <p:spPr>
          <a:xfrm xmlns:a="http://schemas.openxmlformats.org/drawingml/2006/main">
            <a:off x="100965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KD</a:t>
            </a:r>
          </a:p>
        </p:txBody>
      </p:sp>
      <p:sp>
        <p:nvSpPr>
          <p:cNvPr id="35" name="Equilibrium binding strength">
            <a:extLst xmlns:a="http://schemas.openxmlformats.org/drawingml/2006/main">
              <a:ext uri="{FF2B5EF4-FFF2-40B4-BE49-F238E27FC236}">
                <a16:creationId xmlns:a16="http://schemas.microsoft.com/office/drawing/2014/main" id="{6028A049-CCDB-43A6-B82F-54EA60CC4352}"/>
              </a:ext>
            </a:extLst>
          </p:cNvPr>
          <p:cNvSpPr>
            <a:spLocks xmlns:a="http://schemas.openxmlformats.org/drawingml/2006/main" noGrp="1"/>
          </p:cNvSpPr>
          <p:nvPr/>
        </p:nvSpPr>
        <p:spPr>
          <a:xfrm xmlns:a="http://schemas.openxmlformats.org/drawingml/2006/main">
            <a:off x="205740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Equilibrium binding strength</a:t>
            </a:r>
          </a:p>
        </p:txBody>
      </p:sp>
      <p:sp>
        <p:nvSpPr>
          <p:cNvPr id="36" name="">
            <a:extLst xmlns:a="http://schemas.openxmlformats.org/drawingml/2006/main">
              <a:ext uri="{FF2B5EF4-FFF2-40B4-BE49-F238E27FC236}">
                <a16:creationId xmlns:a16="http://schemas.microsoft.com/office/drawing/2014/main" id="{9C35DD59-9F57-4223-86A8-7F6F9C94823F}"/>
              </a:ext>
            </a:extLst>
          </p:cNvPr>
          <p:cNvSpPr>
            <a:spLocks xmlns:a="http://schemas.openxmlformats.org/drawingml/2006/main" noGrp="1"/>
          </p:cNvSpPr>
          <p:nvPr/>
        </p:nvSpPr>
        <p:spPr>
          <a:xfrm xmlns:a="http://schemas.openxmlformats.org/drawingml/2006/main">
            <a:off x="641985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37" name="kon">
            <a:extLst xmlns:a="http://schemas.openxmlformats.org/drawingml/2006/main">
              <a:ext uri="{FF2B5EF4-FFF2-40B4-BE49-F238E27FC236}">
                <a16:creationId xmlns:a16="http://schemas.microsoft.com/office/drawing/2014/main" id="{740EB05D-BF61-4E48-9F5E-71AD419AAA84}"/>
              </a:ext>
            </a:extLst>
          </p:cNvPr>
          <p:cNvSpPr>
            <a:spLocks xmlns:a="http://schemas.openxmlformats.org/drawingml/2006/main" noGrp="1"/>
          </p:cNvSpPr>
          <p:nvPr/>
        </p:nvSpPr>
        <p:spPr>
          <a:xfrm xmlns:a="http://schemas.openxmlformats.org/drawingml/2006/main">
            <a:off x="651510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kon</a:t>
            </a:r>
          </a:p>
        </p:txBody>
      </p:sp>
      <p:sp>
        <p:nvSpPr>
          <p:cNvPr id="38" name="How quickly binding forms">
            <a:extLst xmlns:a="http://schemas.openxmlformats.org/drawingml/2006/main">
              <a:ext uri="{FF2B5EF4-FFF2-40B4-BE49-F238E27FC236}">
                <a16:creationId xmlns:a16="http://schemas.microsoft.com/office/drawing/2014/main" id="{2730701E-3A0F-4551-9749-E7E9BD565E18}"/>
              </a:ext>
            </a:extLst>
          </p:cNvPr>
          <p:cNvSpPr>
            <a:spLocks xmlns:a="http://schemas.openxmlformats.org/drawingml/2006/main" noGrp="1"/>
          </p:cNvSpPr>
          <p:nvPr/>
        </p:nvSpPr>
        <p:spPr>
          <a:xfrm xmlns:a="http://schemas.openxmlformats.org/drawingml/2006/main">
            <a:off x="756285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binding forms</a:t>
            </a:r>
          </a:p>
        </p:txBody>
      </p:sp>
      <p:sp>
        <p:nvSpPr>
          <p:cNvPr id="39" name="">
            <a:extLst xmlns:a="http://schemas.openxmlformats.org/drawingml/2006/main">
              <a:ext uri="{FF2B5EF4-FFF2-40B4-BE49-F238E27FC236}">
                <a16:creationId xmlns:a16="http://schemas.microsoft.com/office/drawing/2014/main" id="{1612D05D-E1D8-4344-ACDA-3BE63EE23ED3}"/>
              </a:ext>
            </a:extLst>
          </p:cNvPr>
          <p:cNvSpPr>
            <a:spLocks xmlns:a="http://schemas.openxmlformats.org/drawingml/2006/main" noGrp="1"/>
          </p:cNvSpPr>
          <p:nvPr/>
        </p:nvSpPr>
        <p:spPr>
          <a:xfrm xmlns:a="http://schemas.openxmlformats.org/drawingml/2006/main">
            <a:off x="11925300" y="896302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0" name="koff">
            <a:extLst xmlns:a="http://schemas.openxmlformats.org/drawingml/2006/main">
              <a:ext uri="{FF2B5EF4-FFF2-40B4-BE49-F238E27FC236}">
                <a16:creationId xmlns:a16="http://schemas.microsoft.com/office/drawing/2014/main" id="{FDA3333B-5F09-4F18-935C-7247D91A96DD}"/>
              </a:ext>
            </a:extLst>
          </p:cNvPr>
          <p:cNvSpPr>
            <a:spLocks xmlns:a="http://schemas.openxmlformats.org/drawingml/2006/main" noGrp="1"/>
          </p:cNvSpPr>
          <p:nvPr/>
        </p:nvSpPr>
        <p:spPr>
          <a:xfrm xmlns:a="http://schemas.openxmlformats.org/drawingml/2006/main">
            <a:off x="12020550" y="898207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koff</a:t>
            </a:r>
          </a:p>
        </p:txBody>
      </p:sp>
      <p:sp>
        <p:nvSpPr>
          <p:cNvPr id="41" name="How quickly the complex separates">
            <a:extLst xmlns:a="http://schemas.openxmlformats.org/drawingml/2006/main">
              <a:ext uri="{FF2B5EF4-FFF2-40B4-BE49-F238E27FC236}">
                <a16:creationId xmlns:a16="http://schemas.microsoft.com/office/drawing/2014/main" id="{235B5B71-7DB0-4B51-8AC6-408E3E374D35}"/>
              </a:ext>
            </a:extLst>
          </p:cNvPr>
          <p:cNvSpPr>
            <a:spLocks xmlns:a="http://schemas.openxmlformats.org/drawingml/2006/main" noGrp="1"/>
          </p:cNvSpPr>
          <p:nvPr/>
        </p:nvSpPr>
        <p:spPr>
          <a:xfrm xmlns:a="http://schemas.openxmlformats.org/drawingml/2006/main">
            <a:off x="13068300" y="89820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the complex separates</a:t>
            </a:r>
          </a:p>
        </p:txBody>
      </p:sp>
      <p:sp>
        <p:nvSpPr>
          <p:cNvPr id="42" name="">
            <a:extLst xmlns:a="http://schemas.openxmlformats.org/drawingml/2006/main">
              <a:ext uri="{FF2B5EF4-FFF2-40B4-BE49-F238E27FC236}">
                <a16:creationId xmlns:a16="http://schemas.microsoft.com/office/drawing/2014/main" id="{A47F88EA-F4D3-4AA9-AE3D-E1E32FE04AD3}"/>
              </a:ext>
            </a:extLst>
          </p:cNvPr>
          <p:cNvSpPr>
            <a:spLocks xmlns:a="http://schemas.openxmlformats.org/drawingml/2006/main" noGrp="1"/>
          </p:cNvSpPr>
          <p:nvPr/>
        </p:nvSpPr>
        <p:spPr>
          <a:xfrm xmlns:a="http://schemas.openxmlformats.org/drawingml/2006/main">
            <a:off x="91440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3" name="expression">
            <a:extLst xmlns:a="http://schemas.openxmlformats.org/drawingml/2006/main">
              <a:ext uri="{FF2B5EF4-FFF2-40B4-BE49-F238E27FC236}">
                <a16:creationId xmlns:a16="http://schemas.microsoft.com/office/drawing/2014/main" id="{0441FEAD-2A49-4865-83C1-55D4C401086A}"/>
              </a:ext>
            </a:extLst>
          </p:cNvPr>
          <p:cNvSpPr>
            <a:spLocks xmlns:a="http://schemas.openxmlformats.org/drawingml/2006/main" noGrp="1"/>
          </p:cNvSpPr>
          <p:nvPr/>
        </p:nvSpPr>
        <p:spPr>
          <a:xfrm xmlns:a="http://schemas.openxmlformats.org/drawingml/2006/main">
            <a:off x="100965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expression</a:t>
            </a:r>
          </a:p>
        </p:txBody>
      </p:sp>
      <p:sp>
        <p:nvSpPr>
          <p:cNvPr id="44" name="Antibody yield from a cell system">
            <a:extLst xmlns:a="http://schemas.openxmlformats.org/drawingml/2006/main">
              <a:ext uri="{FF2B5EF4-FFF2-40B4-BE49-F238E27FC236}">
                <a16:creationId xmlns:a16="http://schemas.microsoft.com/office/drawing/2014/main" id="{C966DF4A-BB80-46B3-B130-FB0603922F59}"/>
              </a:ext>
            </a:extLst>
          </p:cNvPr>
          <p:cNvSpPr>
            <a:spLocks xmlns:a="http://schemas.openxmlformats.org/drawingml/2006/main" noGrp="1"/>
          </p:cNvSpPr>
          <p:nvPr/>
        </p:nvSpPr>
        <p:spPr>
          <a:xfrm xmlns:a="http://schemas.openxmlformats.org/drawingml/2006/main">
            <a:off x="205740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Antibody yield from a cell system</a:t>
            </a:r>
          </a:p>
        </p:txBody>
      </p:sp>
      <p:sp>
        <p:nvSpPr>
          <p:cNvPr id="45" name="">
            <a:extLst xmlns:a="http://schemas.openxmlformats.org/drawingml/2006/main">
              <a:ext uri="{FF2B5EF4-FFF2-40B4-BE49-F238E27FC236}">
                <a16:creationId xmlns:a16="http://schemas.microsoft.com/office/drawing/2014/main" id="{3FF48F30-C5DC-4E90-B7E9-2E1F8EB768C8}"/>
              </a:ext>
            </a:extLst>
          </p:cNvPr>
          <p:cNvSpPr>
            <a:spLocks xmlns:a="http://schemas.openxmlformats.org/drawingml/2006/main" noGrp="1"/>
          </p:cNvSpPr>
          <p:nvPr/>
        </p:nvSpPr>
        <p:spPr>
          <a:xfrm xmlns:a="http://schemas.openxmlformats.org/drawingml/2006/main">
            <a:off x="641985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6" name="Tm">
            <a:extLst xmlns:a="http://schemas.openxmlformats.org/drawingml/2006/main">
              <a:ext uri="{FF2B5EF4-FFF2-40B4-BE49-F238E27FC236}">
                <a16:creationId xmlns:a16="http://schemas.microsoft.com/office/drawing/2014/main" id="{BB191C24-00A6-484B-90D4-F8808A433EE9}"/>
              </a:ext>
            </a:extLst>
          </p:cNvPr>
          <p:cNvSpPr>
            <a:spLocks xmlns:a="http://schemas.openxmlformats.org/drawingml/2006/main" noGrp="1"/>
          </p:cNvSpPr>
          <p:nvPr/>
        </p:nvSpPr>
        <p:spPr>
          <a:xfrm xmlns:a="http://schemas.openxmlformats.org/drawingml/2006/main">
            <a:off x="651510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Tm</a:t>
            </a:r>
          </a:p>
        </p:txBody>
      </p:sp>
      <p:sp>
        <p:nvSpPr>
          <p:cNvPr id="47" name="Thermal unfolding transition">
            <a:extLst xmlns:a="http://schemas.openxmlformats.org/drawingml/2006/main">
              <a:ext uri="{FF2B5EF4-FFF2-40B4-BE49-F238E27FC236}">
                <a16:creationId xmlns:a16="http://schemas.microsoft.com/office/drawing/2014/main" id="{D35BB699-5336-4A57-AA94-0733EA575609}"/>
              </a:ext>
            </a:extLst>
          </p:cNvPr>
          <p:cNvSpPr>
            <a:spLocks xmlns:a="http://schemas.openxmlformats.org/drawingml/2006/main" noGrp="1"/>
          </p:cNvSpPr>
          <p:nvPr/>
        </p:nvSpPr>
        <p:spPr>
          <a:xfrm xmlns:a="http://schemas.openxmlformats.org/drawingml/2006/main">
            <a:off x="756285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Thermal unfolding transition</a:t>
            </a:r>
          </a:p>
        </p:txBody>
      </p:sp>
      <p:sp>
        <p:nvSpPr>
          <p:cNvPr id="48" name="">
            <a:extLst xmlns:a="http://schemas.openxmlformats.org/drawingml/2006/main">
              <a:ext uri="{FF2B5EF4-FFF2-40B4-BE49-F238E27FC236}">
                <a16:creationId xmlns:a16="http://schemas.microsoft.com/office/drawing/2014/main" id="{2596EA91-C4AB-48BC-82FE-33A0E7634AF5}"/>
              </a:ext>
            </a:extLst>
          </p:cNvPr>
          <p:cNvSpPr>
            <a:spLocks xmlns:a="http://schemas.openxmlformats.org/drawingml/2006/main" noGrp="1"/>
          </p:cNvSpPr>
          <p:nvPr/>
        </p:nvSpPr>
        <p:spPr>
          <a:xfrm xmlns:a="http://schemas.openxmlformats.org/drawingml/2006/main">
            <a:off x="11925300" y="9220200"/>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49" name="aggregation">
            <a:extLst xmlns:a="http://schemas.openxmlformats.org/drawingml/2006/main">
              <a:ext uri="{FF2B5EF4-FFF2-40B4-BE49-F238E27FC236}">
                <a16:creationId xmlns:a16="http://schemas.microsoft.com/office/drawing/2014/main" id="{F5588486-2461-4EAE-8F87-BBFB90D2C84A}"/>
              </a:ext>
            </a:extLst>
          </p:cNvPr>
          <p:cNvSpPr>
            <a:spLocks xmlns:a="http://schemas.openxmlformats.org/drawingml/2006/main" noGrp="1"/>
          </p:cNvSpPr>
          <p:nvPr/>
        </p:nvSpPr>
        <p:spPr>
          <a:xfrm xmlns:a="http://schemas.openxmlformats.org/drawingml/2006/main">
            <a:off x="12020550" y="9239250"/>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aggregation</a:t>
            </a:r>
          </a:p>
        </p:txBody>
      </p:sp>
      <p:sp>
        <p:nvSpPr>
          <p:cNvPr id="50" name="Molecules forming larger clusters">
            <a:extLst xmlns:a="http://schemas.openxmlformats.org/drawingml/2006/main">
              <a:ext uri="{FF2B5EF4-FFF2-40B4-BE49-F238E27FC236}">
                <a16:creationId xmlns:a16="http://schemas.microsoft.com/office/drawing/2014/main" id="{D8FDE92E-D26D-464F-9F69-64A390239736}"/>
              </a:ext>
            </a:extLst>
          </p:cNvPr>
          <p:cNvSpPr>
            <a:spLocks xmlns:a="http://schemas.openxmlformats.org/drawingml/2006/main" noGrp="1"/>
          </p:cNvSpPr>
          <p:nvPr/>
        </p:nvSpPr>
        <p:spPr>
          <a:xfrm xmlns:a="http://schemas.openxmlformats.org/drawingml/2006/main">
            <a:off x="13068300" y="92392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Molecules forming larger clusters</a:t>
            </a:r>
          </a:p>
        </p:txBody>
      </p:sp>
      <p:sp>
        <p:nvSpPr>
          <p:cNvPr id="51" name="">
            <a:extLst xmlns:a="http://schemas.openxmlformats.org/drawingml/2006/main">
              <a:ext uri="{FF2B5EF4-FFF2-40B4-BE49-F238E27FC236}">
                <a16:creationId xmlns:a16="http://schemas.microsoft.com/office/drawing/2014/main" id="{42034859-A33F-41D8-9F62-D0695DDFCAE1}"/>
              </a:ext>
            </a:extLst>
          </p:cNvPr>
          <p:cNvSpPr>
            <a:spLocks xmlns:a="http://schemas.openxmlformats.org/drawingml/2006/main" noGrp="1"/>
          </p:cNvSpPr>
          <p:nvPr/>
        </p:nvSpPr>
        <p:spPr>
          <a:xfrm xmlns:a="http://schemas.openxmlformats.org/drawingml/2006/main">
            <a:off x="91440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2" name="polyreactivity">
            <a:extLst xmlns:a="http://schemas.openxmlformats.org/drawingml/2006/main">
              <a:ext uri="{FF2B5EF4-FFF2-40B4-BE49-F238E27FC236}">
                <a16:creationId xmlns:a16="http://schemas.microsoft.com/office/drawing/2014/main" id="{3D69E55C-1887-4698-A2A6-1C916E264E3A}"/>
              </a:ext>
            </a:extLst>
          </p:cNvPr>
          <p:cNvSpPr>
            <a:spLocks xmlns:a="http://schemas.openxmlformats.org/drawingml/2006/main" noGrp="1"/>
          </p:cNvSpPr>
          <p:nvPr/>
        </p:nvSpPr>
        <p:spPr>
          <a:xfrm xmlns:a="http://schemas.openxmlformats.org/drawingml/2006/main">
            <a:off x="100965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polyreactivity</a:t>
            </a:r>
          </a:p>
        </p:txBody>
      </p:sp>
      <p:sp>
        <p:nvSpPr>
          <p:cNvPr id="53" name="Binding to multiple non-targets">
            <a:extLst xmlns:a="http://schemas.openxmlformats.org/drawingml/2006/main">
              <a:ext uri="{FF2B5EF4-FFF2-40B4-BE49-F238E27FC236}">
                <a16:creationId xmlns:a16="http://schemas.microsoft.com/office/drawing/2014/main" id="{161EC682-9A28-4F39-956D-1D0371223800}"/>
              </a:ext>
            </a:extLst>
          </p:cNvPr>
          <p:cNvSpPr>
            <a:spLocks xmlns:a="http://schemas.openxmlformats.org/drawingml/2006/main" noGrp="1"/>
          </p:cNvSpPr>
          <p:nvPr/>
        </p:nvSpPr>
        <p:spPr>
          <a:xfrm xmlns:a="http://schemas.openxmlformats.org/drawingml/2006/main">
            <a:off x="205740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Binding to multiple non-targets</a:t>
            </a:r>
          </a:p>
        </p:txBody>
      </p:sp>
      <p:sp>
        <p:nvSpPr>
          <p:cNvPr id="54" name="">
            <a:extLst xmlns:a="http://schemas.openxmlformats.org/drawingml/2006/main">
              <a:ext uri="{FF2B5EF4-FFF2-40B4-BE49-F238E27FC236}">
                <a16:creationId xmlns:a16="http://schemas.microsoft.com/office/drawing/2014/main" id="{9B08CB00-E046-4099-AA74-68BB7EE357DF}"/>
              </a:ext>
            </a:extLst>
          </p:cNvPr>
          <p:cNvSpPr>
            <a:spLocks xmlns:a="http://schemas.openxmlformats.org/drawingml/2006/main" noGrp="1"/>
          </p:cNvSpPr>
          <p:nvPr/>
        </p:nvSpPr>
        <p:spPr>
          <a:xfrm xmlns:a="http://schemas.openxmlformats.org/drawingml/2006/main">
            <a:off x="641985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5" name="epitope">
            <a:extLst xmlns:a="http://schemas.openxmlformats.org/drawingml/2006/main">
              <a:ext uri="{FF2B5EF4-FFF2-40B4-BE49-F238E27FC236}">
                <a16:creationId xmlns:a16="http://schemas.microsoft.com/office/drawing/2014/main" id="{24FBD463-B436-48C8-86C7-DCECF534E52B}"/>
              </a:ext>
            </a:extLst>
          </p:cNvPr>
          <p:cNvSpPr>
            <a:spLocks xmlns:a="http://schemas.openxmlformats.org/drawingml/2006/main" noGrp="1"/>
          </p:cNvSpPr>
          <p:nvPr/>
        </p:nvSpPr>
        <p:spPr>
          <a:xfrm xmlns:a="http://schemas.openxmlformats.org/drawingml/2006/main">
            <a:off x="651510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epitope</a:t>
            </a:r>
          </a:p>
        </p:txBody>
      </p:sp>
      <p:sp>
        <p:nvSpPr>
          <p:cNvPr id="56" name="The binding site on the target">
            <a:extLst xmlns:a="http://schemas.openxmlformats.org/drawingml/2006/main">
              <a:ext uri="{FF2B5EF4-FFF2-40B4-BE49-F238E27FC236}">
                <a16:creationId xmlns:a16="http://schemas.microsoft.com/office/drawing/2014/main" id="{A66EED7C-091A-4725-9981-26E038D7E8C4}"/>
              </a:ext>
            </a:extLst>
          </p:cNvPr>
          <p:cNvSpPr>
            <a:spLocks xmlns:a="http://schemas.openxmlformats.org/drawingml/2006/main" noGrp="1"/>
          </p:cNvSpPr>
          <p:nvPr/>
        </p:nvSpPr>
        <p:spPr>
          <a:xfrm xmlns:a="http://schemas.openxmlformats.org/drawingml/2006/main">
            <a:off x="756285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 binding site on the target</a:t>
            </a:r>
          </a:p>
        </p:txBody>
      </p:sp>
      <p:sp>
        <p:nvSpPr>
          <p:cNvPr id="57" name="">
            <a:extLst xmlns:a="http://schemas.openxmlformats.org/drawingml/2006/main">
              <a:ext uri="{FF2B5EF4-FFF2-40B4-BE49-F238E27FC236}">
                <a16:creationId xmlns:a16="http://schemas.microsoft.com/office/drawing/2014/main" id="{F3563205-3305-4AC4-A09B-6622F07560DA}"/>
              </a:ext>
            </a:extLst>
          </p:cNvPr>
          <p:cNvSpPr>
            <a:spLocks xmlns:a="http://schemas.openxmlformats.org/drawingml/2006/main" noGrp="1"/>
          </p:cNvSpPr>
          <p:nvPr/>
        </p:nvSpPr>
        <p:spPr>
          <a:xfrm xmlns:a="http://schemas.openxmlformats.org/drawingml/2006/main">
            <a:off x="11925300" y="9477375"/>
            <a:ext cx="5362575"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noFill/>
          </a:ln>
        </p:spPr>
      </p:sp>
      <p:sp>
        <p:nvSpPr>
          <p:cNvPr id="58" name="cell potency">
            <a:extLst xmlns:a="http://schemas.openxmlformats.org/drawingml/2006/main">
              <a:ext uri="{FF2B5EF4-FFF2-40B4-BE49-F238E27FC236}">
                <a16:creationId xmlns:a16="http://schemas.microsoft.com/office/drawing/2014/main" id="{37C07CF6-8EDF-4A28-BE82-9F30E970F63E}"/>
              </a:ext>
            </a:extLst>
          </p:cNvPr>
          <p:cNvSpPr>
            <a:spLocks xmlns:a="http://schemas.openxmlformats.org/drawingml/2006/main" noGrp="1"/>
          </p:cNvSpPr>
          <p:nvPr/>
        </p:nvSpPr>
        <p:spPr>
          <a:xfrm xmlns:a="http://schemas.openxmlformats.org/drawingml/2006/main">
            <a:off x="12020550" y="9496425"/>
            <a:ext cx="1057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cell potency</a:t>
            </a:r>
          </a:p>
        </p:txBody>
      </p:sp>
      <p:sp>
        <p:nvSpPr>
          <p:cNvPr id="59" name="Functional activity in living cells">
            <a:extLst xmlns:a="http://schemas.openxmlformats.org/drawingml/2006/main">
              <a:ext uri="{FF2B5EF4-FFF2-40B4-BE49-F238E27FC236}">
                <a16:creationId xmlns:a16="http://schemas.microsoft.com/office/drawing/2014/main" id="{3FD1BF68-4CB2-4827-93D9-C2E7E0AF2147}"/>
              </a:ext>
            </a:extLst>
          </p:cNvPr>
          <p:cNvSpPr>
            <a:spLocks xmlns:a="http://schemas.openxmlformats.org/drawingml/2006/main" noGrp="1"/>
          </p:cNvSpPr>
          <p:nvPr/>
        </p:nvSpPr>
        <p:spPr>
          <a:xfrm xmlns:a="http://schemas.openxmlformats.org/drawingml/2006/main">
            <a:off x="13068300" y="94964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Functional activity in living cells</a:t>
            </a:r>
          </a:p>
        </p:txBody>
      </p:sp>
      <p:sp>
        <p:nvSpPr>
          <p:cNvPr id="60" name="Illustrative counts. Nine label types are not nine independent assays; richer data need not come at unchanged cost.">
            <a:extLst xmlns:a="http://schemas.openxmlformats.org/drawingml/2006/main">
              <a:ext uri="{FF2B5EF4-FFF2-40B4-BE49-F238E27FC236}">
                <a16:creationId xmlns:a16="http://schemas.microsoft.com/office/drawing/2014/main" id="{ABDAC498-23C4-4586-B1D3-7A7812BA77BA}"/>
              </a:ext>
            </a:extLst>
          </p:cNvPr>
          <p:cNvSpPr>
            <a:spLocks xmlns:a="http://schemas.openxmlformats.org/drawingml/2006/main" noGrp="1"/>
          </p:cNvSpPr>
          <p:nvPr/>
        </p:nvSpPr>
        <p:spPr>
          <a:xfrm xmlns:a="http://schemas.openxmlformats.org/drawingml/2006/main">
            <a:off x="685800" y="9839325"/>
            <a:ext cx="16916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Illustrative counts. Nine label types are not nine independent assays; richer data need not come at unchanged cost.</a:t>
            </a:r>
          </a:p>
        </p:txBody>
      </p:sp>
      <p:sp>
        <p:nvSpPr>
          <p:cNvPr id="61" name="Sources: Jain et al., 2017; Arsiwala et al., 2025; van Niekerk et al., 2026. Mechanism illustration; definitions and links in SOURCES.md.">
            <a:extLst xmlns:a="http://schemas.openxmlformats.org/drawingml/2006/main">
              <a:ext uri="{FF2B5EF4-FFF2-40B4-BE49-F238E27FC236}">
                <a16:creationId xmlns:a16="http://schemas.microsoft.com/office/drawing/2014/main" id="{1A19C6A7-0728-4371-9D63-A35580DDD5D7}"/>
              </a:ext>
            </a:extLst>
          </p:cNvPr>
          <p:cNvSpPr>
            <a:spLocks xmlns:a="http://schemas.openxmlformats.org/drawingml/2006/main" noGrp="1"/>
          </p:cNvSpPr>
          <p:nvPr/>
        </p:nvSpPr>
        <p:spPr>
          <a:xfrm xmlns:a="http://schemas.openxmlformats.org/drawingml/2006/main">
            <a:off x="685800" y="10096500"/>
            <a:ext cx="1691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00355F"/>
                </a:solidFill>
                <a:latin typeface="Arial"/>
                <a:ea typeface="Arial"/>
                <a:cs typeface="Arial"/>
              </a:defRPr>
            </a:defPPr>
          </a:lstStyle>
          <a:p xmlns:a="http://schemas.openxmlformats.org/drawingml/2006/main">
            <a:pPr algn="l">
              <a:lnSpc>
                <a:spcPct val="100000"/>
              </a:lnSpc>
              <a:buNone/>
              <a:defRPr sz="1163" b="0">
                <a:solidFill>
                  <a:srgbClr val="00355F"/>
                </a:solidFill>
                <a:latin typeface="Arial"/>
                <a:ea typeface="Arial"/>
                <a:cs typeface="Arial"/>
              </a:defRPr>
            </a:pPr>
            <a:r>
              <a:rPr sz="1163" b="0">
                <a:solidFill>
                  <a:srgbClr val="00355F"/>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7011559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7EA4A67A-D294-47A4-827F-CE958A3154E7}"/>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Experimental data density and the LST ecosystem">
            <a:extLst xmlns:a="http://schemas.openxmlformats.org/drawingml/2006/main">
              <a:ext uri="{FF2B5EF4-FFF2-40B4-BE49-F238E27FC236}">
                <a16:creationId xmlns:a16="http://schemas.microsoft.com/office/drawing/2014/main" id="{A3BDECA1-5BF1-4700-A199-D959B3354648}"/>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Experimental data density and the LST ecosystem</a:t>
            </a:r>
          </a:p>
        </p:txBody>
      </p:sp>
      <p:sp>
        <p:nvSpPr>
          <p:cNvPr id="3" name="Stage 0: biological data production creates a wet-lab use case">
            <a:extLst xmlns:a="http://schemas.openxmlformats.org/drawingml/2006/main">
              <a:ext uri="{FF2B5EF4-FFF2-40B4-BE49-F238E27FC236}">
                <a16:creationId xmlns:a16="http://schemas.microsoft.com/office/drawing/2014/main" id="{76C2DEA2-69A2-43E8-A2A4-E75E6927B42C}"/>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Stage 0: biological data production creates a wet-lab use case</a:t>
            </a:r>
          </a:p>
        </p:txBody>
      </p:sp>
      <p:sp>
        <p:nvSpPr>
          <p:cNvPr id="4" name="Learning developability requires comparable assay data and an integrated tool workflow">
            <a:extLst xmlns:a="http://schemas.openxmlformats.org/drawingml/2006/main">
              <a:ext uri="{FF2B5EF4-FFF2-40B4-BE49-F238E27FC236}">
                <a16:creationId xmlns:a16="http://schemas.microsoft.com/office/drawing/2014/main" id="{A7214992-EF0A-4A8C-9957-009072C6279E}"/>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Learning developability requires comparable assay data and an integrated tool workflow</a:t>
            </a:r>
          </a:p>
        </p:txBody>
      </p:sp>
      <p:sp>
        <p:nvSpPr>
          <p:cNvPr id="5" name="">
            <a:extLst xmlns:a="http://schemas.openxmlformats.org/drawingml/2006/main">
              <a:ext uri="{FF2B5EF4-FFF2-40B4-BE49-F238E27FC236}">
                <a16:creationId xmlns:a16="http://schemas.microsoft.com/office/drawing/2014/main" id="{85DBE5AF-D67C-4C05-B072-48B93C907E72}"/>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E11C338D-8355-4A54-8A76-DB998A5E1B70}"/>
              </a:ext>
            </a:extLst>
          </p:cNvPr>
          <p:cNvSpPr>
            <a:spLocks xmlns:a="http://schemas.openxmlformats.org/drawingml/2006/main" noGrp="1"/>
          </p:cNvSpPr>
          <p:nvPr/>
        </p:nvSpPr>
        <p:spPr>
          <a:xfrm xmlns:a="http://schemas.openxmlformats.org/drawingml/2006/main">
            <a:off x="685800" y="2124075"/>
            <a:ext cx="5591175" cy="5781675"/>
          </a:xfrm>
          <a:prstGeom xmlns:a="http://schemas.openxmlformats.org/drawingml/2006/main" prst="roundRect">
            <a:avLst>
              <a:gd name="adj" fmla="val 2385"/>
            </a:avLst>
          </a:prstGeom>
          <a:solidFill xmlns:a="http://schemas.openxmlformats.org/drawingml/2006/main">
            <a:srgbClr val="F4F9FD"/>
          </a:solidFill>
          <a:ln xmlns:a="http://schemas.openxmlformats.org/drawingml/2006/main" w="9525">
            <a:solidFill>
              <a:srgbClr val="A5A5A5"/>
            </a:solidFill>
          </a:ln>
        </p:spPr>
      </p:sp>
      <p:sp>
        <p:nvSpPr>
          <p:cNvPr id="7" name="Stage 0: biological data production">
            <a:extLst xmlns:a="http://schemas.openxmlformats.org/drawingml/2006/main">
              <a:ext uri="{FF2B5EF4-FFF2-40B4-BE49-F238E27FC236}">
                <a16:creationId xmlns:a16="http://schemas.microsoft.com/office/drawing/2014/main" id="{8F8E84F7-A025-4999-9505-BEF709F55EC7}"/>
              </a:ext>
            </a:extLst>
          </p:cNvPr>
          <p:cNvSpPr>
            <a:spLocks xmlns:a="http://schemas.openxmlformats.org/drawingml/2006/main" noGrp="1"/>
          </p:cNvSpPr>
          <p:nvPr/>
        </p:nvSpPr>
        <p:spPr>
          <a:xfrm xmlns:a="http://schemas.openxmlformats.org/drawingml/2006/main">
            <a:off x="942975" y="235267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Stage 0: biological data production</a:t>
            </a:r>
          </a:p>
        </p:txBody>
      </p:sp>
      <p:sp>
        <p:nvSpPr>
          <p:cNvPr id="8" name="Continuous input to training and iteration">
            <a:extLst xmlns:a="http://schemas.openxmlformats.org/drawingml/2006/main">
              <a:ext uri="{FF2B5EF4-FFF2-40B4-BE49-F238E27FC236}">
                <a16:creationId xmlns:a16="http://schemas.microsoft.com/office/drawing/2014/main" id="{0DA47E81-BFAD-4329-B75C-597B97AB3AA5}"/>
              </a:ext>
            </a:extLst>
          </p:cNvPr>
          <p:cNvSpPr>
            <a:spLocks xmlns:a="http://schemas.openxmlformats.org/drawingml/2006/main" noGrp="1"/>
          </p:cNvSpPr>
          <p:nvPr/>
        </p:nvSpPr>
        <p:spPr>
          <a:xfrm xmlns:a="http://schemas.openxmlformats.org/drawingml/2006/main">
            <a:off x="942975" y="2771775"/>
            <a:ext cx="507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Continuous input to training and iteration</a:t>
            </a:r>
          </a:p>
        </p:txBody>
      </p:sp>
      <p:sp>
        <p:nvSpPr>
          <p:cNvPr id="9" name="">
            <a:extLst xmlns:a="http://schemas.openxmlformats.org/drawingml/2006/main">
              <a:ext uri="{FF2B5EF4-FFF2-40B4-BE49-F238E27FC236}">
                <a16:creationId xmlns:a16="http://schemas.microsoft.com/office/drawing/2014/main" id="{21E86901-D827-4B47-A01B-0BF0CCDA245F}"/>
              </a:ext>
            </a:extLst>
          </p:cNvPr>
          <p:cNvSpPr>
            <a:spLocks xmlns:a="http://schemas.openxmlformats.org/drawingml/2006/main" noGrp="1"/>
          </p:cNvSpPr>
          <p:nvPr/>
        </p:nvSpPr>
        <p:spPr>
          <a:xfrm xmlns:a="http://schemas.openxmlformats.org/drawingml/2006/main">
            <a:off x="942975" y="3219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0" name="Binding kinetics">
            <a:extLst xmlns:a="http://schemas.openxmlformats.org/drawingml/2006/main">
              <a:ext uri="{FF2B5EF4-FFF2-40B4-BE49-F238E27FC236}">
                <a16:creationId xmlns:a16="http://schemas.microsoft.com/office/drawing/2014/main" id="{9175ACE4-B3DE-4C76-8A0A-2812F3E2E59D}"/>
              </a:ext>
            </a:extLst>
          </p:cNvPr>
          <p:cNvSpPr>
            <a:spLocks xmlns:a="http://schemas.openxmlformats.org/drawingml/2006/main" noGrp="1"/>
          </p:cNvSpPr>
          <p:nvPr/>
        </p:nvSpPr>
        <p:spPr>
          <a:xfrm xmlns:a="http://schemas.openxmlformats.org/drawingml/2006/main">
            <a:off x="1104900" y="3314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Binding kinetics</a:t>
            </a:r>
          </a:p>
        </p:txBody>
      </p:sp>
      <p:sp>
        <p:nvSpPr>
          <p:cNvPr id="11" name="KD / kon / koff">
            <a:extLst xmlns:a="http://schemas.openxmlformats.org/drawingml/2006/main">
              <a:ext uri="{FF2B5EF4-FFF2-40B4-BE49-F238E27FC236}">
                <a16:creationId xmlns:a16="http://schemas.microsoft.com/office/drawing/2014/main" id="{A2BD20E8-B44A-4053-ACF2-4405C1C03C85}"/>
              </a:ext>
            </a:extLst>
          </p:cNvPr>
          <p:cNvSpPr>
            <a:spLocks xmlns:a="http://schemas.openxmlformats.org/drawingml/2006/main" noGrp="1"/>
          </p:cNvSpPr>
          <p:nvPr/>
        </p:nvSpPr>
        <p:spPr>
          <a:xfrm xmlns:a="http://schemas.openxmlformats.org/drawingml/2006/main">
            <a:off x="1104900" y="3590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KD / kon / koff</a:t>
            </a:r>
          </a:p>
        </p:txBody>
      </p:sp>
      <p:sp>
        <p:nvSpPr>
          <p:cNvPr id="12" name="">
            <a:extLst xmlns:a="http://schemas.openxmlformats.org/drawingml/2006/main">
              <a:ext uri="{FF2B5EF4-FFF2-40B4-BE49-F238E27FC236}">
                <a16:creationId xmlns:a16="http://schemas.microsoft.com/office/drawing/2014/main" id="{98DA61F6-4BA9-4C21-8E0B-7C452C6A2366}"/>
              </a:ext>
            </a:extLst>
          </p:cNvPr>
          <p:cNvSpPr>
            <a:spLocks xmlns:a="http://schemas.openxmlformats.org/drawingml/2006/main" noGrp="1"/>
          </p:cNvSpPr>
          <p:nvPr/>
        </p:nvSpPr>
        <p:spPr>
          <a:xfrm xmlns:a="http://schemas.openxmlformats.org/drawingml/2006/main">
            <a:off x="942975" y="41719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3" name="Expression &amp; physicochemical properties">
            <a:extLst xmlns:a="http://schemas.openxmlformats.org/drawingml/2006/main">
              <a:ext uri="{FF2B5EF4-FFF2-40B4-BE49-F238E27FC236}">
                <a16:creationId xmlns:a16="http://schemas.microsoft.com/office/drawing/2014/main" id="{972B8893-A95F-4FE4-9AB5-FC25B80536F2}"/>
              </a:ext>
            </a:extLst>
          </p:cNvPr>
          <p:cNvSpPr>
            <a:spLocks xmlns:a="http://schemas.openxmlformats.org/drawingml/2006/main" noGrp="1"/>
          </p:cNvSpPr>
          <p:nvPr/>
        </p:nvSpPr>
        <p:spPr>
          <a:xfrm xmlns:a="http://schemas.openxmlformats.org/drawingml/2006/main">
            <a:off x="1104900" y="42672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Expression &amp; physicochemical properties</a:t>
            </a:r>
          </a:p>
        </p:txBody>
      </p:sp>
      <p:sp>
        <p:nvSpPr>
          <p:cNvPr id="14" name="expression / Tm / aggregation">
            <a:extLst xmlns:a="http://schemas.openxmlformats.org/drawingml/2006/main">
              <a:ext uri="{FF2B5EF4-FFF2-40B4-BE49-F238E27FC236}">
                <a16:creationId xmlns:a16="http://schemas.microsoft.com/office/drawing/2014/main" id="{AC6C06CD-6742-40A0-8B6D-3F00BDCC4F27}"/>
              </a:ext>
            </a:extLst>
          </p:cNvPr>
          <p:cNvSpPr>
            <a:spLocks xmlns:a="http://schemas.openxmlformats.org/drawingml/2006/main" noGrp="1"/>
          </p:cNvSpPr>
          <p:nvPr/>
        </p:nvSpPr>
        <p:spPr>
          <a:xfrm xmlns:a="http://schemas.openxmlformats.org/drawingml/2006/main">
            <a:off x="1104900" y="45434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expression / Tm / aggregation</a:t>
            </a:r>
          </a:p>
        </p:txBody>
      </p:sp>
      <p:sp>
        <p:nvSpPr>
          <p:cNvPr id="15" name="">
            <a:extLst xmlns:a="http://schemas.openxmlformats.org/drawingml/2006/main">
              <a:ext uri="{FF2B5EF4-FFF2-40B4-BE49-F238E27FC236}">
                <a16:creationId xmlns:a16="http://schemas.microsoft.com/office/drawing/2014/main" id="{5C1A9B4B-C160-42A1-BDF9-0120593431A3}"/>
              </a:ext>
            </a:extLst>
          </p:cNvPr>
          <p:cNvSpPr>
            <a:spLocks xmlns:a="http://schemas.openxmlformats.org/drawingml/2006/main" noGrp="1"/>
          </p:cNvSpPr>
          <p:nvPr/>
        </p:nvSpPr>
        <p:spPr>
          <a:xfrm xmlns:a="http://schemas.openxmlformats.org/drawingml/2006/main">
            <a:off x="942975" y="5124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6" name="Specificity &amp; cell function">
            <a:extLst xmlns:a="http://schemas.openxmlformats.org/drawingml/2006/main">
              <a:ext uri="{FF2B5EF4-FFF2-40B4-BE49-F238E27FC236}">
                <a16:creationId xmlns:a16="http://schemas.microsoft.com/office/drawing/2014/main" id="{33ABE20D-D308-43BD-998C-C65E06A50B76}"/>
              </a:ext>
            </a:extLst>
          </p:cNvPr>
          <p:cNvSpPr>
            <a:spLocks xmlns:a="http://schemas.openxmlformats.org/drawingml/2006/main" noGrp="1"/>
          </p:cNvSpPr>
          <p:nvPr/>
        </p:nvSpPr>
        <p:spPr>
          <a:xfrm xmlns:a="http://schemas.openxmlformats.org/drawingml/2006/main">
            <a:off x="1104900" y="5219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Specificity &amp; cell function</a:t>
            </a:r>
          </a:p>
        </p:txBody>
      </p:sp>
      <p:sp>
        <p:nvSpPr>
          <p:cNvPr id="17" name="polyreactivity / epitope / cell potency">
            <a:extLst xmlns:a="http://schemas.openxmlformats.org/drawingml/2006/main">
              <a:ext uri="{FF2B5EF4-FFF2-40B4-BE49-F238E27FC236}">
                <a16:creationId xmlns:a16="http://schemas.microsoft.com/office/drawing/2014/main" id="{DDF55F0C-BD97-4CF9-858A-6002836AFA58}"/>
              </a:ext>
            </a:extLst>
          </p:cNvPr>
          <p:cNvSpPr>
            <a:spLocks xmlns:a="http://schemas.openxmlformats.org/drawingml/2006/main" noGrp="1"/>
          </p:cNvSpPr>
          <p:nvPr/>
        </p:nvSpPr>
        <p:spPr>
          <a:xfrm xmlns:a="http://schemas.openxmlformats.org/drawingml/2006/main">
            <a:off x="1104900" y="5495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polyreactivity / epitope / cell potency</a:t>
            </a:r>
          </a:p>
        </p:txBody>
      </p:sp>
      <p:sp>
        <p:nvSpPr>
          <p:cNvPr id="18" name="Training records: sequence, target, conditions,">
            <a:extLst xmlns:a="http://schemas.openxmlformats.org/drawingml/2006/main">
              <a:ext uri="{FF2B5EF4-FFF2-40B4-BE49-F238E27FC236}">
                <a16:creationId xmlns:a16="http://schemas.microsoft.com/office/drawing/2014/main" id="{DD9D28F8-0A32-45A9-8509-6FA975F701F6}"/>
              </a:ext>
            </a:extLst>
          </p:cNvPr>
          <p:cNvSpPr>
            <a:spLocks xmlns:a="http://schemas.openxmlformats.org/drawingml/2006/main" noGrp="1"/>
          </p:cNvSpPr>
          <p:nvPr/>
        </p:nvSpPr>
        <p:spPr>
          <a:xfrm xmlns:a="http://schemas.openxmlformats.org/drawingml/2006/main">
            <a:off x="942975" y="6191250"/>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Training records: sequence, target, conditions,</a:t>
            </a:r>
          </a:p>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raw curves, replicates, batches and failures</a:t>
            </a:r>
          </a:p>
        </p:txBody>
      </p:sp>
      <p:sp>
        <p:nvSpPr>
          <p:cNvPr id="19" name="">
            <a:extLst xmlns:a="http://schemas.openxmlformats.org/drawingml/2006/main">
              <a:ext uri="{FF2B5EF4-FFF2-40B4-BE49-F238E27FC236}">
                <a16:creationId xmlns:a16="http://schemas.microsoft.com/office/drawing/2014/main" id="{41C5A326-A2CE-4ACF-88DE-F797B8FA57F8}"/>
              </a:ext>
            </a:extLst>
          </p:cNvPr>
          <p:cNvSpPr>
            <a:spLocks xmlns:a="http://schemas.openxmlformats.org/drawingml/2006/main" noGrp="1"/>
          </p:cNvSpPr>
          <p:nvPr/>
        </p:nvSpPr>
        <p:spPr>
          <a:xfrm xmlns:a="http://schemas.openxmlformats.org/drawingml/2006/main">
            <a:off x="942975" y="6905625"/>
            <a:ext cx="192405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0" name="">
            <a:extLst xmlns:a="http://schemas.openxmlformats.org/drawingml/2006/main">
              <a:ext uri="{FF2B5EF4-FFF2-40B4-BE49-F238E27FC236}">
                <a16:creationId xmlns:a16="http://schemas.microsoft.com/office/drawing/2014/main" id="{A18B5CA3-B9EC-4463-B4CC-023D212C9896}"/>
              </a:ext>
            </a:extLst>
          </p:cNvPr>
          <p:cNvSpPr>
            <a:spLocks xmlns:a="http://schemas.openxmlformats.org/drawingml/2006/main" noGrp="1"/>
          </p:cNvSpPr>
          <p:nvPr/>
        </p:nvSpPr>
        <p:spPr>
          <a:xfrm xmlns:a="http://schemas.openxmlformats.org/drawingml/2006/main">
            <a:off x="3810000" y="6905625"/>
            <a:ext cx="220980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1" name="Train / improve">
            <a:extLst xmlns:a="http://schemas.openxmlformats.org/drawingml/2006/main">
              <a:ext uri="{FF2B5EF4-FFF2-40B4-BE49-F238E27FC236}">
                <a16:creationId xmlns:a16="http://schemas.microsoft.com/office/drawing/2014/main" id="{C9309305-2233-461C-B0B9-C5DB5057FD90}"/>
              </a:ext>
            </a:extLst>
          </p:cNvPr>
          <p:cNvSpPr>
            <a:spLocks xmlns:a="http://schemas.openxmlformats.org/drawingml/2006/main" noGrp="1"/>
          </p:cNvSpPr>
          <p:nvPr/>
        </p:nvSpPr>
        <p:spPr>
          <a:xfrm xmlns:a="http://schemas.openxmlformats.org/drawingml/2006/main">
            <a:off x="942975" y="6981825"/>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Train / improve</a:t>
            </a:r>
          </a:p>
        </p:txBody>
      </p:sp>
      <p:sp>
        <p:nvSpPr>
          <p:cNvPr id="22" name="Design / validate">
            <a:extLst xmlns:a="http://schemas.openxmlformats.org/drawingml/2006/main">
              <a:ext uri="{FF2B5EF4-FFF2-40B4-BE49-F238E27FC236}">
                <a16:creationId xmlns:a16="http://schemas.microsoft.com/office/drawing/2014/main" id="{3CD15DA0-61CD-4B19-B0C0-FA48A02A9EC8}"/>
              </a:ext>
            </a:extLst>
          </p:cNvPr>
          <p:cNvSpPr>
            <a:spLocks xmlns:a="http://schemas.openxmlformats.org/drawingml/2006/main" noGrp="1"/>
          </p:cNvSpPr>
          <p:nvPr/>
        </p:nvSpPr>
        <p:spPr>
          <a:xfrm xmlns:a="http://schemas.openxmlformats.org/drawingml/2006/main">
            <a:off x="3810000" y="6981825"/>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Design / validate</a:t>
            </a:r>
          </a:p>
        </p:txBody>
      </p:sp>
      <p:sp>
        <p:nvSpPr>
          <p:cNvPr id="23" name="">
            <a:extLst xmlns:a="http://schemas.openxmlformats.org/drawingml/2006/main">
              <a:ext uri="{FF2B5EF4-FFF2-40B4-BE49-F238E27FC236}">
                <a16:creationId xmlns:a16="http://schemas.microsoft.com/office/drawing/2014/main" id="{308541A6-9242-4716-BF21-07FCA0E871A5}"/>
              </a:ext>
            </a:extLst>
          </p:cNvPr>
          <p:cNvSpPr>
            <a:spLocks xmlns:a="http://schemas.openxmlformats.org/drawingml/2006/main" noGrp="1"/>
          </p:cNvSpPr>
          <p:nvPr/>
        </p:nvSpPr>
        <p:spPr>
          <a:xfrm xmlns:a="http://schemas.openxmlformats.org/drawingml/2006/main">
            <a:off x="2971800" y="7153275"/>
            <a:ext cx="733425" cy="953"/>
          </a:xfrm>
          <a:custGeom xmlns:a="http://schemas.openxmlformats.org/drawingml/2006/main">
            <a:pathLst>
              <a:path w="733425" h="953">
                <a:moveTo>
                  <a:pt x="0" y="0"/>
                </a:moveTo>
                <a:lnTo>
                  <a:pt x="733425" y="0"/>
                </a:lnTo>
              </a:path>
            </a:pathLst>
          </a:custGeom>
          <a:noFill xmlns:a="http://schemas.openxmlformats.org/drawingml/2006/main"/>
          <a:ln xmlns:a="http://schemas.openxmlformats.org/drawingml/2006/main" w="19050">
            <a:solidFill>
              <a:srgbClr val="00355F"/>
            </a:solidFill>
          </a:ln>
        </p:spPr>
      </p:sp>
      <p:sp>
        <p:nvSpPr>
          <p:cNvPr id="24" name="">
            <a:extLst xmlns:a="http://schemas.openxmlformats.org/drawingml/2006/main">
              <a:ext uri="{FF2B5EF4-FFF2-40B4-BE49-F238E27FC236}">
                <a16:creationId xmlns:a16="http://schemas.microsoft.com/office/drawing/2014/main" id="{A7AE98C7-AAA8-4E6E-AAAC-3C6F10E2C4CB}"/>
              </a:ext>
            </a:extLst>
          </p:cNvPr>
          <p:cNvSpPr>
            <a:spLocks xmlns:a="http://schemas.openxmlformats.org/drawingml/2006/main" noGrp="1"/>
          </p:cNvSpPr>
          <p:nvPr/>
        </p:nvSpPr>
        <p:spPr>
          <a:xfrm xmlns:a="http://schemas.openxmlformats.org/drawingml/2006/main">
            <a:off x="3621635" y="710761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8329709C-0D5F-4153-AC6A-EBE974CFD4E6}"/>
              </a:ext>
            </a:extLst>
          </p:cNvPr>
          <p:cNvSpPr>
            <a:spLocks xmlns:a="http://schemas.openxmlformats.org/drawingml/2006/main" noGrp="1"/>
          </p:cNvSpPr>
          <p:nvPr/>
        </p:nvSpPr>
        <p:spPr>
          <a:xfrm xmlns:a="http://schemas.openxmlformats.org/drawingml/2006/main">
            <a:off x="4914900" y="747712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00355F"/>
            </a:solidFill>
          </a:ln>
        </p:spPr>
      </p:sp>
      <p:sp>
        <p:nvSpPr>
          <p:cNvPr id="26" name="">
            <a:extLst xmlns:a="http://schemas.openxmlformats.org/drawingml/2006/main">
              <a:ext uri="{FF2B5EF4-FFF2-40B4-BE49-F238E27FC236}">
                <a16:creationId xmlns:a16="http://schemas.microsoft.com/office/drawing/2014/main" id="{DA675ACE-4FB7-47B3-B529-61D7DAEF92ED}"/>
              </a:ext>
            </a:extLst>
          </p:cNvPr>
          <p:cNvSpPr>
            <a:spLocks xmlns:a="http://schemas.openxmlformats.org/drawingml/2006/main" noGrp="1"/>
          </p:cNvSpPr>
          <p:nvPr/>
        </p:nvSpPr>
        <p:spPr>
          <a:xfrm xmlns:a="http://schemas.openxmlformats.org/drawingml/2006/main">
            <a:off x="1905000" y="7696200"/>
            <a:ext cx="3009900" cy="953"/>
          </a:xfrm>
          <a:custGeom xmlns:a="http://schemas.openxmlformats.org/drawingml/2006/main">
            <a:pathLst>
              <a:path w="3009900" h="953">
                <a:moveTo>
                  <a:pt x="3009900" y="0"/>
                </a:moveTo>
                <a:lnTo>
                  <a:pt x="0" y="0"/>
                </a:lnTo>
              </a:path>
            </a:pathLst>
          </a:custGeom>
          <a:noFill xmlns:a="http://schemas.openxmlformats.org/drawingml/2006/main"/>
          <a:ln xmlns:a="http://schemas.openxmlformats.org/drawingml/2006/main" w="14288">
            <a:solidFill>
              <a:srgbClr val="00355F"/>
            </a:solidFill>
          </a:ln>
        </p:spPr>
      </p:sp>
      <p:sp>
        <p:nvSpPr>
          <p:cNvPr id="27" name="">
            <a:extLst xmlns:a="http://schemas.openxmlformats.org/drawingml/2006/main">
              <a:ext uri="{FF2B5EF4-FFF2-40B4-BE49-F238E27FC236}">
                <a16:creationId xmlns:a16="http://schemas.microsoft.com/office/drawing/2014/main" id="{CE9353A3-B4CE-427D-8E68-EB6F611DF290}"/>
              </a:ext>
            </a:extLst>
          </p:cNvPr>
          <p:cNvSpPr>
            <a:spLocks xmlns:a="http://schemas.openxmlformats.org/drawingml/2006/main" noGrp="1"/>
          </p:cNvSpPr>
          <p:nvPr/>
        </p:nvSpPr>
        <p:spPr>
          <a:xfrm xmlns:a="http://schemas.openxmlformats.org/drawingml/2006/main">
            <a:off x="1905000" y="7477125"/>
            <a:ext cx="953" cy="219075"/>
          </a:xfrm>
          <a:custGeom xmlns:a="http://schemas.openxmlformats.org/drawingml/2006/main">
            <a:pathLst>
              <a:path w="953" h="219075">
                <a:moveTo>
                  <a:pt x="0" y="219075"/>
                </a:moveTo>
                <a:lnTo>
                  <a:pt x="0" y="0"/>
                </a:lnTo>
              </a:path>
            </a:pathLst>
          </a:custGeom>
          <a:noFill xmlns:a="http://schemas.openxmlformats.org/drawingml/2006/main"/>
          <a:ln xmlns:a="http://schemas.openxmlformats.org/drawingml/2006/main" w="14288">
            <a:solidFill>
              <a:srgbClr val="00355F"/>
            </a:solidFill>
          </a:ln>
        </p:spPr>
      </p:sp>
      <p:sp>
        <p:nvSpPr>
          <p:cNvPr id="28" name="">
            <a:extLst xmlns:a="http://schemas.openxmlformats.org/drawingml/2006/main">
              <a:ext uri="{FF2B5EF4-FFF2-40B4-BE49-F238E27FC236}">
                <a16:creationId xmlns:a16="http://schemas.microsoft.com/office/drawing/2014/main" id="{3F217999-1C89-4CA6-A693-B76BA1F0113F}"/>
              </a:ext>
            </a:extLst>
          </p:cNvPr>
          <p:cNvSpPr>
            <a:spLocks xmlns:a="http://schemas.openxmlformats.org/drawingml/2006/main" noGrp="1"/>
          </p:cNvSpPr>
          <p:nvPr/>
        </p:nvSpPr>
        <p:spPr>
          <a:xfrm xmlns:a="http://schemas.openxmlformats.org/drawingml/2006/main">
            <a:off x="1859335" y="74771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00355F"/>
          </a:solidFill>
          <a:ln xmlns:a="http://schemas.openxmlformats.org/drawingml/2006/main" w="9525">
            <a:noFill/>
          </a:ln>
        </p:spPr>
      </p:sp>
      <p:sp>
        <p:nvSpPr>
          <p:cNvPr id="29" name="">
            <a:extLst xmlns:a="http://schemas.openxmlformats.org/drawingml/2006/main">
              <a:ext uri="{FF2B5EF4-FFF2-40B4-BE49-F238E27FC236}">
                <a16:creationId xmlns:a16="http://schemas.microsoft.com/office/drawing/2014/main" id="{E9B3A9FB-0C66-498C-B5B8-9C0EA2665B5E}"/>
              </a:ext>
            </a:extLst>
          </p:cNvPr>
          <p:cNvSpPr>
            <a:spLocks xmlns:a="http://schemas.openxmlformats.org/drawingml/2006/main" noGrp="1"/>
          </p:cNvSpPr>
          <p:nvPr/>
        </p:nvSpPr>
        <p:spPr>
          <a:xfrm xmlns:a="http://schemas.openxmlformats.org/drawingml/2006/main">
            <a:off x="2400300" y="7534275"/>
            <a:ext cx="1971675" cy="323850"/>
          </a:xfrm>
          <a:prstGeom xmlns:a="http://schemas.openxmlformats.org/drawingml/2006/main" prst="rect">
            <a:avLst/>
          </a:prstGeom>
          <a:solidFill xmlns:a="http://schemas.openxmlformats.org/drawingml/2006/main">
            <a:srgbClr val="F4F9FD"/>
          </a:solidFill>
          <a:ln xmlns:a="http://schemas.openxmlformats.org/drawingml/2006/main" w="9525">
            <a:noFill/>
          </a:ln>
        </p:spPr>
      </p:sp>
      <p:sp>
        <p:nvSpPr>
          <p:cNvPr id="30" name="Assays inform models">
            <a:extLst xmlns:a="http://schemas.openxmlformats.org/drawingml/2006/main">
              <a:ext uri="{FF2B5EF4-FFF2-40B4-BE49-F238E27FC236}">
                <a16:creationId xmlns:a16="http://schemas.microsoft.com/office/drawing/2014/main" id="{7FC47A5D-6DE6-4907-9C08-EA573F449B76}"/>
              </a:ext>
            </a:extLst>
          </p:cNvPr>
          <p:cNvSpPr>
            <a:spLocks xmlns:a="http://schemas.openxmlformats.org/drawingml/2006/main" noGrp="1"/>
          </p:cNvSpPr>
          <p:nvPr/>
        </p:nvSpPr>
        <p:spPr>
          <a:xfrm xmlns:a="http://schemas.openxmlformats.org/drawingml/2006/main">
            <a:off x="2400300" y="7553325"/>
            <a:ext cx="1971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Assays inform models</a:t>
            </a:r>
          </a:p>
        </p:txBody>
      </p:sp>
      <p:sp>
        <p:nvSpPr>
          <p:cNvPr id="31" name="">
            <a:extLst xmlns:a="http://schemas.openxmlformats.org/drawingml/2006/main">
              <a:ext uri="{FF2B5EF4-FFF2-40B4-BE49-F238E27FC236}">
                <a16:creationId xmlns:a16="http://schemas.microsoft.com/office/drawing/2014/main" id="{A75C1CBB-A784-485E-B2DD-9DED2766DF22}"/>
              </a:ext>
            </a:extLst>
          </p:cNvPr>
          <p:cNvSpPr>
            <a:spLocks xmlns:a="http://schemas.openxmlformats.org/drawingml/2006/main" noGrp="1"/>
          </p:cNvSpPr>
          <p:nvPr/>
        </p:nvSpPr>
        <p:spPr>
          <a:xfrm xmlns:a="http://schemas.openxmlformats.org/drawingml/2006/main">
            <a:off x="6391275" y="3219450"/>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00355F"/>
            </a:solidFill>
          </a:ln>
        </p:spPr>
      </p:sp>
      <p:sp>
        <p:nvSpPr>
          <p:cNvPr id="32" name="">
            <a:extLst xmlns:a="http://schemas.openxmlformats.org/drawingml/2006/main">
              <a:ext uri="{FF2B5EF4-FFF2-40B4-BE49-F238E27FC236}">
                <a16:creationId xmlns:a16="http://schemas.microsoft.com/office/drawing/2014/main" id="{5D628191-CC68-4F64-B644-15B39C82AFC5}"/>
              </a:ext>
            </a:extLst>
          </p:cNvPr>
          <p:cNvSpPr>
            <a:spLocks xmlns:a="http://schemas.openxmlformats.org/drawingml/2006/main" noGrp="1"/>
          </p:cNvSpPr>
          <p:nvPr/>
        </p:nvSpPr>
        <p:spPr>
          <a:xfrm xmlns:a="http://schemas.openxmlformats.org/drawingml/2006/main">
            <a:off x="6667500" y="3219450"/>
            <a:ext cx="953" cy="2743200"/>
          </a:xfrm>
          <a:custGeom xmlns:a="http://schemas.openxmlformats.org/drawingml/2006/main">
            <a:pathLst>
              <a:path w="953" h="2743200">
                <a:moveTo>
                  <a:pt x="0" y="0"/>
                </a:moveTo>
                <a:lnTo>
                  <a:pt x="0" y="2743200"/>
                </a:lnTo>
              </a:path>
            </a:pathLst>
          </a:custGeom>
          <a:noFill xmlns:a="http://schemas.openxmlformats.org/drawingml/2006/main"/>
          <a:ln xmlns:a="http://schemas.openxmlformats.org/drawingml/2006/main" w="21908">
            <a:solidFill>
              <a:srgbClr val="00355F"/>
            </a:solidFill>
          </a:ln>
        </p:spPr>
      </p:sp>
      <p:sp>
        <p:nvSpPr>
          <p:cNvPr id="33" name="">
            <a:extLst xmlns:a="http://schemas.openxmlformats.org/drawingml/2006/main">
              <a:ext uri="{FF2B5EF4-FFF2-40B4-BE49-F238E27FC236}">
                <a16:creationId xmlns:a16="http://schemas.microsoft.com/office/drawing/2014/main" id="{9F9F728A-08A5-4DC8-85D7-16BA1153AA8A}"/>
              </a:ext>
            </a:extLst>
          </p:cNvPr>
          <p:cNvSpPr>
            <a:spLocks xmlns:a="http://schemas.openxmlformats.org/drawingml/2006/main" noGrp="1"/>
          </p:cNvSpPr>
          <p:nvPr/>
        </p:nvSpPr>
        <p:spPr>
          <a:xfrm xmlns:a="http://schemas.openxmlformats.org/drawingml/2006/main">
            <a:off x="6391275" y="5962650"/>
            <a:ext cx="276225" cy="953"/>
          </a:xfrm>
          <a:custGeom xmlns:a="http://schemas.openxmlformats.org/drawingml/2006/main">
            <a:pathLst>
              <a:path w="276225" h="953">
                <a:moveTo>
                  <a:pt x="276225" y="0"/>
                </a:moveTo>
                <a:lnTo>
                  <a:pt x="0" y="0"/>
                </a:lnTo>
              </a:path>
            </a:pathLst>
          </a:custGeom>
          <a:noFill xmlns:a="http://schemas.openxmlformats.org/drawingml/2006/main"/>
          <a:ln xmlns:a="http://schemas.openxmlformats.org/drawingml/2006/main" w="21908">
            <a:solidFill>
              <a:srgbClr val="00355F"/>
            </a:solidFill>
          </a:ln>
        </p:spPr>
      </p:sp>
      <p:sp>
        <p:nvSpPr>
          <p:cNvPr id="34" name="">
            <a:extLst xmlns:a="http://schemas.openxmlformats.org/drawingml/2006/main">
              <a:ext uri="{FF2B5EF4-FFF2-40B4-BE49-F238E27FC236}">
                <a16:creationId xmlns:a16="http://schemas.microsoft.com/office/drawing/2014/main" id="{23636799-8785-47D7-A0A0-5BB249439FF8}"/>
              </a:ext>
            </a:extLst>
          </p:cNvPr>
          <p:cNvSpPr>
            <a:spLocks xmlns:a="http://schemas.openxmlformats.org/drawingml/2006/main" noGrp="1"/>
          </p:cNvSpPr>
          <p:nvPr/>
        </p:nvSpPr>
        <p:spPr>
          <a:xfrm xmlns:a="http://schemas.openxmlformats.org/drawingml/2006/main">
            <a:off x="6772275" y="2533650"/>
            <a:ext cx="371475" cy="4867275"/>
          </a:xfrm>
          <a:custGeom xmlns:a="http://schemas.openxmlformats.org/drawingml/2006/main">
            <a:pathLst>
              <a:path w="371475" h="4867275">
                <a:moveTo>
                  <a:pt x="0" y="790575"/>
                </a:moveTo>
                <a:lnTo>
                  <a:pt x="371475" y="0"/>
                </a:lnTo>
                <a:lnTo>
                  <a:pt x="371475" y="4867275"/>
                </a:lnTo>
                <a:lnTo>
                  <a:pt x="0" y="3305175"/>
                </a:lnTo>
                <a:close/>
              </a:path>
            </a:pathLst>
          </a:custGeom>
          <a:solidFill xmlns:a="http://schemas.openxmlformats.org/drawingml/2006/main">
            <a:srgbClr val="F4F9FD"/>
          </a:solidFill>
          <a:ln xmlns:a="http://schemas.openxmlformats.org/drawingml/2006/main" w="9525">
            <a:noFill/>
          </a:ln>
        </p:spPr>
      </p:sp>
      <p:sp>
        <p:nvSpPr>
          <p:cNvPr id="35" name="">
            <a:extLst xmlns:a="http://schemas.openxmlformats.org/drawingml/2006/main">
              <a:ext uri="{FF2B5EF4-FFF2-40B4-BE49-F238E27FC236}">
                <a16:creationId xmlns:a16="http://schemas.microsoft.com/office/drawing/2014/main" id="{D85AEF97-A049-471F-934D-BDF91D5AA317}"/>
              </a:ext>
            </a:extLst>
          </p:cNvPr>
          <p:cNvSpPr>
            <a:spLocks xmlns:a="http://schemas.openxmlformats.org/drawingml/2006/main" noGrp="1"/>
          </p:cNvSpPr>
          <p:nvPr/>
        </p:nvSpPr>
        <p:spPr>
          <a:xfrm xmlns:a="http://schemas.openxmlformats.org/drawingml/2006/main">
            <a:off x="6772275" y="2533650"/>
            <a:ext cx="371475" cy="790575"/>
          </a:xfrm>
          <a:custGeom xmlns:a="http://schemas.openxmlformats.org/drawingml/2006/main">
            <a:pathLst>
              <a:path w="371475" h="790575">
                <a:moveTo>
                  <a:pt x="0" y="790575"/>
                </a:moveTo>
                <a:lnTo>
                  <a:pt x="371475" y="0"/>
                </a:lnTo>
              </a:path>
            </a:pathLst>
          </a:custGeom>
          <a:noFill xmlns:a="http://schemas.openxmlformats.org/drawingml/2006/main"/>
          <a:ln xmlns:a="http://schemas.openxmlformats.org/drawingml/2006/main" w="13335">
            <a:solidFill>
              <a:srgbClr val="7399C6"/>
            </a:solidFill>
          </a:ln>
        </p:spPr>
      </p:sp>
      <p:sp>
        <p:nvSpPr>
          <p:cNvPr id="36" name="">
            <a:extLst xmlns:a="http://schemas.openxmlformats.org/drawingml/2006/main">
              <a:ext uri="{FF2B5EF4-FFF2-40B4-BE49-F238E27FC236}">
                <a16:creationId xmlns:a16="http://schemas.microsoft.com/office/drawing/2014/main" id="{02C352A5-5E43-48B2-971F-374ECC228FCC}"/>
              </a:ext>
            </a:extLst>
          </p:cNvPr>
          <p:cNvSpPr>
            <a:spLocks xmlns:a="http://schemas.openxmlformats.org/drawingml/2006/main" noGrp="1"/>
          </p:cNvSpPr>
          <p:nvPr/>
        </p:nvSpPr>
        <p:spPr>
          <a:xfrm xmlns:a="http://schemas.openxmlformats.org/drawingml/2006/main">
            <a:off x="6772275" y="5838825"/>
            <a:ext cx="371475" cy="1562100"/>
          </a:xfrm>
          <a:custGeom xmlns:a="http://schemas.openxmlformats.org/drawingml/2006/main">
            <a:pathLst>
              <a:path w="371475" h="1562100">
                <a:moveTo>
                  <a:pt x="0" y="0"/>
                </a:moveTo>
                <a:lnTo>
                  <a:pt x="371475" y="1562100"/>
                </a:lnTo>
              </a:path>
            </a:pathLst>
          </a:custGeom>
          <a:noFill xmlns:a="http://schemas.openxmlformats.org/drawingml/2006/main"/>
          <a:ln xmlns:a="http://schemas.openxmlformats.org/drawingml/2006/main" w="13335">
            <a:solidFill>
              <a:srgbClr val="7399C6"/>
            </a:solidFill>
          </a:ln>
        </p:spPr>
      </p:sp>
      <p:sp>
        <p:nvSpPr>
          <p:cNvPr id="37" name="">
            <a:extLst xmlns:a="http://schemas.openxmlformats.org/drawingml/2006/main">
              <a:ext uri="{FF2B5EF4-FFF2-40B4-BE49-F238E27FC236}">
                <a16:creationId xmlns:a16="http://schemas.microsoft.com/office/drawing/2014/main" id="{4DA4779E-B4B3-494A-AF2D-42848C989736}"/>
              </a:ext>
            </a:extLst>
          </p:cNvPr>
          <p:cNvSpPr>
            <a:spLocks xmlns:a="http://schemas.openxmlformats.org/drawingml/2006/main" noGrp="1"/>
          </p:cNvSpPr>
          <p:nvPr/>
        </p:nvSpPr>
        <p:spPr>
          <a:xfrm xmlns:a="http://schemas.openxmlformats.org/drawingml/2006/main">
            <a:off x="7162800" y="2124075"/>
            <a:ext cx="10439400" cy="5781675"/>
          </a:xfrm>
          <a:prstGeom xmlns:a="http://schemas.openxmlformats.org/drawingml/2006/main" prst="roundRect">
            <a:avLst>
              <a:gd name="adj" fmla="val 2306"/>
            </a:avLst>
          </a:prstGeom>
          <a:solidFill xmlns:a="http://schemas.openxmlformats.org/drawingml/2006/main">
            <a:srgbClr val="F4F9FD"/>
          </a:solidFill>
          <a:ln xmlns:a="http://schemas.openxmlformats.org/drawingml/2006/main" w="9525">
            <a:solidFill>
              <a:srgbClr val="A5A5A5"/>
            </a:solidFill>
          </a:ln>
        </p:spPr>
      </p:sp>
      <p:sp>
        <p:nvSpPr>
          <p:cNvPr id="38" name="Labels → assays → purchases">
            <a:extLst xmlns:a="http://schemas.openxmlformats.org/drawingml/2006/main">
              <a:ext uri="{FF2B5EF4-FFF2-40B4-BE49-F238E27FC236}">
                <a16:creationId xmlns:a16="http://schemas.microsoft.com/office/drawing/2014/main" id="{A9B19A4A-7CF9-4765-ADF3-8DF3696267CB}"/>
              </a:ext>
            </a:extLst>
          </p:cNvPr>
          <p:cNvSpPr>
            <a:spLocks xmlns:a="http://schemas.openxmlformats.org/drawingml/2006/main" noGrp="1"/>
          </p:cNvSpPr>
          <p:nvPr/>
        </p:nvSpPr>
        <p:spPr>
          <a:xfrm xmlns:a="http://schemas.openxmlformats.org/drawingml/2006/main">
            <a:off x="7410450" y="2333625"/>
            <a:ext cx="9944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Labels → assays → purchases</a:t>
            </a:r>
          </a:p>
        </p:txBody>
      </p:sp>
      <p:sp>
        <p:nvSpPr>
          <p:cNvPr id="39" name="Tool revenue needs a bridge from label coverage to workflow volume and unit consumption">
            <a:extLst xmlns:a="http://schemas.openxmlformats.org/drawingml/2006/main">
              <a:ext uri="{FF2B5EF4-FFF2-40B4-BE49-F238E27FC236}">
                <a16:creationId xmlns:a16="http://schemas.microsoft.com/office/drawing/2014/main" id="{10862DCE-8179-4E8E-84AC-89566F8217E8}"/>
              </a:ext>
            </a:extLst>
          </p:cNvPr>
          <p:cNvSpPr>
            <a:spLocks xmlns:a="http://schemas.openxmlformats.org/drawingml/2006/main" noGrp="1"/>
          </p:cNvSpPr>
          <p:nvPr/>
        </p:nvSpPr>
        <p:spPr>
          <a:xfrm xmlns:a="http://schemas.openxmlformats.org/drawingml/2006/main">
            <a:off x="7410450" y="2752725"/>
            <a:ext cx="994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Tool revenue needs a bridge from label coverage to workflow volume and unit consumption</a:t>
            </a:r>
          </a:p>
        </p:txBody>
      </p:sp>
      <p:sp>
        <p:nvSpPr>
          <p:cNvPr id="40" name="">
            <a:extLst xmlns:a="http://schemas.openxmlformats.org/drawingml/2006/main">
              <a:ext uri="{FF2B5EF4-FFF2-40B4-BE49-F238E27FC236}">
                <a16:creationId xmlns:a16="http://schemas.microsoft.com/office/drawing/2014/main" id="{03764848-8C46-484F-9942-3EB3D7632188}"/>
              </a:ext>
            </a:extLst>
          </p:cNvPr>
          <p:cNvSpPr>
            <a:spLocks xmlns:a="http://schemas.openxmlformats.org/drawingml/2006/main" noGrp="1"/>
          </p:cNvSpPr>
          <p:nvPr/>
        </p:nvSpPr>
        <p:spPr>
          <a:xfrm xmlns:a="http://schemas.openxmlformats.org/drawingml/2006/main">
            <a:off x="7410450" y="3181350"/>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1" name="">
            <a:extLst xmlns:a="http://schemas.openxmlformats.org/drawingml/2006/main">
              <a:ext uri="{FF2B5EF4-FFF2-40B4-BE49-F238E27FC236}">
                <a16:creationId xmlns:a16="http://schemas.microsoft.com/office/drawing/2014/main" id="{C20996B7-BE5A-49C8-9549-359F90577B32}"/>
              </a:ext>
            </a:extLst>
          </p:cNvPr>
          <p:cNvPicPr>
            <a:picLocks xmlns:a="http://schemas.openxmlformats.org/drawingml/2006/main" noChangeAspect="1"/>
          </p:cNvPicPr>
          <p:nvPr/>
        </p:nvPicPr>
        <p:blipFill>
          <a:blip xmlns:r="http://schemas.openxmlformats.org/officeDocument/2006/relationships" xmlns:a="http://schemas.openxmlformats.org/drawingml/2006/main" r:embed="Rb583289bb6424f11">
            <a:extLst>
              <a:ext uri="{96DAC541-7B7A-43D3-8B79-37D633B846F1}">
                <asvg:svgBlip xmlns:asvg="http://schemas.microsoft.com/office/drawing/2016/SVG/main" r:embed="Ree70f7fb9d684cc4"/>
              </a:ext>
            </a:extLst>
          </a:blip>
          <a:stretch xmlns:a="http://schemas.openxmlformats.org/drawingml/2006/main"/>
        </p:blipFill>
        <p:spPr>
          <a:xfrm xmlns:a="http://schemas.openxmlformats.org/drawingml/2006/main">
            <a:off x="7562850" y="3333750"/>
            <a:ext cx="285750" cy="285750"/>
          </a:xfrm>
          <a:prstGeom xmlns:a="http://schemas.openxmlformats.org/drawingml/2006/main" prst="rect">
            <a:avLst/>
          </a:prstGeom>
        </p:spPr>
      </p:pic>
      <p:sp>
        <p:nvSpPr>
          <p:cNvPr id="42" name="Construction &amp; expression">
            <a:extLst xmlns:a="http://schemas.openxmlformats.org/drawingml/2006/main">
              <a:ext uri="{FF2B5EF4-FFF2-40B4-BE49-F238E27FC236}">
                <a16:creationId xmlns:a16="http://schemas.microsoft.com/office/drawing/2014/main" id="{FAA4780C-9F95-4085-9F9E-7319651C7022}"/>
              </a:ext>
            </a:extLst>
          </p:cNvPr>
          <p:cNvSpPr>
            <a:spLocks xmlns:a="http://schemas.openxmlformats.org/drawingml/2006/main" noGrp="1"/>
          </p:cNvSpPr>
          <p:nvPr/>
        </p:nvSpPr>
        <p:spPr>
          <a:xfrm xmlns:a="http://schemas.openxmlformats.org/drawingml/2006/main">
            <a:off x="7981950" y="3324225"/>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Construction &amp; expression</a:t>
            </a:r>
          </a:p>
        </p:txBody>
      </p:sp>
      <p:sp>
        <p:nvSpPr>
          <p:cNvPr id="43" name="DNA synthesis, vectors, expression, purification">
            <a:extLst xmlns:a="http://schemas.openxmlformats.org/drawingml/2006/main">
              <a:ext uri="{FF2B5EF4-FFF2-40B4-BE49-F238E27FC236}">
                <a16:creationId xmlns:a16="http://schemas.microsoft.com/office/drawing/2014/main" id="{278170C1-CC5A-423E-A31A-A9C47EE363C2}"/>
              </a:ext>
            </a:extLst>
          </p:cNvPr>
          <p:cNvSpPr>
            <a:spLocks xmlns:a="http://schemas.openxmlformats.org/drawingml/2006/main" noGrp="1"/>
          </p:cNvSpPr>
          <p:nvPr/>
        </p:nvSpPr>
        <p:spPr>
          <a:xfrm xmlns:a="http://schemas.openxmlformats.org/drawingml/2006/main">
            <a:off x="7562850" y="3724275"/>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DNA synthesis, vectors, expression, purification</a:t>
            </a:r>
          </a:p>
        </p:txBody>
      </p:sp>
      <p:sp>
        <p:nvSpPr>
          <p:cNvPr id="44" name="Expression labels + samples for other assays">
            <a:extLst xmlns:a="http://schemas.openxmlformats.org/drawingml/2006/main">
              <a:ext uri="{FF2B5EF4-FFF2-40B4-BE49-F238E27FC236}">
                <a16:creationId xmlns:a16="http://schemas.microsoft.com/office/drawing/2014/main" id="{F06BDABC-737A-4316-9633-6E8D7A815A9A}"/>
              </a:ext>
            </a:extLst>
          </p:cNvPr>
          <p:cNvSpPr>
            <a:spLocks xmlns:a="http://schemas.openxmlformats.org/drawingml/2006/main" noGrp="1"/>
          </p:cNvSpPr>
          <p:nvPr/>
        </p:nvSpPr>
        <p:spPr>
          <a:xfrm xmlns:a="http://schemas.openxmlformats.org/drawingml/2006/main">
            <a:off x="7562850" y="4057650"/>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Expression labels + samples for other assays</a:t>
            </a:r>
          </a:p>
        </p:txBody>
      </p:sp>
      <p:sp>
        <p:nvSpPr>
          <p:cNvPr id="45" name="Count shared sample preparation once">
            <a:extLst xmlns:a="http://schemas.openxmlformats.org/drawingml/2006/main">
              <a:ext uri="{FF2B5EF4-FFF2-40B4-BE49-F238E27FC236}">
                <a16:creationId xmlns:a16="http://schemas.microsoft.com/office/drawing/2014/main" id="{840B8E29-3A35-495A-A019-D2D6399378A2}"/>
              </a:ext>
            </a:extLst>
          </p:cNvPr>
          <p:cNvSpPr>
            <a:spLocks xmlns:a="http://schemas.openxmlformats.org/drawingml/2006/main" noGrp="1"/>
          </p:cNvSpPr>
          <p:nvPr/>
        </p:nvSpPr>
        <p:spPr>
          <a:xfrm xmlns:a="http://schemas.openxmlformats.org/drawingml/2006/main">
            <a:off x="7562850" y="4352925"/>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Count shared sample preparation once</a:t>
            </a:r>
          </a:p>
        </p:txBody>
      </p:sp>
      <p:sp>
        <p:nvSpPr>
          <p:cNvPr id="46" name="">
            <a:extLst xmlns:a="http://schemas.openxmlformats.org/drawingml/2006/main">
              <a:ext uri="{FF2B5EF4-FFF2-40B4-BE49-F238E27FC236}">
                <a16:creationId xmlns:a16="http://schemas.microsoft.com/office/drawing/2014/main" id="{040194D4-059F-4390-91D7-D59FBBE2E03B}"/>
              </a:ext>
            </a:extLst>
          </p:cNvPr>
          <p:cNvSpPr>
            <a:spLocks xmlns:a="http://schemas.openxmlformats.org/drawingml/2006/main" noGrp="1"/>
          </p:cNvSpPr>
          <p:nvPr/>
        </p:nvSpPr>
        <p:spPr>
          <a:xfrm xmlns:a="http://schemas.openxmlformats.org/drawingml/2006/main">
            <a:off x="12449175" y="3181350"/>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7" name="">
            <a:extLst xmlns:a="http://schemas.openxmlformats.org/drawingml/2006/main">
              <a:ext uri="{FF2B5EF4-FFF2-40B4-BE49-F238E27FC236}">
                <a16:creationId xmlns:a16="http://schemas.microsoft.com/office/drawing/2014/main" id="{2F930801-2429-46DF-B65E-9992980D984A}"/>
              </a:ext>
            </a:extLst>
          </p:cNvPr>
          <p:cNvPicPr>
            <a:picLocks xmlns:a="http://schemas.openxmlformats.org/drawingml/2006/main" noChangeAspect="1"/>
          </p:cNvPicPr>
          <p:nvPr/>
        </p:nvPicPr>
        <p:blipFill>
          <a:blip xmlns:r="http://schemas.openxmlformats.org/officeDocument/2006/relationships" xmlns:a="http://schemas.openxmlformats.org/drawingml/2006/main" r:embed="Rc448d96cc2e7491d">
            <a:extLst>
              <a:ext uri="{96DAC541-7B7A-43D3-8B79-37D633B846F1}">
                <asvg:svgBlip xmlns:asvg="http://schemas.microsoft.com/office/drawing/2016/SVG/main" r:embed="Rb50c69b99c444c7d"/>
              </a:ext>
            </a:extLst>
          </a:blip>
          <a:stretch xmlns:a="http://schemas.openxmlformats.org/drawingml/2006/main"/>
        </p:blipFill>
        <p:spPr>
          <a:xfrm xmlns:a="http://schemas.openxmlformats.org/drawingml/2006/main">
            <a:off x="12601575" y="3333750"/>
            <a:ext cx="285750" cy="285750"/>
          </a:xfrm>
          <a:prstGeom xmlns:a="http://schemas.openxmlformats.org/drawingml/2006/main" prst="rect">
            <a:avLst/>
          </a:prstGeom>
        </p:spPr>
      </p:pic>
      <p:sp>
        <p:nvSpPr>
          <p:cNvPr id="48" name="Protein &amp; functional testing">
            <a:extLst xmlns:a="http://schemas.openxmlformats.org/drawingml/2006/main">
              <a:ext uri="{FF2B5EF4-FFF2-40B4-BE49-F238E27FC236}">
                <a16:creationId xmlns:a16="http://schemas.microsoft.com/office/drawing/2014/main" id="{53C2C85D-C9D9-4875-8B4B-A86D5AC8B0C9}"/>
              </a:ext>
            </a:extLst>
          </p:cNvPr>
          <p:cNvSpPr>
            <a:spLocks xmlns:a="http://schemas.openxmlformats.org/drawingml/2006/main" noGrp="1"/>
          </p:cNvSpPr>
          <p:nvPr/>
        </p:nvSpPr>
        <p:spPr>
          <a:xfrm xmlns:a="http://schemas.openxmlformats.org/drawingml/2006/main">
            <a:off x="13020675" y="332422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Protein &amp; functional testing</a:t>
            </a:r>
          </a:p>
        </p:txBody>
      </p:sp>
      <p:sp>
        <p:nvSpPr>
          <p:cNvPr id="49" name="SPR / BLI, binding curves, epitope binning">
            <a:extLst xmlns:a="http://schemas.openxmlformats.org/drawingml/2006/main">
              <a:ext uri="{FF2B5EF4-FFF2-40B4-BE49-F238E27FC236}">
                <a16:creationId xmlns:a16="http://schemas.microsoft.com/office/drawing/2014/main" id="{28B6685D-40E7-4353-9098-262EE82001E7}"/>
              </a:ext>
            </a:extLst>
          </p:cNvPr>
          <p:cNvSpPr>
            <a:spLocks xmlns:a="http://schemas.openxmlformats.org/drawingml/2006/main" noGrp="1"/>
          </p:cNvSpPr>
          <p:nvPr/>
        </p:nvSpPr>
        <p:spPr>
          <a:xfrm xmlns:a="http://schemas.openxmlformats.org/drawingml/2006/main">
            <a:off x="12601575" y="3724275"/>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SPR / BLI, binding curves, epitope binning</a:t>
            </a:r>
          </a:p>
        </p:txBody>
      </p:sp>
      <p:sp>
        <p:nvSpPr>
          <p:cNvPr id="50" name="Target proteins, sensors / chips, buffers">
            <a:extLst xmlns:a="http://schemas.openxmlformats.org/drawingml/2006/main">
              <a:ext uri="{FF2B5EF4-FFF2-40B4-BE49-F238E27FC236}">
                <a16:creationId xmlns:a16="http://schemas.microsoft.com/office/drawing/2014/main" id="{9BF2AD38-199C-4269-A901-E7A714DD95F2}"/>
              </a:ext>
            </a:extLst>
          </p:cNvPr>
          <p:cNvSpPr>
            <a:spLocks xmlns:a="http://schemas.openxmlformats.org/drawingml/2006/main" noGrp="1"/>
          </p:cNvSpPr>
          <p:nvPr/>
        </p:nvSpPr>
        <p:spPr>
          <a:xfrm xmlns:a="http://schemas.openxmlformats.org/drawingml/2006/main">
            <a:off x="12601575" y="4057650"/>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Target proteins, sensors / chips, buffers</a:t>
            </a:r>
          </a:p>
        </p:txBody>
      </p:sp>
      <p:sp>
        <p:nvSpPr>
          <p:cNvPr id="51" name="KD / kon / koff can share one kinetic run">
            <a:extLst xmlns:a="http://schemas.openxmlformats.org/drawingml/2006/main">
              <a:ext uri="{FF2B5EF4-FFF2-40B4-BE49-F238E27FC236}">
                <a16:creationId xmlns:a16="http://schemas.microsoft.com/office/drawing/2014/main" id="{D1045921-9EFE-4E8A-AFDF-DAF8A77B5D61}"/>
              </a:ext>
            </a:extLst>
          </p:cNvPr>
          <p:cNvSpPr>
            <a:spLocks xmlns:a="http://schemas.openxmlformats.org/drawingml/2006/main" noGrp="1"/>
          </p:cNvSpPr>
          <p:nvPr/>
        </p:nvSpPr>
        <p:spPr>
          <a:xfrm xmlns:a="http://schemas.openxmlformats.org/drawingml/2006/main">
            <a:off x="12601575" y="4352925"/>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KD / kon / koff can share one kinetic run</a:t>
            </a:r>
          </a:p>
        </p:txBody>
      </p:sp>
      <p:sp>
        <p:nvSpPr>
          <p:cNvPr id="52" name="">
            <a:extLst xmlns:a="http://schemas.openxmlformats.org/drawingml/2006/main">
              <a:ext uri="{FF2B5EF4-FFF2-40B4-BE49-F238E27FC236}">
                <a16:creationId xmlns:a16="http://schemas.microsoft.com/office/drawing/2014/main" id="{5F6A81BF-E29D-48ED-A5D0-75B670128389}"/>
              </a:ext>
            </a:extLst>
          </p:cNvPr>
          <p:cNvSpPr>
            <a:spLocks xmlns:a="http://schemas.openxmlformats.org/drawingml/2006/main" noGrp="1"/>
          </p:cNvSpPr>
          <p:nvPr/>
        </p:nvSpPr>
        <p:spPr>
          <a:xfrm xmlns:a="http://schemas.openxmlformats.org/drawingml/2006/main">
            <a:off x="7410450" y="4867275"/>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3" name="">
            <a:extLst xmlns:a="http://schemas.openxmlformats.org/drawingml/2006/main">
              <a:ext uri="{FF2B5EF4-FFF2-40B4-BE49-F238E27FC236}">
                <a16:creationId xmlns:a16="http://schemas.microsoft.com/office/drawing/2014/main" id="{617F6BC3-08DE-46C3-ABB6-550D6CBCDA2A}"/>
              </a:ext>
            </a:extLst>
          </p:cNvPr>
          <p:cNvPicPr>
            <a:picLocks xmlns:a="http://schemas.openxmlformats.org/drawingml/2006/main" noChangeAspect="1"/>
          </p:cNvPicPr>
          <p:nvPr/>
        </p:nvPicPr>
        <p:blipFill>
          <a:blip xmlns:r="http://schemas.openxmlformats.org/officeDocument/2006/relationships" xmlns:a="http://schemas.openxmlformats.org/drawingml/2006/main" r:embed="R6ce42763771447d4">
            <a:extLst>
              <a:ext uri="{96DAC541-7B7A-43D3-8B79-37D633B846F1}">
                <asvg:svgBlip xmlns:asvg="http://schemas.microsoft.com/office/drawing/2016/SVG/main" r:embed="Rf48790e6eaf84c40"/>
              </a:ext>
            </a:extLst>
          </a:blip>
          <a:stretch xmlns:a="http://schemas.openxmlformats.org/drawingml/2006/main"/>
        </p:blipFill>
        <p:spPr>
          <a:xfrm xmlns:a="http://schemas.openxmlformats.org/drawingml/2006/main">
            <a:off x="7562850" y="5019675"/>
            <a:ext cx="285750" cy="285750"/>
          </a:xfrm>
          <a:prstGeom xmlns:a="http://schemas.openxmlformats.org/drawingml/2006/main" prst="rect">
            <a:avLst/>
          </a:prstGeom>
        </p:spPr>
      </p:pic>
      <p:sp>
        <p:nvSpPr>
          <p:cNvPr id="54" name="Cells &amp; culture systems">
            <a:extLst xmlns:a="http://schemas.openxmlformats.org/drawingml/2006/main">
              <a:ext uri="{FF2B5EF4-FFF2-40B4-BE49-F238E27FC236}">
                <a16:creationId xmlns:a16="http://schemas.microsoft.com/office/drawing/2014/main" id="{8723FAA0-97C2-45AB-AC45-447B653393F5}"/>
              </a:ext>
            </a:extLst>
          </p:cNvPr>
          <p:cNvSpPr>
            <a:spLocks xmlns:a="http://schemas.openxmlformats.org/drawingml/2006/main" noGrp="1"/>
          </p:cNvSpPr>
          <p:nvPr/>
        </p:nvSpPr>
        <p:spPr>
          <a:xfrm xmlns:a="http://schemas.openxmlformats.org/drawingml/2006/main">
            <a:off x="7981950" y="5010150"/>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Cells &amp; culture systems</a:t>
            </a:r>
          </a:p>
        </p:txBody>
      </p:sp>
      <p:sp>
        <p:nvSpPr>
          <p:cNvPr id="55" name="Functional cells, media, transfection, expansion">
            <a:extLst xmlns:a="http://schemas.openxmlformats.org/drawingml/2006/main">
              <a:ext uri="{FF2B5EF4-FFF2-40B4-BE49-F238E27FC236}">
                <a16:creationId xmlns:a16="http://schemas.microsoft.com/office/drawing/2014/main" id="{2AA15E2A-B794-4B87-919D-8AB1CCCBDCBB}"/>
              </a:ext>
            </a:extLst>
          </p:cNvPr>
          <p:cNvSpPr>
            <a:spLocks xmlns:a="http://schemas.openxmlformats.org/drawingml/2006/main" noGrp="1"/>
          </p:cNvSpPr>
          <p:nvPr/>
        </p:nvSpPr>
        <p:spPr>
          <a:xfrm xmlns:a="http://schemas.openxmlformats.org/drawingml/2006/main">
            <a:off x="7562850" y="5410200"/>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Functional cells, media, transfection, expansion</a:t>
            </a:r>
          </a:p>
        </p:txBody>
      </p:sp>
      <p:sp>
        <p:nvSpPr>
          <p:cNvPr id="56" name="Cell potency; selected polyreactivity assays">
            <a:extLst xmlns:a="http://schemas.openxmlformats.org/drawingml/2006/main">
              <a:ext uri="{FF2B5EF4-FFF2-40B4-BE49-F238E27FC236}">
                <a16:creationId xmlns:a16="http://schemas.microsoft.com/office/drawing/2014/main" id="{EC670025-5ECC-425B-871B-2D3BF24B46B2}"/>
              </a:ext>
            </a:extLst>
          </p:cNvPr>
          <p:cNvSpPr>
            <a:spLocks xmlns:a="http://schemas.openxmlformats.org/drawingml/2006/main" noGrp="1"/>
          </p:cNvSpPr>
          <p:nvPr/>
        </p:nvSpPr>
        <p:spPr>
          <a:xfrm xmlns:a="http://schemas.openxmlformats.org/drawingml/2006/main">
            <a:off x="7562850" y="5743575"/>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Cell potency; selected polyreactivity assays</a:t>
            </a:r>
          </a:p>
        </p:txBody>
      </p:sp>
      <p:sp>
        <p:nvSpPr>
          <p:cNvPr id="57" name="Record cell model, target level and conditions">
            <a:extLst xmlns:a="http://schemas.openxmlformats.org/drawingml/2006/main">
              <a:ext uri="{FF2B5EF4-FFF2-40B4-BE49-F238E27FC236}">
                <a16:creationId xmlns:a16="http://schemas.microsoft.com/office/drawing/2014/main" id="{5BA9F8AE-14C2-40E1-95AC-4AEEF0C74546}"/>
              </a:ext>
            </a:extLst>
          </p:cNvPr>
          <p:cNvSpPr>
            <a:spLocks xmlns:a="http://schemas.openxmlformats.org/drawingml/2006/main" noGrp="1"/>
          </p:cNvSpPr>
          <p:nvPr/>
        </p:nvSpPr>
        <p:spPr>
          <a:xfrm xmlns:a="http://schemas.openxmlformats.org/drawingml/2006/main">
            <a:off x="7562850" y="6038850"/>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Record cell model, target level and conditions</a:t>
            </a:r>
          </a:p>
        </p:txBody>
      </p:sp>
      <p:sp>
        <p:nvSpPr>
          <p:cNvPr id="58" name="">
            <a:extLst xmlns:a="http://schemas.openxmlformats.org/drawingml/2006/main">
              <a:ext uri="{FF2B5EF4-FFF2-40B4-BE49-F238E27FC236}">
                <a16:creationId xmlns:a16="http://schemas.microsoft.com/office/drawing/2014/main" id="{8F3088FA-B5F4-4970-B429-AFCA91E3A6D4}"/>
              </a:ext>
            </a:extLst>
          </p:cNvPr>
          <p:cNvSpPr>
            <a:spLocks xmlns:a="http://schemas.openxmlformats.org/drawingml/2006/main" noGrp="1"/>
          </p:cNvSpPr>
          <p:nvPr/>
        </p:nvSpPr>
        <p:spPr>
          <a:xfrm xmlns:a="http://schemas.openxmlformats.org/drawingml/2006/main">
            <a:off x="12449175" y="4867275"/>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9" name="">
            <a:extLst xmlns:a="http://schemas.openxmlformats.org/drawingml/2006/main">
              <a:ext uri="{FF2B5EF4-FFF2-40B4-BE49-F238E27FC236}">
                <a16:creationId xmlns:a16="http://schemas.microsoft.com/office/drawing/2014/main" id="{B1E7F058-610E-419E-ACCF-67B75C1A4244}"/>
              </a:ext>
            </a:extLst>
          </p:cNvPr>
          <p:cNvPicPr>
            <a:picLocks xmlns:a="http://schemas.openxmlformats.org/drawingml/2006/main" noChangeAspect="1"/>
          </p:cNvPicPr>
          <p:nvPr/>
        </p:nvPicPr>
        <p:blipFill>
          <a:blip xmlns:r="http://schemas.openxmlformats.org/officeDocument/2006/relationships" xmlns:a="http://schemas.openxmlformats.org/drawingml/2006/main" r:embed="R01af3df6d0a24400">
            <a:extLst>
              <a:ext uri="{96DAC541-7B7A-43D3-8B79-37D633B846F1}">
                <asvg:svgBlip xmlns:asvg="http://schemas.microsoft.com/office/drawing/2016/SVG/main" r:embed="R1a05ae1994b54b89"/>
              </a:ext>
            </a:extLst>
          </a:blip>
          <a:stretch xmlns:a="http://schemas.openxmlformats.org/drawingml/2006/main"/>
        </p:blipFill>
        <p:spPr>
          <a:xfrm xmlns:a="http://schemas.openxmlformats.org/drawingml/2006/main">
            <a:off x="12601575" y="5019675"/>
            <a:ext cx="285750" cy="285750"/>
          </a:xfrm>
          <a:prstGeom xmlns:a="http://schemas.openxmlformats.org/drawingml/2006/main" prst="rect">
            <a:avLst/>
          </a:prstGeom>
        </p:spPr>
      </p:pic>
      <p:sp>
        <p:nvSpPr>
          <p:cNvPr id="60" name="Measurement &amp; analysis">
            <a:extLst xmlns:a="http://schemas.openxmlformats.org/drawingml/2006/main">
              <a:ext uri="{FF2B5EF4-FFF2-40B4-BE49-F238E27FC236}">
                <a16:creationId xmlns:a16="http://schemas.microsoft.com/office/drawing/2014/main" id="{310E09C4-20D6-431E-8867-5867128582F3}"/>
              </a:ext>
            </a:extLst>
          </p:cNvPr>
          <p:cNvSpPr>
            <a:spLocks xmlns:a="http://schemas.openxmlformats.org/drawingml/2006/main" noGrp="1"/>
          </p:cNvSpPr>
          <p:nvPr/>
        </p:nvSpPr>
        <p:spPr>
          <a:xfrm xmlns:a="http://schemas.openxmlformats.org/drawingml/2006/main">
            <a:off x="13020675" y="501015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Measurement &amp; analysis</a:t>
            </a:r>
          </a:p>
        </p:txBody>
      </p:sp>
      <p:sp>
        <p:nvSpPr>
          <p:cNvPr id="61" name="SEC / HIC, nanoDSF, LC-MS, flow cytometry">
            <a:extLst xmlns:a="http://schemas.openxmlformats.org/drawingml/2006/main">
              <a:ext uri="{FF2B5EF4-FFF2-40B4-BE49-F238E27FC236}">
                <a16:creationId xmlns:a16="http://schemas.microsoft.com/office/drawing/2014/main" id="{43D6DCB3-1DB1-4580-81A9-1AD9A63E5C32}"/>
              </a:ext>
            </a:extLst>
          </p:cNvPr>
          <p:cNvSpPr>
            <a:spLocks xmlns:a="http://schemas.openxmlformats.org/drawingml/2006/main" noGrp="1"/>
          </p:cNvSpPr>
          <p:nvPr/>
        </p:nvSpPr>
        <p:spPr>
          <a:xfrm xmlns:a="http://schemas.openxmlformats.org/drawingml/2006/main">
            <a:off x="12601575" y="5410200"/>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SEC / HIC, nanoDSF, LC-MS, flow cytometry</a:t>
            </a:r>
          </a:p>
        </p:txBody>
      </p:sp>
      <p:sp>
        <p:nvSpPr>
          <p:cNvPr id="62" name="Stability, aggregation, characterization / QC">
            <a:extLst xmlns:a="http://schemas.openxmlformats.org/drawingml/2006/main">
              <a:ext uri="{FF2B5EF4-FFF2-40B4-BE49-F238E27FC236}">
                <a16:creationId xmlns:a16="http://schemas.microsoft.com/office/drawing/2014/main" id="{C2AB1134-76B2-468D-9D6D-E782B70A5F8C}"/>
              </a:ext>
            </a:extLst>
          </p:cNvPr>
          <p:cNvSpPr>
            <a:spLocks xmlns:a="http://schemas.openxmlformats.org/drawingml/2006/main" noGrp="1"/>
          </p:cNvSpPr>
          <p:nvPr/>
        </p:nvSpPr>
        <p:spPr>
          <a:xfrm xmlns:a="http://schemas.openxmlformats.org/drawingml/2006/main">
            <a:off x="12601575" y="5743575"/>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Stability, aggregation, characterization / QC</a:t>
            </a:r>
          </a:p>
        </p:txBody>
      </p:sp>
      <p:sp>
        <p:nvSpPr>
          <p:cNvPr id="63" name="Columns are reused; model instrument CAPEX separately">
            <a:extLst xmlns:a="http://schemas.openxmlformats.org/drawingml/2006/main">
              <a:ext uri="{FF2B5EF4-FFF2-40B4-BE49-F238E27FC236}">
                <a16:creationId xmlns:a16="http://schemas.microsoft.com/office/drawing/2014/main" id="{0EB92EA7-ADF6-42EC-BA5B-7787898CC1DA}"/>
              </a:ext>
            </a:extLst>
          </p:cNvPr>
          <p:cNvSpPr>
            <a:spLocks xmlns:a="http://schemas.openxmlformats.org/drawingml/2006/main" noGrp="1"/>
          </p:cNvSpPr>
          <p:nvPr/>
        </p:nvSpPr>
        <p:spPr>
          <a:xfrm xmlns:a="http://schemas.openxmlformats.org/drawingml/2006/main">
            <a:off x="12601575" y="6038850"/>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Columns are reused; model instrument CAPEX separately</a:t>
            </a:r>
          </a:p>
        </p:txBody>
      </p:sp>
      <p:sp>
        <p:nvSpPr>
          <p:cNvPr id="64" name="">
            <a:extLst xmlns:a="http://schemas.openxmlformats.org/drawingml/2006/main">
              <a:ext uri="{FF2B5EF4-FFF2-40B4-BE49-F238E27FC236}">
                <a16:creationId xmlns:a16="http://schemas.microsoft.com/office/drawing/2014/main" id="{5AC22C77-4F43-40D7-A321-12C5434554D3}"/>
              </a:ext>
            </a:extLst>
          </p:cNvPr>
          <p:cNvSpPr>
            <a:spLocks xmlns:a="http://schemas.openxmlformats.org/drawingml/2006/main" noGrp="1"/>
          </p:cNvSpPr>
          <p:nvPr/>
        </p:nvSpPr>
        <p:spPr>
          <a:xfrm xmlns:a="http://schemas.openxmlformats.org/drawingml/2006/main">
            <a:off x="7410450" y="6553200"/>
            <a:ext cx="9944100" cy="1104900"/>
          </a:xfrm>
          <a:prstGeom xmlns:a="http://schemas.openxmlformats.org/drawingml/2006/main" prst="roundRect">
            <a:avLst>
              <a:gd name="adj" fmla="val 7759"/>
            </a:avLst>
          </a:prstGeom>
          <a:solidFill xmlns:a="http://schemas.openxmlformats.org/drawingml/2006/main">
            <a:srgbClr val="FFFFFF"/>
          </a:solidFill>
          <a:ln xmlns:a="http://schemas.openxmlformats.org/drawingml/2006/main" w="9525">
            <a:solidFill>
              <a:srgbClr val="A5A5A5"/>
            </a:solidFill>
          </a:ln>
        </p:spPr>
      </p:sp>
      <p:pic>
        <p:nvPicPr>
          <p:cNvPr id="65" name="">
            <a:extLst xmlns:a="http://schemas.openxmlformats.org/drawingml/2006/main">
              <a:ext uri="{FF2B5EF4-FFF2-40B4-BE49-F238E27FC236}">
                <a16:creationId xmlns:a16="http://schemas.microsoft.com/office/drawing/2014/main" id="{27B5A7A7-88CB-4A39-B3BF-B1F916AF96C3}"/>
              </a:ext>
            </a:extLst>
          </p:cNvPr>
          <p:cNvPicPr>
            <a:picLocks xmlns:a="http://schemas.openxmlformats.org/drawingml/2006/main" noChangeAspect="1"/>
          </p:cNvPicPr>
          <p:nvPr/>
        </p:nvPicPr>
        <p:blipFill>
          <a:blip xmlns:r="http://schemas.openxmlformats.org/officeDocument/2006/relationships" xmlns:a="http://schemas.openxmlformats.org/drawingml/2006/main" r:embed="Rbebbe07e60ef4167">
            <a:extLst>
              <a:ext uri="{96DAC541-7B7A-43D3-8B79-37D633B846F1}">
                <asvg:svgBlip xmlns:asvg="http://schemas.microsoft.com/office/drawing/2016/SVG/main" r:embed="Rc68c6c6a38e24f52"/>
              </a:ext>
            </a:extLst>
          </a:blip>
          <a:stretch xmlns:a="http://schemas.openxmlformats.org/drawingml/2006/main"/>
        </p:blipFill>
        <p:spPr>
          <a:xfrm xmlns:a="http://schemas.openxmlformats.org/drawingml/2006/main">
            <a:off x="7562850" y="6705600"/>
            <a:ext cx="285750" cy="285750"/>
          </a:xfrm>
          <a:prstGeom xmlns:a="http://schemas.openxmlformats.org/drawingml/2006/main" prst="rect">
            <a:avLst/>
          </a:prstGeom>
        </p:spPr>
      </p:pic>
      <p:sp>
        <p:nvSpPr>
          <p:cNvPr id="66" name="Sample handling, labware &amp; automation">
            <a:extLst xmlns:a="http://schemas.openxmlformats.org/drawingml/2006/main">
              <a:ext uri="{FF2B5EF4-FFF2-40B4-BE49-F238E27FC236}">
                <a16:creationId xmlns:a16="http://schemas.microsoft.com/office/drawing/2014/main" id="{1C457D02-FC7B-4B82-9480-8F3B688FC1D4}"/>
              </a:ext>
            </a:extLst>
          </p:cNvPr>
          <p:cNvSpPr>
            <a:spLocks xmlns:a="http://schemas.openxmlformats.org/drawingml/2006/main" noGrp="1"/>
          </p:cNvSpPr>
          <p:nvPr/>
        </p:nvSpPr>
        <p:spPr>
          <a:xfrm xmlns:a="http://schemas.openxmlformats.org/drawingml/2006/main">
            <a:off x="7981950" y="6696075"/>
            <a:ext cx="921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Sample handling, labware &amp; automation</a:t>
            </a:r>
          </a:p>
        </p:txBody>
      </p:sp>
      <p:sp>
        <p:nvSpPr>
          <p:cNvPr id="67" name="Plates, tips, tubes, filtration / beads, liquid handling">
            <a:extLst xmlns:a="http://schemas.openxmlformats.org/drawingml/2006/main">
              <a:ext uri="{FF2B5EF4-FFF2-40B4-BE49-F238E27FC236}">
                <a16:creationId xmlns:a16="http://schemas.microsoft.com/office/drawing/2014/main" id="{BE1B4139-562F-435D-827B-27F988F69CCB}"/>
              </a:ext>
            </a:extLst>
          </p:cNvPr>
          <p:cNvSpPr>
            <a:spLocks xmlns:a="http://schemas.openxmlformats.org/drawingml/2006/main" noGrp="1"/>
          </p:cNvSpPr>
          <p:nvPr/>
        </p:nvSpPr>
        <p:spPr>
          <a:xfrm xmlns:a="http://schemas.openxmlformats.org/drawingml/2006/main">
            <a:off x="7562850" y="7096125"/>
            <a:ext cx="963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Plates, tips, tubes, filtration / beads, liquid handling</a:t>
            </a:r>
          </a:p>
        </p:txBody>
      </p:sp>
      <p:sp>
        <p:nvSpPr>
          <p:cNvPr id="68" name="Across all workflows; miniaturization, reuse and scheduling alter net consumption">
            <a:extLst xmlns:a="http://schemas.openxmlformats.org/drawingml/2006/main">
              <a:ext uri="{FF2B5EF4-FFF2-40B4-BE49-F238E27FC236}">
                <a16:creationId xmlns:a16="http://schemas.microsoft.com/office/drawing/2014/main" id="{E13AE900-104F-4D6E-865D-F95BA9B2E3B8}"/>
              </a:ext>
            </a:extLst>
          </p:cNvPr>
          <p:cNvSpPr>
            <a:spLocks xmlns:a="http://schemas.openxmlformats.org/drawingml/2006/main" noGrp="1"/>
          </p:cNvSpPr>
          <p:nvPr/>
        </p:nvSpPr>
        <p:spPr>
          <a:xfrm xmlns:a="http://schemas.openxmlformats.org/drawingml/2006/main">
            <a:off x="7562850" y="7429500"/>
            <a:ext cx="963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Across all workflows; miniaturization, reuse and scheduling alter net consumption</a:t>
            </a:r>
          </a:p>
        </p:txBody>
      </p:sp>
      <p:sp>
        <p:nvSpPr>
          <p:cNvPr id="69" name="">
            <a:extLst xmlns:a="http://schemas.openxmlformats.org/drawingml/2006/main">
              <a:ext uri="{FF2B5EF4-FFF2-40B4-BE49-F238E27FC236}">
                <a16:creationId xmlns:a16="http://schemas.microsoft.com/office/drawing/2014/main" id="{FC255E39-1702-40D8-9277-3144386FCAAC}"/>
              </a:ext>
            </a:extLst>
          </p:cNvPr>
          <p:cNvSpPr>
            <a:spLocks xmlns:a="http://schemas.openxmlformats.org/drawingml/2006/main" noGrp="1"/>
          </p:cNvSpPr>
          <p:nvPr/>
        </p:nvSpPr>
        <p:spPr>
          <a:xfrm xmlns:a="http://schemas.openxmlformats.org/drawingml/2006/main">
            <a:off x="685800" y="8143875"/>
            <a:ext cx="8229600" cy="666750"/>
          </a:xfrm>
          <a:prstGeom xmlns:a="http://schemas.openxmlformats.org/drawingml/2006/main" prst="roundRect">
            <a:avLst>
              <a:gd name="adj" fmla="val 11429"/>
            </a:avLst>
          </a:prstGeom>
          <a:solidFill xmlns:a="http://schemas.openxmlformats.org/drawingml/2006/main">
            <a:srgbClr val="EEF6FC"/>
          </a:solidFill>
          <a:ln xmlns:a="http://schemas.openxmlformats.org/drawingml/2006/main" w="9525">
            <a:solidFill>
              <a:srgbClr val="A5A5A5"/>
            </a:solidFill>
          </a:ln>
        </p:spPr>
      </p:sp>
      <p:sp>
        <p:nvSpPr>
          <p:cNvPr id="70" name="">
            <a:extLst xmlns:a="http://schemas.openxmlformats.org/drawingml/2006/main">
              <a:ext uri="{FF2B5EF4-FFF2-40B4-BE49-F238E27FC236}">
                <a16:creationId xmlns:a16="http://schemas.microsoft.com/office/drawing/2014/main" id="{BDE80103-CD00-413F-ACAD-8A255073427E}"/>
              </a:ext>
            </a:extLst>
          </p:cNvPr>
          <p:cNvSpPr>
            <a:spLocks xmlns:a="http://schemas.openxmlformats.org/drawingml/2006/main" noGrp="1"/>
          </p:cNvSpPr>
          <p:nvPr/>
        </p:nvSpPr>
        <p:spPr>
          <a:xfrm xmlns:a="http://schemas.openxmlformats.org/drawingml/2006/main">
            <a:off x="9115425" y="8143875"/>
            <a:ext cx="84867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A5A5A5"/>
            </a:solidFill>
          </a:ln>
        </p:spPr>
      </p:sp>
      <p:sp>
        <p:nvSpPr>
          <p:cNvPr id="71" name="ACROBiosystems: target proteins, functional cells &amp; characterization">
            <a:extLst xmlns:a="http://schemas.openxmlformats.org/drawingml/2006/main">
              <a:ext uri="{FF2B5EF4-FFF2-40B4-BE49-F238E27FC236}">
                <a16:creationId xmlns:a16="http://schemas.microsoft.com/office/drawing/2014/main" id="{56FC1149-8537-4923-8D7B-F8D9284CC88C}"/>
              </a:ext>
            </a:extLst>
          </p:cNvPr>
          <p:cNvSpPr>
            <a:spLocks xmlns:a="http://schemas.openxmlformats.org/drawingml/2006/main" noGrp="1"/>
          </p:cNvSpPr>
          <p:nvPr/>
        </p:nvSpPr>
        <p:spPr>
          <a:xfrm xmlns:a="http://schemas.openxmlformats.org/drawingml/2006/main">
            <a:off x="866775" y="8220075"/>
            <a:ext cx="7867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ACROBiosystems: target proteins, functional cells &amp; characterization</a:t>
            </a:r>
          </a:p>
        </p:txBody>
      </p:sp>
      <p:sp>
        <p:nvSpPr>
          <p:cNvPr id="72" name="AIDD-Ready offering exists; paid orders and repeat purchases still need verification">
            <a:extLst xmlns:a="http://schemas.openxmlformats.org/drawingml/2006/main">
              <a:ext uri="{FF2B5EF4-FFF2-40B4-BE49-F238E27FC236}">
                <a16:creationId xmlns:a16="http://schemas.microsoft.com/office/drawing/2014/main" id="{D3390827-04E5-437B-8808-A6A7C49D65AC}"/>
              </a:ext>
            </a:extLst>
          </p:cNvPr>
          <p:cNvSpPr>
            <a:spLocks xmlns:a="http://schemas.openxmlformats.org/drawingml/2006/main" noGrp="1"/>
          </p:cNvSpPr>
          <p:nvPr/>
        </p:nvSpPr>
        <p:spPr>
          <a:xfrm xmlns:a="http://schemas.openxmlformats.org/drawingml/2006/main">
            <a:off x="866775" y="8524875"/>
            <a:ext cx="786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AIDD-Ready offering exists; paid orders and repeat purchases still need verification</a:t>
            </a:r>
          </a:p>
        </p:txBody>
      </p:sp>
      <p:sp>
        <p:nvSpPr>
          <p:cNvPr id="73" name="NanoMicro: analytical separation &amp; lab purification materials">
            <a:extLst xmlns:a="http://schemas.openxmlformats.org/drawingml/2006/main">
              <a:ext uri="{FF2B5EF4-FFF2-40B4-BE49-F238E27FC236}">
                <a16:creationId xmlns:a16="http://schemas.microsoft.com/office/drawing/2014/main" id="{67918993-D64C-4BB7-BCC0-65AE473980BA}"/>
              </a:ext>
            </a:extLst>
          </p:cNvPr>
          <p:cNvSpPr>
            <a:spLocks xmlns:a="http://schemas.openxmlformats.org/drawingml/2006/main" noGrp="1"/>
          </p:cNvSpPr>
          <p:nvPr/>
        </p:nvSpPr>
        <p:spPr>
          <a:xfrm xmlns:a="http://schemas.openxmlformats.org/drawingml/2006/main">
            <a:off x="9296400" y="8220075"/>
            <a:ext cx="812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NanoMicro: analytical separation &amp; lab purification materials</a:t>
            </a:r>
          </a:p>
        </p:txBody>
      </p:sp>
      <p:sp>
        <p:nvSpPr>
          <p:cNvPr id="74" name="Track sample runs, column life and ASP; manufacturing resin demand has a longer lag">
            <a:extLst xmlns:a="http://schemas.openxmlformats.org/drawingml/2006/main">
              <a:ext uri="{FF2B5EF4-FFF2-40B4-BE49-F238E27FC236}">
                <a16:creationId xmlns:a16="http://schemas.microsoft.com/office/drawing/2014/main" id="{0680225F-EC8C-48AE-9BF2-14644565D28C}"/>
              </a:ext>
            </a:extLst>
          </p:cNvPr>
          <p:cNvSpPr>
            <a:spLocks xmlns:a="http://schemas.openxmlformats.org/drawingml/2006/main" noGrp="1"/>
          </p:cNvSpPr>
          <p:nvPr/>
        </p:nvSpPr>
        <p:spPr>
          <a:xfrm xmlns:a="http://schemas.openxmlformats.org/drawingml/2006/main">
            <a:off x="9296400" y="8524875"/>
            <a:ext cx="812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Track sample runs, column life and ASP; manufacturing resin demand has a longer lag</a:t>
            </a:r>
          </a:p>
        </p:txBody>
      </p:sp>
      <p:sp>
        <p:nvSpPr>
          <p:cNvPr id="75" name="">
            <a:extLst xmlns:a="http://schemas.openxmlformats.org/drawingml/2006/main">
              <a:ext uri="{FF2B5EF4-FFF2-40B4-BE49-F238E27FC236}">
                <a16:creationId xmlns:a16="http://schemas.microsoft.com/office/drawing/2014/main" id="{3BB066A3-64F4-4E64-8D5F-ADCDC8A87201}"/>
              </a:ext>
            </a:extLst>
          </p:cNvPr>
          <p:cNvSpPr>
            <a:spLocks xmlns:a="http://schemas.openxmlformats.org/drawingml/2006/main" noGrp="1"/>
          </p:cNvSpPr>
          <p:nvPr/>
        </p:nvSpPr>
        <p:spPr>
          <a:xfrm xmlns:a="http://schemas.openxmlformats.org/drawingml/2006/main">
            <a:off x="685800" y="9067800"/>
            <a:ext cx="16916400" cy="638175"/>
          </a:xfrm>
          <a:prstGeom xmlns:a="http://schemas.openxmlformats.org/drawingml/2006/main" prst="roundRect">
            <a:avLst>
              <a:gd name="adj" fmla="val 13433"/>
            </a:avLst>
          </a:prstGeom>
          <a:solidFill xmlns:a="http://schemas.openxmlformats.org/drawingml/2006/main">
            <a:srgbClr val="00355F"/>
          </a:solidFill>
          <a:ln xmlns:a="http://schemas.openxmlformats.org/drawingml/2006/main" w="9525">
            <a:noFill/>
          </a:ln>
        </p:spPr>
      </p:sp>
      <p:sp>
        <p:nvSpPr>
          <p:cNvPr id="76" name="LST purchases ≈ Σ [workflow executions × net purchased inputs per run × ASP]">
            <a:extLst xmlns:a="http://schemas.openxmlformats.org/drawingml/2006/main">
              <a:ext uri="{FF2B5EF4-FFF2-40B4-BE49-F238E27FC236}">
                <a16:creationId xmlns:a16="http://schemas.microsoft.com/office/drawing/2014/main" id="{995AB67E-EB79-4ED6-BD03-00871B638D0C}"/>
              </a:ext>
            </a:extLst>
          </p:cNvPr>
          <p:cNvSpPr>
            <a:spLocks xmlns:a="http://schemas.openxmlformats.org/drawingml/2006/main" noGrp="1"/>
          </p:cNvSpPr>
          <p:nvPr/>
        </p:nvSpPr>
        <p:spPr>
          <a:xfrm xmlns:a="http://schemas.openxmlformats.org/drawingml/2006/main">
            <a:off x="895350" y="9229725"/>
            <a:ext cx="16497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77" name="Instrument CAPEX is separate. Product alignment does not establish AI orders or revenue. Sources: Ginkgo, Sartorius and company websites.">
            <a:extLst xmlns:a="http://schemas.openxmlformats.org/drawingml/2006/main">
              <a:ext uri="{FF2B5EF4-FFF2-40B4-BE49-F238E27FC236}">
                <a16:creationId xmlns:a16="http://schemas.microsoft.com/office/drawing/2014/main" id="{6E82868C-08E5-412A-886B-70F14C950F95}"/>
              </a:ext>
            </a:extLst>
          </p:cNvPr>
          <p:cNvSpPr>
            <a:spLocks xmlns:a="http://schemas.openxmlformats.org/drawingml/2006/main" noGrp="1"/>
          </p:cNvSpPr>
          <p:nvPr/>
        </p:nvSpPr>
        <p:spPr>
          <a:xfrm xmlns:a="http://schemas.openxmlformats.org/drawingml/2006/main">
            <a:off x="685800" y="9810750"/>
            <a:ext cx="1691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8043353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2026-10-13T11:36:27.5050000Z</dcterms:created>
  <dcterms:modified xsi:type="dcterms:W3CDTF">2026-10-13T11:36:27.5050000Z</dcterms:modified>
</coreProperties>
</file>