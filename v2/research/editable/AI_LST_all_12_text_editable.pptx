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902b063d584742" /><Relationship Type="http://schemas.openxmlformats.org/officeDocument/2006/relationships/extended-properties" Target="/docProps/app.xml" Id="R495ccc89015c4124" /><Relationship Type="http://schemas.openxmlformats.org/officeDocument/2006/relationships/officeDocument" Target="/ppt/presentation.xml" Id="Ra10a9b723a044024" /></Relationships>
</file>

<file path=ppt/presentation.xml><?xml version="1.0" encoding="utf-8"?>
<p:presentation xmlns:p="http://schemas.openxmlformats.org/presentationml/2006/main">
  <p:sldMasterIdLst>
    <p:sldMasterId xmlns:r="http://schemas.openxmlformats.org/officeDocument/2006/relationships" id="2147483648" r:id="R7a4b34986f974728"/>
  </p:sldMasterIdLst>
  <p:notesMasterIdLst>
    <p:notesMasterId xmlns:r="http://schemas.openxmlformats.org/officeDocument/2006/relationships" r:id="R91e4bf8ad9b34fad"/>
  </p:notesMasterIdLst>
  <p:sldIdLst>
    <p:sldId xmlns:r="http://schemas.openxmlformats.org/officeDocument/2006/relationships" id="256" r:id="Rc02d076872524a2c"/>
    <p:sldId xmlns:r="http://schemas.openxmlformats.org/officeDocument/2006/relationships" id="257" r:id="R99e6cff0602f44af"/>
    <p:sldId xmlns:r="http://schemas.openxmlformats.org/officeDocument/2006/relationships" id="258" r:id="R3b934cf636364270"/>
    <p:sldId xmlns:r="http://schemas.openxmlformats.org/officeDocument/2006/relationships" id="259" r:id="R0b319fedbc364c16"/>
    <p:sldId xmlns:r="http://schemas.openxmlformats.org/officeDocument/2006/relationships" id="260" r:id="R2b2e0bf622a240c7"/>
    <p:sldId xmlns:r="http://schemas.openxmlformats.org/officeDocument/2006/relationships" id="261" r:id="R76497dde102841f1"/>
    <p:sldId xmlns:r="http://schemas.openxmlformats.org/officeDocument/2006/relationships" id="262" r:id="R2820ee48120e4117"/>
    <p:sldId xmlns:r="http://schemas.openxmlformats.org/officeDocument/2006/relationships" id="263" r:id="Raa6a76a2ddf146f0"/>
    <p:sldId xmlns:r="http://schemas.openxmlformats.org/officeDocument/2006/relationships" id="264" r:id="R55234b778f404a45"/>
    <p:sldId xmlns:r="http://schemas.openxmlformats.org/officeDocument/2006/relationships" id="265" r:id="R542fee2d4e2e43d3"/>
    <p:sldId xmlns:r="http://schemas.openxmlformats.org/officeDocument/2006/relationships" id="266" r:id="R5fac9570cbbf4272"/>
    <p:sldId xmlns:r="http://schemas.openxmlformats.org/officeDocument/2006/relationships" id="267" r:id="R3d412af30aac4f6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f659fc2b1f4489" /><Relationship Type="http://schemas.openxmlformats.org/officeDocument/2006/relationships/slideMaster" Target="/ppt/slideMasters/slideMaster1.xml" Id="R7a4b34986f974728" /><Relationship Type="http://schemas.openxmlformats.org/officeDocument/2006/relationships/notesMaster" Target="/ppt/notesMasters/notesMaster1.xml" Id="R91e4bf8ad9b34fad" /><Relationship Type="http://schemas.openxmlformats.org/officeDocument/2006/relationships/presProps" Target="/ppt/presProps.xml" Id="R1d27ccd67d39467a" /><Relationship Type="http://schemas.openxmlformats.org/officeDocument/2006/relationships/tableStyles" Target="/ppt/tableStyles.xml" Id="R41d8a93778ed4ec8" /><Relationship Type="http://schemas.openxmlformats.org/officeDocument/2006/relationships/slide" Target="/ppt/slides/slide1.xml" Id="Rc02d076872524a2c" /><Relationship Type="http://schemas.openxmlformats.org/officeDocument/2006/relationships/slide" Target="/ppt/slides/slide2.xml" Id="R99e6cff0602f44af" /><Relationship Type="http://schemas.openxmlformats.org/officeDocument/2006/relationships/slide" Target="/ppt/slides/slide3.xml" Id="R3b934cf636364270" /><Relationship Type="http://schemas.openxmlformats.org/officeDocument/2006/relationships/slide" Target="/ppt/slides/slide4.xml" Id="R0b319fedbc364c16" /><Relationship Type="http://schemas.openxmlformats.org/officeDocument/2006/relationships/slide" Target="/ppt/slides/slide5.xml" Id="R2b2e0bf622a240c7" /><Relationship Type="http://schemas.openxmlformats.org/officeDocument/2006/relationships/slide" Target="/ppt/slides/slide6.xml" Id="R76497dde102841f1" /><Relationship Type="http://schemas.openxmlformats.org/officeDocument/2006/relationships/slide" Target="/ppt/slides/slide7.xml" Id="R2820ee48120e4117" /><Relationship Type="http://schemas.openxmlformats.org/officeDocument/2006/relationships/slide" Target="/ppt/slides/slide8.xml" Id="Raa6a76a2ddf146f0" /><Relationship Type="http://schemas.openxmlformats.org/officeDocument/2006/relationships/slide" Target="/ppt/slides/slide9.xml" Id="R55234b778f404a45" /><Relationship Type="http://schemas.openxmlformats.org/officeDocument/2006/relationships/slide" Target="/ppt/slides/slide10.xml" Id="R542fee2d4e2e43d3" /><Relationship Type="http://schemas.openxmlformats.org/officeDocument/2006/relationships/slide" Target="/ppt/slides/slide11.xml" Id="R5fac9570cbbf4272" /><Relationship Type="http://schemas.openxmlformats.org/officeDocument/2006/relationships/slide" Target="/ppt/slides/slide12.xml" Id="R3d412af30aac4f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73721c5e9342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efade7e84b4ae5" /><Relationship Type="http://schemas.openxmlformats.org/officeDocument/2006/relationships/notesMaster" Target="/ppt/notesMasters/notesMaster1.xml" Id="Rd2b00286123c45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909ef210024c5b" /><Relationship Type="http://schemas.openxmlformats.org/officeDocument/2006/relationships/notesMaster" Target="/ppt/notesMasters/notesMaster1.xml" Id="Rdf2fd51f442945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e67336fe714aba" /><Relationship Type="http://schemas.openxmlformats.org/officeDocument/2006/relationships/notesMaster" Target="/ppt/notesMasters/notesMaster1.xml" Id="R993b9e8ccdc845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ece3ff46cc4fa8" /><Relationship Type="http://schemas.openxmlformats.org/officeDocument/2006/relationships/notesMaster" Target="/ppt/notesMasters/notesMaster1.xml" Id="R6230ca914b2040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5bae312e0d42e9" /><Relationship Type="http://schemas.openxmlformats.org/officeDocument/2006/relationships/notesMaster" Target="/ppt/notesMasters/notesMaster1.xml" Id="Rc8cf368663e447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09074b23e54b58" /><Relationship Type="http://schemas.openxmlformats.org/officeDocument/2006/relationships/notesMaster" Target="/ppt/notesMasters/notesMaster1.xml" Id="R3f346686d43f47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fdb3ddd1194c0c" /><Relationship Type="http://schemas.openxmlformats.org/officeDocument/2006/relationships/notesMaster" Target="/ppt/notesMasters/notesMaster1.xml" Id="R4975a06b309d4f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9a06b64800400d" /><Relationship Type="http://schemas.openxmlformats.org/officeDocument/2006/relationships/notesMaster" Target="/ppt/notesMasters/notesMaster1.xml" Id="Rc3a4699342fd42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9de7280e434e81" /><Relationship Type="http://schemas.openxmlformats.org/officeDocument/2006/relationships/notesMaster" Target="/ppt/notesMasters/notesMaster1.xml" Id="Rddc4dd845e634e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f34831000d4ba8" /><Relationship Type="http://schemas.openxmlformats.org/officeDocument/2006/relationships/notesMaster" Target="/ppt/notesMasters/notesMaster1.xml" Id="Rd51007abf5dc40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f0ea90216e4ef7" /><Relationship Type="http://schemas.openxmlformats.org/officeDocument/2006/relationships/notesMaster" Target="/ppt/notesMasters/notesMaster1.xml" Id="Rd23d84c4cb0341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f7c70801954446" /><Relationship Type="http://schemas.openxmlformats.org/officeDocument/2006/relationships/notesMaster" Target="/ppt/notesMasters/notesMaster1.xml" Id="R4dea1d9a446748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The life science tools framework</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2025 LST under one F&amp;S definition</a:t>
            </a:r>
          </a:p>
          <a:p xmlns:a="http://schemas.openxmlformats.org/drawingml/2006/main">
            <a:r>
              <a:t>Evidence status: Historical estimate</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Customer workflows across life science tools</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AI discovery and its LST touchpoints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Which tools have more demand elasticity?</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Quantities and prices in miniaturization</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Funding-to-LST purchase sensitivity</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8: Potential supply constraints over 12–24 months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9: Mapping Chinese listed LST suppliers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10: From AI funding to LST shareholder returns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11: Workflow comparison and clinical benchmarks</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Modality-aware AI discovery and LST ecosystem</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8f1a9939aa49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030147778646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671b574dcd4d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9b25f106e944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78ce1f934a4b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8af9637c3d4d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888F68-C3D0-4504-9EF8-2CBDFD595EC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9FEDD6-7888-4ABC-A456-DB9119C5E48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10A8A7-250A-4F16-8F8A-84423407E51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1ABCE1-9683-4FEC-9750-10481CEC523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AC6CE4-A01C-4FB4-AA15-D058E1AF781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D40430-4EBB-4080-9182-2C10BB18A82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A7FFFE-A783-4120-A512-97D563708B2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74ECF9-BDC7-4A76-9498-B9F6360E218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F28312-5F61-4D15-B015-091E5035618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92C7E9-1811-49D0-BBAD-AAC423D42D3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2905d93ccd4960" /><Relationship Type="http://schemas.openxmlformats.org/officeDocument/2006/relationships/slideLayout" Target="/ppt/slideLayouts/slideLayout1.xml" Id="Rd1037af6e8754a38" /><Relationship Type="http://schemas.openxmlformats.org/officeDocument/2006/relationships/slideLayout" Target="/ppt/slideLayouts/slideLayout2.xml" Id="R5d6d2cc78ee942a6" /><Relationship Type="http://schemas.openxmlformats.org/officeDocument/2006/relationships/slideLayout" Target="/ppt/slideLayouts/slideLayout3.xml" Id="R762c01dc9a164234" /><Relationship Type="http://schemas.openxmlformats.org/officeDocument/2006/relationships/slideLayout" Target="/ppt/slideLayouts/slideLayout4.xml" Id="Re10872a1821e475a" /><Relationship Type="http://schemas.openxmlformats.org/officeDocument/2006/relationships/slideLayout" Target="/ppt/slideLayouts/slideLayout5.xml" Id="Re298aaef264040e5" /><Relationship Type="http://schemas.openxmlformats.org/officeDocument/2006/relationships/slideLayout" Target="/ppt/slideLayouts/slideLayout6.xml" Id="Rb3a77a9cba1248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037af6e8754a38"/>
    <p:sldLayoutId xmlns:r="http://schemas.openxmlformats.org/officeDocument/2006/relationships" id="2147483650" r:id="R5d6d2cc78ee942a6"/>
    <p:sldLayoutId xmlns:r="http://schemas.openxmlformats.org/officeDocument/2006/relationships" id="2147483651" r:id="R762c01dc9a164234"/>
    <p:sldLayoutId xmlns:r="http://schemas.openxmlformats.org/officeDocument/2006/relationships" id="2147483652" r:id="Re10872a1821e475a"/>
    <p:sldLayoutId xmlns:r="http://schemas.openxmlformats.org/officeDocument/2006/relationships" id="2147483653" r:id="Re298aaef264040e5"/>
    <p:sldLayoutId xmlns:r="http://schemas.openxmlformats.org/officeDocument/2006/relationships" id="2147483654" r:id="Rb3a77a9cba1248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37c4f4311240e5" /><Relationship Type="http://schemas.openxmlformats.org/officeDocument/2006/relationships/image" Target="/ppt/media/image.png" Id="R69ead25c31384e6b" /><Relationship Type="http://schemas.openxmlformats.org/officeDocument/2006/relationships/notesSlide" Target="/ppt/notesSlides/notesSlide1.xml" Id="Rc1daaca9d1ca46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2caed89611406a" /><Relationship Type="http://schemas.openxmlformats.org/officeDocument/2006/relationships/image" Target="/ppt/media/image2.png" Id="Rf0b47333fb3e41ba" /><Relationship Type="http://schemas.openxmlformats.org/officeDocument/2006/relationships/notesSlide" Target="/ppt/notesSlides/notesSlide2.xml" Id="R275e1bb29ee94e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6127274a5146be" /><Relationship Type="http://schemas.openxmlformats.org/officeDocument/2006/relationships/image" Target="/ppt/media/image3.png" Id="Rc4abb820134643bf" /><Relationship Type="http://schemas.openxmlformats.org/officeDocument/2006/relationships/notesSlide" Target="/ppt/notesSlides/notesSlide3.xml" Id="R2b113e4e006744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4ec371968394c5d" /><Relationship Type="http://schemas.openxmlformats.org/officeDocument/2006/relationships/image" Target="/ppt/media/image4.png" Id="Rd264079b06fd4fe0" /><Relationship Type="http://schemas.openxmlformats.org/officeDocument/2006/relationships/notesSlide" Target="/ppt/notesSlides/notesSlide4.xml" Id="R5893fb43ad6b4b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2866c91905494a" /><Relationship Type="http://schemas.openxmlformats.org/officeDocument/2006/relationships/image" Target="/ppt/media/image5.png" Id="Rb4ffb96ded544d34" /><Relationship Type="http://schemas.openxmlformats.org/officeDocument/2006/relationships/notesSlide" Target="/ppt/notesSlides/notesSlide5.xml" Id="Rc71bf3fb98fe4d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b4540819cb4b0c" /><Relationship Type="http://schemas.openxmlformats.org/officeDocument/2006/relationships/image" Target="/ppt/media/image6.png" Id="R829733c1fb274bd1" /><Relationship Type="http://schemas.openxmlformats.org/officeDocument/2006/relationships/notesSlide" Target="/ppt/notesSlides/notesSlide6.xml" Id="Re2b90e41037a48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fb578e49bf4f6c" /><Relationship Type="http://schemas.openxmlformats.org/officeDocument/2006/relationships/image" Target="/ppt/media/image7.png" Id="R6ed64eb6407046d7" /><Relationship Type="http://schemas.openxmlformats.org/officeDocument/2006/relationships/notesSlide" Target="/ppt/notesSlides/notesSlide7.xml" Id="R029e92efc4274c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5b7824ec744a07" /><Relationship Type="http://schemas.openxmlformats.org/officeDocument/2006/relationships/image" Target="/ppt/media/image8.png" Id="Rc007d396bbae4d33" /><Relationship Type="http://schemas.openxmlformats.org/officeDocument/2006/relationships/notesSlide" Target="/ppt/notesSlides/notesSlide8.xml" Id="R0c843aa2ed6a44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2ec8640246455c" /><Relationship Type="http://schemas.openxmlformats.org/officeDocument/2006/relationships/image" Target="/ppt/media/image9.png" Id="Raf99320e66824bde" /><Relationship Type="http://schemas.openxmlformats.org/officeDocument/2006/relationships/notesSlide" Target="/ppt/notesSlides/notesSlide9.xml" Id="Rfa84456e677f44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c1fbdd16364468" /><Relationship Type="http://schemas.openxmlformats.org/officeDocument/2006/relationships/image" Target="/ppt/media/image10.png" Id="Rdbff24cafbbd4bc0" /><Relationship Type="http://schemas.openxmlformats.org/officeDocument/2006/relationships/notesSlide" Target="/ppt/notesSlides/notesSlide10.xml" Id="R47a512bff07d43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cd9bce47fb487a" /><Relationship Type="http://schemas.openxmlformats.org/officeDocument/2006/relationships/image" Target="/ppt/media/image11.png" Id="Rb2492dd471c54db4" /><Relationship Type="http://schemas.openxmlformats.org/officeDocument/2006/relationships/notesSlide" Target="/ppt/notesSlides/notesSlide11.xml" Id="R61878ce4c0ba46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6a4e4f4649451d" /><Relationship Type="http://schemas.openxmlformats.org/officeDocument/2006/relationships/image" Target="/ppt/media/image12.png" Id="Rc531d31430ff4a3f" /><Relationship Type="http://schemas.openxmlformats.org/officeDocument/2006/relationships/notesSlide" Target="/ppt/notesSlides/notesSlide12.xml" Id="R79d2d0682b894ff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A38EFCC8-BDD2-4295-B5BE-F5E8862EEFDF}"/>
              </a:ext>
            </a:extLst>
          </p:cNvPr>
          <p:cNvPicPr>
            <a:picLocks xmlns:a="http://schemas.openxmlformats.org/drawingml/2006/main" noChangeAspect="1"/>
          </p:cNvPicPr>
          <p:nvPr/>
        </p:nvPicPr>
        <p:blipFill>
          <a:blip xmlns:r="http://schemas.openxmlformats.org/officeDocument/2006/relationships" xmlns:a="http://schemas.openxmlformats.org/drawingml/2006/main" r:embed="R69ead25c31384e6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 label 1 line 1">
            <a:extLst xmlns:a="http://schemas.openxmlformats.org/drawingml/2006/main">
              <a:ext uri="{FF2B5EF4-FFF2-40B4-BE49-F238E27FC236}">
                <a16:creationId xmlns:a16="http://schemas.microsoft.com/office/drawing/2014/main" id="{4212CAF0-A536-4A22-9B63-42650BD530AA}"/>
              </a:ext>
            </a:extLst>
          </p:cNvPr>
          <p:cNvSpPr>
            <a:spLocks xmlns:a="http://schemas.openxmlformats.org/drawingml/2006/main" noGrp="1"/>
          </p:cNvSpPr>
          <p:nvPr/>
        </p:nvSpPr>
        <p:spPr>
          <a:xfrm xmlns:a="http://schemas.openxmlformats.org/drawingml/2006/main" rot="0">
            <a:off x="991870" y="421675"/>
            <a:ext cx="570001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01  The life science tools framework</a:t>
            </a:r>
          </a:p>
        </p:txBody>
      </p:sp>
      <p:sp>
        <p:nvSpPr>
          <p:cNvPr id="3" name="Figure 1 label 2 line 1">
            <a:extLst xmlns:a="http://schemas.openxmlformats.org/drawingml/2006/main">
              <a:ext uri="{FF2B5EF4-FFF2-40B4-BE49-F238E27FC236}">
                <a16:creationId xmlns:a16="http://schemas.microsoft.com/office/drawing/2014/main" id="{EC67FECE-1B57-445B-A869-8FC0BEB1CAAC}"/>
              </a:ext>
            </a:extLst>
          </p:cNvPr>
          <p:cNvSpPr>
            <a:spLocks xmlns:a="http://schemas.openxmlformats.org/drawingml/2006/main" noGrp="1"/>
          </p:cNvSpPr>
          <p:nvPr/>
        </p:nvSpPr>
        <p:spPr>
          <a:xfrm xmlns:a="http://schemas.openxmlformats.org/drawingml/2006/main" rot="0">
            <a:off x="15683161" y="661601"/>
            <a:ext cx="109487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FRAMEWORK</a:t>
            </a:r>
          </a:p>
        </p:txBody>
      </p:sp>
      <p:sp>
        <p:nvSpPr>
          <p:cNvPr id="4" name="Figure 1 label 3 line 1">
            <a:extLst xmlns:a="http://schemas.openxmlformats.org/drawingml/2006/main">
              <a:ext uri="{FF2B5EF4-FFF2-40B4-BE49-F238E27FC236}">
                <a16:creationId xmlns:a16="http://schemas.microsoft.com/office/drawing/2014/main" id="{92E06CCA-1E2F-4983-B2F4-FFB52E8F1D2B}"/>
              </a:ext>
            </a:extLst>
          </p:cNvPr>
          <p:cNvSpPr>
            <a:spLocks xmlns:a="http://schemas.openxmlformats.org/drawingml/2006/main" noGrp="1"/>
          </p:cNvSpPr>
          <p:nvPr/>
        </p:nvSpPr>
        <p:spPr>
          <a:xfrm xmlns:a="http://schemas.openxmlformats.org/drawingml/2006/main" rot="0">
            <a:off x="998220" y="1249487"/>
            <a:ext cx="844629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product framework spanning academic research, biotech, pharma, CRDMOs and manufacturing.</a:t>
            </a:r>
          </a:p>
        </p:txBody>
      </p:sp>
      <p:sp>
        <p:nvSpPr>
          <p:cNvPr id="5" name="Figure 1 label 4 line 1">
            <a:extLst xmlns:a="http://schemas.openxmlformats.org/drawingml/2006/main">
              <a:ext uri="{FF2B5EF4-FFF2-40B4-BE49-F238E27FC236}">
                <a16:creationId xmlns:a16="http://schemas.microsoft.com/office/drawing/2014/main" id="{FC4A2AE3-A66B-4C3D-AE86-22372FF21436}"/>
              </a:ext>
            </a:extLst>
          </p:cNvPr>
          <p:cNvSpPr>
            <a:spLocks xmlns:a="http://schemas.openxmlformats.org/drawingml/2006/main" noGrp="1"/>
          </p:cNvSpPr>
          <p:nvPr/>
        </p:nvSpPr>
        <p:spPr>
          <a:xfrm xmlns:a="http://schemas.openxmlformats.org/drawingml/2006/main" rot="0">
            <a:off x="999173" y="9256035"/>
            <a:ext cx="671408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Classify products separately from their use cases. Chromatography resins can be reused.</a:t>
            </a:r>
          </a:p>
        </p:txBody>
      </p:sp>
      <p:sp>
        <p:nvSpPr>
          <p:cNvPr id="6" name="Figure 1 label 5 line 1">
            <a:extLst xmlns:a="http://schemas.openxmlformats.org/drawingml/2006/main">
              <a:ext uri="{FF2B5EF4-FFF2-40B4-BE49-F238E27FC236}">
                <a16:creationId xmlns:a16="http://schemas.microsoft.com/office/drawing/2014/main" id="{C1508730-C91D-47CF-9E03-1DFF0C62982A}"/>
              </a:ext>
            </a:extLst>
          </p:cNvPr>
          <p:cNvSpPr>
            <a:spLocks xmlns:a="http://schemas.openxmlformats.org/drawingml/2006/main" noGrp="1"/>
          </p:cNvSpPr>
          <p:nvPr/>
        </p:nvSpPr>
        <p:spPr>
          <a:xfrm xmlns:a="http://schemas.openxmlformats.org/drawingml/2006/main" rot="0">
            <a:off x="1000316" y="9675546"/>
            <a:ext cx="6311087"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product research. Existing TAMs do not automatically reconcile.</a:t>
            </a:r>
          </a:p>
        </p:txBody>
      </p:sp>
      <p:sp>
        <p:nvSpPr>
          <p:cNvPr id="7" name="Figure 1 label 6 line 1">
            <a:extLst xmlns:a="http://schemas.openxmlformats.org/drawingml/2006/main">
              <a:ext uri="{FF2B5EF4-FFF2-40B4-BE49-F238E27FC236}">
                <a16:creationId xmlns:a16="http://schemas.microsoft.com/office/drawing/2014/main" id="{E80B86DA-A004-457E-8830-712C76234C0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 label 7 line 1">
            <a:extLst xmlns:a="http://schemas.openxmlformats.org/drawingml/2006/main">
              <a:ext uri="{FF2B5EF4-FFF2-40B4-BE49-F238E27FC236}">
                <a16:creationId xmlns:a16="http://schemas.microsoft.com/office/drawing/2014/main" id="{C12C68E3-7AEE-4181-8C37-B7746280906E}"/>
              </a:ext>
            </a:extLst>
          </p:cNvPr>
          <p:cNvSpPr>
            <a:spLocks xmlns:a="http://schemas.openxmlformats.org/drawingml/2006/main" noGrp="1"/>
          </p:cNvSpPr>
          <p:nvPr/>
        </p:nvSpPr>
        <p:spPr>
          <a:xfrm xmlns:a="http://schemas.openxmlformats.org/drawingml/2006/main" rot="0">
            <a:off x="1394206" y="2415470"/>
            <a:ext cx="172184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FFFFFF"/>
                </a:solidFill>
                <a:latin typeface="Arial Unicode MS"/>
                <a:ea typeface="Arial Unicode MS"/>
                <a:cs typeface="Arial Unicode MS"/>
              </a:defRPr>
            </a:defPPr>
          </a:lstStyle>
          <a:p xmlns:a="http://schemas.openxmlformats.org/drawingml/2006/main">
            <a:pPr algn="l">
              <a:lnSpc>
                <a:spcPct val="100000"/>
              </a:lnSpc>
              <a:buNone/>
              <a:defRPr sz="2750" b="1">
                <a:solidFill>
                  <a:srgbClr val="FFFFFF"/>
                </a:solidFill>
                <a:latin typeface="Arial Unicode MS"/>
                <a:ea typeface="Arial Unicode MS"/>
                <a:cs typeface="Arial Unicode MS"/>
              </a:defRPr>
            </a:pPr>
            <a:r>
              <a:rPr sz="2750" b="1">
                <a:solidFill>
                  <a:srgbClr val="FFFFFF"/>
                </a:solidFill>
                <a:latin typeface="Arial Unicode MS"/>
                <a:ea typeface="Arial Unicode MS"/>
                <a:cs typeface="Arial Unicode MS"/>
              </a:rPr>
              <a:t>Reagents</a:t>
            </a:r>
          </a:p>
        </p:txBody>
      </p:sp>
      <p:sp>
        <p:nvSpPr>
          <p:cNvPr id="9" name="Figure 1 label 8 line 1">
            <a:extLst xmlns:a="http://schemas.openxmlformats.org/drawingml/2006/main">
              <a:ext uri="{FF2B5EF4-FFF2-40B4-BE49-F238E27FC236}">
                <a16:creationId xmlns:a16="http://schemas.microsoft.com/office/drawing/2014/main" id="{EB3328AB-B4E5-4EEF-BEED-501CF5520D91}"/>
              </a:ext>
            </a:extLst>
          </p:cNvPr>
          <p:cNvSpPr>
            <a:spLocks xmlns:a="http://schemas.openxmlformats.org/drawingml/2006/main" noGrp="1"/>
          </p:cNvSpPr>
          <p:nvPr/>
        </p:nvSpPr>
        <p:spPr>
          <a:xfrm xmlns:a="http://schemas.openxmlformats.org/drawingml/2006/main" rot="0">
            <a:off x="1401509"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10" name="Figure 1 label 9 line 1">
            <a:extLst xmlns:a="http://schemas.openxmlformats.org/drawingml/2006/main">
              <a:ext uri="{FF2B5EF4-FFF2-40B4-BE49-F238E27FC236}">
                <a16:creationId xmlns:a16="http://schemas.microsoft.com/office/drawing/2014/main" id="{76AF1D3D-91D8-4770-8C28-05C82A5B9AEB}"/>
              </a:ext>
            </a:extLst>
          </p:cNvPr>
          <p:cNvSpPr>
            <a:spLocks xmlns:a="http://schemas.openxmlformats.org/drawingml/2006/main" noGrp="1"/>
          </p:cNvSpPr>
          <p:nvPr/>
        </p:nvSpPr>
        <p:spPr>
          <a:xfrm xmlns:a="http://schemas.openxmlformats.org/drawingml/2006/main" rot="0">
            <a:off x="2022348" y="3625649"/>
            <a:ext cx="300424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Recombinant proteins / antibodies</a:t>
            </a:r>
          </a:p>
        </p:txBody>
      </p:sp>
      <p:sp>
        <p:nvSpPr>
          <p:cNvPr id="11" name="Figure 1 label 10 line 1">
            <a:extLst xmlns:a="http://schemas.openxmlformats.org/drawingml/2006/main">
              <a:ext uri="{FF2B5EF4-FFF2-40B4-BE49-F238E27FC236}">
                <a16:creationId xmlns:a16="http://schemas.microsoft.com/office/drawing/2014/main" id="{C81E18AF-C00F-4AA6-9749-4B0162FC3CEF}"/>
              </a:ext>
            </a:extLst>
          </p:cNvPr>
          <p:cNvSpPr>
            <a:spLocks xmlns:a="http://schemas.openxmlformats.org/drawingml/2006/main" noGrp="1"/>
          </p:cNvSpPr>
          <p:nvPr/>
        </p:nvSpPr>
        <p:spPr>
          <a:xfrm xmlns:a="http://schemas.openxmlformats.org/drawingml/2006/main" rot="0">
            <a:off x="1401509"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12" name="Figure 1 label 11 line 1">
            <a:extLst xmlns:a="http://schemas.openxmlformats.org/drawingml/2006/main">
              <a:ext uri="{FF2B5EF4-FFF2-40B4-BE49-F238E27FC236}">
                <a16:creationId xmlns:a16="http://schemas.microsoft.com/office/drawing/2014/main" id="{7AA6727A-3736-448B-9CFA-A34F51694700}"/>
              </a:ext>
            </a:extLst>
          </p:cNvPr>
          <p:cNvSpPr>
            <a:spLocks xmlns:a="http://schemas.openxmlformats.org/drawingml/2006/main" noGrp="1"/>
          </p:cNvSpPr>
          <p:nvPr/>
        </p:nvSpPr>
        <p:spPr>
          <a:xfrm xmlns:a="http://schemas.openxmlformats.org/drawingml/2006/main" rot="0">
            <a:off x="2022348" y="4345874"/>
            <a:ext cx="3099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Enzymes / PCR and NGS reagents</a:t>
            </a:r>
          </a:p>
        </p:txBody>
      </p:sp>
      <p:sp>
        <p:nvSpPr>
          <p:cNvPr id="13" name="Figure 1 label 12 line 1">
            <a:extLst xmlns:a="http://schemas.openxmlformats.org/drawingml/2006/main">
              <a:ext uri="{FF2B5EF4-FFF2-40B4-BE49-F238E27FC236}">
                <a16:creationId xmlns:a16="http://schemas.microsoft.com/office/drawing/2014/main" id="{76FA243A-9ED0-4312-821F-770B414FABB6}"/>
              </a:ext>
            </a:extLst>
          </p:cNvPr>
          <p:cNvSpPr>
            <a:spLocks xmlns:a="http://schemas.openxmlformats.org/drawingml/2006/main" noGrp="1"/>
          </p:cNvSpPr>
          <p:nvPr/>
        </p:nvSpPr>
        <p:spPr>
          <a:xfrm xmlns:a="http://schemas.openxmlformats.org/drawingml/2006/main" rot="0">
            <a:off x="1401509"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14" name="Figure 1 label 13 line 1">
            <a:extLst xmlns:a="http://schemas.openxmlformats.org/drawingml/2006/main">
              <a:ext uri="{FF2B5EF4-FFF2-40B4-BE49-F238E27FC236}">
                <a16:creationId xmlns:a16="http://schemas.microsoft.com/office/drawing/2014/main" id="{369C2270-FF44-4124-8C81-FC11EE8C5FA5}"/>
              </a:ext>
            </a:extLst>
          </p:cNvPr>
          <p:cNvSpPr>
            <a:spLocks xmlns:a="http://schemas.openxmlformats.org/drawingml/2006/main" noGrp="1"/>
          </p:cNvSpPr>
          <p:nvPr/>
        </p:nvSpPr>
        <p:spPr>
          <a:xfrm xmlns:a="http://schemas.openxmlformats.org/drawingml/2006/main" rot="0">
            <a:off x="2022348" y="5064803"/>
            <a:ext cx="3300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DNA / RNA / chemical building blocks</a:t>
            </a:r>
          </a:p>
        </p:txBody>
      </p:sp>
      <p:sp>
        <p:nvSpPr>
          <p:cNvPr id="15" name="Figure 1 label 14 line 1">
            <a:extLst xmlns:a="http://schemas.openxmlformats.org/drawingml/2006/main">
              <a:ext uri="{FF2B5EF4-FFF2-40B4-BE49-F238E27FC236}">
                <a16:creationId xmlns:a16="http://schemas.microsoft.com/office/drawing/2014/main" id="{3029EF36-BFEC-4349-BE80-EE6CDB82A72A}"/>
              </a:ext>
            </a:extLst>
          </p:cNvPr>
          <p:cNvSpPr>
            <a:spLocks xmlns:a="http://schemas.openxmlformats.org/drawingml/2006/main" noGrp="1"/>
          </p:cNvSpPr>
          <p:nvPr/>
        </p:nvSpPr>
        <p:spPr>
          <a:xfrm xmlns:a="http://schemas.openxmlformats.org/drawingml/2006/main" rot="0">
            <a:off x="1401509"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16" name="Figure 1 label 15 line 1">
            <a:extLst xmlns:a="http://schemas.openxmlformats.org/drawingml/2006/main">
              <a:ext uri="{FF2B5EF4-FFF2-40B4-BE49-F238E27FC236}">
                <a16:creationId xmlns:a16="http://schemas.microsoft.com/office/drawing/2014/main" id="{72B15F11-A2A6-484C-BA2B-AEACB484670F}"/>
              </a:ext>
            </a:extLst>
          </p:cNvPr>
          <p:cNvSpPr>
            <a:spLocks xmlns:a="http://schemas.openxmlformats.org/drawingml/2006/main" noGrp="1"/>
          </p:cNvSpPr>
          <p:nvPr/>
        </p:nvSpPr>
        <p:spPr>
          <a:xfrm xmlns:a="http://schemas.openxmlformats.org/drawingml/2006/main" rot="0">
            <a:off x="2022348" y="5785920"/>
            <a:ext cx="21990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lines / culture media</a:t>
            </a:r>
          </a:p>
        </p:txBody>
      </p:sp>
      <p:sp>
        <p:nvSpPr>
          <p:cNvPr id="17" name="Figure 1 label 16 line 1">
            <a:extLst xmlns:a="http://schemas.openxmlformats.org/drawingml/2006/main">
              <a:ext uri="{FF2B5EF4-FFF2-40B4-BE49-F238E27FC236}">
                <a16:creationId xmlns:a16="http://schemas.microsoft.com/office/drawing/2014/main" id="{EBA1EC8C-D3A7-4520-9C06-DBCBDC1C45A8}"/>
              </a:ext>
            </a:extLst>
          </p:cNvPr>
          <p:cNvSpPr>
            <a:spLocks xmlns:a="http://schemas.openxmlformats.org/drawingml/2006/main" noGrp="1"/>
          </p:cNvSpPr>
          <p:nvPr/>
        </p:nvSpPr>
        <p:spPr>
          <a:xfrm xmlns:a="http://schemas.openxmlformats.org/drawingml/2006/main" rot="0">
            <a:off x="1401509"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18" name="Figure 1 label 17 line 1">
            <a:extLst xmlns:a="http://schemas.openxmlformats.org/drawingml/2006/main">
              <a:ext uri="{FF2B5EF4-FFF2-40B4-BE49-F238E27FC236}">
                <a16:creationId xmlns:a16="http://schemas.microsoft.com/office/drawing/2014/main" id="{DB86AF16-F8A0-42E0-B72F-CD33E0187F9D}"/>
              </a:ext>
            </a:extLst>
          </p:cNvPr>
          <p:cNvSpPr>
            <a:spLocks xmlns:a="http://schemas.openxmlformats.org/drawingml/2006/main" noGrp="1"/>
          </p:cNvSpPr>
          <p:nvPr/>
        </p:nvSpPr>
        <p:spPr>
          <a:xfrm xmlns:a="http://schemas.openxmlformats.org/drawingml/2006/main" rot="0">
            <a:off x="2022348" y="6506143"/>
            <a:ext cx="28766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reagents for R&amp;D and QC</a:t>
            </a:r>
          </a:p>
        </p:txBody>
      </p:sp>
      <p:sp>
        <p:nvSpPr>
          <p:cNvPr id="19" name="Figure 1 label 18 line 1">
            <a:extLst xmlns:a="http://schemas.openxmlformats.org/drawingml/2006/main">
              <a:ext uri="{FF2B5EF4-FFF2-40B4-BE49-F238E27FC236}">
                <a16:creationId xmlns:a16="http://schemas.microsoft.com/office/drawing/2014/main" id="{A8621757-A501-429B-8033-74DF98983A8C}"/>
              </a:ext>
            </a:extLst>
          </p:cNvPr>
          <p:cNvSpPr>
            <a:spLocks xmlns:a="http://schemas.openxmlformats.org/drawingml/2006/main" noGrp="1"/>
          </p:cNvSpPr>
          <p:nvPr/>
        </p:nvSpPr>
        <p:spPr>
          <a:xfrm xmlns:a="http://schemas.openxmlformats.org/drawingml/2006/main" rot="0">
            <a:off x="1401318" y="7440635"/>
            <a:ext cx="22843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 dose per test × price</a:t>
            </a:r>
          </a:p>
        </p:txBody>
      </p:sp>
      <p:sp>
        <p:nvSpPr>
          <p:cNvPr id="20" name="Figure 1 label 19 line 1">
            <a:extLst xmlns:a="http://schemas.openxmlformats.org/drawingml/2006/main">
              <a:ext uri="{FF2B5EF4-FFF2-40B4-BE49-F238E27FC236}">
                <a16:creationId xmlns:a16="http://schemas.microsoft.com/office/drawing/2014/main" id="{E328793F-531C-4160-A571-9799D8D48D87}"/>
              </a:ext>
            </a:extLst>
          </p:cNvPr>
          <p:cNvSpPr>
            <a:spLocks xmlns:a="http://schemas.openxmlformats.org/drawingml/2006/main" noGrp="1"/>
          </p:cNvSpPr>
          <p:nvPr/>
        </p:nvSpPr>
        <p:spPr>
          <a:xfrm xmlns:a="http://schemas.openxmlformats.org/drawingml/2006/main" rot="0">
            <a:off x="6953758" y="2417353"/>
            <a:ext cx="236210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Consumables</a:t>
            </a:r>
          </a:p>
        </p:txBody>
      </p:sp>
      <p:sp>
        <p:nvSpPr>
          <p:cNvPr id="21" name="Figure 1 label 20 line 1">
            <a:extLst xmlns:a="http://schemas.openxmlformats.org/drawingml/2006/main">
              <a:ext uri="{FF2B5EF4-FFF2-40B4-BE49-F238E27FC236}">
                <a16:creationId xmlns:a16="http://schemas.microsoft.com/office/drawing/2014/main" id="{661592E0-A55D-463C-9104-C8464C65BEA6}"/>
              </a:ext>
            </a:extLst>
          </p:cNvPr>
          <p:cNvSpPr>
            <a:spLocks xmlns:a="http://schemas.openxmlformats.org/drawingml/2006/main" noGrp="1"/>
          </p:cNvSpPr>
          <p:nvPr/>
        </p:nvSpPr>
        <p:spPr>
          <a:xfrm xmlns:a="http://schemas.openxmlformats.org/drawingml/2006/main" rot="0">
            <a:off x="6961060"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22" name="Figure 1 label 21 line 1">
            <a:extLst xmlns:a="http://schemas.openxmlformats.org/drawingml/2006/main">
              <a:ext uri="{FF2B5EF4-FFF2-40B4-BE49-F238E27FC236}">
                <a16:creationId xmlns:a16="http://schemas.microsoft.com/office/drawing/2014/main" id="{9C5A45A6-9932-4370-9D57-D43819CF14B9}"/>
              </a:ext>
            </a:extLst>
          </p:cNvPr>
          <p:cNvSpPr>
            <a:spLocks xmlns:a="http://schemas.openxmlformats.org/drawingml/2006/main" noGrp="1"/>
          </p:cNvSpPr>
          <p:nvPr/>
        </p:nvSpPr>
        <p:spPr>
          <a:xfrm xmlns:a="http://schemas.openxmlformats.org/drawingml/2006/main" rot="0">
            <a:off x="7581900" y="3625649"/>
            <a:ext cx="16165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Tips / microplates</a:t>
            </a:r>
          </a:p>
        </p:txBody>
      </p:sp>
      <p:sp>
        <p:nvSpPr>
          <p:cNvPr id="23" name="Figure 1 label 22 line 1">
            <a:extLst xmlns:a="http://schemas.openxmlformats.org/drawingml/2006/main">
              <a:ext uri="{FF2B5EF4-FFF2-40B4-BE49-F238E27FC236}">
                <a16:creationId xmlns:a16="http://schemas.microsoft.com/office/drawing/2014/main" id="{387B87F9-F2CF-4B44-AF29-0DD91B054BDC}"/>
              </a:ext>
            </a:extLst>
          </p:cNvPr>
          <p:cNvSpPr>
            <a:spLocks xmlns:a="http://schemas.openxmlformats.org/drawingml/2006/main" noGrp="1"/>
          </p:cNvSpPr>
          <p:nvPr/>
        </p:nvSpPr>
        <p:spPr>
          <a:xfrm xmlns:a="http://schemas.openxmlformats.org/drawingml/2006/main" rot="0">
            <a:off x="6961060"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24" name="Figure 1 label 23 line 1">
            <a:extLst xmlns:a="http://schemas.openxmlformats.org/drawingml/2006/main">
              <a:ext uri="{FF2B5EF4-FFF2-40B4-BE49-F238E27FC236}">
                <a16:creationId xmlns:a16="http://schemas.microsoft.com/office/drawing/2014/main" id="{1C83EBA0-EA3D-497F-9030-5EE60D871569}"/>
              </a:ext>
            </a:extLst>
          </p:cNvPr>
          <p:cNvSpPr>
            <a:spLocks xmlns:a="http://schemas.openxmlformats.org/drawingml/2006/main" noGrp="1"/>
          </p:cNvSpPr>
          <p:nvPr/>
        </p:nvSpPr>
        <p:spPr>
          <a:xfrm xmlns:a="http://schemas.openxmlformats.org/drawingml/2006/main" rot="0">
            <a:off x="7581900" y="4345874"/>
            <a:ext cx="2792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 flasks / centrifuge tubes</a:t>
            </a:r>
          </a:p>
        </p:txBody>
      </p:sp>
      <p:sp>
        <p:nvSpPr>
          <p:cNvPr id="25" name="Figure 1 label 24 line 1">
            <a:extLst xmlns:a="http://schemas.openxmlformats.org/drawingml/2006/main">
              <a:ext uri="{FF2B5EF4-FFF2-40B4-BE49-F238E27FC236}">
                <a16:creationId xmlns:a16="http://schemas.microsoft.com/office/drawing/2014/main" id="{A4204B79-752F-45C5-8EDA-6B8502A380B9}"/>
              </a:ext>
            </a:extLst>
          </p:cNvPr>
          <p:cNvSpPr>
            <a:spLocks xmlns:a="http://schemas.openxmlformats.org/drawingml/2006/main" noGrp="1"/>
          </p:cNvSpPr>
          <p:nvPr/>
        </p:nvSpPr>
        <p:spPr>
          <a:xfrm xmlns:a="http://schemas.openxmlformats.org/drawingml/2006/main" rot="0">
            <a:off x="6961060"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26" name="Figure 1 label 25 line 1">
            <a:extLst xmlns:a="http://schemas.openxmlformats.org/drawingml/2006/main">
              <a:ext uri="{FF2B5EF4-FFF2-40B4-BE49-F238E27FC236}">
                <a16:creationId xmlns:a16="http://schemas.microsoft.com/office/drawing/2014/main" id="{351A9E64-06B7-4EDD-9E57-45F1575017F7}"/>
              </a:ext>
            </a:extLst>
          </p:cNvPr>
          <p:cNvSpPr>
            <a:spLocks xmlns:a="http://schemas.openxmlformats.org/drawingml/2006/main" noGrp="1"/>
          </p:cNvSpPr>
          <p:nvPr/>
        </p:nvSpPr>
        <p:spPr>
          <a:xfrm xmlns:a="http://schemas.openxmlformats.org/drawingml/2006/main" rot="0">
            <a:off x="7581900" y="5065830"/>
            <a:ext cx="267593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Membranes / functional beads</a:t>
            </a:r>
          </a:p>
        </p:txBody>
      </p:sp>
      <p:sp>
        <p:nvSpPr>
          <p:cNvPr id="27" name="Figure 1 label 26 line 1">
            <a:extLst xmlns:a="http://schemas.openxmlformats.org/drawingml/2006/main">
              <a:ext uri="{FF2B5EF4-FFF2-40B4-BE49-F238E27FC236}">
                <a16:creationId xmlns:a16="http://schemas.microsoft.com/office/drawing/2014/main" id="{1E7F5240-4F58-4F85-BC1C-FE3E57C6E94C}"/>
              </a:ext>
            </a:extLst>
          </p:cNvPr>
          <p:cNvSpPr>
            <a:spLocks xmlns:a="http://schemas.openxmlformats.org/drawingml/2006/main" noGrp="1"/>
          </p:cNvSpPr>
          <p:nvPr/>
        </p:nvSpPr>
        <p:spPr>
          <a:xfrm xmlns:a="http://schemas.openxmlformats.org/drawingml/2006/main" rot="0">
            <a:off x="6961060"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28" name="Figure 1 label 27 line 1">
            <a:extLst xmlns:a="http://schemas.openxmlformats.org/drawingml/2006/main">
              <a:ext uri="{FF2B5EF4-FFF2-40B4-BE49-F238E27FC236}">
                <a16:creationId xmlns:a16="http://schemas.microsoft.com/office/drawing/2014/main" id="{256F1B48-6009-44C0-AB1B-63A72DE39D4A}"/>
              </a:ext>
            </a:extLst>
          </p:cNvPr>
          <p:cNvSpPr>
            <a:spLocks xmlns:a="http://schemas.openxmlformats.org/drawingml/2006/main" noGrp="1"/>
          </p:cNvSpPr>
          <p:nvPr/>
        </p:nvSpPr>
        <p:spPr>
          <a:xfrm xmlns:a="http://schemas.openxmlformats.org/drawingml/2006/main" rot="0">
            <a:off x="7581900" y="5786054"/>
            <a:ext cx="29719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Columns / chromatography resins</a:t>
            </a:r>
          </a:p>
        </p:txBody>
      </p:sp>
      <p:sp>
        <p:nvSpPr>
          <p:cNvPr id="29" name="Figure 1 label 28 line 1">
            <a:extLst xmlns:a="http://schemas.openxmlformats.org/drawingml/2006/main">
              <a:ext uri="{FF2B5EF4-FFF2-40B4-BE49-F238E27FC236}">
                <a16:creationId xmlns:a16="http://schemas.microsoft.com/office/drawing/2014/main" id="{F7705BC0-B777-4125-8D76-F31E84426075}"/>
              </a:ext>
            </a:extLst>
          </p:cNvPr>
          <p:cNvSpPr>
            <a:spLocks xmlns:a="http://schemas.openxmlformats.org/drawingml/2006/main" noGrp="1"/>
          </p:cNvSpPr>
          <p:nvPr/>
        </p:nvSpPr>
        <p:spPr>
          <a:xfrm xmlns:a="http://schemas.openxmlformats.org/drawingml/2006/main" rot="0">
            <a:off x="6961060"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30" name="Figure 1 label 29 line 1">
            <a:extLst xmlns:a="http://schemas.openxmlformats.org/drawingml/2006/main">
              <a:ext uri="{FF2B5EF4-FFF2-40B4-BE49-F238E27FC236}">
                <a16:creationId xmlns:a16="http://schemas.microsoft.com/office/drawing/2014/main" id="{A495ED63-2B49-4279-A123-56044CDBD978}"/>
              </a:ext>
            </a:extLst>
          </p:cNvPr>
          <p:cNvSpPr>
            <a:spLocks xmlns:a="http://schemas.openxmlformats.org/drawingml/2006/main" noGrp="1"/>
          </p:cNvSpPr>
          <p:nvPr/>
        </p:nvSpPr>
        <p:spPr>
          <a:xfrm xmlns:a="http://schemas.openxmlformats.org/drawingml/2006/main" rot="0">
            <a:off x="7581900" y="6507171"/>
            <a:ext cx="24321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Gels / process components</a:t>
            </a:r>
          </a:p>
        </p:txBody>
      </p:sp>
      <p:sp>
        <p:nvSpPr>
          <p:cNvPr id="31" name="Figure 1 label 30 line 1">
            <a:extLst xmlns:a="http://schemas.openxmlformats.org/drawingml/2006/main">
              <a:ext uri="{FF2B5EF4-FFF2-40B4-BE49-F238E27FC236}">
                <a16:creationId xmlns:a16="http://schemas.microsoft.com/office/drawing/2014/main" id="{82D080B6-EAE8-455C-A4CC-BB77F55228AC}"/>
              </a:ext>
            </a:extLst>
          </p:cNvPr>
          <p:cNvSpPr>
            <a:spLocks xmlns:a="http://schemas.openxmlformats.org/drawingml/2006/main" noGrp="1"/>
          </p:cNvSpPr>
          <p:nvPr/>
        </p:nvSpPr>
        <p:spPr>
          <a:xfrm xmlns:a="http://schemas.openxmlformats.org/drawingml/2006/main" rot="0">
            <a:off x="6960870" y="7439711"/>
            <a:ext cx="2770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or batches × intensity × price</a:t>
            </a:r>
          </a:p>
        </p:txBody>
      </p:sp>
      <p:sp>
        <p:nvSpPr>
          <p:cNvPr id="32" name="Figure 1 label 31 line 1">
            <a:extLst xmlns:a="http://schemas.openxmlformats.org/drawingml/2006/main">
              <a:ext uri="{FF2B5EF4-FFF2-40B4-BE49-F238E27FC236}">
                <a16:creationId xmlns:a16="http://schemas.microsoft.com/office/drawing/2014/main" id="{909898E0-9F6E-48E0-AEE4-23B182296281}"/>
              </a:ext>
            </a:extLst>
          </p:cNvPr>
          <p:cNvSpPr>
            <a:spLocks xmlns:a="http://schemas.openxmlformats.org/drawingml/2006/main" noGrp="1"/>
          </p:cNvSpPr>
          <p:nvPr/>
        </p:nvSpPr>
        <p:spPr>
          <a:xfrm xmlns:a="http://schemas.openxmlformats.org/drawingml/2006/main" rot="0">
            <a:off x="12513310" y="2417353"/>
            <a:ext cx="20513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Instruments</a:t>
            </a:r>
          </a:p>
        </p:txBody>
      </p:sp>
      <p:sp>
        <p:nvSpPr>
          <p:cNvPr id="33" name="Figure 1 label 32 line 1">
            <a:extLst xmlns:a="http://schemas.openxmlformats.org/drawingml/2006/main">
              <a:ext uri="{FF2B5EF4-FFF2-40B4-BE49-F238E27FC236}">
                <a16:creationId xmlns:a16="http://schemas.microsoft.com/office/drawing/2014/main" id="{4B9C9C96-6AA2-44D3-A037-802E6510BDA4}"/>
              </a:ext>
            </a:extLst>
          </p:cNvPr>
          <p:cNvSpPr>
            <a:spLocks xmlns:a="http://schemas.openxmlformats.org/drawingml/2006/main" noGrp="1"/>
          </p:cNvSpPr>
          <p:nvPr/>
        </p:nvSpPr>
        <p:spPr>
          <a:xfrm xmlns:a="http://schemas.openxmlformats.org/drawingml/2006/main" rot="0">
            <a:off x="12520612"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34" name="Figure 1 label 33 line 1">
            <a:extLst xmlns:a="http://schemas.openxmlformats.org/drawingml/2006/main">
              <a:ext uri="{FF2B5EF4-FFF2-40B4-BE49-F238E27FC236}">
                <a16:creationId xmlns:a16="http://schemas.microsoft.com/office/drawing/2014/main" id="{985F1D60-83E7-4EC9-8556-D12712EC84BD}"/>
              </a:ext>
            </a:extLst>
          </p:cNvPr>
          <p:cNvSpPr>
            <a:spLocks xmlns:a="http://schemas.openxmlformats.org/drawingml/2006/main" noGrp="1"/>
          </p:cNvSpPr>
          <p:nvPr/>
        </p:nvSpPr>
        <p:spPr>
          <a:xfrm xmlns:a="http://schemas.openxmlformats.org/drawingml/2006/main" rot="0">
            <a:off x="13141452" y="3626811"/>
            <a:ext cx="25278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Sequencers / liquid handlers</a:t>
            </a:r>
          </a:p>
        </p:txBody>
      </p:sp>
      <p:sp>
        <p:nvSpPr>
          <p:cNvPr id="35" name="Figure 1 label 34 line 1">
            <a:extLst xmlns:a="http://schemas.openxmlformats.org/drawingml/2006/main">
              <a:ext uri="{FF2B5EF4-FFF2-40B4-BE49-F238E27FC236}">
                <a16:creationId xmlns:a16="http://schemas.microsoft.com/office/drawing/2014/main" id="{2F1BF390-9D2F-4AB5-9F25-90F00B6B8C40}"/>
              </a:ext>
            </a:extLst>
          </p:cNvPr>
          <p:cNvSpPr>
            <a:spLocks xmlns:a="http://schemas.openxmlformats.org/drawingml/2006/main" noGrp="1"/>
          </p:cNvSpPr>
          <p:nvPr/>
        </p:nvSpPr>
        <p:spPr>
          <a:xfrm xmlns:a="http://schemas.openxmlformats.org/drawingml/2006/main" rot="0">
            <a:off x="12520612"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36" name="Figure 1 label 35 line 1">
            <a:extLst xmlns:a="http://schemas.openxmlformats.org/drawingml/2006/main">
              <a:ext uri="{FF2B5EF4-FFF2-40B4-BE49-F238E27FC236}">
                <a16:creationId xmlns:a16="http://schemas.microsoft.com/office/drawing/2014/main" id="{9039EEAA-61C1-4EE3-A1C2-DAC7D2F5804B}"/>
              </a:ext>
            </a:extLst>
          </p:cNvPr>
          <p:cNvSpPr>
            <a:spLocks xmlns:a="http://schemas.openxmlformats.org/drawingml/2006/main" noGrp="1"/>
          </p:cNvSpPr>
          <p:nvPr/>
        </p:nvSpPr>
        <p:spPr>
          <a:xfrm xmlns:a="http://schemas.openxmlformats.org/drawingml/2006/main" rot="0">
            <a:off x="13141452" y="4346900"/>
            <a:ext cx="29926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 / LC-MS / mass spectrometers</a:t>
            </a:r>
          </a:p>
        </p:txBody>
      </p:sp>
      <p:sp>
        <p:nvSpPr>
          <p:cNvPr id="37" name="Figure 1 label 36 line 1">
            <a:extLst xmlns:a="http://schemas.openxmlformats.org/drawingml/2006/main">
              <a:ext uri="{FF2B5EF4-FFF2-40B4-BE49-F238E27FC236}">
                <a16:creationId xmlns:a16="http://schemas.microsoft.com/office/drawing/2014/main" id="{9C276F5A-198B-43C3-9044-2C435BE304F1}"/>
              </a:ext>
            </a:extLst>
          </p:cNvPr>
          <p:cNvSpPr>
            <a:spLocks xmlns:a="http://schemas.openxmlformats.org/drawingml/2006/main" noGrp="1"/>
          </p:cNvSpPr>
          <p:nvPr/>
        </p:nvSpPr>
        <p:spPr>
          <a:xfrm xmlns:a="http://schemas.openxmlformats.org/drawingml/2006/main" rot="0">
            <a:off x="12520612"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38" name="Figure 1 label 37 line 1">
            <a:extLst xmlns:a="http://schemas.openxmlformats.org/drawingml/2006/main">
              <a:ext uri="{FF2B5EF4-FFF2-40B4-BE49-F238E27FC236}">
                <a16:creationId xmlns:a16="http://schemas.microsoft.com/office/drawing/2014/main" id="{C43CF7D3-5151-4868-A43C-B45992CE4C5D}"/>
              </a:ext>
            </a:extLst>
          </p:cNvPr>
          <p:cNvSpPr>
            <a:spLocks xmlns:a="http://schemas.openxmlformats.org/drawingml/2006/main" noGrp="1"/>
          </p:cNvSpPr>
          <p:nvPr/>
        </p:nvSpPr>
        <p:spPr>
          <a:xfrm xmlns:a="http://schemas.openxmlformats.org/drawingml/2006/main" rot="0">
            <a:off x="13141452" y="5064803"/>
            <a:ext cx="15106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cytometers</a:t>
            </a:r>
          </a:p>
        </p:txBody>
      </p:sp>
      <p:sp>
        <p:nvSpPr>
          <p:cNvPr id="39" name="Figure 1 label 38 line 1">
            <a:extLst xmlns:a="http://schemas.openxmlformats.org/drawingml/2006/main">
              <a:ext uri="{FF2B5EF4-FFF2-40B4-BE49-F238E27FC236}">
                <a16:creationId xmlns:a16="http://schemas.microsoft.com/office/drawing/2014/main" id="{3462D40B-531E-45BB-9A36-DD97F2F6278F}"/>
              </a:ext>
            </a:extLst>
          </p:cNvPr>
          <p:cNvSpPr>
            <a:spLocks xmlns:a="http://schemas.openxmlformats.org/drawingml/2006/main" noGrp="1"/>
          </p:cNvSpPr>
          <p:nvPr/>
        </p:nvSpPr>
        <p:spPr>
          <a:xfrm xmlns:a="http://schemas.openxmlformats.org/drawingml/2006/main" rot="0">
            <a:off x="12520612"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40" name="Figure 1 label 39 line 1">
            <a:extLst xmlns:a="http://schemas.openxmlformats.org/drawingml/2006/main">
              <a:ext uri="{FF2B5EF4-FFF2-40B4-BE49-F238E27FC236}">
                <a16:creationId xmlns:a16="http://schemas.microsoft.com/office/drawing/2014/main" id="{2C1C9718-B69C-4DF9-B495-496256BE7182}"/>
              </a:ext>
            </a:extLst>
          </p:cNvPr>
          <p:cNvSpPr>
            <a:spLocks xmlns:a="http://schemas.openxmlformats.org/drawingml/2006/main" noGrp="1"/>
          </p:cNvSpPr>
          <p:nvPr/>
        </p:nvSpPr>
        <p:spPr>
          <a:xfrm xmlns:a="http://schemas.openxmlformats.org/drawingml/2006/main" rot="0">
            <a:off x="13141452" y="5784892"/>
            <a:ext cx="26754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High-content imaging systems</a:t>
            </a:r>
          </a:p>
        </p:txBody>
      </p:sp>
      <p:sp>
        <p:nvSpPr>
          <p:cNvPr id="41" name="Figure 1 label 40 line 1">
            <a:extLst xmlns:a="http://schemas.openxmlformats.org/drawingml/2006/main">
              <a:ext uri="{FF2B5EF4-FFF2-40B4-BE49-F238E27FC236}">
                <a16:creationId xmlns:a16="http://schemas.microsoft.com/office/drawing/2014/main" id="{81515A49-971F-42B7-9775-EE44F7522C0B}"/>
              </a:ext>
            </a:extLst>
          </p:cNvPr>
          <p:cNvSpPr>
            <a:spLocks xmlns:a="http://schemas.openxmlformats.org/drawingml/2006/main" noGrp="1"/>
          </p:cNvSpPr>
          <p:nvPr/>
        </p:nvSpPr>
        <p:spPr>
          <a:xfrm xmlns:a="http://schemas.openxmlformats.org/drawingml/2006/main" rot="0">
            <a:off x="12520612"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42" name="Figure 1 label 41 line 1">
            <a:extLst xmlns:a="http://schemas.openxmlformats.org/drawingml/2006/main">
              <a:ext uri="{FF2B5EF4-FFF2-40B4-BE49-F238E27FC236}">
                <a16:creationId xmlns:a16="http://schemas.microsoft.com/office/drawing/2014/main" id="{D4921D6F-3326-45E2-ADF7-2B8236CFFC08}"/>
              </a:ext>
            </a:extLst>
          </p:cNvPr>
          <p:cNvSpPr>
            <a:spLocks xmlns:a="http://schemas.openxmlformats.org/drawingml/2006/main" noGrp="1"/>
          </p:cNvSpPr>
          <p:nvPr/>
        </p:nvSpPr>
        <p:spPr>
          <a:xfrm xmlns:a="http://schemas.openxmlformats.org/drawingml/2006/main" rot="0">
            <a:off x="13141452" y="6506010"/>
            <a:ext cx="21989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Cell-culture workstations</a:t>
            </a:r>
          </a:p>
        </p:txBody>
      </p:sp>
      <p:sp>
        <p:nvSpPr>
          <p:cNvPr id="43" name="Figure 1 label 42 line 1">
            <a:extLst xmlns:a="http://schemas.openxmlformats.org/drawingml/2006/main">
              <a:ext uri="{FF2B5EF4-FFF2-40B4-BE49-F238E27FC236}">
                <a16:creationId xmlns:a16="http://schemas.microsoft.com/office/drawing/2014/main" id="{C5E8D4AF-2752-4644-8836-B9A71382D149}"/>
              </a:ext>
            </a:extLst>
          </p:cNvPr>
          <p:cNvSpPr>
            <a:spLocks xmlns:a="http://schemas.openxmlformats.org/drawingml/2006/main" noGrp="1"/>
          </p:cNvSpPr>
          <p:nvPr/>
        </p:nvSpPr>
        <p:spPr>
          <a:xfrm xmlns:a="http://schemas.openxmlformats.org/drawingml/2006/main" rot="0">
            <a:off x="12520422" y="7440635"/>
            <a:ext cx="3275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New installations + replacement + service</a:t>
            </a:r>
          </a:p>
        </p:txBody>
      </p:sp>
      <p:sp>
        <p:nvSpPr>
          <p:cNvPr id="44" name="Figure 1 label 43 line 1">
            <a:extLst xmlns:a="http://schemas.openxmlformats.org/drawingml/2006/main">
              <a:ext uri="{FF2B5EF4-FFF2-40B4-BE49-F238E27FC236}">
                <a16:creationId xmlns:a16="http://schemas.microsoft.com/office/drawing/2014/main" id="{716BF112-5A37-4199-BA9C-01886C65BD88}"/>
              </a:ext>
            </a:extLst>
          </p:cNvPr>
          <p:cNvSpPr>
            <a:spLocks xmlns:a="http://schemas.openxmlformats.org/drawingml/2006/main" noGrp="1"/>
          </p:cNvSpPr>
          <p:nvPr/>
        </p:nvSpPr>
        <p:spPr>
          <a:xfrm xmlns:a="http://schemas.openxmlformats.org/drawingml/2006/main" rot="0">
            <a:off x="5393531" y="8413000"/>
            <a:ext cx="750093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Use one product taxonomy; retain the scope of each market estimate.</a:t>
            </a:r>
          </a:p>
        </p:txBody>
      </p:sp>
    </p:spTree>
    <p:extLst>
      <p:ext uri="{BB962C8B-B14F-4D97-AF65-F5344CB8AC3E}">
        <p14:creationId xmlns:p14="http://schemas.microsoft.com/office/powerpoint/2010/main" val="13893600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378D6F83-1C80-453E-9EE9-7E5EFDC4BDC3}"/>
              </a:ext>
            </a:extLst>
          </p:cNvPr>
          <p:cNvPicPr>
            <a:picLocks xmlns:a="http://schemas.openxmlformats.org/drawingml/2006/main" noChangeAspect="1"/>
          </p:cNvPicPr>
          <p:nvPr/>
        </p:nvPicPr>
        <p:blipFill>
          <a:blip xmlns:r="http://schemas.openxmlformats.org/officeDocument/2006/relationships" xmlns:a="http://schemas.openxmlformats.org/drawingml/2006/main" r:embed="Rf0b47333fb3e41b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2 label 1 line 1">
            <a:extLst xmlns:a="http://schemas.openxmlformats.org/drawingml/2006/main">
              <a:ext uri="{FF2B5EF4-FFF2-40B4-BE49-F238E27FC236}">
                <a16:creationId xmlns:a16="http://schemas.microsoft.com/office/drawing/2014/main" id="{568B886E-E2D8-4492-BE71-3AC5329DC478}"/>
              </a:ext>
            </a:extLst>
          </p:cNvPr>
          <p:cNvSpPr>
            <a:spLocks xmlns:a="http://schemas.openxmlformats.org/drawingml/2006/main" noGrp="1"/>
          </p:cNvSpPr>
          <p:nvPr/>
        </p:nvSpPr>
        <p:spPr>
          <a:xfrm xmlns:a="http://schemas.openxmlformats.org/drawingml/2006/main" rot="0">
            <a:off x="3894019" y="7907353"/>
            <a:ext cx="1256209"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Global LST</a:t>
            </a:r>
          </a:p>
        </p:txBody>
      </p:sp>
      <p:sp>
        <p:nvSpPr>
          <p:cNvPr id="3" name="Figure 2 label 2 line 1">
            <a:extLst xmlns:a="http://schemas.openxmlformats.org/drawingml/2006/main">
              <a:ext uri="{FF2B5EF4-FFF2-40B4-BE49-F238E27FC236}">
                <a16:creationId xmlns:a16="http://schemas.microsoft.com/office/drawing/2014/main" id="{0F831571-AE6D-49A6-8CCE-51E4253834FA}"/>
              </a:ext>
            </a:extLst>
          </p:cNvPr>
          <p:cNvSpPr>
            <a:spLocks xmlns:a="http://schemas.openxmlformats.org/drawingml/2006/main" noGrp="1"/>
          </p:cNvSpPr>
          <p:nvPr/>
        </p:nvSpPr>
        <p:spPr>
          <a:xfrm xmlns:a="http://schemas.openxmlformats.org/drawingml/2006/main" rot="0">
            <a:off x="8413774" y="7907353"/>
            <a:ext cx="1194445"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China LST</a:t>
            </a:r>
          </a:p>
        </p:txBody>
      </p:sp>
      <p:sp>
        <p:nvSpPr>
          <p:cNvPr id="4" name="Figure 2 label 3 line 1">
            <a:extLst xmlns:a="http://schemas.openxmlformats.org/drawingml/2006/main">
              <a:ext uri="{FF2B5EF4-FFF2-40B4-BE49-F238E27FC236}">
                <a16:creationId xmlns:a16="http://schemas.microsoft.com/office/drawing/2014/main" id="{7FFBCB70-320C-43E1-BA6B-C48E2692BDF0}"/>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2 label 4 line 1">
            <a:extLst xmlns:a="http://schemas.openxmlformats.org/drawingml/2006/main">
              <a:ext uri="{FF2B5EF4-FFF2-40B4-BE49-F238E27FC236}">
                <a16:creationId xmlns:a16="http://schemas.microsoft.com/office/drawing/2014/main" id="{4687CCA3-1E1C-4B18-8926-8400C8170F0D}"/>
              </a:ext>
            </a:extLst>
          </p:cNvPr>
          <p:cNvSpPr>
            <a:spLocks xmlns:a="http://schemas.openxmlformats.org/drawingml/2006/main" noGrp="1"/>
          </p:cNvSpPr>
          <p:nvPr/>
        </p:nvSpPr>
        <p:spPr>
          <a:xfrm xmlns:a="http://schemas.openxmlformats.org/drawingml/2006/main" rot="0">
            <a:off x="1334294" y="65236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6" name="Figure 2 label 5 line 1">
            <a:extLst xmlns:a="http://schemas.openxmlformats.org/drawingml/2006/main">
              <a:ext uri="{FF2B5EF4-FFF2-40B4-BE49-F238E27FC236}">
                <a16:creationId xmlns:a16="http://schemas.microsoft.com/office/drawing/2014/main" id="{9147059A-56AB-4428-8B52-4D91AF3E9521}"/>
              </a:ext>
            </a:extLst>
          </p:cNvPr>
          <p:cNvSpPr>
            <a:spLocks xmlns:a="http://schemas.openxmlformats.org/drawingml/2006/main" noGrp="1"/>
          </p:cNvSpPr>
          <p:nvPr/>
        </p:nvSpPr>
        <p:spPr>
          <a:xfrm xmlns:a="http://schemas.openxmlformats.org/drawingml/2006/main" rot="0">
            <a:off x="1334294" y="534958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2 label 6 line 1">
            <a:extLst xmlns:a="http://schemas.openxmlformats.org/drawingml/2006/main">
              <a:ext uri="{FF2B5EF4-FFF2-40B4-BE49-F238E27FC236}">
                <a16:creationId xmlns:a16="http://schemas.microsoft.com/office/drawing/2014/main" id="{AA8DAE7A-A5B5-4F7D-A7EB-01EF22570333}"/>
              </a:ext>
            </a:extLst>
          </p:cNvPr>
          <p:cNvSpPr>
            <a:spLocks xmlns:a="http://schemas.openxmlformats.org/drawingml/2006/main" noGrp="1"/>
          </p:cNvSpPr>
          <p:nvPr/>
        </p:nvSpPr>
        <p:spPr>
          <a:xfrm xmlns:a="http://schemas.openxmlformats.org/drawingml/2006/main" rot="0">
            <a:off x="1334294" y="417552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8" name="Figure 2 label 7 line 1">
            <a:extLst xmlns:a="http://schemas.openxmlformats.org/drawingml/2006/main">
              <a:ext uri="{FF2B5EF4-FFF2-40B4-BE49-F238E27FC236}">
                <a16:creationId xmlns:a16="http://schemas.microsoft.com/office/drawing/2014/main" id="{4DDFC2B6-68FA-457B-85C7-089545FAC46D}"/>
              </a:ext>
            </a:extLst>
          </p:cNvPr>
          <p:cNvSpPr>
            <a:spLocks xmlns:a="http://schemas.openxmlformats.org/drawingml/2006/main" noGrp="1"/>
          </p:cNvSpPr>
          <p:nvPr/>
        </p:nvSpPr>
        <p:spPr>
          <a:xfrm xmlns:a="http://schemas.openxmlformats.org/drawingml/2006/main" rot="0">
            <a:off x="1334294" y="300146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9" name="Figure 2 label 8 line 1">
            <a:extLst xmlns:a="http://schemas.openxmlformats.org/drawingml/2006/main">
              <a:ext uri="{FF2B5EF4-FFF2-40B4-BE49-F238E27FC236}">
                <a16:creationId xmlns:a16="http://schemas.microsoft.com/office/drawing/2014/main" id="{FB7D24B9-D1C8-4617-ABB9-3A640A153799}"/>
              </a:ext>
            </a:extLst>
          </p:cNvPr>
          <p:cNvSpPr>
            <a:spLocks xmlns:a="http://schemas.openxmlformats.org/drawingml/2006/main" noGrp="1"/>
          </p:cNvSpPr>
          <p:nvPr/>
        </p:nvSpPr>
        <p:spPr>
          <a:xfrm xmlns:a="http://schemas.openxmlformats.org/drawingml/2006/main" rot="16200000">
            <a:off x="962600" y="4970145"/>
            <a:ext cx="70633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US$bn</a:t>
            </a:r>
          </a:p>
        </p:txBody>
      </p:sp>
      <p:sp>
        <p:nvSpPr>
          <p:cNvPr id="10" name="Figure 2 label 9 line 1">
            <a:extLst xmlns:a="http://schemas.openxmlformats.org/drawingml/2006/main">
              <a:ext uri="{FF2B5EF4-FFF2-40B4-BE49-F238E27FC236}">
                <a16:creationId xmlns:a16="http://schemas.microsoft.com/office/drawing/2014/main" id="{9F9CB412-7090-4C16-9CEE-2C30A9E726B6}"/>
              </a:ext>
            </a:extLst>
          </p:cNvPr>
          <p:cNvSpPr>
            <a:spLocks xmlns:a="http://schemas.openxmlformats.org/drawingml/2006/main" noGrp="1"/>
          </p:cNvSpPr>
          <p:nvPr/>
        </p:nvSpPr>
        <p:spPr>
          <a:xfrm xmlns:a="http://schemas.openxmlformats.org/drawingml/2006/main" rot="0">
            <a:off x="4171807" y="6049458"/>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26.4</a:t>
            </a:r>
          </a:p>
        </p:txBody>
      </p:sp>
      <p:sp>
        <p:nvSpPr>
          <p:cNvPr id="11" name="Figure 2 label 10 line 1">
            <a:extLst xmlns:a="http://schemas.openxmlformats.org/drawingml/2006/main">
              <a:ext uri="{FF2B5EF4-FFF2-40B4-BE49-F238E27FC236}">
                <a16:creationId xmlns:a16="http://schemas.microsoft.com/office/drawing/2014/main" id="{5D2C9C21-E7C1-4057-B6C2-1713407B7CFC}"/>
              </a:ext>
            </a:extLst>
          </p:cNvPr>
          <p:cNvSpPr>
            <a:spLocks xmlns:a="http://schemas.openxmlformats.org/drawingml/2006/main" noGrp="1"/>
          </p:cNvSpPr>
          <p:nvPr/>
        </p:nvSpPr>
        <p:spPr>
          <a:xfrm xmlns:a="http://schemas.openxmlformats.org/drawingml/2006/main" rot="0">
            <a:off x="4212933" y="364508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15.1</a:t>
            </a:r>
          </a:p>
        </p:txBody>
      </p:sp>
      <p:sp>
        <p:nvSpPr>
          <p:cNvPr id="12" name="Figure 2 label 11 line 1">
            <a:extLst xmlns:a="http://schemas.openxmlformats.org/drawingml/2006/main">
              <a:ext uri="{FF2B5EF4-FFF2-40B4-BE49-F238E27FC236}">
                <a16:creationId xmlns:a16="http://schemas.microsoft.com/office/drawing/2014/main" id="{1AA7A67E-289B-479F-A7EC-E09B3DC2098D}"/>
              </a:ext>
            </a:extLst>
          </p:cNvPr>
          <p:cNvSpPr>
            <a:spLocks xmlns:a="http://schemas.openxmlformats.org/drawingml/2006/main" noGrp="1"/>
          </p:cNvSpPr>
          <p:nvPr/>
        </p:nvSpPr>
        <p:spPr>
          <a:xfrm xmlns:a="http://schemas.openxmlformats.org/drawingml/2006/main" rot="0">
            <a:off x="4109969" y="2416499"/>
            <a:ext cx="82430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41.5</a:t>
            </a:r>
          </a:p>
        </p:txBody>
      </p:sp>
      <p:sp>
        <p:nvSpPr>
          <p:cNvPr id="13" name="Figure 2 label 12 line 1">
            <a:extLst xmlns:a="http://schemas.openxmlformats.org/drawingml/2006/main">
              <a:ext uri="{FF2B5EF4-FFF2-40B4-BE49-F238E27FC236}">
                <a16:creationId xmlns:a16="http://schemas.microsoft.com/office/drawing/2014/main" id="{17933878-890E-42BE-9E55-132AB6A67D9E}"/>
              </a:ext>
            </a:extLst>
          </p:cNvPr>
          <p:cNvSpPr>
            <a:spLocks xmlns:a="http://schemas.openxmlformats.org/drawingml/2006/main" noGrp="1"/>
          </p:cNvSpPr>
          <p:nvPr/>
        </p:nvSpPr>
        <p:spPr>
          <a:xfrm xmlns:a="http://schemas.openxmlformats.org/drawingml/2006/main" rot="0">
            <a:off x="8735690" y="7329182"/>
            <a:ext cx="550614"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4.6</a:t>
            </a:r>
          </a:p>
        </p:txBody>
      </p:sp>
      <p:sp>
        <p:nvSpPr>
          <p:cNvPr id="14" name="Figure 2 label 13 line 1">
            <a:extLst xmlns:a="http://schemas.openxmlformats.org/drawingml/2006/main">
              <a:ext uri="{FF2B5EF4-FFF2-40B4-BE49-F238E27FC236}">
                <a16:creationId xmlns:a16="http://schemas.microsoft.com/office/drawing/2014/main" id="{46C56E95-5DDF-45FE-8900-D62BDF3CEB55}"/>
              </a:ext>
            </a:extLst>
          </p:cNvPr>
          <p:cNvSpPr>
            <a:spLocks xmlns:a="http://schemas.openxmlformats.org/drawingml/2006/main" noGrp="1"/>
          </p:cNvSpPr>
          <p:nvPr/>
        </p:nvSpPr>
        <p:spPr>
          <a:xfrm xmlns:a="http://schemas.openxmlformats.org/drawingml/2006/main" rot="0">
            <a:off x="8768035" y="6908974"/>
            <a:ext cx="48592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3.1</a:t>
            </a:r>
          </a:p>
        </p:txBody>
      </p:sp>
      <p:sp>
        <p:nvSpPr>
          <p:cNvPr id="15" name="Figure 2 label 14 line 1">
            <a:extLst xmlns:a="http://schemas.openxmlformats.org/drawingml/2006/main">
              <a:ext uri="{FF2B5EF4-FFF2-40B4-BE49-F238E27FC236}">
                <a16:creationId xmlns:a16="http://schemas.microsoft.com/office/drawing/2014/main" id="{7781902A-2442-4CA4-8AE9-A72B88A6EA6B}"/>
              </a:ext>
            </a:extLst>
          </p:cNvPr>
          <p:cNvSpPr>
            <a:spLocks xmlns:a="http://schemas.openxmlformats.org/drawingml/2006/main" noGrp="1"/>
          </p:cNvSpPr>
          <p:nvPr/>
        </p:nvSpPr>
        <p:spPr>
          <a:xfrm xmlns:a="http://schemas.openxmlformats.org/drawingml/2006/main" rot="0">
            <a:off x="8687098" y="6384822"/>
            <a:ext cx="64779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7.7</a:t>
            </a:r>
          </a:p>
        </p:txBody>
      </p:sp>
      <p:sp>
        <p:nvSpPr>
          <p:cNvPr id="16" name="Figure 2 label 15 line 1">
            <a:extLst xmlns:a="http://schemas.openxmlformats.org/drawingml/2006/main">
              <a:ext uri="{FF2B5EF4-FFF2-40B4-BE49-F238E27FC236}">
                <a16:creationId xmlns:a16="http://schemas.microsoft.com/office/drawing/2014/main" id="{E8B96BF4-66B1-4DE0-BA7A-12B077B72F8B}"/>
              </a:ext>
            </a:extLst>
          </p:cNvPr>
          <p:cNvSpPr>
            <a:spLocks xmlns:a="http://schemas.openxmlformats.org/drawingml/2006/main" noGrp="1"/>
          </p:cNvSpPr>
          <p:nvPr/>
        </p:nvSpPr>
        <p:spPr>
          <a:xfrm xmlns:a="http://schemas.openxmlformats.org/drawingml/2006/main" rot="0">
            <a:off x="2438876" y="2096130"/>
            <a:ext cx="22581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Research biological reagents</a:t>
            </a:r>
          </a:p>
        </p:txBody>
      </p:sp>
      <p:sp>
        <p:nvSpPr>
          <p:cNvPr id="17" name="Figure 2 label 16 line 1">
            <a:extLst xmlns:a="http://schemas.openxmlformats.org/drawingml/2006/main">
              <a:ext uri="{FF2B5EF4-FFF2-40B4-BE49-F238E27FC236}">
                <a16:creationId xmlns:a16="http://schemas.microsoft.com/office/drawing/2014/main" id="{F979BF94-73D8-4081-93CF-42274F45491C}"/>
              </a:ext>
            </a:extLst>
          </p:cNvPr>
          <p:cNvSpPr>
            <a:spLocks xmlns:a="http://schemas.openxmlformats.org/drawingml/2006/main" noGrp="1"/>
          </p:cNvSpPr>
          <p:nvPr/>
        </p:nvSpPr>
        <p:spPr>
          <a:xfrm xmlns:a="http://schemas.openxmlformats.org/drawingml/2006/main" rot="0">
            <a:off x="5388516" y="2096130"/>
            <a:ext cx="304993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instruments + consumables</a:t>
            </a:r>
          </a:p>
        </p:txBody>
      </p:sp>
      <p:sp>
        <p:nvSpPr>
          <p:cNvPr id="18" name="Figure 2 label 17 line 1">
            <a:extLst xmlns:a="http://schemas.openxmlformats.org/drawingml/2006/main">
              <a:ext uri="{FF2B5EF4-FFF2-40B4-BE49-F238E27FC236}">
                <a16:creationId xmlns:a16="http://schemas.microsoft.com/office/drawing/2014/main" id="{11AE446B-C5E9-4E40-B8F8-10F4E77092B8}"/>
              </a:ext>
            </a:extLst>
          </p:cNvPr>
          <p:cNvSpPr>
            <a:spLocks xmlns:a="http://schemas.openxmlformats.org/drawingml/2006/main" noGrp="1"/>
          </p:cNvSpPr>
          <p:nvPr/>
        </p:nvSpPr>
        <p:spPr>
          <a:xfrm xmlns:a="http://schemas.openxmlformats.org/drawingml/2006/main" rot="0">
            <a:off x="991870" y="421675"/>
            <a:ext cx="616733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02  2025 LST under one F&amp;S definition</a:t>
            </a:r>
          </a:p>
        </p:txBody>
      </p:sp>
      <p:sp>
        <p:nvSpPr>
          <p:cNvPr id="19" name="Figure 2 label 18 line 1">
            <a:extLst xmlns:a="http://schemas.openxmlformats.org/drawingml/2006/main">
              <a:ext uri="{FF2B5EF4-FFF2-40B4-BE49-F238E27FC236}">
                <a16:creationId xmlns:a16="http://schemas.microsoft.com/office/drawing/2014/main" id="{DC797FBD-A94C-4741-B5DF-D0A7CB91FFC4}"/>
              </a:ext>
            </a:extLst>
          </p:cNvPr>
          <p:cNvSpPr>
            <a:spLocks xmlns:a="http://schemas.openxmlformats.org/drawingml/2006/main" noGrp="1"/>
          </p:cNvSpPr>
          <p:nvPr/>
        </p:nvSpPr>
        <p:spPr>
          <a:xfrm xmlns:a="http://schemas.openxmlformats.org/drawingml/2006/main" rot="0">
            <a:off x="15729149" y="661601"/>
            <a:ext cx="100290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HISTORICAL</a:t>
            </a:r>
          </a:p>
        </p:txBody>
      </p:sp>
      <p:sp>
        <p:nvSpPr>
          <p:cNvPr id="20" name="Figure 2 label 19 line 1">
            <a:extLst xmlns:a="http://schemas.openxmlformats.org/drawingml/2006/main">
              <a:ext uri="{FF2B5EF4-FFF2-40B4-BE49-F238E27FC236}">
                <a16:creationId xmlns:a16="http://schemas.microsoft.com/office/drawing/2014/main" id="{2FEB5221-B896-4254-83D6-A6DA2E35F859}"/>
              </a:ext>
            </a:extLst>
          </p:cNvPr>
          <p:cNvSpPr>
            <a:spLocks xmlns:a="http://schemas.openxmlformats.org/drawingml/2006/main" noGrp="1"/>
          </p:cNvSpPr>
          <p:nvPr/>
        </p:nvSpPr>
        <p:spPr>
          <a:xfrm xmlns:a="http://schemas.openxmlformats.org/drawingml/2006/main" rot="0">
            <a:off x="998220" y="1249487"/>
            <a:ext cx="83507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2025 F&amp;S estimates commissioned for ACRO’s filing. A defined scope, not a broad-industry TAM.</a:t>
            </a:r>
          </a:p>
        </p:txBody>
      </p:sp>
      <p:sp>
        <p:nvSpPr>
          <p:cNvPr id="21" name="Figure 2 label 20 line 1">
            <a:extLst xmlns:a="http://schemas.openxmlformats.org/drawingml/2006/main">
              <a:ext uri="{FF2B5EF4-FFF2-40B4-BE49-F238E27FC236}">
                <a16:creationId xmlns:a16="http://schemas.microsoft.com/office/drawing/2014/main" id="{4DCCDBFA-647B-4148-94AE-0157CAA7A12F}"/>
              </a:ext>
            </a:extLst>
          </p:cNvPr>
          <p:cNvSpPr>
            <a:spLocks xmlns:a="http://schemas.openxmlformats.org/drawingml/2006/main" noGrp="1"/>
          </p:cNvSpPr>
          <p:nvPr/>
        </p:nvSpPr>
        <p:spPr>
          <a:xfrm xmlns:a="http://schemas.openxmlformats.org/drawingml/2006/main" rot="0">
            <a:off x="999173" y="9256035"/>
            <a:ext cx="789131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are the residual. Comparable instrument and consumable splits were not separately available.</a:t>
            </a:r>
          </a:p>
        </p:txBody>
      </p:sp>
      <p:sp>
        <p:nvSpPr>
          <p:cNvPr id="22" name="Figure 2 label 21 line 1">
            <a:extLst xmlns:a="http://schemas.openxmlformats.org/drawingml/2006/main">
              <a:ext uri="{FF2B5EF4-FFF2-40B4-BE49-F238E27FC236}">
                <a16:creationId xmlns:a16="http://schemas.microsoft.com/office/drawing/2014/main" id="{996963D5-75EB-455D-83F8-4DD9FA35AE76}"/>
              </a:ext>
            </a:extLst>
          </p:cNvPr>
          <p:cNvSpPr>
            <a:spLocks xmlns:a="http://schemas.openxmlformats.org/drawingml/2006/main" noGrp="1"/>
          </p:cNvSpPr>
          <p:nvPr/>
        </p:nvSpPr>
        <p:spPr>
          <a:xfrm xmlns:a="http://schemas.openxmlformats.org/drawingml/2006/main" rot="0">
            <a:off x="1000316" y="9675546"/>
            <a:ext cx="6549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ACROBiosystems HKEX application, 30 Sep 2026, printed pp. 65 and 67; links in SOURCES.md.</a:t>
            </a:r>
          </a:p>
        </p:txBody>
      </p:sp>
      <p:sp>
        <p:nvSpPr>
          <p:cNvPr id="23" name="Figure 2 label 22 line 1">
            <a:extLst xmlns:a="http://schemas.openxmlformats.org/drawingml/2006/main">
              <a:ext uri="{FF2B5EF4-FFF2-40B4-BE49-F238E27FC236}">
                <a16:creationId xmlns:a16="http://schemas.microsoft.com/office/drawing/2014/main" id="{6930D19B-181E-48AE-BDA7-8AB496AF45B9}"/>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24" name="Figure 2 label 23 line 1">
            <a:extLst xmlns:a="http://schemas.openxmlformats.org/drawingml/2006/main">
              <a:ext uri="{FF2B5EF4-FFF2-40B4-BE49-F238E27FC236}">
                <a16:creationId xmlns:a16="http://schemas.microsoft.com/office/drawing/2014/main" id="{281BC241-B7E5-4E00-A5EA-23C9CA1A864B}"/>
              </a:ext>
            </a:extLst>
          </p:cNvPr>
          <p:cNvSpPr>
            <a:spLocks xmlns:a="http://schemas.openxmlformats.org/drawingml/2006/main" noGrp="1"/>
          </p:cNvSpPr>
          <p:nvPr/>
        </p:nvSpPr>
        <p:spPr>
          <a:xfrm xmlns:a="http://schemas.openxmlformats.org/drawingml/2006/main" rot="0">
            <a:off x="13159106" y="3178951"/>
            <a:ext cx="2897882"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China share within F&amp;S scope</a:t>
            </a:r>
          </a:p>
        </p:txBody>
      </p:sp>
      <p:sp>
        <p:nvSpPr>
          <p:cNvPr id="25" name="Figure 2 label 24 line 1">
            <a:extLst xmlns:a="http://schemas.openxmlformats.org/drawingml/2006/main">
              <a:ext uri="{FF2B5EF4-FFF2-40B4-BE49-F238E27FC236}">
                <a16:creationId xmlns:a16="http://schemas.microsoft.com/office/drawing/2014/main" id="{450A2BD9-FA68-482C-82C7-93C1AF6D0188}"/>
              </a:ext>
            </a:extLst>
          </p:cNvPr>
          <p:cNvSpPr>
            <a:spLocks xmlns:a="http://schemas.openxmlformats.org/drawingml/2006/main" noGrp="1"/>
          </p:cNvSpPr>
          <p:nvPr/>
        </p:nvSpPr>
        <p:spPr>
          <a:xfrm xmlns:a="http://schemas.openxmlformats.org/drawingml/2006/main" rot="0">
            <a:off x="13143866" y="3660147"/>
            <a:ext cx="2047180" cy="73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4625" b="1">
                <a:solidFill>
                  <a:srgbClr val="00355F"/>
                </a:solidFill>
                <a:latin typeface="Arial Unicode MS"/>
                <a:ea typeface="Arial Unicode MS"/>
                <a:cs typeface="Arial Unicode MS"/>
              </a:defRPr>
            </a:pPr>
            <a:r>
              <a:rPr sz="4625" b="1">
                <a:solidFill>
                  <a:srgbClr val="00355F"/>
                </a:solidFill>
                <a:latin typeface="Arial Unicode MS"/>
                <a:ea typeface="Arial Unicode MS"/>
                <a:cs typeface="Arial Unicode MS"/>
              </a:rPr>
              <a:t>18.6%</a:t>
            </a:r>
          </a:p>
        </p:txBody>
      </p:sp>
      <p:sp>
        <p:nvSpPr>
          <p:cNvPr id="26" name="Figure 2 label 25 line 1">
            <a:extLst xmlns:a="http://schemas.openxmlformats.org/drawingml/2006/main">
              <a:ext uri="{FF2B5EF4-FFF2-40B4-BE49-F238E27FC236}">
                <a16:creationId xmlns:a16="http://schemas.microsoft.com/office/drawing/2014/main" id="{3C08204C-CC72-4F46-B65F-47BDDD09558B}"/>
              </a:ext>
            </a:extLst>
          </p:cNvPr>
          <p:cNvSpPr>
            <a:spLocks xmlns:a="http://schemas.openxmlformats.org/drawingml/2006/main" noGrp="1"/>
          </p:cNvSpPr>
          <p:nvPr/>
        </p:nvSpPr>
        <p:spPr>
          <a:xfrm xmlns:a="http://schemas.openxmlformats.org/drawingml/2006/main" rot="0">
            <a:off x="13159740" y="4882744"/>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7.7 / 41.5</a:t>
            </a:r>
          </a:p>
        </p:txBody>
      </p:sp>
      <p:sp>
        <p:nvSpPr>
          <p:cNvPr id="27" name="Figure 2 label 26 line 1">
            <a:extLst xmlns:a="http://schemas.openxmlformats.org/drawingml/2006/main">
              <a:ext uri="{FF2B5EF4-FFF2-40B4-BE49-F238E27FC236}">
                <a16:creationId xmlns:a16="http://schemas.microsoft.com/office/drawing/2014/main" id="{E3CA4AE4-96B6-4FA1-8472-CC1E3F6F235D}"/>
              </a:ext>
            </a:extLst>
          </p:cNvPr>
          <p:cNvSpPr>
            <a:spLocks xmlns:a="http://schemas.openxmlformats.org/drawingml/2006/main" noGrp="1"/>
          </p:cNvSpPr>
          <p:nvPr/>
        </p:nvSpPr>
        <p:spPr>
          <a:xfrm xmlns:a="http://schemas.openxmlformats.org/drawingml/2006/main" rot="0">
            <a:off x="13159740" y="5084323"/>
            <a:ext cx="26336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Not vendor revenue exposure</a:t>
            </a:r>
          </a:p>
        </p:txBody>
      </p:sp>
      <p:sp>
        <p:nvSpPr>
          <p:cNvPr id="28" name="Figure 2 label 27 line 1">
            <a:extLst xmlns:a="http://schemas.openxmlformats.org/drawingml/2006/main">
              <a:ext uri="{FF2B5EF4-FFF2-40B4-BE49-F238E27FC236}">
                <a16:creationId xmlns:a16="http://schemas.microsoft.com/office/drawing/2014/main" id="{21EA0F03-0A35-440A-A389-03646104DF68}"/>
              </a:ext>
            </a:extLst>
          </p:cNvPr>
          <p:cNvSpPr>
            <a:spLocks xmlns:a="http://schemas.openxmlformats.org/drawingml/2006/main" noGrp="1"/>
          </p:cNvSpPr>
          <p:nvPr/>
        </p:nvSpPr>
        <p:spPr>
          <a:xfrm xmlns:a="http://schemas.openxmlformats.org/drawingml/2006/main" rot="0">
            <a:off x="12885420" y="6436769"/>
            <a:ext cx="274945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Issuer-commissioned estimate.</a:t>
            </a:r>
          </a:p>
        </p:txBody>
      </p:sp>
      <p:sp>
        <p:nvSpPr>
          <p:cNvPr id="29" name="Figure 2 label 28 line 1">
            <a:extLst xmlns:a="http://schemas.openxmlformats.org/drawingml/2006/main">
              <a:ext uri="{FF2B5EF4-FFF2-40B4-BE49-F238E27FC236}">
                <a16:creationId xmlns:a16="http://schemas.microsoft.com/office/drawing/2014/main" id="{2CA1EF32-6F58-4EC4-9A0B-37BF401FE800}"/>
              </a:ext>
            </a:extLst>
          </p:cNvPr>
          <p:cNvSpPr>
            <a:spLocks xmlns:a="http://schemas.openxmlformats.org/drawingml/2006/main" noGrp="1"/>
          </p:cNvSpPr>
          <p:nvPr/>
        </p:nvSpPr>
        <p:spPr>
          <a:xfrm xmlns:a="http://schemas.openxmlformats.org/drawingml/2006/main" rot="0">
            <a:off x="12885420" y="6638348"/>
            <a:ext cx="2538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Broader markets and vendor</a:t>
            </a:r>
          </a:p>
        </p:txBody>
      </p:sp>
      <p:sp>
        <p:nvSpPr>
          <p:cNvPr id="30" name="Figure 2 label 29 line 1">
            <a:extLst xmlns:a="http://schemas.openxmlformats.org/drawingml/2006/main">
              <a:ext uri="{FF2B5EF4-FFF2-40B4-BE49-F238E27FC236}">
                <a16:creationId xmlns:a16="http://schemas.microsoft.com/office/drawing/2014/main" id="{5C2773DC-237D-4B17-AA8A-BC32C112D592}"/>
              </a:ext>
            </a:extLst>
          </p:cNvPr>
          <p:cNvSpPr>
            <a:spLocks xmlns:a="http://schemas.openxmlformats.org/drawingml/2006/main" noGrp="1"/>
          </p:cNvSpPr>
          <p:nvPr/>
        </p:nvSpPr>
        <p:spPr>
          <a:xfrm xmlns:a="http://schemas.openxmlformats.org/drawingml/2006/main" rot="0">
            <a:off x="12885420" y="6842713"/>
            <a:ext cx="3014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China revenues use other scopes.</a:t>
            </a:r>
          </a:p>
        </p:txBody>
      </p:sp>
    </p:spTree>
    <p:extLst>
      <p:ext uri="{BB962C8B-B14F-4D97-AF65-F5344CB8AC3E}">
        <p14:creationId xmlns:p14="http://schemas.microsoft.com/office/powerpoint/2010/main" val="20654964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8" name="">
            <a:extLst xmlns:a="http://schemas.openxmlformats.org/drawingml/2006/main">
              <a:ext uri="{FF2B5EF4-FFF2-40B4-BE49-F238E27FC236}">
                <a16:creationId xmlns:a16="http://schemas.microsoft.com/office/drawing/2014/main" id="{1F35E725-A848-498D-8BA7-EA48773F8FB2}"/>
              </a:ext>
            </a:extLst>
          </p:cNvPr>
          <p:cNvPicPr>
            <a:picLocks xmlns:a="http://schemas.openxmlformats.org/drawingml/2006/main" noChangeAspect="1"/>
          </p:cNvPicPr>
          <p:nvPr/>
        </p:nvPicPr>
        <p:blipFill>
          <a:blip xmlns:r="http://schemas.openxmlformats.org/officeDocument/2006/relationships" xmlns:a="http://schemas.openxmlformats.org/drawingml/2006/main" r:embed="Rc4abb820134643b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3 label 1 line 1">
            <a:extLst xmlns:a="http://schemas.openxmlformats.org/drawingml/2006/main">
              <a:ext uri="{FF2B5EF4-FFF2-40B4-BE49-F238E27FC236}">
                <a16:creationId xmlns:a16="http://schemas.microsoft.com/office/drawing/2014/main" id="{A16FAD7B-0B43-49C1-9921-BEC7BB07AF36}"/>
              </a:ext>
            </a:extLst>
          </p:cNvPr>
          <p:cNvSpPr>
            <a:spLocks xmlns:a="http://schemas.openxmlformats.org/drawingml/2006/main" noGrp="1"/>
          </p:cNvSpPr>
          <p:nvPr/>
        </p:nvSpPr>
        <p:spPr>
          <a:xfrm xmlns:a="http://schemas.openxmlformats.org/drawingml/2006/main" rot="0">
            <a:off x="991870" y="421675"/>
            <a:ext cx="764029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03  Customer workflows across life science tools</a:t>
            </a:r>
          </a:p>
        </p:txBody>
      </p:sp>
      <p:sp>
        <p:nvSpPr>
          <p:cNvPr id="3" name="Figure 3 label 2 line 1">
            <a:extLst xmlns:a="http://schemas.openxmlformats.org/drawingml/2006/main">
              <a:ext uri="{FF2B5EF4-FFF2-40B4-BE49-F238E27FC236}">
                <a16:creationId xmlns:a16="http://schemas.microsoft.com/office/drawing/2014/main" id="{9A40DB4B-2D8F-471B-A141-A7E0CCD313E3}"/>
              </a:ext>
            </a:extLst>
          </p:cNvPr>
          <p:cNvSpPr>
            <a:spLocks xmlns:a="http://schemas.openxmlformats.org/drawingml/2006/main" noGrp="1"/>
          </p:cNvSpPr>
          <p:nvPr/>
        </p:nvSpPr>
        <p:spPr>
          <a:xfrm xmlns:a="http://schemas.openxmlformats.org/drawingml/2006/main" rot="0">
            <a:off x="15842184" y="661601"/>
            <a:ext cx="77683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USE MAP</a:t>
            </a:r>
          </a:p>
        </p:txBody>
      </p:sp>
      <p:sp>
        <p:nvSpPr>
          <p:cNvPr id="4" name="Figure 3 label 3 line 1">
            <a:extLst xmlns:a="http://schemas.openxmlformats.org/drawingml/2006/main">
              <a:ext uri="{FF2B5EF4-FFF2-40B4-BE49-F238E27FC236}">
                <a16:creationId xmlns:a16="http://schemas.microsoft.com/office/drawing/2014/main" id="{E05B7A30-5B3B-4FA6-8E46-2B8448546DB4}"/>
              </a:ext>
            </a:extLst>
          </p:cNvPr>
          <p:cNvSpPr>
            <a:spLocks xmlns:a="http://schemas.openxmlformats.org/drawingml/2006/main" noGrp="1"/>
          </p:cNvSpPr>
          <p:nvPr/>
        </p:nvSpPr>
        <p:spPr>
          <a:xfrm xmlns:a="http://schemas.openxmlformats.org/drawingml/2006/main" rot="0">
            <a:off x="998220" y="1249487"/>
            <a:ext cx="72503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qualitative workflow map. Customer purchasing shares have not been established.</a:t>
            </a:r>
          </a:p>
        </p:txBody>
      </p:sp>
      <p:sp>
        <p:nvSpPr>
          <p:cNvPr id="5" name="Figure 3 label 4 line 1">
            <a:extLst xmlns:a="http://schemas.openxmlformats.org/drawingml/2006/main">
              <a:ext uri="{FF2B5EF4-FFF2-40B4-BE49-F238E27FC236}">
                <a16:creationId xmlns:a16="http://schemas.microsoft.com/office/drawing/2014/main" id="{5FA4CE36-73C2-4B9A-B8CC-7A94B841D871}"/>
              </a:ext>
            </a:extLst>
          </p:cNvPr>
          <p:cNvSpPr>
            <a:spLocks xmlns:a="http://schemas.openxmlformats.org/drawingml/2006/main" noGrp="1"/>
          </p:cNvSpPr>
          <p:nvPr/>
        </p:nvSpPr>
        <p:spPr>
          <a:xfrm xmlns:a="http://schemas.openxmlformats.org/drawingml/2006/main" rot="0">
            <a:off x="999173" y="9255019"/>
            <a:ext cx="84375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Food, environmental and chemical-analysis uses excluded. Research instruments exclude clinical IVD analyzers.</a:t>
            </a:r>
          </a:p>
        </p:txBody>
      </p:sp>
      <p:sp>
        <p:nvSpPr>
          <p:cNvPr id="6" name="Figure 3 label 5 line 1">
            <a:extLst xmlns:a="http://schemas.openxmlformats.org/drawingml/2006/main">
              <a:ext uri="{FF2B5EF4-FFF2-40B4-BE49-F238E27FC236}">
                <a16:creationId xmlns:a16="http://schemas.microsoft.com/office/drawing/2014/main" id="{FC2807C1-ACDD-46D6-BBA9-5382625955C4}"/>
              </a:ext>
            </a:extLst>
          </p:cNvPr>
          <p:cNvSpPr>
            <a:spLocks xmlns:a="http://schemas.openxmlformats.org/drawingml/2006/main" noGrp="1"/>
          </p:cNvSpPr>
          <p:nvPr/>
        </p:nvSpPr>
        <p:spPr>
          <a:xfrm xmlns:a="http://schemas.openxmlformats.org/drawingml/2006/main" rot="0">
            <a:off x="1000316" y="9676290"/>
            <a:ext cx="608888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representative supplier product uses; a role map, not an estimated customer revenue mix.</a:t>
            </a:r>
          </a:p>
        </p:txBody>
      </p:sp>
      <p:sp>
        <p:nvSpPr>
          <p:cNvPr id="7" name="Figure 3 label 6 line 1">
            <a:extLst xmlns:a="http://schemas.openxmlformats.org/drawingml/2006/main">
              <a:ext uri="{FF2B5EF4-FFF2-40B4-BE49-F238E27FC236}">
                <a16:creationId xmlns:a16="http://schemas.microsoft.com/office/drawing/2014/main" id="{427DE78C-FC33-4993-85BC-7750DA79F7DB}"/>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8" name="Figure 3 label 7 line 1">
            <a:extLst xmlns:a="http://schemas.openxmlformats.org/drawingml/2006/main">
              <a:ext uri="{FF2B5EF4-FFF2-40B4-BE49-F238E27FC236}">
                <a16:creationId xmlns:a16="http://schemas.microsoft.com/office/drawing/2014/main" id="{39CD1CAC-95E8-45CB-9D04-87C0FA8569BA}"/>
              </a:ext>
            </a:extLst>
          </p:cNvPr>
          <p:cNvSpPr>
            <a:spLocks xmlns:a="http://schemas.openxmlformats.org/drawingml/2006/main" noGrp="1"/>
          </p:cNvSpPr>
          <p:nvPr/>
        </p:nvSpPr>
        <p:spPr>
          <a:xfrm xmlns:a="http://schemas.openxmlformats.org/drawingml/2006/main" rot="0">
            <a:off x="1253617" y="2714778"/>
            <a:ext cx="131479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CUSTOMER</a:t>
            </a:r>
          </a:p>
        </p:txBody>
      </p:sp>
      <p:sp>
        <p:nvSpPr>
          <p:cNvPr id="9" name="Figure 3 label 8 line 1">
            <a:extLst xmlns:a="http://schemas.openxmlformats.org/drawingml/2006/main">
              <a:ext uri="{FF2B5EF4-FFF2-40B4-BE49-F238E27FC236}">
                <a16:creationId xmlns:a16="http://schemas.microsoft.com/office/drawing/2014/main" id="{9A24A6EC-2B0C-4E84-8FCF-9347F7DD6854}"/>
              </a:ext>
            </a:extLst>
          </p:cNvPr>
          <p:cNvSpPr>
            <a:spLocks xmlns:a="http://schemas.openxmlformats.org/drawingml/2006/main" noGrp="1"/>
          </p:cNvSpPr>
          <p:nvPr/>
        </p:nvSpPr>
        <p:spPr>
          <a:xfrm xmlns:a="http://schemas.openxmlformats.org/drawingml/2006/main" rot="0">
            <a:off x="5130674" y="2714778"/>
            <a:ext cx="126910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REAGENTS</a:t>
            </a:r>
          </a:p>
        </p:txBody>
      </p:sp>
      <p:sp>
        <p:nvSpPr>
          <p:cNvPr id="10" name="Figure 3 label 9 line 1">
            <a:extLst xmlns:a="http://schemas.openxmlformats.org/drawingml/2006/main">
              <a:ext uri="{FF2B5EF4-FFF2-40B4-BE49-F238E27FC236}">
                <a16:creationId xmlns:a16="http://schemas.microsoft.com/office/drawing/2014/main" id="{6B02476D-4243-45AC-A7F1-491B72387E9A}"/>
              </a:ext>
            </a:extLst>
          </p:cNvPr>
          <p:cNvSpPr>
            <a:spLocks xmlns:a="http://schemas.openxmlformats.org/drawingml/2006/main" noGrp="1"/>
          </p:cNvSpPr>
          <p:nvPr/>
        </p:nvSpPr>
        <p:spPr>
          <a:xfrm xmlns:a="http://schemas.openxmlformats.org/drawingml/2006/main" rot="0">
            <a:off x="9117457" y="2714778"/>
            <a:ext cx="1716336"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CONSUMABLES</a:t>
            </a:r>
          </a:p>
        </p:txBody>
      </p:sp>
      <p:sp>
        <p:nvSpPr>
          <p:cNvPr id="11" name="Figure 3 label 10 line 1">
            <a:extLst xmlns:a="http://schemas.openxmlformats.org/drawingml/2006/main">
              <a:ext uri="{FF2B5EF4-FFF2-40B4-BE49-F238E27FC236}">
                <a16:creationId xmlns:a16="http://schemas.microsoft.com/office/drawing/2014/main" id="{0AEFECE9-A4C4-4F20-84D2-DB94C1921D85}"/>
              </a:ext>
            </a:extLst>
          </p:cNvPr>
          <p:cNvSpPr>
            <a:spLocks xmlns:a="http://schemas.openxmlformats.org/drawingml/2006/main" noGrp="1"/>
          </p:cNvSpPr>
          <p:nvPr/>
        </p:nvSpPr>
        <p:spPr>
          <a:xfrm xmlns:a="http://schemas.openxmlformats.org/drawingml/2006/main" rot="0">
            <a:off x="13104242" y="2714778"/>
            <a:ext cx="16242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INSTRUMENTS</a:t>
            </a:r>
          </a:p>
        </p:txBody>
      </p:sp>
      <p:sp>
        <p:nvSpPr>
          <p:cNvPr id="12" name="Figure 3 label 11 line 1">
            <a:extLst xmlns:a="http://schemas.openxmlformats.org/drawingml/2006/main">
              <a:ext uri="{FF2B5EF4-FFF2-40B4-BE49-F238E27FC236}">
                <a16:creationId xmlns:a16="http://schemas.microsoft.com/office/drawing/2014/main" id="{80264E27-3E87-47AE-ACE0-7958061591A7}"/>
              </a:ext>
            </a:extLst>
          </p:cNvPr>
          <p:cNvSpPr>
            <a:spLocks xmlns:a="http://schemas.openxmlformats.org/drawingml/2006/main" noGrp="1"/>
          </p:cNvSpPr>
          <p:nvPr/>
        </p:nvSpPr>
        <p:spPr>
          <a:xfrm xmlns:a="http://schemas.openxmlformats.org/drawingml/2006/main" rot="0">
            <a:off x="1253934" y="3627985"/>
            <a:ext cx="2786757"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Academia / research hospitals</a:t>
            </a:r>
          </a:p>
        </p:txBody>
      </p:sp>
      <p:sp>
        <p:nvSpPr>
          <p:cNvPr id="13" name="Figure 3 label 12 line 1">
            <a:extLst xmlns:a="http://schemas.openxmlformats.org/drawingml/2006/main">
              <a:ext uri="{FF2B5EF4-FFF2-40B4-BE49-F238E27FC236}">
                <a16:creationId xmlns:a16="http://schemas.microsoft.com/office/drawing/2014/main" id="{E33D19EA-B338-416F-A1F1-66C8E7AF232F}"/>
              </a:ext>
            </a:extLst>
          </p:cNvPr>
          <p:cNvSpPr>
            <a:spLocks xmlns:a="http://schemas.openxmlformats.org/drawingml/2006/main" noGrp="1"/>
          </p:cNvSpPr>
          <p:nvPr/>
        </p:nvSpPr>
        <p:spPr>
          <a:xfrm xmlns:a="http://schemas.openxmlformats.org/drawingml/2006/main" rot="0">
            <a:off x="5131308" y="3523894"/>
            <a:ext cx="16908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Targets, enzymes,</a:t>
            </a:r>
          </a:p>
        </p:txBody>
      </p:sp>
      <p:sp>
        <p:nvSpPr>
          <p:cNvPr id="14" name="Figure 3 label 13 line 1">
            <a:extLst xmlns:a="http://schemas.openxmlformats.org/drawingml/2006/main">
              <a:ext uri="{FF2B5EF4-FFF2-40B4-BE49-F238E27FC236}">
                <a16:creationId xmlns:a16="http://schemas.microsoft.com/office/drawing/2014/main" id="{962879BE-F1AE-4901-94C9-D2509B8C2659}"/>
              </a:ext>
            </a:extLst>
          </p:cNvPr>
          <p:cNvSpPr>
            <a:spLocks xmlns:a="http://schemas.openxmlformats.org/drawingml/2006/main" noGrp="1"/>
          </p:cNvSpPr>
          <p:nvPr/>
        </p:nvSpPr>
        <p:spPr>
          <a:xfrm xmlns:a="http://schemas.openxmlformats.org/drawingml/2006/main" rot="0">
            <a:off x="5131308" y="3747979"/>
            <a:ext cx="9815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media</a:t>
            </a:r>
          </a:p>
        </p:txBody>
      </p:sp>
      <p:sp>
        <p:nvSpPr>
          <p:cNvPr id="15" name="Figure 3 label 14 line 1">
            <a:extLst xmlns:a="http://schemas.openxmlformats.org/drawingml/2006/main">
              <a:ext uri="{FF2B5EF4-FFF2-40B4-BE49-F238E27FC236}">
                <a16:creationId xmlns:a16="http://schemas.microsoft.com/office/drawing/2014/main" id="{8434FFD3-00C4-48FF-BEEE-AE0E3CA98E77}"/>
              </a:ext>
            </a:extLst>
          </p:cNvPr>
          <p:cNvSpPr>
            <a:spLocks xmlns:a="http://schemas.openxmlformats.org/drawingml/2006/main" noGrp="1"/>
          </p:cNvSpPr>
          <p:nvPr/>
        </p:nvSpPr>
        <p:spPr>
          <a:xfrm xmlns:a="http://schemas.openxmlformats.org/drawingml/2006/main" rot="0">
            <a:off x="9118092" y="3524920"/>
            <a:ext cx="1108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Plates, tips,</a:t>
            </a:r>
          </a:p>
        </p:txBody>
      </p:sp>
      <p:sp>
        <p:nvSpPr>
          <p:cNvPr id="16" name="Figure 3 label 15 line 1">
            <a:extLst xmlns:a="http://schemas.openxmlformats.org/drawingml/2006/main">
              <a:ext uri="{FF2B5EF4-FFF2-40B4-BE49-F238E27FC236}">
                <a16:creationId xmlns:a16="http://schemas.microsoft.com/office/drawing/2014/main" id="{ACD96113-95ED-479E-878B-76AB76244E1A}"/>
              </a:ext>
            </a:extLst>
          </p:cNvPr>
          <p:cNvSpPr>
            <a:spLocks xmlns:a="http://schemas.openxmlformats.org/drawingml/2006/main" noGrp="1"/>
          </p:cNvSpPr>
          <p:nvPr/>
        </p:nvSpPr>
        <p:spPr>
          <a:xfrm xmlns:a="http://schemas.openxmlformats.org/drawingml/2006/main" rot="0">
            <a:off x="9118092" y="3746953"/>
            <a:ext cx="1108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cultureware</a:t>
            </a:r>
          </a:p>
        </p:txBody>
      </p:sp>
      <p:sp>
        <p:nvSpPr>
          <p:cNvPr id="17" name="Figure 3 label 16 line 1">
            <a:extLst xmlns:a="http://schemas.openxmlformats.org/drawingml/2006/main">
              <a:ext uri="{FF2B5EF4-FFF2-40B4-BE49-F238E27FC236}">
                <a16:creationId xmlns:a16="http://schemas.microsoft.com/office/drawing/2014/main" id="{61479670-D188-496B-81B2-5500C2BFB939}"/>
              </a:ext>
            </a:extLst>
          </p:cNvPr>
          <p:cNvSpPr>
            <a:spLocks xmlns:a="http://schemas.openxmlformats.org/drawingml/2006/main" noGrp="1"/>
          </p:cNvSpPr>
          <p:nvPr/>
        </p:nvSpPr>
        <p:spPr>
          <a:xfrm xmlns:a="http://schemas.openxmlformats.org/drawingml/2006/main" rot="0">
            <a:off x="13104876" y="3525054"/>
            <a:ext cx="1956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Sequencing, imaging,</a:t>
            </a:r>
          </a:p>
        </p:txBody>
      </p:sp>
      <p:sp>
        <p:nvSpPr>
          <p:cNvPr id="18" name="Figure 3 label 17 line 1">
            <a:extLst xmlns:a="http://schemas.openxmlformats.org/drawingml/2006/main">
              <a:ext uri="{FF2B5EF4-FFF2-40B4-BE49-F238E27FC236}">
                <a16:creationId xmlns:a16="http://schemas.microsoft.com/office/drawing/2014/main" id="{6817D7DE-7B30-4978-BBB2-8D3B81CDC8D9}"/>
              </a:ext>
            </a:extLst>
          </p:cNvPr>
          <p:cNvSpPr>
            <a:spLocks xmlns:a="http://schemas.openxmlformats.org/drawingml/2006/main" noGrp="1"/>
          </p:cNvSpPr>
          <p:nvPr/>
        </p:nvSpPr>
        <p:spPr>
          <a:xfrm xmlns:a="http://schemas.openxmlformats.org/drawingml/2006/main" rot="0">
            <a:off x="13104876" y="3749141"/>
            <a:ext cx="71660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LC-MS</a:t>
            </a:r>
          </a:p>
        </p:txBody>
      </p:sp>
      <p:sp>
        <p:nvSpPr>
          <p:cNvPr id="19" name="Figure 3 label 18 line 1">
            <a:extLst xmlns:a="http://schemas.openxmlformats.org/drawingml/2006/main">
              <a:ext uri="{FF2B5EF4-FFF2-40B4-BE49-F238E27FC236}">
                <a16:creationId xmlns:a16="http://schemas.microsoft.com/office/drawing/2014/main" id="{A81982ED-0D9A-43C0-8EFA-821054C942F3}"/>
              </a:ext>
            </a:extLst>
          </p:cNvPr>
          <p:cNvSpPr>
            <a:spLocks xmlns:a="http://schemas.openxmlformats.org/drawingml/2006/main" noGrp="1"/>
          </p:cNvSpPr>
          <p:nvPr/>
        </p:nvSpPr>
        <p:spPr>
          <a:xfrm xmlns:a="http://schemas.openxmlformats.org/drawingml/2006/main" rot="0">
            <a:off x="1253934" y="4534450"/>
            <a:ext cx="2102892"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Biotech / pharma R&amp;D</a:t>
            </a:r>
          </a:p>
        </p:txBody>
      </p:sp>
      <p:sp>
        <p:nvSpPr>
          <p:cNvPr id="20" name="Figure 3 label 19 line 1">
            <a:extLst xmlns:a="http://schemas.openxmlformats.org/drawingml/2006/main">
              <a:ext uri="{FF2B5EF4-FFF2-40B4-BE49-F238E27FC236}">
                <a16:creationId xmlns:a16="http://schemas.microsoft.com/office/drawing/2014/main" id="{8C813EC6-605C-4BEB-BD9D-9BC118FA013C}"/>
              </a:ext>
            </a:extLst>
          </p:cNvPr>
          <p:cNvSpPr>
            <a:spLocks xmlns:a="http://schemas.openxmlformats.org/drawingml/2006/main" noGrp="1"/>
          </p:cNvSpPr>
          <p:nvPr/>
        </p:nvSpPr>
        <p:spPr>
          <a:xfrm xmlns:a="http://schemas.openxmlformats.org/drawingml/2006/main" rot="0">
            <a:off x="5131308" y="4428123"/>
            <a:ext cx="209341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Proteins, assay panels,</a:t>
            </a:r>
          </a:p>
        </p:txBody>
      </p:sp>
      <p:sp>
        <p:nvSpPr>
          <p:cNvPr id="21" name="Figure 3 label 20 line 1">
            <a:extLst xmlns:a="http://schemas.openxmlformats.org/drawingml/2006/main">
              <a:ext uri="{FF2B5EF4-FFF2-40B4-BE49-F238E27FC236}">
                <a16:creationId xmlns:a16="http://schemas.microsoft.com/office/drawing/2014/main" id="{54473BDC-94A8-4FE9-B444-64396299353A}"/>
              </a:ext>
            </a:extLst>
          </p:cNvPr>
          <p:cNvSpPr>
            <a:spLocks xmlns:a="http://schemas.openxmlformats.org/drawingml/2006/main" noGrp="1"/>
          </p:cNvSpPr>
          <p:nvPr/>
        </p:nvSpPr>
        <p:spPr>
          <a:xfrm xmlns:a="http://schemas.openxmlformats.org/drawingml/2006/main" rot="0">
            <a:off x="5131308" y="4652209"/>
            <a:ext cx="183936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expression reagents</a:t>
            </a:r>
          </a:p>
        </p:txBody>
      </p:sp>
      <p:sp>
        <p:nvSpPr>
          <p:cNvPr id="22" name="Figure 3 label 21 line 1">
            <a:extLst xmlns:a="http://schemas.openxmlformats.org/drawingml/2006/main">
              <a:ext uri="{FF2B5EF4-FFF2-40B4-BE49-F238E27FC236}">
                <a16:creationId xmlns:a16="http://schemas.microsoft.com/office/drawing/2014/main" id="{CDA01659-5726-4B92-927B-328194E42AA1}"/>
              </a:ext>
            </a:extLst>
          </p:cNvPr>
          <p:cNvSpPr>
            <a:spLocks xmlns:a="http://schemas.openxmlformats.org/drawingml/2006/main" noGrp="1"/>
          </p:cNvSpPr>
          <p:nvPr/>
        </p:nvSpPr>
        <p:spPr>
          <a:xfrm xmlns:a="http://schemas.openxmlformats.org/drawingml/2006/main" rot="0">
            <a:off x="9118092" y="4430177"/>
            <a:ext cx="16908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Sensors, columns,</a:t>
            </a:r>
          </a:p>
        </p:txBody>
      </p:sp>
      <p:sp>
        <p:nvSpPr>
          <p:cNvPr id="23" name="Figure 3 label 22 line 1">
            <a:extLst xmlns:a="http://schemas.openxmlformats.org/drawingml/2006/main">
              <a:ext uri="{FF2B5EF4-FFF2-40B4-BE49-F238E27FC236}">
                <a16:creationId xmlns:a16="http://schemas.microsoft.com/office/drawing/2014/main" id="{7E8003BB-1AA7-4F93-BF8A-46F70389BAB9}"/>
              </a:ext>
            </a:extLst>
          </p:cNvPr>
          <p:cNvSpPr>
            <a:spLocks xmlns:a="http://schemas.openxmlformats.org/drawingml/2006/main" noGrp="1"/>
          </p:cNvSpPr>
          <p:nvPr/>
        </p:nvSpPr>
        <p:spPr>
          <a:xfrm xmlns:a="http://schemas.openxmlformats.org/drawingml/2006/main" rot="0">
            <a:off x="9118092" y="4652209"/>
            <a:ext cx="79087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filtration</a:t>
            </a:r>
          </a:p>
        </p:txBody>
      </p:sp>
      <p:sp>
        <p:nvSpPr>
          <p:cNvPr id="24" name="Figure 3 label 23 line 1">
            <a:extLst xmlns:a="http://schemas.openxmlformats.org/drawingml/2006/main">
              <a:ext uri="{FF2B5EF4-FFF2-40B4-BE49-F238E27FC236}">
                <a16:creationId xmlns:a16="http://schemas.microsoft.com/office/drawing/2014/main" id="{9CDB3A12-CCC6-42E2-97F2-D5ECB04AC446}"/>
              </a:ext>
            </a:extLst>
          </p:cNvPr>
          <p:cNvSpPr>
            <a:spLocks xmlns:a="http://schemas.openxmlformats.org/drawingml/2006/main" noGrp="1"/>
          </p:cNvSpPr>
          <p:nvPr/>
        </p:nvSpPr>
        <p:spPr>
          <a:xfrm xmlns:a="http://schemas.openxmlformats.org/drawingml/2006/main" rot="0">
            <a:off x="13104876" y="4427582"/>
            <a:ext cx="206156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BLI / SPR, automation,</a:t>
            </a:r>
          </a:p>
        </p:txBody>
      </p:sp>
      <p:sp>
        <p:nvSpPr>
          <p:cNvPr id="25" name="Figure 3 label 24 line 1">
            <a:extLst xmlns:a="http://schemas.openxmlformats.org/drawingml/2006/main">
              <a:ext uri="{FF2B5EF4-FFF2-40B4-BE49-F238E27FC236}">
                <a16:creationId xmlns:a16="http://schemas.microsoft.com/office/drawing/2014/main" id="{EC26E8D0-4109-4700-8991-2C7D4B61CC16}"/>
              </a:ext>
            </a:extLst>
          </p:cNvPr>
          <p:cNvSpPr>
            <a:spLocks xmlns:a="http://schemas.openxmlformats.org/drawingml/2006/main" noGrp="1"/>
          </p:cNvSpPr>
          <p:nvPr/>
        </p:nvSpPr>
        <p:spPr>
          <a:xfrm xmlns:a="http://schemas.openxmlformats.org/drawingml/2006/main" rot="0">
            <a:off x="13104876" y="4652749"/>
            <a:ext cx="13412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cytometry</a:t>
            </a:r>
          </a:p>
        </p:txBody>
      </p:sp>
      <p:sp>
        <p:nvSpPr>
          <p:cNvPr id="26" name="Figure 3 label 25 line 1">
            <a:extLst xmlns:a="http://schemas.openxmlformats.org/drawingml/2006/main">
              <a:ext uri="{FF2B5EF4-FFF2-40B4-BE49-F238E27FC236}">
                <a16:creationId xmlns:a16="http://schemas.microsoft.com/office/drawing/2014/main" id="{9FD9E5B9-7A2D-4A5D-9DD0-56AD8EE3F315}"/>
              </a:ext>
            </a:extLst>
          </p:cNvPr>
          <p:cNvSpPr>
            <a:spLocks xmlns:a="http://schemas.openxmlformats.org/drawingml/2006/main" noGrp="1"/>
          </p:cNvSpPr>
          <p:nvPr/>
        </p:nvSpPr>
        <p:spPr>
          <a:xfrm xmlns:a="http://schemas.openxmlformats.org/drawingml/2006/main" rot="0">
            <a:off x="1253934" y="5438497"/>
            <a:ext cx="1341487"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CRO / CDMO</a:t>
            </a:r>
          </a:p>
        </p:txBody>
      </p:sp>
      <p:sp>
        <p:nvSpPr>
          <p:cNvPr id="27" name="Figure 3 label 26 line 1">
            <a:extLst xmlns:a="http://schemas.openxmlformats.org/drawingml/2006/main">
              <a:ext uri="{FF2B5EF4-FFF2-40B4-BE49-F238E27FC236}">
                <a16:creationId xmlns:a16="http://schemas.microsoft.com/office/drawing/2014/main" id="{302771B9-B7E8-41EC-A5C1-D3E74FBCAF6E}"/>
              </a:ext>
            </a:extLst>
          </p:cNvPr>
          <p:cNvSpPr>
            <a:spLocks xmlns:a="http://schemas.openxmlformats.org/drawingml/2006/main" noGrp="1"/>
          </p:cNvSpPr>
          <p:nvPr/>
        </p:nvSpPr>
        <p:spPr>
          <a:xfrm xmlns:a="http://schemas.openxmlformats.org/drawingml/2006/main" rot="0">
            <a:off x="5131308" y="5333379"/>
            <a:ext cx="13308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Discovery and</a:t>
            </a:r>
          </a:p>
        </p:txBody>
      </p:sp>
      <p:sp>
        <p:nvSpPr>
          <p:cNvPr id="28" name="Figure 3 label 27 line 1">
            <a:extLst xmlns:a="http://schemas.openxmlformats.org/drawingml/2006/main">
              <a:ext uri="{FF2B5EF4-FFF2-40B4-BE49-F238E27FC236}">
                <a16:creationId xmlns:a16="http://schemas.microsoft.com/office/drawing/2014/main" id="{154D6850-F7D0-4E29-BF06-81EA3C423884}"/>
              </a:ext>
            </a:extLst>
          </p:cNvPr>
          <p:cNvSpPr>
            <a:spLocks xmlns:a="http://schemas.openxmlformats.org/drawingml/2006/main" noGrp="1"/>
          </p:cNvSpPr>
          <p:nvPr/>
        </p:nvSpPr>
        <p:spPr>
          <a:xfrm xmlns:a="http://schemas.openxmlformats.org/drawingml/2006/main" rot="0">
            <a:off x="5131308" y="5557464"/>
            <a:ext cx="158516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process reagents</a:t>
            </a:r>
          </a:p>
        </p:txBody>
      </p:sp>
      <p:sp>
        <p:nvSpPr>
          <p:cNvPr id="29" name="Figure 3 label 28 line 1">
            <a:extLst xmlns:a="http://schemas.openxmlformats.org/drawingml/2006/main">
              <a:ext uri="{FF2B5EF4-FFF2-40B4-BE49-F238E27FC236}">
                <a16:creationId xmlns:a16="http://schemas.microsoft.com/office/drawing/2014/main" id="{32472943-1592-4BB3-B4AF-7F91A99B7157}"/>
              </a:ext>
            </a:extLst>
          </p:cNvPr>
          <p:cNvSpPr>
            <a:spLocks xmlns:a="http://schemas.openxmlformats.org/drawingml/2006/main" noGrp="1"/>
          </p:cNvSpPr>
          <p:nvPr/>
        </p:nvSpPr>
        <p:spPr>
          <a:xfrm xmlns:a="http://schemas.openxmlformats.org/drawingml/2006/main" rot="0">
            <a:off x="9118092" y="5333865"/>
            <a:ext cx="15216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Labware, resins,</a:t>
            </a:r>
          </a:p>
        </p:txBody>
      </p:sp>
      <p:sp>
        <p:nvSpPr>
          <p:cNvPr id="30" name="Figure 3 label 29 line 1">
            <a:extLst xmlns:a="http://schemas.openxmlformats.org/drawingml/2006/main">
              <a:ext uri="{FF2B5EF4-FFF2-40B4-BE49-F238E27FC236}">
                <a16:creationId xmlns:a16="http://schemas.microsoft.com/office/drawing/2014/main" id="{A0199BA3-50B7-4831-AD43-A69DC4128DE8}"/>
              </a:ext>
            </a:extLst>
          </p:cNvPr>
          <p:cNvSpPr>
            <a:spLocks xmlns:a="http://schemas.openxmlformats.org/drawingml/2006/main" noGrp="1"/>
          </p:cNvSpPr>
          <p:nvPr/>
        </p:nvSpPr>
        <p:spPr>
          <a:xfrm xmlns:a="http://schemas.openxmlformats.org/drawingml/2006/main" rot="0">
            <a:off x="9118092" y="5559032"/>
            <a:ext cx="182850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scale-specific inputs</a:t>
            </a:r>
          </a:p>
        </p:txBody>
      </p:sp>
      <p:sp>
        <p:nvSpPr>
          <p:cNvPr id="31" name="Figure 3 label 30 line 1">
            <a:extLst xmlns:a="http://schemas.openxmlformats.org/drawingml/2006/main">
              <a:ext uri="{FF2B5EF4-FFF2-40B4-BE49-F238E27FC236}">
                <a16:creationId xmlns:a16="http://schemas.microsoft.com/office/drawing/2014/main" id="{A25F0B40-D239-43C7-B08A-98E0BA9246FF}"/>
              </a:ext>
            </a:extLst>
          </p:cNvPr>
          <p:cNvSpPr>
            <a:spLocks xmlns:a="http://schemas.openxmlformats.org/drawingml/2006/main" noGrp="1"/>
          </p:cNvSpPr>
          <p:nvPr/>
        </p:nvSpPr>
        <p:spPr>
          <a:xfrm xmlns:a="http://schemas.openxmlformats.org/drawingml/2006/main" rot="0">
            <a:off x="13104876" y="5332838"/>
            <a:ext cx="1786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process and</a:t>
            </a:r>
          </a:p>
        </p:txBody>
      </p:sp>
      <p:sp>
        <p:nvSpPr>
          <p:cNvPr id="32" name="Figure 3 label 31 line 1">
            <a:extLst xmlns:a="http://schemas.openxmlformats.org/drawingml/2006/main">
              <a:ext uri="{FF2B5EF4-FFF2-40B4-BE49-F238E27FC236}">
                <a16:creationId xmlns:a16="http://schemas.microsoft.com/office/drawing/2014/main" id="{F5AB7151-B547-4DD8-BBBC-727850D54F4C}"/>
              </a:ext>
            </a:extLst>
          </p:cNvPr>
          <p:cNvSpPr>
            <a:spLocks xmlns:a="http://schemas.openxmlformats.org/drawingml/2006/main" noGrp="1"/>
          </p:cNvSpPr>
          <p:nvPr/>
        </p:nvSpPr>
        <p:spPr>
          <a:xfrm xmlns:a="http://schemas.openxmlformats.org/drawingml/2006/main" rot="0">
            <a:off x="13104876" y="5560059"/>
            <a:ext cx="12459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platforms</a:t>
            </a:r>
          </a:p>
        </p:txBody>
      </p:sp>
      <p:sp>
        <p:nvSpPr>
          <p:cNvPr id="33" name="Figure 3 label 32 line 1">
            <a:extLst xmlns:a="http://schemas.openxmlformats.org/drawingml/2006/main">
              <a:ext uri="{FF2B5EF4-FFF2-40B4-BE49-F238E27FC236}">
                <a16:creationId xmlns:a16="http://schemas.microsoft.com/office/drawing/2014/main" id="{7307A858-DD5A-4691-A83B-C3FED7653DDB}"/>
              </a:ext>
            </a:extLst>
          </p:cNvPr>
          <p:cNvSpPr>
            <a:spLocks xmlns:a="http://schemas.openxmlformats.org/drawingml/2006/main" noGrp="1"/>
          </p:cNvSpPr>
          <p:nvPr/>
        </p:nvSpPr>
        <p:spPr>
          <a:xfrm xmlns:a="http://schemas.openxmlformats.org/drawingml/2006/main" rot="0">
            <a:off x="1253934" y="6343893"/>
            <a:ext cx="1673076"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Biomanufacturing</a:t>
            </a:r>
          </a:p>
        </p:txBody>
      </p:sp>
      <p:sp>
        <p:nvSpPr>
          <p:cNvPr id="34" name="Figure 3 label 33 line 1">
            <a:extLst xmlns:a="http://schemas.openxmlformats.org/drawingml/2006/main">
              <a:ext uri="{FF2B5EF4-FFF2-40B4-BE49-F238E27FC236}">
                <a16:creationId xmlns:a16="http://schemas.microsoft.com/office/drawing/2014/main" id="{71F14D0E-1E28-4F74-8233-66DD500D5E60}"/>
              </a:ext>
            </a:extLst>
          </p:cNvPr>
          <p:cNvSpPr>
            <a:spLocks xmlns:a="http://schemas.openxmlformats.org/drawingml/2006/main" noGrp="1"/>
          </p:cNvSpPr>
          <p:nvPr/>
        </p:nvSpPr>
        <p:spPr>
          <a:xfrm xmlns:a="http://schemas.openxmlformats.org/drawingml/2006/main" rot="0">
            <a:off x="5131308" y="6238094"/>
            <a:ext cx="16592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Production media,</a:t>
            </a:r>
          </a:p>
        </p:txBody>
      </p:sp>
      <p:sp>
        <p:nvSpPr>
          <p:cNvPr id="35" name="Figure 3 label 34 line 1">
            <a:extLst xmlns:a="http://schemas.openxmlformats.org/drawingml/2006/main">
              <a:ext uri="{FF2B5EF4-FFF2-40B4-BE49-F238E27FC236}">
                <a16:creationId xmlns:a16="http://schemas.microsoft.com/office/drawing/2014/main" id="{A3871FB9-96A8-4CC8-9129-D7214ECA060B}"/>
              </a:ext>
            </a:extLst>
          </p:cNvPr>
          <p:cNvSpPr>
            <a:spLocks xmlns:a="http://schemas.openxmlformats.org/drawingml/2006/main" noGrp="1"/>
          </p:cNvSpPr>
          <p:nvPr/>
        </p:nvSpPr>
        <p:spPr>
          <a:xfrm xmlns:a="http://schemas.openxmlformats.org/drawingml/2006/main" rot="0">
            <a:off x="5131308" y="6463261"/>
            <a:ext cx="177581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feeds and enzymes</a:t>
            </a:r>
          </a:p>
        </p:txBody>
      </p:sp>
      <p:sp>
        <p:nvSpPr>
          <p:cNvPr id="36" name="Figure 3 label 35 line 1">
            <a:extLst xmlns:a="http://schemas.openxmlformats.org/drawingml/2006/main">
              <a:ext uri="{FF2B5EF4-FFF2-40B4-BE49-F238E27FC236}">
                <a16:creationId xmlns:a16="http://schemas.microsoft.com/office/drawing/2014/main" id="{E503BF20-C988-4099-A6D4-746CF4D8A50D}"/>
              </a:ext>
            </a:extLst>
          </p:cNvPr>
          <p:cNvSpPr>
            <a:spLocks xmlns:a="http://schemas.openxmlformats.org/drawingml/2006/main" noGrp="1"/>
          </p:cNvSpPr>
          <p:nvPr/>
        </p:nvSpPr>
        <p:spPr>
          <a:xfrm xmlns:a="http://schemas.openxmlformats.org/drawingml/2006/main" rot="0">
            <a:off x="9118092" y="6239662"/>
            <a:ext cx="13201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Resins, filters,</a:t>
            </a:r>
          </a:p>
        </p:txBody>
      </p:sp>
      <p:sp>
        <p:nvSpPr>
          <p:cNvPr id="37" name="Figure 3 label 36 line 1">
            <a:extLst xmlns:a="http://schemas.openxmlformats.org/drawingml/2006/main">
              <a:ext uri="{FF2B5EF4-FFF2-40B4-BE49-F238E27FC236}">
                <a16:creationId xmlns:a16="http://schemas.microsoft.com/office/drawing/2014/main" id="{743AABBC-1FF6-4B82-AE3E-0EC4A5D4546B}"/>
              </a:ext>
            </a:extLst>
          </p:cNvPr>
          <p:cNvSpPr>
            <a:spLocks xmlns:a="http://schemas.openxmlformats.org/drawingml/2006/main" noGrp="1"/>
          </p:cNvSpPr>
          <p:nvPr/>
        </p:nvSpPr>
        <p:spPr>
          <a:xfrm xmlns:a="http://schemas.openxmlformats.org/drawingml/2006/main" rot="0">
            <a:off x="9118092" y="6461694"/>
            <a:ext cx="199801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single-use assemblies</a:t>
            </a:r>
          </a:p>
        </p:txBody>
      </p:sp>
      <p:sp>
        <p:nvSpPr>
          <p:cNvPr id="38" name="Figure 3 label 37 line 1">
            <a:extLst xmlns:a="http://schemas.openxmlformats.org/drawingml/2006/main">
              <a:ext uri="{FF2B5EF4-FFF2-40B4-BE49-F238E27FC236}">
                <a16:creationId xmlns:a16="http://schemas.microsoft.com/office/drawing/2014/main" id="{0AFE2C1C-0249-4A34-BC83-8D7F2661782E}"/>
              </a:ext>
            </a:extLst>
          </p:cNvPr>
          <p:cNvSpPr>
            <a:spLocks xmlns:a="http://schemas.openxmlformats.org/drawingml/2006/main" noGrp="1"/>
          </p:cNvSpPr>
          <p:nvPr/>
        </p:nvSpPr>
        <p:spPr>
          <a:xfrm xmlns:a="http://schemas.openxmlformats.org/drawingml/2006/main" rot="0">
            <a:off x="13104876" y="6239662"/>
            <a:ext cx="2622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Bioreactors, chromatography,</a:t>
            </a:r>
          </a:p>
        </p:txBody>
      </p:sp>
      <p:sp>
        <p:nvSpPr>
          <p:cNvPr id="39" name="Figure 3 label 38 line 1">
            <a:extLst xmlns:a="http://schemas.openxmlformats.org/drawingml/2006/main">
              <a:ext uri="{FF2B5EF4-FFF2-40B4-BE49-F238E27FC236}">
                <a16:creationId xmlns:a16="http://schemas.microsoft.com/office/drawing/2014/main" id="{2107B57A-B513-4EFE-8E5C-30F0ECAAA03E}"/>
              </a:ext>
            </a:extLst>
          </p:cNvPr>
          <p:cNvSpPr>
            <a:spLocks xmlns:a="http://schemas.openxmlformats.org/drawingml/2006/main" noGrp="1"/>
          </p:cNvSpPr>
          <p:nvPr/>
        </p:nvSpPr>
        <p:spPr>
          <a:xfrm xmlns:a="http://schemas.openxmlformats.org/drawingml/2006/main" rot="0">
            <a:off x="13104876" y="6463748"/>
            <a:ext cx="1447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instruments</a:t>
            </a:r>
          </a:p>
        </p:txBody>
      </p:sp>
      <p:sp>
        <p:nvSpPr>
          <p:cNvPr id="40" name="Figure 3 label 39 line 1">
            <a:extLst xmlns:a="http://schemas.openxmlformats.org/drawingml/2006/main">
              <a:ext uri="{FF2B5EF4-FFF2-40B4-BE49-F238E27FC236}">
                <a16:creationId xmlns:a16="http://schemas.microsoft.com/office/drawing/2014/main" id="{6803FA1F-0543-4FEC-ADD3-FC1888B1A8C7}"/>
              </a:ext>
            </a:extLst>
          </p:cNvPr>
          <p:cNvSpPr>
            <a:spLocks xmlns:a="http://schemas.openxmlformats.org/drawingml/2006/main" noGrp="1"/>
          </p:cNvSpPr>
          <p:nvPr/>
        </p:nvSpPr>
        <p:spPr>
          <a:xfrm xmlns:a="http://schemas.openxmlformats.org/drawingml/2006/main" rot="0">
            <a:off x="1253934" y="7249010"/>
            <a:ext cx="1651050"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IVD development</a:t>
            </a:r>
          </a:p>
        </p:txBody>
      </p:sp>
      <p:sp>
        <p:nvSpPr>
          <p:cNvPr id="41" name="Figure 3 label 40 line 1">
            <a:extLst xmlns:a="http://schemas.openxmlformats.org/drawingml/2006/main">
              <a:ext uri="{FF2B5EF4-FFF2-40B4-BE49-F238E27FC236}">
                <a16:creationId xmlns:a16="http://schemas.microsoft.com/office/drawing/2014/main" id="{E4689439-259D-4310-B6AA-F9D4FB2B6D6B}"/>
              </a:ext>
            </a:extLst>
          </p:cNvPr>
          <p:cNvSpPr>
            <a:spLocks xmlns:a="http://schemas.openxmlformats.org/drawingml/2006/main" noGrp="1"/>
          </p:cNvSpPr>
          <p:nvPr/>
        </p:nvSpPr>
        <p:spPr>
          <a:xfrm xmlns:a="http://schemas.openxmlformats.org/drawingml/2006/main" rot="0">
            <a:off x="5131308" y="7143890"/>
            <a:ext cx="18924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Antigens, antibodies,</a:t>
            </a:r>
          </a:p>
        </p:txBody>
      </p:sp>
      <p:sp>
        <p:nvSpPr>
          <p:cNvPr id="42" name="Figure 3 label 41 line 1">
            <a:extLst xmlns:a="http://schemas.openxmlformats.org/drawingml/2006/main">
              <a:ext uri="{FF2B5EF4-FFF2-40B4-BE49-F238E27FC236}">
                <a16:creationId xmlns:a16="http://schemas.microsoft.com/office/drawing/2014/main" id="{ABFB408D-8A38-4F3C-A94A-6079AE6E7471}"/>
              </a:ext>
            </a:extLst>
          </p:cNvPr>
          <p:cNvSpPr>
            <a:spLocks xmlns:a="http://schemas.openxmlformats.org/drawingml/2006/main" noGrp="1"/>
          </p:cNvSpPr>
          <p:nvPr/>
        </p:nvSpPr>
        <p:spPr>
          <a:xfrm xmlns:a="http://schemas.openxmlformats.org/drawingml/2006/main" rot="0">
            <a:off x="5131308" y="7367977"/>
            <a:ext cx="12462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tool enzymes</a:t>
            </a:r>
          </a:p>
        </p:txBody>
      </p:sp>
      <p:sp>
        <p:nvSpPr>
          <p:cNvPr id="43" name="Figure 3 label 42 line 1">
            <a:extLst xmlns:a="http://schemas.openxmlformats.org/drawingml/2006/main">
              <a:ext uri="{FF2B5EF4-FFF2-40B4-BE49-F238E27FC236}">
                <a16:creationId xmlns:a16="http://schemas.microsoft.com/office/drawing/2014/main" id="{A0FB087E-7409-4A2B-BBFB-F8CB4B610B3C}"/>
              </a:ext>
            </a:extLst>
          </p:cNvPr>
          <p:cNvSpPr>
            <a:spLocks xmlns:a="http://schemas.openxmlformats.org/drawingml/2006/main" noGrp="1"/>
          </p:cNvSpPr>
          <p:nvPr/>
        </p:nvSpPr>
        <p:spPr>
          <a:xfrm xmlns:a="http://schemas.openxmlformats.org/drawingml/2006/main" rot="0">
            <a:off x="9118092" y="7143890"/>
            <a:ext cx="125685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plates,</a:t>
            </a:r>
          </a:p>
        </p:txBody>
      </p:sp>
      <p:sp>
        <p:nvSpPr>
          <p:cNvPr id="44" name="Figure 3 label 43 line 1">
            <a:extLst xmlns:a="http://schemas.openxmlformats.org/drawingml/2006/main">
              <a:ext uri="{FF2B5EF4-FFF2-40B4-BE49-F238E27FC236}">
                <a16:creationId xmlns:a16="http://schemas.microsoft.com/office/drawing/2014/main" id="{2E660E1D-BFB8-4FA4-A469-953727F84A75}"/>
              </a:ext>
            </a:extLst>
          </p:cNvPr>
          <p:cNvSpPr>
            <a:spLocks xmlns:a="http://schemas.openxmlformats.org/drawingml/2006/main" noGrp="1"/>
          </p:cNvSpPr>
          <p:nvPr/>
        </p:nvSpPr>
        <p:spPr>
          <a:xfrm xmlns:a="http://schemas.openxmlformats.org/drawingml/2006/main" rot="0">
            <a:off x="9118092" y="7367977"/>
            <a:ext cx="14687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magnetic beads</a:t>
            </a:r>
          </a:p>
        </p:txBody>
      </p:sp>
      <p:sp>
        <p:nvSpPr>
          <p:cNvPr id="45" name="Figure 3 label 44 line 1">
            <a:extLst xmlns:a="http://schemas.openxmlformats.org/drawingml/2006/main">
              <a:ext uri="{FF2B5EF4-FFF2-40B4-BE49-F238E27FC236}">
                <a16:creationId xmlns:a16="http://schemas.microsoft.com/office/drawing/2014/main" id="{6DD96CB9-7B89-49AE-A424-1A1558C965CE}"/>
              </a:ext>
            </a:extLst>
          </p:cNvPr>
          <p:cNvSpPr>
            <a:spLocks xmlns:a="http://schemas.openxmlformats.org/drawingml/2006/main" noGrp="1"/>
          </p:cNvSpPr>
          <p:nvPr/>
        </p:nvSpPr>
        <p:spPr>
          <a:xfrm xmlns:a="http://schemas.openxmlformats.org/drawingml/2006/main" rot="0">
            <a:off x="13104876" y="7145945"/>
            <a:ext cx="13099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Research and</a:t>
            </a:r>
          </a:p>
        </p:txBody>
      </p:sp>
      <p:sp>
        <p:nvSpPr>
          <p:cNvPr id="46" name="Figure 3 label 45 line 1">
            <a:extLst xmlns:a="http://schemas.openxmlformats.org/drawingml/2006/main">
              <a:ext uri="{FF2B5EF4-FFF2-40B4-BE49-F238E27FC236}">
                <a16:creationId xmlns:a16="http://schemas.microsoft.com/office/drawing/2014/main" id="{3C27EAAC-515D-4D2D-9FF9-159FF9659158}"/>
              </a:ext>
            </a:extLst>
          </p:cNvPr>
          <p:cNvSpPr>
            <a:spLocks xmlns:a="http://schemas.openxmlformats.org/drawingml/2006/main" noGrp="1"/>
          </p:cNvSpPr>
          <p:nvPr/>
        </p:nvSpPr>
        <p:spPr>
          <a:xfrm xmlns:a="http://schemas.openxmlformats.org/drawingml/2006/main" rot="0">
            <a:off x="13104876" y="7367977"/>
            <a:ext cx="1447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instruments</a:t>
            </a:r>
          </a:p>
        </p:txBody>
      </p:sp>
      <p:sp>
        <p:nvSpPr>
          <p:cNvPr id="47" name="Figure 3 label 46 line 1">
            <a:extLst xmlns:a="http://schemas.openxmlformats.org/drawingml/2006/main">
              <a:ext uri="{FF2B5EF4-FFF2-40B4-BE49-F238E27FC236}">
                <a16:creationId xmlns:a16="http://schemas.microsoft.com/office/drawing/2014/main" id="{742CC3C9-8E37-4140-853A-618895992D83}"/>
              </a:ext>
            </a:extLst>
          </p:cNvPr>
          <p:cNvSpPr>
            <a:spLocks xmlns:a="http://schemas.openxmlformats.org/drawingml/2006/main" noGrp="1"/>
          </p:cNvSpPr>
          <p:nvPr/>
        </p:nvSpPr>
        <p:spPr>
          <a:xfrm xmlns:a="http://schemas.openxmlformats.org/drawingml/2006/main" rot="0">
            <a:off x="4735388" y="8326469"/>
            <a:ext cx="8817223"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1">
                <a:solidFill>
                  <a:srgbClr val="00355F"/>
                </a:solidFill>
                <a:latin typeface="Arial Unicode MS"/>
                <a:ea typeface="Arial Unicode MS"/>
                <a:cs typeface="Arial Unicode MS"/>
              </a:defRPr>
            </a:pPr>
            <a:r>
              <a:rPr sz="2000" b="1">
                <a:solidFill>
                  <a:srgbClr val="00355F"/>
                </a:solidFill>
                <a:latin typeface="Arial Unicode MS"/>
                <a:ea typeface="Arial Unicode MS"/>
                <a:cs typeface="Arial Unicode MS"/>
              </a:rPr>
              <a:t>An instrument supplier’s total China sales are not its China life-science sales.</a:t>
            </a:r>
          </a:p>
        </p:txBody>
      </p:sp>
    </p:spTree>
    <p:extLst>
      <p:ext uri="{BB962C8B-B14F-4D97-AF65-F5344CB8AC3E}">
        <p14:creationId xmlns:p14="http://schemas.microsoft.com/office/powerpoint/2010/main" val="9904968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2F1BB82A-5BD4-4990-B02E-005E254B3CED}"/>
              </a:ext>
            </a:extLst>
          </p:cNvPr>
          <p:cNvPicPr>
            <a:picLocks xmlns:a="http://schemas.openxmlformats.org/drawingml/2006/main" noChangeAspect="1"/>
          </p:cNvPicPr>
          <p:nvPr/>
        </p:nvPicPr>
        <p:blipFill>
          <a:blip xmlns:r="http://schemas.openxmlformats.org/officeDocument/2006/relationships" xmlns:a="http://schemas.openxmlformats.org/drawingml/2006/main" r:embed="Rd264079b06fd4fe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4 label 1 line 1">
            <a:extLst xmlns:a="http://schemas.openxmlformats.org/drawingml/2006/main">
              <a:ext uri="{FF2B5EF4-FFF2-40B4-BE49-F238E27FC236}">
                <a16:creationId xmlns:a16="http://schemas.microsoft.com/office/drawing/2014/main" id="{D0FAA32D-9146-4863-BAC0-959CCCBA8DDD}"/>
              </a:ext>
            </a:extLst>
          </p:cNvPr>
          <p:cNvSpPr>
            <a:spLocks xmlns:a="http://schemas.openxmlformats.org/drawingml/2006/main" noGrp="1"/>
          </p:cNvSpPr>
          <p:nvPr/>
        </p:nvSpPr>
        <p:spPr>
          <a:xfrm xmlns:a="http://schemas.openxmlformats.org/drawingml/2006/main" rot="0">
            <a:off x="991870" y="421920"/>
            <a:ext cx="63605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04  AI discovery and its LST touchpoints</a:t>
            </a:r>
          </a:p>
        </p:txBody>
      </p:sp>
      <p:sp>
        <p:nvSpPr>
          <p:cNvPr id="3" name="Figure 4 label 2 line 1">
            <a:extLst xmlns:a="http://schemas.openxmlformats.org/drawingml/2006/main">
              <a:ext uri="{FF2B5EF4-FFF2-40B4-BE49-F238E27FC236}">
                <a16:creationId xmlns:a16="http://schemas.microsoft.com/office/drawing/2014/main" id="{A1C17E8C-57BB-4812-AB50-8C85818F4A6A}"/>
              </a:ext>
            </a:extLst>
          </p:cNvPr>
          <p:cNvSpPr>
            <a:spLocks xmlns:a="http://schemas.openxmlformats.org/drawingml/2006/main" noGrp="1"/>
          </p:cNvSpPr>
          <p:nvPr/>
        </p:nvSpPr>
        <p:spPr>
          <a:xfrm xmlns:a="http://schemas.openxmlformats.org/drawingml/2006/main" rot="0">
            <a:off x="15720815" y="661601"/>
            <a:ext cx="1019572"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MECHANISM</a:t>
            </a:r>
          </a:p>
        </p:txBody>
      </p:sp>
      <p:sp>
        <p:nvSpPr>
          <p:cNvPr id="4" name="Figure 4 label 3 line 1">
            <a:extLst xmlns:a="http://schemas.openxmlformats.org/drawingml/2006/main">
              <a:ext uri="{FF2B5EF4-FFF2-40B4-BE49-F238E27FC236}">
                <a16:creationId xmlns:a16="http://schemas.microsoft.com/office/drawing/2014/main" id="{58A6A5AF-1710-463A-B011-6FA6CCD23FB7}"/>
              </a:ext>
            </a:extLst>
          </p:cNvPr>
          <p:cNvSpPr>
            <a:spLocks xmlns:a="http://schemas.openxmlformats.org/drawingml/2006/main" noGrp="1"/>
          </p:cNvSpPr>
          <p:nvPr/>
        </p:nvSpPr>
        <p:spPr>
          <a:xfrm xmlns:a="http://schemas.openxmlformats.org/drawingml/2006/main" rot="0">
            <a:off x="998220" y="1249487"/>
            <a:ext cx="89664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AI candidates need physical construction and experimental feedback. Orders depend on funded projects.</a:t>
            </a:r>
          </a:p>
        </p:txBody>
      </p:sp>
      <p:sp>
        <p:nvSpPr>
          <p:cNvPr id="5" name="Figure 4 label 4 line 1">
            <a:extLst xmlns:a="http://schemas.openxmlformats.org/drawingml/2006/main">
              <a:ext uri="{FF2B5EF4-FFF2-40B4-BE49-F238E27FC236}">
                <a16:creationId xmlns:a16="http://schemas.microsoft.com/office/drawing/2014/main" id="{DA45A649-5F53-4FCF-9DA6-4B23DB8EA083}"/>
              </a:ext>
            </a:extLst>
          </p:cNvPr>
          <p:cNvSpPr>
            <a:spLocks xmlns:a="http://schemas.openxmlformats.org/drawingml/2006/main" noGrp="1"/>
          </p:cNvSpPr>
          <p:nvPr/>
        </p:nvSpPr>
        <p:spPr>
          <a:xfrm xmlns:a="http://schemas.openxmlformats.org/drawingml/2006/main" rot="0">
            <a:off x="999173" y="9256035"/>
            <a:ext cx="770617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Stages 2–3 have more direct exposure. Clinical and manufacturing demand face attrition and time lags.</a:t>
            </a:r>
          </a:p>
        </p:txBody>
      </p:sp>
      <p:sp>
        <p:nvSpPr>
          <p:cNvPr id="6" name="Figure 4 label 5 line 1">
            <a:extLst xmlns:a="http://schemas.openxmlformats.org/drawingml/2006/main">
              <a:ext uri="{FF2B5EF4-FFF2-40B4-BE49-F238E27FC236}">
                <a16:creationId xmlns:a16="http://schemas.microsoft.com/office/drawing/2014/main" id="{1471A845-EFD7-4494-9D5D-4328856805E4}"/>
              </a:ext>
            </a:extLst>
          </p:cNvPr>
          <p:cNvSpPr>
            <a:spLocks xmlns:a="http://schemas.openxmlformats.org/drawingml/2006/main" noGrp="1"/>
          </p:cNvSpPr>
          <p:nvPr/>
        </p:nvSpPr>
        <p:spPr>
          <a:xfrm xmlns:a="http://schemas.openxmlformats.org/drawingml/2006/main" rot="0">
            <a:off x="1000316" y="9676290"/>
            <a:ext cx="6595050"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product-use research. Arrows describe a mechanism, not realized orders.</a:t>
            </a:r>
          </a:p>
        </p:txBody>
      </p:sp>
      <p:sp>
        <p:nvSpPr>
          <p:cNvPr id="7" name="Figure 4 label 6 line 1">
            <a:extLst xmlns:a="http://schemas.openxmlformats.org/drawingml/2006/main">
              <a:ext uri="{FF2B5EF4-FFF2-40B4-BE49-F238E27FC236}">
                <a16:creationId xmlns:a16="http://schemas.microsoft.com/office/drawing/2014/main" id="{4BDAC166-BE53-40B5-9A2F-66DE0A610720}"/>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4 label 7 line 1">
            <a:extLst xmlns:a="http://schemas.openxmlformats.org/drawingml/2006/main">
              <a:ext uri="{FF2B5EF4-FFF2-40B4-BE49-F238E27FC236}">
                <a16:creationId xmlns:a16="http://schemas.microsoft.com/office/drawing/2014/main" id="{9C933E20-BE08-490D-84F2-5192C19D052F}"/>
              </a:ext>
            </a:extLst>
          </p:cNvPr>
          <p:cNvSpPr>
            <a:spLocks xmlns:a="http://schemas.openxmlformats.org/drawingml/2006/main" noGrp="1"/>
          </p:cNvSpPr>
          <p:nvPr/>
        </p:nvSpPr>
        <p:spPr>
          <a:xfrm xmlns:a="http://schemas.openxmlformats.org/drawingml/2006/main" rot="0">
            <a:off x="105422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0</a:t>
            </a:r>
          </a:p>
        </p:txBody>
      </p:sp>
      <p:sp>
        <p:nvSpPr>
          <p:cNvPr id="9" name="Figure 4 label 8 line 1">
            <a:extLst xmlns:a="http://schemas.openxmlformats.org/drawingml/2006/main">
              <a:ext uri="{FF2B5EF4-FFF2-40B4-BE49-F238E27FC236}">
                <a16:creationId xmlns:a16="http://schemas.microsoft.com/office/drawing/2014/main" id="{A82EDC4F-0964-447D-8CC3-66B6F9085F79}"/>
              </a:ext>
            </a:extLst>
          </p:cNvPr>
          <p:cNvSpPr>
            <a:spLocks xmlns:a="http://schemas.openxmlformats.org/drawingml/2006/main" noGrp="1"/>
          </p:cNvSpPr>
          <p:nvPr/>
        </p:nvSpPr>
        <p:spPr>
          <a:xfrm xmlns:a="http://schemas.openxmlformats.org/drawingml/2006/main" rot="0">
            <a:off x="1372985" y="3438342"/>
            <a:ext cx="1478558"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Data / targets</a:t>
            </a:r>
          </a:p>
        </p:txBody>
      </p:sp>
      <p:sp>
        <p:nvSpPr>
          <p:cNvPr id="10" name="Figure 4 label 9 line 1">
            <a:extLst xmlns:a="http://schemas.openxmlformats.org/drawingml/2006/main">
              <a:ext uri="{FF2B5EF4-FFF2-40B4-BE49-F238E27FC236}">
                <a16:creationId xmlns:a16="http://schemas.microsoft.com/office/drawing/2014/main" id="{11A46010-D2F4-4FBF-BE26-BBC414B1EEAA}"/>
              </a:ext>
            </a:extLst>
          </p:cNvPr>
          <p:cNvSpPr>
            <a:spLocks xmlns:a="http://schemas.openxmlformats.org/drawingml/2006/main" noGrp="1"/>
          </p:cNvSpPr>
          <p:nvPr/>
        </p:nvSpPr>
        <p:spPr>
          <a:xfrm xmlns:a="http://schemas.openxmlformats.org/drawingml/2006/main" rot="0">
            <a:off x="998982" y="5252960"/>
            <a:ext cx="199858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proteomics</a:t>
            </a:r>
          </a:p>
        </p:txBody>
      </p:sp>
      <p:sp>
        <p:nvSpPr>
          <p:cNvPr id="11" name="Figure 4 label 10 line 1">
            <a:extLst xmlns:a="http://schemas.openxmlformats.org/drawingml/2006/main">
              <a:ext uri="{FF2B5EF4-FFF2-40B4-BE49-F238E27FC236}">
                <a16:creationId xmlns:a16="http://schemas.microsoft.com/office/drawing/2014/main" id="{3A3DD68E-2104-4AED-93FB-71379AEF9363}"/>
              </a:ext>
            </a:extLst>
          </p:cNvPr>
          <p:cNvSpPr>
            <a:spLocks xmlns:a="http://schemas.openxmlformats.org/drawingml/2006/main" noGrp="1"/>
          </p:cNvSpPr>
          <p:nvPr/>
        </p:nvSpPr>
        <p:spPr>
          <a:xfrm xmlns:a="http://schemas.openxmlformats.org/drawingml/2006/main" rot="0">
            <a:off x="998982" y="5551066"/>
            <a:ext cx="15503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CRISPR screening</a:t>
            </a:r>
          </a:p>
        </p:txBody>
      </p:sp>
      <p:sp>
        <p:nvSpPr>
          <p:cNvPr id="12" name="Figure 4 label 11 line 1">
            <a:extLst xmlns:a="http://schemas.openxmlformats.org/drawingml/2006/main">
              <a:ext uri="{FF2B5EF4-FFF2-40B4-BE49-F238E27FC236}">
                <a16:creationId xmlns:a16="http://schemas.microsoft.com/office/drawing/2014/main" id="{95AD0B59-DB8C-424C-83CF-6C76AC9E1181}"/>
              </a:ext>
            </a:extLst>
          </p:cNvPr>
          <p:cNvSpPr>
            <a:spLocks xmlns:a="http://schemas.openxmlformats.org/drawingml/2006/main" noGrp="1"/>
          </p:cNvSpPr>
          <p:nvPr/>
        </p:nvSpPr>
        <p:spPr>
          <a:xfrm xmlns:a="http://schemas.openxmlformats.org/drawingml/2006/main" rot="0">
            <a:off x="998982" y="5844784"/>
            <a:ext cx="202700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Research data resources</a:t>
            </a:r>
          </a:p>
        </p:txBody>
      </p:sp>
      <p:sp>
        <p:nvSpPr>
          <p:cNvPr id="13" name="Figure 4 label 12 line 1">
            <a:extLst xmlns:a="http://schemas.openxmlformats.org/drawingml/2006/main">
              <a:ext uri="{FF2B5EF4-FFF2-40B4-BE49-F238E27FC236}">
                <a16:creationId xmlns:a16="http://schemas.microsoft.com/office/drawing/2014/main" id="{2CD3FF16-3322-4EBF-9FC3-ADADE05E61A5}"/>
              </a:ext>
            </a:extLst>
          </p:cNvPr>
          <p:cNvSpPr>
            <a:spLocks xmlns:a="http://schemas.openxmlformats.org/drawingml/2006/main" noGrp="1"/>
          </p:cNvSpPr>
          <p:nvPr/>
        </p:nvSpPr>
        <p:spPr>
          <a:xfrm xmlns:a="http://schemas.openxmlformats.org/drawingml/2006/main" rot="0">
            <a:off x="1581196" y="6998393"/>
            <a:ext cx="106213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Generate data</a:t>
            </a:r>
          </a:p>
        </p:txBody>
      </p:sp>
      <p:sp>
        <p:nvSpPr>
          <p:cNvPr id="14" name="Figure 4 label 13 line 1">
            <a:extLst xmlns:a="http://schemas.openxmlformats.org/drawingml/2006/main">
              <a:ext uri="{FF2B5EF4-FFF2-40B4-BE49-F238E27FC236}">
                <a16:creationId xmlns:a16="http://schemas.microsoft.com/office/drawing/2014/main" id="{027ABD07-DED5-4449-B435-ADBBA2DE0448}"/>
              </a:ext>
            </a:extLst>
          </p:cNvPr>
          <p:cNvSpPr>
            <a:spLocks xmlns:a="http://schemas.openxmlformats.org/drawingml/2006/main" noGrp="1"/>
          </p:cNvSpPr>
          <p:nvPr/>
        </p:nvSpPr>
        <p:spPr>
          <a:xfrm xmlns:a="http://schemas.openxmlformats.org/drawingml/2006/main" rot="0">
            <a:off x="3870579"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1</a:t>
            </a:r>
          </a:p>
        </p:txBody>
      </p:sp>
      <p:sp>
        <p:nvSpPr>
          <p:cNvPr id="15" name="Figure 4 label 14 line 1">
            <a:extLst xmlns:a="http://schemas.openxmlformats.org/drawingml/2006/main">
              <a:ext uri="{FF2B5EF4-FFF2-40B4-BE49-F238E27FC236}">
                <a16:creationId xmlns:a16="http://schemas.microsoft.com/office/drawing/2014/main" id="{37B0D940-A7C8-4BBF-9DDD-B7DEE1B30343}"/>
              </a:ext>
            </a:extLst>
          </p:cNvPr>
          <p:cNvSpPr>
            <a:spLocks xmlns:a="http://schemas.openxmlformats.org/drawingml/2006/main" noGrp="1"/>
          </p:cNvSpPr>
          <p:nvPr/>
        </p:nvSpPr>
        <p:spPr>
          <a:xfrm xmlns:a="http://schemas.openxmlformats.org/drawingml/2006/main" rot="0">
            <a:off x="4183160" y="3438342"/>
            <a:ext cx="1490911"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Virtual design</a:t>
            </a:r>
          </a:p>
        </p:txBody>
      </p:sp>
      <p:sp>
        <p:nvSpPr>
          <p:cNvPr id="16" name="Figure 4 label 15 line 1">
            <a:extLst xmlns:a="http://schemas.openxmlformats.org/drawingml/2006/main">
              <a:ext uri="{FF2B5EF4-FFF2-40B4-BE49-F238E27FC236}">
                <a16:creationId xmlns:a16="http://schemas.microsoft.com/office/drawing/2014/main" id="{97E6E2D9-9B16-4616-97EB-E85FC08C0CB3}"/>
              </a:ext>
            </a:extLst>
          </p:cNvPr>
          <p:cNvSpPr>
            <a:spLocks xmlns:a="http://schemas.openxmlformats.org/drawingml/2006/main" noGrp="1"/>
          </p:cNvSpPr>
          <p:nvPr/>
        </p:nvSpPr>
        <p:spPr>
          <a:xfrm xmlns:a="http://schemas.openxmlformats.org/drawingml/2006/main" rot="0">
            <a:off x="3815334" y="5251915"/>
            <a:ext cx="21698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Models / compute / ranking</a:t>
            </a:r>
          </a:p>
        </p:txBody>
      </p:sp>
      <p:sp>
        <p:nvSpPr>
          <p:cNvPr id="17" name="Figure 4 label 16 line 1">
            <a:extLst xmlns:a="http://schemas.openxmlformats.org/drawingml/2006/main">
              <a:ext uri="{FF2B5EF4-FFF2-40B4-BE49-F238E27FC236}">
                <a16:creationId xmlns:a16="http://schemas.microsoft.com/office/drawing/2014/main" id="{7C1AC1EC-B054-4A25-97B1-DC5D35BC265E}"/>
              </a:ext>
            </a:extLst>
          </p:cNvPr>
          <p:cNvSpPr>
            <a:spLocks xmlns:a="http://schemas.openxmlformats.org/drawingml/2006/main" noGrp="1"/>
          </p:cNvSpPr>
          <p:nvPr/>
        </p:nvSpPr>
        <p:spPr>
          <a:xfrm xmlns:a="http://schemas.openxmlformats.org/drawingml/2006/main" rot="0">
            <a:off x="3815334" y="5545633"/>
            <a:ext cx="196985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Less direct LST demand</a:t>
            </a:r>
          </a:p>
        </p:txBody>
      </p:sp>
      <p:sp>
        <p:nvSpPr>
          <p:cNvPr id="18" name="Figure 4 label 17 line 1">
            <a:extLst xmlns:a="http://schemas.openxmlformats.org/drawingml/2006/main">
              <a:ext uri="{FF2B5EF4-FFF2-40B4-BE49-F238E27FC236}">
                <a16:creationId xmlns:a16="http://schemas.microsoft.com/office/drawing/2014/main" id="{7EAF3977-F60E-4CEF-9662-D7FFEDAF8F4C}"/>
              </a:ext>
            </a:extLst>
          </p:cNvPr>
          <p:cNvSpPr>
            <a:spLocks xmlns:a="http://schemas.openxmlformats.org/drawingml/2006/main" noGrp="1"/>
          </p:cNvSpPr>
          <p:nvPr/>
        </p:nvSpPr>
        <p:spPr>
          <a:xfrm xmlns:a="http://schemas.openxmlformats.org/drawingml/2006/main" rot="0">
            <a:off x="3815334" y="5841891"/>
            <a:ext cx="136963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Candidate triage</a:t>
            </a:r>
          </a:p>
        </p:txBody>
      </p:sp>
      <p:sp>
        <p:nvSpPr>
          <p:cNvPr id="19" name="Figure 4 label 18 line 1">
            <a:extLst xmlns:a="http://schemas.openxmlformats.org/drawingml/2006/main">
              <a:ext uri="{FF2B5EF4-FFF2-40B4-BE49-F238E27FC236}">
                <a16:creationId xmlns:a16="http://schemas.microsoft.com/office/drawing/2014/main" id="{DCC2487D-FA80-4113-A40C-8A21086D5888}"/>
              </a:ext>
            </a:extLst>
          </p:cNvPr>
          <p:cNvSpPr>
            <a:spLocks xmlns:a="http://schemas.openxmlformats.org/drawingml/2006/main" noGrp="1"/>
          </p:cNvSpPr>
          <p:nvPr/>
        </p:nvSpPr>
        <p:spPr>
          <a:xfrm xmlns:a="http://schemas.openxmlformats.org/drawingml/2006/main" rot="0">
            <a:off x="4259286" y="6997580"/>
            <a:ext cx="133865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Design candidates</a:t>
            </a:r>
          </a:p>
        </p:txBody>
      </p:sp>
      <p:sp>
        <p:nvSpPr>
          <p:cNvPr id="20" name="Figure 4 label 19 line 1">
            <a:extLst xmlns:a="http://schemas.openxmlformats.org/drawingml/2006/main">
              <a:ext uri="{FF2B5EF4-FFF2-40B4-BE49-F238E27FC236}">
                <a16:creationId xmlns:a16="http://schemas.microsoft.com/office/drawing/2014/main" id="{7DFE5CAE-37ED-4E3B-A540-26C9E0188751}"/>
              </a:ext>
            </a:extLst>
          </p:cNvPr>
          <p:cNvSpPr>
            <a:spLocks xmlns:a="http://schemas.openxmlformats.org/drawingml/2006/main" noGrp="1"/>
          </p:cNvSpPr>
          <p:nvPr/>
        </p:nvSpPr>
        <p:spPr>
          <a:xfrm xmlns:a="http://schemas.openxmlformats.org/drawingml/2006/main" rot="0">
            <a:off x="6686931"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2</a:t>
            </a:r>
          </a:p>
        </p:txBody>
      </p:sp>
      <p:sp>
        <p:nvSpPr>
          <p:cNvPr id="21" name="Figure 4 label 20 line 1">
            <a:extLst xmlns:a="http://schemas.openxmlformats.org/drawingml/2006/main">
              <a:ext uri="{FF2B5EF4-FFF2-40B4-BE49-F238E27FC236}">
                <a16:creationId xmlns:a16="http://schemas.microsoft.com/office/drawing/2014/main" id="{5D893AF9-EB9F-464C-B2AE-AD5BE7DCB9BA}"/>
              </a:ext>
            </a:extLst>
          </p:cNvPr>
          <p:cNvSpPr>
            <a:spLocks xmlns:a="http://schemas.openxmlformats.org/drawingml/2006/main" noGrp="1"/>
          </p:cNvSpPr>
          <p:nvPr/>
        </p:nvSpPr>
        <p:spPr>
          <a:xfrm xmlns:a="http://schemas.openxmlformats.org/drawingml/2006/main" rot="0">
            <a:off x="6993337" y="3438342"/>
            <a:ext cx="150326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Physical build</a:t>
            </a:r>
          </a:p>
        </p:txBody>
      </p:sp>
      <p:sp>
        <p:nvSpPr>
          <p:cNvPr id="22" name="Figure 4 label 21 line 1">
            <a:extLst xmlns:a="http://schemas.openxmlformats.org/drawingml/2006/main">
              <a:ext uri="{FF2B5EF4-FFF2-40B4-BE49-F238E27FC236}">
                <a16:creationId xmlns:a16="http://schemas.microsoft.com/office/drawing/2014/main" id="{3A48A058-87B1-4CA6-8CB6-D970D1E33997}"/>
              </a:ext>
            </a:extLst>
          </p:cNvPr>
          <p:cNvSpPr>
            <a:spLocks xmlns:a="http://schemas.openxmlformats.org/drawingml/2006/main" noGrp="1"/>
          </p:cNvSpPr>
          <p:nvPr/>
        </p:nvSpPr>
        <p:spPr>
          <a:xfrm xmlns:a="http://schemas.openxmlformats.org/drawingml/2006/main" rot="0">
            <a:off x="6631686" y="5253185"/>
            <a:ext cx="176001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Building blocks / DNA</a:t>
            </a:r>
          </a:p>
        </p:txBody>
      </p:sp>
      <p:sp>
        <p:nvSpPr>
          <p:cNvPr id="23" name="Figure 4 label 22 line 1">
            <a:extLst xmlns:a="http://schemas.openxmlformats.org/drawingml/2006/main">
              <a:ext uri="{FF2B5EF4-FFF2-40B4-BE49-F238E27FC236}">
                <a16:creationId xmlns:a16="http://schemas.microsoft.com/office/drawing/2014/main" id="{9E530B63-2665-4779-9B26-13954E888536}"/>
              </a:ext>
            </a:extLst>
          </p:cNvPr>
          <p:cNvSpPr>
            <a:spLocks xmlns:a="http://schemas.openxmlformats.org/drawingml/2006/main" noGrp="1"/>
          </p:cNvSpPr>
          <p:nvPr/>
        </p:nvSpPr>
        <p:spPr>
          <a:xfrm xmlns:a="http://schemas.openxmlformats.org/drawingml/2006/main" rot="0">
            <a:off x="6631686" y="5546903"/>
            <a:ext cx="156936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Enzymes / proteins</a:t>
            </a:r>
          </a:p>
        </p:txBody>
      </p:sp>
      <p:sp>
        <p:nvSpPr>
          <p:cNvPr id="24" name="Figure 4 label 23 line 1">
            <a:extLst xmlns:a="http://schemas.openxmlformats.org/drawingml/2006/main">
              <a:ext uri="{FF2B5EF4-FFF2-40B4-BE49-F238E27FC236}">
                <a16:creationId xmlns:a16="http://schemas.microsoft.com/office/drawing/2014/main" id="{B3081C3E-BBCA-466D-B2A0-D8478F407264}"/>
              </a:ext>
            </a:extLst>
          </p:cNvPr>
          <p:cNvSpPr>
            <a:spLocks xmlns:a="http://schemas.openxmlformats.org/drawingml/2006/main" noGrp="1"/>
          </p:cNvSpPr>
          <p:nvPr/>
        </p:nvSpPr>
        <p:spPr>
          <a:xfrm xmlns:a="http://schemas.openxmlformats.org/drawingml/2006/main" rot="0">
            <a:off x="6631686" y="5840621"/>
            <a:ext cx="21317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Analytical chromatography</a:t>
            </a:r>
          </a:p>
        </p:txBody>
      </p:sp>
      <p:sp>
        <p:nvSpPr>
          <p:cNvPr id="25" name="Figure 4 label 24 line 1">
            <a:extLst xmlns:a="http://schemas.openxmlformats.org/drawingml/2006/main">
              <a:ext uri="{FF2B5EF4-FFF2-40B4-BE49-F238E27FC236}">
                <a16:creationId xmlns:a16="http://schemas.microsoft.com/office/drawing/2014/main" id="{AEA95290-CD70-4719-885D-43A53670F413}"/>
              </a:ext>
            </a:extLst>
          </p:cNvPr>
          <p:cNvSpPr>
            <a:spLocks xmlns:a="http://schemas.openxmlformats.org/drawingml/2006/main" noGrp="1"/>
          </p:cNvSpPr>
          <p:nvPr/>
        </p:nvSpPr>
        <p:spPr>
          <a:xfrm xmlns:a="http://schemas.openxmlformats.org/drawingml/2006/main" rot="0">
            <a:off x="7142686"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Build candidates</a:t>
            </a:r>
          </a:p>
        </p:txBody>
      </p:sp>
      <p:sp>
        <p:nvSpPr>
          <p:cNvPr id="26" name="Figure 4 label 25 line 1">
            <a:extLst xmlns:a="http://schemas.openxmlformats.org/drawingml/2006/main">
              <a:ext uri="{FF2B5EF4-FFF2-40B4-BE49-F238E27FC236}">
                <a16:creationId xmlns:a16="http://schemas.microsoft.com/office/drawing/2014/main" id="{DE77F3D0-3D91-485F-ADF2-B80A6B28AA5E}"/>
              </a:ext>
            </a:extLst>
          </p:cNvPr>
          <p:cNvSpPr>
            <a:spLocks xmlns:a="http://schemas.openxmlformats.org/drawingml/2006/main" noGrp="1"/>
          </p:cNvSpPr>
          <p:nvPr/>
        </p:nvSpPr>
        <p:spPr>
          <a:xfrm xmlns:a="http://schemas.openxmlformats.org/drawingml/2006/main" rot="0">
            <a:off x="9503283"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3</a:t>
            </a:r>
          </a:p>
        </p:txBody>
      </p:sp>
      <p:sp>
        <p:nvSpPr>
          <p:cNvPr id="27" name="Figure 4 label 26 line 1">
            <a:extLst xmlns:a="http://schemas.openxmlformats.org/drawingml/2006/main">
              <a:ext uri="{FF2B5EF4-FFF2-40B4-BE49-F238E27FC236}">
                <a16:creationId xmlns:a16="http://schemas.microsoft.com/office/drawing/2014/main" id="{30EE1139-A331-482C-9FE0-986C5F4E8BAB}"/>
              </a:ext>
            </a:extLst>
          </p:cNvPr>
          <p:cNvSpPr>
            <a:spLocks xmlns:a="http://schemas.openxmlformats.org/drawingml/2006/main" noGrp="1"/>
          </p:cNvSpPr>
          <p:nvPr/>
        </p:nvSpPr>
        <p:spPr>
          <a:xfrm xmlns:a="http://schemas.openxmlformats.org/drawingml/2006/main" rot="0">
            <a:off x="9840720" y="3439540"/>
            <a:ext cx="1441202"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Wet-lab tests</a:t>
            </a:r>
          </a:p>
        </p:txBody>
      </p:sp>
      <p:sp>
        <p:nvSpPr>
          <p:cNvPr id="28" name="Figure 4 label 27 line 1">
            <a:extLst xmlns:a="http://schemas.openxmlformats.org/drawingml/2006/main">
              <a:ext uri="{FF2B5EF4-FFF2-40B4-BE49-F238E27FC236}">
                <a16:creationId xmlns:a16="http://schemas.microsoft.com/office/drawing/2014/main" id="{0813891C-ED95-4311-A99D-1CDC81E2FCC7}"/>
              </a:ext>
            </a:extLst>
          </p:cNvPr>
          <p:cNvSpPr>
            <a:spLocks xmlns:a="http://schemas.openxmlformats.org/drawingml/2006/main" noGrp="1"/>
          </p:cNvSpPr>
          <p:nvPr/>
        </p:nvSpPr>
        <p:spPr>
          <a:xfrm xmlns:a="http://schemas.openxmlformats.org/drawingml/2006/main" rot="0">
            <a:off x="9448038" y="5254230"/>
            <a:ext cx="17789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Cells / media / assays</a:t>
            </a:r>
          </a:p>
        </p:txBody>
      </p:sp>
      <p:sp>
        <p:nvSpPr>
          <p:cNvPr id="29" name="Figure 4 label 28 line 1">
            <a:extLst xmlns:a="http://schemas.openxmlformats.org/drawingml/2006/main">
              <a:ext uri="{FF2B5EF4-FFF2-40B4-BE49-F238E27FC236}">
                <a16:creationId xmlns:a16="http://schemas.microsoft.com/office/drawing/2014/main" id="{531C74A1-96A5-4E28-B564-A055C108DDC9}"/>
              </a:ext>
            </a:extLst>
          </p:cNvPr>
          <p:cNvSpPr>
            <a:spLocks xmlns:a="http://schemas.openxmlformats.org/drawingml/2006/main" noGrp="1"/>
          </p:cNvSpPr>
          <p:nvPr/>
        </p:nvSpPr>
        <p:spPr>
          <a:xfrm xmlns:a="http://schemas.openxmlformats.org/drawingml/2006/main" rot="0">
            <a:off x="9448038" y="5547948"/>
            <a:ext cx="1827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Plates / liquid handling</a:t>
            </a:r>
          </a:p>
        </p:txBody>
      </p:sp>
      <p:sp>
        <p:nvSpPr>
          <p:cNvPr id="30" name="Figure 4 label 29 line 1">
            <a:extLst xmlns:a="http://schemas.openxmlformats.org/drawingml/2006/main">
              <a:ext uri="{FF2B5EF4-FFF2-40B4-BE49-F238E27FC236}">
                <a16:creationId xmlns:a16="http://schemas.microsoft.com/office/drawing/2014/main" id="{083380B7-8A4B-4C2D-B479-51180036BDBB}"/>
              </a:ext>
            </a:extLst>
          </p:cNvPr>
          <p:cNvSpPr>
            <a:spLocks xmlns:a="http://schemas.openxmlformats.org/drawingml/2006/main" noGrp="1"/>
          </p:cNvSpPr>
          <p:nvPr/>
        </p:nvSpPr>
        <p:spPr>
          <a:xfrm xmlns:a="http://schemas.openxmlformats.org/drawingml/2006/main" rot="0">
            <a:off x="9448038" y="5841666"/>
            <a:ext cx="19890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High-throughput imaging</a:t>
            </a:r>
          </a:p>
        </p:txBody>
      </p:sp>
      <p:sp>
        <p:nvSpPr>
          <p:cNvPr id="31" name="Figure 4 label 30 line 1">
            <a:extLst xmlns:a="http://schemas.openxmlformats.org/drawingml/2006/main">
              <a:ext uri="{FF2B5EF4-FFF2-40B4-BE49-F238E27FC236}">
                <a16:creationId xmlns:a16="http://schemas.microsoft.com/office/drawing/2014/main" id="{C6D0F9C1-F7D8-45A3-857D-6A487125C756}"/>
              </a:ext>
            </a:extLst>
          </p:cNvPr>
          <p:cNvSpPr>
            <a:spLocks xmlns:a="http://schemas.openxmlformats.org/drawingml/2006/main" noGrp="1"/>
          </p:cNvSpPr>
          <p:nvPr/>
        </p:nvSpPr>
        <p:spPr>
          <a:xfrm xmlns:a="http://schemas.openxmlformats.org/drawingml/2006/main" rot="0">
            <a:off x="9959038"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Create feedback</a:t>
            </a:r>
          </a:p>
        </p:txBody>
      </p:sp>
      <p:sp>
        <p:nvSpPr>
          <p:cNvPr id="32" name="Figure 4 label 31 line 1">
            <a:extLst xmlns:a="http://schemas.openxmlformats.org/drawingml/2006/main">
              <a:ext uri="{FF2B5EF4-FFF2-40B4-BE49-F238E27FC236}">
                <a16:creationId xmlns:a16="http://schemas.microsoft.com/office/drawing/2014/main" id="{35482FC2-2127-49D0-98B9-871C5FF45661}"/>
              </a:ext>
            </a:extLst>
          </p:cNvPr>
          <p:cNvSpPr>
            <a:spLocks xmlns:a="http://schemas.openxmlformats.org/drawingml/2006/main" noGrp="1"/>
          </p:cNvSpPr>
          <p:nvPr/>
        </p:nvSpPr>
        <p:spPr>
          <a:xfrm xmlns:a="http://schemas.openxmlformats.org/drawingml/2006/main" rot="0">
            <a:off x="12319635"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4</a:t>
            </a:r>
          </a:p>
        </p:txBody>
      </p:sp>
      <p:sp>
        <p:nvSpPr>
          <p:cNvPr id="33" name="Figure 4 label 32 line 1">
            <a:extLst xmlns:a="http://schemas.openxmlformats.org/drawingml/2006/main">
              <a:ext uri="{FF2B5EF4-FFF2-40B4-BE49-F238E27FC236}">
                <a16:creationId xmlns:a16="http://schemas.microsoft.com/office/drawing/2014/main" id="{D574A738-5737-4D19-9F10-F2EAA187A218}"/>
              </a:ext>
            </a:extLst>
          </p:cNvPr>
          <p:cNvSpPr>
            <a:spLocks xmlns:a="http://schemas.openxmlformats.org/drawingml/2006/main" noGrp="1"/>
          </p:cNvSpPr>
          <p:nvPr/>
        </p:nvSpPr>
        <p:spPr>
          <a:xfrm xmlns:a="http://schemas.openxmlformats.org/drawingml/2006/main" rot="0">
            <a:off x="12447001" y="3439540"/>
            <a:ext cx="186134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Clinical validation</a:t>
            </a:r>
          </a:p>
        </p:txBody>
      </p:sp>
      <p:sp>
        <p:nvSpPr>
          <p:cNvPr id="34" name="Figure 4 label 33 line 1">
            <a:extLst xmlns:a="http://schemas.openxmlformats.org/drawingml/2006/main">
              <a:ext uri="{FF2B5EF4-FFF2-40B4-BE49-F238E27FC236}">
                <a16:creationId xmlns:a16="http://schemas.microsoft.com/office/drawing/2014/main" id="{FB4888FD-8377-42BD-AAFD-7FAAC363F474}"/>
              </a:ext>
            </a:extLst>
          </p:cNvPr>
          <p:cNvSpPr>
            <a:spLocks xmlns:a="http://schemas.openxmlformats.org/drawingml/2006/main" noGrp="1"/>
          </p:cNvSpPr>
          <p:nvPr/>
        </p:nvSpPr>
        <p:spPr>
          <a:xfrm xmlns:a="http://schemas.openxmlformats.org/drawingml/2006/main" rot="0">
            <a:off x="12264390" y="5252036"/>
            <a:ext cx="18554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IVD R&amp;D</a:t>
            </a:r>
          </a:p>
        </p:txBody>
      </p:sp>
      <p:sp>
        <p:nvSpPr>
          <p:cNvPr id="35" name="Figure 4 label 34 line 1">
            <a:extLst xmlns:a="http://schemas.openxmlformats.org/drawingml/2006/main">
              <a:ext uri="{FF2B5EF4-FFF2-40B4-BE49-F238E27FC236}">
                <a16:creationId xmlns:a16="http://schemas.microsoft.com/office/drawing/2014/main" id="{C3C92856-A926-4A3B-AAFF-79E2FDA111F3}"/>
              </a:ext>
            </a:extLst>
          </p:cNvPr>
          <p:cNvSpPr>
            <a:spLocks xmlns:a="http://schemas.openxmlformats.org/drawingml/2006/main" noGrp="1"/>
          </p:cNvSpPr>
          <p:nvPr/>
        </p:nvSpPr>
        <p:spPr>
          <a:xfrm xmlns:a="http://schemas.openxmlformats.org/drawingml/2006/main" rot="0">
            <a:off x="12264390" y="5550142"/>
            <a:ext cx="196033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Clinical sample handling</a:t>
            </a:r>
          </a:p>
        </p:txBody>
      </p:sp>
      <p:sp>
        <p:nvSpPr>
          <p:cNvPr id="36" name="Figure 4 label 35 line 1">
            <a:extLst xmlns:a="http://schemas.openxmlformats.org/drawingml/2006/main">
              <a:ext uri="{FF2B5EF4-FFF2-40B4-BE49-F238E27FC236}">
                <a16:creationId xmlns:a16="http://schemas.microsoft.com/office/drawing/2014/main" id="{632D3862-79EB-437F-91B4-6843E330642F}"/>
              </a:ext>
            </a:extLst>
          </p:cNvPr>
          <p:cNvSpPr>
            <a:spLocks xmlns:a="http://schemas.openxmlformats.org/drawingml/2006/main" noGrp="1"/>
          </p:cNvSpPr>
          <p:nvPr/>
        </p:nvSpPr>
        <p:spPr>
          <a:xfrm xmlns:a="http://schemas.openxmlformats.org/drawingml/2006/main" rot="0">
            <a:off x="12264390" y="5843860"/>
            <a:ext cx="149346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Automated testing</a:t>
            </a:r>
          </a:p>
        </p:txBody>
      </p:sp>
      <p:sp>
        <p:nvSpPr>
          <p:cNvPr id="37" name="Figure 4 label 36 line 1">
            <a:extLst xmlns:a="http://schemas.openxmlformats.org/drawingml/2006/main">
              <a:ext uri="{FF2B5EF4-FFF2-40B4-BE49-F238E27FC236}">
                <a16:creationId xmlns:a16="http://schemas.microsoft.com/office/drawing/2014/main" id="{22130378-CB45-47B6-B896-312E483F5424}"/>
              </a:ext>
            </a:extLst>
          </p:cNvPr>
          <p:cNvSpPr>
            <a:spLocks xmlns:a="http://schemas.openxmlformats.org/drawingml/2006/main" noGrp="1"/>
          </p:cNvSpPr>
          <p:nvPr/>
        </p:nvSpPr>
        <p:spPr>
          <a:xfrm xmlns:a="http://schemas.openxmlformats.org/drawingml/2006/main" rot="0">
            <a:off x="12863496" y="6997580"/>
            <a:ext cx="102835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Validate utility</a:t>
            </a:r>
          </a:p>
        </p:txBody>
      </p:sp>
      <p:sp>
        <p:nvSpPr>
          <p:cNvPr id="38" name="Figure 4 label 37 line 1">
            <a:extLst xmlns:a="http://schemas.openxmlformats.org/drawingml/2006/main">
              <a:ext uri="{FF2B5EF4-FFF2-40B4-BE49-F238E27FC236}">
                <a16:creationId xmlns:a16="http://schemas.microsoft.com/office/drawing/2014/main" id="{D926E927-A521-4E14-BB63-658344C59467}"/>
              </a:ext>
            </a:extLst>
          </p:cNvPr>
          <p:cNvSpPr>
            <a:spLocks xmlns:a="http://schemas.openxmlformats.org/drawingml/2006/main" noGrp="1"/>
          </p:cNvSpPr>
          <p:nvPr/>
        </p:nvSpPr>
        <p:spPr>
          <a:xfrm xmlns:a="http://schemas.openxmlformats.org/drawingml/2006/main" rot="0">
            <a:off x="1513598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5</a:t>
            </a:r>
          </a:p>
        </p:txBody>
      </p:sp>
      <p:sp>
        <p:nvSpPr>
          <p:cNvPr id="39" name="Figure 4 label 38 line 1">
            <a:extLst xmlns:a="http://schemas.openxmlformats.org/drawingml/2006/main">
              <a:ext uri="{FF2B5EF4-FFF2-40B4-BE49-F238E27FC236}">
                <a16:creationId xmlns:a16="http://schemas.microsoft.com/office/drawing/2014/main" id="{67FA3BA6-B4E1-4C9C-9FE9-9BFAD92F4348}"/>
              </a:ext>
            </a:extLst>
          </p:cNvPr>
          <p:cNvSpPr>
            <a:spLocks xmlns:a="http://schemas.openxmlformats.org/drawingml/2006/main" noGrp="1"/>
          </p:cNvSpPr>
          <p:nvPr/>
        </p:nvSpPr>
        <p:spPr>
          <a:xfrm xmlns:a="http://schemas.openxmlformats.org/drawingml/2006/main" rot="0">
            <a:off x="15481001" y="3319286"/>
            <a:ext cx="155267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Manufacturing</a:t>
            </a:r>
          </a:p>
        </p:txBody>
      </p:sp>
      <p:sp>
        <p:nvSpPr>
          <p:cNvPr id="40" name="Figure 4 label 39 line 1">
            <a:extLst xmlns:a="http://schemas.openxmlformats.org/drawingml/2006/main">
              <a:ext uri="{FF2B5EF4-FFF2-40B4-BE49-F238E27FC236}">
                <a16:creationId xmlns:a16="http://schemas.microsoft.com/office/drawing/2014/main" id="{1D610848-1C64-498C-8033-E3638A7BEBF1}"/>
              </a:ext>
            </a:extLst>
          </p:cNvPr>
          <p:cNvSpPr>
            <a:spLocks xmlns:a="http://schemas.openxmlformats.org/drawingml/2006/main" noGrp="1"/>
          </p:cNvSpPr>
          <p:nvPr/>
        </p:nvSpPr>
        <p:spPr>
          <a:xfrm xmlns:a="http://schemas.openxmlformats.org/drawingml/2006/main" rot="0">
            <a:off x="15505934" y="3560107"/>
            <a:ext cx="1502817"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(if successful)</a:t>
            </a:r>
          </a:p>
        </p:txBody>
      </p:sp>
      <p:sp>
        <p:nvSpPr>
          <p:cNvPr id="41" name="Figure 4 label 40 line 1">
            <a:extLst xmlns:a="http://schemas.openxmlformats.org/drawingml/2006/main">
              <a:ext uri="{FF2B5EF4-FFF2-40B4-BE49-F238E27FC236}">
                <a16:creationId xmlns:a16="http://schemas.microsoft.com/office/drawing/2014/main" id="{140F2469-EB02-4F4B-95F4-94B72CEBAF39}"/>
              </a:ext>
            </a:extLst>
          </p:cNvPr>
          <p:cNvSpPr>
            <a:spLocks xmlns:a="http://schemas.openxmlformats.org/drawingml/2006/main" noGrp="1"/>
          </p:cNvSpPr>
          <p:nvPr/>
        </p:nvSpPr>
        <p:spPr>
          <a:xfrm xmlns:a="http://schemas.openxmlformats.org/drawingml/2006/main" rot="0">
            <a:off x="15080742" y="5252840"/>
            <a:ext cx="117868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Media / resins</a:t>
            </a:r>
          </a:p>
        </p:txBody>
      </p:sp>
      <p:sp>
        <p:nvSpPr>
          <p:cNvPr id="42" name="Figure 4 label 41 line 1">
            <a:extLst xmlns:a="http://schemas.openxmlformats.org/drawingml/2006/main">
              <a:ext uri="{FF2B5EF4-FFF2-40B4-BE49-F238E27FC236}">
                <a16:creationId xmlns:a16="http://schemas.microsoft.com/office/drawing/2014/main" id="{279D1469-4704-41A7-85B9-65FE70386A7D}"/>
              </a:ext>
            </a:extLst>
          </p:cNvPr>
          <p:cNvSpPr>
            <a:spLocks xmlns:a="http://schemas.openxmlformats.org/drawingml/2006/main" noGrp="1"/>
          </p:cNvSpPr>
          <p:nvPr/>
        </p:nvSpPr>
        <p:spPr>
          <a:xfrm xmlns:a="http://schemas.openxmlformats.org/drawingml/2006/main" rot="0">
            <a:off x="15080742" y="5544709"/>
            <a:ext cx="21602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Filtration / process labware</a:t>
            </a:r>
          </a:p>
        </p:txBody>
      </p:sp>
      <p:sp>
        <p:nvSpPr>
          <p:cNvPr id="43" name="Figure 4 label 42 line 1">
            <a:extLst xmlns:a="http://schemas.openxmlformats.org/drawingml/2006/main">
              <a:ext uri="{FF2B5EF4-FFF2-40B4-BE49-F238E27FC236}">
                <a16:creationId xmlns:a16="http://schemas.microsoft.com/office/drawing/2014/main" id="{5C75009F-0AAE-46D6-8159-F63A364DC93A}"/>
              </a:ext>
            </a:extLst>
          </p:cNvPr>
          <p:cNvSpPr>
            <a:spLocks xmlns:a="http://schemas.openxmlformats.org/drawingml/2006/main" noGrp="1"/>
          </p:cNvSpPr>
          <p:nvPr/>
        </p:nvSpPr>
        <p:spPr>
          <a:xfrm xmlns:a="http://schemas.openxmlformats.org/drawingml/2006/main" rot="0">
            <a:off x="15080742" y="5840967"/>
            <a:ext cx="2208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Single-use bioprocess tools</a:t>
            </a:r>
          </a:p>
        </p:txBody>
      </p:sp>
      <p:sp>
        <p:nvSpPr>
          <p:cNvPr id="44" name="Figure 4 label 43 line 1">
            <a:extLst xmlns:a="http://schemas.openxmlformats.org/drawingml/2006/main">
              <a:ext uri="{FF2B5EF4-FFF2-40B4-BE49-F238E27FC236}">
                <a16:creationId xmlns:a16="http://schemas.microsoft.com/office/drawing/2014/main" id="{3249D5CB-D9C9-4ECF-9194-F2C2582591AB}"/>
              </a:ext>
            </a:extLst>
          </p:cNvPr>
          <p:cNvSpPr>
            <a:spLocks xmlns:a="http://schemas.openxmlformats.org/drawingml/2006/main" noGrp="1"/>
          </p:cNvSpPr>
          <p:nvPr/>
        </p:nvSpPr>
        <p:spPr>
          <a:xfrm xmlns:a="http://schemas.openxmlformats.org/drawingml/2006/main" rot="0">
            <a:off x="15654622" y="6997580"/>
            <a:ext cx="107880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Produce drugs</a:t>
            </a:r>
          </a:p>
        </p:txBody>
      </p:sp>
      <p:sp>
        <p:nvSpPr>
          <p:cNvPr id="45" name="Figure 4 label 44 line 1">
            <a:extLst xmlns:a="http://schemas.openxmlformats.org/drawingml/2006/main">
              <a:ext uri="{FF2B5EF4-FFF2-40B4-BE49-F238E27FC236}">
                <a16:creationId xmlns:a16="http://schemas.microsoft.com/office/drawing/2014/main" id="{6F2DF576-1630-4788-A90C-D246FA6E9666}"/>
              </a:ext>
            </a:extLst>
          </p:cNvPr>
          <p:cNvSpPr>
            <a:spLocks xmlns:a="http://schemas.openxmlformats.org/drawingml/2006/main" noGrp="1"/>
          </p:cNvSpPr>
          <p:nvPr/>
        </p:nvSpPr>
        <p:spPr>
          <a:xfrm xmlns:a="http://schemas.openxmlformats.org/drawingml/2006/main" rot="0">
            <a:off x="5851000" y="2044848"/>
            <a:ext cx="3294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13"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Experimental feedback → next design cycle</a:t>
            </a:r>
          </a:p>
        </p:txBody>
      </p:sp>
      <p:sp>
        <p:nvSpPr>
          <p:cNvPr id="46" name="Figure 4 label 45 line 1">
            <a:extLst xmlns:a="http://schemas.openxmlformats.org/drawingml/2006/main">
              <a:ext uri="{FF2B5EF4-FFF2-40B4-BE49-F238E27FC236}">
                <a16:creationId xmlns:a16="http://schemas.microsoft.com/office/drawing/2014/main" id="{FDF0D588-B760-43D2-BB76-41C5A8D9925D}"/>
              </a:ext>
            </a:extLst>
          </p:cNvPr>
          <p:cNvSpPr>
            <a:spLocks xmlns:a="http://schemas.openxmlformats.org/drawingml/2006/main" noGrp="1"/>
          </p:cNvSpPr>
          <p:nvPr/>
        </p:nvSpPr>
        <p:spPr>
          <a:xfrm xmlns:a="http://schemas.openxmlformats.org/drawingml/2006/main" rot="0">
            <a:off x="5122143" y="8227834"/>
            <a:ext cx="804371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The most direct potential uplift comes from building and testing candidates.</a:t>
            </a:r>
          </a:p>
        </p:txBody>
      </p:sp>
    </p:spTree>
    <p:extLst>
      <p:ext uri="{BB962C8B-B14F-4D97-AF65-F5344CB8AC3E}">
        <p14:creationId xmlns:p14="http://schemas.microsoft.com/office/powerpoint/2010/main" val="17619351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927601F1-00B1-4E6E-A0DA-D976C385BC0D}"/>
              </a:ext>
            </a:extLst>
          </p:cNvPr>
          <p:cNvPicPr>
            <a:picLocks xmlns:a="http://schemas.openxmlformats.org/drawingml/2006/main" noChangeAspect="1"/>
          </p:cNvPicPr>
          <p:nvPr/>
        </p:nvPicPr>
        <p:blipFill>
          <a:blip xmlns:r="http://schemas.openxmlformats.org/officeDocument/2006/relationships" xmlns:a="http://schemas.openxmlformats.org/drawingml/2006/main" r:embed="Rb4ffb96ded544d3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5 label 1 line 1">
            <a:extLst xmlns:a="http://schemas.openxmlformats.org/drawingml/2006/main">
              <a:ext uri="{FF2B5EF4-FFF2-40B4-BE49-F238E27FC236}">
                <a16:creationId xmlns:a16="http://schemas.microsoft.com/office/drawing/2014/main" id="{469C59EC-7233-4E6C-AECC-F84DCB1A4D4A}"/>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5 label 2 line 1">
            <a:extLst xmlns:a="http://schemas.openxmlformats.org/drawingml/2006/main">
              <a:ext uri="{FF2B5EF4-FFF2-40B4-BE49-F238E27FC236}">
                <a16:creationId xmlns:a16="http://schemas.microsoft.com/office/drawing/2014/main" id="{0266E209-3E1C-4653-9C16-9E11B8703882}"/>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5 label 3 line 1">
            <a:extLst xmlns:a="http://schemas.openxmlformats.org/drawingml/2006/main">
              <a:ext uri="{FF2B5EF4-FFF2-40B4-BE49-F238E27FC236}">
                <a16:creationId xmlns:a16="http://schemas.microsoft.com/office/drawing/2014/main" id="{913D13CC-4965-4752-A3A4-984F9A5350BE}"/>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5 label 4 line 1">
            <a:extLst xmlns:a="http://schemas.openxmlformats.org/drawingml/2006/main">
              <a:ext uri="{FF2B5EF4-FFF2-40B4-BE49-F238E27FC236}">
                <a16:creationId xmlns:a16="http://schemas.microsoft.com/office/drawing/2014/main" id="{7745F101-F017-4F23-9A56-0E2D821CE726}"/>
              </a:ext>
            </a:extLst>
          </p:cNvPr>
          <p:cNvSpPr>
            <a:spLocks xmlns:a="http://schemas.openxmlformats.org/drawingml/2006/main" noGrp="1"/>
          </p:cNvSpPr>
          <p:nvPr/>
        </p:nvSpPr>
        <p:spPr>
          <a:xfrm xmlns:a="http://schemas.openxmlformats.org/drawingml/2006/main" rot="0">
            <a:off x="7276772" y="8291493"/>
            <a:ext cx="22714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Experimental necessity →</a:t>
            </a:r>
          </a:p>
        </p:txBody>
      </p:sp>
      <p:sp>
        <p:nvSpPr>
          <p:cNvPr id="6" name="Figure 5 label 5 line 1">
            <a:extLst xmlns:a="http://schemas.openxmlformats.org/drawingml/2006/main">
              <a:ext uri="{FF2B5EF4-FFF2-40B4-BE49-F238E27FC236}">
                <a16:creationId xmlns:a16="http://schemas.microsoft.com/office/drawing/2014/main" id="{0A86BD24-7DE9-41DF-BAB2-104ABB56186D}"/>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5 label 6 line 1">
            <a:extLst xmlns:a="http://schemas.openxmlformats.org/drawingml/2006/main">
              <a:ext uri="{FF2B5EF4-FFF2-40B4-BE49-F238E27FC236}">
                <a16:creationId xmlns:a16="http://schemas.microsoft.com/office/drawing/2014/main" id="{BE5D5001-A3F4-40F8-AF95-DEF4177C2FE6}"/>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5 label 7 line 1">
            <a:extLst xmlns:a="http://schemas.openxmlformats.org/drawingml/2006/main">
              <a:ext uri="{FF2B5EF4-FFF2-40B4-BE49-F238E27FC236}">
                <a16:creationId xmlns:a16="http://schemas.microsoft.com/office/drawing/2014/main" id="{38488012-B846-4407-8FA2-1961B35BFADE}"/>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5 label 8 line 1">
            <a:extLst xmlns:a="http://schemas.openxmlformats.org/drawingml/2006/main">
              <a:ext uri="{FF2B5EF4-FFF2-40B4-BE49-F238E27FC236}">
                <a16:creationId xmlns:a16="http://schemas.microsoft.com/office/drawing/2014/main" id="{F5DD8FE7-3CCD-47B3-84AF-5D2FEC76F15D}"/>
              </a:ext>
            </a:extLst>
          </p:cNvPr>
          <p:cNvSpPr>
            <a:spLocks xmlns:a="http://schemas.openxmlformats.org/drawingml/2006/main" noGrp="1"/>
          </p:cNvSpPr>
          <p:nvPr/>
        </p:nvSpPr>
        <p:spPr>
          <a:xfrm xmlns:a="http://schemas.openxmlformats.org/drawingml/2006/main" rot="16200000">
            <a:off x="-1479297" y="4918710"/>
            <a:ext cx="373275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Revenue elasticity to experiment volume →</a:t>
            </a:r>
          </a:p>
        </p:txBody>
      </p:sp>
      <p:sp>
        <p:nvSpPr>
          <p:cNvPr id="10" name="Figure 5 label 9 line 1">
            <a:extLst xmlns:a="http://schemas.openxmlformats.org/drawingml/2006/main">
              <a:ext uri="{FF2B5EF4-FFF2-40B4-BE49-F238E27FC236}">
                <a16:creationId xmlns:a16="http://schemas.microsoft.com/office/drawing/2014/main" id="{CCCF92CA-81F0-4373-ADA3-6E07C03F8313}"/>
              </a:ext>
            </a:extLst>
          </p:cNvPr>
          <p:cNvSpPr>
            <a:spLocks xmlns:a="http://schemas.openxmlformats.org/drawingml/2006/main" noGrp="1"/>
          </p:cNvSpPr>
          <p:nvPr/>
        </p:nvSpPr>
        <p:spPr>
          <a:xfrm xmlns:a="http://schemas.openxmlformats.org/drawingml/2006/main" rot="0">
            <a:off x="2012455" y="2407644"/>
            <a:ext cx="3468162"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Project expansion and substitution both matter</a:t>
            </a:r>
          </a:p>
        </p:txBody>
      </p:sp>
      <p:sp>
        <p:nvSpPr>
          <p:cNvPr id="11" name="Figure 5 label 10 line 1">
            <a:extLst xmlns:a="http://schemas.openxmlformats.org/drawingml/2006/main">
              <a:ext uri="{FF2B5EF4-FFF2-40B4-BE49-F238E27FC236}">
                <a16:creationId xmlns:a16="http://schemas.microsoft.com/office/drawing/2014/main" id="{03F761AB-2FAD-45D6-92D1-EE191F090BE4}"/>
              </a:ext>
            </a:extLst>
          </p:cNvPr>
          <p:cNvSpPr>
            <a:spLocks xmlns:a="http://schemas.openxmlformats.org/drawingml/2006/main" noGrp="1"/>
          </p:cNvSpPr>
          <p:nvPr/>
        </p:nvSpPr>
        <p:spPr>
          <a:xfrm xmlns:a="http://schemas.openxmlformats.org/drawingml/2006/main" rot="0">
            <a:off x="11880532" y="2274154"/>
            <a:ext cx="130373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High-throughput</a:t>
            </a:r>
          </a:p>
        </p:txBody>
      </p:sp>
      <p:sp>
        <p:nvSpPr>
          <p:cNvPr id="12" name="Figure 5 label 11 line 1">
            <a:extLst xmlns:a="http://schemas.openxmlformats.org/drawingml/2006/main">
              <a:ext uri="{FF2B5EF4-FFF2-40B4-BE49-F238E27FC236}">
                <a16:creationId xmlns:a16="http://schemas.microsoft.com/office/drawing/2014/main" id="{9F430B4B-FF03-4E1D-BD62-F35E75BE89D9}"/>
              </a:ext>
            </a:extLst>
          </p:cNvPr>
          <p:cNvSpPr>
            <a:spLocks xmlns:a="http://schemas.openxmlformats.org/drawingml/2006/main" noGrp="1"/>
          </p:cNvSpPr>
          <p:nvPr/>
        </p:nvSpPr>
        <p:spPr>
          <a:xfrm xmlns:a="http://schemas.openxmlformats.org/drawingml/2006/main" rot="0">
            <a:off x="11880532" y="2452333"/>
            <a:ext cx="627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assays</a:t>
            </a:r>
          </a:p>
        </p:txBody>
      </p:sp>
      <p:sp>
        <p:nvSpPr>
          <p:cNvPr id="13" name="Figure 5 label 12 line 1">
            <a:extLst xmlns:a="http://schemas.openxmlformats.org/drawingml/2006/main">
              <a:ext uri="{FF2B5EF4-FFF2-40B4-BE49-F238E27FC236}">
                <a16:creationId xmlns:a16="http://schemas.microsoft.com/office/drawing/2014/main" id="{D0B152FA-78BF-4F16-904D-A5A726A41007}"/>
              </a:ext>
            </a:extLst>
          </p:cNvPr>
          <p:cNvSpPr>
            <a:spLocks xmlns:a="http://schemas.openxmlformats.org/drawingml/2006/main" noGrp="1"/>
          </p:cNvSpPr>
          <p:nvPr/>
        </p:nvSpPr>
        <p:spPr>
          <a:xfrm xmlns:a="http://schemas.openxmlformats.org/drawingml/2006/main" rot="0">
            <a:off x="13752695" y="4146375"/>
            <a:ext cx="12940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Enzymes / NGS</a:t>
            </a:r>
          </a:p>
        </p:txBody>
      </p:sp>
      <p:sp>
        <p:nvSpPr>
          <p:cNvPr id="14" name="Figure 5 label 13 line 1">
            <a:extLst xmlns:a="http://schemas.openxmlformats.org/drawingml/2006/main">
              <a:ext uri="{FF2B5EF4-FFF2-40B4-BE49-F238E27FC236}">
                <a16:creationId xmlns:a16="http://schemas.microsoft.com/office/drawing/2014/main" id="{74322E5B-F7F9-4FCC-AE90-5E9F1A029B1D}"/>
              </a:ext>
            </a:extLst>
          </p:cNvPr>
          <p:cNvSpPr>
            <a:spLocks xmlns:a="http://schemas.openxmlformats.org/drawingml/2006/main" noGrp="1"/>
          </p:cNvSpPr>
          <p:nvPr/>
        </p:nvSpPr>
        <p:spPr>
          <a:xfrm xmlns:a="http://schemas.openxmlformats.org/drawingml/2006/main" rot="0">
            <a:off x="14104588" y="4324554"/>
            <a:ext cx="942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library prep</a:t>
            </a:r>
          </a:p>
        </p:txBody>
      </p:sp>
      <p:sp>
        <p:nvSpPr>
          <p:cNvPr id="15" name="Figure 5 label 14 line 1">
            <a:extLst xmlns:a="http://schemas.openxmlformats.org/drawingml/2006/main">
              <a:ext uri="{FF2B5EF4-FFF2-40B4-BE49-F238E27FC236}">
                <a16:creationId xmlns:a16="http://schemas.microsoft.com/office/drawing/2014/main" id="{EA836BD1-6B5C-4B46-93C2-B3B32E96466D}"/>
              </a:ext>
            </a:extLst>
          </p:cNvPr>
          <p:cNvSpPr>
            <a:spLocks xmlns:a="http://schemas.openxmlformats.org/drawingml/2006/main" noGrp="1"/>
          </p:cNvSpPr>
          <p:nvPr/>
        </p:nvSpPr>
        <p:spPr>
          <a:xfrm xmlns:a="http://schemas.openxmlformats.org/drawingml/2006/main" rot="0">
            <a:off x="10351656" y="3156519"/>
            <a:ext cx="10906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Recombinant</a:t>
            </a:r>
          </a:p>
        </p:txBody>
      </p:sp>
      <p:sp>
        <p:nvSpPr>
          <p:cNvPr id="16" name="Figure 5 label 15 line 1">
            <a:extLst xmlns:a="http://schemas.openxmlformats.org/drawingml/2006/main">
              <a:ext uri="{FF2B5EF4-FFF2-40B4-BE49-F238E27FC236}">
                <a16:creationId xmlns:a16="http://schemas.microsoft.com/office/drawing/2014/main" id="{F7BF06AD-6F34-4B78-B274-B8DC40EC4986}"/>
              </a:ext>
            </a:extLst>
          </p:cNvPr>
          <p:cNvSpPr>
            <a:spLocks xmlns:a="http://schemas.openxmlformats.org/drawingml/2006/main" noGrp="1"/>
          </p:cNvSpPr>
          <p:nvPr/>
        </p:nvSpPr>
        <p:spPr>
          <a:xfrm xmlns:a="http://schemas.openxmlformats.org/drawingml/2006/main" rot="0">
            <a:off x="10351656" y="3332900"/>
            <a:ext cx="70142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a:t>
            </a:r>
          </a:p>
        </p:txBody>
      </p:sp>
      <p:sp>
        <p:nvSpPr>
          <p:cNvPr id="17" name="Figure 5 label 16 line 1">
            <a:extLst xmlns:a="http://schemas.openxmlformats.org/drawingml/2006/main">
              <a:ext uri="{FF2B5EF4-FFF2-40B4-BE49-F238E27FC236}">
                <a16:creationId xmlns:a16="http://schemas.microsoft.com/office/drawing/2014/main" id="{206509F3-EB60-4414-AF36-EACEDBBBE239}"/>
              </a:ext>
            </a:extLst>
          </p:cNvPr>
          <p:cNvSpPr>
            <a:spLocks xmlns:a="http://schemas.openxmlformats.org/drawingml/2006/main" noGrp="1"/>
          </p:cNvSpPr>
          <p:nvPr/>
        </p:nvSpPr>
        <p:spPr>
          <a:xfrm xmlns:a="http://schemas.openxmlformats.org/drawingml/2006/main" rot="0">
            <a:off x="8822779" y="2577748"/>
            <a:ext cx="8032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Chemical</a:t>
            </a:r>
          </a:p>
        </p:txBody>
      </p:sp>
      <p:sp>
        <p:nvSpPr>
          <p:cNvPr id="18" name="Figure 5 label 17 line 1">
            <a:extLst xmlns:a="http://schemas.openxmlformats.org/drawingml/2006/main">
              <a:ext uri="{FF2B5EF4-FFF2-40B4-BE49-F238E27FC236}">
                <a16:creationId xmlns:a16="http://schemas.microsoft.com/office/drawing/2014/main" id="{CB542E96-3FAD-4B8C-885F-7A88B6EE6A14}"/>
              </a:ext>
            </a:extLst>
          </p:cNvPr>
          <p:cNvSpPr>
            <a:spLocks xmlns:a="http://schemas.openxmlformats.org/drawingml/2006/main" noGrp="1"/>
          </p:cNvSpPr>
          <p:nvPr/>
        </p:nvSpPr>
        <p:spPr>
          <a:xfrm xmlns:a="http://schemas.openxmlformats.org/drawingml/2006/main" rot="0">
            <a:off x="8822779" y="2754130"/>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building blocks</a:t>
            </a:r>
          </a:p>
        </p:txBody>
      </p:sp>
      <p:sp>
        <p:nvSpPr>
          <p:cNvPr id="19" name="Figure 5 label 18 line 1">
            <a:extLst xmlns:a="http://schemas.openxmlformats.org/drawingml/2006/main">
              <a:ext uri="{FF2B5EF4-FFF2-40B4-BE49-F238E27FC236}">
                <a16:creationId xmlns:a16="http://schemas.microsoft.com/office/drawing/2014/main" id="{411A9168-11E5-45AF-B710-A39D0FB2FAFE}"/>
              </a:ext>
            </a:extLst>
          </p:cNvPr>
          <p:cNvSpPr>
            <a:spLocks xmlns:a="http://schemas.openxmlformats.org/drawingml/2006/main" noGrp="1"/>
          </p:cNvSpPr>
          <p:nvPr/>
        </p:nvSpPr>
        <p:spPr>
          <a:xfrm xmlns:a="http://schemas.openxmlformats.org/drawingml/2006/main" rot="0">
            <a:off x="12366993" y="3431696"/>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Automation</a:t>
            </a:r>
          </a:p>
        </p:txBody>
      </p:sp>
      <p:sp>
        <p:nvSpPr>
          <p:cNvPr id="20" name="Figure 5 label 19 line 1">
            <a:extLst xmlns:a="http://schemas.openxmlformats.org/drawingml/2006/main">
              <a:ext uri="{FF2B5EF4-FFF2-40B4-BE49-F238E27FC236}">
                <a16:creationId xmlns:a16="http://schemas.microsoft.com/office/drawing/2014/main" id="{523E6476-3746-45B2-94B4-2F41E4275F26}"/>
              </a:ext>
            </a:extLst>
          </p:cNvPr>
          <p:cNvSpPr>
            <a:spLocks xmlns:a="http://schemas.openxmlformats.org/drawingml/2006/main" noGrp="1"/>
          </p:cNvSpPr>
          <p:nvPr/>
        </p:nvSpPr>
        <p:spPr>
          <a:xfrm xmlns:a="http://schemas.openxmlformats.org/drawingml/2006/main" rot="0">
            <a:off x="12366993" y="3608077"/>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plates / tips</a:t>
            </a:r>
          </a:p>
        </p:txBody>
      </p:sp>
      <p:sp>
        <p:nvSpPr>
          <p:cNvPr id="21" name="Figure 5 label 20 line 1">
            <a:extLst xmlns:a="http://schemas.openxmlformats.org/drawingml/2006/main">
              <a:ext uri="{FF2B5EF4-FFF2-40B4-BE49-F238E27FC236}">
                <a16:creationId xmlns:a16="http://schemas.microsoft.com/office/drawing/2014/main" id="{C491CE3B-723E-4590-B6F9-F41494292900}"/>
              </a:ext>
            </a:extLst>
          </p:cNvPr>
          <p:cNvSpPr>
            <a:spLocks xmlns:a="http://schemas.openxmlformats.org/drawingml/2006/main" noGrp="1"/>
          </p:cNvSpPr>
          <p:nvPr/>
        </p:nvSpPr>
        <p:spPr>
          <a:xfrm xmlns:a="http://schemas.openxmlformats.org/drawingml/2006/main" rot="0">
            <a:off x="6043003" y="6073398"/>
            <a:ext cx="69205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Generic</a:t>
            </a:r>
          </a:p>
        </p:txBody>
      </p:sp>
      <p:sp>
        <p:nvSpPr>
          <p:cNvPr id="22" name="Figure 5 label 21 line 1">
            <a:extLst xmlns:a="http://schemas.openxmlformats.org/drawingml/2006/main">
              <a:ext uri="{FF2B5EF4-FFF2-40B4-BE49-F238E27FC236}">
                <a16:creationId xmlns:a16="http://schemas.microsoft.com/office/drawing/2014/main" id="{F9040966-6496-4FCE-83C5-FCF7F6F80DEF}"/>
              </a:ext>
            </a:extLst>
          </p:cNvPr>
          <p:cNvSpPr>
            <a:spLocks xmlns:a="http://schemas.openxmlformats.org/drawingml/2006/main" noGrp="1"/>
          </p:cNvSpPr>
          <p:nvPr/>
        </p:nvSpPr>
        <p:spPr>
          <a:xfrm xmlns:a="http://schemas.openxmlformats.org/drawingml/2006/main" rot="0">
            <a:off x="6043003" y="6249779"/>
            <a:ext cx="121086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plastic labware</a:t>
            </a:r>
          </a:p>
        </p:txBody>
      </p:sp>
      <p:sp>
        <p:nvSpPr>
          <p:cNvPr id="23" name="Figure 5 label 22 line 1">
            <a:extLst xmlns:a="http://schemas.openxmlformats.org/drawingml/2006/main">
              <a:ext uri="{FF2B5EF4-FFF2-40B4-BE49-F238E27FC236}">
                <a16:creationId xmlns:a16="http://schemas.microsoft.com/office/drawing/2014/main" id="{23DF1519-8A19-4D5E-BA6B-6AAA16EEFF1C}"/>
              </a:ext>
            </a:extLst>
          </p:cNvPr>
          <p:cNvSpPr>
            <a:spLocks xmlns:a="http://schemas.openxmlformats.org/drawingml/2006/main" noGrp="1"/>
          </p:cNvSpPr>
          <p:nvPr/>
        </p:nvSpPr>
        <p:spPr>
          <a:xfrm xmlns:a="http://schemas.openxmlformats.org/drawingml/2006/main" rot="0">
            <a:off x="9517723" y="4724130"/>
            <a:ext cx="8218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Analytical</a:t>
            </a:r>
          </a:p>
        </p:txBody>
      </p:sp>
      <p:sp>
        <p:nvSpPr>
          <p:cNvPr id="24" name="Figure 5 label 23 line 1">
            <a:extLst xmlns:a="http://schemas.openxmlformats.org/drawingml/2006/main">
              <a:ext uri="{FF2B5EF4-FFF2-40B4-BE49-F238E27FC236}">
                <a16:creationId xmlns:a16="http://schemas.microsoft.com/office/drawing/2014/main" id="{9F17D9CC-314F-40E1-89B6-AF974170A6A0}"/>
              </a:ext>
            </a:extLst>
          </p:cNvPr>
          <p:cNvSpPr>
            <a:spLocks xmlns:a="http://schemas.openxmlformats.org/drawingml/2006/main" noGrp="1"/>
          </p:cNvSpPr>
          <p:nvPr/>
        </p:nvSpPr>
        <p:spPr>
          <a:xfrm xmlns:a="http://schemas.openxmlformats.org/drawingml/2006/main" rot="0">
            <a:off x="9517723" y="4902309"/>
            <a:ext cx="72910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columns</a:t>
            </a:r>
          </a:p>
        </p:txBody>
      </p:sp>
      <p:sp>
        <p:nvSpPr>
          <p:cNvPr id="25" name="Figure 5 label 24 line 1">
            <a:extLst xmlns:a="http://schemas.openxmlformats.org/drawingml/2006/main">
              <a:ext uri="{FF2B5EF4-FFF2-40B4-BE49-F238E27FC236}">
                <a16:creationId xmlns:a16="http://schemas.microsoft.com/office/drawing/2014/main" id="{D58CD697-07CE-489E-9CD0-CA11D8363EE4}"/>
              </a:ext>
            </a:extLst>
          </p:cNvPr>
          <p:cNvSpPr>
            <a:spLocks xmlns:a="http://schemas.openxmlformats.org/drawingml/2006/main" noGrp="1"/>
          </p:cNvSpPr>
          <p:nvPr/>
        </p:nvSpPr>
        <p:spPr>
          <a:xfrm xmlns:a="http://schemas.openxmlformats.org/drawingml/2006/main" rot="0">
            <a:off x="11741544" y="5963444"/>
            <a:ext cx="11647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Manufacturing</a:t>
            </a:r>
          </a:p>
        </p:txBody>
      </p:sp>
      <p:sp>
        <p:nvSpPr>
          <p:cNvPr id="26" name="Figure 5 label 25 line 1">
            <a:extLst xmlns:a="http://schemas.openxmlformats.org/drawingml/2006/main">
              <a:ext uri="{FF2B5EF4-FFF2-40B4-BE49-F238E27FC236}">
                <a16:creationId xmlns:a16="http://schemas.microsoft.com/office/drawing/2014/main" id="{B845A6C9-D3E8-40D3-92C6-3F1414903565}"/>
              </a:ext>
            </a:extLst>
          </p:cNvPr>
          <p:cNvSpPr>
            <a:spLocks xmlns:a="http://schemas.openxmlformats.org/drawingml/2006/main" noGrp="1"/>
          </p:cNvSpPr>
          <p:nvPr/>
        </p:nvSpPr>
        <p:spPr>
          <a:xfrm xmlns:a="http://schemas.openxmlformats.org/drawingml/2006/main" rot="0">
            <a:off x="11741544" y="6141622"/>
            <a:ext cx="5530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resins</a:t>
            </a:r>
          </a:p>
        </p:txBody>
      </p:sp>
      <p:sp>
        <p:nvSpPr>
          <p:cNvPr id="27" name="Figure 5 label 26 line 1">
            <a:extLst xmlns:a="http://schemas.openxmlformats.org/drawingml/2006/main">
              <a:ext uri="{FF2B5EF4-FFF2-40B4-BE49-F238E27FC236}">
                <a16:creationId xmlns:a16="http://schemas.microsoft.com/office/drawing/2014/main" id="{E218D38D-A1B9-4F1E-B117-F491B09961F4}"/>
              </a:ext>
            </a:extLst>
          </p:cNvPr>
          <p:cNvSpPr>
            <a:spLocks xmlns:a="http://schemas.openxmlformats.org/drawingml/2006/main" noGrp="1"/>
          </p:cNvSpPr>
          <p:nvPr/>
        </p:nvSpPr>
        <p:spPr>
          <a:xfrm xmlns:a="http://schemas.openxmlformats.org/drawingml/2006/main" rot="0">
            <a:off x="6529464" y="3982168"/>
            <a:ext cx="98896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a:t>
            </a:r>
          </a:p>
        </p:txBody>
      </p:sp>
      <p:sp>
        <p:nvSpPr>
          <p:cNvPr id="28" name="Figure 5 label 27 line 1">
            <a:extLst xmlns:a="http://schemas.openxmlformats.org/drawingml/2006/main">
              <a:ext uri="{FF2B5EF4-FFF2-40B4-BE49-F238E27FC236}">
                <a16:creationId xmlns:a16="http://schemas.microsoft.com/office/drawing/2014/main" id="{DF8CA5C4-C3BE-40AD-8598-99239C132B27}"/>
              </a:ext>
            </a:extLst>
          </p:cNvPr>
          <p:cNvSpPr>
            <a:spLocks xmlns:a="http://schemas.openxmlformats.org/drawingml/2006/main" noGrp="1"/>
          </p:cNvSpPr>
          <p:nvPr/>
        </p:nvSpPr>
        <p:spPr>
          <a:xfrm xmlns:a="http://schemas.openxmlformats.org/drawingml/2006/main" rot="0">
            <a:off x="6529464" y="4160347"/>
            <a:ext cx="46047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tools</a:t>
            </a:r>
          </a:p>
        </p:txBody>
      </p:sp>
      <p:sp>
        <p:nvSpPr>
          <p:cNvPr id="29" name="Figure 5 label 28 line 1">
            <a:extLst xmlns:a="http://schemas.openxmlformats.org/drawingml/2006/main">
              <a:ext uri="{FF2B5EF4-FFF2-40B4-BE49-F238E27FC236}">
                <a16:creationId xmlns:a16="http://schemas.microsoft.com/office/drawing/2014/main" id="{58D4C368-7D33-49B9-8C3E-48FC763A0A34}"/>
              </a:ext>
            </a:extLst>
          </p:cNvPr>
          <p:cNvSpPr>
            <a:spLocks xmlns:a="http://schemas.openxmlformats.org/drawingml/2006/main" noGrp="1"/>
          </p:cNvSpPr>
          <p:nvPr/>
        </p:nvSpPr>
        <p:spPr>
          <a:xfrm xmlns:a="http://schemas.openxmlformats.org/drawingml/2006/main" rot="0">
            <a:off x="5973509" y="3376661"/>
            <a:ext cx="55334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Liquid</a:t>
            </a:r>
          </a:p>
        </p:txBody>
      </p:sp>
      <p:sp>
        <p:nvSpPr>
          <p:cNvPr id="30" name="Figure 5 label 29 line 1">
            <a:extLst xmlns:a="http://schemas.openxmlformats.org/drawingml/2006/main">
              <a:ext uri="{FF2B5EF4-FFF2-40B4-BE49-F238E27FC236}">
                <a16:creationId xmlns:a16="http://schemas.microsoft.com/office/drawing/2014/main" id="{920D3D9D-DB05-4769-9E5E-2C7507DFC4EC}"/>
              </a:ext>
            </a:extLst>
          </p:cNvPr>
          <p:cNvSpPr>
            <a:spLocks xmlns:a="http://schemas.openxmlformats.org/drawingml/2006/main" noGrp="1"/>
          </p:cNvSpPr>
          <p:nvPr/>
        </p:nvSpPr>
        <p:spPr>
          <a:xfrm xmlns:a="http://schemas.openxmlformats.org/drawingml/2006/main" rot="0">
            <a:off x="5973509" y="3553042"/>
            <a:ext cx="7478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handlers</a:t>
            </a:r>
          </a:p>
        </p:txBody>
      </p:sp>
      <p:sp>
        <p:nvSpPr>
          <p:cNvPr id="31" name="Figure 5 label 30 line 1">
            <a:extLst xmlns:a="http://schemas.openxmlformats.org/drawingml/2006/main">
              <a:ext uri="{FF2B5EF4-FFF2-40B4-BE49-F238E27FC236}">
                <a16:creationId xmlns:a16="http://schemas.microsoft.com/office/drawing/2014/main" id="{67C9997B-D687-416D-8C42-969BA8092198}"/>
              </a:ext>
            </a:extLst>
          </p:cNvPr>
          <p:cNvSpPr>
            <a:spLocks xmlns:a="http://schemas.openxmlformats.org/drawingml/2006/main" noGrp="1"/>
          </p:cNvSpPr>
          <p:nvPr/>
        </p:nvSpPr>
        <p:spPr>
          <a:xfrm xmlns:a="http://schemas.openxmlformats.org/drawingml/2006/main" rot="0">
            <a:off x="991870" y="421920"/>
            <a:ext cx="725304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05  Which tools have more demand elasticity?</a:t>
            </a:r>
          </a:p>
        </p:txBody>
      </p:sp>
      <p:sp>
        <p:nvSpPr>
          <p:cNvPr id="32" name="Figure 5 label 31 line 1">
            <a:extLst xmlns:a="http://schemas.openxmlformats.org/drawingml/2006/main">
              <a:ext uri="{FF2B5EF4-FFF2-40B4-BE49-F238E27FC236}">
                <a16:creationId xmlns:a16="http://schemas.microsoft.com/office/drawing/2014/main" id="{39D6CB8C-789E-4806-8ABA-5C126CB19440}"/>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33" name="Figure 5 label 32 line 1">
            <a:extLst xmlns:a="http://schemas.openxmlformats.org/drawingml/2006/main">
              <a:ext uri="{FF2B5EF4-FFF2-40B4-BE49-F238E27FC236}">
                <a16:creationId xmlns:a16="http://schemas.microsoft.com/office/drawing/2014/main" id="{D36FB790-DC0F-4F7C-B7BA-5497A8A22041}"/>
              </a:ext>
            </a:extLst>
          </p:cNvPr>
          <p:cNvSpPr>
            <a:spLocks xmlns:a="http://schemas.openxmlformats.org/drawingml/2006/main" noGrp="1"/>
          </p:cNvSpPr>
          <p:nvPr/>
        </p:nvSpPr>
        <p:spPr>
          <a:xfrm xmlns:a="http://schemas.openxmlformats.org/drawingml/2006/main" rot="0">
            <a:off x="998220" y="1248326"/>
            <a:ext cx="8806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Positions and bubble areas are qualitative research judgments, not measured scores or additive TAMs.</a:t>
            </a:r>
          </a:p>
        </p:txBody>
      </p:sp>
      <p:sp>
        <p:nvSpPr>
          <p:cNvPr id="34" name="Figure 5 label 33 line 1">
            <a:extLst xmlns:a="http://schemas.openxmlformats.org/drawingml/2006/main">
              <a:ext uri="{FF2B5EF4-FFF2-40B4-BE49-F238E27FC236}">
                <a16:creationId xmlns:a16="http://schemas.microsoft.com/office/drawing/2014/main" id="{7B98483A-B260-46A4-9449-D1649112ED96}"/>
              </a:ext>
            </a:extLst>
          </p:cNvPr>
          <p:cNvSpPr>
            <a:spLocks xmlns:a="http://schemas.openxmlformats.org/drawingml/2006/main" noGrp="1"/>
          </p:cNvSpPr>
          <p:nvPr/>
        </p:nvSpPr>
        <p:spPr>
          <a:xfrm xmlns:a="http://schemas.openxmlformats.org/drawingml/2006/main" rot="0">
            <a:off x="999173" y="9256035"/>
            <a:ext cx="86417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Small-molecule synthesis can fall per project. Modality, assay depth, unit use and funded projects determine orders.</a:t>
            </a:r>
          </a:p>
        </p:txBody>
      </p:sp>
      <p:sp>
        <p:nvSpPr>
          <p:cNvPr id="35" name="Figure 5 label 34 line 1">
            <a:extLst xmlns:a="http://schemas.openxmlformats.org/drawingml/2006/main">
              <a:ext uri="{FF2B5EF4-FFF2-40B4-BE49-F238E27FC236}">
                <a16:creationId xmlns:a16="http://schemas.microsoft.com/office/drawing/2014/main" id="{A2CE8787-54AC-440C-8656-ABA9353D796C}"/>
              </a:ext>
            </a:extLst>
          </p:cNvPr>
          <p:cNvSpPr>
            <a:spLocks xmlns:a="http://schemas.openxmlformats.org/drawingml/2006/main" noGrp="1"/>
          </p:cNvSpPr>
          <p:nvPr/>
        </p:nvSpPr>
        <p:spPr>
          <a:xfrm xmlns:a="http://schemas.openxmlformats.org/drawingml/2006/main" rot="0">
            <a:off x="1000316" y="9675546"/>
            <a:ext cx="6173569"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assumptions. Edit positions and relative areas in data.json.</a:t>
            </a:r>
          </a:p>
        </p:txBody>
      </p:sp>
      <p:sp>
        <p:nvSpPr>
          <p:cNvPr id="36" name="Figure 5 label 35 line 1">
            <a:extLst xmlns:a="http://schemas.openxmlformats.org/drawingml/2006/main">
              <a:ext uri="{FF2B5EF4-FFF2-40B4-BE49-F238E27FC236}">
                <a16:creationId xmlns:a16="http://schemas.microsoft.com/office/drawing/2014/main" id="{7A8F9751-85AD-4099-A9BA-01120AD6B29E}"/>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37" name="Figure 5 label 36 line 1">
            <a:extLst xmlns:a="http://schemas.openxmlformats.org/drawingml/2006/main">
              <a:ext uri="{FF2B5EF4-FFF2-40B4-BE49-F238E27FC236}">
                <a16:creationId xmlns:a16="http://schemas.microsoft.com/office/drawing/2014/main" id="{3D107998-9BFB-4CA9-83F9-D3813359E596}"/>
              </a:ext>
            </a:extLst>
          </p:cNvPr>
          <p:cNvSpPr>
            <a:spLocks xmlns:a="http://schemas.openxmlformats.org/drawingml/2006/main" noGrp="1"/>
          </p:cNvSpPr>
          <p:nvPr/>
        </p:nvSpPr>
        <p:spPr>
          <a:xfrm xmlns:a="http://schemas.openxmlformats.org/drawingml/2006/main" rot="0">
            <a:off x="15812135" y="3271220"/>
            <a:ext cx="105514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Bubble area</a:t>
            </a:r>
          </a:p>
        </p:txBody>
      </p:sp>
      <p:sp>
        <p:nvSpPr>
          <p:cNvPr id="38" name="Figure 5 label 37 line 1">
            <a:extLst xmlns:a="http://schemas.openxmlformats.org/drawingml/2006/main">
              <a:ext uri="{FF2B5EF4-FFF2-40B4-BE49-F238E27FC236}">
                <a16:creationId xmlns:a16="http://schemas.microsoft.com/office/drawing/2014/main" id="{14DE200F-2F8F-4C79-8CD4-249201777D07}"/>
              </a:ext>
            </a:extLst>
          </p:cNvPr>
          <p:cNvSpPr>
            <a:spLocks xmlns:a="http://schemas.openxmlformats.org/drawingml/2006/main" noGrp="1"/>
          </p:cNvSpPr>
          <p:nvPr/>
        </p:nvSpPr>
        <p:spPr>
          <a:xfrm xmlns:a="http://schemas.openxmlformats.org/drawingml/2006/main" rot="0">
            <a:off x="15812325" y="3764919"/>
            <a:ext cx="1611491"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Relative opportunity</a:t>
            </a:r>
          </a:p>
        </p:txBody>
      </p:sp>
      <p:sp>
        <p:nvSpPr>
          <p:cNvPr id="39" name="Figure 5 label 38 line 1">
            <a:extLst xmlns:a="http://schemas.openxmlformats.org/drawingml/2006/main">
              <a:ext uri="{FF2B5EF4-FFF2-40B4-BE49-F238E27FC236}">
                <a16:creationId xmlns:a16="http://schemas.microsoft.com/office/drawing/2014/main" id="{4AB78DE7-B5A3-4232-8313-E226B3D9B06F}"/>
              </a:ext>
            </a:extLst>
          </p:cNvPr>
          <p:cNvSpPr>
            <a:spLocks xmlns:a="http://schemas.openxmlformats.org/drawingml/2006/main" noGrp="1"/>
          </p:cNvSpPr>
          <p:nvPr/>
        </p:nvSpPr>
        <p:spPr>
          <a:xfrm xmlns:a="http://schemas.openxmlformats.org/drawingml/2006/main" rot="0">
            <a:off x="15812325" y="4007283"/>
            <a:ext cx="1205488"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illustration; not</a:t>
            </a:r>
          </a:p>
        </p:txBody>
      </p:sp>
      <p:sp>
        <p:nvSpPr>
          <p:cNvPr id="40" name="Figure 5 label 39 line 1">
            <a:extLst xmlns:a="http://schemas.openxmlformats.org/drawingml/2006/main">
              <a:ext uri="{FF2B5EF4-FFF2-40B4-BE49-F238E27FC236}">
                <a16:creationId xmlns:a16="http://schemas.microsoft.com/office/drawing/2014/main" id="{049A7AC0-C26E-4E24-8E88-9347E114C4C3}"/>
              </a:ext>
            </a:extLst>
          </p:cNvPr>
          <p:cNvSpPr>
            <a:spLocks xmlns:a="http://schemas.openxmlformats.org/drawingml/2006/main" noGrp="1"/>
          </p:cNvSpPr>
          <p:nvPr/>
        </p:nvSpPr>
        <p:spPr>
          <a:xfrm xmlns:a="http://schemas.openxmlformats.org/drawingml/2006/main" rot="0">
            <a:off x="15812325" y="4247817"/>
            <a:ext cx="1271419"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measured TAM</a:t>
            </a:r>
          </a:p>
        </p:txBody>
      </p:sp>
      <p:sp>
        <p:nvSpPr>
          <p:cNvPr id="41" name="Figure 5 label 40 line 1">
            <a:extLst xmlns:a="http://schemas.openxmlformats.org/drawingml/2006/main">
              <a:ext uri="{FF2B5EF4-FFF2-40B4-BE49-F238E27FC236}">
                <a16:creationId xmlns:a16="http://schemas.microsoft.com/office/drawing/2014/main" id="{DD789611-34A1-4B1E-B36A-9711C47EDB10}"/>
              </a:ext>
            </a:extLst>
          </p:cNvPr>
          <p:cNvSpPr>
            <a:spLocks xmlns:a="http://schemas.openxmlformats.org/drawingml/2006/main" noGrp="1"/>
          </p:cNvSpPr>
          <p:nvPr/>
        </p:nvSpPr>
        <p:spPr>
          <a:xfrm xmlns:a="http://schemas.openxmlformats.org/drawingml/2006/main" rot="0">
            <a:off x="15812325" y="6254373"/>
            <a:ext cx="1469807"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Potential elasticity</a:t>
            </a:r>
          </a:p>
        </p:txBody>
      </p:sp>
      <p:sp>
        <p:nvSpPr>
          <p:cNvPr id="42" name="Figure 5 label 41 line 1">
            <a:extLst xmlns:a="http://schemas.openxmlformats.org/drawingml/2006/main">
              <a:ext uri="{FF2B5EF4-FFF2-40B4-BE49-F238E27FC236}">
                <a16:creationId xmlns:a16="http://schemas.microsoft.com/office/drawing/2014/main" id="{043426E5-B29A-4A89-B1F8-578887E391FE}"/>
              </a:ext>
            </a:extLst>
          </p:cNvPr>
          <p:cNvSpPr>
            <a:spLocks xmlns:a="http://schemas.openxmlformats.org/drawingml/2006/main" noGrp="1"/>
          </p:cNvSpPr>
          <p:nvPr/>
        </p:nvSpPr>
        <p:spPr>
          <a:xfrm xmlns:a="http://schemas.openxmlformats.org/drawingml/2006/main" rot="0">
            <a:off x="15812325" y="6496737"/>
            <a:ext cx="160241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needs paid demand</a:t>
            </a:r>
          </a:p>
        </p:txBody>
      </p:sp>
      <p:sp>
        <p:nvSpPr>
          <p:cNvPr id="43" name="Figure 5 label 42 line 1">
            <a:extLst xmlns:a="http://schemas.openxmlformats.org/drawingml/2006/main">
              <a:ext uri="{FF2B5EF4-FFF2-40B4-BE49-F238E27FC236}">
                <a16:creationId xmlns:a16="http://schemas.microsoft.com/office/drawing/2014/main" id="{74E37C71-02F2-433B-9315-259C5AE01764}"/>
              </a:ext>
            </a:extLst>
          </p:cNvPr>
          <p:cNvSpPr>
            <a:spLocks xmlns:a="http://schemas.openxmlformats.org/drawingml/2006/main" noGrp="1"/>
          </p:cNvSpPr>
          <p:nvPr/>
        </p:nvSpPr>
        <p:spPr>
          <a:xfrm xmlns:a="http://schemas.openxmlformats.org/drawingml/2006/main" rot="0">
            <a:off x="15812325" y="6737270"/>
            <a:ext cx="145120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and repeat orders</a:t>
            </a:r>
          </a:p>
        </p:txBody>
      </p:sp>
    </p:spTree>
    <p:extLst>
      <p:ext uri="{BB962C8B-B14F-4D97-AF65-F5344CB8AC3E}">
        <p14:creationId xmlns:p14="http://schemas.microsoft.com/office/powerpoint/2010/main" val="1863369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C87C4F4C-C146-40A3-BB54-FCA5DACA6AA5}"/>
              </a:ext>
            </a:extLst>
          </p:cNvPr>
          <p:cNvPicPr>
            <a:picLocks xmlns:a="http://schemas.openxmlformats.org/drawingml/2006/main" noChangeAspect="1"/>
          </p:cNvPicPr>
          <p:nvPr/>
        </p:nvPicPr>
        <p:blipFill>
          <a:blip xmlns:r="http://schemas.openxmlformats.org/officeDocument/2006/relationships" xmlns:a="http://schemas.openxmlformats.org/drawingml/2006/main" r:embed="R829733c1fb274b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6 label 1 line 1">
            <a:extLst xmlns:a="http://schemas.openxmlformats.org/drawingml/2006/main">
              <a:ext uri="{FF2B5EF4-FFF2-40B4-BE49-F238E27FC236}">
                <a16:creationId xmlns:a16="http://schemas.microsoft.com/office/drawing/2014/main" id="{80384743-2354-407B-BAB0-A2CD2ADD6195}"/>
              </a:ext>
            </a:extLst>
          </p:cNvPr>
          <p:cNvSpPr>
            <a:spLocks xmlns:a="http://schemas.openxmlformats.org/drawingml/2006/main" noGrp="1"/>
          </p:cNvSpPr>
          <p:nvPr/>
        </p:nvSpPr>
        <p:spPr>
          <a:xfrm xmlns:a="http://schemas.openxmlformats.org/drawingml/2006/main" rot="0">
            <a:off x="1961036" y="7564586"/>
            <a:ext cx="151120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 volume</a:t>
            </a:r>
          </a:p>
        </p:txBody>
      </p:sp>
      <p:sp>
        <p:nvSpPr>
          <p:cNvPr id="3" name="Figure 6 label 2 line 1">
            <a:extLst xmlns:a="http://schemas.openxmlformats.org/drawingml/2006/main">
              <a:ext uri="{FF2B5EF4-FFF2-40B4-BE49-F238E27FC236}">
                <a16:creationId xmlns:a16="http://schemas.microsoft.com/office/drawing/2014/main" id="{F18DB418-723F-4D41-8D1E-DC242E9862A3}"/>
              </a:ext>
            </a:extLst>
          </p:cNvPr>
          <p:cNvSpPr>
            <a:spLocks xmlns:a="http://schemas.openxmlformats.org/drawingml/2006/main" noGrp="1"/>
          </p:cNvSpPr>
          <p:nvPr/>
        </p:nvSpPr>
        <p:spPr>
          <a:xfrm xmlns:a="http://schemas.openxmlformats.org/drawingml/2006/main" rot="0">
            <a:off x="4490665" y="7564586"/>
            <a:ext cx="107706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count</a:t>
            </a:r>
          </a:p>
        </p:txBody>
      </p:sp>
      <p:sp>
        <p:nvSpPr>
          <p:cNvPr id="4" name="Figure 6 label 3 line 1">
            <a:extLst xmlns:a="http://schemas.openxmlformats.org/drawingml/2006/main">
              <a:ext uri="{FF2B5EF4-FFF2-40B4-BE49-F238E27FC236}">
                <a16:creationId xmlns:a16="http://schemas.microsoft.com/office/drawing/2014/main" id="{C6E07287-23D9-407B-95A9-EDA04273BEB6}"/>
              </a:ext>
            </a:extLst>
          </p:cNvPr>
          <p:cNvSpPr>
            <a:spLocks xmlns:a="http://schemas.openxmlformats.org/drawingml/2006/main" noGrp="1"/>
          </p:cNvSpPr>
          <p:nvPr/>
        </p:nvSpPr>
        <p:spPr>
          <a:xfrm xmlns:a="http://schemas.openxmlformats.org/drawingml/2006/main" rot="0">
            <a:off x="6888061" y="7564586"/>
            <a:ext cx="9074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 count</a:t>
            </a:r>
          </a:p>
        </p:txBody>
      </p:sp>
      <p:sp>
        <p:nvSpPr>
          <p:cNvPr id="5" name="Figure 6 label 4 line 1">
            <a:extLst xmlns:a="http://schemas.openxmlformats.org/drawingml/2006/main">
              <a:ext uri="{FF2B5EF4-FFF2-40B4-BE49-F238E27FC236}">
                <a16:creationId xmlns:a16="http://schemas.microsoft.com/office/drawing/2014/main" id="{CF573609-529B-4A99-99E2-8A07F5147461}"/>
              </a:ext>
            </a:extLst>
          </p:cNvPr>
          <p:cNvSpPr>
            <a:spLocks xmlns:a="http://schemas.openxmlformats.org/drawingml/2006/main" noGrp="1"/>
          </p:cNvSpPr>
          <p:nvPr/>
        </p:nvSpPr>
        <p:spPr>
          <a:xfrm xmlns:a="http://schemas.openxmlformats.org/drawingml/2006/main" rot="0">
            <a:off x="1257379" y="733765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6" name="Figure 6 label 5 line 1">
            <a:extLst xmlns:a="http://schemas.openxmlformats.org/drawingml/2006/main">
              <a:ext uri="{FF2B5EF4-FFF2-40B4-BE49-F238E27FC236}">
                <a16:creationId xmlns:a16="http://schemas.microsoft.com/office/drawing/2014/main" id="{8F528ED0-6E24-43B1-A9D7-94B71E09E85C}"/>
              </a:ext>
            </a:extLst>
          </p:cNvPr>
          <p:cNvSpPr>
            <a:spLocks xmlns:a="http://schemas.openxmlformats.org/drawingml/2006/main" noGrp="1"/>
          </p:cNvSpPr>
          <p:nvPr/>
        </p:nvSpPr>
        <p:spPr>
          <a:xfrm xmlns:a="http://schemas.openxmlformats.org/drawingml/2006/main" rot="0">
            <a:off x="1151414" y="680273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6 label 6 line 1">
            <a:extLst xmlns:a="http://schemas.openxmlformats.org/drawingml/2006/main">
              <a:ext uri="{FF2B5EF4-FFF2-40B4-BE49-F238E27FC236}">
                <a16:creationId xmlns:a16="http://schemas.microsoft.com/office/drawing/2014/main" id="{982A34A6-B9BF-4282-BDB2-3F25DBE86BA6}"/>
              </a:ext>
            </a:extLst>
          </p:cNvPr>
          <p:cNvSpPr>
            <a:spLocks xmlns:a="http://schemas.openxmlformats.org/drawingml/2006/main" noGrp="1"/>
          </p:cNvSpPr>
          <p:nvPr/>
        </p:nvSpPr>
        <p:spPr>
          <a:xfrm xmlns:a="http://schemas.openxmlformats.org/drawingml/2006/main" rot="0">
            <a:off x="1151414" y="6267810"/>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8" name="Figure 6 label 7 line 1">
            <a:extLst xmlns:a="http://schemas.openxmlformats.org/drawingml/2006/main">
              <a:ext uri="{FF2B5EF4-FFF2-40B4-BE49-F238E27FC236}">
                <a16:creationId xmlns:a16="http://schemas.microsoft.com/office/drawing/2014/main" id="{9F426382-C8EF-4BAC-A931-585468CAB33B}"/>
              </a:ext>
            </a:extLst>
          </p:cNvPr>
          <p:cNvSpPr>
            <a:spLocks xmlns:a="http://schemas.openxmlformats.org/drawingml/2006/main" noGrp="1"/>
          </p:cNvSpPr>
          <p:nvPr/>
        </p:nvSpPr>
        <p:spPr>
          <a:xfrm xmlns:a="http://schemas.openxmlformats.org/drawingml/2006/main" rot="0">
            <a:off x="1151414" y="5732886"/>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a:t>
            </a:r>
          </a:p>
        </p:txBody>
      </p:sp>
      <p:sp>
        <p:nvSpPr>
          <p:cNvPr id="9" name="Figure 6 label 8 line 1">
            <a:extLst xmlns:a="http://schemas.openxmlformats.org/drawingml/2006/main">
              <a:ext uri="{FF2B5EF4-FFF2-40B4-BE49-F238E27FC236}">
                <a16:creationId xmlns:a16="http://schemas.microsoft.com/office/drawing/2014/main" id="{A0FE2D1E-7521-4031-BCBC-A2945924A1F0}"/>
              </a:ext>
            </a:extLst>
          </p:cNvPr>
          <p:cNvSpPr>
            <a:spLocks xmlns:a="http://schemas.openxmlformats.org/drawingml/2006/main" noGrp="1"/>
          </p:cNvSpPr>
          <p:nvPr/>
        </p:nvSpPr>
        <p:spPr>
          <a:xfrm xmlns:a="http://schemas.openxmlformats.org/drawingml/2006/main" rot="0">
            <a:off x="1151414" y="5197962"/>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a:t>
            </a:r>
          </a:p>
        </p:txBody>
      </p:sp>
      <p:sp>
        <p:nvSpPr>
          <p:cNvPr id="10" name="Figure 6 label 9 line 1">
            <a:extLst xmlns:a="http://schemas.openxmlformats.org/drawingml/2006/main">
              <a:ext uri="{FF2B5EF4-FFF2-40B4-BE49-F238E27FC236}">
                <a16:creationId xmlns:a16="http://schemas.microsoft.com/office/drawing/2014/main" id="{B2360277-7B20-4ECD-AE2B-B12B55680618}"/>
              </a:ext>
            </a:extLst>
          </p:cNvPr>
          <p:cNvSpPr>
            <a:spLocks xmlns:a="http://schemas.openxmlformats.org/drawingml/2006/main" noGrp="1"/>
          </p:cNvSpPr>
          <p:nvPr/>
        </p:nvSpPr>
        <p:spPr>
          <a:xfrm xmlns:a="http://schemas.openxmlformats.org/drawingml/2006/main" rot="0">
            <a:off x="1045448" y="4663038"/>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11" name="Figure 6 label 10 line 1">
            <a:extLst xmlns:a="http://schemas.openxmlformats.org/drawingml/2006/main">
              <a:ext uri="{FF2B5EF4-FFF2-40B4-BE49-F238E27FC236}">
                <a16:creationId xmlns:a16="http://schemas.microsoft.com/office/drawing/2014/main" id="{CF13D6E5-4F9C-43B8-ABA9-872078C5744C}"/>
              </a:ext>
            </a:extLst>
          </p:cNvPr>
          <p:cNvSpPr>
            <a:spLocks xmlns:a="http://schemas.openxmlformats.org/drawingml/2006/main" noGrp="1"/>
          </p:cNvSpPr>
          <p:nvPr/>
        </p:nvSpPr>
        <p:spPr>
          <a:xfrm xmlns:a="http://schemas.openxmlformats.org/drawingml/2006/main" rot="0">
            <a:off x="1045448" y="412811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a:t>
            </a:r>
          </a:p>
        </p:txBody>
      </p:sp>
      <p:sp>
        <p:nvSpPr>
          <p:cNvPr id="12" name="Figure 6 label 11 line 1">
            <a:extLst xmlns:a="http://schemas.openxmlformats.org/drawingml/2006/main">
              <a:ext uri="{FF2B5EF4-FFF2-40B4-BE49-F238E27FC236}">
                <a16:creationId xmlns:a16="http://schemas.microsoft.com/office/drawing/2014/main" id="{BADD6152-9532-4A33-8E45-EBA5154305A4}"/>
              </a:ext>
            </a:extLst>
          </p:cNvPr>
          <p:cNvSpPr>
            <a:spLocks xmlns:a="http://schemas.openxmlformats.org/drawingml/2006/main" noGrp="1"/>
          </p:cNvSpPr>
          <p:nvPr/>
        </p:nvSpPr>
        <p:spPr>
          <a:xfrm xmlns:a="http://schemas.openxmlformats.org/drawingml/2006/main" rot="0">
            <a:off x="1045448" y="359319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140</a:t>
            </a:r>
          </a:p>
        </p:txBody>
      </p:sp>
      <p:sp>
        <p:nvSpPr>
          <p:cNvPr id="13" name="Figure 6 label 12 line 1">
            <a:extLst xmlns:a="http://schemas.openxmlformats.org/drawingml/2006/main">
              <a:ext uri="{FF2B5EF4-FFF2-40B4-BE49-F238E27FC236}">
                <a16:creationId xmlns:a16="http://schemas.microsoft.com/office/drawing/2014/main" id="{21B89192-4F06-4519-9FB8-49904F51CD14}"/>
              </a:ext>
            </a:extLst>
          </p:cNvPr>
          <p:cNvSpPr>
            <a:spLocks xmlns:a="http://schemas.openxmlformats.org/drawingml/2006/main" noGrp="1"/>
          </p:cNvSpPr>
          <p:nvPr/>
        </p:nvSpPr>
        <p:spPr>
          <a:xfrm xmlns:a="http://schemas.openxmlformats.org/drawingml/2006/main" rot="16200000">
            <a:off x="354057" y="5304472"/>
            <a:ext cx="134168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Quantity index</a:t>
            </a:r>
          </a:p>
        </p:txBody>
      </p:sp>
      <p:sp>
        <p:nvSpPr>
          <p:cNvPr id="14" name="Figure 6 label 13 line 1">
            <a:extLst xmlns:a="http://schemas.openxmlformats.org/drawingml/2006/main">
              <a:ext uri="{FF2B5EF4-FFF2-40B4-BE49-F238E27FC236}">
                <a16:creationId xmlns:a16="http://schemas.microsoft.com/office/drawing/2014/main" id="{FC8BD86A-1AD3-41CC-8BE5-8E0478A2E00C}"/>
              </a:ext>
            </a:extLst>
          </p:cNvPr>
          <p:cNvSpPr>
            <a:spLocks xmlns:a="http://schemas.openxmlformats.org/drawingml/2006/main" noGrp="1"/>
          </p:cNvSpPr>
          <p:nvPr/>
        </p:nvSpPr>
        <p:spPr>
          <a:xfrm xmlns:a="http://schemas.openxmlformats.org/drawingml/2006/main" rot="0">
            <a:off x="2800582" y="576517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50.0</a:t>
            </a:r>
          </a:p>
        </p:txBody>
      </p:sp>
      <p:sp>
        <p:nvSpPr>
          <p:cNvPr id="15" name="Figure 6 label 14 line 1">
            <a:extLst xmlns:a="http://schemas.openxmlformats.org/drawingml/2006/main">
              <a:ext uri="{FF2B5EF4-FFF2-40B4-BE49-F238E27FC236}">
                <a16:creationId xmlns:a16="http://schemas.microsoft.com/office/drawing/2014/main" id="{AF662542-8369-48B6-ACA9-FC14F21FAE5A}"/>
              </a:ext>
            </a:extLst>
          </p:cNvPr>
          <p:cNvSpPr>
            <a:spLocks xmlns:a="http://schemas.openxmlformats.org/drawingml/2006/main" noGrp="1"/>
          </p:cNvSpPr>
          <p:nvPr/>
        </p:nvSpPr>
        <p:spPr>
          <a:xfrm xmlns:a="http://schemas.openxmlformats.org/drawingml/2006/main" rot="0">
            <a:off x="5113145" y="5428925"/>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62.6</a:t>
            </a:r>
          </a:p>
        </p:txBody>
      </p:sp>
      <p:sp>
        <p:nvSpPr>
          <p:cNvPr id="16" name="Figure 6 label 15 line 1">
            <a:extLst xmlns:a="http://schemas.openxmlformats.org/drawingml/2006/main">
              <a:ext uri="{FF2B5EF4-FFF2-40B4-BE49-F238E27FC236}">
                <a16:creationId xmlns:a16="http://schemas.microsoft.com/office/drawing/2014/main" id="{AFE32542-14F4-4C28-9B08-FFDA7110CDDD}"/>
              </a:ext>
            </a:extLst>
          </p:cNvPr>
          <p:cNvSpPr>
            <a:spLocks xmlns:a="http://schemas.openxmlformats.org/drawingml/2006/main" noGrp="1"/>
          </p:cNvSpPr>
          <p:nvPr/>
        </p:nvSpPr>
        <p:spPr>
          <a:xfrm xmlns:a="http://schemas.openxmlformats.org/drawingml/2006/main" rot="0">
            <a:off x="7359555" y="4427868"/>
            <a:ext cx="75068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100.0</a:t>
            </a:r>
          </a:p>
        </p:txBody>
      </p:sp>
      <p:sp>
        <p:nvSpPr>
          <p:cNvPr id="17" name="Figure 6 label 16 line 1">
            <a:extLst xmlns:a="http://schemas.openxmlformats.org/drawingml/2006/main">
              <a:ext uri="{FF2B5EF4-FFF2-40B4-BE49-F238E27FC236}">
                <a16:creationId xmlns:a16="http://schemas.microsoft.com/office/drawing/2014/main" id="{8267C98D-90A7-4B56-8512-E887CF46172E}"/>
              </a:ext>
            </a:extLst>
          </p:cNvPr>
          <p:cNvSpPr>
            <a:spLocks xmlns:a="http://schemas.openxmlformats.org/drawingml/2006/main" noGrp="1"/>
          </p:cNvSpPr>
          <p:nvPr/>
        </p:nvSpPr>
        <p:spPr>
          <a:xfrm xmlns:a="http://schemas.openxmlformats.org/drawingml/2006/main" rot="0">
            <a:off x="4041526" y="2935288"/>
            <a:ext cx="1975346"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Physical inputs</a:t>
            </a:r>
          </a:p>
        </p:txBody>
      </p:sp>
      <p:sp>
        <p:nvSpPr>
          <p:cNvPr id="18" name="Figure 6 label 17 line 1">
            <a:extLst xmlns:a="http://schemas.openxmlformats.org/drawingml/2006/main">
              <a:ext uri="{FF2B5EF4-FFF2-40B4-BE49-F238E27FC236}">
                <a16:creationId xmlns:a16="http://schemas.microsoft.com/office/drawing/2014/main" id="{69482B53-B72A-43C7-822B-E5F51FB6B489}"/>
              </a:ext>
            </a:extLst>
          </p:cNvPr>
          <p:cNvSpPr>
            <a:spLocks xmlns:a="http://schemas.openxmlformats.org/drawingml/2006/main" noGrp="1"/>
          </p:cNvSpPr>
          <p:nvPr/>
        </p:nvSpPr>
        <p:spPr>
          <a:xfrm xmlns:a="http://schemas.openxmlformats.org/drawingml/2006/main" rot="0">
            <a:off x="7208560" y="3554060"/>
            <a:ext cx="1157635" cy="19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250" b="0">
                <a:solidFill>
                  <a:srgbClr val="00355F"/>
                </a:solidFill>
                <a:latin typeface="Arial Unicode MS"/>
                <a:ea typeface="Arial Unicode MS"/>
                <a:cs typeface="Arial Unicode MS"/>
              </a:defRPr>
            </a:pPr>
            <a:r>
              <a:rPr sz="1250" b="0">
                <a:solidFill>
                  <a:srgbClr val="00355F"/>
                </a:solidFill>
                <a:latin typeface="Arial Unicode MS"/>
                <a:ea typeface="Arial Unicode MS"/>
                <a:cs typeface="Arial Unicode MS"/>
              </a:rPr>
              <a:t>Baseline = 100</a:t>
            </a:r>
          </a:p>
        </p:txBody>
      </p:sp>
      <p:sp>
        <p:nvSpPr>
          <p:cNvPr id="19" name="Figure 6 label 18 line 1">
            <a:extLst xmlns:a="http://schemas.openxmlformats.org/drawingml/2006/main">
              <a:ext uri="{FF2B5EF4-FFF2-40B4-BE49-F238E27FC236}">
                <a16:creationId xmlns:a16="http://schemas.microsoft.com/office/drawing/2014/main" id="{C6EBBB0A-647E-4E12-BE6D-3133AF327656}"/>
              </a:ext>
            </a:extLst>
          </p:cNvPr>
          <p:cNvSpPr>
            <a:spLocks xmlns:a="http://schemas.openxmlformats.org/drawingml/2006/main" noGrp="1"/>
          </p:cNvSpPr>
          <p:nvPr/>
        </p:nvSpPr>
        <p:spPr>
          <a:xfrm xmlns:a="http://schemas.openxmlformats.org/drawingml/2006/main" rot="0">
            <a:off x="7208560" y="3778692"/>
            <a:ext cx="751632" cy="19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250" b="0">
                <a:solidFill>
                  <a:srgbClr val="00355F"/>
                </a:solidFill>
                <a:latin typeface="Arial Unicode MS"/>
                <a:ea typeface="Arial Unicode MS"/>
                <a:cs typeface="Arial Unicode MS"/>
              </a:defRPr>
            </a:pPr>
            <a:r>
              <a:rPr sz="1250" b="0">
                <a:solidFill>
                  <a:srgbClr val="00355F"/>
                </a:solidFill>
                <a:latin typeface="Arial Unicode MS"/>
                <a:ea typeface="Arial Unicode MS"/>
                <a:cs typeface="Arial Unicode MS"/>
              </a:rPr>
              <a:t>10× tests</a:t>
            </a:r>
          </a:p>
        </p:txBody>
      </p:sp>
      <p:sp>
        <p:nvSpPr>
          <p:cNvPr id="20" name="Figure 6 label 19 line 1">
            <a:extLst xmlns:a="http://schemas.openxmlformats.org/drawingml/2006/main">
              <a:ext uri="{FF2B5EF4-FFF2-40B4-BE49-F238E27FC236}">
                <a16:creationId xmlns:a16="http://schemas.microsoft.com/office/drawing/2014/main" id="{CC656D46-90B7-45A1-B4AF-578A65F9E15E}"/>
              </a:ext>
            </a:extLst>
          </p:cNvPr>
          <p:cNvSpPr>
            <a:spLocks xmlns:a="http://schemas.openxmlformats.org/drawingml/2006/main" noGrp="1"/>
          </p:cNvSpPr>
          <p:nvPr/>
        </p:nvSpPr>
        <p:spPr>
          <a:xfrm xmlns:a="http://schemas.openxmlformats.org/drawingml/2006/main" rot="0">
            <a:off x="10651444"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 plate ASP</a:t>
            </a:r>
          </a:p>
        </p:txBody>
      </p:sp>
      <p:sp>
        <p:nvSpPr>
          <p:cNvPr id="21" name="Figure 6 label 20 line 1">
            <a:extLst xmlns:a="http://schemas.openxmlformats.org/drawingml/2006/main">
              <a:ext uri="{FF2B5EF4-FFF2-40B4-BE49-F238E27FC236}">
                <a16:creationId xmlns:a16="http://schemas.microsoft.com/office/drawing/2014/main" id="{A94E811C-CDA3-4133-91C4-44B4856D8461}"/>
              </a:ext>
            </a:extLst>
          </p:cNvPr>
          <p:cNvSpPr>
            <a:spLocks xmlns:a="http://schemas.openxmlformats.org/drawingml/2006/main" noGrp="1"/>
          </p:cNvSpPr>
          <p:nvPr/>
        </p:nvSpPr>
        <p:spPr>
          <a:xfrm xmlns:a="http://schemas.openxmlformats.org/drawingml/2006/main" rot="0">
            <a:off x="12912507"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 plate ASP</a:t>
            </a:r>
          </a:p>
        </p:txBody>
      </p:sp>
      <p:sp>
        <p:nvSpPr>
          <p:cNvPr id="22" name="Figure 6 label 21 line 1">
            <a:extLst xmlns:a="http://schemas.openxmlformats.org/drawingml/2006/main">
              <a:ext uri="{FF2B5EF4-FFF2-40B4-BE49-F238E27FC236}">
                <a16:creationId xmlns:a16="http://schemas.microsoft.com/office/drawing/2014/main" id="{0254FBF1-7927-4D34-ADA9-B46BDD21AA2D}"/>
              </a:ext>
            </a:extLst>
          </p:cNvPr>
          <p:cNvSpPr>
            <a:spLocks xmlns:a="http://schemas.openxmlformats.org/drawingml/2006/main" noGrp="1"/>
          </p:cNvSpPr>
          <p:nvPr/>
        </p:nvSpPr>
        <p:spPr>
          <a:xfrm xmlns:a="http://schemas.openxmlformats.org/drawingml/2006/main" rot="0">
            <a:off x="15173569"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 plate ASP</a:t>
            </a:r>
          </a:p>
        </p:txBody>
      </p:sp>
      <p:sp>
        <p:nvSpPr>
          <p:cNvPr id="23" name="Figure 6 label 22 line 1">
            <a:extLst xmlns:a="http://schemas.openxmlformats.org/drawingml/2006/main">
              <a:ext uri="{FF2B5EF4-FFF2-40B4-BE49-F238E27FC236}">
                <a16:creationId xmlns:a16="http://schemas.microsoft.com/office/drawing/2014/main" id="{0DD797EC-5A42-4CEA-A96D-D5DDB168C0DC}"/>
              </a:ext>
            </a:extLst>
          </p:cNvPr>
          <p:cNvSpPr>
            <a:spLocks xmlns:a="http://schemas.openxmlformats.org/drawingml/2006/main" noGrp="1"/>
          </p:cNvSpPr>
          <p:nvPr/>
        </p:nvSpPr>
        <p:spPr>
          <a:xfrm xmlns:a="http://schemas.openxmlformats.org/drawingml/2006/main" rot="0">
            <a:off x="10035619" y="733765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24" name="Figure 6 label 23 line 1">
            <a:extLst xmlns:a="http://schemas.openxmlformats.org/drawingml/2006/main">
              <a:ext uri="{FF2B5EF4-FFF2-40B4-BE49-F238E27FC236}">
                <a16:creationId xmlns:a16="http://schemas.microsoft.com/office/drawing/2014/main" id="{60222E82-C984-437F-9A95-9ED36FC82427}"/>
              </a:ext>
            </a:extLst>
          </p:cNvPr>
          <p:cNvSpPr>
            <a:spLocks xmlns:a="http://schemas.openxmlformats.org/drawingml/2006/main" noGrp="1"/>
          </p:cNvSpPr>
          <p:nvPr/>
        </p:nvSpPr>
        <p:spPr>
          <a:xfrm xmlns:a="http://schemas.openxmlformats.org/drawingml/2006/main" rot="0">
            <a:off x="9929653" y="6645946"/>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25" name="Figure 6 label 24 line 1">
            <a:extLst xmlns:a="http://schemas.openxmlformats.org/drawingml/2006/main">
              <a:ext uri="{FF2B5EF4-FFF2-40B4-BE49-F238E27FC236}">
                <a16:creationId xmlns:a16="http://schemas.microsoft.com/office/drawing/2014/main" id="{9959F990-CBE0-4542-88E1-E03B3918B96F}"/>
              </a:ext>
            </a:extLst>
          </p:cNvPr>
          <p:cNvSpPr>
            <a:spLocks xmlns:a="http://schemas.openxmlformats.org/drawingml/2006/main" noGrp="1"/>
          </p:cNvSpPr>
          <p:nvPr/>
        </p:nvSpPr>
        <p:spPr>
          <a:xfrm xmlns:a="http://schemas.openxmlformats.org/drawingml/2006/main" rot="0">
            <a:off x="9823688" y="595423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26" name="Figure 6 label 25 line 1">
            <a:extLst xmlns:a="http://schemas.openxmlformats.org/drawingml/2006/main">
              <a:ext uri="{FF2B5EF4-FFF2-40B4-BE49-F238E27FC236}">
                <a16:creationId xmlns:a16="http://schemas.microsoft.com/office/drawing/2014/main" id="{11114FF5-72AE-4F20-831C-EA5EC067CEAE}"/>
              </a:ext>
            </a:extLst>
          </p:cNvPr>
          <p:cNvSpPr>
            <a:spLocks xmlns:a="http://schemas.openxmlformats.org/drawingml/2006/main" noGrp="1"/>
          </p:cNvSpPr>
          <p:nvPr/>
        </p:nvSpPr>
        <p:spPr>
          <a:xfrm xmlns:a="http://schemas.openxmlformats.org/drawingml/2006/main" rot="0">
            <a:off x="9823688" y="5262522"/>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150</a:t>
            </a:r>
          </a:p>
        </p:txBody>
      </p:sp>
      <p:sp>
        <p:nvSpPr>
          <p:cNvPr id="27" name="Figure 6 label 26 line 1">
            <a:extLst xmlns:a="http://schemas.openxmlformats.org/drawingml/2006/main">
              <a:ext uri="{FF2B5EF4-FFF2-40B4-BE49-F238E27FC236}">
                <a16:creationId xmlns:a16="http://schemas.microsoft.com/office/drawing/2014/main" id="{65E3A5DE-2F3B-4678-A67B-89EB89629484}"/>
              </a:ext>
            </a:extLst>
          </p:cNvPr>
          <p:cNvSpPr>
            <a:spLocks xmlns:a="http://schemas.openxmlformats.org/drawingml/2006/main" noGrp="1"/>
          </p:cNvSpPr>
          <p:nvPr/>
        </p:nvSpPr>
        <p:spPr>
          <a:xfrm xmlns:a="http://schemas.openxmlformats.org/drawingml/2006/main" rot="0">
            <a:off x="9823688" y="457081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28" name="Figure 6 label 27 line 1">
            <a:extLst xmlns:a="http://schemas.openxmlformats.org/drawingml/2006/main">
              <a:ext uri="{FF2B5EF4-FFF2-40B4-BE49-F238E27FC236}">
                <a16:creationId xmlns:a16="http://schemas.microsoft.com/office/drawing/2014/main" id="{4D12D7C4-70EE-43B9-AAB7-787FD446335F}"/>
              </a:ext>
            </a:extLst>
          </p:cNvPr>
          <p:cNvSpPr>
            <a:spLocks xmlns:a="http://schemas.openxmlformats.org/drawingml/2006/main" noGrp="1"/>
          </p:cNvSpPr>
          <p:nvPr/>
        </p:nvSpPr>
        <p:spPr>
          <a:xfrm xmlns:a="http://schemas.openxmlformats.org/drawingml/2006/main" rot="0">
            <a:off x="9823688" y="3879098"/>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250</a:t>
            </a:r>
          </a:p>
        </p:txBody>
      </p:sp>
      <p:sp>
        <p:nvSpPr>
          <p:cNvPr id="29" name="Figure 6 label 28 line 1">
            <a:extLst xmlns:a="http://schemas.openxmlformats.org/drawingml/2006/main">
              <a:ext uri="{FF2B5EF4-FFF2-40B4-BE49-F238E27FC236}">
                <a16:creationId xmlns:a16="http://schemas.microsoft.com/office/drawing/2014/main" id="{6A800775-F046-4B00-8FCA-68D62FBAF550}"/>
              </a:ext>
            </a:extLst>
          </p:cNvPr>
          <p:cNvSpPr>
            <a:spLocks xmlns:a="http://schemas.openxmlformats.org/drawingml/2006/main" noGrp="1"/>
          </p:cNvSpPr>
          <p:nvPr/>
        </p:nvSpPr>
        <p:spPr>
          <a:xfrm xmlns:a="http://schemas.openxmlformats.org/drawingml/2006/main" rot="16200000">
            <a:off x="8985969" y="5304473"/>
            <a:ext cx="16384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spend index</a:t>
            </a:r>
          </a:p>
        </p:txBody>
      </p:sp>
      <p:sp>
        <p:nvSpPr>
          <p:cNvPr id="30" name="Figure 6 label 29 line 1">
            <a:extLst xmlns:a="http://schemas.openxmlformats.org/drawingml/2006/main">
              <a:ext uri="{FF2B5EF4-FFF2-40B4-BE49-F238E27FC236}">
                <a16:creationId xmlns:a16="http://schemas.microsoft.com/office/drawing/2014/main" id="{AA205D8B-673A-48EC-9A53-50D35739691D}"/>
              </a:ext>
            </a:extLst>
          </p:cNvPr>
          <p:cNvSpPr>
            <a:spLocks xmlns:a="http://schemas.openxmlformats.org/drawingml/2006/main" noGrp="1"/>
          </p:cNvSpPr>
          <p:nvPr/>
        </p:nvSpPr>
        <p:spPr>
          <a:xfrm xmlns:a="http://schemas.openxmlformats.org/drawingml/2006/main" rot="0">
            <a:off x="10921741" y="6220826"/>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62.6</a:t>
            </a:r>
          </a:p>
        </p:txBody>
      </p:sp>
      <p:sp>
        <p:nvSpPr>
          <p:cNvPr id="31" name="Figure 6 label 30 line 1">
            <a:extLst xmlns:a="http://schemas.openxmlformats.org/drawingml/2006/main">
              <a:ext uri="{FF2B5EF4-FFF2-40B4-BE49-F238E27FC236}">
                <a16:creationId xmlns:a16="http://schemas.microsoft.com/office/drawing/2014/main" id="{561FA65E-DFF6-4C2A-9AEF-11AEBCB9C30E}"/>
              </a:ext>
            </a:extLst>
          </p:cNvPr>
          <p:cNvSpPr>
            <a:spLocks xmlns:a="http://schemas.openxmlformats.org/drawingml/2006/main" noGrp="1"/>
          </p:cNvSpPr>
          <p:nvPr/>
        </p:nvSpPr>
        <p:spPr>
          <a:xfrm xmlns:a="http://schemas.openxmlformats.org/drawingml/2006/main" rot="0">
            <a:off x="13107720" y="5355190"/>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125.1</a:t>
            </a:r>
          </a:p>
        </p:txBody>
      </p:sp>
      <p:sp>
        <p:nvSpPr>
          <p:cNvPr id="32" name="Figure 6 label 31 line 1">
            <a:extLst xmlns:a="http://schemas.openxmlformats.org/drawingml/2006/main">
              <a:ext uri="{FF2B5EF4-FFF2-40B4-BE49-F238E27FC236}">
                <a16:creationId xmlns:a16="http://schemas.microsoft.com/office/drawing/2014/main" id="{8B8EBA1E-8B69-41FA-B078-CB247123F892}"/>
              </a:ext>
            </a:extLst>
          </p:cNvPr>
          <p:cNvSpPr>
            <a:spLocks xmlns:a="http://schemas.openxmlformats.org/drawingml/2006/main" noGrp="1"/>
          </p:cNvSpPr>
          <p:nvPr/>
        </p:nvSpPr>
        <p:spPr>
          <a:xfrm xmlns:a="http://schemas.openxmlformats.org/drawingml/2006/main" rot="0">
            <a:off x="15368782" y="3623919"/>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250.3</a:t>
            </a:r>
          </a:p>
        </p:txBody>
      </p:sp>
      <p:sp>
        <p:nvSpPr>
          <p:cNvPr id="33" name="Figure 6 label 32 line 1">
            <a:extLst xmlns:a="http://schemas.openxmlformats.org/drawingml/2006/main">
              <a:ext uri="{FF2B5EF4-FFF2-40B4-BE49-F238E27FC236}">
                <a16:creationId xmlns:a16="http://schemas.microsoft.com/office/drawing/2014/main" id="{B56149E8-7D1E-46BE-98B8-D1430B175463}"/>
              </a:ext>
            </a:extLst>
          </p:cNvPr>
          <p:cNvSpPr>
            <a:spLocks xmlns:a="http://schemas.openxmlformats.org/drawingml/2006/main" noGrp="1"/>
          </p:cNvSpPr>
          <p:nvPr/>
        </p:nvSpPr>
        <p:spPr>
          <a:xfrm xmlns:a="http://schemas.openxmlformats.org/drawingml/2006/main" rot="0">
            <a:off x="11788135" y="2935288"/>
            <a:ext cx="3489970"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Fewer plates can cost more</a:t>
            </a:r>
          </a:p>
        </p:txBody>
      </p:sp>
      <p:sp>
        <p:nvSpPr>
          <p:cNvPr id="34" name="Figure 6 label 33 line 1">
            <a:extLst xmlns:a="http://schemas.openxmlformats.org/drawingml/2006/main">
              <a:ext uri="{FF2B5EF4-FFF2-40B4-BE49-F238E27FC236}">
                <a16:creationId xmlns:a16="http://schemas.microsoft.com/office/drawing/2014/main" id="{53B6811D-71CD-4E9C-A3C8-8D7BE375514F}"/>
              </a:ext>
            </a:extLst>
          </p:cNvPr>
          <p:cNvSpPr>
            <a:spLocks xmlns:a="http://schemas.openxmlformats.org/drawingml/2006/main" noGrp="1"/>
          </p:cNvSpPr>
          <p:nvPr/>
        </p:nvSpPr>
        <p:spPr>
          <a:xfrm xmlns:a="http://schemas.openxmlformats.org/drawingml/2006/main" rot="0">
            <a:off x="991870" y="423803"/>
            <a:ext cx="67098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06  Quantities and prices in miniaturization</a:t>
            </a:r>
          </a:p>
        </p:txBody>
      </p:sp>
      <p:sp>
        <p:nvSpPr>
          <p:cNvPr id="35" name="Figure 6 label 34 line 1">
            <a:extLst xmlns:a="http://schemas.openxmlformats.org/drawingml/2006/main">
              <a:ext uri="{FF2B5EF4-FFF2-40B4-BE49-F238E27FC236}">
                <a16:creationId xmlns:a16="http://schemas.microsoft.com/office/drawing/2014/main" id="{6ACEECCB-D1F0-47E8-8C1C-0093AE5AFA5D}"/>
              </a:ext>
            </a:extLst>
          </p:cNvPr>
          <p:cNvSpPr>
            <a:spLocks xmlns:a="http://schemas.openxmlformats.org/drawingml/2006/main" noGrp="1"/>
          </p:cNvSpPr>
          <p:nvPr/>
        </p:nvSpPr>
        <p:spPr>
          <a:xfrm xmlns:a="http://schemas.openxmlformats.org/drawingml/2006/main" rot="0">
            <a:off x="15720740" y="661601"/>
            <a:ext cx="1019721"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SENSITIVITY</a:t>
            </a:r>
          </a:p>
        </p:txBody>
      </p:sp>
      <p:sp>
        <p:nvSpPr>
          <p:cNvPr id="36" name="Figure 6 label 35 line 1">
            <a:extLst xmlns:a="http://schemas.openxmlformats.org/drawingml/2006/main">
              <a:ext uri="{FF2B5EF4-FFF2-40B4-BE49-F238E27FC236}">
                <a16:creationId xmlns:a16="http://schemas.microsoft.com/office/drawing/2014/main" id="{A8ABC700-5316-4B8F-90F9-2FE4C7117DB9}"/>
              </a:ext>
            </a:extLst>
          </p:cNvPr>
          <p:cNvSpPr>
            <a:spLocks xmlns:a="http://schemas.openxmlformats.org/drawingml/2006/main" noGrp="1"/>
          </p:cNvSpPr>
          <p:nvPr/>
        </p:nvSpPr>
        <p:spPr>
          <a:xfrm xmlns:a="http://schemas.openxmlformats.org/drawingml/2006/main" rot="0">
            <a:off x="998220" y="1248653"/>
            <a:ext cx="74521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 tests: 10 L → 5 L reagent; 1,042 → 652 plates; 100k → 100k tips. Full usable plates.</a:t>
            </a:r>
          </a:p>
        </p:txBody>
      </p:sp>
      <p:sp>
        <p:nvSpPr>
          <p:cNvPr id="37" name="Figure 6 label 36 line 1">
            <a:extLst xmlns:a="http://schemas.openxmlformats.org/drawingml/2006/main">
              <a:ext uri="{FF2B5EF4-FFF2-40B4-BE49-F238E27FC236}">
                <a16:creationId xmlns:a16="http://schemas.microsoft.com/office/drawing/2014/main" id="{AE3740C6-115B-4D8A-95A1-CC8E1BE7C254}"/>
              </a:ext>
            </a:extLst>
          </p:cNvPr>
          <p:cNvSpPr>
            <a:spLocks xmlns:a="http://schemas.openxmlformats.org/drawingml/2006/main" noGrp="1"/>
          </p:cNvSpPr>
          <p:nvPr/>
        </p:nvSpPr>
        <p:spPr>
          <a:xfrm xmlns:a="http://schemas.openxmlformats.org/drawingml/2006/main" rot="0">
            <a:off x="999173" y="9256035"/>
            <a:ext cx="911468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Price ratios are analyst inputs, not quoted ASPs. Dead volume, controls, usable wells and retesting can change quantities.</a:t>
            </a:r>
          </a:p>
        </p:txBody>
      </p:sp>
      <p:sp>
        <p:nvSpPr>
          <p:cNvPr id="38" name="Figure 6 label 37 line 1">
            <a:extLst xmlns:a="http://schemas.openxmlformats.org/drawingml/2006/main">
              <a:ext uri="{FF2B5EF4-FFF2-40B4-BE49-F238E27FC236}">
                <a16:creationId xmlns:a16="http://schemas.microsoft.com/office/drawing/2014/main" id="{CC89507E-851A-4B2F-84BA-5C2D294C8D7C}"/>
              </a:ext>
            </a:extLst>
          </p:cNvPr>
          <p:cNvSpPr>
            <a:spLocks xmlns:a="http://schemas.openxmlformats.org/drawingml/2006/main" noGrp="1"/>
          </p:cNvSpPr>
          <p:nvPr/>
        </p:nvSpPr>
        <p:spPr>
          <a:xfrm xmlns:a="http://schemas.openxmlformats.org/drawingml/2006/main" rot="0">
            <a:off x="1000316" y="9676290"/>
            <a:ext cx="7147054"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transparent arithmetic from supplied test volumes and well counts. Units and sensitivities in SOURCES.md.</a:t>
            </a:r>
          </a:p>
        </p:txBody>
      </p:sp>
      <p:sp>
        <p:nvSpPr>
          <p:cNvPr id="39" name="Figure 6 label 38 line 1">
            <a:extLst xmlns:a="http://schemas.openxmlformats.org/drawingml/2006/main">
              <a:ext uri="{FF2B5EF4-FFF2-40B4-BE49-F238E27FC236}">
                <a16:creationId xmlns:a16="http://schemas.microsoft.com/office/drawing/2014/main" id="{904BBC6F-4B05-4BDA-9A11-0C3E2832E5C3}"/>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40" name="Figure 6 label 39 line 1">
            <a:extLst xmlns:a="http://schemas.openxmlformats.org/drawingml/2006/main">
              <a:ext uri="{FF2B5EF4-FFF2-40B4-BE49-F238E27FC236}">
                <a16:creationId xmlns:a16="http://schemas.microsoft.com/office/drawing/2014/main" id="{490CFC2C-7865-4670-9B61-3B176221686E}"/>
              </a:ext>
            </a:extLst>
          </p:cNvPr>
          <p:cNvSpPr>
            <a:spLocks xmlns:a="http://schemas.openxmlformats.org/drawingml/2006/main" noGrp="1"/>
          </p:cNvSpPr>
          <p:nvPr/>
        </p:nvSpPr>
        <p:spPr>
          <a:xfrm xmlns:a="http://schemas.openxmlformats.org/drawingml/2006/main" rot="0">
            <a:off x="6060803" y="2357719"/>
            <a:ext cx="6166396"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Quantities × net unit prices determine spending</a:t>
            </a:r>
          </a:p>
        </p:txBody>
      </p:sp>
      <p:sp>
        <p:nvSpPr>
          <p:cNvPr id="41" name="Figure 6 label 40 line 1">
            <a:extLst xmlns:a="http://schemas.openxmlformats.org/drawingml/2006/main">
              <a:ext uri="{FF2B5EF4-FFF2-40B4-BE49-F238E27FC236}">
                <a16:creationId xmlns:a16="http://schemas.microsoft.com/office/drawing/2014/main" id="{BE7A1107-FEB3-4B07-AEDD-20788025D58F}"/>
              </a:ext>
            </a:extLst>
          </p:cNvPr>
          <p:cNvSpPr>
            <a:spLocks xmlns:a="http://schemas.openxmlformats.org/drawingml/2006/main" noGrp="1"/>
          </p:cNvSpPr>
          <p:nvPr/>
        </p:nvSpPr>
        <p:spPr>
          <a:xfrm xmlns:a="http://schemas.openxmlformats.org/drawingml/2006/main" rot="0">
            <a:off x="4859635" y="8329783"/>
            <a:ext cx="8568730"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Plate spending exceeds baseline if the plate ASP ratio is above 1.60×.</a:t>
            </a:r>
          </a:p>
        </p:txBody>
      </p:sp>
    </p:spTree>
    <p:extLst>
      <p:ext uri="{BB962C8B-B14F-4D97-AF65-F5344CB8AC3E}">
        <p14:creationId xmlns:p14="http://schemas.microsoft.com/office/powerpoint/2010/main" val="18707811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E847EC2A-7F0B-4CAD-9771-2CCAD08E16AD}"/>
              </a:ext>
            </a:extLst>
          </p:cNvPr>
          <p:cNvPicPr>
            <a:picLocks xmlns:a="http://schemas.openxmlformats.org/drawingml/2006/main" noChangeAspect="1"/>
          </p:cNvPicPr>
          <p:nvPr/>
        </p:nvPicPr>
        <p:blipFill>
          <a:blip xmlns:r="http://schemas.openxmlformats.org/officeDocument/2006/relationships" xmlns:a="http://schemas.openxmlformats.org/drawingml/2006/main" r:embed="R6ed64eb6407046d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7 label 1 line 1">
            <a:extLst xmlns:a="http://schemas.openxmlformats.org/drawingml/2006/main">
              <a:ext uri="{FF2B5EF4-FFF2-40B4-BE49-F238E27FC236}">
                <a16:creationId xmlns:a16="http://schemas.microsoft.com/office/drawing/2014/main" id="{C2480921-0DA5-491E-BD10-47A093F75831}"/>
              </a:ext>
            </a:extLst>
          </p:cNvPr>
          <p:cNvSpPr>
            <a:spLocks xmlns:a="http://schemas.openxmlformats.org/drawingml/2006/main" noGrp="1"/>
          </p:cNvSpPr>
          <p:nvPr/>
        </p:nvSpPr>
        <p:spPr>
          <a:xfrm xmlns:a="http://schemas.openxmlformats.org/drawingml/2006/main" rot="0">
            <a:off x="2388045" y="7790563"/>
            <a:ext cx="1841401"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US$50bn total funding</a:t>
            </a:r>
          </a:p>
        </p:txBody>
      </p:sp>
      <p:sp>
        <p:nvSpPr>
          <p:cNvPr id="3" name="Figure 7 label 2 line 1">
            <a:extLst xmlns:a="http://schemas.openxmlformats.org/drawingml/2006/main">
              <a:ext uri="{FF2B5EF4-FFF2-40B4-BE49-F238E27FC236}">
                <a16:creationId xmlns:a16="http://schemas.microsoft.com/office/drawing/2014/main" id="{305E866B-C6C5-49C5-9CA6-A92491776DCF}"/>
              </a:ext>
            </a:extLst>
          </p:cNvPr>
          <p:cNvSpPr>
            <a:spLocks xmlns:a="http://schemas.openxmlformats.org/drawingml/2006/main" noGrp="1"/>
          </p:cNvSpPr>
          <p:nvPr/>
        </p:nvSpPr>
        <p:spPr>
          <a:xfrm xmlns:a="http://schemas.openxmlformats.org/drawingml/2006/main" rot="0">
            <a:off x="5888708" y="7790563"/>
            <a:ext cx="193858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US$100bn total funding</a:t>
            </a:r>
          </a:p>
        </p:txBody>
      </p:sp>
      <p:sp>
        <p:nvSpPr>
          <p:cNvPr id="4" name="Figure 7 label 3 line 1">
            <a:extLst xmlns:a="http://schemas.openxmlformats.org/drawingml/2006/main">
              <a:ext uri="{FF2B5EF4-FFF2-40B4-BE49-F238E27FC236}">
                <a16:creationId xmlns:a16="http://schemas.microsoft.com/office/drawing/2014/main" id="{401AE063-B455-44F7-8A51-5B41A127C91A}"/>
              </a:ext>
            </a:extLst>
          </p:cNvPr>
          <p:cNvSpPr>
            <a:spLocks xmlns:a="http://schemas.openxmlformats.org/drawingml/2006/main" noGrp="1"/>
          </p:cNvSpPr>
          <p:nvPr/>
        </p:nvSpPr>
        <p:spPr>
          <a:xfrm xmlns:a="http://schemas.openxmlformats.org/drawingml/2006/main" rot="0">
            <a:off x="9437962" y="7790563"/>
            <a:ext cx="193858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US$200bn total funding</a:t>
            </a:r>
          </a:p>
        </p:txBody>
      </p:sp>
      <p:sp>
        <p:nvSpPr>
          <p:cNvPr id="5" name="Figure 7 label 4 line 1">
            <a:extLst xmlns:a="http://schemas.openxmlformats.org/drawingml/2006/main">
              <a:ext uri="{FF2B5EF4-FFF2-40B4-BE49-F238E27FC236}">
                <a16:creationId xmlns:a16="http://schemas.microsoft.com/office/drawing/2014/main" id="{B554A044-A24D-4538-A1A2-5CDE547AB97A}"/>
              </a:ext>
            </a:extLst>
          </p:cNvPr>
          <p:cNvSpPr>
            <a:spLocks xmlns:a="http://schemas.openxmlformats.org/drawingml/2006/main" noGrp="1"/>
          </p:cNvSpPr>
          <p:nvPr/>
        </p:nvSpPr>
        <p:spPr>
          <a:xfrm xmlns:a="http://schemas.openxmlformats.org/drawingml/2006/main" rot="0">
            <a:off x="1257379" y="754339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6" name="Figure 7 label 5 line 1">
            <a:extLst xmlns:a="http://schemas.openxmlformats.org/drawingml/2006/main">
              <a:ext uri="{FF2B5EF4-FFF2-40B4-BE49-F238E27FC236}">
                <a16:creationId xmlns:a16="http://schemas.microsoft.com/office/drawing/2014/main" id="{EF8297C7-BEAB-415F-9193-5043C70BDCB6}"/>
              </a:ext>
            </a:extLst>
          </p:cNvPr>
          <p:cNvSpPr>
            <a:spLocks xmlns:a="http://schemas.openxmlformats.org/drawingml/2006/main" noGrp="1"/>
          </p:cNvSpPr>
          <p:nvPr/>
        </p:nvSpPr>
        <p:spPr>
          <a:xfrm xmlns:a="http://schemas.openxmlformats.org/drawingml/2006/main" rot="0">
            <a:off x="1151414" y="6447609"/>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7" name="Figure 7 label 6 line 1">
            <a:extLst xmlns:a="http://schemas.openxmlformats.org/drawingml/2006/main">
              <a:ext uri="{FF2B5EF4-FFF2-40B4-BE49-F238E27FC236}">
                <a16:creationId xmlns:a16="http://schemas.microsoft.com/office/drawing/2014/main" id="{DF5267AB-763F-4D2B-AD45-ABCC16048FD1}"/>
              </a:ext>
            </a:extLst>
          </p:cNvPr>
          <p:cNvSpPr>
            <a:spLocks xmlns:a="http://schemas.openxmlformats.org/drawingml/2006/main" noGrp="1"/>
          </p:cNvSpPr>
          <p:nvPr/>
        </p:nvSpPr>
        <p:spPr>
          <a:xfrm xmlns:a="http://schemas.openxmlformats.org/drawingml/2006/main" rot="0">
            <a:off x="1151414" y="5351820"/>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8" name="Figure 7 label 7 line 1">
            <a:extLst xmlns:a="http://schemas.openxmlformats.org/drawingml/2006/main">
              <a:ext uri="{FF2B5EF4-FFF2-40B4-BE49-F238E27FC236}">
                <a16:creationId xmlns:a16="http://schemas.microsoft.com/office/drawing/2014/main" id="{4D3A3172-30FA-4E20-9718-3A21DF0CAA87}"/>
              </a:ext>
            </a:extLst>
          </p:cNvPr>
          <p:cNvSpPr>
            <a:spLocks xmlns:a="http://schemas.openxmlformats.org/drawingml/2006/main" noGrp="1"/>
          </p:cNvSpPr>
          <p:nvPr/>
        </p:nvSpPr>
        <p:spPr>
          <a:xfrm xmlns:a="http://schemas.openxmlformats.org/drawingml/2006/main" rot="0">
            <a:off x="1151414" y="4256031"/>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9" name="Figure 7 label 8 line 1">
            <a:extLst xmlns:a="http://schemas.openxmlformats.org/drawingml/2006/main">
              <a:ext uri="{FF2B5EF4-FFF2-40B4-BE49-F238E27FC236}">
                <a16:creationId xmlns:a16="http://schemas.microsoft.com/office/drawing/2014/main" id="{B5C2474A-638F-46BD-A718-E225E3B04652}"/>
              </a:ext>
            </a:extLst>
          </p:cNvPr>
          <p:cNvSpPr>
            <a:spLocks xmlns:a="http://schemas.openxmlformats.org/drawingml/2006/main" noGrp="1"/>
          </p:cNvSpPr>
          <p:nvPr/>
        </p:nvSpPr>
        <p:spPr>
          <a:xfrm xmlns:a="http://schemas.openxmlformats.org/drawingml/2006/main" rot="0">
            <a:off x="1151414" y="3160242"/>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10" name="Figure 7 label 9 line 1">
            <a:extLst xmlns:a="http://schemas.openxmlformats.org/drawingml/2006/main">
              <a:ext uri="{FF2B5EF4-FFF2-40B4-BE49-F238E27FC236}">
                <a16:creationId xmlns:a16="http://schemas.microsoft.com/office/drawing/2014/main" id="{38777943-94CC-4661-9598-30C9E9F5FE07}"/>
              </a:ext>
            </a:extLst>
          </p:cNvPr>
          <p:cNvSpPr>
            <a:spLocks xmlns:a="http://schemas.openxmlformats.org/drawingml/2006/main" noGrp="1"/>
          </p:cNvSpPr>
          <p:nvPr/>
        </p:nvSpPr>
        <p:spPr>
          <a:xfrm xmlns:a="http://schemas.openxmlformats.org/drawingml/2006/main" rot="16200000">
            <a:off x="-455746" y="4995862"/>
            <a:ext cx="3173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Cumulative LST purchases (US$bn)</a:t>
            </a:r>
          </a:p>
        </p:txBody>
      </p:sp>
      <p:sp>
        <p:nvSpPr>
          <p:cNvPr id="11" name="Figure 7 label 10 line 1">
            <a:extLst xmlns:a="http://schemas.openxmlformats.org/drawingml/2006/main">
              <a:ext uri="{FF2B5EF4-FFF2-40B4-BE49-F238E27FC236}">
                <a16:creationId xmlns:a16="http://schemas.microsoft.com/office/drawing/2014/main" id="{543430BA-C280-446A-B1EC-83ECC79DB9AB}"/>
              </a:ext>
            </a:extLst>
          </p:cNvPr>
          <p:cNvSpPr>
            <a:spLocks xmlns:a="http://schemas.openxmlformats.org/drawingml/2006/main" noGrp="1"/>
          </p:cNvSpPr>
          <p:nvPr/>
        </p:nvSpPr>
        <p:spPr>
          <a:xfrm xmlns:a="http://schemas.openxmlformats.org/drawingml/2006/main" rot="0">
            <a:off x="2281875" y="7115523"/>
            <a:ext cx="421084"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2.5</a:t>
            </a:r>
          </a:p>
        </p:txBody>
      </p:sp>
      <p:sp>
        <p:nvSpPr>
          <p:cNvPr id="12" name="Figure 7 label 11 line 1">
            <a:extLst xmlns:a="http://schemas.openxmlformats.org/drawingml/2006/main">
              <a:ext uri="{FF2B5EF4-FFF2-40B4-BE49-F238E27FC236}">
                <a16:creationId xmlns:a16="http://schemas.microsoft.com/office/drawing/2014/main" id="{DFC03278-A4D8-4168-9168-8CF810C9853F}"/>
              </a:ext>
            </a:extLst>
          </p:cNvPr>
          <p:cNvSpPr>
            <a:spLocks xmlns:a="http://schemas.openxmlformats.org/drawingml/2006/main" noGrp="1"/>
          </p:cNvSpPr>
          <p:nvPr/>
        </p:nvSpPr>
        <p:spPr>
          <a:xfrm xmlns:a="http://schemas.openxmlformats.org/drawingml/2006/main" rot="0">
            <a:off x="5917227" y="6841576"/>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13" name="Figure 7 label 12 line 1">
            <a:extLst xmlns:a="http://schemas.openxmlformats.org/drawingml/2006/main">
              <a:ext uri="{FF2B5EF4-FFF2-40B4-BE49-F238E27FC236}">
                <a16:creationId xmlns:a16="http://schemas.microsoft.com/office/drawing/2014/main" id="{8C9E6A22-BB32-4FCD-9A4B-629B9AC4343C}"/>
              </a:ext>
            </a:extLst>
          </p:cNvPr>
          <p:cNvSpPr>
            <a:spLocks xmlns:a="http://schemas.openxmlformats.org/drawingml/2006/main" noGrp="1"/>
          </p:cNvSpPr>
          <p:nvPr/>
        </p:nvSpPr>
        <p:spPr>
          <a:xfrm xmlns:a="http://schemas.openxmlformats.org/drawingml/2006/main" rot="0">
            <a:off x="9409108"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4" name="Figure 7 label 13 line 1">
            <a:extLst xmlns:a="http://schemas.openxmlformats.org/drawingml/2006/main">
              <a:ext uri="{FF2B5EF4-FFF2-40B4-BE49-F238E27FC236}">
                <a16:creationId xmlns:a16="http://schemas.microsoft.com/office/drawing/2014/main" id="{30C1E6E0-BE87-42B2-B602-12C4E20C88DB}"/>
              </a:ext>
            </a:extLst>
          </p:cNvPr>
          <p:cNvSpPr>
            <a:spLocks xmlns:a="http://schemas.openxmlformats.org/drawingml/2006/main" noGrp="1"/>
          </p:cNvSpPr>
          <p:nvPr/>
        </p:nvSpPr>
        <p:spPr>
          <a:xfrm xmlns:a="http://schemas.openxmlformats.org/drawingml/2006/main" rot="0">
            <a:off x="3184301" y="6841576"/>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15" name="Figure 7 label 14 line 1">
            <a:extLst xmlns:a="http://schemas.openxmlformats.org/drawingml/2006/main">
              <a:ext uri="{FF2B5EF4-FFF2-40B4-BE49-F238E27FC236}">
                <a16:creationId xmlns:a16="http://schemas.microsoft.com/office/drawing/2014/main" id="{6DF0074B-412F-4B5E-A9C5-B4ACAAA4149A}"/>
              </a:ext>
            </a:extLst>
          </p:cNvPr>
          <p:cNvSpPr>
            <a:spLocks xmlns:a="http://schemas.openxmlformats.org/drawingml/2006/main" noGrp="1"/>
          </p:cNvSpPr>
          <p:nvPr/>
        </p:nvSpPr>
        <p:spPr>
          <a:xfrm xmlns:a="http://schemas.openxmlformats.org/drawingml/2006/main" rot="0">
            <a:off x="6676182"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6" name="Figure 7 label 15 line 1">
            <a:extLst xmlns:a="http://schemas.openxmlformats.org/drawingml/2006/main">
              <a:ext uri="{FF2B5EF4-FFF2-40B4-BE49-F238E27FC236}">
                <a16:creationId xmlns:a16="http://schemas.microsoft.com/office/drawing/2014/main" id="{57BD79CE-24AA-4208-8484-B28FC2CE998C}"/>
              </a:ext>
            </a:extLst>
          </p:cNvPr>
          <p:cNvSpPr>
            <a:spLocks xmlns:a="http://schemas.openxmlformats.org/drawingml/2006/main" noGrp="1"/>
          </p:cNvSpPr>
          <p:nvPr/>
        </p:nvSpPr>
        <p:spPr>
          <a:xfrm xmlns:a="http://schemas.openxmlformats.org/drawingml/2006/main" rot="0">
            <a:off x="10225437" y="5197892"/>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17" name="Figure 7 label 16 line 1">
            <a:extLst xmlns:a="http://schemas.openxmlformats.org/drawingml/2006/main">
              <a:ext uri="{FF2B5EF4-FFF2-40B4-BE49-F238E27FC236}">
                <a16:creationId xmlns:a16="http://schemas.microsoft.com/office/drawing/2014/main" id="{2E02FC69-25D6-4823-B057-5B226EBF5298}"/>
              </a:ext>
            </a:extLst>
          </p:cNvPr>
          <p:cNvSpPr>
            <a:spLocks xmlns:a="http://schemas.openxmlformats.org/drawingml/2006/main" noGrp="1"/>
          </p:cNvSpPr>
          <p:nvPr/>
        </p:nvSpPr>
        <p:spPr>
          <a:xfrm xmlns:a="http://schemas.openxmlformats.org/drawingml/2006/main" rot="0">
            <a:off x="3943256"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8" name="Figure 7 label 17 line 1">
            <a:extLst xmlns:a="http://schemas.openxmlformats.org/drawingml/2006/main">
              <a:ext uri="{FF2B5EF4-FFF2-40B4-BE49-F238E27FC236}">
                <a16:creationId xmlns:a16="http://schemas.microsoft.com/office/drawing/2014/main" id="{B01A07D7-C204-4590-894D-AF97B8671FB3}"/>
              </a:ext>
            </a:extLst>
          </p:cNvPr>
          <p:cNvSpPr>
            <a:spLocks xmlns:a="http://schemas.openxmlformats.org/drawingml/2006/main" noGrp="1"/>
          </p:cNvSpPr>
          <p:nvPr/>
        </p:nvSpPr>
        <p:spPr>
          <a:xfrm xmlns:a="http://schemas.openxmlformats.org/drawingml/2006/main" rot="0">
            <a:off x="7492511" y="5197892"/>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19" name="Figure 7 label 18 line 1">
            <a:extLst xmlns:a="http://schemas.openxmlformats.org/drawingml/2006/main">
              <a:ext uri="{FF2B5EF4-FFF2-40B4-BE49-F238E27FC236}">
                <a16:creationId xmlns:a16="http://schemas.microsoft.com/office/drawing/2014/main" id="{52765AD0-7A9A-4E0B-A034-680B2914221F}"/>
              </a:ext>
            </a:extLst>
          </p:cNvPr>
          <p:cNvSpPr>
            <a:spLocks xmlns:a="http://schemas.openxmlformats.org/drawingml/2006/main" noGrp="1"/>
          </p:cNvSpPr>
          <p:nvPr/>
        </p:nvSpPr>
        <p:spPr>
          <a:xfrm xmlns:a="http://schemas.openxmlformats.org/drawingml/2006/main" rot="0">
            <a:off x="11041765" y="3006314"/>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40</a:t>
            </a:r>
          </a:p>
        </p:txBody>
      </p:sp>
      <p:sp>
        <p:nvSpPr>
          <p:cNvPr id="20" name="Figure 7 label 19 line 1">
            <a:extLst xmlns:a="http://schemas.openxmlformats.org/drawingml/2006/main">
              <a:ext uri="{FF2B5EF4-FFF2-40B4-BE49-F238E27FC236}">
                <a16:creationId xmlns:a16="http://schemas.microsoft.com/office/drawing/2014/main" id="{F5C91ADE-A99A-4E83-9A16-15BEABD8A47E}"/>
              </a:ext>
            </a:extLst>
          </p:cNvPr>
          <p:cNvSpPr>
            <a:spLocks xmlns:a="http://schemas.openxmlformats.org/drawingml/2006/main" noGrp="1"/>
          </p:cNvSpPr>
          <p:nvPr/>
        </p:nvSpPr>
        <p:spPr>
          <a:xfrm xmlns:a="http://schemas.openxmlformats.org/drawingml/2006/main" rot="0">
            <a:off x="2244376" y="2734787"/>
            <a:ext cx="1996103"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5% LST purchase capture</a:t>
            </a:r>
          </a:p>
        </p:txBody>
      </p:sp>
      <p:sp>
        <p:nvSpPr>
          <p:cNvPr id="21" name="Figure 7 label 20 line 1">
            <a:extLst xmlns:a="http://schemas.openxmlformats.org/drawingml/2006/main">
              <a:ext uri="{FF2B5EF4-FFF2-40B4-BE49-F238E27FC236}">
                <a16:creationId xmlns:a16="http://schemas.microsoft.com/office/drawing/2014/main" id="{3F3B4B11-CD72-4518-A354-1069B9D80E3A}"/>
              </a:ext>
            </a:extLst>
          </p:cNvPr>
          <p:cNvSpPr>
            <a:spLocks xmlns:a="http://schemas.openxmlformats.org/drawingml/2006/main" noGrp="1"/>
          </p:cNvSpPr>
          <p:nvPr/>
        </p:nvSpPr>
        <p:spPr>
          <a:xfrm xmlns:a="http://schemas.openxmlformats.org/drawingml/2006/main" rot="0">
            <a:off x="2244376" y="2968150"/>
            <a:ext cx="2087037"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10% LST purchase capture</a:t>
            </a:r>
          </a:p>
        </p:txBody>
      </p:sp>
      <p:sp>
        <p:nvSpPr>
          <p:cNvPr id="22" name="Figure 7 label 21 line 1">
            <a:extLst xmlns:a="http://schemas.openxmlformats.org/drawingml/2006/main">
              <a:ext uri="{FF2B5EF4-FFF2-40B4-BE49-F238E27FC236}">
                <a16:creationId xmlns:a16="http://schemas.microsoft.com/office/drawing/2014/main" id="{FB7E1F1A-DD98-4D01-9384-5A5DF8D31A14}"/>
              </a:ext>
            </a:extLst>
          </p:cNvPr>
          <p:cNvSpPr>
            <a:spLocks xmlns:a="http://schemas.openxmlformats.org/drawingml/2006/main" noGrp="1"/>
          </p:cNvSpPr>
          <p:nvPr/>
        </p:nvSpPr>
        <p:spPr>
          <a:xfrm xmlns:a="http://schemas.openxmlformats.org/drawingml/2006/main" rot="0">
            <a:off x="2244376" y="3201514"/>
            <a:ext cx="2087037"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20% LST purchase capture</a:t>
            </a:r>
          </a:p>
        </p:txBody>
      </p:sp>
      <p:sp>
        <p:nvSpPr>
          <p:cNvPr id="23" name="Figure 7 label 22 line 1">
            <a:extLst xmlns:a="http://schemas.openxmlformats.org/drawingml/2006/main">
              <a:ext uri="{FF2B5EF4-FFF2-40B4-BE49-F238E27FC236}">
                <a16:creationId xmlns:a16="http://schemas.microsoft.com/office/drawing/2014/main" id="{C1BB8666-8855-479E-968C-5CB12BDDEEA5}"/>
              </a:ext>
            </a:extLst>
          </p:cNvPr>
          <p:cNvSpPr>
            <a:spLocks xmlns:a="http://schemas.openxmlformats.org/drawingml/2006/main" noGrp="1"/>
          </p:cNvSpPr>
          <p:nvPr/>
        </p:nvSpPr>
        <p:spPr>
          <a:xfrm xmlns:a="http://schemas.openxmlformats.org/drawingml/2006/main" rot="0">
            <a:off x="991870" y="421920"/>
            <a:ext cx="628253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07  Funding-to-LST purchase sensitivity</a:t>
            </a:r>
          </a:p>
        </p:txBody>
      </p:sp>
      <p:sp>
        <p:nvSpPr>
          <p:cNvPr id="24" name="Figure 7 label 23 line 1">
            <a:extLst xmlns:a="http://schemas.openxmlformats.org/drawingml/2006/main">
              <a:ext uri="{FF2B5EF4-FFF2-40B4-BE49-F238E27FC236}">
                <a16:creationId xmlns:a16="http://schemas.microsoft.com/office/drawing/2014/main" id="{6F1E3FFD-26BB-414C-A8B8-CC13A24CEA31}"/>
              </a:ext>
            </a:extLst>
          </p:cNvPr>
          <p:cNvSpPr>
            <a:spLocks xmlns:a="http://schemas.openxmlformats.org/drawingml/2006/main" noGrp="1"/>
          </p:cNvSpPr>
          <p:nvPr/>
        </p:nvSpPr>
        <p:spPr>
          <a:xfrm xmlns:a="http://schemas.openxmlformats.org/drawingml/2006/main" rot="0">
            <a:off x="15720740" y="661601"/>
            <a:ext cx="1019721"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SENSITIVITY</a:t>
            </a:r>
          </a:p>
        </p:txBody>
      </p:sp>
      <p:sp>
        <p:nvSpPr>
          <p:cNvPr id="25" name="Figure 7 label 24 line 1">
            <a:extLst xmlns:a="http://schemas.openxmlformats.org/drawingml/2006/main">
              <a:ext uri="{FF2B5EF4-FFF2-40B4-BE49-F238E27FC236}">
                <a16:creationId xmlns:a16="http://schemas.microsoft.com/office/drawing/2014/main" id="{9CE80BF0-0EE4-4EA5-9492-44D3F93225E6}"/>
              </a:ext>
            </a:extLst>
          </p:cNvPr>
          <p:cNvSpPr>
            <a:spLocks xmlns:a="http://schemas.openxmlformats.org/drawingml/2006/main" noGrp="1"/>
          </p:cNvSpPr>
          <p:nvPr/>
        </p:nvSpPr>
        <p:spPr>
          <a:xfrm xmlns:a="http://schemas.openxmlformats.org/drawingml/2006/main" rot="0">
            <a:off x="998220" y="1249487"/>
            <a:ext cx="756776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Hypothetical total funding pools. Only a fraction becomes purchases from LST suppliers.</a:t>
            </a:r>
          </a:p>
        </p:txBody>
      </p:sp>
      <p:sp>
        <p:nvSpPr>
          <p:cNvPr id="26" name="Figure 7 label 25 line 1">
            <a:extLst xmlns:a="http://schemas.openxmlformats.org/drawingml/2006/main">
              <a:ext uri="{FF2B5EF4-FFF2-40B4-BE49-F238E27FC236}">
                <a16:creationId xmlns:a16="http://schemas.microsoft.com/office/drawing/2014/main" id="{ECA87128-FAB5-4D86-8BD1-B8D2173A45AA}"/>
              </a:ext>
            </a:extLst>
          </p:cNvPr>
          <p:cNvSpPr>
            <a:spLocks xmlns:a="http://schemas.openxmlformats.org/drawingml/2006/main" noGrp="1"/>
          </p:cNvSpPr>
          <p:nvPr/>
        </p:nvSpPr>
        <p:spPr>
          <a:xfrm xmlns:a="http://schemas.openxmlformats.org/drawingml/2006/main" rot="0">
            <a:off x="999173" y="9256035"/>
            <a:ext cx="93831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5% / 10% / 20% capture rates are model inputs. Cumulative scenarios, no fixed horizon; not observed funding or annual TAM.</a:t>
            </a:r>
          </a:p>
        </p:txBody>
      </p:sp>
      <p:sp>
        <p:nvSpPr>
          <p:cNvPr id="27" name="Figure 7 label 26 line 1">
            <a:extLst xmlns:a="http://schemas.openxmlformats.org/drawingml/2006/main">
              <a:ext uri="{FF2B5EF4-FFF2-40B4-BE49-F238E27FC236}">
                <a16:creationId xmlns:a16="http://schemas.microsoft.com/office/drawing/2014/main" id="{3FE8ACCB-E3AD-4E89-998E-2C98C7F7650B}"/>
              </a:ext>
            </a:extLst>
          </p:cNvPr>
          <p:cNvSpPr>
            <a:spLocks xmlns:a="http://schemas.openxmlformats.org/drawingml/2006/main" noGrp="1"/>
          </p:cNvSpPr>
          <p:nvPr/>
        </p:nvSpPr>
        <p:spPr>
          <a:xfrm xmlns:a="http://schemas.openxmlformats.org/drawingml/2006/main" rot="0">
            <a:off x="1000316" y="9675546"/>
            <a:ext cx="707859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analyst funding-to-purchase sensitivity. No empirical budget shares or equipment/reagent split is asserted.</a:t>
            </a:r>
          </a:p>
        </p:txBody>
      </p:sp>
      <p:sp>
        <p:nvSpPr>
          <p:cNvPr id="28" name="Figure 7 label 27 line 1">
            <a:extLst xmlns:a="http://schemas.openxmlformats.org/drawingml/2006/main">
              <a:ext uri="{FF2B5EF4-FFF2-40B4-BE49-F238E27FC236}">
                <a16:creationId xmlns:a16="http://schemas.microsoft.com/office/drawing/2014/main" id="{4E3D9828-B452-4FD4-96ED-5574C8282211}"/>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29" name="Figure 7 label 28 line 1">
            <a:extLst xmlns:a="http://schemas.openxmlformats.org/drawingml/2006/main">
              <a:ext uri="{FF2B5EF4-FFF2-40B4-BE49-F238E27FC236}">
                <a16:creationId xmlns:a16="http://schemas.microsoft.com/office/drawing/2014/main" id="{BBEA6A72-893B-4964-A4F9-0B19045C904F}"/>
              </a:ext>
            </a:extLst>
          </p:cNvPr>
          <p:cNvSpPr>
            <a:spLocks xmlns:a="http://schemas.openxmlformats.org/drawingml/2006/main" noGrp="1"/>
          </p:cNvSpPr>
          <p:nvPr/>
        </p:nvSpPr>
        <p:spPr>
          <a:xfrm xmlns:a="http://schemas.openxmlformats.org/drawingml/2006/main" rot="0">
            <a:off x="13194411" y="3062309"/>
            <a:ext cx="2866132"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Unicode MS"/>
                <a:ea typeface="Arial Unicode MS"/>
                <a:cs typeface="Arial Unicode MS"/>
              </a:defRPr>
            </a:defPPr>
          </a:lstStyle>
          <a:p xmlns:a="http://schemas.openxmlformats.org/drawingml/2006/main">
            <a:pPr algn="l">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Funding → tool purchases</a:t>
            </a:r>
          </a:p>
        </p:txBody>
      </p:sp>
      <p:sp>
        <p:nvSpPr>
          <p:cNvPr id="30" name="Figure 7 label 29 line 1">
            <a:extLst xmlns:a="http://schemas.openxmlformats.org/drawingml/2006/main">
              <a:ext uri="{FF2B5EF4-FFF2-40B4-BE49-F238E27FC236}">
                <a16:creationId xmlns:a16="http://schemas.microsoft.com/office/drawing/2014/main" id="{E00B1FE2-7DA7-433D-8602-244B95B488D4}"/>
              </a:ext>
            </a:extLst>
          </p:cNvPr>
          <p:cNvSpPr>
            <a:spLocks xmlns:a="http://schemas.openxmlformats.org/drawingml/2006/main" noGrp="1"/>
          </p:cNvSpPr>
          <p:nvPr/>
        </p:nvSpPr>
        <p:spPr>
          <a:xfrm xmlns:a="http://schemas.openxmlformats.org/drawingml/2006/main" rot="0">
            <a:off x="13196316" y="3659198"/>
            <a:ext cx="257026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R&amp;D and production budgets</a:t>
            </a:r>
          </a:p>
        </p:txBody>
      </p:sp>
      <p:sp>
        <p:nvSpPr>
          <p:cNvPr id="31" name="Figure 7 label 30 line 1">
            <a:extLst xmlns:a="http://schemas.openxmlformats.org/drawingml/2006/main">
              <a:ext uri="{FF2B5EF4-FFF2-40B4-BE49-F238E27FC236}">
                <a16:creationId xmlns:a16="http://schemas.microsoft.com/office/drawing/2014/main" id="{BBF10381-BBF9-414F-89B5-FE6718DD9486}"/>
              </a:ext>
            </a:extLst>
          </p:cNvPr>
          <p:cNvSpPr>
            <a:spLocks xmlns:a="http://schemas.openxmlformats.org/drawingml/2006/main" noGrp="1"/>
          </p:cNvSpPr>
          <p:nvPr/>
        </p:nvSpPr>
        <p:spPr>
          <a:xfrm xmlns:a="http://schemas.openxmlformats.org/drawingml/2006/main" rot="0">
            <a:off x="13196316" y="3944645"/>
            <a:ext cx="196646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exclude people, trials,</a:t>
            </a:r>
          </a:p>
        </p:txBody>
      </p:sp>
      <p:sp>
        <p:nvSpPr>
          <p:cNvPr id="32" name="Figure 7 label 31 line 1">
            <a:extLst xmlns:a="http://schemas.openxmlformats.org/drawingml/2006/main">
              <a:ext uri="{FF2B5EF4-FFF2-40B4-BE49-F238E27FC236}">
                <a16:creationId xmlns:a16="http://schemas.microsoft.com/office/drawing/2014/main" id="{B2D6A6C7-1529-40EF-B47A-03514CA1B15A}"/>
              </a:ext>
            </a:extLst>
          </p:cNvPr>
          <p:cNvSpPr>
            <a:spLocks xmlns:a="http://schemas.openxmlformats.org/drawingml/2006/main" noGrp="1"/>
          </p:cNvSpPr>
          <p:nvPr/>
        </p:nvSpPr>
        <p:spPr>
          <a:xfrm xmlns:a="http://schemas.openxmlformats.org/drawingml/2006/main" rot="0">
            <a:off x="13196316" y="4232216"/>
            <a:ext cx="245372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software and unspent cash.</a:t>
            </a:r>
          </a:p>
        </p:txBody>
      </p:sp>
      <p:sp>
        <p:nvSpPr>
          <p:cNvPr id="33" name="Figure 7 label 32 line 1">
            <a:extLst xmlns:a="http://schemas.openxmlformats.org/drawingml/2006/main">
              <a:ext uri="{FF2B5EF4-FFF2-40B4-BE49-F238E27FC236}">
                <a16:creationId xmlns:a16="http://schemas.microsoft.com/office/drawing/2014/main" id="{2577099A-0065-455E-A8F7-EB6D6A162545}"/>
              </a:ext>
            </a:extLst>
          </p:cNvPr>
          <p:cNvSpPr>
            <a:spLocks xmlns:a="http://schemas.openxmlformats.org/drawingml/2006/main" noGrp="1"/>
          </p:cNvSpPr>
          <p:nvPr/>
        </p:nvSpPr>
        <p:spPr>
          <a:xfrm xmlns:a="http://schemas.openxmlformats.org/drawingml/2006/main" rot="0">
            <a:off x="13196634" y="5106929"/>
            <a:ext cx="2725986"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Capture includes tool purchases</a:t>
            </a:r>
          </a:p>
        </p:txBody>
      </p:sp>
      <p:sp>
        <p:nvSpPr>
          <p:cNvPr id="34" name="Figure 7 label 33 line 1">
            <a:extLst xmlns:a="http://schemas.openxmlformats.org/drawingml/2006/main">
              <a:ext uri="{FF2B5EF4-FFF2-40B4-BE49-F238E27FC236}">
                <a16:creationId xmlns:a16="http://schemas.microsoft.com/office/drawing/2014/main" id="{46447EFC-D7D9-4826-BBE3-9DD73A347AB3}"/>
              </a:ext>
            </a:extLst>
          </p:cNvPr>
          <p:cNvSpPr>
            <a:spLocks xmlns:a="http://schemas.openxmlformats.org/drawingml/2006/main" noGrp="1"/>
          </p:cNvSpPr>
          <p:nvPr/>
        </p:nvSpPr>
        <p:spPr>
          <a:xfrm xmlns:a="http://schemas.openxmlformats.org/drawingml/2006/main" rot="0">
            <a:off x="13196634" y="5382519"/>
            <a:ext cx="2644130"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only. Count CRO/CDMO inputs</a:t>
            </a:r>
          </a:p>
        </p:txBody>
      </p:sp>
      <p:sp>
        <p:nvSpPr>
          <p:cNvPr id="35" name="Figure 7 label 34 line 1">
            <a:extLst xmlns:a="http://schemas.openxmlformats.org/drawingml/2006/main">
              <a:ext uri="{FF2B5EF4-FFF2-40B4-BE49-F238E27FC236}">
                <a16:creationId xmlns:a16="http://schemas.microsoft.com/office/drawing/2014/main" id="{D46DA739-6FD6-4BC6-9727-916719CBB8FB}"/>
              </a:ext>
            </a:extLst>
          </p:cNvPr>
          <p:cNvSpPr>
            <a:spLocks xmlns:a="http://schemas.openxmlformats.org/drawingml/2006/main" noGrp="1"/>
          </p:cNvSpPr>
          <p:nvPr/>
        </p:nvSpPr>
        <p:spPr>
          <a:xfrm xmlns:a="http://schemas.openxmlformats.org/drawingml/2006/main" rot="0">
            <a:off x="13196634" y="5660077"/>
            <a:ext cx="2816920"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once, separate from service fees.</a:t>
            </a:r>
          </a:p>
        </p:txBody>
      </p:sp>
      <p:sp>
        <p:nvSpPr>
          <p:cNvPr id="36" name="Figure 7 label 35 line 1">
            <a:extLst xmlns:a="http://schemas.openxmlformats.org/drawingml/2006/main">
              <a:ext uri="{FF2B5EF4-FFF2-40B4-BE49-F238E27FC236}">
                <a16:creationId xmlns:a16="http://schemas.microsoft.com/office/drawing/2014/main" id="{04EDF97A-A35A-4344-9994-85CDD3DC1A84}"/>
              </a:ext>
            </a:extLst>
          </p:cNvPr>
          <p:cNvSpPr>
            <a:spLocks xmlns:a="http://schemas.openxmlformats.org/drawingml/2006/main" noGrp="1"/>
          </p:cNvSpPr>
          <p:nvPr/>
        </p:nvSpPr>
        <p:spPr>
          <a:xfrm xmlns:a="http://schemas.openxmlformats.org/drawingml/2006/main" rot="0">
            <a:off x="5667896" y="8282830"/>
            <a:ext cx="6952208"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Total capital raised is not an addressable tool market.</a:t>
            </a:r>
          </a:p>
        </p:txBody>
      </p:sp>
    </p:spTree>
    <p:extLst>
      <p:ext uri="{BB962C8B-B14F-4D97-AF65-F5344CB8AC3E}">
        <p14:creationId xmlns:p14="http://schemas.microsoft.com/office/powerpoint/2010/main" val="16572346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4A033F01-F21B-4BC0-ACEB-415B15695B8F}"/>
              </a:ext>
            </a:extLst>
          </p:cNvPr>
          <p:cNvPicPr>
            <a:picLocks xmlns:a="http://schemas.openxmlformats.org/drawingml/2006/main" noChangeAspect="1"/>
          </p:cNvPicPr>
          <p:nvPr/>
        </p:nvPicPr>
        <p:blipFill>
          <a:blip xmlns:r="http://schemas.openxmlformats.org/officeDocument/2006/relationships" xmlns:a="http://schemas.openxmlformats.org/drawingml/2006/main" r:embed="Rc007d396bbae4d3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8 label 1 line 1">
            <a:extLst xmlns:a="http://schemas.openxmlformats.org/drawingml/2006/main">
              <a:ext uri="{FF2B5EF4-FFF2-40B4-BE49-F238E27FC236}">
                <a16:creationId xmlns:a16="http://schemas.microsoft.com/office/drawing/2014/main" id="{B1BBF981-89E4-4F96-AA2A-17107CEBD198}"/>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8 label 2 line 1">
            <a:extLst xmlns:a="http://schemas.openxmlformats.org/drawingml/2006/main">
              <a:ext uri="{FF2B5EF4-FFF2-40B4-BE49-F238E27FC236}">
                <a16:creationId xmlns:a16="http://schemas.microsoft.com/office/drawing/2014/main" id="{4AAB3FC6-74BC-4484-83BC-CC000C67CAD2}"/>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8 label 3 line 1">
            <a:extLst xmlns:a="http://schemas.openxmlformats.org/drawingml/2006/main">
              <a:ext uri="{FF2B5EF4-FFF2-40B4-BE49-F238E27FC236}">
                <a16:creationId xmlns:a16="http://schemas.microsoft.com/office/drawing/2014/main" id="{8F413738-BF0F-4740-BD40-493E4FAA9394}"/>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8 label 4 line 1">
            <a:extLst xmlns:a="http://schemas.openxmlformats.org/drawingml/2006/main">
              <a:ext uri="{FF2B5EF4-FFF2-40B4-BE49-F238E27FC236}">
                <a16:creationId xmlns:a16="http://schemas.microsoft.com/office/drawing/2014/main" id="{6434079F-8C3F-47F7-B424-70B67C24016B}"/>
              </a:ext>
            </a:extLst>
          </p:cNvPr>
          <p:cNvSpPr>
            <a:spLocks xmlns:a="http://schemas.openxmlformats.org/drawingml/2006/main" noGrp="1"/>
          </p:cNvSpPr>
          <p:nvPr/>
        </p:nvSpPr>
        <p:spPr>
          <a:xfrm xmlns:a="http://schemas.openxmlformats.org/drawingml/2006/main" rot="0">
            <a:off x="6651992" y="8293814"/>
            <a:ext cx="35209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Expansion difficulty / qualification time →</a:t>
            </a:r>
          </a:p>
        </p:txBody>
      </p:sp>
      <p:sp>
        <p:nvSpPr>
          <p:cNvPr id="6" name="Figure 8 label 5 line 1">
            <a:extLst xmlns:a="http://schemas.openxmlformats.org/drawingml/2006/main">
              <a:ext uri="{FF2B5EF4-FFF2-40B4-BE49-F238E27FC236}">
                <a16:creationId xmlns:a16="http://schemas.microsoft.com/office/drawing/2014/main" id="{AFCEA03A-CDF9-4235-898E-8D5CC450CDD8}"/>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8 label 6 line 1">
            <a:extLst xmlns:a="http://schemas.openxmlformats.org/drawingml/2006/main">
              <a:ext uri="{FF2B5EF4-FFF2-40B4-BE49-F238E27FC236}">
                <a16:creationId xmlns:a16="http://schemas.microsoft.com/office/drawing/2014/main" id="{7590C661-FFB0-426B-9B6D-126875E72899}"/>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8 label 7 line 1">
            <a:extLst xmlns:a="http://schemas.openxmlformats.org/drawingml/2006/main">
              <a:ext uri="{FF2B5EF4-FFF2-40B4-BE49-F238E27FC236}">
                <a16:creationId xmlns:a16="http://schemas.microsoft.com/office/drawing/2014/main" id="{F45CBF02-E9EE-4FFC-80F6-88C09A5AFF51}"/>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8 label 8 line 1">
            <a:extLst xmlns:a="http://schemas.openxmlformats.org/drawingml/2006/main">
              <a:ext uri="{FF2B5EF4-FFF2-40B4-BE49-F238E27FC236}">
                <a16:creationId xmlns:a16="http://schemas.microsoft.com/office/drawing/2014/main" id="{E80B08BB-11E9-4CC5-AFA8-8480D2028A18}"/>
              </a:ext>
            </a:extLst>
          </p:cNvPr>
          <p:cNvSpPr>
            <a:spLocks xmlns:a="http://schemas.openxmlformats.org/drawingml/2006/main" noGrp="1"/>
          </p:cNvSpPr>
          <p:nvPr/>
        </p:nvSpPr>
        <p:spPr>
          <a:xfrm xmlns:a="http://schemas.openxmlformats.org/drawingml/2006/main" rot="16200000">
            <a:off x="-1498674" y="4918710"/>
            <a:ext cx="3775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Potential benefit from demand expansion →</a:t>
            </a:r>
          </a:p>
        </p:txBody>
      </p:sp>
      <p:sp>
        <p:nvSpPr>
          <p:cNvPr id="10" name="Figure 8 label 9 line 1">
            <a:extLst xmlns:a="http://schemas.openxmlformats.org/drawingml/2006/main">
              <a:ext uri="{FF2B5EF4-FFF2-40B4-BE49-F238E27FC236}">
                <a16:creationId xmlns:a16="http://schemas.microsoft.com/office/drawing/2014/main" id="{DB5A87CB-236C-480F-A0B5-C78D837D70B4}"/>
              </a:ext>
            </a:extLst>
          </p:cNvPr>
          <p:cNvSpPr>
            <a:spLocks xmlns:a="http://schemas.openxmlformats.org/drawingml/2006/main" noGrp="1"/>
          </p:cNvSpPr>
          <p:nvPr/>
        </p:nvSpPr>
        <p:spPr>
          <a:xfrm xmlns:a="http://schemas.openxmlformats.org/drawingml/2006/main" rot="0">
            <a:off x="2012455" y="2407644"/>
            <a:ext cx="3477240"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Verify demand and supply constraints together</a:t>
            </a:r>
          </a:p>
        </p:txBody>
      </p:sp>
      <p:sp>
        <p:nvSpPr>
          <p:cNvPr id="11" name="Figure 8 label 10 line 1">
            <a:extLst xmlns:a="http://schemas.openxmlformats.org/drawingml/2006/main">
              <a:ext uri="{FF2B5EF4-FFF2-40B4-BE49-F238E27FC236}">
                <a16:creationId xmlns:a16="http://schemas.microsoft.com/office/drawing/2014/main" id="{DC56C4F4-319F-4B66-8348-A867191429EF}"/>
              </a:ext>
            </a:extLst>
          </p:cNvPr>
          <p:cNvSpPr>
            <a:spLocks xmlns:a="http://schemas.openxmlformats.org/drawingml/2006/main" noGrp="1"/>
          </p:cNvSpPr>
          <p:nvPr/>
        </p:nvSpPr>
        <p:spPr>
          <a:xfrm xmlns:a="http://schemas.openxmlformats.org/drawingml/2006/main" rot="0">
            <a:off x="11185779" y="2671608"/>
            <a:ext cx="122146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Automation tips</a:t>
            </a:r>
          </a:p>
        </p:txBody>
      </p:sp>
      <p:sp>
        <p:nvSpPr>
          <p:cNvPr id="12" name="Figure 8 label 11 line 1">
            <a:extLst xmlns:a="http://schemas.openxmlformats.org/drawingml/2006/main">
              <a:ext uri="{FF2B5EF4-FFF2-40B4-BE49-F238E27FC236}">
                <a16:creationId xmlns:a16="http://schemas.microsoft.com/office/drawing/2014/main" id="{986FDABA-9344-4D37-A9E9-A0DCB4788525}"/>
              </a:ext>
            </a:extLst>
          </p:cNvPr>
          <p:cNvSpPr>
            <a:spLocks xmlns:a="http://schemas.openxmlformats.org/drawingml/2006/main" noGrp="1"/>
          </p:cNvSpPr>
          <p:nvPr/>
        </p:nvSpPr>
        <p:spPr>
          <a:xfrm xmlns:a="http://schemas.openxmlformats.org/drawingml/2006/main" rot="0">
            <a:off x="8128026" y="3359665"/>
            <a:ext cx="123947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plates</a:t>
            </a:r>
          </a:p>
        </p:txBody>
      </p:sp>
      <p:sp>
        <p:nvSpPr>
          <p:cNvPr id="13" name="Figure 8 label 12 line 1">
            <a:extLst xmlns:a="http://schemas.openxmlformats.org/drawingml/2006/main">
              <a:ext uri="{FF2B5EF4-FFF2-40B4-BE49-F238E27FC236}">
                <a16:creationId xmlns:a16="http://schemas.microsoft.com/office/drawing/2014/main" id="{9FA69CFF-543C-471B-91EE-B7D4B0E6554C}"/>
              </a:ext>
            </a:extLst>
          </p:cNvPr>
          <p:cNvSpPr>
            <a:spLocks xmlns:a="http://schemas.openxmlformats.org/drawingml/2006/main" noGrp="1"/>
          </p:cNvSpPr>
          <p:nvPr/>
        </p:nvSpPr>
        <p:spPr>
          <a:xfrm xmlns:a="http://schemas.openxmlformats.org/drawingml/2006/main" rot="0">
            <a:off x="11741734" y="3965928"/>
            <a:ext cx="159025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Custom components</a:t>
            </a:r>
          </a:p>
        </p:txBody>
      </p:sp>
      <p:sp>
        <p:nvSpPr>
          <p:cNvPr id="14" name="Figure 8 label 13 line 1">
            <a:extLst xmlns:a="http://schemas.openxmlformats.org/drawingml/2006/main">
              <a:ext uri="{FF2B5EF4-FFF2-40B4-BE49-F238E27FC236}">
                <a16:creationId xmlns:a16="http://schemas.microsoft.com/office/drawing/2014/main" id="{2639A4DB-747F-47FE-930F-29B8C9A61513}"/>
              </a:ext>
            </a:extLst>
          </p:cNvPr>
          <p:cNvSpPr>
            <a:spLocks xmlns:a="http://schemas.openxmlformats.org/drawingml/2006/main" noGrp="1"/>
          </p:cNvSpPr>
          <p:nvPr/>
        </p:nvSpPr>
        <p:spPr>
          <a:xfrm xmlns:a="http://schemas.openxmlformats.org/drawingml/2006/main" rot="0">
            <a:off x="9517914" y="4515295"/>
            <a:ext cx="133859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Functional beads</a:t>
            </a:r>
          </a:p>
        </p:txBody>
      </p:sp>
      <p:sp>
        <p:nvSpPr>
          <p:cNvPr id="15" name="Figure 8 label 14 line 1">
            <a:extLst xmlns:a="http://schemas.openxmlformats.org/drawingml/2006/main">
              <a:ext uri="{FF2B5EF4-FFF2-40B4-BE49-F238E27FC236}">
                <a16:creationId xmlns:a16="http://schemas.microsoft.com/office/drawing/2014/main" id="{25B43594-740B-4C00-B724-566ED577A14B}"/>
              </a:ext>
            </a:extLst>
          </p:cNvPr>
          <p:cNvSpPr>
            <a:spLocks xmlns:a="http://schemas.openxmlformats.org/drawingml/2006/main" noGrp="1"/>
          </p:cNvSpPr>
          <p:nvPr/>
        </p:nvSpPr>
        <p:spPr>
          <a:xfrm xmlns:a="http://schemas.openxmlformats.org/drawingml/2006/main" rot="0">
            <a:off x="7850048" y="2670735"/>
            <a:ext cx="18154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High-throughput assays</a:t>
            </a:r>
          </a:p>
        </p:txBody>
      </p:sp>
      <p:sp>
        <p:nvSpPr>
          <p:cNvPr id="16" name="Figure 8 label 15 line 1">
            <a:extLst xmlns:a="http://schemas.openxmlformats.org/drawingml/2006/main">
              <a:ext uri="{FF2B5EF4-FFF2-40B4-BE49-F238E27FC236}">
                <a16:creationId xmlns:a16="http://schemas.microsoft.com/office/drawing/2014/main" id="{AA8746F9-3FE5-4502-B5DE-114A9536506F}"/>
              </a:ext>
            </a:extLst>
          </p:cNvPr>
          <p:cNvSpPr>
            <a:spLocks xmlns:a="http://schemas.openxmlformats.org/drawingml/2006/main" noGrp="1"/>
          </p:cNvSpPr>
          <p:nvPr/>
        </p:nvSpPr>
        <p:spPr>
          <a:xfrm xmlns:a="http://schemas.openxmlformats.org/drawingml/2006/main" rot="0">
            <a:off x="6251677" y="4157679"/>
            <a:ext cx="186946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building blocks</a:t>
            </a:r>
          </a:p>
        </p:txBody>
      </p:sp>
      <p:sp>
        <p:nvSpPr>
          <p:cNvPr id="17" name="Figure 8 label 16 line 1">
            <a:extLst xmlns:a="http://schemas.openxmlformats.org/drawingml/2006/main">
              <a:ext uri="{FF2B5EF4-FFF2-40B4-BE49-F238E27FC236}">
                <a16:creationId xmlns:a16="http://schemas.microsoft.com/office/drawing/2014/main" id="{BED29545-80FF-43AF-A591-6687DCC8E411}"/>
              </a:ext>
            </a:extLst>
          </p:cNvPr>
          <p:cNvSpPr>
            <a:spLocks xmlns:a="http://schemas.openxmlformats.org/drawingml/2006/main" noGrp="1"/>
          </p:cNvSpPr>
          <p:nvPr/>
        </p:nvSpPr>
        <p:spPr>
          <a:xfrm xmlns:a="http://schemas.openxmlformats.org/drawingml/2006/main" rot="0">
            <a:off x="3124429" y="6193877"/>
            <a:ext cx="12842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Generic labware</a:t>
            </a:r>
          </a:p>
        </p:txBody>
      </p:sp>
      <p:sp>
        <p:nvSpPr>
          <p:cNvPr id="18" name="Figure 8 label 17 line 1">
            <a:extLst xmlns:a="http://schemas.openxmlformats.org/drawingml/2006/main">
              <a:ext uri="{FF2B5EF4-FFF2-40B4-BE49-F238E27FC236}">
                <a16:creationId xmlns:a16="http://schemas.microsoft.com/office/drawing/2014/main" id="{3841FDAC-AC00-4012-AEF9-2B9F5762D4D9}"/>
              </a:ext>
            </a:extLst>
          </p:cNvPr>
          <p:cNvSpPr>
            <a:spLocks xmlns:a="http://schemas.openxmlformats.org/drawingml/2006/main" noGrp="1"/>
          </p:cNvSpPr>
          <p:nvPr/>
        </p:nvSpPr>
        <p:spPr>
          <a:xfrm xmlns:a="http://schemas.openxmlformats.org/drawingml/2006/main" rot="0">
            <a:off x="12575667" y="5203353"/>
            <a:ext cx="163580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Sequencing reagents</a:t>
            </a:r>
          </a:p>
        </p:txBody>
      </p:sp>
      <p:sp>
        <p:nvSpPr>
          <p:cNvPr id="19" name="Figure 8 label 18 line 1">
            <a:extLst xmlns:a="http://schemas.openxmlformats.org/drawingml/2006/main">
              <a:ext uri="{FF2B5EF4-FFF2-40B4-BE49-F238E27FC236}">
                <a16:creationId xmlns:a16="http://schemas.microsoft.com/office/drawing/2014/main" id="{D120BE4B-D029-44C0-B57E-BD4C2F60D1D8}"/>
              </a:ext>
            </a:extLst>
          </p:cNvPr>
          <p:cNvSpPr>
            <a:spLocks xmlns:a="http://schemas.openxmlformats.org/drawingml/2006/main" noGrp="1"/>
          </p:cNvSpPr>
          <p:nvPr/>
        </p:nvSpPr>
        <p:spPr>
          <a:xfrm xmlns:a="http://schemas.openxmlformats.org/drawingml/2006/main" rot="0">
            <a:off x="12089206" y="6056402"/>
            <a:ext cx="160841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Manufacturing resins</a:t>
            </a:r>
          </a:p>
        </p:txBody>
      </p:sp>
      <p:sp>
        <p:nvSpPr>
          <p:cNvPr id="20" name="Figure 8 label 19 line 1">
            <a:extLst xmlns:a="http://schemas.openxmlformats.org/drawingml/2006/main">
              <a:ext uri="{FF2B5EF4-FFF2-40B4-BE49-F238E27FC236}">
                <a16:creationId xmlns:a16="http://schemas.microsoft.com/office/drawing/2014/main" id="{1E04AB57-B8A1-49D7-A914-9F1432420D57}"/>
              </a:ext>
            </a:extLst>
          </p:cNvPr>
          <p:cNvSpPr>
            <a:spLocks xmlns:a="http://schemas.openxmlformats.org/drawingml/2006/main" noGrp="1"/>
          </p:cNvSpPr>
          <p:nvPr/>
        </p:nvSpPr>
        <p:spPr>
          <a:xfrm xmlns:a="http://schemas.openxmlformats.org/drawingml/2006/main" rot="0">
            <a:off x="991870" y="420392"/>
            <a:ext cx="803007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08  Potential supply constraints over 12–24 months</a:t>
            </a:r>
          </a:p>
        </p:txBody>
      </p:sp>
      <p:sp>
        <p:nvSpPr>
          <p:cNvPr id="21" name="Figure 8 label 20 line 1">
            <a:extLst xmlns:a="http://schemas.openxmlformats.org/drawingml/2006/main">
              <a:ext uri="{FF2B5EF4-FFF2-40B4-BE49-F238E27FC236}">
                <a16:creationId xmlns:a16="http://schemas.microsoft.com/office/drawing/2014/main" id="{6505793C-96E9-4237-A4C7-2DA032CCE3A7}"/>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2" name="Figure 8 label 21 line 1">
            <a:extLst xmlns:a="http://schemas.openxmlformats.org/drawingml/2006/main">
              <a:ext uri="{FF2B5EF4-FFF2-40B4-BE49-F238E27FC236}">
                <a16:creationId xmlns:a16="http://schemas.microsoft.com/office/drawing/2014/main" id="{7B652079-72C7-427A-8055-DDABF1CA2A99}"/>
              </a:ext>
            </a:extLst>
          </p:cNvPr>
          <p:cNvSpPr>
            <a:spLocks xmlns:a="http://schemas.openxmlformats.org/drawingml/2006/main" noGrp="1"/>
          </p:cNvSpPr>
          <p:nvPr/>
        </p:nvSpPr>
        <p:spPr>
          <a:xfrm xmlns:a="http://schemas.openxmlformats.org/drawingml/2006/main" rot="0">
            <a:off x="998220" y="1249487"/>
            <a:ext cx="91143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Relative expansion and qualification constraints over 12–24 months; current shortages are not established.</a:t>
            </a:r>
          </a:p>
        </p:txBody>
      </p:sp>
      <p:sp>
        <p:nvSpPr>
          <p:cNvPr id="23" name="Figure 8 label 22 line 1">
            <a:extLst xmlns:a="http://schemas.openxmlformats.org/drawingml/2006/main">
              <a:ext uri="{FF2B5EF4-FFF2-40B4-BE49-F238E27FC236}">
                <a16:creationId xmlns:a16="http://schemas.microsoft.com/office/drawing/2014/main" id="{04954C02-EE56-43D5-B62C-51AC3581FFEC}"/>
              </a:ext>
            </a:extLst>
          </p:cNvPr>
          <p:cNvSpPr>
            <a:spLocks xmlns:a="http://schemas.openxmlformats.org/drawingml/2006/main" noGrp="1"/>
          </p:cNvSpPr>
          <p:nvPr/>
        </p:nvSpPr>
        <p:spPr>
          <a:xfrm xmlns:a="http://schemas.openxmlformats.org/drawingml/2006/main" rot="0">
            <a:off x="999173" y="9256035"/>
            <a:ext cx="80950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Track lead times, stockouts, qualification, yields and prices. Manufacturing resins have a longer demand lag.</a:t>
            </a:r>
          </a:p>
        </p:txBody>
      </p:sp>
      <p:sp>
        <p:nvSpPr>
          <p:cNvPr id="24" name="Figure 8 label 23 line 1">
            <a:extLst xmlns:a="http://schemas.openxmlformats.org/drawingml/2006/main">
              <a:ext uri="{FF2B5EF4-FFF2-40B4-BE49-F238E27FC236}">
                <a16:creationId xmlns:a16="http://schemas.microsoft.com/office/drawing/2014/main" id="{A9556F10-8EB2-4C74-89AD-B6E78DA7A208}"/>
              </a:ext>
            </a:extLst>
          </p:cNvPr>
          <p:cNvSpPr>
            <a:spLocks xmlns:a="http://schemas.openxmlformats.org/drawingml/2006/main" noGrp="1"/>
          </p:cNvSpPr>
          <p:nvPr/>
        </p:nvSpPr>
        <p:spPr>
          <a:xfrm xmlns:a="http://schemas.openxmlformats.org/drawingml/2006/main" rot="0">
            <a:off x="1000316" y="9675546"/>
            <a:ext cx="663389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hypotheses. Technical barriers do not prove a capacity bottleneck.</a:t>
            </a:r>
          </a:p>
        </p:txBody>
      </p:sp>
      <p:sp>
        <p:nvSpPr>
          <p:cNvPr id="25" name="Figure 8 label 24 line 1">
            <a:extLst xmlns:a="http://schemas.openxmlformats.org/drawingml/2006/main">
              <a:ext uri="{FF2B5EF4-FFF2-40B4-BE49-F238E27FC236}">
                <a16:creationId xmlns:a16="http://schemas.microsoft.com/office/drawing/2014/main" id="{9FD41E6F-DAD5-4598-A938-043E49C23526}"/>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6" name="Figure 8 label 25 line 1">
            <a:extLst xmlns:a="http://schemas.openxmlformats.org/drawingml/2006/main">
              <a:ext uri="{FF2B5EF4-FFF2-40B4-BE49-F238E27FC236}">
                <a16:creationId xmlns:a16="http://schemas.microsoft.com/office/drawing/2014/main" id="{5B5C733A-1848-49FB-BFC1-F73FC1525047}"/>
              </a:ext>
            </a:extLst>
          </p:cNvPr>
          <p:cNvSpPr>
            <a:spLocks xmlns:a="http://schemas.openxmlformats.org/drawingml/2006/main" noGrp="1"/>
          </p:cNvSpPr>
          <p:nvPr/>
        </p:nvSpPr>
        <p:spPr>
          <a:xfrm xmlns:a="http://schemas.openxmlformats.org/drawingml/2006/main" rot="0">
            <a:off x="15811500" y="3274865"/>
            <a:ext cx="1860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Potential opportunity</a:t>
            </a:r>
          </a:p>
        </p:txBody>
      </p:sp>
      <p:sp>
        <p:nvSpPr>
          <p:cNvPr id="27" name="Figure 8 label 26 line 1">
            <a:extLst xmlns:a="http://schemas.openxmlformats.org/drawingml/2006/main">
              <a:ext uri="{FF2B5EF4-FFF2-40B4-BE49-F238E27FC236}">
                <a16:creationId xmlns:a16="http://schemas.microsoft.com/office/drawing/2014/main" id="{F484BEBA-7819-48C7-9F56-F2C59C935C35}"/>
              </a:ext>
            </a:extLst>
          </p:cNvPr>
          <p:cNvSpPr>
            <a:spLocks xmlns:a="http://schemas.openxmlformats.org/drawingml/2006/main" noGrp="1"/>
          </p:cNvSpPr>
          <p:nvPr/>
        </p:nvSpPr>
        <p:spPr>
          <a:xfrm xmlns:a="http://schemas.openxmlformats.org/drawingml/2006/main" rot="0">
            <a:off x="15812135" y="4388424"/>
            <a:ext cx="130740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Strong demand</a:t>
            </a:r>
          </a:p>
        </p:txBody>
      </p:sp>
      <p:sp>
        <p:nvSpPr>
          <p:cNvPr id="28" name="Figure 8 label 27 line 1">
            <a:extLst xmlns:a="http://schemas.openxmlformats.org/drawingml/2006/main">
              <a:ext uri="{FF2B5EF4-FFF2-40B4-BE49-F238E27FC236}">
                <a16:creationId xmlns:a16="http://schemas.microsoft.com/office/drawing/2014/main" id="{BA14EC28-CCCF-40EE-B792-B057ACFD3469}"/>
              </a:ext>
            </a:extLst>
          </p:cNvPr>
          <p:cNvSpPr>
            <a:spLocks xmlns:a="http://schemas.openxmlformats.org/drawingml/2006/main" noGrp="1"/>
          </p:cNvSpPr>
          <p:nvPr/>
        </p:nvSpPr>
        <p:spPr>
          <a:xfrm xmlns:a="http://schemas.openxmlformats.org/drawingml/2006/main" rot="0">
            <a:off x="15812135" y="4641202"/>
            <a:ext cx="1336427"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expansion</a:t>
            </a:r>
          </a:p>
        </p:txBody>
      </p:sp>
      <p:sp>
        <p:nvSpPr>
          <p:cNvPr id="29" name="Figure 8 label 28 line 1">
            <a:extLst xmlns:a="http://schemas.openxmlformats.org/drawingml/2006/main">
              <a:ext uri="{FF2B5EF4-FFF2-40B4-BE49-F238E27FC236}">
                <a16:creationId xmlns:a16="http://schemas.microsoft.com/office/drawing/2014/main" id="{456045CC-B99E-4871-B4AC-F52A5905DAEF}"/>
              </a:ext>
            </a:extLst>
          </p:cNvPr>
          <p:cNvSpPr>
            <a:spLocks xmlns:a="http://schemas.openxmlformats.org/drawingml/2006/main" noGrp="1"/>
          </p:cNvSpPr>
          <p:nvPr/>
        </p:nvSpPr>
        <p:spPr>
          <a:xfrm xmlns:a="http://schemas.openxmlformats.org/drawingml/2006/main" rot="0">
            <a:off x="15812135" y="4892097"/>
            <a:ext cx="1462633"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qualification</a:t>
            </a:r>
          </a:p>
        </p:txBody>
      </p:sp>
      <p:sp>
        <p:nvSpPr>
          <p:cNvPr id="30" name="Figure 8 label 29 line 1">
            <a:extLst xmlns:a="http://schemas.openxmlformats.org/drawingml/2006/main">
              <a:ext uri="{FF2B5EF4-FFF2-40B4-BE49-F238E27FC236}">
                <a16:creationId xmlns:a16="http://schemas.microsoft.com/office/drawing/2014/main" id="{831E4032-A92D-45EF-89B2-4A15E2C3942C}"/>
              </a:ext>
            </a:extLst>
          </p:cNvPr>
          <p:cNvSpPr>
            <a:spLocks xmlns:a="http://schemas.openxmlformats.org/drawingml/2006/main" noGrp="1"/>
          </p:cNvSpPr>
          <p:nvPr/>
        </p:nvSpPr>
        <p:spPr>
          <a:xfrm xmlns:a="http://schemas.openxmlformats.org/drawingml/2006/main" rot="0">
            <a:off x="15812135" y="5139374"/>
            <a:ext cx="149195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All need evidence</a:t>
            </a:r>
          </a:p>
        </p:txBody>
      </p:sp>
      <p:sp>
        <p:nvSpPr>
          <p:cNvPr id="31" name="Figure 8 label 30 line 1">
            <a:extLst xmlns:a="http://schemas.openxmlformats.org/drawingml/2006/main">
              <a:ext uri="{FF2B5EF4-FFF2-40B4-BE49-F238E27FC236}">
                <a16:creationId xmlns:a16="http://schemas.microsoft.com/office/drawing/2014/main" id="{017FC622-0F1F-4BD1-831E-61520E897620}"/>
              </a:ext>
            </a:extLst>
          </p:cNvPr>
          <p:cNvSpPr>
            <a:spLocks xmlns:a="http://schemas.openxmlformats.org/drawingml/2006/main" noGrp="1"/>
          </p:cNvSpPr>
          <p:nvPr/>
        </p:nvSpPr>
        <p:spPr>
          <a:xfrm xmlns:a="http://schemas.openxmlformats.org/drawingml/2006/main" rot="0">
            <a:off x="15812262" y="6652643"/>
            <a:ext cx="152188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Check inventories,</a:t>
            </a:r>
          </a:p>
        </p:txBody>
      </p:sp>
      <p:sp>
        <p:nvSpPr>
          <p:cNvPr id="32" name="Figure 8 label 31 line 1">
            <a:extLst xmlns:a="http://schemas.openxmlformats.org/drawingml/2006/main">
              <a:ext uri="{FF2B5EF4-FFF2-40B4-BE49-F238E27FC236}">
                <a16:creationId xmlns:a16="http://schemas.microsoft.com/office/drawing/2014/main" id="{9526ECBC-1C92-45A9-9493-6E74D37555DA}"/>
              </a:ext>
            </a:extLst>
          </p:cNvPr>
          <p:cNvSpPr>
            <a:spLocks xmlns:a="http://schemas.openxmlformats.org/drawingml/2006/main" noGrp="1"/>
          </p:cNvSpPr>
          <p:nvPr/>
        </p:nvSpPr>
        <p:spPr>
          <a:xfrm xmlns:a="http://schemas.openxmlformats.org/drawingml/2006/main" rot="0">
            <a:off x="15812262" y="6895424"/>
            <a:ext cx="93118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orders and</a:t>
            </a:r>
          </a:p>
        </p:txBody>
      </p:sp>
      <p:sp>
        <p:nvSpPr>
          <p:cNvPr id="33" name="Figure 8 label 32 line 1">
            <a:extLst xmlns:a="http://schemas.openxmlformats.org/drawingml/2006/main">
              <a:ext uri="{FF2B5EF4-FFF2-40B4-BE49-F238E27FC236}">
                <a16:creationId xmlns:a16="http://schemas.microsoft.com/office/drawing/2014/main" id="{55126212-D54E-4C81-9851-74AD995EC331}"/>
              </a:ext>
            </a:extLst>
          </p:cNvPr>
          <p:cNvSpPr>
            <a:spLocks xmlns:a="http://schemas.openxmlformats.org/drawingml/2006/main" noGrp="1"/>
          </p:cNvSpPr>
          <p:nvPr/>
        </p:nvSpPr>
        <p:spPr>
          <a:xfrm xmlns:a="http://schemas.openxmlformats.org/drawingml/2006/main" rot="0">
            <a:off x="15812262" y="7138206"/>
            <a:ext cx="8929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lead times</a:t>
            </a:r>
          </a:p>
        </p:txBody>
      </p:sp>
    </p:spTree>
    <p:extLst>
      <p:ext uri="{BB962C8B-B14F-4D97-AF65-F5344CB8AC3E}">
        <p14:creationId xmlns:p14="http://schemas.microsoft.com/office/powerpoint/2010/main" val="18865786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F88AE6BC-36D3-4DDD-9231-84B7FFA108E3}"/>
              </a:ext>
            </a:extLst>
          </p:cNvPr>
          <p:cNvPicPr>
            <a:picLocks xmlns:a="http://schemas.openxmlformats.org/drawingml/2006/main" noChangeAspect="1"/>
          </p:cNvPicPr>
          <p:nvPr/>
        </p:nvPicPr>
        <p:blipFill>
          <a:blip xmlns:r="http://schemas.openxmlformats.org/officeDocument/2006/relationships" xmlns:a="http://schemas.openxmlformats.org/drawingml/2006/main" r:embed="Raf99320e66824bd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9 label 1 line 1">
            <a:extLst xmlns:a="http://schemas.openxmlformats.org/drawingml/2006/main">
              <a:ext uri="{FF2B5EF4-FFF2-40B4-BE49-F238E27FC236}">
                <a16:creationId xmlns:a16="http://schemas.microsoft.com/office/drawing/2014/main" id="{9D4E7E91-CA5D-4095-A52E-3ECC42EFD005}"/>
              </a:ext>
            </a:extLst>
          </p:cNvPr>
          <p:cNvSpPr>
            <a:spLocks xmlns:a="http://schemas.openxmlformats.org/drawingml/2006/main" noGrp="1"/>
          </p:cNvSpPr>
          <p:nvPr/>
        </p:nvSpPr>
        <p:spPr>
          <a:xfrm xmlns:a="http://schemas.openxmlformats.org/drawingml/2006/main" rot="0">
            <a:off x="23876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9 label 2 line 1">
            <a:extLst xmlns:a="http://schemas.openxmlformats.org/drawingml/2006/main">
              <a:ext uri="{FF2B5EF4-FFF2-40B4-BE49-F238E27FC236}">
                <a16:creationId xmlns:a16="http://schemas.microsoft.com/office/drawing/2014/main" id="{9A46B752-13ED-4BD8-8990-340B6056846F}"/>
              </a:ext>
            </a:extLst>
          </p:cNvPr>
          <p:cNvSpPr>
            <a:spLocks xmlns:a="http://schemas.openxmlformats.org/drawingml/2006/main" noGrp="1"/>
          </p:cNvSpPr>
          <p:nvPr/>
        </p:nvSpPr>
        <p:spPr>
          <a:xfrm xmlns:a="http://schemas.openxmlformats.org/drawingml/2006/main" rot="0">
            <a:off x="650300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9 label 3 line 1">
            <a:extLst xmlns:a="http://schemas.openxmlformats.org/drawingml/2006/main">
              <a:ext uri="{FF2B5EF4-FFF2-40B4-BE49-F238E27FC236}">
                <a16:creationId xmlns:a16="http://schemas.microsoft.com/office/drawing/2014/main" id="{16F2A6E3-5FE1-4710-AC0A-4B9DC869A153}"/>
              </a:ext>
            </a:extLst>
          </p:cNvPr>
          <p:cNvSpPr>
            <a:spLocks xmlns:a="http://schemas.openxmlformats.org/drawingml/2006/main" noGrp="1"/>
          </p:cNvSpPr>
          <p:nvPr/>
        </p:nvSpPr>
        <p:spPr>
          <a:xfrm xmlns:a="http://schemas.openxmlformats.org/drawingml/2006/main" rot="0">
            <a:off x="1092526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9 label 4 line 1">
            <a:extLst xmlns:a="http://schemas.openxmlformats.org/drawingml/2006/main">
              <a:ext uri="{FF2B5EF4-FFF2-40B4-BE49-F238E27FC236}">
                <a16:creationId xmlns:a16="http://schemas.microsoft.com/office/drawing/2014/main" id="{B3925A2B-F009-4FE6-8001-A62CE6D5F4CE}"/>
              </a:ext>
            </a:extLst>
          </p:cNvPr>
          <p:cNvSpPr>
            <a:spLocks xmlns:a="http://schemas.openxmlformats.org/drawingml/2006/main" noGrp="1"/>
          </p:cNvSpPr>
          <p:nvPr/>
        </p:nvSpPr>
        <p:spPr>
          <a:xfrm xmlns:a="http://schemas.openxmlformats.org/drawingml/2006/main" rot="0">
            <a:off x="4883750" y="8291493"/>
            <a:ext cx="40399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exposure to AI build-and-test demand →</a:t>
            </a:r>
          </a:p>
        </p:txBody>
      </p:sp>
      <p:sp>
        <p:nvSpPr>
          <p:cNvPr id="6" name="Figure 9 label 5 line 1">
            <a:extLst xmlns:a="http://schemas.openxmlformats.org/drawingml/2006/main">
              <a:ext uri="{FF2B5EF4-FFF2-40B4-BE49-F238E27FC236}">
                <a16:creationId xmlns:a16="http://schemas.microsoft.com/office/drawing/2014/main" id="{2723B2F1-829A-4137-9889-8EF496C9C367}"/>
              </a:ext>
            </a:extLst>
          </p:cNvPr>
          <p:cNvSpPr>
            <a:spLocks xmlns:a="http://schemas.openxmlformats.org/drawingml/2006/main" noGrp="1"/>
          </p:cNvSpPr>
          <p:nvPr/>
        </p:nvSpPr>
        <p:spPr>
          <a:xfrm xmlns:a="http://schemas.openxmlformats.org/drawingml/2006/main" rot="0">
            <a:off x="92230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9 label 6 line 1">
            <a:extLst xmlns:a="http://schemas.openxmlformats.org/drawingml/2006/main">
              <a:ext uri="{FF2B5EF4-FFF2-40B4-BE49-F238E27FC236}">
                <a16:creationId xmlns:a16="http://schemas.microsoft.com/office/drawing/2014/main" id="{6ABED6B0-866F-4031-97CD-E3246EBED800}"/>
              </a:ext>
            </a:extLst>
          </p:cNvPr>
          <p:cNvSpPr>
            <a:spLocks xmlns:a="http://schemas.openxmlformats.org/drawingml/2006/main" noGrp="1"/>
          </p:cNvSpPr>
          <p:nvPr/>
        </p:nvSpPr>
        <p:spPr>
          <a:xfrm xmlns:a="http://schemas.openxmlformats.org/drawingml/2006/main" rot="0">
            <a:off x="59429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9 label 7 line 1">
            <a:extLst xmlns:a="http://schemas.openxmlformats.org/drawingml/2006/main">
              <a:ext uri="{FF2B5EF4-FFF2-40B4-BE49-F238E27FC236}">
                <a16:creationId xmlns:a16="http://schemas.microsoft.com/office/drawing/2014/main" id="{F0C28588-54BA-4489-8967-427B62716F5B}"/>
              </a:ext>
            </a:extLst>
          </p:cNvPr>
          <p:cNvSpPr>
            <a:spLocks xmlns:a="http://schemas.openxmlformats.org/drawingml/2006/main" noGrp="1"/>
          </p:cNvSpPr>
          <p:nvPr/>
        </p:nvSpPr>
        <p:spPr>
          <a:xfrm xmlns:a="http://schemas.openxmlformats.org/drawingml/2006/main" rot="0">
            <a:off x="88004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9 label 8 line 1">
            <a:extLst xmlns:a="http://schemas.openxmlformats.org/drawingml/2006/main">
              <a:ext uri="{FF2B5EF4-FFF2-40B4-BE49-F238E27FC236}">
                <a16:creationId xmlns:a16="http://schemas.microsoft.com/office/drawing/2014/main" id="{DE1B49BF-E653-46C8-B13B-847910EEED7C}"/>
              </a:ext>
            </a:extLst>
          </p:cNvPr>
          <p:cNvSpPr>
            <a:spLocks xmlns:a="http://schemas.openxmlformats.org/drawingml/2006/main" noGrp="1"/>
          </p:cNvSpPr>
          <p:nvPr/>
        </p:nvSpPr>
        <p:spPr>
          <a:xfrm xmlns:a="http://schemas.openxmlformats.org/drawingml/2006/main" rot="16200000">
            <a:off x="-1393066" y="4918710"/>
            <a:ext cx="37431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Supply barriers / global customer access →</a:t>
            </a:r>
          </a:p>
        </p:txBody>
      </p:sp>
      <p:sp>
        <p:nvSpPr>
          <p:cNvPr id="10" name="Figure 9 label 9 line 1">
            <a:extLst xmlns:a="http://schemas.openxmlformats.org/drawingml/2006/main">
              <a:ext uri="{FF2B5EF4-FFF2-40B4-BE49-F238E27FC236}">
                <a16:creationId xmlns:a16="http://schemas.microsoft.com/office/drawing/2014/main" id="{5683597F-260D-40A0-9DF7-CF61D03E0475}"/>
              </a:ext>
            </a:extLst>
          </p:cNvPr>
          <p:cNvSpPr>
            <a:spLocks xmlns:a="http://schemas.openxmlformats.org/drawingml/2006/main" noGrp="1"/>
          </p:cNvSpPr>
          <p:nvPr/>
        </p:nvSpPr>
        <p:spPr>
          <a:xfrm xmlns:a="http://schemas.openxmlformats.org/drawingml/2006/main" rot="0">
            <a:off x="9366521" y="2832061"/>
            <a:ext cx="14421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ACROBiosystems</a:t>
            </a:r>
          </a:p>
        </p:txBody>
      </p:sp>
      <p:sp>
        <p:nvSpPr>
          <p:cNvPr id="11" name="Figure 9 label 10 line 1">
            <a:extLst xmlns:a="http://schemas.openxmlformats.org/drawingml/2006/main">
              <a:ext uri="{FF2B5EF4-FFF2-40B4-BE49-F238E27FC236}">
                <a16:creationId xmlns:a16="http://schemas.microsoft.com/office/drawing/2014/main" id="{0EEF70A6-70F7-4B83-A96F-670ACA4CEC85}"/>
              </a:ext>
            </a:extLst>
          </p:cNvPr>
          <p:cNvSpPr>
            <a:spLocks xmlns:a="http://schemas.openxmlformats.org/drawingml/2006/main" noGrp="1"/>
          </p:cNvSpPr>
          <p:nvPr/>
        </p:nvSpPr>
        <p:spPr>
          <a:xfrm xmlns:a="http://schemas.openxmlformats.org/drawingml/2006/main" rot="0">
            <a:off x="11007531" y="3656577"/>
            <a:ext cx="7105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Vazyme</a:t>
            </a:r>
          </a:p>
        </p:txBody>
      </p:sp>
      <p:sp>
        <p:nvSpPr>
          <p:cNvPr id="12" name="Figure 9 label 11 line 1">
            <a:extLst xmlns:a="http://schemas.openxmlformats.org/drawingml/2006/main">
              <a:ext uri="{FF2B5EF4-FFF2-40B4-BE49-F238E27FC236}">
                <a16:creationId xmlns:a16="http://schemas.microsoft.com/office/drawing/2014/main" id="{A3876577-4679-443E-852E-1C281F0374E8}"/>
              </a:ext>
            </a:extLst>
          </p:cNvPr>
          <p:cNvSpPr>
            <a:spLocks xmlns:a="http://schemas.openxmlformats.org/drawingml/2006/main" noGrp="1"/>
          </p:cNvSpPr>
          <p:nvPr/>
        </p:nvSpPr>
        <p:spPr>
          <a:xfrm xmlns:a="http://schemas.openxmlformats.org/drawingml/2006/main" rot="0">
            <a:off x="8394840" y="3492487"/>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Sino Biological</a:t>
            </a:r>
          </a:p>
        </p:txBody>
      </p:sp>
      <p:sp>
        <p:nvSpPr>
          <p:cNvPr id="13" name="Figure 9 label 12 line 1">
            <a:extLst xmlns:a="http://schemas.openxmlformats.org/drawingml/2006/main">
              <a:ext uri="{FF2B5EF4-FFF2-40B4-BE49-F238E27FC236}">
                <a16:creationId xmlns:a16="http://schemas.microsoft.com/office/drawing/2014/main" id="{638F66C6-B391-4EF7-B2EC-FB7C40DD3D65}"/>
              </a:ext>
            </a:extLst>
          </p:cNvPr>
          <p:cNvSpPr>
            <a:spLocks xmlns:a="http://schemas.openxmlformats.org/drawingml/2006/main" noGrp="1"/>
          </p:cNvSpPr>
          <p:nvPr/>
        </p:nvSpPr>
        <p:spPr>
          <a:xfrm xmlns:a="http://schemas.openxmlformats.org/drawingml/2006/main" rot="0">
            <a:off x="8180871" y="4400454"/>
            <a:ext cx="10072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Novoprotein</a:t>
            </a:r>
          </a:p>
        </p:txBody>
      </p:sp>
      <p:sp>
        <p:nvSpPr>
          <p:cNvPr id="14" name="Figure 9 label 13 line 1">
            <a:extLst xmlns:a="http://schemas.openxmlformats.org/drawingml/2006/main">
              <a:ext uri="{FF2B5EF4-FFF2-40B4-BE49-F238E27FC236}">
                <a16:creationId xmlns:a16="http://schemas.microsoft.com/office/drawing/2014/main" id="{81474188-98A0-4B60-8226-6B1378EACF9D}"/>
              </a:ext>
            </a:extLst>
          </p:cNvPr>
          <p:cNvSpPr>
            <a:spLocks xmlns:a="http://schemas.openxmlformats.org/drawingml/2006/main" noGrp="1"/>
          </p:cNvSpPr>
          <p:nvPr/>
        </p:nvSpPr>
        <p:spPr>
          <a:xfrm xmlns:a="http://schemas.openxmlformats.org/drawingml/2006/main" rot="0">
            <a:off x="5238788" y="3409816"/>
            <a:ext cx="91440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NanoMicro</a:t>
            </a:r>
          </a:p>
        </p:txBody>
      </p:sp>
      <p:sp>
        <p:nvSpPr>
          <p:cNvPr id="15" name="Figure 9 label 14 line 1">
            <a:extLst xmlns:a="http://schemas.openxmlformats.org/drawingml/2006/main">
              <a:ext uri="{FF2B5EF4-FFF2-40B4-BE49-F238E27FC236}">
                <a16:creationId xmlns:a16="http://schemas.microsoft.com/office/drawing/2014/main" id="{0CA62A8C-FF80-45E1-8635-6CE68D78E227}"/>
              </a:ext>
            </a:extLst>
          </p:cNvPr>
          <p:cNvSpPr>
            <a:spLocks xmlns:a="http://schemas.openxmlformats.org/drawingml/2006/main" noGrp="1"/>
          </p:cNvSpPr>
          <p:nvPr/>
        </p:nvSpPr>
        <p:spPr>
          <a:xfrm xmlns:a="http://schemas.openxmlformats.org/drawingml/2006/main" rot="0">
            <a:off x="5773712" y="4153810"/>
            <a:ext cx="5810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Sepax</a:t>
            </a:r>
          </a:p>
        </p:txBody>
      </p:sp>
      <p:sp>
        <p:nvSpPr>
          <p:cNvPr id="16" name="Figure 9 label 15 line 1">
            <a:extLst xmlns:a="http://schemas.openxmlformats.org/drawingml/2006/main">
              <a:ext uri="{FF2B5EF4-FFF2-40B4-BE49-F238E27FC236}">
                <a16:creationId xmlns:a16="http://schemas.microsoft.com/office/drawing/2014/main" id="{56E55A36-6CC8-40C3-8749-DE09B924B65F}"/>
              </a:ext>
            </a:extLst>
          </p:cNvPr>
          <p:cNvSpPr>
            <a:spLocks xmlns:a="http://schemas.openxmlformats.org/drawingml/2006/main" noGrp="1"/>
          </p:cNvSpPr>
          <p:nvPr/>
        </p:nvSpPr>
        <p:spPr>
          <a:xfrm xmlns:a="http://schemas.openxmlformats.org/drawingml/2006/main" rot="0">
            <a:off x="8662301" y="5336057"/>
            <a:ext cx="8123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JET Biofil</a:t>
            </a:r>
          </a:p>
        </p:txBody>
      </p:sp>
      <p:sp>
        <p:nvSpPr>
          <p:cNvPr id="17" name="Figure 9 label 16 line 1">
            <a:extLst xmlns:a="http://schemas.openxmlformats.org/drawingml/2006/main">
              <a:ext uri="{FF2B5EF4-FFF2-40B4-BE49-F238E27FC236}">
                <a16:creationId xmlns:a16="http://schemas.microsoft.com/office/drawing/2014/main" id="{C5DAF756-BC6E-4D96-8AD1-AC325B7F505C}"/>
              </a:ext>
            </a:extLst>
          </p:cNvPr>
          <p:cNvSpPr>
            <a:spLocks xmlns:a="http://schemas.openxmlformats.org/drawingml/2006/main" noGrp="1"/>
          </p:cNvSpPr>
          <p:nvPr/>
        </p:nvSpPr>
        <p:spPr>
          <a:xfrm xmlns:a="http://schemas.openxmlformats.org/drawingml/2006/main" rot="0">
            <a:off x="7271500" y="3795182"/>
            <a:ext cx="9703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Changhong</a:t>
            </a:r>
          </a:p>
        </p:txBody>
      </p:sp>
      <p:sp>
        <p:nvSpPr>
          <p:cNvPr id="18" name="Figure 9 label 17 line 1">
            <a:extLst xmlns:a="http://schemas.openxmlformats.org/drawingml/2006/main">
              <a:ext uri="{FF2B5EF4-FFF2-40B4-BE49-F238E27FC236}">
                <a16:creationId xmlns:a16="http://schemas.microsoft.com/office/drawing/2014/main" id="{882B91AE-FEBD-46B9-B20F-11920C4114F4}"/>
              </a:ext>
            </a:extLst>
          </p:cNvPr>
          <p:cNvSpPr>
            <a:spLocks xmlns:a="http://schemas.openxmlformats.org/drawingml/2006/main" noGrp="1"/>
          </p:cNvSpPr>
          <p:nvPr/>
        </p:nvSpPr>
        <p:spPr>
          <a:xfrm xmlns:a="http://schemas.openxmlformats.org/drawingml/2006/main" rot="0">
            <a:off x="9732150" y="4593078"/>
            <a:ext cx="138707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Bide Pharmatech</a:t>
            </a:r>
          </a:p>
        </p:txBody>
      </p:sp>
      <p:sp>
        <p:nvSpPr>
          <p:cNvPr id="19" name="Figure 9 label 18 line 1">
            <a:extLst xmlns:a="http://schemas.openxmlformats.org/drawingml/2006/main">
              <a:ext uri="{FF2B5EF4-FFF2-40B4-BE49-F238E27FC236}">
                <a16:creationId xmlns:a16="http://schemas.microsoft.com/office/drawing/2014/main" id="{D1AC16D3-F731-4957-8E9E-46EA4EF044AC}"/>
              </a:ext>
            </a:extLst>
          </p:cNvPr>
          <p:cNvSpPr>
            <a:spLocks xmlns:a="http://schemas.openxmlformats.org/drawingml/2006/main" noGrp="1"/>
          </p:cNvSpPr>
          <p:nvPr/>
        </p:nvSpPr>
        <p:spPr>
          <a:xfrm xmlns:a="http://schemas.openxmlformats.org/drawingml/2006/main" rot="0">
            <a:off x="10669817" y="5337072"/>
            <a:ext cx="11552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ChemExpress</a:t>
            </a:r>
          </a:p>
        </p:txBody>
      </p:sp>
      <p:sp>
        <p:nvSpPr>
          <p:cNvPr id="20" name="Figure 9 label 19 line 1">
            <a:extLst xmlns:a="http://schemas.openxmlformats.org/drawingml/2006/main">
              <a:ext uri="{FF2B5EF4-FFF2-40B4-BE49-F238E27FC236}">
                <a16:creationId xmlns:a16="http://schemas.microsoft.com/office/drawing/2014/main" id="{6683FAC7-C883-44B9-9B81-205F56A0606F}"/>
              </a:ext>
            </a:extLst>
          </p:cNvPr>
          <p:cNvSpPr>
            <a:spLocks xmlns:a="http://schemas.openxmlformats.org/drawingml/2006/main" noGrp="1"/>
          </p:cNvSpPr>
          <p:nvPr/>
        </p:nvSpPr>
        <p:spPr>
          <a:xfrm xmlns:a="http://schemas.openxmlformats.org/drawingml/2006/main" rot="0">
            <a:off x="6041174" y="2721873"/>
            <a:ext cx="4232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MGI</a:t>
            </a:r>
          </a:p>
        </p:txBody>
      </p:sp>
      <p:sp>
        <p:nvSpPr>
          <p:cNvPr id="21" name="Figure 9 label 20 line 1">
            <a:extLst xmlns:a="http://schemas.openxmlformats.org/drawingml/2006/main">
              <a:ext uri="{FF2B5EF4-FFF2-40B4-BE49-F238E27FC236}">
                <a16:creationId xmlns:a16="http://schemas.microsoft.com/office/drawing/2014/main" id="{51CA502C-10C3-448E-9346-CEBB8A6C2AB6}"/>
              </a:ext>
            </a:extLst>
          </p:cNvPr>
          <p:cNvSpPr>
            <a:spLocks xmlns:a="http://schemas.openxmlformats.org/drawingml/2006/main" noGrp="1"/>
          </p:cNvSpPr>
          <p:nvPr/>
        </p:nvSpPr>
        <p:spPr>
          <a:xfrm xmlns:a="http://schemas.openxmlformats.org/drawingml/2006/main" rot="0">
            <a:off x="4757357" y="4868255"/>
            <a:ext cx="142383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OPM Biosciences</a:t>
            </a:r>
          </a:p>
        </p:txBody>
      </p:sp>
      <p:sp>
        <p:nvSpPr>
          <p:cNvPr id="22" name="Figure 9 label 21 line 1">
            <a:extLst xmlns:a="http://schemas.openxmlformats.org/drawingml/2006/main">
              <a:ext uri="{FF2B5EF4-FFF2-40B4-BE49-F238E27FC236}">
                <a16:creationId xmlns:a16="http://schemas.microsoft.com/office/drawing/2014/main" id="{C9214D6B-B7B1-428E-9773-9D26CF04395F}"/>
              </a:ext>
            </a:extLst>
          </p:cNvPr>
          <p:cNvSpPr>
            <a:spLocks xmlns:a="http://schemas.openxmlformats.org/drawingml/2006/main" noGrp="1"/>
          </p:cNvSpPr>
          <p:nvPr/>
        </p:nvSpPr>
        <p:spPr>
          <a:xfrm xmlns:a="http://schemas.openxmlformats.org/drawingml/2006/main" rot="0">
            <a:off x="991870" y="421920"/>
            <a:ext cx="6574235"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09  Mapping Chinese listed LST suppliers</a:t>
            </a:r>
          </a:p>
        </p:txBody>
      </p:sp>
      <p:sp>
        <p:nvSpPr>
          <p:cNvPr id="23" name="Figure 9 label 22 line 1">
            <a:extLst xmlns:a="http://schemas.openxmlformats.org/drawingml/2006/main">
              <a:ext uri="{FF2B5EF4-FFF2-40B4-BE49-F238E27FC236}">
                <a16:creationId xmlns:a16="http://schemas.microsoft.com/office/drawing/2014/main" id="{AD3453C3-2D61-4E8F-BA11-C110599BB337}"/>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4" name="Figure 9 label 23 line 1">
            <a:extLst xmlns:a="http://schemas.openxmlformats.org/drawingml/2006/main">
              <a:ext uri="{FF2B5EF4-FFF2-40B4-BE49-F238E27FC236}">
                <a16:creationId xmlns:a16="http://schemas.microsoft.com/office/drawing/2014/main" id="{6F2062CB-B04E-4AD9-B46E-D1096F5224BF}"/>
              </a:ext>
            </a:extLst>
          </p:cNvPr>
          <p:cNvSpPr>
            <a:spLocks xmlns:a="http://schemas.openxmlformats.org/drawingml/2006/main" noGrp="1"/>
          </p:cNvSpPr>
          <p:nvPr/>
        </p:nvSpPr>
        <p:spPr>
          <a:xfrm xmlns:a="http://schemas.openxmlformats.org/drawingml/2006/main" rot="0">
            <a:off x="998220" y="1248326"/>
            <a:ext cx="92940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 exposure to AI build-and-test stages; positions do not measure AI revenue share or investment rank.</a:t>
            </a:r>
          </a:p>
        </p:txBody>
      </p:sp>
      <p:sp>
        <p:nvSpPr>
          <p:cNvPr id="25" name="Figure 9 label 24 line 1">
            <a:extLst xmlns:a="http://schemas.openxmlformats.org/drawingml/2006/main">
              <a:ext uri="{FF2B5EF4-FFF2-40B4-BE49-F238E27FC236}">
                <a16:creationId xmlns:a16="http://schemas.microsoft.com/office/drawing/2014/main" id="{72B65F85-8DD7-4B92-B41C-992EEB98A860}"/>
              </a:ext>
            </a:extLst>
          </p:cNvPr>
          <p:cNvSpPr>
            <a:spLocks xmlns:a="http://schemas.openxmlformats.org/drawingml/2006/main" noGrp="1"/>
          </p:cNvSpPr>
          <p:nvPr/>
        </p:nvSpPr>
        <p:spPr>
          <a:xfrm xmlns:a="http://schemas.openxmlformats.org/drawingml/2006/main" rot="0">
            <a:off x="999173" y="9256035"/>
            <a:ext cx="803954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Axes are qualitative judgments. Qualification, global customer access and paid orders still require evidence.</a:t>
            </a:r>
          </a:p>
        </p:txBody>
      </p:sp>
      <p:sp>
        <p:nvSpPr>
          <p:cNvPr id="26" name="Figure 9 label 25 line 1">
            <a:extLst xmlns:a="http://schemas.openxmlformats.org/drawingml/2006/main">
              <a:ext uri="{FF2B5EF4-FFF2-40B4-BE49-F238E27FC236}">
                <a16:creationId xmlns:a16="http://schemas.microsoft.com/office/drawing/2014/main" id="{47E41DBC-55DE-40FD-832F-B619BA13E1F0}"/>
              </a:ext>
            </a:extLst>
          </p:cNvPr>
          <p:cNvSpPr>
            <a:spLocks xmlns:a="http://schemas.openxmlformats.org/drawingml/2006/main" noGrp="1"/>
          </p:cNvSpPr>
          <p:nvPr/>
        </p:nvSpPr>
        <p:spPr>
          <a:xfrm xmlns:a="http://schemas.openxmlformats.org/drawingml/2006/main" rot="0">
            <a:off x="1000316" y="9675546"/>
            <a:ext cx="659564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Sources: company filings and official product catalogs. Product rationale and assumptions are in data.json.</a:t>
            </a:r>
          </a:p>
        </p:txBody>
      </p:sp>
      <p:sp>
        <p:nvSpPr>
          <p:cNvPr id="27" name="Figure 9 label 26 line 1">
            <a:extLst xmlns:a="http://schemas.openxmlformats.org/drawingml/2006/main">
              <a:ext uri="{FF2B5EF4-FFF2-40B4-BE49-F238E27FC236}">
                <a16:creationId xmlns:a16="http://schemas.microsoft.com/office/drawing/2014/main" id="{C939AE02-DBEE-4C63-AEFF-F3A3BBAFD270}"/>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8" name="Figure 9 label 27 line 1">
            <a:extLst xmlns:a="http://schemas.openxmlformats.org/drawingml/2006/main">
              <a:ext uri="{FF2B5EF4-FFF2-40B4-BE49-F238E27FC236}">
                <a16:creationId xmlns:a16="http://schemas.microsoft.com/office/drawing/2014/main" id="{971CB70C-980D-4686-B0AB-3CE9529EA8AA}"/>
              </a:ext>
            </a:extLst>
          </p:cNvPr>
          <p:cNvSpPr>
            <a:spLocks xmlns:a="http://schemas.openxmlformats.org/drawingml/2006/main" noGrp="1"/>
          </p:cNvSpPr>
          <p:nvPr/>
        </p:nvSpPr>
        <p:spPr>
          <a:xfrm xmlns:a="http://schemas.openxmlformats.org/drawingml/2006/main" rot="0">
            <a:off x="13250545" y="2538787"/>
            <a:ext cx="1017439"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Reagents</a:t>
            </a:r>
          </a:p>
        </p:txBody>
      </p:sp>
      <p:sp>
        <p:nvSpPr>
          <p:cNvPr id="29" name="Figure 9 label 28 line 1">
            <a:extLst xmlns:a="http://schemas.openxmlformats.org/drawingml/2006/main">
              <a:ext uri="{FF2B5EF4-FFF2-40B4-BE49-F238E27FC236}">
                <a16:creationId xmlns:a16="http://schemas.microsoft.com/office/drawing/2014/main" id="{1CDFC8CB-40CA-4168-A8F4-FB153866C311}"/>
              </a:ext>
            </a:extLst>
          </p:cNvPr>
          <p:cNvSpPr>
            <a:spLocks xmlns:a="http://schemas.openxmlformats.org/drawingml/2006/main" noGrp="1"/>
          </p:cNvSpPr>
          <p:nvPr/>
        </p:nvSpPr>
        <p:spPr>
          <a:xfrm xmlns:a="http://schemas.openxmlformats.org/drawingml/2006/main" rot="0">
            <a:off x="13252133" y="3010811"/>
            <a:ext cx="259124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 enzymes, blocks, media</a:t>
            </a:r>
          </a:p>
        </p:txBody>
      </p:sp>
      <p:sp>
        <p:nvSpPr>
          <p:cNvPr id="30" name="Figure 9 label 29 line 1">
            <a:extLst xmlns:a="http://schemas.openxmlformats.org/drawingml/2006/main">
              <a:ext uri="{FF2B5EF4-FFF2-40B4-BE49-F238E27FC236}">
                <a16:creationId xmlns:a16="http://schemas.microsoft.com/office/drawing/2014/main" id="{D460FEA2-97D5-45DF-9BE9-2646B7A0BBE0}"/>
              </a:ext>
            </a:extLst>
          </p:cNvPr>
          <p:cNvSpPr>
            <a:spLocks xmlns:a="http://schemas.openxmlformats.org/drawingml/2006/main" noGrp="1"/>
          </p:cNvSpPr>
          <p:nvPr/>
        </p:nvSpPr>
        <p:spPr>
          <a:xfrm xmlns:a="http://schemas.openxmlformats.org/drawingml/2006/main" rot="0">
            <a:off x="13250545" y="3620034"/>
            <a:ext cx="13956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Consumables</a:t>
            </a:r>
          </a:p>
        </p:txBody>
      </p:sp>
      <p:sp>
        <p:nvSpPr>
          <p:cNvPr id="31" name="Figure 9 label 30 line 1">
            <a:extLst xmlns:a="http://schemas.openxmlformats.org/drawingml/2006/main">
              <a:ext uri="{FF2B5EF4-FFF2-40B4-BE49-F238E27FC236}">
                <a16:creationId xmlns:a16="http://schemas.microsoft.com/office/drawing/2014/main" id="{B530BB1D-1D16-48E4-91DA-98A8CB07CAD8}"/>
              </a:ext>
            </a:extLst>
          </p:cNvPr>
          <p:cNvSpPr>
            <a:spLocks xmlns:a="http://schemas.openxmlformats.org/drawingml/2006/main" noGrp="1"/>
          </p:cNvSpPr>
          <p:nvPr/>
        </p:nvSpPr>
        <p:spPr>
          <a:xfrm xmlns:a="http://schemas.openxmlformats.org/drawingml/2006/main" rot="0">
            <a:off x="13252133" y="4091844"/>
            <a:ext cx="199831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Labware, columns, resins</a:t>
            </a:r>
          </a:p>
        </p:txBody>
      </p:sp>
      <p:sp>
        <p:nvSpPr>
          <p:cNvPr id="32" name="Figure 9 label 31 line 1">
            <a:extLst xmlns:a="http://schemas.openxmlformats.org/drawingml/2006/main">
              <a:ext uri="{FF2B5EF4-FFF2-40B4-BE49-F238E27FC236}">
                <a16:creationId xmlns:a16="http://schemas.microsoft.com/office/drawing/2014/main" id="{BC8AE929-13B8-44F3-86F9-FC6CBE3CE5F7}"/>
              </a:ext>
            </a:extLst>
          </p:cNvPr>
          <p:cNvSpPr>
            <a:spLocks xmlns:a="http://schemas.openxmlformats.org/drawingml/2006/main" noGrp="1"/>
          </p:cNvSpPr>
          <p:nvPr/>
        </p:nvSpPr>
        <p:spPr>
          <a:xfrm xmlns:a="http://schemas.openxmlformats.org/drawingml/2006/main" rot="0">
            <a:off x="13250545" y="4701427"/>
            <a:ext cx="223232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Instruments / platforms</a:t>
            </a:r>
          </a:p>
        </p:txBody>
      </p:sp>
      <p:sp>
        <p:nvSpPr>
          <p:cNvPr id="33" name="Figure 9 label 32 line 1">
            <a:extLst xmlns:a="http://schemas.openxmlformats.org/drawingml/2006/main">
              <a:ext uri="{FF2B5EF4-FFF2-40B4-BE49-F238E27FC236}">
                <a16:creationId xmlns:a16="http://schemas.microsoft.com/office/drawing/2014/main" id="{CD4180EF-7027-4D9B-921E-AC5BB2EA42BD}"/>
              </a:ext>
            </a:extLst>
          </p:cNvPr>
          <p:cNvSpPr>
            <a:spLocks xmlns:a="http://schemas.openxmlformats.org/drawingml/2006/main" noGrp="1"/>
          </p:cNvSpPr>
          <p:nvPr/>
        </p:nvSpPr>
        <p:spPr>
          <a:xfrm xmlns:a="http://schemas.openxmlformats.org/drawingml/2006/main" rot="0">
            <a:off x="13252133" y="5172097"/>
            <a:ext cx="218435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 and automation</a:t>
            </a:r>
          </a:p>
        </p:txBody>
      </p:sp>
      <p:sp>
        <p:nvSpPr>
          <p:cNvPr id="34" name="Figure 9 label 33 line 1">
            <a:extLst xmlns:a="http://schemas.openxmlformats.org/drawingml/2006/main">
              <a:ext uri="{FF2B5EF4-FFF2-40B4-BE49-F238E27FC236}">
                <a16:creationId xmlns:a16="http://schemas.microsoft.com/office/drawing/2014/main" id="{DF47BF9E-0975-4054-8576-1ECB66238C68}"/>
              </a:ext>
            </a:extLst>
          </p:cNvPr>
          <p:cNvSpPr>
            <a:spLocks xmlns:a="http://schemas.openxmlformats.org/drawingml/2006/main" noGrp="1"/>
          </p:cNvSpPr>
          <p:nvPr/>
        </p:nvSpPr>
        <p:spPr>
          <a:xfrm xmlns:a="http://schemas.openxmlformats.org/drawingml/2006/main" rot="0">
            <a:off x="13342620" y="6238682"/>
            <a:ext cx="2824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Two different demand pathways</a:t>
            </a:r>
          </a:p>
        </p:txBody>
      </p:sp>
      <p:sp>
        <p:nvSpPr>
          <p:cNvPr id="35" name="Figure 9 label 34 line 1">
            <a:extLst xmlns:a="http://schemas.openxmlformats.org/drawingml/2006/main">
              <a:ext uri="{FF2B5EF4-FFF2-40B4-BE49-F238E27FC236}">
                <a16:creationId xmlns:a16="http://schemas.microsoft.com/office/drawing/2014/main" id="{723816F7-8B81-40DB-A3FB-35824DBE0AD0}"/>
              </a:ext>
            </a:extLst>
          </p:cNvPr>
          <p:cNvSpPr>
            <a:spLocks xmlns:a="http://schemas.openxmlformats.org/drawingml/2006/main" noGrp="1"/>
          </p:cNvSpPr>
          <p:nvPr/>
        </p:nvSpPr>
        <p:spPr>
          <a:xfrm xmlns:a="http://schemas.openxmlformats.org/drawingml/2006/main" rot="0">
            <a:off x="13343446" y="6645481"/>
            <a:ext cx="2961065"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ACRO: expression / functional assays</a:t>
            </a:r>
          </a:p>
        </p:txBody>
      </p:sp>
      <p:sp>
        <p:nvSpPr>
          <p:cNvPr id="36" name="Figure 9 label 35 line 1">
            <a:extLst xmlns:a="http://schemas.openxmlformats.org/drawingml/2006/main">
              <a:ext uri="{FF2B5EF4-FFF2-40B4-BE49-F238E27FC236}">
                <a16:creationId xmlns:a16="http://schemas.microsoft.com/office/drawing/2014/main" id="{1A7E1539-E3ED-4036-BA5D-6C8A9580A4A5}"/>
              </a:ext>
            </a:extLst>
          </p:cNvPr>
          <p:cNvSpPr>
            <a:spLocks xmlns:a="http://schemas.openxmlformats.org/drawingml/2006/main" noGrp="1"/>
          </p:cNvSpPr>
          <p:nvPr/>
        </p:nvSpPr>
        <p:spPr>
          <a:xfrm xmlns:a="http://schemas.openxmlformats.org/drawingml/2006/main" rot="0">
            <a:off x="13343446" y="6903730"/>
            <a:ext cx="2682756"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NanoMicro: purification + scale-up</a:t>
            </a:r>
          </a:p>
        </p:txBody>
      </p:sp>
    </p:spTree>
    <p:extLst>
      <p:ext uri="{BB962C8B-B14F-4D97-AF65-F5344CB8AC3E}">
        <p14:creationId xmlns:p14="http://schemas.microsoft.com/office/powerpoint/2010/main" val="17246973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3BC6332C-ED0B-4B81-98DA-20998B0E779D}"/>
              </a:ext>
            </a:extLst>
          </p:cNvPr>
          <p:cNvPicPr>
            <a:picLocks xmlns:a="http://schemas.openxmlformats.org/drawingml/2006/main" noChangeAspect="1"/>
          </p:cNvPicPr>
          <p:nvPr/>
        </p:nvPicPr>
        <p:blipFill>
          <a:blip xmlns:r="http://schemas.openxmlformats.org/officeDocument/2006/relationships" xmlns:a="http://schemas.openxmlformats.org/drawingml/2006/main" r:embed="Rdbff24cafbbd4bc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0 label 1 line 1">
            <a:extLst xmlns:a="http://schemas.openxmlformats.org/drawingml/2006/main">
              <a:ext uri="{FF2B5EF4-FFF2-40B4-BE49-F238E27FC236}">
                <a16:creationId xmlns:a16="http://schemas.microsoft.com/office/drawing/2014/main" id="{CCDD4812-E508-40EE-901D-33857039E8E5}"/>
              </a:ext>
            </a:extLst>
          </p:cNvPr>
          <p:cNvSpPr>
            <a:spLocks xmlns:a="http://schemas.openxmlformats.org/drawingml/2006/main" noGrp="1"/>
          </p:cNvSpPr>
          <p:nvPr/>
        </p:nvSpPr>
        <p:spPr>
          <a:xfrm xmlns:a="http://schemas.openxmlformats.org/drawingml/2006/main" rot="0">
            <a:off x="991870" y="421920"/>
            <a:ext cx="744726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10  From AI funding to LST shareholder returns</a:t>
            </a:r>
          </a:p>
        </p:txBody>
      </p:sp>
      <p:sp>
        <p:nvSpPr>
          <p:cNvPr id="3" name="Figure 10 label 2 line 1">
            <a:extLst xmlns:a="http://schemas.openxmlformats.org/drawingml/2006/main">
              <a:ext uri="{FF2B5EF4-FFF2-40B4-BE49-F238E27FC236}">
                <a16:creationId xmlns:a16="http://schemas.microsoft.com/office/drawing/2014/main" id="{59913B61-C250-42E5-A64B-20E34160EC7B}"/>
              </a:ext>
            </a:extLst>
          </p:cNvPr>
          <p:cNvSpPr>
            <a:spLocks xmlns:a="http://schemas.openxmlformats.org/drawingml/2006/main" noGrp="1"/>
          </p:cNvSpPr>
          <p:nvPr/>
        </p:nvSpPr>
        <p:spPr>
          <a:xfrm xmlns:a="http://schemas.openxmlformats.org/drawingml/2006/main" rot="0">
            <a:off x="15909231" y="661601"/>
            <a:ext cx="64273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THESIS</a:t>
            </a:r>
          </a:p>
        </p:txBody>
      </p:sp>
      <p:sp>
        <p:nvSpPr>
          <p:cNvPr id="4" name="Figure 10 label 3 line 1">
            <a:extLst xmlns:a="http://schemas.openxmlformats.org/drawingml/2006/main">
              <a:ext uri="{FF2B5EF4-FFF2-40B4-BE49-F238E27FC236}">
                <a16:creationId xmlns:a16="http://schemas.microsoft.com/office/drawing/2014/main" id="{5B58B8AD-B03D-477E-937C-2C5F2FC08AF7}"/>
              </a:ext>
            </a:extLst>
          </p:cNvPr>
          <p:cNvSpPr>
            <a:spLocks xmlns:a="http://schemas.openxmlformats.org/drawingml/2006/main" noGrp="1"/>
          </p:cNvSpPr>
          <p:nvPr/>
        </p:nvSpPr>
        <p:spPr>
          <a:xfrm xmlns:a="http://schemas.openxmlformats.org/drawingml/2006/main" rot="0">
            <a:off x="998220" y="1248326"/>
            <a:ext cx="953720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Funding starts the chain. Projects, consumption, supply, market share and cash returns determine the outcome.</a:t>
            </a:r>
          </a:p>
        </p:txBody>
      </p:sp>
      <p:sp>
        <p:nvSpPr>
          <p:cNvPr id="5" name="Figure 10 label 4 line 1">
            <a:extLst xmlns:a="http://schemas.openxmlformats.org/drawingml/2006/main">
              <a:ext uri="{FF2B5EF4-FFF2-40B4-BE49-F238E27FC236}">
                <a16:creationId xmlns:a16="http://schemas.microsoft.com/office/drawing/2014/main" id="{C8B302F7-5967-4B16-9A81-ACE39E49413B}"/>
              </a:ext>
            </a:extLst>
          </p:cNvPr>
          <p:cNvSpPr>
            <a:spLocks xmlns:a="http://schemas.openxmlformats.org/drawingml/2006/main" noGrp="1"/>
          </p:cNvSpPr>
          <p:nvPr/>
        </p:nvSpPr>
        <p:spPr>
          <a:xfrm xmlns:a="http://schemas.openxmlformats.org/drawingml/2006/main" rot="0">
            <a:off x="999173" y="9256035"/>
            <a:ext cx="77805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Seek experimental relevance, evidenced supply constraints and global access; test the valuation hurdle.</a:t>
            </a:r>
          </a:p>
        </p:txBody>
      </p:sp>
      <p:sp>
        <p:nvSpPr>
          <p:cNvPr id="6" name="Figure 10 label 5 line 1">
            <a:extLst xmlns:a="http://schemas.openxmlformats.org/drawingml/2006/main">
              <a:ext uri="{FF2B5EF4-FFF2-40B4-BE49-F238E27FC236}">
                <a16:creationId xmlns:a16="http://schemas.microsoft.com/office/drawing/2014/main" id="{4EE834C7-19E7-49CD-A2B6-2CB977A8F9C7}"/>
              </a:ext>
            </a:extLst>
          </p:cNvPr>
          <p:cNvSpPr>
            <a:spLocks xmlns:a="http://schemas.openxmlformats.org/drawingml/2006/main" noGrp="1"/>
          </p:cNvSpPr>
          <p:nvPr/>
        </p:nvSpPr>
        <p:spPr>
          <a:xfrm xmlns:a="http://schemas.openxmlformats.org/drawingml/2006/main" rot="0">
            <a:off x="1000316" y="9675546"/>
            <a:ext cx="631153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company research. Capital announcements are not LST orders.</a:t>
            </a:r>
          </a:p>
        </p:txBody>
      </p:sp>
      <p:sp>
        <p:nvSpPr>
          <p:cNvPr id="7" name="Figure 10 label 6 line 1">
            <a:extLst xmlns:a="http://schemas.openxmlformats.org/drawingml/2006/main">
              <a:ext uri="{FF2B5EF4-FFF2-40B4-BE49-F238E27FC236}">
                <a16:creationId xmlns:a16="http://schemas.microsoft.com/office/drawing/2014/main" id="{BF58A578-F1A3-414C-A221-1F1DA3A7E5BD}"/>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0 label 7 line 1">
            <a:extLst xmlns:a="http://schemas.openxmlformats.org/drawingml/2006/main">
              <a:ext uri="{FF2B5EF4-FFF2-40B4-BE49-F238E27FC236}">
                <a16:creationId xmlns:a16="http://schemas.microsoft.com/office/drawing/2014/main" id="{18700D75-F82F-4090-8909-5A3FF9854551}"/>
              </a:ext>
            </a:extLst>
          </p:cNvPr>
          <p:cNvSpPr>
            <a:spLocks xmlns:a="http://schemas.openxmlformats.org/drawingml/2006/main" noGrp="1"/>
          </p:cNvSpPr>
          <p:nvPr/>
        </p:nvSpPr>
        <p:spPr>
          <a:xfrm xmlns:a="http://schemas.openxmlformats.org/drawingml/2006/main" rot="0">
            <a:off x="1372389" y="2964153"/>
            <a:ext cx="173578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AI funding grows</a:t>
            </a:r>
          </a:p>
        </p:txBody>
      </p:sp>
      <p:sp>
        <p:nvSpPr>
          <p:cNvPr id="9" name="Figure 10 label 8 line 1">
            <a:extLst xmlns:a="http://schemas.openxmlformats.org/drawingml/2006/main">
              <a:ext uri="{FF2B5EF4-FFF2-40B4-BE49-F238E27FC236}">
                <a16:creationId xmlns:a16="http://schemas.microsoft.com/office/drawing/2014/main" id="{48CADFAD-5E30-4036-A239-75B1CBFDB7DE}"/>
              </a:ext>
            </a:extLst>
          </p:cNvPr>
          <p:cNvSpPr>
            <a:spLocks xmlns:a="http://schemas.openxmlformats.org/drawingml/2006/main" noGrp="1"/>
          </p:cNvSpPr>
          <p:nvPr/>
        </p:nvSpPr>
        <p:spPr>
          <a:xfrm xmlns:a="http://schemas.openxmlformats.org/drawingml/2006/main" rot="0">
            <a:off x="1255340" y="3750783"/>
            <a:ext cx="1969879"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Cash reaches customers</a:t>
            </a:r>
          </a:p>
        </p:txBody>
      </p:sp>
      <p:sp>
        <p:nvSpPr>
          <p:cNvPr id="10" name="Figure 10 label 9 line 1">
            <a:extLst xmlns:a="http://schemas.openxmlformats.org/drawingml/2006/main">
              <a:ext uri="{FF2B5EF4-FFF2-40B4-BE49-F238E27FC236}">
                <a16:creationId xmlns:a16="http://schemas.microsoft.com/office/drawing/2014/main" id="{952933DF-49E0-4747-AD7D-F09C1EE52E44}"/>
              </a:ext>
            </a:extLst>
          </p:cNvPr>
          <p:cNvSpPr>
            <a:spLocks xmlns:a="http://schemas.openxmlformats.org/drawingml/2006/main" noGrp="1"/>
          </p:cNvSpPr>
          <p:nvPr/>
        </p:nvSpPr>
        <p:spPr>
          <a:xfrm xmlns:a="http://schemas.openxmlformats.org/drawingml/2006/main" rot="0">
            <a:off x="4485941" y="2964002"/>
            <a:ext cx="1616869"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Lab automation</a:t>
            </a:r>
          </a:p>
        </p:txBody>
      </p:sp>
      <p:sp>
        <p:nvSpPr>
          <p:cNvPr id="11" name="Figure 10 label 10 line 1">
            <a:extLst xmlns:a="http://schemas.openxmlformats.org/drawingml/2006/main">
              <a:ext uri="{FF2B5EF4-FFF2-40B4-BE49-F238E27FC236}">
                <a16:creationId xmlns:a16="http://schemas.microsoft.com/office/drawing/2014/main" id="{E9E6ED45-AECD-4DB7-AB7B-5F402E623DD5}"/>
              </a:ext>
            </a:extLst>
          </p:cNvPr>
          <p:cNvSpPr>
            <a:spLocks xmlns:a="http://schemas.openxmlformats.org/drawingml/2006/main" noGrp="1"/>
          </p:cNvSpPr>
          <p:nvPr/>
        </p:nvSpPr>
        <p:spPr>
          <a:xfrm xmlns:a="http://schemas.openxmlformats.org/drawingml/2006/main" rot="0">
            <a:off x="4505592" y="3750783"/>
            <a:ext cx="1577568"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Equipment installed</a:t>
            </a:r>
          </a:p>
        </p:txBody>
      </p:sp>
      <p:sp>
        <p:nvSpPr>
          <p:cNvPr id="12" name="Figure 10 label 11 line 1">
            <a:extLst xmlns:a="http://schemas.openxmlformats.org/drawingml/2006/main">
              <a:ext uri="{FF2B5EF4-FFF2-40B4-BE49-F238E27FC236}">
                <a16:creationId xmlns:a16="http://schemas.microsoft.com/office/drawing/2014/main" id="{4B8A0721-8B39-4127-AEAA-7F6974001EB7}"/>
              </a:ext>
            </a:extLst>
          </p:cNvPr>
          <p:cNvSpPr>
            <a:spLocks xmlns:a="http://schemas.openxmlformats.org/drawingml/2006/main" noGrp="1"/>
          </p:cNvSpPr>
          <p:nvPr/>
        </p:nvSpPr>
        <p:spPr>
          <a:xfrm xmlns:a="http://schemas.openxmlformats.org/drawingml/2006/main" rot="0">
            <a:off x="7242456" y="2964002"/>
            <a:ext cx="221203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Build-and-test volume</a:t>
            </a:r>
          </a:p>
        </p:txBody>
      </p:sp>
      <p:sp>
        <p:nvSpPr>
          <p:cNvPr id="13" name="Figure 10 label 12 line 1">
            <a:extLst xmlns:a="http://schemas.openxmlformats.org/drawingml/2006/main">
              <a:ext uri="{FF2B5EF4-FFF2-40B4-BE49-F238E27FC236}">
                <a16:creationId xmlns:a16="http://schemas.microsoft.com/office/drawing/2014/main" id="{830C5B8B-5787-4A37-AECB-DB1AD28AEBD5}"/>
              </a:ext>
            </a:extLst>
          </p:cNvPr>
          <p:cNvSpPr>
            <a:spLocks xmlns:a="http://schemas.openxmlformats.org/drawingml/2006/main" noGrp="1"/>
          </p:cNvSpPr>
          <p:nvPr/>
        </p:nvSpPr>
        <p:spPr>
          <a:xfrm xmlns:a="http://schemas.openxmlformats.org/drawingml/2006/main" rot="0">
            <a:off x="7503654" y="3750980"/>
            <a:ext cx="1689636"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More funded projects</a:t>
            </a:r>
          </a:p>
        </p:txBody>
      </p:sp>
      <p:sp>
        <p:nvSpPr>
          <p:cNvPr id="14" name="Figure 10 label 13 line 1">
            <a:extLst xmlns:a="http://schemas.openxmlformats.org/drawingml/2006/main">
              <a:ext uri="{FF2B5EF4-FFF2-40B4-BE49-F238E27FC236}">
                <a16:creationId xmlns:a16="http://schemas.microsoft.com/office/drawing/2014/main" id="{695B3C9A-5616-4E09-BD17-9AAB296EA517}"/>
              </a:ext>
            </a:extLst>
          </p:cNvPr>
          <p:cNvSpPr>
            <a:spLocks xmlns:a="http://schemas.openxmlformats.org/drawingml/2006/main" noGrp="1"/>
          </p:cNvSpPr>
          <p:nvPr/>
        </p:nvSpPr>
        <p:spPr>
          <a:xfrm xmlns:a="http://schemas.openxmlformats.org/drawingml/2006/main" rot="0">
            <a:off x="10522844" y="2964002"/>
            <a:ext cx="1759446"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FFFFFF"/>
                </a:solidFill>
                <a:latin typeface="Arial Unicode MS"/>
                <a:ea typeface="Arial Unicode MS"/>
                <a:cs typeface="Arial Unicode MS"/>
              </a:defRPr>
            </a:defPPr>
          </a:lstStyle>
          <a:p xmlns:a="http://schemas.openxmlformats.org/drawingml/2006/main">
            <a:pPr algn="ctr">
              <a:lnSpc>
                <a:spcPct val="100000"/>
              </a:lnSpc>
              <a:buNone/>
              <a:defRPr sz="1688" b="1">
                <a:solidFill>
                  <a:srgbClr val="FFFFFF"/>
                </a:solidFill>
                <a:latin typeface="Arial Unicode MS"/>
                <a:ea typeface="Arial Unicode MS"/>
                <a:cs typeface="Arial Unicode MS"/>
              </a:defRPr>
            </a:pPr>
            <a:r>
              <a:rPr sz="1688" b="1">
                <a:solidFill>
                  <a:srgbClr val="FFFFFF"/>
                </a:solidFill>
                <a:latin typeface="Arial Unicode MS"/>
                <a:ea typeface="Arial Unicode MS"/>
                <a:cs typeface="Arial Unicode MS"/>
              </a:rPr>
              <a:t>Net LST demand</a:t>
            </a:r>
          </a:p>
        </p:txBody>
      </p:sp>
      <p:sp>
        <p:nvSpPr>
          <p:cNvPr id="15" name="Figure 10 label 14 line 1">
            <a:extLst xmlns:a="http://schemas.openxmlformats.org/drawingml/2006/main">
              <a:ext uri="{FF2B5EF4-FFF2-40B4-BE49-F238E27FC236}">
                <a16:creationId xmlns:a16="http://schemas.microsoft.com/office/drawing/2014/main" id="{DDCCDC45-06D5-4A11-BD48-78509731699E}"/>
              </a:ext>
            </a:extLst>
          </p:cNvPr>
          <p:cNvSpPr>
            <a:spLocks xmlns:a="http://schemas.openxmlformats.org/drawingml/2006/main" noGrp="1"/>
          </p:cNvSpPr>
          <p:nvPr/>
        </p:nvSpPr>
        <p:spPr>
          <a:xfrm xmlns:a="http://schemas.openxmlformats.org/drawingml/2006/main" rot="0">
            <a:off x="10429162" y="3750901"/>
            <a:ext cx="1946811"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325" b="0">
                <a:solidFill>
                  <a:srgbClr val="FFFFFF"/>
                </a:solidFill>
                <a:latin typeface="Arial Unicode MS"/>
                <a:ea typeface="Arial Unicode MS"/>
                <a:cs typeface="Arial Unicode MS"/>
              </a:defRPr>
            </a:pPr>
            <a:r>
              <a:rPr sz="1325" b="0">
                <a:solidFill>
                  <a:srgbClr val="FFFFFF"/>
                </a:solidFill>
                <a:latin typeface="Arial Unicode MS"/>
                <a:ea typeface="Arial Unicode MS"/>
                <a:cs typeface="Arial Unicode MS"/>
              </a:rPr>
              <a:t>Intensity + ASP adjusted</a:t>
            </a:r>
          </a:p>
        </p:txBody>
      </p:sp>
      <p:sp>
        <p:nvSpPr>
          <p:cNvPr id="16" name="Figure 10 label 15 line 1">
            <a:extLst xmlns:a="http://schemas.openxmlformats.org/drawingml/2006/main">
              <a:ext uri="{FF2B5EF4-FFF2-40B4-BE49-F238E27FC236}">
                <a16:creationId xmlns:a16="http://schemas.microsoft.com/office/drawing/2014/main" id="{60C60247-0EE1-4669-AAD3-A2682A2BA60F}"/>
              </a:ext>
            </a:extLst>
          </p:cNvPr>
          <p:cNvSpPr>
            <a:spLocks xmlns:a="http://schemas.openxmlformats.org/drawingml/2006/main" noGrp="1"/>
          </p:cNvSpPr>
          <p:nvPr/>
        </p:nvSpPr>
        <p:spPr>
          <a:xfrm xmlns:a="http://schemas.openxmlformats.org/drawingml/2006/main" rot="0">
            <a:off x="13926566" y="2359405"/>
            <a:ext cx="158958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Direct demand</a:t>
            </a:r>
          </a:p>
        </p:txBody>
      </p:sp>
      <p:sp>
        <p:nvSpPr>
          <p:cNvPr id="17" name="Figure 10 label 16 line 1">
            <a:extLst xmlns:a="http://schemas.openxmlformats.org/drawingml/2006/main">
              <a:ext uri="{FF2B5EF4-FFF2-40B4-BE49-F238E27FC236}">
                <a16:creationId xmlns:a16="http://schemas.microsoft.com/office/drawing/2014/main" id="{8E0D6F0D-F253-45C7-95E0-20D975915972}"/>
              </a:ext>
            </a:extLst>
          </p:cNvPr>
          <p:cNvSpPr>
            <a:spLocks xmlns:a="http://schemas.openxmlformats.org/drawingml/2006/main" noGrp="1"/>
          </p:cNvSpPr>
          <p:nvPr/>
        </p:nvSpPr>
        <p:spPr>
          <a:xfrm xmlns:a="http://schemas.openxmlformats.org/drawingml/2006/main" rot="0">
            <a:off x="13928598" y="2863125"/>
            <a:ext cx="22557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Assays, automation labware</a:t>
            </a:r>
          </a:p>
        </p:txBody>
      </p:sp>
      <p:sp>
        <p:nvSpPr>
          <p:cNvPr id="18" name="Figure 10 label 17 line 1">
            <a:extLst xmlns:a="http://schemas.openxmlformats.org/drawingml/2006/main">
              <a:ext uri="{FF2B5EF4-FFF2-40B4-BE49-F238E27FC236}">
                <a16:creationId xmlns:a16="http://schemas.microsoft.com/office/drawing/2014/main" id="{B677F69E-B6ED-4AD0-8ED7-7A32F0B71BBF}"/>
              </a:ext>
            </a:extLst>
          </p:cNvPr>
          <p:cNvSpPr>
            <a:spLocks xmlns:a="http://schemas.openxmlformats.org/drawingml/2006/main" noGrp="1"/>
          </p:cNvSpPr>
          <p:nvPr/>
        </p:nvSpPr>
        <p:spPr>
          <a:xfrm xmlns:a="http://schemas.openxmlformats.org/drawingml/2006/main" rot="0">
            <a:off x="13928598" y="3107755"/>
            <a:ext cx="229400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and chemical building blocks</a:t>
            </a:r>
          </a:p>
        </p:txBody>
      </p:sp>
      <p:sp>
        <p:nvSpPr>
          <p:cNvPr id="19" name="Figure 10 label 18 line 1">
            <a:extLst xmlns:a="http://schemas.openxmlformats.org/drawingml/2006/main">
              <a:ext uri="{FF2B5EF4-FFF2-40B4-BE49-F238E27FC236}">
                <a16:creationId xmlns:a16="http://schemas.microsoft.com/office/drawing/2014/main" id="{A2AE67F6-36DA-49DF-B5AC-210C3CE8AAD4}"/>
              </a:ext>
            </a:extLst>
          </p:cNvPr>
          <p:cNvSpPr>
            <a:spLocks xmlns:a="http://schemas.openxmlformats.org/drawingml/2006/main" noGrp="1"/>
          </p:cNvSpPr>
          <p:nvPr/>
        </p:nvSpPr>
        <p:spPr>
          <a:xfrm xmlns:a="http://schemas.openxmlformats.org/drawingml/2006/main" rot="0">
            <a:off x="13926566" y="4416961"/>
            <a:ext cx="196031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Supply constraints</a:t>
            </a:r>
          </a:p>
        </p:txBody>
      </p:sp>
      <p:sp>
        <p:nvSpPr>
          <p:cNvPr id="20" name="Figure 10 label 19 line 1">
            <a:extLst xmlns:a="http://schemas.openxmlformats.org/drawingml/2006/main">
              <a:ext uri="{FF2B5EF4-FFF2-40B4-BE49-F238E27FC236}">
                <a16:creationId xmlns:a16="http://schemas.microsoft.com/office/drawing/2014/main" id="{305DF3D2-90A3-4687-8A4A-FB6833ACF449}"/>
              </a:ext>
            </a:extLst>
          </p:cNvPr>
          <p:cNvSpPr>
            <a:spLocks xmlns:a="http://schemas.openxmlformats.org/drawingml/2006/main" noGrp="1"/>
          </p:cNvSpPr>
          <p:nvPr/>
        </p:nvSpPr>
        <p:spPr>
          <a:xfrm xmlns:a="http://schemas.openxmlformats.org/drawingml/2006/main" rot="0">
            <a:off x="13928598" y="4922494"/>
            <a:ext cx="2389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Specialty plates / components</a:t>
            </a:r>
          </a:p>
        </p:txBody>
      </p:sp>
      <p:sp>
        <p:nvSpPr>
          <p:cNvPr id="21" name="Figure 10 label 20 line 1">
            <a:extLst xmlns:a="http://schemas.openxmlformats.org/drawingml/2006/main">
              <a:ext uri="{FF2B5EF4-FFF2-40B4-BE49-F238E27FC236}">
                <a16:creationId xmlns:a16="http://schemas.microsoft.com/office/drawing/2014/main" id="{9EC78577-4EAF-428F-A6F1-F2A0EA76F4B2}"/>
              </a:ext>
            </a:extLst>
          </p:cNvPr>
          <p:cNvSpPr>
            <a:spLocks xmlns:a="http://schemas.openxmlformats.org/drawingml/2006/main" noGrp="1"/>
          </p:cNvSpPr>
          <p:nvPr/>
        </p:nvSpPr>
        <p:spPr>
          <a:xfrm xmlns:a="http://schemas.openxmlformats.org/drawingml/2006/main" rot="0">
            <a:off x="13928598" y="5167124"/>
            <a:ext cx="2513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Expansion limits need evidence</a:t>
            </a:r>
          </a:p>
        </p:txBody>
      </p:sp>
      <p:sp>
        <p:nvSpPr>
          <p:cNvPr id="22" name="Figure 10 label 21 line 1">
            <a:extLst xmlns:a="http://schemas.openxmlformats.org/drawingml/2006/main">
              <a:ext uri="{FF2B5EF4-FFF2-40B4-BE49-F238E27FC236}">
                <a16:creationId xmlns:a16="http://schemas.microsoft.com/office/drawing/2014/main" id="{5BC906C8-CEBE-42BC-8DAA-7D10EB004466}"/>
              </a:ext>
            </a:extLst>
          </p:cNvPr>
          <p:cNvSpPr>
            <a:spLocks xmlns:a="http://schemas.openxmlformats.org/drawingml/2006/main" noGrp="1"/>
          </p:cNvSpPr>
          <p:nvPr/>
        </p:nvSpPr>
        <p:spPr>
          <a:xfrm xmlns:a="http://schemas.openxmlformats.org/drawingml/2006/main" rot="0">
            <a:off x="13926566" y="6474205"/>
            <a:ext cx="187414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Listed candidates</a:t>
            </a:r>
          </a:p>
        </p:txBody>
      </p:sp>
      <p:sp>
        <p:nvSpPr>
          <p:cNvPr id="23" name="Figure 10 label 22 line 1">
            <a:extLst xmlns:a="http://schemas.openxmlformats.org/drawingml/2006/main">
              <a:ext uri="{FF2B5EF4-FFF2-40B4-BE49-F238E27FC236}">
                <a16:creationId xmlns:a16="http://schemas.microsoft.com/office/drawing/2014/main" id="{CDEAB24C-F2E6-4E3F-B37C-CAAF8C368581}"/>
              </a:ext>
            </a:extLst>
          </p:cNvPr>
          <p:cNvSpPr>
            <a:spLocks xmlns:a="http://schemas.openxmlformats.org/drawingml/2006/main" noGrp="1"/>
          </p:cNvSpPr>
          <p:nvPr/>
        </p:nvSpPr>
        <p:spPr>
          <a:xfrm xmlns:a="http://schemas.openxmlformats.org/drawingml/2006/main" rot="0">
            <a:off x="13928598" y="6977194"/>
            <a:ext cx="268408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ACRO, Vazyme, Sino, NanoMicro</a:t>
            </a:r>
          </a:p>
        </p:txBody>
      </p:sp>
      <p:sp>
        <p:nvSpPr>
          <p:cNvPr id="24" name="Figure 10 label 23 line 1">
            <a:extLst xmlns:a="http://schemas.openxmlformats.org/drawingml/2006/main">
              <a:ext uri="{FF2B5EF4-FFF2-40B4-BE49-F238E27FC236}">
                <a16:creationId xmlns:a16="http://schemas.microsoft.com/office/drawing/2014/main" id="{483A50AF-0E13-4F30-9D39-EEED438F3E4A}"/>
              </a:ext>
            </a:extLst>
          </p:cNvPr>
          <p:cNvSpPr>
            <a:spLocks xmlns:a="http://schemas.openxmlformats.org/drawingml/2006/main" noGrp="1"/>
          </p:cNvSpPr>
          <p:nvPr/>
        </p:nvSpPr>
        <p:spPr>
          <a:xfrm xmlns:a="http://schemas.openxmlformats.org/drawingml/2006/main" rot="0">
            <a:off x="13928598" y="7225376"/>
            <a:ext cx="22560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JET, Changhong and others</a:t>
            </a:r>
          </a:p>
        </p:txBody>
      </p:sp>
      <p:sp>
        <p:nvSpPr>
          <p:cNvPr id="25" name="Figure 10 label 24 line 1">
            <a:extLst xmlns:a="http://schemas.openxmlformats.org/drawingml/2006/main">
              <a:ext uri="{FF2B5EF4-FFF2-40B4-BE49-F238E27FC236}">
                <a16:creationId xmlns:a16="http://schemas.microsoft.com/office/drawing/2014/main" id="{EFFD58EB-4D0F-4A78-92D6-64F13E7EA73B}"/>
              </a:ext>
            </a:extLst>
          </p:cNvPr>
          <p:cNvSpPr>
            <a:spLocks xmlns:a="http://schemas.openxmlformats.org/drawingml/2006/main" noGrp="1"/>
          </p:cNvSpPr>
          <p:nvPr/>
        </p:nvSpPr>
        <p:spPr>
          <a:xfrm xmlns:a="http://schemas.openxmlformats.org/drawingml/2006/main" rot="0">
            <a:off x="1326134" y="5682106"/>
            <a:ext cx="3356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Evidence is needed at each step</a:t>
            </a:r>
          </a:p>
        </p:txBody>
      </p:sp>
      <p:sp>
        <p:nvSpPr>
          <p:cNvPr id="26" name="Figure 10 label 25 line 1">
            <a:extLst xmlns:a="http://schemas.openxmlformats.org/drawingml/2006/main">
              <a:ext uri="{FF2B5EF4-FFF2-40B4-BE49-F238E27FC236}">
                <a16:creationId xmlns:a16="http://schemas.microsoft.com/office/drawing/2014/main" id="{A3BE82E5-9870-4B7D-9BE3-6004E89EE25C}"/>
              </a:ext>
            </a:extLst>
          </p:cNvPr>
          <p:cNvSpPr>
            <a:spLocks xmlns:a="http://schemas.openxmlformats.org/drawingml/2006/main" noGrp="1"/>
          </p:cNvSpPr>
          <p:nvPr/>
        </p:nvSpPr>
        <p:spPr>
          <a:xfrm xmlns:a="http://schemas.openxmlformats.org/drawingml/2006/main" rot="0">
            <a:off x="1327404" y="6158944"/>
            <a:ext cx="67682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Customer budgets → orders / repeat purchases → net consumption → utilization</a:t>
            </a:r>
          </a:p>
        </p:txBody>
      </p:sp>
      <p:sp>
        <p:nvSpPr>
          <p:cNvPr id="27" name="Figure 10 label 26 line 1">
            <a:extLst xmlns:a="http://schemas.openxmlformats.org/drawingml/2006/main">
              <a:ext uri="{FF2B5EF4-FFF2-40B4-BE49-F238E27FC236}">
                <a16:creationId xmlns:a16="http://schemas.microsoft.com/office/drawing/2014/main" id="{0393D5C2-67C6-417C-9867-A4A333E29BFB}"/>
              </a:ext>
            </a:extLst>
          </p:cNvPr>
          <p:cNvSpPr>
            <a:spLocks xmlns:a="http://schemas.openxmlformats.org/drawingml/2006/main" noGrp="1"/>
          </p:cNvSpPr>
          <p:nvPr/>
        </p:nvSpPr>
        <p:spPr>
          <a:xfrm xmlns:a="http://schemas.openxmlformats.org/drawingml/2006/main" rot="0">
            <a:off x="1327404" y="6462437"/>
            <a:ext cx="697944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 company share → recurring profit / free cash flow → growth priced into the stock</a:t>
            </a:r>
          </a:p>
        </p:txBody>
      </p:sp>
      <p:sp>
        <p:nvSpPr>
          <p:cNvPr id="28" name="Figure 10 label 27 line 1">
            <a:extLst xmlns:a="http://schemas.openxmlformats.org/drawingml/2006/main">
              <a:ext uri="{FF2B5EF4-FFF2-40B4-BE49-F238E27FC236}">
                <a16:creationId xmlns:a16="http://schemas.microsoft.com/office/drawing/2014/main" id="{0D02116C-3F32-4965-A46C-D8E67134D33C}"/>
              </a:ext>
            </a:extLst>
          </p:cNvPr>
          <p:cNvSpPr>
            <a:spLocks xmlns:a="http://schemas.openxmlformats.org/drawingml/2006/main" noGrp="1"/>
          </p:cNvSpPr>
          <p:nvPr/>
        </p:nvSpPr>
        <p:spPr>
          <a:xfrm xmlns:a="http://schemas.openxmlformats.org/drawingml/2006/main" rot="0">
            <a:off x="4743896" y="8371852"/>
            <a:ext cx="880020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Experimental relevance  ∩  Evidenced supply constraints  ∩  Global customer access</a:t>
            </a:r>
          </a:p>
        </p:txBody>
      </p:sp>
    </p:spTree>
    <p:extLst>
      <p:ext uri="{BB962C8B-B14F-4D97-AF65-F5344CB8AC3E}">
        <p14:creationId xmlns:p14="http://schemas.microsoft.com/office/powerpoint/2010/main" val="19816995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99F4F51A-5D12-492B-8C94-15146A58F8CB}"/>
              </a:ext>
            </a:extLst>
          </p:cNvPr>
          <p:cNvPicPr>
            <a:picLocks xmlns:a="http://schemas.openxmlformats.org/drawingml/2006/main" noChangeAspect="1"/>
          </p:cNvPicPr>
          <p:nvPr/>
        </p:nvPicPr>
        <p:blipFill>
          <a:blip xmlns:r="http://schemas.openxmlformats.org/officeDocument/2006/relationships" xmlns:a="http://schemas.openxmlformats.org/drawingml/2006/main" r:embed="Rb2492dd471c54db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1 label 1 line 1">
            <a:extLst xmlns:a="http://schemas.openxmlformats.org/drawingml/2006/main">
              <a:ext uri="{FF2B5EF4-FFF2-40B4-BE49-F238E27FC236}">
                <a16:creationId xmlns:a16="http://schemas.microsoft.com/office/drawing/2014/main" id="{F9BEC91C-4AB9-4B6E-91C6-CFC78FB2F56B}"/>
              </a:ext>
            </a:extLst>
          </p:cNvPr>
          <p:cNvSpPr>
            <a:spLocks xmlns:a="http://schemas.openxmlformats.org/drawingml/2006/main" noGrp="1"/>
          </p:cNvSpPr>
          <p:nvPr/>
        </p:nvSpPr>
        <p:spPr>
          <a:xfrm xmlns:a="http://schemas.openxmlformats.org/drawingml/2006/main" rot="0">
            <a:off x="982599" y="311277"/>
            <a:ext cx="10950416"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AI discovery: workflows, evidence and sensitivities</a:t>
            </a:r>
          </a:p>
        </p:txBody>
      </p:sp>
      <p:sp>
        <p:nvSpPr>
          <p:cNvPr id="3" name="Figure 11 label 2 line 1">
            <a:extLst xmlns:a="http://schemas.openxmlformats.org/drawingml/2006/main">
              <a:ext uri="{FF2B5EF4-FFF2-40B4-BE49-F238E27FC236}">
                <a16:creationId xmlns:a16="http://schemas.microsoft.com/office/drawing/2014/main" id="{9C8EB27D-A941-4BFD-885D-85F6B52442D5}"/>
              </a:ext>
            </a:extLst>
          </p:cNvPr>
          <p:cNvSpPr>
            <a:spLocks xmlns:a="http://schemas.openxmlformats.org/drawingml/2006/main" noGrp="1"/>
          </p:cNvSpPr>
          <p:nvPr/>
        </p:nvSpPr>
        <p:spPr>
          <a:xfrm xmlns:a="http://schemas.openxmlformats.org/drawingml/2006/main" rot="0">
            <a:off x="1000887" y="1050989"/>
            <a:ext cx="1065085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lnSpc>
                <a:spcPct val="100000"/>
              </a:lnSpc>
              <a:buNone/>
              <a:defRPr sz="1725" b="0">
                <a:solidFill>
                  <a:srgbClr val="00355F"/>
                </a:solidFill>
                <a:latin typeface="Arial"/>
                <a:ea typeface="Arial"/>
                <a:cs typeface="Arial"/>
              </a:defRPr>
            </a:pPr>
            <a:r>
              <a:rPr sz="1725" b="0">
                <a:solidFill>
                  <a:srgbClr val="00355F"/>
                </a:solidFill>
                <a:latin typeface="Arial"/>
                <a:ea typeface="Arial"/>
                <a:cs typeface="Arial"/>
              </a:rPr>
              <a:t>Modalities use different units. Workload sensitivities and historical clinical benchmarks are shown separately.</a:t>
            </a:r>
          </a:p>
        </p:txBody>
      </p:sp>
      <p:sp>
        <p:nvSpPr>
          <p:cNvPr id="4" name="Figure 11 label 3 line 1">
            <a:extLst xmlns:a="http://schemas.openxmlformats.org/drawingml/2006/main">
              <a:ext uri="{FF2B5EF4-FFF2-40B4-BE49-F238E27FC236}">
                <a16:creationId xmlns:a16="http://schemas.microsoft.com/office/drawing/2014/main" id="{2338C1FD-E38B-406E-90DD-1BCFA2D7343F}"/>
              </a:ext>
            </a:extLst>
          </p:cNvPr>
          <p:cNvSpPr>
            <a:spLocks xmlns:a="http://schemas.openxmlformats.org/drawingml/2006/main" noGrp="1"/>
          </p:cNvSpPr>
          <p:nvPr/>
        </p:nvSpPr>
        <p:spPr>
          <a:xfrm xmlns:a="http://schemas.openxmlformats.org/drawingml/2006/main" rot="0">
            <a:off x="888492" y="2372392"/>
            <a:ext cx="68934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STAGE</a:t>
            </a:r>
          </a:p>
        </p:txBody>
      </p:sp>
      <p:sp>
        <p:nvSpPr>
          <p:cNvPr id="5" name="Figure 11 label 4 line 1">
            <a:extLst xmlns:a="http://schemas.openxmlformats.org/drawingml/2006/main">
              <a:ext uri="{FF2B5EF4-FFF2-40B4-BE49-F238E27FC236}">
                <a16:creationId xmlns:a16="http://schemas.microsoft.com/office/drawing/2014/main" id="{5428FF7C-8236-415A-A90D-E65EDFBC89D6}"/>
              </a:ext>
            </a:extLst>
          </p:cNvPr>
          <p:cNvSpPr>
            <a:spLocks xmlns:a="http://schemas.openxmlformats.org/drawingml/2006/main" noGrp="1"/>
          </p:cNvSpPr>
          <p:nvPr/>
        </p:nvSpPr>
        <p:spPr>
          <a:xfrm xmlns:a="http://schemas.openxmlformats.org/drawingml/2006/main" rot="0">
            <a:off x="5568717" y="2372392"/>
            <a:ext cx="147366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BEFORE GEN-AI</a:t>
            </a:r>
          </a:p>
        </p:txBody>
      </p:sp>
      <p:sp>
        <p:nvSpPr>
          <p:cNvPr id="6" name="Figure 11 label 5 line 1">
            <a:extLst xmlns:a="http://schemas.openxmlformats.org/drawingml/2006/main">
              <a:ext uri="{FF2B5EF4-FFF2-40B4-BE49-F238E27FC236}">
                <a16:creationId xmlns:a16="http://schemas.microsoft.com/office/drawing/2014/main" id="{8BBC4A21-E7DD-4C15-8659-376EEE565E9E}"/>
              </a:ext>
            </a:extLst>
          </p:cNvPr>
          <p:cNvSpPr>
            <a:spLocks xmlns:a="http://schemas.openxmlformats.org/drawingml/2006/main" noGrp="1"/>
          </p:cNvSpPr>
          <p:nvPr/>
        </p:nvSpPr>
        <p:spPr>
          <a:xfrm xmlns:a="http://schemas.openxmlformats.org/drawingml/2006/main" rot="0">
            <a:off x="8602429" y="2372392"/>
            <a:ext cx="150224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AI MECHANISMS</a:t>
            </a:r>
          </a:p>
        </p:txBody>
      </p:sp>
      <p:sp>
        <p:nvSpPr>
          <p:cNvPr id="7" name="Figure 11 label 6 line 1">
            <a:extLst xmlns:a="http://schemas.openxmlformats.org/drawingml/2006/main">
              <a:ext uri="{FF2B5EF4-FFF2-40B4-BE49-F238E27FC236}">
                <a16:creationId xmlns:a16="http://schemas.microsoft.com/office/drawing/2014/main" id="{C23F9EF1-AFBE-4C63-A65D-5FD81CD321C6}"/>
              </a:ext>
            </a:extLst>
          </p:cNvPr>
          <p:cNvSpPr>
            <a:spLocks xmlns:a="http://schemas.openxmlformats.org/drawingml/2006/main" noGrp="1"/>
          </p:cNvSpPr>
          <p:nvPr/>
        </p:nvSpPr>
        <p:spPr>
          <a:xfrm xmlns:a="http://schemas.openxmlformats.org/drawingml/2006/main" rot="0">
            <a:off x="11127867" y="2372392"/>
            <a:ext cx="151786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WHAT CHANGES</a:t>
            </a:r>
          </a:p>
        </p:txBody>
      </p:sp>
      <p:sp>
        <p:nvSpPr>
          <p:cNvPr id="8" name="Figure 11 label 7 line 1">
            <a:extLst xmlns:a="http://schemas.openxmlformats.org/drawingml/2006/main">
              <a:ext uri="{FF2B5EF4-FFF2-40B4-BE49-F238E27FC236}">
                <a16:creationId xmlns:a16="http://schemas.microsoft.com/office/drawing/2014/main" id="{492102F9-608D-4A5C-95AB-E5CF358322C9}"/>
              </a:ext>
            </a:extLst>
          </p:cNvPr>
          <p:cNvSpPr>
            <a:spLocks xmlns:a="http://schemas.openxmlformats.org/drawingml/2006/main" noGrp="1"/>
          </p:cNvSpPr>
          <p:nvPr/>
        </p:nvSpPr>
        <p:spPr>
          <a:xfrm xmlns:a="http://schemas.openxmlformats.org/drawingml/2006/main" rot="0">
            <a:off x="886968" y="3224498"/>
            <a:ext cx="2205811"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Virtual search / design</a:t>
            </a:r>
          </a:p>
        </p:txBody>
      </p:sp>
      <p:sp>
        <p:nvSpPr>
          <p:cNvPr id="9" name="Figure 11 label 8 line 1">
            <a:extLst xmlns:a="http://schemas.openxmlformats.org/drawingml/2006/main">
              <a:ext uri="{FF2B5EF4-FFF2-40B4-BE49-F238E27FC236}">
                <a16:creationId xmlns:a16="http://schemas.microsoft.com/office/drawing/2014/main" id="{6224032C-19E3-4131-84A5-B3F78ECDC82C}"/>
              </a:ext>
            </a:extLst>
          </p:cNvPr>
          <p:cNvSpPr>
            <a:spLocks xmlns:a="http://schemas.openxmlformats.org/drawingml/2006/main" noGrp="1"/>
          </p:cNvSpPr>
          <p:nvPr/>
        </p:nvSpPr>
        <p:spPr>
          <a:xfrm xmlns:a="http://schemas.openxmlformats.org/drawingml/2006/main" rot="0">
            <a:off x="5602233" y="3064764"/>
            <a:ext cx="14066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Large virtual</a:t>
            </a:r>
          </a:p>
        </p:txBody>
      </p:sp>
      <p:sp>
        <p:nvSpPr>
          <p:cNvPr id="10" name="Figure 11 label 8 line 2">
            <a:extLst xmlns:a="http://schemas.openxmlformats.org/drawingml/2006/main">
              <a:ext uri="{FF2B5EF4-FFF2-40B4-BE49-F238E27FC236}">
                <a16:creationId xmlns:a16="http://schemas.microsoft.com/office/drawing/2014/main" id="{9EEACF2F-03D9-4AE7-B4A5-50A09336103F}"/>
              </a:ext>
            </a:extLst>
          </p:cNvPr>
          <p:cNvSpPr>
            <a:spLocks xmlns:a="http://schemas.openxmlformats.org/drawingml/2006/main" noGrp="1"/>
          </p:cNvSpPr>
          <p:nvPr/>
        </p:nvSpPr>
        <p:spPr>
          <a:xfrm xmlns:a="http://schemas.openxmlformats.org/drawingml/2006/main" rot="0">
            <a:off x="5602233" y="3350514"/>
            <a:ext cx="14066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libraries</a:t>
            </a:r>
          </a:p>
        </p:txBody>
      </p:sp>
      <p:sp>
        <p:nvSpPr>
          <p:cNvPr id="11" name="Figure 11 label 9 line 1">
            <a:extLst xmlns:a="http://schemas.openxmlformats.org/drawingml/2006/main">
              <a:ext uri="{FF2B5EF4-FFF2-40B4-BE49-F238E27FC236}">
                <a16:creationId xmlns:a16="http://schemas.microsoft.com/office/drawing/2014/main" id="{BA44FA24-2DC2-4AF5-AB84-7D7E85EC51C1}"/>
              </a:ext>
            </a:extLst>
          </p:cNvPr>
          <p:cNvSpPr>
            <a:spLocks xmlns:a="http://schemas.openxmlformats.org/drawingml/2006/main" noGrp="1"/>
          </p:cNvSpPr>
          <p:nvPr/>
        </p:nvSpPr>
        <p:spPr>
          <a:xfrm xmlns:a="http://schemas.openxmlformats.org/drawingml/2006/main" rot="0">
            <a:off x="8824957" y="3064764"/>
            <a:ext cx="10571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Quality +</a:t>
            </a:r>
          </a:p>
        </p:txBody>
      </p:sp>
      <p:sp>
        <p:nvSpPr>
          <p:cNvPr id="12" name="Figure 11 label 9 line 2">
            <a:extLst xmlns:a="http://schemas.openxmlformats.org/drawingml/2006/main">
              <a:ext uri="{FF2B5EF4-FFF2-40B4-BE49-F238E27FC236}">
                <a16:creationId xmlns:a16="http://schemas.microsoft.com/office/drawing/2014/main" id="{2D4FC3AC-0160-4835-9292-90B6A6AD8CB8}"/>
              </a:ext>
            </a:extLst>
          </p:cNvPr>
          <p:cNvSpPr>
            <a:spLocks xmlns:a="http://schemas.openxmlformats.org/drawingml/2006/main" noGrp="1"/>
          </p:cNvSpPr>
          <p:nvPr/>
        </p:nvSpPr>
        <p:spPr>
          <a:xfrm xmlns:a="http://schemas.openxmlformats.org/drawingml/2006/main" rot="0">
            <a:off x="8824957" y="3350514"/>
            <a:ext cx="10571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selection</a:t>
            </a:r>
          </a:p>
        </p:txBody>
      </p:sp>
      <p:sp>
        <p:nvSpPr>
          <p:cNvPr id="13" name="Figure 11 label 10 line 1">
            <a:extLst xmlns:a="http://schemas.openxmlformats.org/drawingml/2006/main">
              <a:ext uri="{FF2B5EF4-FFF2-40B4-BE49-F238E27FC236}">
                <a16:creationId xmlns:a16="http://schemas.microsoft.com/office/drawing/2014/main" id="{BE2544E6-81B2-4CF2-885F-E5A8C7CFB4ED}"/>
              </a:ext>
            </a:extLst>
          </p:cNvPr>
          <p:cNvSpPr>
            <a:spLocks xmlns:a="http://schemas.openxmlformats.org/drawingml/2006/main" noGrp="1"/>
          </p:cNvSpPr>
          <p:nvPr/>
        </p:nvSpPr>
        <p:spPr>
          <a:xfrm xmlns:a="http://schemas.openxmlformats.org/drawingml/2006/main" rot="0">
            <a:off x="11126343" y="3093529"/>
            <a:ext cx="5657284"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Large libraries predate generative AI.</a:t>
            </a:r>
          </a:p>
        </p:txBody>
      </p:sp>
      <p:sp>
        <p:nvSpPr>
          <p:cNvPr id="14" name="Figure 11 label 10 line 2">
            <a:extLst xmlns:a="http://schemas.openxmlformats.org/drawingml/2006/main">
              <a:ext uri="{FF2B5EF4-FFF2-40B4-BE49-F238E27FC236}">
                <a16:creationId xmlns:a16="http://schemas.microsoft.com/office/drawing/2014/main" id="{DAB485CE-FCD8-45E6-B131-09F93F43D717}"/>
              </a:ext>
            </a:extLst>
          </p:cNvPr>
          <p:cNvSpPr>
            <a:spLocks xmlns:a="http://schemas.openxmlformats.org/drawingml/2006/main" noGrp="1"/>
          </p:cNvSpPr>
          <p:nvPr/>
        </p:nvSpPr>
        <p:spPr>
          <a:xfrm xmlns:a="http://schemas.openxmlformats.org/drawingml/2006/main" rot="0">
            <a:off x="11126343" y="3355467"/>
            <a:ext cx="5657284"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The investment mechanism is better selection and learning.</a:t>
            </a:r>
          </a:p>
        </p:txBody>
      </p:sp>
      <p:sp>
        <p:nvSpPr>
          <p:cNvPr id="15" name="Figure 11 label 11 line 1">
            <a:extLst xmlns:a="http://schemas.openxmlformats.org/drawingml/2006/main">
              <a:ext uri="{FF2B5EF4-FFF2-40B4-BE49-F238E27FC236}">
                <a16:creationId xmlns:a16="http://schemas.microsoft.com/office/drawing/2014/main" id="{94B59DA3-2EAD-4E01-9DD0-907227A529F1}"/>
              </a:ext>
            </a:extLst>
          </p:cNvPr>
          <p:cNvSpPr>
            <a:spLocks xmlns:a="http://schemas.openxmlformats.org/drawingml/2006/main" noGrp="1"/>
          </p:cNvSpPr>
          <p:nvPr/>
        </p:nvSpPr>
        <p:spPr>
          <a:xfrm xmlns:a="http://schemas.openxmlformats.org/drawingml/2006/main" rot="0">
            <a:off x="886968" y="4277011"/>
            <a:ext cx="1755011"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Physical samples</a:t>
            </a:r>
          </a:p>
        </p:txBody>
      </p:sp>
      <p:sp>
        <p:nvSpPr>
          <p:cNvPr id="16" name="Figure 11 label 12 line 1">
            <a:extLst xmlns:a="http://schemas.openxmlformats.org/drawingml/2006/main">
              <a:ext uri="{FF2B5EF4-FFF2-40B4-BE49-F238E27FC236}">
                <a16:creationId xmlns:a16="http://schemas.microsoft.com/office/drawing/2014/main" id="{EA0FF7FE-06BB-41F8-B1C4-322AFDF5E241}"/>
              </a:ext>
            </a:extLst>
          </p:cNvPr>
          <p:cNvSpPr>
            <a:spLocks xmlns:a="http://schemas.openxmlformats.org/drawingml/2006/main" noGrp="1"/>
          </p:cNvSpPr>
          <p:nvPr/>
        </p:nvSpPr>
        <p:spPr>
          <a:xfrm xmlns:a="http://schemas.openxmlformats.org/drawingml/2006/main" rot="0">
            <a:off x="5754856" y="4117277"/>
            <a:ext cx="11013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Program-</a:t>
            </a:r>
          </a:p>
        </p:txBody>
      </p:sp>
      <p:sp>
        <p:nvSpPr>
          <p:cNvPr id="17" name="Figure 11 label 12 line 2">
            <a:extLst xmlns:a="http://schemas.openxmlformats.org/drawingml/2006/main">
              <a:ext uri="{FF2B5EF4-FFF2-40B4-BE49-F238E27FC236}">
                <a16:creationId xmlns:a16="http://schemas.microsoft.com/office/drawing/2014/main" id="{8C548711-9100-439F-8FE1-6B450F59D183}"/>
              </a:ext>
            </a:extLst>
          </p:cNvPr>
          <p:cNvSpPr>
            <a:spLocks xmlns:a="http://schemas.openxmlformats.org/drawingml/2006/main" noGrp="1"/>
          </p:cNvSpPr>
          <p:nvPr/>
        </p:nvSpPr>
        <p:spPr>
          <a:xfrm xmlns:a="http://schemas.openxmlformats.org/drawingml/2006/main" rot="0">
            <a:off x="5754856" y="4403027"/>
            <a:ext cx="11013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specific</a:t>
            </a:r>
          </a:p>
        </p:txBody>
      </p:sp>
      <p:sp>
        <p:nvSpPr>
          <p:cNvPr id="18" name="Figure 11 label 13 line 1">
            <a:extLst xmlns:a="http://schemas.openxmlformats.org/drawingml/2006/main">
              <a:ext uri="{FF2B5EF4-FFF2-40B4-BE49-F238E27FC236}">
                <a16:creationId xmlns:a16="http://schemas.microsoft.com/office/drawing/2014/main" id="{18A79C62-B156-41DC-8FED-C33AAD179FBB}"/>
              </a:ext>
            </a:extLst>
          </p:cNvPr>
          <p:cNvSpPr>
            <a:spLocks xmlns:a="http://schemas.openxmlformats.org/drawingml/2006/main" noGrp="1"/>
          </p:cNvSpPr>
          <p:nvPr/>
        </p:nvSpPr>
        <p:spPr>
          <a:xfrm xmlns:a="http://schemas.openxmlformats.org/drawingml/2006/main" rot="0">
            <a:off x="8738934" y="4117277"/>
            <a:ext cx="12292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Modality-</a:t>
            </a:r>
          </a:p>
        </p:txBody>
      </p:sp>
      <p:sp>
        <p:nvSpPr>
          <p:cNvPr id="19" name="Figure 11 label 13 line 2">
            <a:extLst xmlns:a="http://schemas.openxmlformats.org/drawingml/2006/main">
              <a:ext uri="{FF2B5EF4-FFF2-40B4-BE49-F238E27FC236}">
                <a16:creationId xmlns:a16="http://schemas.microsoft.com/office/drawing/2014/main" id="{8CBA3581-2FEC-4D37-8CC9-56DC5D4AF672}"/>
              </a:ext>
            </a:extLst>
          </p:cNvPr>
          <p:cNvSpPr>
            <a:spLocks xmlns:a="http://schemas.openxmlformats.org/drawingml/2006/main" noGrp="1"/>
          </p:cNvSpPr>
          <p:nvPr/>
        </p:nvSpPr>
        <p:spPr>
          <a:xfrm xmlns:a="http://schemas.openxmlformats.org/drawingml/2006/main" rot="0">
            <a:off x="8738934" y="4403027"/>
            <a:ext cx="12292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dependent</a:t>
            </a:r>
          </a:p>
        </p:txBody>
      </p:sp>
      <p:sp>
        <p:nvSpPr>
          <p:cNvPr id="20" name="Figure 11 label 14 line 1">
            <a:extLst xmlns:a="http://schemas.openxmlformats.org/drawingml/2006/main">
              <a:ext uri="{FF2B5EF4-FFF2-40B4-BE49-F238E27FC236}">
                <a16:creationId xmlns:a16="http://schemas.microsoft.com/office/drawing/2014/main" id="{AE85D8B7-CAB7-4C7D-B6D9-18389CB49255}"/>
              </a:ext>
            </a:extLst>
          </p:cNvPr>
          <p:cNvSpPr>
            <a:spLocks xmlns:a="http://schemas.openxmlformats.org/drawingml/2006/main" noGrp="1"/>
          </p:cNvSpPr>
          <p:nvPr/>
        </p:nvSpPr>
        <p:spPr>
          <a:xfrm xmlns:a="http://schemas.openxmlformats.org/drawingml/2006/main" rot="0">
            <a:off x="11126343" y="4146042"/>
            <a:ext cx="545562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Small molecules can need fewer syntheses per program.</a:t>
            </a:r>
          </a:p>
        </p:txBody>
      </p:sp>
      <p:sp>
        <p:nvSpPr>
          <p:cNvPr id="21" name="Figure 11 label 14 line 2">
            <a:extLst xmlns:a="http://schemas.openxmlformats.org/drawingml/2006/main">
              <a:ext uri="{FF2B5EF4-FFF2-40B4-BE49-F238E27FC236}">
                <a16:creationId xmlns:a16="http://schemas.microsoft.com/office/drawing/2014/main" id="{B5DF50C0-1DC2-44E9-9BE1-EE08F20E967E}"/>
              </a:ext>
            </a:extLst>
          </p:cNvPr>
          <p:cNvSpPr>
            <a:spLocks xmlns:a="http://schemas.openxmlformats.org/drawingml/2006/main" noGrp="1"/>
          </p:cNvSpPr>
          <p:nvPr/>
        </p:nvSpPr>
        <p:spPr>
          <a:xfrm xmlns:a="http://schemas.openxmlformats.org/drawingml/2006/main" rot="0">
            <a:off x="11126343" y="4407980"/>
            <a:ext cx="545562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Protein libraries and individual profiling are different units.</a:t>
            </a:r>
          </a:p>
        </p:txBody>
      </p:sp>
      <p:sp>
        <p:nvSpPr>
          <p:cNvPr id="22" name="Figure 11 label 15 line 1">
            <a:extLst xmlns:a="http://schemas.openxmlformats.org/drawingml/2006/main">
              <a:ext uri="{FF2B5EF4-FFF2-40B4-BE49-F238E27FC236}">
                <a16:creationId xmlns:a16="http://schemas.microsoft.com/office/drawing/2014/main" id="{E1384326-8600-43F2-819F-F20879FC68DE}"/>
              </a:ext>
            </a:extLst>
          </p:cNvPr>
          <p:cNvSpPr>
            <a:spLocks xmlns:a="http://schemas.openxmlformats.org/drawingml/2006/main" noGrp="1"/>
          </p:cNvSpPr>
          <p:nvPr/>
        </p:nvSpPr>
        <p:spPr>
          <a:xfrm xmlns:a="http://schemas.openxmlformats.org/drawingml/2006/main" rot="0">
            <a:off x="886968" y="5277136"/>
            <a:ext cx="1731794"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Assay workload</a:t>
            </a:r>
          </a:p>
        </p:txBody>
      </p:sp>
      <p:sp>
        <p:nvSpPr>
          <p:cNvPr id="23" name="Figure 11 label 16 line 1">
            <a:extLst xmlns:a="http://schemas.openxmlformats.org/drawingml/2006/main">
              <a:ext uri="{FF2B5EF4-FFF2-40B4-BE49-F238E27FC236}">
                <a16:creationId xmlns:a16="http://schemas.microsoft.com/office/drawing/2014/main" id="{DA3EE3F9-D244-4A77-80F2-448C26C378C2}"/>
              </a:ext>
            </a:extLst>
          </p:cNvPr>
          <p:cNvSpPr>
            <a:spLocks xmlns:a="http://schemas.openxmlformats.org/drawingml/2006/main" noGrp="1"/>
          </p:cNvSpPr>
          <p:nvPr/>
        </p:nvSpPr>
        <p:spPr>
          <a:xfrm xmlns:a="http://schemas.openxmlformats.org/drawingml/2006/main" rot="0">
            <a:off x="5611758" y="5260277"/>
            <a:ext cx="138758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1">
                <a:solidFill>
                  <a:srgbClr val="00355F"/>
                </a:solidFill>
                <a:latin typeface="Arial"/>
                <a:ea typeface="Arial"/>
                <a:cs typeface="Arial"/>
              </a:defRPr>
            </a:defPPr>
          </a:lstStyle>
          <a:p xmlns:a="http://schemas.openxmlformats.org/drawingml/2006/main">
            <a:pPr algn="ctr">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1× baseline</a:t>
            </a:r>
          </a:p>
        </p:txBody>
      </p:sp>
      <p:sp>
        <p:nvSpPr>
          <p:cNvPr id="24" name="Figure 11 label 17 line 1">
            <a:extLst xmlns:a="http://schemas.openxmlformats.org/drawingml/2006/main">
              <a:ext uri="{FF2B5EF4-FFF2-40B4-BE49-F238E27FC236}">
                <a16:creationId xmlns:a16="http://schemas.microsoft.com/office/drawing/2014/main" id="{D1B5A14D-EE72-43DD-AFBC-75965E775292}"/>
              </a:ext>
            </a:extLst>
          </p:cNvPr>
          <p:cNvSpPr>
            <a:spLocks xmlns:a="http://schemas.openxmlformats.org/drawingml/2006/main" noGrp="1"/>
          </p:cNvSpPr>
          <p:nvPr/>
        </p:nvSpPr>
        <p:spPr>
          <a:xfrm xmlns:a="http://schemas.openxmlformats.org/drawingml/2006/main" rot="0">
            <a:off x="8859783" y="5117402"/>
            <a:ext cx="9875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1">
                <a:solidFill>
                  <a:srgbClr val="00355F"/>
                </a:solidFill>
                <a:latin typeface="Arial"/>
                <a:ea typeface="Arial"/>
                <a:cs typeface="Arial"/>
              </a:defRPr>
            </a:defPPr>
          </a:lstStyle>
          <a:p xmlns:a="http://schemas.openxmlformats.org/drawingml/2006/main">
            <a:pPr algn="ctr">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1× / 2× /</a:t>
            </a:r>
          </a:p>
        </p:txBody>
      </p:sp>
      <p:sp>
        <p:nvSpPr>
          <p:cNvPr id="25" name="Figure 11 label 17 line 2">
            <a:extLst xmlns:a="http://schemas.openxmlformats.org/drawingml/2006/main">
              <a:ext uri="{FF2B5EF4-FFF2-40B4-BE49-F238E27FC236}">
                <a16:creationId xmlns:a16="http://schemas.microsoft.com/office/drawing/2014/main" id="{88A49F21-2DBB-41D6-AFBA-433955A0FE40}"/>
              </a:ext>
            </a:extLst>
          </p:cNvPr>
          <p:cNvSpPr>
            <a:spLocks xmlns:a="http://schemas.openxmlformats.org/drawingml/2006/main" noGrp="1"/>
          </p:cNvSpPr>
          <p:nvPr/>
        </p:nvSpPr>
        <p:spPr>
          <a:xfrm xmlns:a="http://schemas.openxmlformats.org/drawingml/2006/main" rot="0">
            <a:off x="8859783" y="5403152"/>
            <a:ext cx="9875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1">
                <a:solidFill>
                  <a:srgbClr val="00355F"/>
                </a:solidFill>
                <a:latin typeface="Arial"/>
                <a:ea typeface="Arial"/>
                <a:cs typeface="Arial"/>
              </a:defRPr>
            </a:defPPr>
          </a:lstStyle>
          <a:p xmlns:a="http://schemas.openxmlformats.org/drawingml/2006/main">
            <a:pPr algn="ctr">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5× / 10×</a:t>
            </a:r>
          </a:p>
        </p:txBody>
      </p:sp>
      <p:sp>
        <p:nvSpPr>
          <p:cNvPr id="26" name="Figure 11 label 18 line 1">
            <a:extLst xmlns:a="http://schemas.openxmlformats.org/drawingml/2006/main">
              <a:ext uri="{FF2B5EF4-FFF2-40B4-BE49-F238E27FC236}">
                <a16:creationId xmlns:a16="http://schemas.microsoft.com/office/drawing/2014/main" id="{971FF57D-45A8-4E05-BDDE-C8B143D22344}"/>
              </a:ext>
            </a:extLst>
          </p:cNvPr>
          <p:cNvSpPr>
            <a:spLocks xmlns:a="http://schemas.openxmlformats.org/drawingml/2006/main" noGrp="1"/>
          </p:cNvSpPr>
          <p:nvPr/>
        </p:nvSpPr>
        <p:spPr>
          <a:xfrm xmlns:a="http://schemas.openxmlformats.org/drawingml/2006/main" rot="0">
            <a:off x="11126343" y="5146167"/>
            <a:ext cx="588841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Analyst workload sensitivities, not predicted fully profiled</a:t>
            </a:r>
          </a:p>
        </p:txBody>
      </p:sp>
      <p:sp>
        <p:nvSpPr>
          <p:cNvPr id="27" name="Figure 11 label 18 line 2">
            <a:extLst xmlns:a="http://schemas.openxmlformats.org/drawingml/2006/main">
              <a:ext uri="{FF2B5EF4-FFF2-40B4-BE49-F238E27FC236}">
                <a16:creationId xmlns:a16="http://schemas.microsoft.com/office/drawing/2014/main" id="{81307C70-38B3-4173-BECF-CE026CCCE259}"/>
              </a:ext>
            </a:extLst>
          </p:cNvPr>
          <p:cNvSpPr>
            <a:spLocks xmlns:a="http://schemas.openxmlformats.org/drawingml/2006/main" noGrp="1"/>
          </p:cNvSpPr>
          <p:nvPr/>
        </p:nvSpPr>
        <p:spPr>
          <a:xfrm xmlns:a="http://schemas.openxmlformats.org/drawingml/2006/main" rot="0">
            <a:off x="11126343" y="5408105"/>
            <a:ext cx="588841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candidate counts. Include an efficiency/no-growth case.</a:t>
            </a:r>
          </a:p>
        </p:txBody>
      </p:sp>
      <p:sp>
        <p:nvSpPr>
          <p:cNvPr id="28" name="Figure 11 label 19 line 1">
            <a:extLst xmlns:a="http://schemas.openxmlformats.org/drawingml/2006/main">
              <a:ext uri="{FF2B5EF4-FFF2-40B4-BE49-F238E27FC236}">
                <a16:creationId xmlns:a16="http://schemas.microsoft.com/office/drawing/2014/main" id="{C3707377-69D3-4721-928D-6FBFBC21A1BD}"/>
              </a:ext>
            </a:extLst>
          </p:cNvPr>
          <p:cNvSpPr>
            <a:spLocks xmlns:a="http://schemas.openxmlformats.org/drawingml/2006/main" noGrp="1"/>
          </p:cNvSpPr>
          <p:nvPr/>
        </p:nvSpPr>
        <p:spPr>
          <a:xfrm xmlns:a="http://schemas.openxmlformats.org/drawingml/2006/main" rot="0">
            <a:off x="886968" y="6277261"/>
            <a:ext cx="2069783"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Clinical development</a:t>
            </a:r>
          </a:p>
        </p:txBody>
      </p:sp>
      <p:sp>
        <p:nvSpPr>
          <p:cNvPr id="29" name="Figure 11 label 20 line 1">
            <a:extLst xmlns:a="http://schemas.openxmlformats.org/drawingml/2006/main">
              <a:ext uri="{FF2B5EF4-FFF2-40B4-BE49-F238E27FC236}">
                <a16:creationId xmlns:a16="http://schemas.microsoft.com/office/drawing/2014/main" id="{E295D942-75CF-46A2-85E3-5B5F87AFC6EF}"/>
              </a:ext>
            </a:extLst>
          </p:cNvPr>
          <p:cNvSpPr>
            <a:spLocks xmlns:a="http://schemas.openxmlformats.org/drawingml/2006/main" noGrp="1"/>
          </p:cNvSpPr>
          <p:nvPr/>
        </p:nvSpPr>
        <p:spPr>
          <a:xfrm xmlns:a="http://schemas.openxmlformats.org/drawingml/2006/main" rot="0">
            <a:off x="5748457" y="6117527"/>
            <a:ext cx="111418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Phase I</a:t>
            </a:r>
          </a:p>
        </p:txBody>
      </p:sp>
      <p:sp>
        <p:nvSpPr>
          <p:cNvPr id="30" name="Figure 11 label 20 line 2">
            <a:extLst xmlns:a="http://schemas.openxmlformats.org/drawingml/2006/main">
              <a:ext uri="{FF2B5EF4-FFF2-40B4-BE49-F238E27FC236}">
                <a16:creationId xmlns:a16="http://schemas.microsoft.com/office/drawing/2014/main" id="{0EFCE54A-FD24-41F1-9FA7-CAE7FA369A4D}"/>
              </a:ext>
            </a:extLst>
          </p:cNvPr>
          <p:cNvSpPr>
            <a:spLocks xmlns:a="http://schemas.openxmlformats.org/drawingml/2006/main" noGrp="1"/>
          </p:cNvSpPr>
          <p:nvPr/>
        </p:nvSpPr>
        <p:spPr>
          <a:xfrm xmlns:a="http://schemas.openxmlformats.org/drawingml/2006/main" rot="0">
            <a:off x="5748457" y="6403277"/>
            <a:ext cx="111418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programs</a:t>
            </a:r>
          </a:p>
        </p:txBody>
      </p:sp>
      <p:sp>
        <p:nvSpPr>
          <p:cNvPr id="31" name="Figure 11 label 21 line 1">
            <a:extLst xmlns:a="http://schemas.openxmlformats.org/drawingml/2006/main">
              <a:ext uri="{FF2B5EF4-FFF2-40B4-BE49-F238E27FC236}">
                <a16:creationId xmlns:a16="http://schemas.microsoft.com/office/drawing/2014/main" id="{CB97DC79-4E77-4626-9C77-40FAA137E1AC}"/>
              </a:ext>
            </a:extLst>
          </p:cNvPr>
          <p:cNvSpPr>
            <a:spLocks xmlns:a="http://schemas.openxmlformats.org/drawingml/2006/main" noGrp="1"/>
          </p:cNvSpPr>
          <p:nvPr/>
        </p:nvSpPr>
        <p:spPr>
          <a:xfrm xmlns:a="http://schemas.openxmlformats.org/drawingml/2006/main" rot="0">
            <a:off x="8516809" y="6117527"/>
            <a:ext cx="167348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Funded clinical</a:t>
            </a:r>
          </a:p>
        </p:txBody>
      </p:sp>
      <p:sp>
        <p:nvSpPr>
          <p:cNvPr id="32" name="Figure 11 label 21 line 2">
            <a:extLst xmlns:a="http://schemas.openxmlformats.org/drawingml/2006/main">
              <a:ext uri="{FF2B5EF4-FFF2-40B4-BE49-F238E27FC236}">
                <a16:creationId xmlns:a16="http://schemas.microsoft.com/office/drawing/2014/main" id="{79757780-5F79-4B56-B48F-87D13B93F43C}"/>
              </a:ext>
            </a:extLst>
          </p:cNvPr>
          <p:cNvSpPr>
            <a:spLocks xmlns:a="http://schemas.openxmlformats.org/drawingml/2006/main" noGrp="1"/>
          </p:cNvSpPr>
          <p:nvPr/>
        </p:nvSpPr>
        <p:spPr>
          <a:xfrm xmlns:a="http://schemas.openxmlformats.org/drawingml/2006/main" rot="0">
            <a:off x="8516809" y="6403277"/>
            <a:ext cx="167348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programs</a:t>
            </a:r>
          </a:p>
        </p:txBody>
      </p:sp>
      <p:sp>
        <p:nvSpPr>
          <p:cNvPr id="33" name="Figure 11 label 22 line 1">
            <a:extLst xmlns:a="http://schemas.openxmlformats.org/drawingml/2006/main">
              <a:ext uri="{FF2B5EF4-FFF2-40B4-BE49-F238E27FC236}">
                <a16:creationId xmlns:a16="http://schemas.microsoft.com/office/drawing/2014/main" id="{B3C0BF9A-EA05-46B3-9688-155166101437}"/>
              </a:ext>
            </a:extLst>
          </p:cNvPr>
          <p:cNvSpPr>
            <a:spLocks xmlns:a="http://schemas.openxmlformats.org/drawingml/2006/main" noGrp="1"/>
          </p:cNvSpPr>
          <p:nvPr/>
        </p:nvSpPr>
        <p:spPr>
          <a:xfrm xmlns:a="http://schemas.openxmlformats.org/drawingml/2006/main" rot="0">
            <a:off x="11126343" y="6146292"/>
            <a:ext cx="554075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Clinical biology, patients, capital and time remain</a:t>
            </a:r>
          </a:p>
        </p:txBody>
      </p:sp>
      <p:sp>
        <p:nvSpPr>
          <p:cNvPr id="34" name="Figure 11 label 22 line 2">
            <a:extLst xmlns:a="http://schemas.openxmlformats.org/drawingml/2006/main">
              <a:ext uri="{FF2B5EF4-FFF2-40B4-BE49-F238E27FC236}">
                <a16:creationId xmlns:a16="http://schemas.microsoft.com/office/drawing/2014/main" id="{6E73FA3A-918D-452A-8295-DF203F4E54D4}"/>
              </a:ext>
            </a:extLst>
          </p:cNvPr>
          <p:cNvSpPr>
            <a:spLocks xmlns:a="http://schemas.openxmlformats.org/drawingml/2006/main" noGrp="1"/>
          </p:cNvSpPr>
          <p:nvPr/>
        </p:nvSpPr>
        <p:spPr>
          <a:xfrm xmlns:a="http://schemas.openxmlformats.org/drawingml/2006/main" rot="0">
            <a:off x="11126343" y="6408230"/>
            <a:ext cx="554075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constraints; discovery gains do not establish clinical gains.</a:t>
            </a:r>
          </a:p>
        </p:txBody>
      </p:sp>
      <p:sp>
        <p:nvSpPr>
          <p:cNvPr id="35" name="Figure 11 label 23 line 1">
            <a:extLst xmlns:a="http://schemas.openxmlformats.org/drawingml/2006/main">
              <a:ext uri="{FF2B5EF4-FFF2-40B4-BE49-F238E27FC236}">
                <a16:creationId xmlns:a16="http://schemas.microsoft.com/office/drawing/2014/main" id="{FD9F9D5F-0674-4F22-8B70-93F82A0C5CD4}"/>
              </a:ext>
            </a:extLst>
          </p:cNvPr>
          <p:cNvSpPr>
            <a:spLocks xmlns:a="http://schemas.openxmlformats.org/drawingml/2006/main" noGrp="1"/>
          </p:cNvSpPr>
          <p:nvPr/>
        </p:nvSpPr>
        <p:spPr>
          <a:xfrm xmlns:a="http://schemas.openxmlformats.org/drawingml/2006/main" rot="0">
            <a:off x="886968" y="7277386"/>
            <a:ext cx="1941939"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Phase I to approval</a:t>
            </a:r>
          </a:p>
        </p:txBody>
      </p:sp>
      <p:sp>
        <p:nvSpPr>
          <p:cNvPr id="36" name="Figure 11 label 24 line 1">
            <a:extLst xmlns:a="http://schemas.openxmlformats.org/drawingml/2006/main">
              <a:ext uri="{FF2B5EF4-FFF2-40B4-BE49-F238E27FC236}">
                <a16:creationId xmlns:a16="http://schemas.microsoft.com/office/drawing/2014/main" id="{39FAF4AE-26D7-426A-A266-810B52DE8DBA}"/>
              </a:ext>
            </a:extLst>
          </p:cNvPr>
          <p:cNvSpPr>
            <a:spLocks xmlns:a="http://schemas.openxmlformats.org/drawingml/2006/main" noGrp="1"/>
          </p:cNvSpPr>
          <p:nvPr/>
        </p:nvSpPr>
        <p:spPr>
          <a:xfrm xmlns:a="http://schemas.openxmlformats.org/drawingml/2006/main" rot="0">
            <a:off x="5361057" y="7117652"/>
            <a:ext cx="18889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7.9% / 13.8%</a:t>
            </a:r>
          </a:p>
        </p:txBody>
      </p:sp>
      <p:sp>
        <p:nvSpPr>
          <p:cNvPr id="37" name="Figure 11 label 24 line 2">
            <a:extLst xmlns:a="http://schemas.openxmlformats.org/drawingml/2006/main">
              <a:ext uri="{FF2B5EF4-FFF2-40B4-BE49-F238E27FC236}">
                <a16:creationId xmlns:a16="http://schemas.microsoft.com/office/drawing/2014/main" id="{0D13EBE5-1D2C-47D4-8643-CCADBF97158E}"/>
              </a:ext>
            </a:extLst>
          </p:cNvPr>
          <p:cNvSpPr>
            <a:spLocks xmlns:a="http://schemas.openxmlformats.org/drawingml/2006/main" noGrp="1"/>
          </p:cNvSpPr>
          <p:nvPr/>
        </p:nvSpPr>
        <p:spPr>
          <a:xfrm xmlns:a="http://schemas.openxmlformats.org/drawingml/2006/main" rot="0">
            <a:off x="5361057" y="7403402"/>
            <a:ext cx="18889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(study estimates)</a:t>
            </a:r>
          </a:p>
        </p:txBody>
      </p:sp>
      <p:sp>
        <p:nvSpPr>
          <p:cNvPr id="38" name="Figure 11 label 25 line 1">
            <a:extLst xmlns:a="http://schemas.openxmlformats.org/drawingml/2006/main">
              <a:ext uri="{FF2B5EF4-FFF2-40B4-BE49-F238E27FC236}">
                <a16:creationId xmlns:a16="http://schemas.microsoft.com/office/drawing/2014/main" id="{CD3522AA-B0B9-4960-A9A8-9A14D52F456D}"/>
              </a:ext>
            </a:extLst>
          </p:cNvPr>
          <p:cNvSpPr>
            <a:spLocks xmlns:a="http://schemas.openxmlformats.org/drawingml/2006/main" noGrp="1"/>
          </p:cNvSpPr>
          <p:nvPr/>
        </p:nvSpPr>
        <p:spPr>
          <a:xfrm xmlns:a="http://schemas.openxmlformats.org/drawingml/2006/main" rot="0">
            <a:off x="8605584" y="7117652"/>
            <a:ext cx="14959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AI advantage</a:t>
            </a:r>
          </a:p>
        </p:txBody>
      </p:sp>
      <p:sp>
        <p:nvSpPr>
          <p:cNvPr id="39" name="Figure 11 label 25 line 2">
            <a:extLst xmlns:a="http://schemas.openxmlformats.org/drawingml/2006/main">
              <a:ext uri="{FF2B5EF4-FFF2-40B4-BE49-F238E27FC236}">
                <a16:creationId xmlns:a16="http://schemas.microsoft.com/office/drawing/2014/main" id="{653EDCC0-7214-451B-9B17-10572CFAFD3F}"/>
              </a:ext>
            </a:extLst>
          </p:cNvPr>
          <p:cNvSpPr>
            <a:spLocks xmlns:a="http://schemas.openxmlformats.org/drawingml/2006/main" noGrp="1"/>
          </p:cNvSpPr>
          <p:nvPr/>
        </p:nvSpPr>
        <p:spPr>
          <a:xfrm xmlns:a="http://schemas.openxmlformats.org/drawingml/2006/main" rot="0">
            <a:off x="8605584" y="7403402"/>
            <a:ext cx="14959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unproven</a:t>
            </a:r>
          </a:p>
        </p:txBody>
      </p:sp>
      <p:sp>
        <p:nvSpPr>
          <p:cNvPr id="40" name="Figure 11 label 26 line 1">
            <a:extLst xmlns:a="http://schemas.openxmlformats.org/drawingml/2006/main">
              <a:ext uri="{FF2B5EF4-FFF2-40B4-BE49-F238E27FC236}">
                <a16:creationId xmlns:a16="http://schemas.microsoft.com/office/drawing/2014/main" id="{3ACED12C-39EE-4F14-BDCF-8D539E1E20BD}"/>
              </a:ext>
            </a:extLst>
          </p:cNvPr>
          <p:cNvSpPr>
            <a:spLocks xmlns:a="http://schemas.openxmlformats.org/drawingml/2006/main" noGrp="1"/>
          </p:cNvSpPr>
          <p:nvPr/>
        </p:nvSpPr>
        <p:spPr>
          <a:xfrm xmlns:a="http://schemas.openxmlformats.org/drawingml/2006/main" rot="0">
            <a:off x="11126343" y="7146417"/>
            <a:ext cx="4878318"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BIO 2011–2020 and Wong 2000–2015 are different</a:t>
            </a:r>
          </a:p>
        </p:txBody>
      </p:sp>
      <p:sp>
        <p:nvSpPr>
          <p:cNvPr id="41" name="Figure 11 label 26 line 2">
            <a:extLst xmlns:a="http://schemas.openxmlformats.org/drawingml/2006/main">
              <a:ext uri="{FF2B5EF4-FFF2-40B4-BE49-F238E27FC236}">
                <a16:creationId xmlns:a16="http://schemas.microsoft.com/office/drawing/2014/main" id="{B372465A-A17D-407C-8778-C11A1488E9DC}"/>
              </a:ext>
            </a:extLst>
          </p:cNvPr>
          <p:cNvSpPr>
            <a:spLocks xmlns:a="http://schemas.openxmlformats.org/drawingml/2006/main" noGrp="1"/>
          </p:cNvSpPr>
          <p:nvPr/>
        </p:nvSpPr>
        <p:spPr>
          <a:xfrm xmlns:a="http://schemas.openxmlformats.org/drawingml/2006/main" rot="0">
            <a:off x="11126343" y="7408355"/>
            <a:ext cx="4878318"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cohorts and methods, not an AI comparison.</a:t>
            </a:r>
          </a:p>
        </p:txBody>
      </p:sp>
      <p:sp>
        <p:nvSpPr>
          <p:cNvPr id="42" name="Figure 11 label 27 line 1">
            <a:extLst xmlns:a="http://schemas.openxmlformats.org/drawingml/2006/main">
              <a:ext uri="{FF2B5EF4-FFF2-40B4-BE49-F238E27FC236}">
                <a16:creationId xmlns:a16="http://schemas.microsoft.com/office/drawing/2014/main" id="{177EB47B-75B2-4FB6-BA57-86A0B150C97B}"/>
              </a:ext>
            </a:extLst>
          </p:cNvPr>
          <p:cNvSpPr>
            <a:spLocks xmlns:a="http://schemas.openxmlformats.org/drawingml/2006/main" noGrp="1"/>
          </p:cNvSpPr>
          <p:nvPr/>
        </p:nvSpPr>
        <p:spPr>
          <a:xfrm xmlns:a="http://schemas.openxmlformats.org/drawingml/2006/main" rot="0">
            <a:off x="1618107" y="8450961"/>
            <a:ext cx="1024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Tool demand depends on funded programs, assay depth, net inputs and prices.</a:t>
            </a:r>
          </a:p>
        </p:txBody>
      </p:sp>
      <p:sp>
        <p:nvSpPr>
          <p:cNvPr id="43" name="Figure 11 label 28 line 1">
            <a:extLst xmlns:a="http://schemas.openxmlformats.org/drawingml/2006/main">
              <a:ext uri="{FF2B5EF4-FFF2-40B4-BE49-F238E27FC236}">
                <a16:creationId xmlns:a16="http://schemas.microsoft.com/office/drawing/2014/main" id="{1751966A-9DEF-42E8-B6CB-AA0DE2792F2C}"/>
              </a:ext>
            </a:extLst>
          </p:cNvPr>
          <p:cNvSpPr>
            <a:spLocks xmlns:a="http://schemas.openxmlformats.org/drawingml/2006/main" noGrp="1"/>
          </p:cNvSpPr>
          <p:nvPr/>
        </p:nvSpPr>
        <p:spPr>
          <a:xfrm xmlns:a="http://schemas.openxmlformats.org/drawingml/2006/main" rot="0">
            <a:off x="679323" y="9533192"/>
            <a:ext cx="944228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Sources: Lyu 2019; Sumitomo 2021; BIO 2011–2020; Wong 2000–2015. Workloads are analyst sensitivities, not empirical cohorts.</a:t>
            </a:r>
          </a:p>
        </p:txBody>
      </p:sp>
    </p:spTree>
    <p:extLst>
      <p:ext uri="{BB962C8B-B14F-4D97-AF65-F5344CB8AC3E}">
        <p14:creationId xmlns:p14="http://schemas.microsoft.com/office/powerpoint/2010/main" val="13333201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8" name="">
            <a:extLst xmlns:a="http://schemas.openxmlformats.org/drawingml/2006/main">
              <a:ext uri="{FF2B5EF4-FFF2-40B4-BE49-F238E27FC236}">
                <a16:creationId xmlns:a16="http://schemas.microsoft.com/office/drawing/2014/main" id="{77F7F08B-D3CE-44D8-8759-96EDF8E1C2A8}"/>
              </a:ext>
            </a:extLst>
          </p:cNvPr>
          <p:cNvPicPr>
            <a:picLocks xmlns:a="http://schemas.openxmlformats.org/drawingml/2006/main" noChangeAspect="1"/>
          </p:cNvPicPr>
          <p:nvPr/>
        </p:nvPicPr>
        <p:blipFill>
          <a:blip xmlns:r="http://schemas.openxmlformats.org/officeDocument/2006/relationships" xmlns:a="http://schemas.openxmlformats.org/drawingml/2006/main" r:embed="Rc531d31430ff4a3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2 label 1 line 1">
            <a:extLst xmlns:a="http://schemas.openxmlformats.org/drawingml/2006/main">
              <a:ext uri="{FF2B5EF4-FFF2-40B4-BE49-F238E27FC236}">
                <a16:creationId xmlns:a16="http://schemas.microsoft.com/office/drawing/2014/main" id="{2A22BECF-4376-4A5A-93D4-39F374664651}"/>
              </a:ext>
            </a:extLst>
          </p:cNvPr>
          <p:cNvSpPr>
            <a:spLocks xmlns:a="http://schemas.openxmlformats.org/drawingml/2006/main" noGrp="1"/>
          </p:cNvSpPr>
          <p:nvPr/>
        </p:nvSpPr>
        <p:spPr>
          <a:xfrm xmlns:a="http://schemas.openxmlformats.org/drawingml/2006/main" rot="0">
            <a:off x="1057351" y="255118"/>
            <a:ext cx="11611821"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AI selection and biological evidence shape tool demand</a:t>
            </a:r>
          </a:p>
        </p:txBody>
      </p:sp>
      <p:sp>
        <p:nvSpPr>
          <p:cNvPr id="3" name="Figure 12 label 2 line 1">
            <a:extLst xmlns:a="http://schemas.openxmlformats.org/drawingml/2006/main">
              <a:ext uri="{FF2B5EF4-FFF2-40B4-BE49-F238E27FC236}">
                <a16:creationId xmlns:a16="http://schemas.microsoft.com/office/drawing/2014/main" id="{C1F5B671-EEE2-4A68-86E8-7D0A6EE3906B}"/>
              </a:ext>
            </a:extLst>
          </p:cNvPr>
          <p:cNvSpPr>
            <a:spLocks xmlns:a="http://schemas.openxmlformats.org/drawingml/2006/main" noGrp="1"/>
          </p:cNvSpPr>
          <p:nvPr/>
        </p:nvSpPr>
        <p:spPr>
          <a:xfrm xmlns:a="http://schemas.openxmlformats.org/drawingml/2006/main" rot="0">
            <a:off x="1065581" y="951128"/>
            <a:ext cx="9819251"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Workflows vary by modality; paid demand depends on funded assays, depth, net inputs and prices.</a:t>
            </a:r>
          </a:p>
        </p:txBody>
      </p:sp>
      <p:sp>
        <p:nvSpPr>
          <p:cNvPr id="4" name="Figure 12 label 3 line 1">
            <a:extLst xmlns:a="http://schemas.openxmlformats.org/drawingml/2006/main">
              <a:ext uri="{FF2B5EF4-FFF2-40B4-BE49-F238E27FC236}">
                <a16:creationId xmlns:a16="http://schemas.microsoft.com/office/drawing/2014/main" id="{90FDF80A-FB5B-45AC-B0A1-48A7204B681B}"/>
              </a:ext>
            </a:extLst>
          </p:cNvPr>
          <p:cNvSpPr>
            <a:spLocks xmlns:a="http://schemas.openxmlformats.org/drawingml/2006/main" noGrp="1"/>
          </p:cNvSpPr>
          <p:nvPr/>
        </p:nvSpPr>
        <p:spPr>
          <a:xfrm xmlns:a="http://schemas.openxmlformats.org/drawingml/2006/main" rot="0">
            <a:off x="753466" y="2013509"/>
            <a:ext cx="476158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MODALITY-AWARE DISCOVERY WORKFLOW</a:t>
            </a:r>
          </a:p>
        </p:txBody>
      </p:sp>
      <p:sp>
        <p:nvSpPr>
          <p:cNvPr id="5" name="Figure 12 label 4 line 1">
            <a:extLst xmlns:a="http://schemas.openxmlformats.org/drawingml/2006/main">
              <a:ext uri="{FF2B5EF4-FFF2-40B4-BE49-F238E27FC236}">
                <a16:creationId xmlns:a16="http://schemas.microsoft.com/office/drawing/2014/main" id="{C3EBF742-238F-449B-AC95-74D16C48E67D}"/>
              </a:ext>
            </a:extLst>
          </p:cNvPr>
          <p:cNvSpPr>
            <a:spLocks xmlns:a="http://schemas.openxmlformats.org/drawingml/2006/main" noGrp="1"/>
          </p:cNvSpPr>
          <p:nvPr/>
        </p:nvSpPr>
        <p:spPr>
          <a:xfrm xmlns:a="http://schemas.openxmlformats.org/drawingml/2006/main" rot="0">
            <a:off x="755294" y="2390852"/>
            <a:ext cx="417108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Schematic widths; workload multipliers are sensitivities</a:t>
            </a:r>
          </a:p>
        </p:txBody>
      </p:sp>
      <p:sp>
        <p:nvSpPr>
          <p:cNvPr id="6" name="Figure 12 label 5 line 1">
            <a:extLst xmlns:a="http://schemas.openxmlformats.org/drawingml/2006/main">
              <a:ext uri="{FF2B5EF4-FFF2-40B4-BE49-F238E27FC236}">
                <a16:creationId xmlns:a16="http://schemas.microsoft.com/office/drawing/2014/main" id="{181FB347-810A-47CD-BBE3-6984B3C9431E}"/>
              </a:ext>
            </a:extLst>
          </p:cNvPr>
          <p:cNvSpPr>
            <a:spLocks xmlns:a="http://schemas.openxmlformats.org/drawingml/2006/main" noGrp="1"/>
          </p:cNvSpPr>
          <p:nvPr/>
        </p:nvSpPr>
        <p:spPr>
          <a:xfrm xmlns:a="http://schemas.openxmlformats.org/drawingml/2006/main" rot="0">
            <a:off x="2103974" y="3039008"/>
            <a:ext cx="2497651"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Virtual search / design</a:t>
            </a:r>
          </a:p>
        </p:txBody>
      </p:sp>
      <p:sp>
        <p:nvSpPr>
          <p:cNvPr id="7" name="Figure 12 label 6 line 1">
            <a:extLst xmlns:a="http://schemas.openxmlformats.org/drawingml/2006/main">
              <a:ext uri="{FF2B5EF4-FFF2-40B4-BE49-F238E27FC236}">
                <a16:creationId xmlns:a16="http://schemas.microsoft.com/office/drawing/2014/main" id="{1589F8C5-99B4-481D-A1CA-DD6B7E9B719D}"/>
              </a:ext>
            </a:extLst>
          </p:cNvPr>
          <p:cNvSpPr>
            <a:spLocks xmlns:a="http://schemas.openxmlformats.org/drawingml/2006/main" noGrp="1"/>
          </p:cNvSpPr>
          <p:nvPr/>
        </p:nvSpPr>
        <p:spPr>
          <a:xfrm xmlns:a="http://schemas.openxmlformats.org/drawingml/2006/main" rot="0">
            <a:off x="2337804" y="3400349"/>
            <a:ext cx="202999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Quality + selection</a:t>
            </a:r>
          </a:p>
        </p:txBody>
      </p:sp>
      <p:sp>
        <p:nvSpPr>
          <p:cNvPr id="8" name="Figure 12 label 7 line 1">
            <a:extLst xmlns:a="http://schemas.openxmlformats.org/drawingml/2006/main">
              <a:ext uri="{FF2B5EF4-FFF2-40B4-BE49-F238E27FC236}">
                <a16:creationId xmlns:a16="http://schemas.microsoft.com/office/drawing/2014/main" id="{D070E89E-B5C8-499F-8120-03B3C16B8315}"/>
              </a:ext>
            </a:extLst>
          </p:cNvPr>
          <p:cNvSpPr>
            <a:spLocks xmlns:a="http://schemas.openxmlformats.org/drawingml/2006/main" noGrp="1"/>
          </p:cNvSpPr>
          <p:nvPr/>
        </p:nvSpPr>
        <p:spPr>
          <a:xfrm xmlns:a="http://schemas.openxmlformats.org/drawingml/2006/main" rot="0">
            <a:off x="2359661" y="4242968"/>
            <a:ext cx="198627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Physical samples</a:t>
            </a:r>
          </a:p>
        </p:txBody>
      </p:sp>
      <p:sp>
        <p:nvSpPr>
          <p:cNvPr id="9" name="Figure 12 label 8 line 1">
            <a:extLst xmlns:a="http://schemas.openxmlformats.org/drawingml/2006/main">
              <a:ext uri="{FF2B5EF4-FFF2-40B4-BE49-F238E27FC236}">
                <a16:creationId xmlns:a16="http://schemas.microsoft.com/office/drawing/2014/main" id="{5EABC797-D81B-485A-BC19-D3519F5CF130}"/>
              </a:ext>
            </a:extLst>
          </p:cNvPr>
          <p:cNvSpPr>
            <a:spLocks xmlns:a="http://schemas.openxmlformats.org/drawingml/2006/main" noGrp="1"/>
          </p:cNvSpPr>
          <p:nvPr/>
        </p:nvSpPr>
        <p:spPr>
          <a:xfrm xmlns:a="http://schemas.openxmlformats.org/drawingml/2006/main" rot="0">
            <a:off x="2352803" y="4610710"/>
            <a:ext cx="199999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60" b="1">
                <a:solidFill>
                  <a:srgbClr val="00355F"/>
                </a:solidFill>
                <a:latin typeface="Arial"/>
                <a:ea typeface="Arial"/>
                <a:cs typeface="Arial"/>
              </a:defRPr>
            </a:defPPr>
          </a:lstStyle>
          <a:p xmlns:a="http://schemas.openxmlformats.org/drawingml/2006/main">
            <a:pPr algn="ctr">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Modality-dependent</a:t>
            </a:r>
          </a:p>
        </p:txBody>
      </p:sp>
      <p:sp>
        <p:nvSpPr>
          <p:cNvPr id="10" name="Figure 12 label 9 line 1">
            <a:extLst xmlns:a="http://schemas.openxmlformats.org/drawingml/2006/main">
              <a:ext uri="{FF2B5EF4-FFF2-40B4-BE49-F238E27FC236}">
                <a16:creationId xmlns:a16="http://schemas.microsoft.com/office/drawing/2014/main" id="{11964A45-BC61-4F79-8BF4-7DAE60573386}"/>
              </a:ext>
            </a:extLst>
          </p:cNvPr>
          <p:cNvSpPr>
            <a:spLocks xmlns:a="http://schemas.openxmlformats.org/drawingml/2006/main" noGrp="1"/>
          </p:cNvSpPr>
          <p:nvPr/>
        </p:nvSpPr>
        <p:spPr>
          <a:xfrm xmlns:a="http://schemas.openxmlformats.org/drawingml/2006/main" rot="0">
            <a:off x="2439656" y="5340248"/>
            <a:ext cx="182628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lnSpc>
                <a:spcPct val="100000"/>
              </a:lnSpc>
              <a:buNone/>
              <a:defRPr sz="1740" b="1">
                <a:solidFill>
                  <a:srgbClr val="FFFFFF"/>
                </a:solidFill>
                <a:latin typeface="Arial"/>
                <a:ea typeface="Arial"/>
                <a:cs typeface="Arial"/>
              </a:defRPr>
            </a:pPr>
            <a:r>
              <a:rPr sz="1740" b="1">
                <a:solidFill>
                  <a:srgbClr val="FFFFFF"/>
                </a:solidFill>
                <a:latin typeface="Arial"/>
                <a:ea typeface="Arial"/>
                <a:cs typeface="Arial"/>
              </a:rPr>
              <a:t>Assay workload</a:t>
            </a:r>
          </a:p>
        </p:txBody>
      </p:sp>
      <p:sp>
        <p:nvSpPr>
          <p:cNvPr id="11" name="Figure 12 label 10 line 1">
            <a:extLst xmlns:a="http://schemas.openxmlformats.org/drawingml/2006/main">
              <a:ext uri="{FF2B5EF4-FFF2-40B4-BE49-F238E27FC236}">
                <a16:creationId xmlns:a16="http://schemas.microsoft.com/office/drawing/2014/main" id="{F2C2B63D-65B5-44F8-8EF4-A00E1B3FD9CF}"/>
              </a:ext>
            </a:extLst>
          </p:cNvPr>
          <p:cNvSpPr>
            <a:spLocks xmlns:a="http://schemas.openxmlformats.org/drawingml/2006/main" noGrp="1"/>
          </p:cNvSpPr>
          <p:nvPr/>
        </p:nvSpPr>
        <p:spPr>
          <a:xfrm xmlns:a="http://schemas.openxmlformats.org/drawingml/2006/main" rot="0">
            <a:off x="2596848" y="5714390"/>
            <a:ext cx="151190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40" b="1">
                <a:solidFill>
                  <a:srgbClr val="FFFFFF"/>
                </a:solidFill>
                <a:latin typeface="Arial"/>
                <a:ea typeface="Arial"/>
                <a:cs typeface="Arial"/>
              </a:defRPr>
            </a:defPPr>
          </a:lstStyle>
          <a:p xmlns:a="http://schemas.openxmlformats.org/drawingml/2006/main">
            <a:pPr algn="ctr">
              <a:lnSpc>
                <a:spcPct val="100000"/>
              </a:lnSpc>
              <a:buNone/>
              <a:defRPr sz="1440" b="1">
                <a:solidFill>
                  <a:srgbClr val="FFFFFF"/>
                </a:solidFill>
                <a:latin typeface="Arial"/>
                <a:ea typeface="Arial"/>
                <a:cs typeface="Arial"/>
              </a:defRPr>
            </a:pPr>
            <a:r>
              <a:rPr sz="1440" b="1">
                <a:solidFill>
                  <a:srgbClr val="FFFFFF"/>
                </a:solidFill>
                <a:latin typeface="Arial"/>
                <a:ea typeface="Arial"/>
                <a:cs typeface="Arial"/>
              </a:rPr>
              <a:t>1× / 2× / 5× / 10×</a:t>
            </a:r>
          </a:p>
        </p:txBody>
      </p:sp>
      <p:sp>
        <p:nvSpPr>
          <p:cNvPr id="12" name="Figure 12 label 11 line 1">
            <a:extLst xmlns:a="http://schemas.openxmlformats.org/drawingml/2006/main">
              <a:ext uri="{FF2B5EF4-FFF2-40B4-BE49-F238E27FC236}">
                <a16:creationId xmlns:a16="http://schemas.microsoft.com/office/drawing/2014/main" id="{5BFFA08F-4177-4A3C-94C4-5C5BC741EA53}"/>
              </a:ext>
            </a:extLst>
          </p:cNvPr>
          <p:cNvSpPr>
            <a:spLocks xmlns:a="http://schemas.openxmlformats.org/drawingml/2006/main" noGrp="1"/>
          </p:cNvSpPr>
          <p:nvPr/>
        </p:nvSpPr>
        <p:spPr>
          <a:xfrm xmlns:a="http://schemas.openxmlformats.org/drawingml/2006/main" rot="0">
            <a:off x="2745474" y="6487211"/>
            <a:ext cx="1214652"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3" name="Figure 12 label 12 line 1">
            <a:extLst xmlns:a="http://schemas.openxmlformats.org/drawingml/2006/main">
              <a:ext uri="{FF2B5EF4-FFF2-40B4-BE49-F238E27FC236}">
                <a16:creationId xmlns:a16="http://schemas.microsoft.com/office/drawing/2014/main" id="{94CDA160-4606-48D2-8E8E-053D97B91AA7}"/>
              </a:ext>
            </a:extLst>
          </p:cNvPr>
          <p:cNvSpPr>
            <a:spLocks xmlns:a="http://schemas.openxmlformats.org/drawingml/2006/main" noGrp="1"/>
          </p:cNvSpPr>
          <p:nvPr/>
        </p:nvSpPr>
        <p:spPr>
          <a:xfrm xmlns:a="http://schemas.openxmlformats.org/drawingml/2006/main" rot="0">
            <a:off x="2655496" y="6854952"/>
            <a:ext cx="139460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1">
                <a:solidFill>
                  <a:srgbClr val="00355F"/>
                </a:solidFill>
                <a:latin typeface="Arial"/>
                <a:ea typeface="Arial"/>
                <a:cs typeface="Arial"/>
              </a:defRPr>
            </a:defPPr>
          </a:lstStyle>
          <a:p xmlns:a="http://schemas.openxmlformats.org/drawingml/2006/main">
            <a:pPr algn="ctr">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Funded programs</a:t>
            </a:r>
          </a:p>
        </p:txBody>
      </p:sp>
      <p:sp>
        <p:nvSpPr>
          <p:cNvPr id="14" name="Figure 12 label 13 line 1">
            <a:extLst xmlns:a="http://schemas.openxmlformats.org/drawingml/2006/main">
              <a:ext uri="{FF2B5EF4-FFF2-40B4-BE49-F238E27FC236}">
                <a16:creationId xmlns:a16="http://schemas.microsoft.com/office/drawing/2014/main" id="{1633ED15-C4B6-4863-935D-1923B0341802}"/>
              </a:ext>
            </a:extLst>
          </p:cNvPr>
          <p:cNvSpPr>
            <a:spLocks xmlns:a="http://schemas.openxmlformats.org/drawingml/2006/main" noGrp="1"/>
          </p:cNvSpPr>
          <p:nvPr/>
        </p:nvSpPr>
        <p:spPr>
          <a:xfrm xmlns:a="http://schemas.openxmlformats.org/drawingml/2006/main" rot="0">
            <a:off x="2662800" y="7424471"/>
            <a:ext cx="138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Approval gains</a:t>
            </a:r>
          </a:p>
        </p:txBody>
      </p:sp>
      <p:sp>
        <p:nvSpPr>
          <p:cNvPr id="15" name="Figure 12 label 14 line 1">
            <a:extLst xmlns:a="http://schemas.openxmlformats.org/drawingml/2006/main">
              <a:ext uri="{FF2B5EF4-FFF2-40B4-BE49-F238E27FC236}">
                <a16:creationId xmlns:a16="http://schemas.microsoft.com/office/drawing/2014/main" id="{D1764526-1591-44B3-9458-B0731AAB7653}"/>
              </a:ext>
            </a:extLst>
          </p:cNvPr>
          <p:cNvSpPr>
            <a:spLocks xmlns:a="http://schemas.openxmlformats.org/drawingml/2006/main" noGrp="1"/>
          </p:cNvSpPr>
          <p:nvPr/>
        </p:nvSpPr>
        <p:spPr>
          <a:xfrm xmlns:a="http://schemas.openxmlformats.org/drawingml/2006/main" rot="0">
            <a:off x="2846338" y="7776210"/>
            <a:ext cx="101292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00355F"/>
                </a:solidFill>
                <a:latin typeface="Arial"/>
                <a:ea typeface="Arial"/>
                <a:cs typeface="Arial"/>
              </a:defRPr>
            </a:defPPr>
          </a:lstStyle>
          <a:p xmlns:a="http://schemas.openxmlformats.org/drawingml/2006/main">
            <a:pPr algn="ctr">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Unproven</a:t>
            </a:r>
          </a:p>
        </p:txBody>
      </p:sp>
      <p:sp>
        <p:nvSpPr>
          <p:cNvPr id="16" name="Figure 12 label 15 line 1">
            <a:extLst xmlns:a="http://schemas.openxmlformats.org/drawingml/2006/main">
              <a:ext uri="{FF2B5EF4-FFF2-40B4-BE49-F238E27FC236}">
                <a16:creationId xmlns:a16="http://schemas.microsoft.com/office/drawing/2014/main" id="{51DC03BD-5A48-4AFE-ABAB-351A114D8757}"/>
              </a:ext>
            </a:extLst>
          </p:cNvPr>
          <p:cNvSpPr>
            <a:spLocks xmlns:a="http://schemas.openxmlformats.org/drawingml/2006/main" noGrp="1"/>
          </p:cNvSpPr>
          <p:nvPr/>
        </p:nvSpPr>
        <p:spPr>
          <a:xfrm xmlns:a="http://schemas.openxmlformats.org/drawingml/2006/main" rot="0">
            <a:off x="877824" y="8409432"/>
            <a:ext cx="162023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SMALL MOLECULES</a:t>
            </a:r>
          </a:p>
        </p:txBody>
      </p:sp>
      <p:sp>
        <p:nvSpPr>
          <p:cNvPr id="17" name="Figure 12 label 16 line 1">
            <a:extLst xmlns:a="http://schemas.openxmlformats.org/drawingml/2006/main">
              <a:ext uri="{FF2B5EF4-FFF2-40B4-BE49-F238E27FC236}">
                <a16:creationId xmlns:a16="http://schemas.microsoft.com/office/drawing/2014/main" id="{0909B90F-BEE8-4D3F-94AC-A765C78247C8}"/>
              </a:ext>
            </a:extLst>
          </p:cNvPr>
          <p:cNvSpPr>
            <a:spLocks xmlns:a="http://schemas.openxmlformats.org/drawingml/2006/main" noGrp="1"/>
          </p:cNvSpPr>
          <p:nvPr/>
        </p:nvSpPr>
        <p:spPr>
          <a:xfrm xmlns:a="http://schemas.openxmlformats.org/drawingml/2006/main" rot="0">
            <a:off x="878129" y="8702192"/>
            <a:ext cx="1494431"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Fewer syntheses per</a:t>
            </a:r>
          </a:p>
        </p:txBody>
      </p:sp>
      <p:sp>
        <p:nvSpPr>
          <p:cNvPr id="18" name="Figure 12 label 16 line 2">
            <a:extLst xmlns:a="http://schemas.openxmlformats.org/drawingml/2006/main">
              <a:ext uri="{FF2B5EF4-FFF2-40B4-BE49-F238E27FC236}">
                <a16:creationId xmlns:a16="http://schemas.microsoft.com/office/drawing/2014/main" id="{6D8D4162-9A7D-48D8-9B49-D238843A6C60}"/>
              </a:ext>
            </a:extLst>
          </p:cNvPr>
          <p:cNvSpPr>
            <a:spLocks xmlns:a="http://schemas.openxmlformats.org/drawingml/2006/main" noGrp="1"/>
          </p:cNvSpPr>
          <p:nvPr/>
        </p:nvSpPr>
        <p:spPr>
          <a:xfrm xmlns:a="http://schemas.openxmlformats.org/drawingml/2006/main" rot="0">
            <a:off x="878129" y="8883167"/>
            <a:ext cx="1494431"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program are possible.</a:t>
            </a:r>
          </a:p>
        </p:txBody>
      </p:sp>
      <p:sp>
        <p:nvSpPr>
          <p:cNvPr id="19" name="Figure 12 label 17 line 1">
            <a:extLst xmlns:a="http://schemas.openxmlformats.org/drawingml/2006/main">
              <a:ext uri="{FF2B5EF4-FFF2-40B4-BE49-F238E27FC236}">
                <a16:creationId xmlns:a16="http://schemas.microsoft.com/office/drawing/2014/main" id="{5D434B4B-E2A4-4BB7-A940-48B8D6EC0089}"/>
              </a:ext>
            </a:extLst>
          </p:cNvPr>
          <p:cNvSpPr>
            <a:spLocks xmlns:a="http://schemas.openxmlformats.org/drawingml/2006/main" noGrp="1"/>
          </p:cNvSpPr>
          <p:nvPr/>
        </p:nvSpPr>
        <p:spPr>
          <a:xfrm xmlns:a="http://schemas.openxmlformats.org/drawingml/2006/main" rot="0">
            <a:off x="3491941" y="8414233"/>
            <a:ext cx="1793927"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PROTEINS / ANTIBODIES</a:t>
            </a:r>
          </a:p>
        </p:txBody>
      </p:sp>
      <p:sp>
        <p:nvSpPr>
          <p:cNvPr id="20" name="Figure 12 label 18 line 1">
            <a:extLst xmlns:a="http://schemas.openxmlformats.org/drawingml/2006/main">
              <a:ext uri="{FF2B5EF4-FFF2-40B4-BE49-F238E27FC236}">
                <a16:creationId xmlns:a16="http://schemas.microsoft.com/office/drawing/2014/main" id="{1C473DE7-B3C1-4CDE-B33E-DF09F2D8707F}"/>
              </a:ext>
            </a:extLst>
          </p:cNvPr>
          <p:cNvSpPr>
            <a:spLocks xmlns:a="http://schemas.openxmlformats.org/drawingml/2006/main" noGrp="1"/>
          </p:cNvSpPr>
          <p:nvPr/>
        </p:nvSpPr>
        <p:spPr>
          <a:xfrm xmlns:a="http://schemas.openxmlformats.org/drawingml/2006/main" rot="0">
            <a:off x="3491789" y="8702192"/>
            <a:ext cx="1717227"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Pooled screens scale;</a:t>
            </a:r>
          </a:p>
        </p:txBody>
      </p:sp>
      <p:sp>
        <p:nvSpPr>
          <p:cNvPr id="21" name="Figure 12 label 18 line 2">
            <a:extLst xmlns:a="http://schemas.openxmlformats.org/drawingml/2006/main">
              <a:ext uri="{FF2B5EF4-FFF2-40B4-BE49-F238E27FC236}">
                <a16:creationId xmlns:a16="http://schemas.microsoft.com/office/drawing/2014/main" id="{07D2A1A6-7486-408B-AA57-D3534098374A}"/>
              </a:ext>
            </a:extLst>
          </p:cNvPr>
          <p:cNvSpPr>
            <a:spLocks xmlns:a="http://schemas.openxmlformats.org/drawingml/2006/main" noGrp="1"/>
          </p:cNvSpPr>
          <p:nvPr/>
        </p:nvSpPr>
        <p:spPr>
          <a:xfrm xmlns:a="http://schemas.openxmlformats.org/drawingml/2006/main" rot="0">
            <a:off x="3491789" y="8883167"/>
            <a:ext cx="1717227"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individual profiling differs.</a:t>
            </a:r>
          </a:p>
        </p:txBody>
      </p:sp>
      <p:sp>
        <p:nvSpPr>
          <p:cNvPr id="22" name="Figure 12 label 19 line 1">
            <a:extLst xmlns:a="http://schemas.openxmlformats.org/drawingml/2006/main">
              <a:ext uri="{FF2B5EF4-FFF2-40B4-BE49-F238E27FC236}">
                <a16:creationId xmlns:a16="http://schemas.microsoft.com/office/drawing/2014/main" id="{77C9D76D-BEA8-48FB-AC22-24BFD6F5A383}"/>
              </a:ext>
            </a:extLst>
          </p:cNvPr>
          <p:cNvSpPr>
            <a:spLocks xmlns:a="http://schemas.openxmlformats.org/drawingml/2006/main" noGrp="1"/>
          </p:cNvSpPr>
          <p:nvPr/>
        </p:nvSpPr>
        <p:spPr>
          <a:xfrm xmlns:a="http://schemas.openxmlformats.org/drawingml/2006/main" rot="0">
            <a:off x="755599" y="9305392"/>
            <a:ext cx="294157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WET LAB = BUILD + TEST</a:t>
            </a:r>
          </a:p>
        </p:txBody>
      </p:sp>
      <p:sp>
        <p:nvSpPr>
          <p:cNvPr id="23" name="Figure 12 label 19 line 2">
            <a:extLst xmlns:a="http://schemas.openxmlformats.org/drawingml/2006/main">
              <a:ext uri="{FF2B5EF4-FFF2-40B4-BE49-F238E27FC236}">
                <a16:creationId xmlns:a16="http://schemas.microsoft.com/office/drawing/2014/main" id="{4CC1CCC7-7ED6-4E84-93CC-4898C8F4AD1F}"/>
              </a:ext>
            </a:extLst>
          </p:cNvPr>
          <p:cNvSpPr>
            <a:spLocks xmlns:a="http://schemas.openxmlformats.org/drawingml/2006/main" noGrp="1"/>
          </p:cNvSpPr>
          <p:nvPr/>
        </p:nvSpPr>
        <p:spPr>
          <a:xfrm xmlns:a="http://schemas.openxmlformats.org/drawingml/2006/main" rot="0">
            <a:off x="755599" y="9505417"/>
            <a:ext cx="294157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No universal molecule-count funnel.</a:t>
            </a:r>
          </a:p>
        </p:txBody>
      </p:sp>
      <p:sp>
        <p:nvSpPr>
          <p:cNvPr id="24" name="Figure 12 label 19 line 3">
            <a:extLst xmlns:a="http://schemas.openxmlformats.org/drawingml/2006/main">
              <a:ext uri="{FF2B5EF4-FFF2-40B4-BE49-F238E27FC236}">
                <a16:creationId xmlns:a16="http://schemas.microsoft.com/office/drawing/2014/main" id="{B0B2C3E6-C0CF-4C43-BBB3-867E0B731D99}"/>
              </a:ext>
            </a:extLst>
          </p:cNvPr>
          <p:cNvSpPr>
            <a:spLocks xmlns:a="http://schemas.openxmlformats.org/drawingml/2006/main" noGrp="1"/>
          </p:cNvSpPr>
          <p:nvPr/>
        </p:nvSpPr>
        <p:spPr>
          <a:xfrm xmlns:a="http://schemas.openxmlformats.org/drawingml/2006/main" rot="0">
            <a:off x="755599" y="9705442"/>
            <a:ext cx="294157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AI clinical advantage remains unproven.</a:t>
            </a:r>
          </a:p>
        </p:txBody>
      </p:sp>
      <p:sp>
        <p:nvSpPr>
          <p:cNvPr id="25" name="Figure 12 label 20 line 1">
            <a:extLst xmlns:a="http://schemas.openxmlformats.org/drawingml/2006/main">
              <a:ext uri="{FF2B5EF4-FFF2-40B4-BE49-F238E27FC236}">
                <a16:creationId xmlns:a16="http://schemas.microsoft.com/office/drawing/2014/main" id="{E1C0ED7E-E79E-4A5A-B292-79B5E815A4E3}"/>
              </a:ext>
            </a:extLst>
          </p:cNvPr>
          <p:cNvSpPr>
            <a:spLocks xmlns:a="http://schemas.openxmlformats.org/drawingml/2006/main" noGrp="1"/>
          </p:cNvSpPr>
          <p:nvPr/>
        </p:nvSpPr>
        <p:spPr>
          <a:xfrm xmlns:a="http://schemas.openxmlformats.org/drawingml/2006/main" rot="0">
            <a:off x="6976568" y="1987906"/>
            <a:ext cx="603216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lnSpc>
                <a:spcPct val="100000"/>
              </a:lnSpc>
              <a:buNone/>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26" name="Figure 12 label 21 line 1">
            <a:extLst xmlns:a="http://schemas.openxmlformats.org/drawingml/2006/main">
              <a:ext uri="{FF2B5EF4-FFF2-40B4-BE49-F238E27FC236}">
                <a16:creationId xmlns:a16="http://schemas.microsoft.com/office/drawing/2014/main" id="{60E968DF-A50E-47B2-828F-898D7530BC40}"/>
              </a:ext>
            </a:extLst>
          </p:cNvPr>
          <p:cNvSpPr>
            <a:spLocks xmlns:a="http://schemas.openxmlformats.org/drawingml/2006/main" noGrp="1"/>
          </p:cNvSpPr>
          <p:nvPr/>
        </p:nvSpPr>
        <p:spPr>
          <a:xfrm xmlns:a="http://schemas.openxmlformats.org/drawingml/2006/main" rot="0">
            <a:off x="6981445" y="2450592"/>
            <a:ext cx="608477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Issuer-cited subset estimates · different scopes / years · source conflicts disclosed below</a:t>
            </a:r>
          </a:p>
        </p:txBody>
      </p:sp>
      <p:sp>
        <p:nvSpPr>
          <p:cNvPr id="27" name="Figure 12 label 22 line 1">
            <a:extLst xmlns:a="http://schemas.openxmlformats.org/drawingml/2006/main">
              <a:ext uri="{FF2B5EF4-FFF2-40B4-BE49-F238E27FC236}">
                <a16:creationId xmlns:a16="http://schemas.microsoft.com/office/drawing/2014/main" id="{B5543997-BE1E-477F-A281-12F02FA1F0A7}"/>
              </a:ext>
            </a:extLst>
          </p:cNvPr>
          <p:cNvSpPr>
            <a:spLocks xmlns:a="http://schemas.openxmlformats.org/drawingml/2006/main" noGrp="1"/>
          </p:cNvSpPr>
          <p:nvPr/>
        </p:nvSpPr>
        <p:spPr>
          <a:xfrm xmlns:a="http://schemas.openxmlformats.org/drawingml/2006/main" rot="0">
            <a:off x="7543495" y="2934310"/>
            <a:ext cx="230851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28" name="Figure 12 label 23 line 1">
            <a:extLst xmlns:a="http://schemas.openxmlformats.org/drawingml/2006/main">
              <a:ext uri="{FF2B5EF4-FFF2-40B4-BE49-F238E27FC236}">
                <a16:creationId xmlns:a16="http://schemas.microsoft.com/office/drawing/2014/main" id="{CE5D4965-CB01-40F0-9E43-65BB34DA4DE2}"/>
              </a:ext>
            </a:extLst>
          </p:cNvPr>
          <p:cNvSpPr>
            <a:spLocks xmlns:a="http://schemas.openxmlformats.org/drawingml/2006/main" noGrp="1"/>
          </p:cNvSpPr>
          <p:nvPr/>
        </p:nvSpPr>
        <p:spPr>
          <a:xfrm xmlns:a="http://schemas.openxmlformats.org/drawingml/2006/main" rot="0">
            <a:off x="7133540" y="3323692"/>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p:txBody>
      </p:sp>
      <p:sp>
        <p:nvSpPr>
          <p:cNvPr id="29" name="Figure 12 label 23 line 2">
            <a:extLst xmlns:a="http://schemas.openxmlformats.org/drawingml/2006/main">
              <a:ext uri="{FF2B5EF4-FFF2-40B4-BE49-F238E27FC236}">
                <a16:creationId xmlns:a16="http://schemas.microsoft.com/office/drawing/2014/main" id="{B3EEDE5C-BDE9-4773-BC86-D13C0E8A4087}"/>
              </a:ext>
            </a:extLst>
          </p:cNvPr>
          <p:cNvSpPr>
            <a:spLocks xmlns:a="http://schemas.openxmlformats.org/drawingml/2006/main" noGrp="1"/>
          </p:cNvSpPr>
          <p:nvPr/>
        </p:nvSpPr>
        <p:spPr>
          <a:xfrm xmlns:a="http://schemas.openxmlformats.org/drawingml/2006/main" rot="0">
            <a:off x="7133540" y="3523717"/>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30" name="Figure 12 label 24 line 1">
            <a:extLst xmlns:a="http://schemas.openxmlformats.org/drawingml/2006/main">
              <a:ext uri="{FF2B5EF4-FFF2-40B4-BE49-F238E27FC236}">
                <a16:creationId xmlns:a16="http://schemas.microsoft.com/office/drawing/2014/main" id="{7455FF71-1DC7-4AAF-B5F9-36A126BB7772}"/>
              </a:ext>
            </a:extLst>
          </p:cNvPr>
          <p:cNvSpPr>
            <a:spLocks xmlns:a="http://schemas.openxmlformats.org/drawingml/2006/main" noGrp="1"/>
          </p:cNvSpPr>
          <p:nvPr/>
        </p:nvSpPr>
        <p:spPr>
          <a:xfrm xmlns:a="http://schemas.openxmlformats.org/drawingml/2006/main" rot="0">
            <a:off x="7128663" y="3752545"/>
            <a:ext cx="1796856"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31" name="Figure 12 label 25 line 1">
            <a:extLst xmlns:a="http://schemas.openxmlformats.org/drawingml/2006/main">
              <a:ext uri="{FF2B5EF4-FFF2-40B4-BE49-F238E27FC236}">
                <a16:creationId xmlns:a16="http://schemas.microsoft.com/office/drawing/2014/main" id="{8062AD45-2686-4E80-BDE8-83FE8D5A188E}"/>
              </a:ext>
            </a:extLst>
          </p:cNvPr>
          <p:cNvSpPr>
            <a:spLocks xmlns:a="http://schemas.openxmlformats.org/drawingml/2006/main" noGrp="1"/>
          </p:cNvSpPr>
          <p:nvPr/>
        </p:nvSpPr>
        <p:spPr>
          <a:xfrm xmlns:a="http://schemas.openxmlformats.org/drawingml/2006/main" rot="0">
            <a:off x="7134607" y="4195953"/>
            <a:ext cx="255186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32" name="Figure 12 label 26 line 1">
            <a:extLst xmlns:a="http://schemas.openxmlformats.org/drawingml/2006/main">
              <a:ext uri="{FF2B5EF4-FFF2-40B4-BE49-F238E27FC236}">
                <a16:creationId xmlns:a16="http://schemas.microsoft.com/office/drawing/2014/main" id="{49629FBD-90C5-456D-9971-011AF32BFD84}"/>
              </a:ext>
            </a:extLst>
          </p:cNvPr>
          <p:cNvSpPr>
            <a:spLocks xmlns:a="http://schemas.openxmlformats.org/drawingml/2006/main" noGrp="1"/>
          </p:cNvSpPr>
          <p:nvPr/>
        </p:nvSpPr>
        <p:spPr>
          <a:xfrm xmlns:a="http://schemas.openxmlformats.org/drawingml/2006/main" rot="0">
            <a:off x="7134911" y="4420133"/>
            <a:ext cx="167865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sp>
        <p:nvSpPr>
          <p:cNvPr id="33" name="Figure 12 label 27 line 1">
            <a:extLst xmlns:a="http://schemas.openxmlformats.org/drawingml/2006/main">
              <a:ext uri="{FF2B5EF4-FFF2-40B4-BE49-F238E27FC236}">
                <a16:creationId xmlns:a16="http://schemas.microsoft.com/office/drawing/2014/main" id="{791865C5-6EBF-4028-AAA5-46A66525BFB7}"/>
              </a:ext>
            </a:extLst>
          </p:cNvPr>
          <p:cNvSpPr>
            <a:spLocks xmlns:a="http://schemas.openxmlformats.org/drawingml/2006/main" noGrp="1"/>
          </p:cNvSpPr>
          <p:nvPr/>
        </p:nvSpPr>
        <p:spPr>
          <a:xfrm xmlns:a="http://schemas.openxmlformats.org/drawingml/2006/main" rot="0">
            <a:off x="713552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34" name="Figure 12 label 28 line 1">
            <a:extLst xmlns:a="http://schemas.openxmlformats.org/drawingml/2006/main">
              <a:ext uri="{FF2B5EF4-FFF2-40B4-BE49-F238E27FC236}">
                <a16:creationId xmlns:a16="http://schemas.microsoft.com/office/drawing/2014/main" id="{F692A98D-A38F-422D-B749-DBB58446DB2A}"/>
              </a:ext>
            </a:extLst>
          </p:cNvPr>
          <p:cNvSpPr>
            <a:spLocks xmlns:a="http://schemas.openxmlformats.org/drawingml/2006/main" noGrp="1"/>
          </p:cNvSpPr>
          <p:nvPr/>
        </p:nvSpPr>
        <p:spPr>
          <a:xfrm xmlns:a="http://schemas.openxmlformats.org/drawingml/2006/main" rot="0">
            <a:off x="877397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35" name="Figure 12 label 29 line 1">
            <a:extLst xmlns:a="http://schemas.openxmlformats.org/drawingml/2006/main">
              <a:ext uri="{FF2B5EF4-FFF2-40B4-BE49-F238E27FC236}">
                <a16:creationId xmlns:a16="http://schemas.microsoft.com/office/drawing/2014/main" id="{45F4CBF0-BB68-410D-9C0E-F62EFD4BC245}"/>
              </a:ext>
            </a:extLst>
          </p:cNvPr>
          <p:cNvSpPr>
            <a:spLocks xmlns:a="http://schemas.openxmlformats.org/drawingml/2006/main" noGrp="1"/>
          </p:cNvSpPr>
          <p:nvPr/>
        </p:nvSpPr>
        <p:spPr>
          <a:xfrm xmlns:a="http://schemas.openxmlformats.org/drawingml/2006/main" rot="0">
            <a:off x="7134759" y="527959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GenScript · 1548.HK</a:t>
            </a:r>
          </a:p>
        </p:txBody>
      </p:sp>
      <p:sp>
        <p:nvSpPr>
          <p:cNvPr id="36" name="Figure 12 label 29 line 2">
            <a:extLst xmlns:a="http://schemas.openxmlformats.org/drawingml/2006/main">
              <a:ext uri="{FF2B5EF4-FFF2-40B4-BE49-F238E27FC236}">
                <a16:creationId xmlns:a16="http://schemas.microsoft.com/office/drawing/2014/main" id="{79302F06-56E5-4922-A7F2-275A4BA06CA4}"/>
              </a:ext>
            </a:extLst>
          </p:cNvPr>
          <p:cNvSpPr>
            <a:spLocks xmlns:a="http://schemas.openxmlformats.org/drawingml/2006/main" noGrp="1"/>
          </p:cNvSpPr>
          <p:nvPr/>
        </p:nvSpPr>
        <p:spPr>
          <a:xfrm xmlns:a="http://schemas.openxmlformats.org/drawingml/2006/main" rot="0">
            <a:off x="7134759" y="544151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Vazyme · 688105.SH</a:t>
            </a:r>
          </a:p>
        </p:txBody>
      </p:sp>
      <p:sp>
        <p:nvSpPr>
          <p:cNvPr id="37" name="Figure 12 label 29 line 3">
            <a:extLst xmlns:a="http://schemas.openxmlformats.org/drawingml/2006/main">
              <a:ext uri="{FF2B5EF4-FFF2-40B4-BE49-F238E27FC236}">
                <a16:creationId xmlns:a16="http://schemas.microsoft.com/office/drawing/2014/main" id="{6869D9BC-831E-4D97-AEA8-0FB50A4FC8A5}"/>
              </a:ext>
            </a:extLst>
          </p:cNvPr>
          <p:cNvSpPr>
            <a:spLocks xmlns:a="http://schemas.openxmlformats.org/drawingml/2006/main" noGrp="1"/>
          </p:cNvSpPr>
          <p:nvPr/>
        </p:nvSpPr>
        <p:spPr>
          <a:xfrm xmlns:a="http://schemas.openxmlformats.org/drawingml/2006/main" rot="0">
            <a:off x="7134759" y="560344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38" name="Figure 12 label 30 line 1">
            <a:extLst xmlns:a="http://schemas.openxmlformats.org/drawingml/2006/main">
              <a:ext uri="{FF2B5EF4-FFF2-40B4-BE49-F238E27FC236}">
                <a16:creationId xmlns:a16="http://schemas.microsoft.com/office/drawing/2014/main" id="{EE6D7566-D22B-4F83-8108-5AEC1F5DDA16}"/>
              </a:ext>
            </a:extLst>
          </p:cNvPr>
          <p:cNvSpPr>
            <a:spLocks xmlns:a="http://schemas.openxmlformats.org/drawingml/2006/main" noGrp="1"/>
          </p:cNvSpPr>
          <p:nvPr/>
        </p:nvSpPr>
        <p:spPr>
          <a:xfrm xmlns:a="http://schemas.openxmlformats.org/drawingml/2006/main" rot="0">
            <a:off x="877330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Twist · TWST</a:t>
            </a:r>
          </a:p>
        </p:txBody>
      </p:sp>
      <p:sp>
        <p:nvSpPr>
          <p:cNvPr id="39" name="Figure 12 label 30 line 2">
            <a:extLst xmlns:a="http://schemas.openxmlformats.org/drawingml/2006/main">
              <a:ext uri="{FF2B5EF4-FFF2-40B4-BE49-F238E27FC236}">
                <a16:creationId xmlns:a16="http://schemas.microsoft.com/office/drawing/2014/main" id="{CD8F9F2F-216B-42C2-9AEF-F105AE2A4743}"/>
              </a:ext>
            </a:extLst>
          </p:cNvPr>
          <p:cNvSpPr>
            <a:spLocks xmlns:a="http://schemas.openxmlformats.org/drawingml/2006/main" noGrp="1"/>
          </p:cNvSpPr>
          <p:nvPr/>
        </p:nvSpPr>
        <p:spPr>
          <a:xfrm xmlns:a="http://schemas.openxmlformats.org/drawingml/2006/main" rot="0">
            <a:off x="877330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40" name="Figure 12 label 31 line 1">
            <a:extLst xmlns:a="http://schemas.openxmlformats.org/drawingml/2006/main">
              <a:ext uri="{FF2B5EF4-FFF2-40B4-BE49-F238E27FC236}">
                <a16:creationId xmlns:a16="http://schemas.microsoft.com/office/drawing/2014/main" id="{4FBF3631-87EF-4E8E-8249-4426758AE3A0}"/>
              </a:ext>
            </a:extLst>
          </p:cNvPr>
          <p:cNvSpPr>
            <a:spLocks xmlns:a="http://schemas.openxmlformats.org/drawingml/2006/main" noGrp="1"/>
          </p:cNvSpPr>
          <p:nvPr/>
        </p:nvSpPr>
        <p:spPr>
          <a:xfrm xmlns:a="http://schemas.openxmlformats.org/drawingml/2006/main" rot="0">
            <a:off x="11071556" y="2934310"/>
            <a:ext cx="272716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41" name="Figure 12 label 32 line 1">
            <a:extLst xmlns:a="http://schemas.openxmlformats.org/drawingml/2006/main">
              <a:ext uri="{FF2B5EF4-FFF2-40B4-BE49-F238E27FC236}">
                <a16:creationId xmlns:a16="http://schemas.microsoft.com/office/drawing/2014/main" id="{788FE2FD-00D7-4DB4-87AC-8742DED64A84}"/>
              </a:ext>
            </a:extLst>
          </p:cNvPr>
          <p:cNvSpPr>
            <a:spLocks xmlns:a="http://schemas.openxmlformats.org/drawingml/2006/main" noGrp="1"/>
          </p:cNvSpPr>
          <p:nvPr/>
        </p:nvSpPr>
        <p:spPr>
          <a:xfrm xmlns:a="http://schemas.openxmlformats.org/drawingml/2006/main" rot="0">
            <a:off x="10661599" y="3323692"/>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p:txBody>
      </p:sp>
      <p:sp>
        <p:nvSpPr>
          <p:cNvPr id="42" name="Figure 12 label 32 line 2">
            <a:extLst xmlns:a="http://schemas.openxmlformats.org/drawingml/2006/main">
              <a:ext uri="{FF2B5EF4-FFF2-40B4-BE49-F238E27FC236}">
                <a16:creationId xmlns:a16="http://schemas.microsoft.com/office/drawing/2014/main" id="{C03CD054-54D3-4656-A67E-CF1936CB7296}"/>
              </a:ext>
            </a:extLst>
          </p:cNvPr>
          <p:cNvSpPr>
            <a:spLocks xmlns:a="http://schemas.openxmlformats.org/drawingml/2006/main" noGrp="1"/>
          </p:cNvSpPr>
          <p:nvPr/>
        </p:nvSpPr>
        <p:spPr>
          <a:xfrm xmlns:a="http://schemas.openxmlformats.org/drawingml/2006/main" rot="0">
            <a:off x="10661599" y="3523717"/>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43" name="Figure 12 label 33 line 1">
            <a:extLst xmlns:a="http://schemas.openxmlformats.org/drawingml/2006/main">
              <a:ext uri="{FF2B5EF4-FFF2-40B4-BE49-F238E27FC236}">
                <a16:creationId xmlns:a16="http://schemas.microsoft.com/office/drawing/2014/main" id="{6991D25A-EFF2-46CF-8639-B3304AAD49D7}"/>
              </a:ext>
            </a:extLst>
          </p:cNvPr>
          <p:cNvSpPr>
            <a:spLocks xmlns:a="http://schemas.openxmlformats.org/drawingml/2006/main" noGrp="1"/>
          </p:cNvSpPr>
          <p:nvPr/>
        </p:nvSpPr>
        <p:spPr>
          <a:xfrm xmlns:a="http://schemas.openxmlformats.org/drawingml/2006/main" rot="0">
            <a:off x="10656723" y="3752545"/>
            <a:ext cx="1468243"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44" name="Figure 12 label 34 line 1">
            <a:extLst xmlns:a="http://schemas.openxmlformats.org/drawingml/2006/main">
              <a:ext uri="{FF2B5EF4-FFF2-40B4-BE49-F238E27FC236}">
                <a16:creationId xmlns:a16="http://schemas.microsoft.com/office/drawing/2014/main" id="{B7C20B39-5119-44FF-BC14-C92A23E58769}"/>
              </a:ext>
            </a:extLst>
          </p:cNvPr>
          <p:cNvSpPr>
            <a:spLocks xmlns:a="http://schemas.openxmlformats.org/drawingml/2006/main" noGrp="1"/>
          </p:cNvSpPr>
          <p:nvPr/>
        </p:nvSpPr>
        <p:spPr>
          <a:xfrm xmlns:a="http://schemas.openxmlformats.org/drawingml/2006/main" rot="0">
            <a:off x="10662666" y="4195953"/>
            <a:ext cx="229528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Global · 2025 · F&amp;S RUO proteins [2]</a:t>
            </a:r>
          </a:p>
        </p:txBody>
      </p:sp>
      <p:sp>
        <p:nvSpPr>
          <p:cNvPr id="45" name="Figure 12 label 35 line 1">
            <a:extLst xmlns:a="http://schemas.openxmlformats.org/drawingml/2006/main">
              <a:ext uri="{FF2B5EF4-FFF2-40B4-BE49-F238E27FC236}">
                <a16:creationId xmlns:a16="http://schemas.microsoft.com/office/drawing/2014/main" id="{EB88745E-9672-4C0C-9DF6-A1505D40A843}"/>
              </a:ext>
            </a:extLst>
          </p:cNvPr>
          <p:cNvSpPr>
            <a:spLocks xmlns:a="http://schemas.openxmlformats.org/drawingml/2006/main" noGrp="1"/>
          </p:cNvSpPr>
          <p:nvPr/>
        </p:nvSpPr>
        <p:spPr>
          <a:xfrm xmlns:a="http://schemas.openxmlformats.org/drawingml/2006/main" rot="0">
            <a:off x="10662971" y="4420133"/>
            <a:ext cx="2324862"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Issuer-commissioned; estimate disputed</a:t>
            </a:r>
          </a:p>
        </p:txBody>
      </p:sp>
      <p:sp>
        <p:nvSpPr>
          <p:cNvPr id="46" name="Figure 12 label 36 line 1">
            <a:extLst xmlns:a="http://schemas.openxmlformats.org/drawingml/2006/main">
              <a:ext uri="{FF2B5EF4-FFF2-40B4-BE49-F238E27FC236}">
                <a16:creationId xmlns:a16="http://schemas.microsoft.com/office/drawing/2014/main" id="{D3D951FA-9400-4D5C-BB27-C6D411DFA075}"/>
              </a:ext>
            </a:extLst>
          </p:cNvPr>
          <p:cNvSpPr>
            <a:spLocks xmlns:a="http://schemas.openxmlformats.org/drawingml/2006/main" noGrp="1"/>
          </p:cNvSpPr>
          <p:nvPr/>
        </p:nvSpPr>
        <p:spPr>
          <a:xfrm xmlns:a="http://schemas.openxmlformats.org/drawingml/2006/main" rot="0">
            <a:off x="1066358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7" name="Figure 12 label 37 line 1">
            <a:extLst xmlns:a="http://schemas.openxmlformats.org/drawingml/2006/main">
              <a:ext uri="{FF2B5EF4-FFF2-40B4-BE49-F238E27FC236}">
                <a16:creationId xmlns:a16="http://schemas.microsoft.com/office/drawing/2014/main" id="{7A33805C-F9D7-4DE3-84DB-93C9D24AE1EE}"/>
              </a:ext>
            </a:extLst>
          </p:cNvPr>
          <p:cNvSpPr>
            <a:spLocks xmlns:a="http://schemas.openxmlformats.org/drawingml/2006/main" noGrp="1"/>
          </p:cNvSpPr>
          <p:nvPr/>
        </p:nvSpPr>
        <p:spPr>
          <a:xfrm xmlns:a="http://schemas.openxmlformats.org/drawingml/2006/main" rot="0">
            <a:off x="1230203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8" name="Figure 12 label 38 line 1">
            <a:extLst xmlns:a="http://schemas.openxmlformats.org/drawingml/2006/main">
              <a:ext uri="{FF2B5EF4-FFF2-40B4-BE49-F238E27FC236}">
                <a16:creationId xmlns:a16="http://schemas.microsoft.com/office/drawing/2014/main" id="{4C4D55D1-7145-4D43-985C-A5606FAFA325}"/>
              </a:ext>
            </a:extLst>
          </p:cNvPr>
          <p:cNvSpPr>
            <a:spLocks xmlns:a="http://schemas.openxmlformats.org/drawingml/2006/main" noGrp="1"/>
          </p:cNvSpPr>
          <p:nvPr/>
        </p:nvSpPr>
        <p:spPr>
          <a:xfrm xmlns:a="http://schemas.openxmlformats.org/drawingml/2006/main" rot="0">
            <a:off x="1066281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49" name="Figure 12 label 38 line 2">
            <a:extLst xmlns:a="http://schemas.openxmlformats.org/drawingml/2006/main">
              <a:ext uri="{FF2B5EF4-FFF2-40B4-BE49-F238E27FC236}">
                <a16:creationId xmlns:a16="http://schemas.microsoft.com/office/drawing/2014/main" id="{90831010-2374-4FE0-9034-98DD70E43640}"/>
              </a:ext>
            </a:extLst>
          </p:cNvPr>
          <p:cNvSpPr>
            <a:spLocks xmlns:a="http://schemas.openxmlformats.org/drawingml/2006/main" noGrp="1"/>
          </p:cNvSpPr>
          <p:nvPr/>
        </p:nvSpPr>
        <p:spPr>
          <a:xfrm xmlns:a="http://schemas.openxmlformats.org/drawingml/2006/main" rot="0">
            <a:off x="1066281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50" name="Figure 12 label 39 line 1">
            <a:extLst xmlns:a="http://schemas.openxmlformats.org/drawingml/2006/main">
              <a:ext uri="{FF2B5EF4-FFF2-40B4-BE49-F238E27FC236}">
                <a16:creationId xmlns:a16="http://schemas.microsoft.com/office/drawing/2014/main" id="{FEA8FA06-4399-4AAA-A545-48C90CECD2A1}"/>
              </a:ext>
            </a:extLst>
          </p:cNvPr>
          <p:cNvSpPr>
            <a:spLocks xmlns:a="http://schemas.openxmlformats.org/drawingml/2006/main" noGrp="1"/>
          </p:cNvSpPr>
          <p:nvPr/>
        </p:nvSpPr>
        <p:spPr>
          <a:xfrm xmlns:a="http://schemas.openxmlformats.org/drawingml/2006/main" rot="0">
            <a:off x="1230136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Bio-Techne · TECH</a:t>
            </a:r>
          </a:p>
        </p:txBody>
      </p:sp>
      <p:sp>
        <p:nvSpPr>
          <p:cNvPr id="51" name="Figure 12 label 39 line 2">
            <a:extLst xmlns:a="http://schemas.openxmlformats.org/drawingml/2006/main">
              <a:ext uri="{FF2B5EF4-FFF2-40B4-BE49-F238E27FC236}">
                <a16:creationId xmlns:a16="http://schemas.microsoft.com/office/drawing/2014/main" id="{78590500-787B-4017-A191-A606D75E4C1D}"/>
              </a:ext>
            </a:extLst>
          </p:cNvPr>
          <p:cNvSpPr>
            <a:spLocks xmlns:a="http://schemas.openxmlformats.org/drawingml/2006/main" noGrp="1"/>
          </p:cNvSpPr>
          <p:nvPr/>
        </p:nvSpPr>
        <p:spPr>
          <a:xfrm xmlns:a="http://schemas.openxmlformats.org/drawingml/2006/main" rot="0">
            <a:off x="1230136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52" name="Figure 12 label 40 line 1">
            <a:extLst xmlns:a="http://schemas.openxmlformats.org/drawingml/2006/main">
              <a:ext uri="{FF2B5EF4-FFF2-40B4-BE49-F238E27FC236}">
                <a16:creationId xmlns:a16="http://schemas.microsoft.com/office/drawing/2014/main" id="{81D9850E-FC19-481B-A10D-BAF37597EAAD}"/>
              </a:ext>
            </a:extLst>
          </p:cNvPr>
          <p:cNvSpPr>
            <a:spLocks xmlns:a="http://schemas.openxmlformats.org/drawingml/2006/main" noGrp="1"/>
          </p:cNvSpPr>
          <p:nvPr/>
        </p:nvSpPr>
        <p:spPr>
          <a:xfrm xmlns:a="http://schemas.openxmlformats.org/drawingml/2006/main" rot="0">
            <a:off x="14599615" y="2934310"/>
            <a:ext cx="236417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53" name="Figure 12 label 41 line 1">
            <a:extLst xmlns:a="http://schemas.openxmlformats.org/drawingml/2006/main">
              <a:ext uri="{FF2B5EF4-FFF2-40B4-BE49-F238E27FC236}">
                <a16:creationId xmlns:a16="http://schemas.microsoft.com/office/drawing/2014/main" id="{56A23B13-7D8A-4773-A45E-2401E846A072}"/>
              </a:ext>
            </a:extLst>
          </p:cNvPr>
          <p:cNvSpPr>
            <a:spLocks xmlns:a="http://schemas.openxmlformats.org/drawingml/2006/main" noGrp="1"/>
          </p:cNvSpPr>
          <p:nvPr/>
        </p:nvSpPr>
        <p:spPr>
          <a:xfrm xmlns:a="http://schemas.openxmlformats.org/drawingml/2006/main" rot="0">
            <a:off x="14189659" y="3323692"/>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p:txBody>
      </p:sp>
      <p:sp>
        <p:nvSpPr>
          <p:cNvPr id="54" name="Figure 12 label 41 line 2">
            <a:extLst xmlns:a="http://schemas.openxmlformats.org/drawingml/2006/main">
              <a:ext uri="{FF2B5EF4-FFF2-40B4-BE49-F238E27FC236}">
                <a16:creationId xmlns:a16="http://schemas.microsoft.com/office/drawing/2014/main" id="{0E14E173-56CE-4183-9E5E-CFAF357EEA4E}"/>
              </a:ext>
            </a:extLst>
          </p:cNvPr>
          <p:cNvSpPr>
            <a:spLocks xmlns:a="http://schemas.openxmlformats.org/drawingml/2006/main" noGrp="1"/>
          </p:cNvSpPr>
          <p:nvPr/>
        </p:nvSpPr>
        <p:spPr>
          <a:xfrm xmlns:a="http://schemas.openxmlformats.org/drawingml/2006/main" rot="0">
            <a:off x="14189659" y="3523717"/>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55" name="Figure 12 label 42 line 1">
            <a:extLst xmlns:a="http://schemas.openxmlformats.org/drawingml/2006/main">
              <a:ext uri="{FF2B5EF4-FFF2-40B4-BE49-F238E27FC236}">
                <a16:creationId xmlns:a16="http://schemas.microsoft.com/office/drawing/2014/main" id="{5AD58F6C-0EF1-42FA-B338-BA48629F9CC1}"/>
              </a:ext>
            </a:extLst>
          </p:cNvPr>
          <p:cNvSpPr>
            <a:spLocks xmlns:a="http://schemas.openxmlformats.org/drawingml/2006/main" noGrp="1"/>
          </p:cNvSpPr>
          <p:nvPr/>
        </p:nvSpPr>
        <p:spPr>
          <a:xfrm xmlns:a="http://schemas.openxmlformats.org/drawingml/2006/main" rot="0">
            <a:off x="14186611" y="3771747"/>
            <a:ext cx="193858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56" name="Figure 12 label 43 line 1">
            <a:extLst xmlns:a="http://schemas.openxmlformats.org/drawingml/2006/main">
              <a:ext uri="{FF2B5EF4-FFF2-40B4-BE49-F238E27FC236}">
                <a16:creationId xmlns:a16="http://schemas.microsoft.com/office/drawing/2014/main" id="{44CE40F8-C86C-4518-93CC-74A81EAF10B2}"/>
              </a:ext>
            </a:extLst>
          </p:cNvPr>
          <p:cNvSpPr>
            <a:spLocks xmlns:a="http://schemas.openxmlformats.org/drawingml/2006/main" noGrp="1"/>
          </p:cNvSpPr>
          <p:nvPr/>
        </p:nvSpPr>
        <p:spPr>
          <a:xfrm xmlns:a="http://schemas.openxmlformats.org/drawingml/2006/main" rot="0">
            <a:off x="14190726" y="4195953"/>
            <a:ext cx="220375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57" name="Figure 12 label 44 line 1">
            <a:extLst xmlns:a="http://schemas.openxmlformats.org/drawingml/2006/main">
              <a:ext uri="{FF2B5EF4-FFF2-40B4-BE49-F238E27FC236}">
                <a16:creationId xmlns:a16="http://schemas.microsoft.com/office/drawing/2014/main" id="{9F42F729-D4C1-4A1A-AE96-C95D73832275}"/>
              </a:ext>
            </a:extLst>
          </p:cNvPr>
          <p:cNvSpPr>
            <a:spLocks xmlns:a="http://schemas.openxmlformats.org/drawingml/2006/main" noGrp="1"/>
          </p:cNvSpPr>
          <p:nvPr/>
        </p:nvSpPr>
        <p:spPr>
          <a:xfrm xmlns:a="http://schemas.openxmlformats.org/drawingml/2006/main" rot="0">
            <a:off x="14191031" y="4420133"/>
            <a:ext cx="2299561"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sp>
        <p:nvSpPr>
          <p:cNvPr id="58" name="Figure 12 label 45 line 1">
            <a:extLst xmlns:a="http://schemas.openxmlformats.org/drawingml/2006/main">
              <a:ext uri="{FF2B5EF4-FFF2-40B4-BE49-F238E27FC236}">
                <a16:creationId xmlns:a16="http://schemas.microsoft.com/office/drawing/2014/main" id="{879CE29F-C1A8-464B-B030-5033D8864AAB}"/>
              </a:ext>
            </a:extLst>
          </p:cNvPr>
          <p:cNvSpPr>
            <a:spLocks xmlns:a="http://schemas.openxmlformats.org/drawingml/2006/main" noGrp="1"/>
          </p:cNvSpPr>
          <p:nvPr/>
        </p:nvSpPr>
        <p:spPr>
          <a:xfrm xmlns:a="http://schemas.openxmlformats.org/drawingml/2006/main" rot="0">
            <a:off x="14188440" y="4705350"/>
            <a:ext cx="15951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59" name="Figure 12 label 46 line 1">
            <a:extLst xmlns:a="http://schemas.openxmlformats.org/drawingml/2006/main">
              <a:ext uri="{FF2B5EF4-FFF2-40B4-BE49-F238E27FC236}">
                <a16:creationId xmlns:a16="http://schemas.microsoft.com/office/drawing/2014/main" id="{5542A52E-21BA-4137-AD25-25ECEECB7C09}"/>
              </a:ext>
            </a:extLst>
          </p:cNvPr>
          <p:cNvSpPr>
            <a:spLocks xmlns:a="http://schemas.openxmlformats.org/drawingml/2006/main" noGrp="1"/>
          </p:cNvSpPr>
          <p:nvPr/>
        </p:nvSpPr>
        <p:spPr>
          <a:xfrm xmlns:a="http://schemas.openxmlformats.org/drawingml/2006/main" rot="0">
            <a:off x="1419164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0" name="Figure 12 label 47 line 1">
            <a:extLst xmlns:a="http://schemas.openxmlformats.org/drawingml/2006/main">
              <a:ext uri="{FF2B5EF4-FFF2-40B4-BE49-F238E27FC236}">
                <a16:creationId xmlns:a16="http://schemas.microsoft.com/office/drawing/2014/main" id="{EE287614-C5A9-4981-B5DC-C592030CEEF0}"/>
              </a:ext>
            </a:extLst>
          </p:cNvPr>
          <p:cNvSpPr>
            <a:spLocks xmlns:a="http://schemas.openxmlformats.org/drawingml/2006/main" noGrp="1"/>
          </p:cNvSpPr>
          <p:nvPr/>
        </p:nvSpPr>
        <p:spPr>
          <a:xfrm xmlns:a="http://schemas.openxmlformats.org/drawingml/2006/main" rot="0">
            <a:off x="1583009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61" name="Figure 12 label 48 line 1">
            <a:extLst xmlns:a="http://schemas.openxmlformats.org/drawingml/2006/main">
              <a:ext uri="{FF2B5EF4-FFF2-40B4-BE49-F238E27FC236}">
                <a16:creationId xmlns:a16="http://schemas.microsoft.com/office/drawing/2014/main" id="{A56FBBA7-4DB9-4993-842B-1CBD77AE566A}"/>
              </a:ext>
            </a:extLst>
          </p:cNvPr>
          <p:cNvSpPr>
            <a:spLocks xmlns:a="http://schemas.openxmlformats.org/drawingml/2006/main" noGrp="1"/>
          </p:cNvSpPr>
          <p:nvPr/>
        </p:nvSpPr>
        <p:spPr>
          <a:xfrm xmlns:a="http://schemas.openxmlformats.org/drawingml/2006/main" rot="0">
            <a:off x="1419087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OPM · 688293.SH</a:t>
            </a:r>
          </a:p>
        </p:txBody>
      </p:sp>
      <p:sp>
        <p:nvSpPr>
          <p:cNvPr id="62" name="Figure 12 label 48 line 2">
            <a:extLst xmlns:a="http://schemas.openxmlformats.org/drawingml/2006/main">
              <a:ext uri="{FF2B5EF4-FFF2-40B4-BE49-F238E27FC236}">
                <a16:creationId xmlns:a16="http://schemas.microsoft.com/office/drawing/2014/main" id="{6589ADDF-E4CE-4D03-A002-F3E25C10F203}"/>
              </a:ext>
            </a:extLst>
          </p:cNvPr>
          <p:cNvSpPr>
            <a:spLocks xmlns:a="http://schemas.openxmlformats.org/drawingml/2006/main" noGrp="1"/>
          </p:cNvSpPr>
          <p:nvPr/>
        </p:nvSpPr>
        <p:spPr>
          <a:xfrm xmlns:a="http://schemas.openxmlformats.org/drawingml/2006/main" rot="0">
            <a:off x="1419087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63" name="Figure 12 label 49 line 1">
            <a:extLst xmlns:a="http://schemas.openxmlformats.org/drawingml/2006/main">
              <a:ext uri="{FF2B5EF4-FFF2-40B4-BE49-F238E27FC236}">
                <a16:creationId xmlns:a16="http://schemas.microsoft.com/office/drawing/2014/main" id="{6770F24B-1D55-4A3D-9D16-9C6DEAB7A4D5}"/>
              </a:ext>
            </a:extLst>
          </p:cNvPr>
          <p:cNvSpPr>
            <a:spLocks xmlns:a="http://schemas.openxmlformats.org/drawingml/2006/main" noGrp="1"/>
          </p:cNvSpPr>
          <p:nvPr/>
        </p:nvSpPr>
        <p:spPr>
          <a:xfrm xmlns:a="http://schemas.openxmlformats.org/drawingml/2006/main" rot="0">
            <a:off x="15829422" y="5282154"/>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Gibco / Thermo · TMO</a:t>
            </a:r>
          </a:p>
        </p:txBody>
      </p:sp>
      <p:sp>
        <p:nvSpPr>
          <p:cNvPr id="64" name="Figure 12 label 49 line 2">
            <a:extLst xmlns:a="http://schemas.openxmlformats.org/drawingml/2006/main">
              <a:ext uri="{FF2B5EF4-FFF2-40B4-BE49-F238E27FC236}">
                <a16:creationId xmlns:a16="http://schemas.microsoft.com/office/drawing/2014/main" id="{7F8C566A-7967-4BDB-BA04-23EE27C9AF3D}"/>
              </a:ext>
            </a:extLst>
          </p:cNvPr>
          <p:cNvSpPr>
            <a:spLocks xmlns:a="http://schemas.openxmlformats.org/drawingml/2006/main" noGrp="1"/>
          </p:cNvSpPr>
          <p:nvPr/>
        </p:nvSpPr>
        <p:spPr>
          <a:xfrm xmlns:a="http://schemas.openxmlformats.org/drawingml/2006/main" rot="0">
            <a:off x="15829422" y="5436459"/>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65" name="Figure 12 label 50 line 1">
            <a:extLst xmlns:a="http://schemas.openxmlformats.org/drawingml/2006/main">
              <a:ext uri="{FF2B5EF4-FFF2-40B4-BE49-F238E27FC236}">
                <a16:creationId xmlns:a16="http://schemas.microsoft.com/office/drawing/2014/main" id="{15F064E5-40A3-4C93-A15C-6402151A5C91}"/>
              </a:ext>
            </a:extLst>
          </p:cNvPr>
          <p:cNvSpPr>
            <a:spLocks xmlns:a="http://schemas.openxmlformats.org/drawingml/2006/main" noGrp="1"/>
          </p:cNvSpPr>
          <p:nvPr/>
        </p:nvSpPr>
        <p:spPr>
          <a:xfrm xmlns:a="http://schemas.openxmlformats.org/drawingml/2006/main" rot="0">
            <a:off x="7543495" y="6111850"/>
            <a:ext cx="274904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66" name="Figure 12 label 51 line 1">
            <a:extLst xmlns:a="http://schemas.openxmlformats.org/drawingml/2006/main">
              <a:ext uri="{FF2B5EF4-FFF2-40B4-BE49-F238E27FC236}">
                <a16:creationId xmlns:a16="http://schemas.microsoft.com/office/drawing/2014/main" id="{26F30097-D0E9-4DCE-B34A-9F8965F3F3ED}"/>
              </a:ext>
            </a:extLst>
          </p:cNvPr>
          <p:cNvSpPr>
            <a:spLocks xmlns:a="http://schemas.openxmlformats.org/drawingml/2006/main" noGrp="1"/>
          </p:cNvSpPr>
          <p:nvPr/>
        </p:nvSpPr>
        <p:spPr>
          <a:xfrm xmlns:a="http://schemas.openxmlformats.org/drawingml/2006/main" rot="0">
            <a:off x="7133540" y="6501232"/>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p:txBody>
      </p:sp>
      <p:sp>
        <p:nvSpPr>
          <p:cNvPr id="67" name="Figure 12 label 51 line 2">
            <a:extLst xmlns:a="http://schemas.openxmlformats.org/drawingml/2006/main">
              <a:ext uri="{FF2B5EF4-FFF2-40B4-BE49-F238E27FC236}">
                <a16:creationId xmlns:a16="http://schemas.microsoft.com/office/drawing/2014/main" id="{FBB30077-DBD1-404C-B26A-B074D6AACEEA}"/>
              </a:ext>
            </a:extLst>
          </p:cNvPr>
          <p:cNvSpPr>
            <a:spLocks xmlns:a="http://schemas.openxmlformats.org/drawingml/2006/main" noGrp="1"/>
          </p:cNvSpPr>
          <p:nvPr/>
        </p:nvSpPr>
        <p:spPr>
          <a:xfrm xmlns:a="http://schemas.openxmlformats.org/drawingml/2006/main" rot="0">
            <a:off x="7133540" y="6701257"/>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68" name="Figure 12 label 52 line 1">
            <a:extLst xmlns:a="http://schemas.openxmlformats.org/drawingml/2006/main">
              <a:ext uri="{FF2B5EF4-FFF2-40B4-BE49-F238E27FC236}">
                <a16:creationId xmlns:a16="http://schemas.microsoft.com/office/drawing/2014/main" id="{946A3E63-F5BE-4D75-ABDC-86D885D813C4}"/>
              </a:ext>
            </a:extLst>
          </p:cNvPr>
          <p:cNvSpPr>
            <a:spLocks xmlns:a="http://schemas.openxmlformats.org/drawingml/2006/main" noGrp="1"/>
          </p:cNvSpPr>
          <p:nvPr/>
        </p:nvSpPr>
        <p:spPr>
          <a:xfrm xmlns:a="http://schemas.openxmlformats.org/drawingml/2006/main" rot="0">
            <a:off x="7128663" y="6930085"/>
            <a:ext cx="172646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69" name="Figure 12 label 53 line 1">
            <a:extLst xmlns:a="http://schemas.openxmlformats.org/drawingml/2006/main">
              <a:ext uri="{FF2B5EF4-FFF2-40B4-BE49-F238E27FC236}">
                <a16:creationId xmlns:a16="http://schemas.microsoft.com/office/drawing/2014/main" id="{C83AF980-FAF9-40E3-810B-E36A571E80E8}"/>
              </a:ext>
            </a:extLst>
          </p:cNvPr>
          <p:cNvSpPr>
            <a:spLocks xmlns:a="http://schemas.openxmlformats.org/drawingml/2006/main" noGrp="1"/>
          </p:cNvSpPr>
          <p:nvPr/>
        </p:nvSpPr>
        <p:spPr>
          <a:xfrm xmlns:a="http://schemas.openxmlformats.org/drawingml/2006/main" rot="0">
            <a:off x="7134607" y="7373493"/>
            <a:ext cx="204064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70" name="Figure 12 label 54 line 1">
            <a:extLst xmlns:a="http://schemas.openxmlformats.org/drawingml/2006/main">
              <a:ext uri="{FF2B5EF4-FFF2-40B4-BE49-F238E27FC236}">
                <a16:creationId xmlns:a16="http://schemas.microsoft.com/office/drawing/2014/main" id="{A814E2E3-8B13-4542-9719-92B6598D8F18}"/>
              </a:ext>
            </a:extLst>
          </p:cNvPr>
          <p:cNvSpPr>
            <a:spLocks xmlns:a="http://schemas.openxmlformats.org/drawingml/2006/main" noGrp="1"/>
          </p:cNvSpPr>
          <p:nvPr/>
        </p:nvSpPr>
        <p:spPr>
          <a:xfrm xmlns:a="http://schemas.openxmlformats.org/drawingml/2006/main" rot="0">
            <a:off x="7134911" y="7597674"/>
            <a:ext cx="204566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sp>
        <p:nvSpPr>
          <p:cNvPr id="71" name="Figure 12 label 55 line 1">
            <a:extLst xmlns:a="http://schemas.openxmlformats.org/drawingml/2006/main">
              <a:ext uri="{FF2B5EF4-FFF2-40B4-BE49-F238E27FC236}">
                <a16:creationId xmlns:a16="http://schemas.microsoft.com/office/drawing/2014/main" id="{01B25966-AA80-4BA8-92D9-380316BACA41}"/>
              </a:ext>
            </a:extLst>
          </p:cNvPr>
          <p:cNvSpPr>
            <a:spLocks xmlns:a="http://schemas.openxmlformats.org/drawingml/2006/main" noGrp="1"/>
          </p:cNvSpPr>
          <p:nvPr/>
        </p:nvSpPr>
        <p:spPr>
          <a:xfrm xmlns:a="http://schemas.openxmlformats.org/drawingml/2006/main" rot="0">
            <a:off x="713552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72" name="Figure 12 label 56 line 1">
            <a:extLst xmlns:a="http://schemas.openxmlformats.org/drawingml/2006/main">
              <a:ext uri="{FF2B5EF4-FFF2-40B4-BE49-F238E27FC236}">
                <a16:creationId xmlns:a16="http://schemas.microsoft.com/office/drawing/2014/main" id="{1E63E483-4239-43DF-AD01-1D18DF2AF770}"/>
              </a:ext>
            </a:extLst>
          </p:cNvPr>
          <p:cNvSpPr>
            <a:spLocks xmlns:a="http://schemas.openxmlformats.org/drawingml/2006/main" noGrp="1"/>
          </p:cNvSpPr>
          <p:nvPr/>
        </p:nvSpPr>
        <p:spPr>
          <a:xfrm xmlns:a="http://schemas.openxmlformats.org/drawingml/2006/main" rot="0">
            <a:off x="877397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73" name="Figure 12 label 57 line 1">
            <a:extLst xmlns:a="http://schemas.openxmlformats.org/drawingml/2006/main">
              <a:ext uri="{FF2B5EF4-FFF2-40B4-BE49-F238E27FC236}">
                <a16:creationId xmlns:a16="http://schemas.microsoft.com/office/drawing/2014/main" id="{4FD86665-994F-4E00-92B6-E506C9816346}"/>
              </a:ext>
            </a:extLst>
          </p:cNvPr>
          <p:cNvSpPr>
            <a:spLocks xmlns:a="http://schemas.openxmlformats.org/drawingml/2006/main" noGrp="1"/>
          </p:cNvSpPr>
          <p:nvPr/>
        </p:nvSpPr>
        <p:spPr>
          <a:xfrm xmlns:a="http://schemas.openxmlformats.org/drawingml/2006/main" rot="0">
            <a:off x="7134759" y="8457134"/>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p:txBody>
      </p:sp>
      <p:sp>
        <p:nvSpPr>
          <p:cNvPr id="74" name="Figure 12 label 57 line 2">
            <a:extLst xmlns:a="http://schemas.openxmlformats.org/drawingml/2006/main">
              <a:ext uri="{FF2B5EF4-FFF2-40B4-BE49-F238E27FC236}">
                <a16:creationId xmlns:a16="http://schemas.microsoft.com/office/drawing/2014/main" id="{59C73D3C-A3F2-4AE4-A38E-835EEDC0CA24}"/>
              </a:ext>
            </a:extLst>
          </p:cNvPr>
          <p:cNvSpPr>
            <a:spLocks xmlns:a="http://schemas.openxmlformats.org/drawingml/2006/main" noGrp="1"/>
          </p:cNvSpPr>
          <p:nvPr/>
        </p:nvSpPr>
        <p:spPr>
          <a:xfrm xmlns:a="http://schemas.openxmlformats.org/drawingml/2006/main" rot="0">
            <a:off x="7134759" y="8619059"/>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75" name="Figure 12 label 58 line 1">
            <a:extLst xmlns:a="http://schemas.openxmlformats.org/drawingml/2006/main">
              <a:ext uri="{FF2B5EF4-FFF2-40B4-BE49-F238E27FC236}">
                <a16:creationId xmlns:a16="http://schemas.microsoft.com/office/drawing/2014/main" id="{148DFED8-5DA4-41BF-B77D-6FD31224E86D}"/>
              </a:ext>
            </a:extLst>
          </p:cNvPr>
          <p:cNvSpPr>
            <a:spLocks xmlns:a="http://schemas.openxmlformats.org/drawingml/2006/main" noGrp="1"/>
          </p:cNvSpPr>
          <p:nvPr/>
        </p:nvSpPr>
        <p:spPr>
          <a:xfrm xmlns:a="http://schemas.openxmlformats.org/drawingml/2006/main" rot="0">
            <a:off x="8773302" y="8459694"/>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Corning · GLW</a:t>
            </a:r>
          </a:p>
        </p:txBody>
      </p:sp>
      <p:sp>
        <p:nvSpPr>
          <p:cNvPr id="76" name="Figure 12 label 58 line 2">
            <a:extLst xmlns:a="http://schemas.openxmlformats.org/drawingml/2006/main">
              <a:ext uri="{FF2B5EF4-FFF2-40B4-BE49-F238E27FC236}">
                <a16:creationId xmlns:a16="http://schemas.microsoft.com/office/drawing/2014/main" id="{17D37B36-2E48-4583-8639-9D9FBEADBB28}"/>
              </a:ext>
            </a:extLst>
          </p:cNvPr>
          <p:cNvSpPr>
            <a:spLocks xmlns:a="http://schemas.openxmlformats.org/drawingml/2006/main" noGrp="1"/>
          </p:cNvSpPr>
          <p:nvPr/>
        </p:nvSpPr>
        <p:spPr>
          <a:xfrm xmlns:a="http://schemas.openxmlformats.org/drawingml/2006/main" rot="0">
            <a:off x="8773302" y="8613999"/>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77" name="Figure 12 label 59 line 1">
            <a:extLst xmlns:a="http://schemas.openxmlformats.org/drawingml/2006/main">
              <a:ext uri="{FF2B5EF4-FFF2-40B4-BE49-F238E27FC236}">
                <a16:creationId xmlns:a16="http://schemas.microsoft.com/office/drawing/2014/main" id="{A97CB640-F612-4C42-908C-B214B6967065}"/>
              </a:ext>
            </a:extLst>
          </p:cNvPr>
          <p:cNvSpPr>
            <a:spLocks xmlns:a="http://schemas.openxmlformats.org/drawingml/2006/main" noGrp="1"/>
          </p:cNvSpPr>
          <p:nvPr/>
        </p:nvSpPr>
        <p:spPr>
          <a:xfrm xmlns:a="http://schemas.openxmlformats.org/drawingml/2006/main" rot="0">
            <a:off x="11071556" y="6111850"/>
            <a:ext cx="250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78" name="Figure 12 label 60 line 1">
            <a:extLst xmlns:a="http://schemas.openxmlformats.org/drawingml/2006/main">
              <a:ext uri="{FF2B5EF4-FFF2-40B4-BE49-F238E27FC236}">
                <a16:creationId xmlns:a16="http://schemas.microsoft.com/office/drawing/2014/main" id="{D0502283-FBB7-4D44-A986-97E10ACC5C52}"/>
              </a:ext>
            </a:extLst>
          </p:cNvPr>
          <p:cNvSpPr>
            <a:spLocks xmlns:a="http://schemas.openxmlformats.org/drawingml/2006/main" noGrp="1"/>
          </p:cNvSpPr>
          <p:nvPr/>
        </p:nvSpPr>
        <p:spPr>
          <a:xfrm xmlns:a="http://schemas.openxmlformats.org/drawingml/2006/main" rot="0">
            <a:off x="10661599" y="6501232"/>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p:txBody>
      </p:sp>
      <p:sp>
        <p:nvSpPr>
          <p:cNvPr id="79" name="Figure 12 label 60 line 2">
            <a:extLst xmlns:a="http://schemas.openxmlformats.org/drawingml/2006/main">
              <a:ext uri="{FF2B5EF4-FFF2-40B4-BE49-F238E27FC236}">
                <a16:creationId xmlns:a16="http://schemas.microsoft.com/office/drawing/2014/main" id="{9774784C-C606-45AA-B165-46F33717F973}"/>
              </a:ext>
            </a:extLst>
          </p:cNvPr>
          <p:cNvSpPr>
            <a:spLocks xmlns:a="http://schemas.openxmlformats.org/drawingml/2006/main" noGrp="1"/>
          </p:cNvSpPr>
          <p:nvPr/>
        </p:nvSpPr>
        <p:spPr>
          <a:xfrm xmlns:a="http://schemas.openxmlformats.org/drawingml/2006/main" rot="0">
            <a:off x="10661599" y="6701257"/>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80" name="Figure 12 label 61 line 1">
            <a:extLst xmlns:a="http://schemas.openxmlformats.org/drawingml/2006/main">
              <a:ext uri="{FF2B5EF4-FFF2-40B4-BE49-F238E27FC236}">
                <a16:creationId xmlns:a16="http://schemas.microsoft.com/office/drawing/2014/main" id="{EEA4387E-438E-4773-809C-6B503822F7AF}"/>
              </a:ext>
            </a:extLst>
          </p:cNvPr>
          <p:cNvSpPr>
            <a:spLocks xmlns:a="http://schemas.openxmlformats.org/drawingml/2006/main" noGrp="1"/>
          </p:cNvSpPr>
          <p:nvPr/>
        </p:nvSpPr>
        <p:spPr>
          <a:xfrm xmlns:a="http://schemas.openxmlformats.org/drawingml/2006/main" rot="0">
            <a:off x="10656723" y="6930085"/>
            <a:ext cx="164014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81" name="Figure 12 label 62 line 1">
            <a:extLst xmlns:a="http://schemas.openxmlformats.org/drawingml/2006/main">
              <a:ext uri="{FF2B5EF4-FFF2-40B4-BE49-F238E27FC236}">
                <a16:creationId xmlns:a16="http://schemas.microsoft.com/office/drawing/2014/main" id="{9EECF528-444B-4AA7-8791-439CA4902E28}"/>
              </a:ext>
            </a:extLst>
          </p:cNvPr>
          <p:cNvSpPr>
            <a:spLocks xmlns:a="http://schemas.openxmlformats.org/drawingml/2006/main" noGrp="1"/>
          </p:cNvSpPr>
          <p:nvPr/>
        </p:nvSpPr>
        <p:spPr>
          <a:xfrm xmlns:a="http://schemas.openxmlformats.org/drawingml/2006/main" rot="0">
            <a:off x="10662666" y="7373493"/>
            <a:ext cx="215955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82" name="Figure 12 label 63 line 1">
            <a:extLst xmlns:a="http://schemas.openxmlformats.org/drawingml/2006/main">
              <a:ext uri="{FF2B5EF4-FFF2-40B4-BE49-F238E27FC236}">
                <a16:creationId xmlns:a16="http://schemas.microsoft.com/office/drawing/2014/main" id="{28C90C1A-982E-47D0-A758-B75EEA63C907}"/>
              </a:ext>
            </a:extLst>
          </p:cNvPr>
          <p:cNvSpPr>
            <a:spLocks xmlns:a="http://schemas.openxmlformats.org/drawingml/2006/main" noGrp="1"/>
          </p:cNvSpPr>
          <p:nvPr/>
        </p:nvSpPr>
        <p:spPr>
          <a:xfrm xmlns:a="http://schemas.openxmlformats.org/drawingml/2006/main" rot="0">
            <a:off x="10662971" y="7597674"/>
            <a:ext cx="2360581"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Sequencing subset; 2024 policy baseline</a:t>
            </a:r>
          </a:p>
        </p:txBody>
      </p:sp>
      <p:sp>
        <p:nvSpPr>
          <p:cNvPr id="83" name="Figure 12 label 64 line 1">
            <a:extLst xmlns:a="http://schemas.openxmlformats.org/drawingml/2006/main">
              <a:ext uri="{FF2B5EF4-FFF2-40B4-BE49-F238E27FC236}">
                <a16:creationId xmlns:a16="http://schemas.microsoft.com/office/drawing/2014/main" id="{F6095340-ED8B-4439-95AC-A84B8FFFA0F4}"/>
              </a:ext>
            </a:extLst>
          </p:cNvPr>
          <p:cNvSpPr>
            <a:spLocks xmlns:a="http://schemas.openxmlformats.org/drawingml/2006/main" noGrp="1"/>
          </p:cNvSpPr>
          <p:nvPr/>
        </p:nvSpPr>
        <p:spPr>
          <a:xfrm xmlns:a="http://schemas.openxmlformats.org/drawingml/2006/main" rot="0">
            <a:off x="11758271" y="7912151"/>
            <a:ext cx="151275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84" name="Figure 12 label 65 line 1">
            <a:extLst xmlns:a="http://schemas.openxmlformats.org/drawingml/2006/main">
              <a:ext uri="{FF2B5EF4-FFF2-40B4-BE49-F238E27FC236}">
                <a16:creationId xmlns:a16="http://schemas.microsoft.com/office/drawing/2014/main" id="{4BD4B769-BDC5-432E-B05E-E0AC6F404757}"/>
              </a:ext>
            </a:extLst>
          </p:cNvPr>
          <p:cNvSpPr>
            <a:spLocks xmlns:a="http://schemas.openxmlformats.org/drawingml/2006/main" noGrp="1"/>
          </p:cNvSpPr>
          <p:nvPr/>
        </p:nvSpPr>
        <p:spPr>
          <a:xfrm xmlns:a="http://schemas.openxmlformats.org/drawingml/2006/main" rot="0">
            <a:off x="1066358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5" name="Figure 12 label 66 line 1">
            <a:extLst xmlns:a="http://schemas.openxmlformats.org/drawingml/2006/main">
              <a:ext uri="{FF2B5EF4-FFF2-40B4-BE49-F238E27FC236}">
                <a16:creationId xmlns:a16="http://schemas.microsoft.com/office/drawing/2014/main" id="{333BC7C6-3312-4BC4-B86B-C9AAB4248F98}"/>
              </a:ext>
            </a:extLst>
          </p:cNvPr>
          <p:cNvSpPr>
            <a:spLocks xmlns:a="http://schemas.openxmlformats.org/drawingml/2006/main" noGrp="1"/>
          </p:cNvSpPr>
          <p:nvPr/>
        </p:nvSpPr>
        <p:spPr>
          <a:xfrm xmlns:a="http://schemas.openxmlformats.org/drawingml/2006/main" rot="0">
            <a:off x="1230203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6" name="Figure 12 label 67 line 1">
            <a:extLst xmlns:a="http://schemas.openxmlformats.org/drawingml/2006/main">
              <a:ext uri="{FF2B5EF4-FFF2-40B4-BE49-F238E27FC236}">
                <a16:creationId xmlns:a16="http://schemas.microsoft.com/office/drawing/2014/main" id="{4336CA90-7A9B-48DB-AECC-B82DB2428DDA}"/>
              </a:ext>
            </a:extLst>
          </p:cNvPr>
          <p:cNvSpPr>
            <a:spLocks xmlns:a="http://schemas.openxmlformats.org/drawingml/2006/main" noGrp="1"/>
          </p:cNvSpPr>
          <p:nvPr/>
        </p:nvSpPr>
        <p:spPr>
          <a:xfrm xmlns:a="http://schemas.openxmlformats.org/drawingml/2006/main" rot="0">
            <a:off x="1066281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MGI · 688114.SH</a:t>
            </a:r>
          </a:p>
        </p:txBody>
      </p:sp>
      <p:sp>
        <p:nvSpPr>
          <p:cNvPr id="87" name="Figure 12 label 67 line 2">
            <a:extLst xmlns:a="http://schemas.openxmlformats.org/drawingml/2006/main">
              <a:ext uri="{FF2B5EF4-FFF2-40B4-BE49-F238E27FC236}">
                <a16:creationId xmlns:a16="http://schemas.microsoft.com/office/drawing/2014/main" id="{84AEFC95-C48C-4DBC-90C6-AFA4DE6D0B1A}"/>
              </a:ext>
            </a:extLst>
          </p:cNvPr>
          <p:cNvSpPr>
            <a:spLocks xmlns:a="http://schemas.openxmlformats.org/drawingml/2006/main" noGrp="1"/>
          </p:cNvSpPr>
          <p:nvPr/>
        </p:nvSpPr>
        <p:spPr>
          <a:xfrm xmlns:a="http://schemas.openxmlformats.org/drawingml/2006/main" rot="0">
            <a:off x="1066281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88" name="Figure 12 label 68 line 1">
            <a:extLst xmlns:a="http://schemas.openxmlformats.org/drawingml/2006/main">
              <a:ext uri="{FF2B5EF4-FFF2-40B4-BE49-F238E27FC236}">
                <a16:creationId xmlns:a16="http://schemas.microsoft.com/office/drawing/2014/main" id="{4EAE8AC1-2C4F-44CB-A170-43053D790393}"/>
              </a:ext>
            </a:extLst>
          </p:cNvPr>
          <p:cNvSpPr>
            <a:spLocks xmlns:a="http://schemas.openxmlformats.org/drawingml/2006/main" noGrp="1"/>
          </p:cNvSpPr>
          <p:nvPr/>
        </p:nvSpPr>
        <p:spPr>
          <a:xfrm xmlns:a="http://schemas.openxmlformats.org/drawingml/2006/main" rot="0">
            <a:off x="12301362" y="845969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Illumina · ILMN</a:t>
            </a:r>
          </a:p>
        </p:txBody>
      </p:sp>
      <p:sp>
        <p:nvSpPr>
          <p:cNvPr id="89" name="Figure 12 label 68 line 2">
            <a:extLst xmlns:a="http://schemas.openxmlformats.org/drawingml/2006/main">
              <a:ext uri="{FF2B5EF4-FFF2-40B4-BE49-F238E27FC236}">
                <a16:creationId xmlns:a16="http://schemas.microsoft.com/office/drawing/2014/main" id="{F912E7CA-0309-44B2-9B3B-5A93AB30D36E}"/>
              </a:ext>
            </a:extLst>
          </p:cNvPr>
          <p:cNvSpPr>
            <a:spLocks xmlns:a="http://schemas.openxmlformats.org/drawingml/2006/main" noGrp="1"/>
          </p:cNvSpPr>
          <p:nvPr/>
        </p:nvSpPr>
        <p:spPr>
          <a:xfrm xmlns:a="http://schemas.openxmlformats.org/drawingml/2006/main" rot="0">
            <a:off x="12301362" y="8613999"/>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Agilent · A</a:t>
            </a:r>
          </a:p>
        </p:txBody>
      </p:sp>
      <p:sp>
        <p:nvSpPr>
          <p:cNvPr id="90" name="Figure 12 label 68 line 3">
            <a:extLst xmlns:a="http://schemas.openxmlformats.org/drawingml/2006/main">
              <a:ext uri="{FF2B5EF4-FFF2-40B4-BE49-F238E27FC236}">
                <a16:creationId xmlns:a16="http://schemas.microsoft.com/office/drawing/2014/main" id="{934A7FFD-54E9-41CF-8C80-5851D3264915}"/>
              </a:ext>
            </a:extLst>
          </p:cNvPr>
          <p:cNvSpPr>
            <a:spLocks xmlns:a="http://schemas.openxmlformats.org/drawingml/2006/main" noGrp="1"/>
          </p:cNvSpPr>
          <p:nvPr/>
        </p:nvSpPr>
        <p:spPr>
          <a:xfrm xmlns:a="http://schemas.openxmlformats.org/drawingml/2006/main" rot="0">
            <a:off x="12301362" y="876830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91" name="Figure 12 label 69 line 1">
            <a:extLst xmlns:a="http://schemas.openxmlformats.org/drawingml/2006/main">
              <a:ext uri="{FF2B5EF4-FFF2-40B4-BE49-F238E27FC236}">
                <a16:creationId xmlns:a16="http://schemas.microsoft.com/office/drawing/2014/main" id="{F72E89D7-21FF-433C-B796-C31FCF12EF1C}"/>
              </a:ext>
            </a:extLst>
          </p:cNvPr>
          <p:cNvSpPr>
            <a:spLocks xmlns:a="http://schemas.openxmlformats.org/drawingml/2006/main" noGrp="1"/>
          </p:cNvSpPr>
          <p:nvPr/>
        </p:nvSpPr>
        <p:spPr>
          <a:xfrm xmlns:a="http://schemas.openxmlformats.org/drawingml/2006/main" rot="0">
            <a:off x="14599615" y="6111850"/>
            <a:ext cx="227562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92" name="Figure 12 label 70 line 1">
            <a:extLst xmlns:a="http://schemas.openxmlformats.org/drawingml/2006/main">
              <a:ext uri="{FF2B5EF4-FFF2-40B4-BE49-F238E27FC236}">
                <a16:creationId xmlns:a16="http://schemas.microsoft.com/office/drawing/2014/main" id="{FE3CD4A5-219A-4452-B0E4-34292B6E6E5D}"/>
              </a:ext>
            </a:extLst>
          </p:cNvPr>
          <p:cNvSpPr>
            <a:spLocks xmlns:a="http://schemas.openxmlformats.org/drawingml/2006/main" noGrp="1"/>
          </p:cNvSpPr>
          <p:nvPr/>
        </p:nvSpPr>
        <p:spPr>
          <a:xfrm xmlns:a="http://schemas.openxmlformats.org/drawingml/2006/main" rot="0">
            <a:off x="14189659" y="6501232"/>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p:txBody>
      </p:sp>
      <p:sp>
        <p:nvSpPr>
          <p:cNvPr id="93" name="Figure 12 label 70 line 2">
            <a:extLst xmlns:a="http://schemas.openxmlformats.org/drawingml/2006/main">
              <a:ext uri="{FF2B5EF4-FFF2-40B4-BE49-F238E27FC236}">
                <a16:creationId xmlns:a16="http://schemas.microsoft.com/office/drawing/2014/main" id="{380087AA-5F25-407A-808C-8FDA8CDC3645}"/>
              </a:ext>
            </a:extLst>
          </p:cNvPr>
          <p:cNvSpPr>
            <a:spLocks xmlns:a="http://schemas.openxmlformats.org/drawingml/2006/main" noGrp="1"/>
          </p:cNvSpPr>
          <p:nvPr/>
        </p:nvSpPr>
        <p:spPr>
          <a:xfrm xmlns:a="http://schemas.openxmlformats.org/drawingml/2006/main" rot="0">
            <a:off x="14189659" y="6701257"/>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94" name="Figure 12 label 71 line 1">
            <a:extLst xmlns:a="http://schemas.openxmlformats.org/drawingml/2006/main">
              <a:ext uri="{FF2B5EF4-FFF2-40B4-BE49-F238E27FC236}">
                <a16:creationId xmlns:a16="http://schemas.microsoft.com/office/drawing/2014/main" id="{7515C0B6-A490-4ADC-9A1C-40CF8ECE2DF8}"/>
              </a:ext>
            </a:extLst>
          </p:cNvPr>
          <p:cNvSpPr>
            <a:spLocks xmlns:a="http://schemas.openxmlformats.org/drawingml/2006/main" noGrp="1"/>
          </p:cNvSpPr>
          <p:nvPr/>
        </p:nvSpPr>
        <p:spPr>
          <a:xfrm xmlns:a="http://schemas.openxmlformats.org/drawingml/2006/main" rot="0">
            <a:off x="14186611" y="6949288"/>
            <a:ext cx="193858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95" name="Figure 12 label 72 line 1">
            <a:extLst xmlns:a="http://schemas.openxmlformats.org/drawingml/2006/main">
              <a:ext uri="{FF2B5EF4-FFF2-40B4-BE49-F238E27FC236}">
                <a16:creationId xmlns:a16="http://schemas.microsoft.com/office/drawing/2014/main" id="{D004BC36-4AD0-4F37-AB8F-ADBDCCB8EE92}"/>
              </a:ext>
            </a:extLst>
          </p:cNvPr>
          <p:cNvSpPr>
            <a:spLocks xmlns:a="http://schemas.openxmlformats.org/drawingml/2006/main" noGrp="1"/>
          </p:cNvSpPr>
          <p:nvPr/>
        </p:nvSpPr>
        <p:spPr>
          <a:xfrm xmlns:a="http://schemas.openxmlformats.org/drawingml/2006/main" rot="0">
            <a:off x="14190726" y="7373493"/>
            <a:ext cx="219631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96" name="Figure 12 label 73 line 1">
            <a:extLst xmlns:a="http://schemas.openxmlformats.org/drawingml/2006/main">
              <a:ext uri="{FF2B5EF4-FFF2-40B4-BE49-F238E27FC236}">
                <a16:creationId xmlns:a16="http://schemas.microsoft.com/office/drawing/2014/main" id="{6E694DD8-DB0E-48DF-84B0-23C9C99A47BE}"/>
              </a:ext>
            </a:extLst>
          </p:cNvPr>
          <p:cNvSpPr>
            <a:spLocks xmlns:a="http://schemas.openxmlformats.org/drawingml/2006/main" noGrp="1"/>
          </p:cNvSpPr>
          <p:nvPr/>
        </p:nvSpPr>
        <p:spPr>
          <a:xfrm xmlns:a="http://schemas.openxmlformats.org/drawingml/2006/main" rot="0">
            <a:off x="14191031" y="7597674"/>
            <a:ext cx="2299561"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sp>
        <p:nvSpPr>
          <p:cNvPr id="97" name="Figure 12 label 74 line 1">
            <a:extLst xmlns:a="http://schemas.openxmlformats.org/drawingml/2006/main">
              <a:ext uri="{FF2B5EF4-FFF2-40B4-BE49-F238E27FC236}">
                <a16:creationId xmlns:a16="http://schemas.microsoft.com/office/drawing/2014/main" id="{73974193-B072-4C4C-BEC2-F19C4489EDF6}"/>
              </a:ext>
            </a:extLst>
          </p:cNvPr>
          <p:cNvSpPr>
            <a:spLocks xmlns:a="http://schemas.openxmlformats.org/drawingml/2006/main" noGrp="1"/>
          </p:cNvSpPr>
          <p:nvPr/>
        </p:nvSpPr>
        <p:spPr>
          <a:xfrm xmlns:a="http://schemas.openxmlformats.org/drawingml/2006/main" rot="0">
            <a:off x="14539266" y="7893711"/>
            <a:ext cx="106393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sp>
        <p:nvSpPr>
          <p:cNvPr id="98" name="Figure 12 label 75 line 1">
            <a:extLst xmlns:a="http://schemas.openxmlformats.org/drawingml/2006/main">
              <a:ext uri="{FF2B5EF4-FFF2-40B4-BE49-F238E27FC236}">
                <a16:creationId xmlns:a16="http://schemas.microsoft.com/office/drawing/2014/main" id="{F1FE804C-2625-408C-8D1A-10A389001BA7}"/>
              </a:ext>
            </a:extLst>
          </p:cNvPr>
          <p:cNvSpPr>
            <a:spLocks xmlns:a="http://schemas.openxmlformats.org/drawingml/2006/main" noGrp="1"/>
          </p:cNvSpPr>
          <p:nvPr/>
        </p:nvSpPr>
        <p:spPr>
          <a:xfrm xmlns:a="http://schemas.openxmlformats.org/drawingml/2006/main" rot="0">
            <a:off x="1419164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9" name="Figure 12 label 76 line 1">
            <a:extLst xmlns:a="http://schemas.openxmlformats.org/drawingml/2006/main">
              <a:ext uri="{FF2B5EF4-FFF2-40B4-BE49-F238E27FC236}">
                <a16:creationId xmlns:a16="http://schemas.microsoft.com/office/drawing/2014/main" id="{D57C9CBC-C363-44B6-9EEC-8D417078C74A}"/>
              </a:ext>
            </a:extLst>
          </p:cNvPr>
          <p:cNvSpPr>
            <a:spLocks xmlns:a="http://schemas.openxmlformats.org/drawingml/2006/main" noGrp="1"/>
          </p:cNvSpPr>
          <p:nvPr/>
        </p:nvSpPr>
        <p:spPr>
          <a:xfrm xmlns:a="http://schemas.openxmlformats.org/drawingml/2006/main" rot="0">
            <a:off x="1583009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100" name="Figure 12 label 77 line 1">
            <a:extLst xmlns:a="http://schemas.openxmlformats.org/drawingml/2006/main">
              <a:ext uri="{FF2B5EF4-FFF2-40B4-BE49-F238E27FC236}">
                <a16:creationId xmlns:a16="http://schemas.microsoft.com/office/drawing/2014/main" id="{877D523F-7AE6-49CB-9B2E-E6140FE4520D}"/>
              </a:ext>
            </a:extLst>
          </p:cNvPr>
          <p:cNvSpPr>
            <a:spLocks xmlns:a="http://schemas.openxmlformats.org/drawingml/2006/main" noGrp="1"/>
          </p:cNvSpPr>
          <p:nvPr/>
        </p:nvSpPr>
        <p:spPr>
          <a:xfrm xmlns:a="http://schemas.openxmlformats.org/drawingml/2006/main" rot="0">
            <a:off x="1419087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101" name="Figure 12 label 77 line 2">
            <a:extLst xmlns:a="http://schemas.openxmlformats.org/drawingml/2006/main">
              <a:ext uri="{FF2B5EF4-FFF2-40B4-BE49-F238E27FC236}">
                <a16:creationId xmlns:a16="http://schemas.microsoft.com/office/drawing/2014/main" id="{1BE6AEED-A379-4491-BFCB-9608639D2DEB}"/>
              </a:ext>
            </a:extLst>
          </p:cNvPr>
          <p:cNvSpPr>
            <a:spLocks xmlns:a="http://schemas.openxmlformats.org/drawingml/2006/main" noGrp="1"/>
          </p:cNvSpPr>
          <p:nvPr/>
        </p:nvSpPr>
        <p:spPr>
          <a:xfrm xmlns:a="http://schemas.openxmlformats.org/drawingml/2006/main" rot="0">
            <a:off x="1419087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102" name="Figure 12 label 78 line 1">
            <a:extLst xmlns:a="http://schemas.openxmlformats.org/drawingml/2006/main">
              <a:ext uri="{FF2B5EF4-FFF2-40B4-BE49-F238E27FC236}">
                <a16:creationId xmlns:a16="http://schemas.microsoft.com/office/drawing/2014/main" id="{6243A92B-CD6E-4E94-82A2-6BDEF2112CBA}"/>
              </a:ext>
            </a:extLst>
          </p:cNvPr>
          <p:cNvSpPr>
            <a:spLocks xmlns:a="http://schemas.openxmlformats.org/drawingml/2006/main" noGrp="1"/>
          </p:cNvSpPr>
          <p:nvPr/>
        </p:nvSpPr>
        <p:spPr>
          <a:xfrm xmlns:a="http://schemas.openxmlformats.org/drawingml/2006/main" rot="0">
            <a:off x="15829422" y="8459694"/>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DHR</a:t>
            </a:r>
          </a:p>
        </p:txBody>
      </p:sp>
      <p:sp>
        <p:nvSpPr>
          <p:cNvPr id="103" name="Figure 12 label 78 line 2">
            <a:extLst xmlns:a="http://schemas.openxmlformats.org/drawingml/2006/main">
              <a:ext uri="{FF2B5EF4-FFF2-40B4-BE49-F238E27FC236}">
                <a16:creationId xmlns:a16="http://schemas.microsoft.com/office/drawing/2014/main" id="{086A58DC-55AA-4DAA-8BE2-FA7434185BBA}"/>
              </a:ext>
            </a:extLst>
          </p:cNvPr>
          <p:cNvSpPr>
            <a:spLocks xmlns:a="http://schemas.openxmlformats.org/drawingml/2006/main" noGrp="1"/>
          </p:cNvSpPr>
          <p:nvPr/>
        </p:nvSpPr>
        <p:spPr>
          <a:xfrm xmlns:a="http://schemas.openxmlformats.org/drawingml/2006/main" rot="0">
            <a:off x="15829422" y="8613999"/>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104" name="Figure 12 label 79 line 1">
            <a:extLst xmlns:a="http://schemas.openxmlformats.org/drawingml/2006/main">
              <a:ext uri="{FF2B5EF4-FFF2-40B4-BE49-F238E27FC236}">
                <a16:creationId xmlns:a16="http://schemas.microsoft.com/office/drawing/2014/main" id="{B980EEE3-1699-461D-97EB-86A76B26AAD4}"/>
              </a:ext>
            </a:extLst>
          </p:cNvPr>
          <p:cNvSpPr>
            <a:spLocks xmlns:a="http://schemas.openxmlformats.org/drawingml/2006/main" noGrp="1"/>
          </p:cNvSpPr>
          <p:nvPr/>
        </p:nvSpPr>
        <p:spPr>
          <a:xfrm xmlns:a="http://schemas.openxmlformats.org/drawingml/2006/main" rot="0">
            <a:off x="7223760" y="9345930"/>
            <a:ext cx="511507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05" name="Figure 12 label 80 line 1">
            <a:extLst xmlns:a="http://schemas.openxmlformats.org/drawingml/2006/main">
              <a:ext uri="{FF2B5EF4-FFF2-40B4-BE49-F238E27FC236}">
                <a16:creationId xmlns:a16="http://schemas.microsoft.com/office/drawing/2014/main" id="{202269AA-BFE2-4B27-AF3D-723BD8A88DE7}"/>
              </a:ext>
            </a:extLst>
          </p:cNvPr>
          <p:cNvSpPr>
            <a:spLocks xmlns:a="http://schemas.openxmlformats.org/drawingml/2006/main" noGrp="1"/>
          </p:cNvSpPr>
          <p:nvPr/>
        </p:nvSpPr>
        <p:spPr>
          <a:xfrm xmlns:a="http://schemas.openxmlformats.org/drawingml/2006/main" rot="0">
            <a:off x="16255289" y="9380372"/>
            <a:ext cx="810119"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lnSpc>
                <a:spcPct val="100000"/>
              </a:lnSpc>
              <a:buNone/>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06" name="Figure 12 label 81 line 1">
            <a:extLst xmlns:a="http://schemas.openxmlformats.org/drawingml/2006/main">
              <a:ext uri="{FF2B5EF4-FFF2-40B4-BE49-F238E27FC236}">
                <a16:creationId xmlns:a16="http://schemas.microsoft.com/office/drawing/2014/main" id="{650F8662-EAFA-4CF0-B4E9-8FE66BBCF1E8}"/>
              </a:ext>
            </a:extLst>
          </p:cNvPr>
          <p:cNvSpPr>
            <a:spLocks xmlns:a="http://schemas.openxmlformats.org/drawingml/2006/main" noGrp="1"/>
          </p:cNvSpPr>
          <p:nvPr/>
        </p:nvSpPr>
        <p:spPr>
          <a:xfrm xmlns:a="http://schemas.openxmlformats.org/drawingml/2006/main" rot="0">
            <a:off x="6738671" y="9799854"/>
            <a:ext cx="5884236"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07" name="Figure 12 label 82 line 1">
            <a:extLst xmlns:a="http://schemas.openxmlformats.org/drawingml/2006/main">
              <a:ext uri="{FF2B5EF4-FFF2-40B4-BE49-F238E27FC236}">
                <a16:creationId xmlns:a16="http://schemas.microsoft.com/office/drawing/2014/main" id="{169EF3C8-7DCB-4FA1-B003-BE48F284B835}"/>
              </a:ext>
            </a:extLst>
          </p:cNvPr>
          <p:cNvSpPr>
            <a:spLocks xmlns:a="http://schemas.openxmlformats.org/drawingml/2006/main" noGrp="1"/>
          </p:cNvSpPr>
          <p:nvPr/>
        </p:nvSpPr>
        <p:spPr>
          <a:xfrm xmlns:a="http://schemas.openxmlformats.org/drawingml/2006/main" rot="0">
            <a:off x="6738976" y="10008794"/>
            <a:ext cx="6474744"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lnSpc>
                <a:spcPct val="100000"/>
              </a:lnSpc>
              <a:buNone/>
              <a:defRPr sz="930" b="0">
                <a:solidFill>
                  <a:srgbClr val="00355F"/>
                </a:solidFill>
                <a:latin typeface="Arial"/>
                <a:ea typeface="Arial"/>
                <a:cs typeface="Arial"/>
              </a:defRPr>
            </a:pPr>
            <a:r>
              <a:rPr sz="930" b="0">
                <a:solidFill>
                  <a:srgbClr val="00355F"/>
                </a:solidFill>
                <a:latin typeface="Arial"/>
                <a:ea typeface="Arial"/>
                <a:cs typeface="Arial"/>
              </a:rPr>
              <a:t>Protein TAM is issuer-commissioned / disputed. Media &amp; resin TAMs withheld. Sources, scope and tickers: SOURCES.md.</a:t>
            </a:r>
          </a:p>
        </p:txBody>
      </p:sp>
    </p:spTree>
    <p:extLst>
      <p:ext uri="{BB962C8B-B14F-4D97-AF65-F5344CB8AC3E}">
        <p14:creationId xmlns:p14="http://schemas.microsoft.com/office/powerpoint/2010/main" val="641638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2026-10-13T07:02:34.0210000Z</dcterms:created>
  <dcterms:modified xsi:type="dcterms:W3CDTF">2026-10-13T07:02:34.0210000Z</dcterms:modified>
</coreProperties>
</file>